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3"/>
  </p:notesMasterIdLst>
  <p:sldIdLst>
    <p:sldId id="256" r:id="rId2"/>
    <p:sldId id="257" r:id="rId3"/>
    <p:sldId id="258" r:id="rId4"/>
    <p:sldId id="259" r:id="rId5"/>
    <p:sldId id="261" r:id="rId6"/>
    <p:sldId id="262" r:id="rId7"/>
    <p:sldId id="265" r:id="rId8"/>
    <p:sldId id="267" r:id="rId9"/>
    <p:sldId id="268" r:id="rId10"/>
    <p:sldId id="269" r:id="rId11"/>
    <p:sldId id="270" r:id="rId12"/>
    <p:sldId id="271" r:id="rId13"/>
    <p:sldId id="272" r:id="rId14"/>
    <p:sldId id="273" r:id="rId15"/>
    <p:sldId id="264" r:id="rId16"/>
    <p:sldId id="274" r:id="rId17"/>
    <p:sldId id="275" r:id="rId18"/>
    <p:sldId id="276" r:id="rId19"/>
    <p:sldId id="277" r:id="rId20"/>
    <p:sldId id="278" r:id="rId21"/>
    <p:sldId id="279" r:id="rId22"/>
    <p:sldId id="282" r:id="rId23"/>
    <p:sldId id="280" r:id="rId24"/>
    <p:sldId id="281" r:id="rId25"/>
    <p:sldId id="313" r:id="rId26"/>
    <p:sldId id="283" r:id="rId27"/>
    <p:sldId id="284" r:id="rId28"/>
    <p:sldId id="285" r:id="rId29"/>
    <p:sldId id="286" r:id="rId30"/>
    <p:sldId id="287" r:id="rId31"/>
    <p:sldId id="288" r:id="rId32"/>
    <p:sldId id="289" r:id="rId33"/>
    <p:sldId id="291" r:id="rId34"/>
    <p:sldId id="292" r:id="rId35"/>
    <p:sldId id="293" r:id="rId36"/>
    <p:sldId id="295" r:id="rId37"/>
    <p:sldId id="296" r:id="rId38"/>
    <p:sldId id="297" r:id="rId39"/>
    <p:sldId id="298" r:id="rId40"/>
    <p:sldId id="301" r:id="rId41"/>
    <p:sldId id="300" r:id="rId42"/>
    <p:sldId id="302" r:id="rId43"/>
    <p:sldId id="303" r:id="rId44"/>
    <p:sldId id="304" r:id="rId45"/>
    <p:sldId id="305" r:id="rId46"/>
    <p:sldId id="306" r:id="rId47"/>
    <p:sldId id="307" r:id="rId48"/>
    <p:sldId id="309" r:id="rId49"/>
    <p:sldId id="308" r:id="rId50"/>
    <p:sldId id="311" r:id="rId51"/>
    <p:sldId id="312"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73636"/>
    <a:srgbClr val="1F3D2C"/>
    <a:srgbClr val="1D1610"/>
    <a:srgbClr val="F7F6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1997" autoAdjust="0"/>
  </p:normalViewPr>
  <p:slideViewPr>
    <p:cSldViewPr snapToGrid="0" snapToObjects="1">
      <p:cViewPr varScale="1">
        <p:scale>
          <a:sx n="132" d="100"/>
          <a:sy n="132" d="100"/>
        </p:scale>
        <p:origin x="632"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sponsor-thanks slide — event organizer will tell you if this is required and what logos go here. Placeholder only; swap in real sponsor logos once the summit sends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six legs quickly. Budget for the 90-minute slot: section 1 about 8 minutes (including the opening), section 2 about 13, section 3 about 21, section 4 about 10, section 5 about 12, section 6 about 8. That is roughly 72 minutes of content plus four one-minute Q&amp;A pockets, which leaves about 14 minutes of open Q&amp;A on the thank-you slide. Section 3 includes the ELM slide; give it a few seconds and move on.</a:t>
            </a:r>
          </a:p>
          <a:p>
            <a:endParaRPr/>
          </a:p>
          <a:p>
            <a:r>
              <a:t>This is not a GitHub sales pitch. It is a field guide to what transfers cleanly, what must be redesigned, and what should deliberately remain in Azure DevOps.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Do not wink at the joke. This is the first of six opener cards plus a closer — it establishes the conceit. Pause after delivering the line before moving on. The next slide goes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Name the real reason teams migrate before the polite reasons: most of the agentic Copilot work (cloud agent, agentic code review, agentic </a:t>
            </a:r>
            <a:r>
              <a:rPr dirty="0" err="1"/>
              <a:t>Autofix</a:t>
            </a:r>
            <a:r>
              <a:rPr dirty="0"/>
              <a:t>, Agent HQ) ships on GitHub first. Be fair to Microsoft: Azure DevOps is gaining AI features too, and Copilot in the IDE works wherever the repository is hosted. The point is not that Azure DevOps has nothing; it is that the frontier depends on where the repository lives.</a:t>
            </a:r>
          </a:p>
          <a:p>
            <a:endParaRPr dirty="0"/>
          </a:p>
          <a:p>
            <a:r>
              <a:rPr dirty="0"/>
              <a:t>Open the table by getting ahead of the heckle: “Field guides go out of date, and so do capability tables. Everything here has a shelf life measured in sprints.” Then walk the four rows. The last one is the one that matters: the cloud agent needs a GitHub-hosted repository even when it is started from Azure Boards.</a:t>
            </a:r>
          </a:p>
          <a:p>
            <a:endParaRPr dirty="0"/>
          </a:p>
          <a:p>
            <a:r>
              <a:rPr dirty="0"/>
              <a:t>Do not frame this as “GitHub has AI and Azure DevOps does not.” Frame it as a difference in native depth, integration, and repository dependency.</a:t>
            </a:r>
          </a:p>
          <a:p>
            <a:endParaRPr dirty="0"/>
          </a:p>
          <a:p>
            <a:r>
              <a:rPr dirty="0"/>
              <a:t>CUT FROM THE SLIDE, for Q&amp;A:</a:t>
            </a:r>
          </a:p>
          <a:p>
            <a:r>
              <a:rPr dirty="0"/>
              <a:t>- Repository-aware chat. GitHub: native workspace and repository context. Azure DevOps: local repo context, plus Azure DevOps service context through MCP.</a:t>
            </a:r>
          </a:p>
          <a:p>
            <a:r>
              <a:rPr dirty="0"/>
              <a:t>- Multi-agent orchestration. GitHub: a central hub running Copilot, Claude and Codex sessions in parallel. Azure DevOps: no native equivalent; external agents connect through MCP.</a:t>
            </a:r>
          </a:p>
          <a:p>
            <a:r>
              <a:rPr dirty="0"/>
              <a:t>- Azure DevOps MCP. The Remote MCP Server is GA and the server itself is free; normal Azure DevOps pricing and AI-platform usage charges may still apply. The next slide covers MCP.</a:t>
            </a:r>
          </a:p>
          <a:p>
            <a:r>
              <a:rPr dirty="0"/>
              <a:t>- Licensing. Paid Copilot for agents and review; GitHub Code Security where </a:t>
            </a:r>
            <a:r>
              <a:rPr dirty="0" err="1"/>
              <a:t>Autofix</a:t>
            </a:r>
            <a:r>
              <a:rPr dirty="0"/>
              <a:t> is needed.</a:t>
            </a:r>
          </a:p>
          <a:p>
            <a:endParaRPr dirty="0"/>
          </a:p>
          <a:p>
            <a:r>
              <a:rPr dirty="0"/>
              <a:t>The capability gap is real, but it is neither absolute nor static. As of September 21, 2026: Azure DevOps Remote MCP Server is generally available; Copilot Code Review for Azure Repos is in public preview; Copilot </a:t>
            </a:r>
            <a:r>
              <a:rPr dirty="0" err="1"/>
              <a:t>Autofix</a:t>
            </a:r>
            <a:r>
              <a:rPr dirty="0"/>
              <a:t> for Azure DevOps remains in limited public preview; and GitHub Copilot cloud agent still requires a GitHub-hosted repository even when initiated from Azure Boards.</a:t>
            </a:r>
          </a:p>
          <a:p>
            <a:endParaRPr dirty="0"/>
          </a:p>
          <a:p>
            <a:r>
              <a:rPr dirty="0"/>
              <a:t>Sources (accessed September 21, 2026): GitHub Docs — About GitHub Copilot cloud agent; Integrating Copilot cloud agent with Azure Boards; About agent management; About </a:t>
            </a:r>
            <a:r>
              <a:rPr dirty="0" err="1"/>
              <a:t>autofix</a:t>
            </a:r>
            <a:r>
              <a:rPr dirty="0"/>
              <a:t> for code scanning. Microsoft Learn — Azure DevOps Sprint 278 and Sprint 279 release notes; Azure DevOps MCP Server overview; Copilot code review for Azure Repos; Copilot </a:t>
            </a:r>
            <a:r>
              <a:rPr dirty="0" err="1"/>
              <a:t>Autofix</a:t>
            </a:r>
            <a:r>
              <a:rPr dirty="0"/>
              <a:t> for GitHub Advanced Security for Azure DevOps. GitHub Changelog — Copilot code review now runs on an agentic architecture (March 5, 2026).</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spoiler slide — the full seven-subsystem scorecard for the whole talk, not just section 2. Two travel clean (Repos, Wiki), four need a decision (Packages/Artifacts, Pipelines, Dashboards, Boards), one stays behind entirely (Test Plans).</a:t>
            </a:r>
          </a:p>
          <a:p>
            <a:endParaRPr dirty="0"/>
          </a:p>
          <a:p>
            <a:r>
              <a:rPr dirty="0"/>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dirty="0"/>
          </a:p>
          <a:p>
            <a:r>
              <a:rPr dirty="0"/>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Git is Git, so commit history is easy, and pull requests plus most branch policies migrate without much drama through GitHub Enterprise Importer.</a:t>
            </a:r>
          </a:p>
          <a:p>
            <a:endParaRPr/>
          </a:p>
          <a:p>
            <a:r>
              <a:t>The asterisk is what doesn’t:</a:t>
            </a:r>
          </a:p>
          <a:p>
            <a:r>
              <a:t>- Repo permissions get rebuilt as two GitHub teams per team project.</a:t>
            </a:r>
          </a:p>
          <a:p>
            <a:r>
              <a:t>- Git LFS objects are not migrated. GEI moves the repository; you push the LFS objects separately.</a:t>
            </a:r>
          </a:p>
          <a:p>
            <a:r>
              <a:t>- User-scoped and cross-repo branch policies need rebuilding by hand.</a:t>
            </a:r>
          </a:p>
          <a:p>
            <a:endParaRPr/>
          </a:p>
          <a:p>
            <a:r>
              <a:t>Verify target visibility during the trial migration. Migration scripts can preserve or explicitly set visibility, but enterprise policies and managed-user configurations may constrain the available choices.</a:t>
            </a:r>
          </a:p>
          <a:p>
            <a:endParaRPr/>
          </a:p>
          <a:p>
            <a:r>
              <a:t>If there’s time, mention the hard limits: during migration, 40 GiB per repository and 400 MiB per file; afterwards, GitHub’s normal 100 MiB per file, 2 GiB per commit and 2 GiB per push. Don’t recite them from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quick. Both wikis are Git repos, so the pages themselves copy with a clone and a push. The work is everything the Azure DevOps wiki layered on top: .order files and nested folders set page order and hierarchy, and GitHub’s wiki doesn’t read .order and shows a flat page list; Azure DevOps-only markdown ([[_TOC_]], ::: mermaid blocks, #123 work-item links, @mentions) renders as plain text or breaks; attachments live in a .attachments folder that page links point into.</a:t>
            </a:r>
          </a:p>
          <a:p>
            <a:endParaRPr dirty="0"/>
          </a:p>
          <a:p>
            <a:r>
              <a:rPr dirty="0"/>
              <a:t>Two things worth knowing if asked. Azure DevOps wiki permissions apply to the whole wiki, not to individual pages (Microsoft’s docs say so explicitly), so permissions are not the big conversation. And a code wiki, a repo folder published as a wiki, is just Markdown in the repository, so it travels with the repo migration. Many teams use the move to put the project wiki into a docs folder too.</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a:p>
            <a:endParaRPr/>
          </a:p>
          <a:p>
            <a:r>
              <a:t>If you’re weighing option two, check the feed types first. GitHub Packages covers npm, NuGet, Maven, Gradle, RubyGems and containers, but not PyPI or Universal Packages, and it has no equivalent of Azure Artifacts upstream sources (proxying nuget.org or npmjs). Any of those keeps Azure Artifacts in the picture.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land this one deliberately — it’s the thesis the whole talk hangs on. Three audiences, one pattern: developers move to GitHub and get Copilot and Actions; managers keep Azure Boards, capacity charts and Power BI exactly as they are; and the budget conversation starts easier because GitHub Enterprise Cloud includes Azure DevOps Basic access for users who sign in with Entra ID.</a:t>
            </a:r>
          </a:p>
          <a:p>
            <a:endParaRPr/>
          </a:p>
          <a:p>
            <a:r>
              <a:t>Be precise about that grant: it covers Basic only. Test Plans (which section 4 tells you to keep) is a separate Azure DevOps licence, and Copilot, Secret Protection and Code Security, Actions overages, larger runners and the migration work itself are all separate costs.</a:t>
            </a:r>
          </a:p>
          <a:p>
            <a:endParaRPr/>
          </a:p>
          <a:p>
            <a:r>
              <a:t>What holds the two halves together is the integration layer: work-item traceability, commit and pull-request links, pipeline integration, identity mapping, and cross-platform reporting.</a:t>
            </a:r>
          </a:p>
          <a:p>
            <a:endParaRPr/>
          </a:p>
          <a:p>
            <a:r>
              <a:t>Explicitly reframe: this is the shape the rest of the talk builds toward, not a fallback. Section 4 comes back to this exact point for Boards and Projects.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3.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take this one slowly — the rest of the section depends on the distinction.</a:t>
            </a:r>
          </a:p>
          <a:p>
            <a:endParaRPr/>
          </a:p>
          <a:p>
            <a: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a:p>
          <a:p>
            <a:r>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Open the slide with the line: “Both platforms use YAML, in the same way that Java and JavaScript both contain the word ‘Java.’” It is also in the session abstract, so deliver it as a callback. It gets the laugh and it is the slide’s entire thesis: same syntax, different language. Say it once and move on.</a:t>
            </a:r>
          </a:p>
          <a:p>
            <a:endParaRPr dirty="0"/>
          </a:p>
          <a:p>
            <a:r>
              <a:rPr dirty="0"/>
              <a:t>Straight delivery after that. Use the table as a vocabulary guide, not a transliteration recipe. Ask what security or lifecycle boundary each stage represented. Manual judgment is needed where service connections, templates, approvals, runners, conditions and failure behavior do not map one to one. Worth saying out loud: Actions has no stages, so a multi-stage pipeline becomes jobs linked by needs, usually with environments carrying the approvals.</a:t>
            </a:r>
          </a:p>
          <a:p>
            <a:endParaRPr dirty="0"/>
          </a:p>
          <a:p>
            <a:r>
              <a:rPr dirty="0"/>
              <a:t>OPTIONAL LAUGH LINE — stop on the Service Connection row: “Two words on the left, </a:t>
            </a:r>
            <a:r>
              <a:rPr lang="en-US" dirty="0"/>
              <a:t>two</a:t>
            </a:r>
            <a:r>
              <a:rPr dirty="0"/>
              <a:t> on the right, and about three weeks in between.” This is the row the whole room has personally lost a sprint to.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Spend twenty seconds getting the naming right, because the docs don't and everyone who goes looking afterwards hits the same confusion.</a:t>
            </a:r>
          </a:p>
          <a:p>
            <a:endParaRPr dirty="0"/>
          </a:p>
          <a:p>
            <a:r>
              <a:rPr dirty="0"/>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Briefly mention it, but don’t spend much time on it. </a:t>
            </a:r>
          </a:p>
          <a:p>
            <a:endParaRPr dirty="0"/>
          </a:p>
          <a:p>
            <a:r>
              <a:rPr dirty="0"/>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endParaRPr dirty="0"/>
          </a:p>
          <a:p>
            <a:r>
              <a:rPr dirty="0"/>
              <a:t>It is also research-only for us: Hunter's current tenant does not meet the data-residency prerequisite, so we have not run it.</a:t>
            </a:r>
          </a:p>
          <a:p>
            <a:endParaRPr dirty="0"/>
          </a:p>
          <a:p>
            <a:r>
              <a:rPr dirty="0"/>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endParaRPr dirty="0"/>
          </a:p>
          <a:p>
            <a:r>
              <a:rPr dirty="0"/>
              <a:t>Keep the GEI comparison honest: gh-ado2gh --all already does the configuration work. What ELM genuinely adds is continuous delta synchronization and a scheduled cutover with a read-only window under thirty minutes. Pipeline logic and non-repository systems still need separate migration and validation — that is the takeaway line.</a:t>
            </a:r>
          </a:p>
          <a:p>
            <a:endParaRPr dirty="0"/>
          </a:p>
          <a:p>
            <a:r>
              <a:rPr dirty="0"/>
              <a:t>GitHub Enterprise Cloud (GHEC) with Data Residency is a distinct deployment model where:</a:t>
            </a:r>
          </a:p>
          <a:p>
            <a:r>
              <a:rPr dirty="0"/>
              <a:t> - Your enterprise is hosted on a dedicated ghe.com subdomain (instead of github.com&lt;org&gt;).</a:t>
            </a:r>
          </a:p>
          <a:p>
            <a:r>
              <a:rPr dirty="0"/>
              <a:t> - You choose the geographic region where your code and repository data are stored (currently including U.S., EU, Australia, and Japan).</a:t>
            </a:r>
          </a:p>
          <a:p>
            <a:r>
              <a:rPr dirty="0"/>
              <a:t> - The environment is isolated from the broader github.com ecosystem.</a:t>
            </a:r>
          </a:p>
          <a:p>
            <a:r>
              <a:rPr dirty="0"/>
              <a:t> - It requires Enterprise Managed Users (EMU). </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a:p>
          <a:p>
            <a:r>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This is the automation-plane tool. The audit breakdown is the planning artifact: it turns “this looks hard” into a backlog with counts.</a:t>
            </a:r>
          </a:p>
          <a:p>
            <a:endParaRPr dirty="0"/>
          </a:p>
          <a:p>
            <a:r>
              <a:rPr dirty="0"/>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dirty="0"/>
          </a:p>
          <a:p>
            <a:r>
              <a:rPr dirty="0"/>
              <a:t>Conversion still leaves secrets, service connections, runner and network strategy, environments, approvals, custom tasks, and unsupported triggers for engineering judgment and validation.</a:t>
            </a:r>
            <a:endParaRPr lang="en-US" dirty="0"/>
          </a:p>
          <a:p>
            <a:endParaRPr lang="en-US" dirty="0"/>
          </a:p>
          <a:p>
            <a:pPr lvl="0"/>
            <a:r>
              <a:rPr lang="en-US" dirty="0"/>
              <a:t>Supported platforms:</a:t>
            </a:r>
            <a:br>
              <a:rPr lang="en-US" dirty="0"/>
            </a:br>
            <a:r>
              <a:rPr lang="en-US" sz="1200" b="0" i="0" kern="1200" dirty="0">
                <a:solidFill>
                  <a:schemeClr val="tx1"/>
                </a:solidFill>
                <a:effectLst/>
                <a:latin typeface="+mn-lt"/>
                <a:ea typeface="+mn-ea"/>
                <a:cs typeface="+mn-cs"/>
              </a:rPr>
              <a:t>Azure DevOps</a:t>
            </a:r>
          </a:p>
          <a:p>
            <a:pPr lvl="0"/>
            <a:r>
              <a:rPr lang="en-US" sz="1200" b="0" i="0" kern="1200" dirty="0">
                <a:solidFill>
                  <a:schemeClr val="tx1"/>
                </a:solidFill>
                <a:effectLst/>
                <a:latin typeface="+mn-lt"/>
                <a:ea typeface="+mn-ea"/>
                <a:cs typeface="+mn-cs"/>
              </a:rPr>
              <a:t>Bamboo</a:t>
            </a:r>
          </a:p>
          <a:p>
            <a:pPr lvl="0"/>
            <a:r>
              <a:rPr lang="en-US" sz="1200" b="0" i="0" kern="1200" dirty="0">
                <a:solidFill>
                  <a:schemeClr val="tx1"/>
                </a:solidFill>
                <a:effectLst/>
                <a:latin typeface="+mn-lt"/>
                <a:ea typeface="+mn-ea"/>
                <a:cs typeface="+mn-cs"/>
              </a:rPr>
              <a:t>Bitbucket Pipelines</a:t>
            </a:r>
          </a:p>
          <a:p>
            <a:pPr lvl="0"/>
            <a:r>
              <a:rPr lang="en-US" sz="1200" b="0" i="0" kern="1200" dirty="0" err="1">
                <a:solidFill>
                  <a:schemeClr val="tx1"/>
                </a:solidFill>
                <a:effectLst/>
                <a:latin typeface="+mn-lt"/>
                <a:ea typeface="+mn-ea"/>
                <a:cs typeface="+mn-cs"/>
              </a:rPr>
              <a:t>CircleCI</a:t>
            </a:r>
            <a:endParaRPr lang="en-US" sz="1200" b="0" i="0" kern="1200" dirty="0">
              <a:solidFill>
                <a:schemeClr val="tx1"/>
              </a:solidFill>
              <a:effectLst/>
              <a:latin typeface="+mn-lt"/>
              <a:ea typeface="+mn-ea"/>
              <a:cs typeface="+mn-cs"/>
            </a:endParaRPr>
          </a:p>
          <a:p>
            <a:pPr lvl="0"/>
            <a:r>
              <a:rPr lang="en-US" sz="1200" b="0" i="0" kern="1200" dirty="0">
                <a:solidFill>
                  <a:schemeClr val="tx1"/>
                </a:solidFill>
                <a:effectLst/>
                <a:latin typeface="+mn-lt"/>
                <a:ea typeface="+mn-ea"/>
                <a:cs typeface="+mn-cs"/>
              </a:rPr>
              <a:t>GitLab (both cloud and self-hosted)</a:t>
            </a:r>
          </a:p>
          <a:p>
            <a:pPr lvl="0"/>
            <a:r>
              <a:rPr lang="en-US" sz="1200" b="0" i="0" kern="1200" dirty="0">
                <a:solidFill>
                  <a:schemeClr val="tx1"/>
                </a:solidFill>
                <a:effectLst/>
                <a:latin typeface="+mn-lt"/>
                <a:ea typeface="+mn-ea"/>
                <a:cs typeface="+mn-cs"/>
              </a:rPr>
              <a:t>Jenkins</a:t>
            </a:r>
          </a:p>
          <a:p>
            <a:pPr lvl="0"/>
            <a:r>
              <a:rPr lang="en-US" sz="1200" b="0" i="0" kern="1200" dirty="0">
                <a:solidFill>
                  <a:schemeClr val="tx1"/>
                </a:solidFill>
                <a:effectLst/>
                <a:latin typeface="+mn-lt"/>
                <a:ea typeface="+mn-ea"/>
                <a:cs typeface="+mn-cs"/>
              </a:rPr>
              <a:t>Travis CI</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30 seconds given how much ground this section covers. Take one quick question if a hand is up, otherwise move straight into section 4.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the only register for this slide. Deliver slowly, deadpan, faintly awed, same conceit as the earlier section openers. Pause after the line, then go straight back to normal delivery for the Boards-vs-Projects framing slide. Keep this section brisk: five slides, and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Frame this before comparing feature by feature — Azure Boards and GitHub Projects are not two competitors in one category, they are two different models.</a:t>
            </a:r>
          </a:p>
          <a:p>
            <a:endParaRPr dirty="0"/>
          </a:p>
          <a:p>
            <a:r>
              <a:rPr dirty="0"/>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endParaRPr dirty="0"/>
          </a:p>
          <a:p>
            <a:r>
              <a:rPr dirty="0"/>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slide reading as a scored competition.</a:t>
            </a:r>
          </a:p>
          <a:p>
            <a:endParaRPr dirty="0"/>
          </a:p>
          <a:p>
            <a:r>
              <a:rPr dirty="0"/>
              <a:t>The next slide takes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Take each tool on its own terms before comparing what a migration loses.</a:t>
            </a:r>
          </a:p>
          <a:p>
            <a:endParaRPr/>
          </a:p>
          <a:p>
            <a:r>
              <a:t>Left card, the enterprise case, stated plainly: hierarchical work items from Epics down to Tasks, built-in sprint planning and capacity management, Delivery Plans for dependencies across teams, and Boards Analytics feeding Power BI. It organizes around Project, Team and Area Path — a structure built for portfolios, not one team’s board.</a:t>
            </a:r>
          </a:p>
          <a:p>
            <a:endParaRPr/>
          </a:p>
          <a:p>
            <a:r>
              <a:t>Right card, and give Projects real credit, because the recommendation at the end of this section only carries weight if this half was honest. Projects is organized around custom fields (iteration, single-select, date, number) rather than a fixed process template. Sub-issues, issue types and dependencies are all GA, there are board, table and roadmap layouts, and automation comes built in or through Actions. It is org-level, not repo-scoped, and it lives next to the issues and PRs it tracks.</a:t>
            </a:r>
          </a:p>
          <a:p>
            <a:endParaRPr/>
          </a:p>
          <a:p>
            <a:r>
              <a:t>The contrast is process template versus fields and views, not enterprise versus toy. If asked about limits: a project holds up to 50 fields, counting the built-in ones.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sprint history and capacity data, custom process fields and rules, the process template itself, and the Project / Team / Area Path structure have no clean landing spot in GitHub Projects. Parent-child links are the exception; they can map to sub-issues, which go up to eight levels deep.</a:t>
            </a:r>
          </a:p>
          <a:p>
            <a:endParaRPr/>
          </a:p>
          <a:p>
            <a:r>
              <a:t>Set expectations on tooling honestly. There is no first-party tool that moves Azure Boards work items into GitHub Issues. The well-known azure-devops-migration-tools project moves work items between Azure DevOps projects and organizations, not to GitHub. What exists for GitHub is community scripts against the two APIs, and the data models still don’t line up, so this is a mapping project, not a one-command migration. This sets up the Test Plans slide and the recommendation that follows.</a:t>
            </a:r>
          </a:p>
          <a:p>
            <a:endParaRPr/>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a:t>
            </a:r>
          </a:p>
          <a:p>
            <a:endParaRPr lang="en-US" dirty="0"/>
          </a:p>
          <a:p>
            <a:r>
              <a:rPr lang="en-US" dirty="0"/>
              <a:t>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explicit takeaway for the section, and it is section 2’s hybrid pattern applied to planning: connect Azure Boards to your GitHub repos before touching anything else. Developers work in GitHub, next to Copilot and their pull requests; managers keep the sprint hub, capacity charts and Power BI reporting exactly where they are. The Azure Boards app for GitHub links commits and PRs back to work items with AB# mentions, and the Copilot cloud agent can be started from a Boards item.</a:t>
            </a:r>
          </a:p>
          <a:p>
            <a:endParaRPr/>
          </a:p>
          <a:p>
            <a:r>
              <a:t>Say the recommendation plainly: don’t migrate to GitHub Issues unless your planning needs are genuinely simple. For most teams past a handful of people, the hierarchy, capacity planning and reporting Azure Boards already gives you are worth keeping.</a:t>
            </a:r>
          </a:p>
          <a:p>
            <a:endParaRPr/>
          </a:p>
          <a:p>
            <a:r>
              <a:t>Then the nuance, which is the bottom bar: this isn’t an argument for Azure Boards forever. It’s an argument against defaulting to GitHub Issues just because the code moved. Where you plan work is a separate decision from where the code lives, so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5.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section’s thesis — land it early and come back to it. Most migrations that fail don’t fail in the converter; gh-ado2gh and Actions Importer do what they say. The execution-environment work from section 3 is real, but it is engineering you can plan. What sinks migrations is three predictable human failures: no real selection process (a choice made by momentum rather than evaluated on merit), customization starting before anyone understood the new tool, and a rollout that felt done TO people rather than WITH them. The rest of this section is about avoiding those three.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walking the steps: “In most organizations the real selection process is that somebody senior used it at their last job.” OPTIONAL LAUGH LINE, and it is precisely failure mode one from the previous slide.</a:t>
            </a:r>
          </a:p>
          <a:p>
            <a:endParaRPr/>
          </a:p>
          <a:p>
            <a:r>
              <a:t>Straight delivery, walk this quickly. Frame it for this room: you have already chosen GitHub, so this is for the choices inside the migration — Boards or Projects, hosted or self-hosted runners, Azure Artifacts or GitHub Packages. Define must-haves, assess real constraints like data residency and compliance, model one real increment of actual work in each option rather than watching a demo, score it with a weighted rubric so the decision is defensible later, then pilot.</a:t>
            </a:r>
          </a:p>
          <a:p>
            <a:endParaRPr/>
          </a:p>
          <a:p>
            <a:r>
              <a:t>Step five carries the second failure mode: customizing on day one locks in decisions made by people who didn’t understand the tool yet. Every custom field, automation rule or process tweak added before the pilot is a bet placed with the least information you’ll ever have — that’s the bottom bar. Run the pilot on defaults, then customize with real usage data instead of guesses.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Secret Protection and GitHub Code Security, which since April 2025 are sold as two separate add-ons rather than one Advanced Security bundle (Azure DevOps sells the same two products, so security alone doesn’t tip the decision); runner and compute minutes; and the real admin and migration effort, which is easy to leave off a spreadsheet entirely.</a:t>
            </a:r>
          </a:p>
          <a:p>
            <a:endParaRPr/>
          </a:p>
          <a:p>
            <a:r>
              <a:t>The bottom bar is the part most business cases skip: price the migration and the steady state as two separate numbers, and count the months when both platforms are billing at once. Dual-running is where the estimate usually goes wrong.</a:t>
            </a:r>
          </a:p>
          <a:p>
            <a:endParaRPr/>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counterweight to section 1. AI is the honest reason most teams are migrating — this slide is where you pay that argument down so it reads as analysis rather than a pitch. Frame the four as a to-do list, not as reasons to doubt the move.</a:t>
            </a:r>
          </a:p>
          <a:p>
            <a:endParaRPr/>
          </a:p>
          <a:p>
            <a:r>
              <a:t>1. WORK ITEMS. Verified behavior, and it closes the loop with the Boards recommendation in section 4: when the Copilot cloud agent is triggered from an Azure Boards work item it captures the text fields — description, repro steps — plus the last 50 comments. So keeping Boards does not cost you the AI payoff; it just means the Boards item literally is the prompt.</a:t>
            </a:r>
          </a:p>
          <a:p>
            <a:endParaRPr/>
          </a:p>
          <a:p>
            <a:r>
              <a:t>   WORTH SAYING FOR A REGULATED ROOM: that captured context is stored in the pull request and is visible to anyone with access to the repository. A work item that was private in Azure DevOps becomes readable in GitHub the moment an agent picks it up. Most people have not thought about that, and for anyone with compliance obligations it is the most useful thirty seconds on the slide.</a:t>
            </a:r>
          </a:p>
          <a:p>
            <a:endParaRPr/>
          </a:p>
          <a:p>
            <a: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endParaRPr/>
          </a:p>
          <a:p>
            <a: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endParaRPr/>
          </a:p>
          <a:p>
            <a:r>
              <a:t>4. LICENSING. Moving the repository turns nothing on. The cloud agent needs a paid Copilot plan, it must be enabled on each connected repository, and an organization owner has to install the Azure Boards GitHub app before anyone can use the integration.</a:t>
            </a:r>
          </a:p>
          <a:p>
            <a:endParaRPr/>
          </a:p>
          <a:p>
            <a:r>
              <a:t>OPTIONAL LAUGH LINE — after “The work item is the prompt”: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what the audit says'). Land this warmly, not as a dunk — the point is to hear the objection out and then hand them the Actions Importer audit from section 3. The bucket their pipeline landed in is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Brief check-in, not a discussion window — about a minute. Take one quick question if a hand is up, otherwise move straight into section 6, the final section. The real Q&amp;A time is banked for the open Q&amp;A at the end.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practical, checklist-voiced part of the section. The five rows are meant to be read as "here is where these hide" — invite the room to mentally add their own sixth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registers on this one slide. STRAIGHT for the top two cards — this is real mechanical risk, say it plainly.</a:t>
            </a:r>
          </a:p>
          <a:p>
            <a:endParaRPr/>
          </a:p>
          <a:p>
            <a:r>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 The EMU exception is no longer on the slide, so say it here.</a:t>
            </a:r>
          </a:p>
          <a:p>
            <a:endParaRPr/>
          </a:p>
          <a:p>
            <a:r>
              <a:t>Be precise about what sits on a mannequin: pull-request data only — authorship, comments and reviews. Work items don’t migrate at all, so there is no work-item history to reclaim.</a:t>
            </a:r>
          </a:p>
          <a:p>
            <a:endParaRPr/>
          </a:p>
          <a:p>
            <a:r>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let it land quieter than anything around it. This is the deck's thesis in one sentence, and it now sits where it earns the most: the recap just handed them six things to remember, and this is the one thing to feel.</a:t>
            </a:r>
          </a:p>
          <a:p>
            <a:endParaRPr/>
          </a:p>
          <a:p>
            <a: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endParaRPr/>
          </a:p>
          <a:p>
            <a: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spoken live, slower than anything else in the deck.</a:t>
            </a:r>
          </a:p>
          <a:p>
            <a:endParaRPr/>
          </a:p>
          <a:p>
            <a: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a:p>
          <a:p>
            <a:r>
              <a:t>That last line is the callback to section 6's title, so it should land as a click rather than a punchline. Let the silence sit for two full seconds before advancing — do not rush into the thank-you slide, and do not add another joke on top of it.</a:t>
            </a:r>
          </a:p>
          <a:p>
            <a:endParaRPr/>
          </a:p>
          <a:p>
            <a:r>
              <a:t>Note the division of labour with the Unglamorous Truth slide two back: that one is the sincere version in your own voice, this one is the funny version in the documentary voice. Sincerity first, laugh last.</a:t>
            </a:r>
          </a:p>
          <a:p>
            <a:endParaRPr/>
          </a:p>
          <a:p>
            <a:r>
              <a:t>---- ALTERNATE CLOSER, if this one doesn't fit on the night ----</a:t>
            </a:r>
          </a:p>
          <a:p>
            <a:endParaRPr/>
          </a:p>
          <a:p>
            <a: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open Q&amp;A, roughly 14 minutes — there has been no interim pocket since section 5, so the room has been banking questions. Invite them explicitly rather than just stopping talking.</a:t>
            </a:r>
          </a:p>
          <a:p>
            <a:endParaRPr/>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endParaRPr/>
          </a:p>
          <a:p>
            <a:r>
              <a:t>If a question needs more than the time you have, point at the code: the long answer is almost certainly already in the repo.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FCB2E6C-B1C0-81B8-1A95-7A3B7452C911}"/>
              </a:ext>
            </a:extLst>
          </p:cNvPr>
          <p:cNvSpPr>
            <a:spLocks noGrp="1"/>
          </p:cNvSpPr>
          <p:nvPr>
            <p:ph type="sldNum" sz="quarter" idx="10"/>
          </p:nvPr>
        </p:nvSpPr>
        <p:spPr/>
        <p:txBody>
          <a:bodyPr/>
          <a:lstStyle/>
          <a:p>
            <a:fld id="{BCB632DE-6AD4-40F1-944C-28C0E9BF62DC}" type="slidenum">
              <a:rPr lang="en-US" smtClean="0"/>
              <a:t>‹#›</a:t>
            </a:fld>
            <a:endParaRPr lang="en-US"/>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0B22153-3E74-9A77-9771-8EE0002F3ED0}"/>
              </a:ext>
            </a:extLst>
          </p:cNvPr>
          <p:cNvSpPr>
            <a:spLocks noGrp="1"/>
          </p:cNvSpPr>
          <p:nvPr>
            <p:ph type="sldNum" sz="quarter" idx="4"/>
          </p:nvPr>
        </p:nvSpPr>
        <p:spPr>
          <a:xfrm>
            <a:off x="11612880" y="6492240"/>
            <a:ext cx="411480" cy="256032"/>
          </a:xfrm>
          <a:prstGeom prst="rect">
            <a:avLst/>
          </a:prstGeom>
        </p:spPr>
        <p:txBody>
          <a:bodyPr vert="horz" wrap="none" lIns="0" tIns="0" rIns="0" bIns="0" anchor="ctr"/>
          <a:lstStyle>
            <a:lvl1pPr algn="r">
              <a:defRPr sz="1000" b="0">
                <a:solidFill>
                  <a:srgbClr val="6B6B63"/>
                </a:solidFill>
                <a:latin typeface="Calibri"/>
              </a:defRPr>
            </a:lvl1pPr>
          </a:lstStyle>
          <a:p>
            <a:fld id="{BCB632DE-6AD4-40F1-944C-28C0E9BF62DC}"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305"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E0B85C"/>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E0B85C"/>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
        <p:nvSpPr>
          <p:cNvPr id="9" name="Slide Number Placeholder"/>
          <p:cNvSpPr>
            <a:spLocks noGrp="1"/>
          </p:cNvSpPr>
          <p:nvPr>
            <p:ph type="sldNum" sz="quarter" idx="10"/>
          </p:nvPr>
        </p:nvSpPr>
        <p:spPr/>
        <p:txBody>
          <a:bodyPr/>
          <a:lstStyle/>
          <a:p>
            <a:fld id="{BCB632DE-6AD4-40F1-944C-28C0E9BF62DC}" type="slidenum">
              <a:rPr lang="en-US">
                <a:solidFill>
                  <a:srgbClr val="E0B85C"/>
                </a:solidFill>
              </a:rPr>
              <a:t>1</a:t>
            </a:fld>
            <a:endParaRPr lang="en-US">
              <a:solidFill>
                <a:srgbClr val="E0B85C"/>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0515600" cy="68580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Thank You to Our Sponsors</a:t>
            </a:r>
            <a:endParaRPr lang="en-US" sz="3200" dirty="0"/>
          </a:p>
        </p:txBody>
      </p:sp>
      <p:sp>
        <p:nvSpPr>
          <p:cNvPr id="3" name="Shape 1"/>
          <p:cNvSpPr/>
          <p:nvPr/>
        </p:nvSpPr>
        <p:spPr>
          <a:xfrm>
            <a:off x="548640" y="1645920"/>
            <a:ext cx="11064240" cy="3931920"/>
          </a:xfrm>
          <a:prstGeom prst="roundRect">
            <a:avLst>
              <a:gd name="adj" fmla="val 279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4" name="Text 2"/>
          <p:cNvSpPr txBox="1"/>
          <p:nvPr/>
        </p:nvSpPr>
        <p:spPr>
          <a:xfrm>
            <a:off x="914400" y="3200400"/>
            <a:ext cx="10332720" cy="640080"/>
          </a:xfrm>
          <a:prstGeom prst="rect">
            <a:avLst/>
          </a:prstGeom>
          <a:noFill/>
          <a:ln/>
        </p:spPr>
        <p:txBody>
          <a:bodyPr wrap="square" lIns="0" tIns="0" rIns="0" bIns="0" rtlCol="0" anchor="ctr"/>
          <a:lstStyle/>
          <a:p>
            <a:pPr marL="0" indent="0" algn="ctr">
              <a:buNone/>
            </a:pPr>
            <a:r>
              <a:rPr lang="en-US" sz="2000" i="1" dirty="0">
                <a:solidFill>
                  <a:srgbClr val="6B6B63"/>
                </a:solidFill>
                <a:latin typeface="Calibri" pitchFamily="34" charset="0"/>
                <a:ea typeface="Calibri" pitchFamily="34" charset="-122"/>
                <a:cs typeface="Calibri" pitchFamily="34" charset="-120"/>
              </a:rPr>
              <a:t>[PLACEHOLDER — drop in actual sponsor logos before the talk]</a:t>
            </a:r>
            <a:endParaRPr lang="en-US" sz="2000" dirty="0"/>
          </a:p>
        </p:txBody>
      </p:sp>
      <p:sp>
        <p:nvSpPr>
          <p:cNvPr id="5" name="Slide Number Placeholder"/>
          <p:cNvSpPr>
            <a:spLocks noGrp="1"/>
          </p:cNvSpPr>
          <p:nvPr>
            <p:ph type="sldNum" sz="quarter" idx="10"/>
          </p:nvPr>
        </p:nvSpPr>
        <p:spPr/>
        <p:txBody>
          <a:bodyPr/>
          <a:lstStyle/>
          <a:p>
            <a:fld id="{BCB632DE-6AD4-40F1-944C-28C0E9BF62DC}" type="slidenum">
              <a:rPr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7068312"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Crossing the River — </a:t>
            </a:r>
            <a:r>
              <a:rPr lang="en-US" sz="16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Watch as the Scrum Master Approaches Carefully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Senior Engineer Defends an Ancient Pipeline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6126480" cy="59436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754112" y="1554480"/>
            <a:ext cx="3858768"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8010144" y="1737360"/>
            <a:ext cx="338328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8010144" y="2331720"/>
            <a:ext cx="338328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comparing GitHub with every competing platform.</a:t>
            </a: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
        <p:nvSpPr>
          <p:cNvPr id="22" name="Slide Number Placeholder"/>
          <p:cNvSpPr>
            <a:spLocks noGrp="1"/>
          </p:cNvSpPr>
          <p:nvPr>
            <p:ph type="sldNum" sz="quarter" idx="10"/>
          </p:nvPr>
        </p:nvSpPr>
        <p:spPr/>
        <p:txBody>
          <a:bodyPr/>
          <a:lstStyle/>
          <a:p>
            <a:fld id="{BCB632DE-6AD4-40F1-944C-28C0E9BF62DC}"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a:t>
            </a:fld>
            <a:endParaRPr lang="en-US">
              <a:solidFill>
                <a:srgbClr val="E0B85C"/>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2331720"/>
          <a:ext cx="11064240" cy="310896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621792">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621792">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621792">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2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
        <p:nvSpPr>
          <p:cNvPr id="13" name="Lead"/>
          <p:cNvSpPr txBox="1"/>
          <p:nvPr/>
        </p:nvSpPr>
        <p:spPr>
          <a:xfrm>
            <a:off x="548640" y="1444752"/>
            <a:ext cx="11064240" cy="731520"/>
          </a:xfrm>
          <a:prstGeom prst="rect">
            <a:avLst/>
          </a:prstGeom>
          <a:noFill/>
        </p:spPr>
        <p:txBody>
          <a:bodyPr wrap="square" lIns="0" tIns="0" rIns="0" bIns="0">
            <a:spAutoFit/>
          </a:bodyPr>
          <a:lstStyle/>
          <a:p>
            <a:r>
              <a:rPr sz="1800" b="1">
                <a:solidFill>
                  <a:srgbClr val="2B2B2B"/>
                </a:solidFill>
                <a:latin typeface="Calibri"/>
              </a:rPr>
              <a:t>Most agentic Copilot features ship on GitHub first. </a:t>
            </a:r>
            <a:r>
              <a:rPr sz="1800" b="0">
                <a:solidFill>
                  <a:srgbClr val="2B2B2B"/>
                </a:solidFill>
                <a:latin typeface="Calibri"/>
              </a:rPr>
              <a:t>Azure DevOps keeps gaining AI features, but where the repository lives still decides which workflows run natively.</a:t>
            </a:r>
          </a:p>
        </p:txBody>
      </p:sp>
      <p:sp>
        <p:nvSpPr>
          <p:cNvPr id="14" name="Slide Number Placeholder"/>
          <p:cNvSpPr>
            <a:spLocks noGrp="1"/>
          </p:cNvSpPr>
          <p:nvPr>
            <p:ph type="sldNum" sz="quarter" idx="10"/>
          </p:nvPr>
        </p:nvSpPr>
        <p:spPr/>
        <p:txBody>
          <a:bodyPr/>
          <a:lstStyle/>
          <a:p>
            <a:fld id="{BCB632DE-6AD4-40F1-944C-28C0E9BF62DC}"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platform decision did not disappear. It merely acquired more adapters.</a:t>
            </a:r>
          </a:p>
        </p:txBody>
      </p:sp>
      <p:sp>
        <p:nvSpPr>
          <p:cNvPr id="34" name="Slide Number Placeholder"/>
          <p:cNvSpPr>
            <a:spLocks noGrp="1"/>
          </p:cNvSpPr>
          <p:nvPr>
            <p:ph type="sldNum" sz="quarter" idx="10"/>
          </p:nvPr>
        </p:nvSpPr>
        <p:spPr/>
        <p:txBody>
          <a:bodyPr/>
          <a:lstStyle/>
          <a:p>
            <a:fld id="{BCB632DE-6AD4-40F1-944C-28C0E9BF62DC}"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run a workflow in a local container: fast feedback on syntax and job order, not a stand-in for CI.</a:t>
            </a:r>
            <a:endParaRPr lang="en-US" sz="1400" dirty="0"/>
          </a:p>
        </p:txBody>
      </p:sp>
      <p:sp>
        <p:nvSpPr>
          <p:cNvPr id="31" name="Slide Number Placeholder"/>
          <p:cNvSpPr>
            <a:spLocks noGrp="1"/>
          </p:cNvSpPr>
          <p:nvPr>
            <p:ph type="sldNum" sz="quarter" idx="10"/>
          </p:nvPr>
        </p:nvSpPr>
        <p:spPr/>
        <p:txBody>
          <a:bodyPr/>
          <a:lstStyle/>
          <a:p>
            <a:fld id="{BCB632DE-6AD4-40F1-944C-28C0E9BF62DC}"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8</a:t>
            </a:fld>
            <a:endParaRPr lang="en-US">
              <a:solidFill>
                <a:srgbClr val="E0B85C"/>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3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15" name="Slide Number Placeholder"/>
          <p:cNvSpPr>
            <a:spLocks noGrp="1"/>
          </p:cNvSpPr>
          <p:nvPr>
            <p:ph type="sldNum" sz="quarter" idx="10"/>
          </p:nvPr>
        </p:nvSpPr>
        <p:spPr/>
        <p:txBody>
          <a:bodyPr/>
          <a:lstStyle/>
          <a:p>
            <a:fld id="{BCB632DE-6AD4-40F1-944C-28C0E9BF62DC}"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don’t migrate — push them separately</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a:t>
            </a:r>
            <a:endParaRPr lang="en-US" sz="1600" dirty="0"/>
          </a:p>
        </p:txBody>
      </p:sp>
      <p:sp>
        <p:nvSpPr>
          <p:cNvPr id="12" name="Slide Number Placeholder"/>
          <p:cNvSpPr>
            <a:spLocks noGrp="1"/>
          </p:cNvSpPr>
          <p:nvPr>
            <p:ph type="sldNum" sz="quarter" idx="10"/>
          </p:nvPr>
        </p:nvSpPr>
        <p:spPr/>
        <p:txBody>
          <a:bodyPr/>
          <a:lstStyle/>
          <a:p>
            <a:fld id="{BCB632DE-6AD4-40F1-944C-28C0E9BF62DC}"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The Pages Travel, the Structure Doesn’t</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wikis are Git repos under the hood, so the pages copy with a clone and a push. </a:t>
            </a:r>
          </a:p>
          <a:p>
            <a:pPr marL="0" indent="0">
              <a:lnSpc>
                <a:spcPct val="130000"/>
              </a:lnSpc>
              <a:buNone/>
            </a:pPr>
            <a:endParaRPr lang="en-US" sz="2000" b="1" dirty="0">
              <a:solidFill>
                <a:srgbClr val="2B2B2B"/>
              </a:solidFill>
              <a:latin typeface="Calibri" pitchFamily="34" charset="0"/>
              <a:ea typeface="Calibri" pitchFamily="34" charset="-122"/>
              <a:cs typeface="Calibri" pitchFamily="34" charset="-120"/>
            </a:endParaRPr>
          </a:p>
          <a:p>
            <a:pPr marL="0" indent="0">
              <a:lnSpc>
                <a:spcPct val="130000"/>
              </a:lnSpc>
              <a:buNone/>
            </a:pPr>
            <a:r>
              <a:rPr lang="en-US" sz="2000" b="1" dirty="0">
                <a:solidFill>
                  <a:srgbClr val="2B2B2B"/>
                </a:solidFill>
                <a:latin typeface="Calibri" pitchFamily="34" charset="0"/>
                <a:ea typeface="Calibri" pitchFamily="34" charset="-122"/>
                <a:cs typeface="Calibri" pitchFamily="34" charset="-120"/>
              </a:rPr>
              <a:t>What doesn’t copy cleanly: </a:t>
            </a:r>
            <a:r>
              <a:rPr lang="en-US" sz="2000" dirty="0">
                <a:solidFill>
                  <a:srgbClr val="2B2B2B"/>
                </a:solidFill>
                <a:latin typeface="Calibri" pitchFamily="34" charset="0"/>
                <a:ea typeface="Calibri" pitchFamily="34" charset="-122"/>
                <a:cs typeface="Calibri" pitchFamily="34" charset="-120"/>
              </a:rPr>
              <a:t>page order and nesting (Azure DevOps’ .order files and folders; GitHub’s wiki page list is flat), and Azure DevOps-only markdown such as [[_TOC_]], ::: mermaid blocks and #123 work-item links.</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The pages copy in minutes. The structure and the Azure DevOps-only markdown are the real work.</a:t>
            </a:r>
          </a:p>
        </p:txBody>
      </p:sp>
      <p:sp>
        <p:nvSpPr>
          <p:cNvPr id="11" name="Slide Number Placeholder"/>
          <p:cNvSpPr>
            <a:spLocks noGrp="1"/>
          </p:cNvSpPr>
          <p:nvPr>
            <p:ph type="sldNum" sz="quarter" idx="10"/>
          </p:nvPr>
        </p:nvSpPr>
        <p:spPr/>
        <p:txBody>
          <a:bodyPr/>
          <a:lstStyle/>
          <a:p>
            <a:fld id="{BCB632DE-6AD4-40F1-944C-28C0E9BF62DC}"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if your feeds fit: no PyPI, Universal Packages or upstream sources.</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
        <p:nvSpPr>
          <p:cNvPr id="23" name="Slide Number Placeholder"/>
          <p:cNvSpPr>
            <a:spLocks noGrp="1"/>
          </p:cNvSpPr>
          <p:nvPr>
            <p:ph type="sldNum" sz="quarter" idx="10"/>
          </p:nvPr>
        </p:nvSpPr>
        <p:spPr/>
        <p:txBody>
          <a:bodyPr/>
          <a:lstStyle/>
          <a:p>
            <a:fld id="{BCB632DE-6AD4-40F1-944C-28C0E9BF62D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E0B85C"/>
                </a:solidFill>
                <a:latin typeface="Calibri"/>
              </a:rPr>
              <a:t>TAKEAWAY </a:t>
            </a:r>
            <a:r>
              <a:rPr sz="1500" b="0">
                <a:solidFill>
                  <a:srgbClr val="F5F5F0"/>
                </a:solidFill>
                <a:latin typeface="Calibri"/>
              </a:rPr>
              <a:t>Neither platform hands you DORA. Agree on the four metrics first, then instrument them yourselves. That baseline outlives the migration.</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
        <p:nvSpPr>
          <p:cNvPr id="13" name="Slide Number Placeholder"/>
          <p:cNvSpPr>
            <a:spLocks noGrp="1"/>
          </p:cNvSpPr>
          <p:nvPr>
            <p:ph type="sldNum" sz="quarter" idx="10"/>
          </p:nvPr>
        </p:nvSpPr>
        <p:spPr/>
        <p:txBody>
          <a:bodyPr/>
          <a:lstStyle/>
          <a:p>
            <a:fld id="{BCB632DE-6AD4-40F1-944C-28C0E9BF62DC}"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301752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71800"/>
            <a:ext cx="4709160" cy="1874519"/>
          </a:xfrm>
          <a:prstGeom prst="rect">
            <a:avLst/>
          </a:prstGeom>
          <a:noFill/>
        </p:spPr>
        <p:txBody>
          <a:bodyPr wrap="square" lIns="0" tIns="0" rIns="0" bIns="0" anchor="t">
            <a:spAutoFit/>
          </a:bodyPr>
          <a:lstStyle/>
          <a:p>
            <a:pPr algn="l">
              <a:lnSpc>
                <a:spcPts val="2100"/>
              </a:lnSpc>
              <a:spcAft>
                <a:spcPts val="700"/>
              </a:spcAft>
            </a:pPr>
            <a:r>
              <a:rPr lang="en-US" sz="1600">
                <a:solidFill>
                  <a:srgbClr val="2B2B2B"/>
                </a:solidFill>
                <a:latin typeface="Calibri"/>
              </a:rPr>
              <a:t>•  GitHub repositories</a:t>
            </a:r>
          </a:p>
          <a:p>
            <a:pPr algn="l">
              <a:lnSpc>
                <a:spcPts val="2100"/>
              </a:lnSpc>
              <a:spcAft>
                <a:spcPts val="700"/>
              </a:spcAft>
            </a:pPr>
            <a:r>
              <a:rPr lang="en-US" sz="1600">
                <a:solidFill>
                  <a:srgbClr val="2B2B2B"/>
                </a:solidFill>
                <a:latin typeface="Calibri"/>
              </a:rPr>
              <a:t>•  Pull requests and code review</a:t>
            </a:r>
          </a:p>
          <a:p>
            <a:pPr algn="l">
              <a:lnSpc>
                <a:spcPts val="2100"/>
              </a:lnSpc>
              <a:spcAft>
                <a:spcPts val="700"/>
              </a:spcAft>
            </a:pPr>
            <a:r>
              <a:rPr lang="en-US" sz="1600">
                <a:solidFill>
                  <a:srgbClr val="2B2B2B"/>
                </a:solidFill>
                <a:latin typeface="Calibri"/>
              </a:rPr>
              <a:t>•  Repository-native Copilot capabilities</a:t>
            </a:r>
          </a:p>
          <a:p>
            <a:pPr algn="l">
              <a:lnSpc>
                <a:spcPts val="2100"/>
              </a:lnSpc>
              <a:spcAft>
                <a:spcPts val="700"/>
              </a:spcAft>
            </a:pPr>
            <a:r>
              <a:rPr lang="en-US" sz="1600">
                <a:solidFill>
                  <a:srgbClr val="2B2B2B"/>
                </a:solidFill>
                <a:latin typeface="Calibri"/>
              </a:rPr>
              <a:t>•  GitHub Actions, where appropriate</a:t>
            </a:r>
          </a:p>
          <a:p>
            <a:pPr algn="l">
              <a:lnSpc>
                <a:spcPts val="2100"/>
              </a:lnSpc>
              <a:spcAft>
                <a:spcPts val="700"/>
              </a:spcAft>
            </a:pPr>
            <a:r>
              <a:rPr lang="en-US" sz="160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71800"/>
            <a:ext cx="4709160" cy="1874519"/>
          </a:xfrm>
          <a:prstGeom prst="rect">
            <a:avLst/>
          </a:prstGeom>
          <a:noFill/>
        </p:spPr>
        <p:txBody>
          <a:bodyPr wrap="square" lIns="0" tIns="0" rIns="0" bIns="0" anchor="t">
            <a:spAutoFit/>
          </a:bodyPr>
          <a:lstStyle/>
          <a:p>
            <a:pPr algn="l">
              <a:lnSpc>
                <a:spcPts val="2100"/>
              </a:lnSpc>
              <a:spcAft>
                <a:spcPts val="700"/>
              </a:spcAft>
            </a:pPr>
            <a:r>
              <a:rPr sz="1600">
                <a:solidFill>
                  <a:srgbClr val="2B2B2B"/>
                </a:solidFill>
                <a:latin typeface="Calibri"/>
              </a:rPr>
              <a:t>•  Azure Boards—formal planning and reporting</a:t>
            </a:r>
          </a:p>
          <a:p>
            <a:pPr algn="l">
              <a:lnSpc>
                <a:spcPts val="2100"/>
              </a:lnSpc>
              <a:spcAft>
                <a:spcPts val="700"/>
              </a:spcAft>
            </a:pPr>
            <a:r>
              <a:rPr sz="1600">
                <a:solidFill>
                  <a:srgbClr val="2B2B2B"/>
                </a:solidFill>
                <a:latin typeface="Calibri"/>
              </a:rPr>
              <a:t>•  Azure Test Plans—structured manual testing</a:t>
            </a:r>
          </a:p>
          <a:p>
            <a:pPr algn="l">
              <a:lnSpc>
                <a:spcPts val="2100"/>
              </a:lnSpc>
              <a:spcAft>
                <a:spcPts val="700"/>
              </a:spcAft>
            </a:pPr>
            <a:r>
              <a:rPr sz="1600">
                <a:solidFill>
                  <a:srgbClr val="2B2B2B"/>
                </a:solidFill>
                <a:latin typeface="Calibri"/>
              </a:rPr>
              <a:t>•  Azure Pipelines—retained temporarily or deliberately</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349240"/>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250" b="1" spc="120">
                <a:solidFill>
                  <a:srgbClr val="E0B85C"/>
                </a:solidFill>
                <a:latin typeface="Calibri"/>
              </a:rPr>
              <a:t>TAKEAWAY </a:t>
            </a:r>
            <a:r>
              <a:rPr sz="1500" b="0">
                <a:solidFill>
                  <a:srgbClr val="F5F5F0"/>
                </a:solidFill>
                <a:latin typeface="Calibri"/>
              </a:rPr>
              <a:t>Hybrid is not a temporary failure to finish the migration. It can be the intended architecture.</a:t>
            </a:r>
          </a:p>
        </p:txBody>
      </p:sp>
      <p:sp>
        <p:nvSpPr>
          <p:cNvPr id="35" name="Slide Number Placeholder"/>
          <p:cNvSpPr>
            <a:spLocks noGrp="1"/>
          </p:cNvSpPr>
          <p:nvPr>
            <p:ph type="sldNum" sz="quarter" idx="10"/>
          </p:nvPr>
        </p:nvSpPr>
        <p:spPr/>
        <p:txBody>
          <a:bodyPr/>
          <a:lstStyle/>
          <a:p>
            <a:fld id="{BCB632DE-6AD4-40F1-944C-28C0E9BF62DC}" type="slidenum">
              <a:rPr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16</a:t>
            </a:fld>
            <a:endParaRPr lang="en-US">
              <a:solidFill>
                <a:srgbClr val="E0B85C"/>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E0B85C"/>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17</a:t>
            </a:fld>
            <a:endParaRPr lang="en-US">
              <a:solidFill>
                <a:srgbClr val="E0B85C"/>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994837"/>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2150284"/>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2177716"/>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3348149"/>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50359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493959"/>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701461"/>
            <a:ext cx="11091672" cy="1143000"/>
          </a:xfrm>
          <a:prstGeom prst="roundRect">
            <a:avLst>
              <a:gd name="adj" fmla="val 9600"/>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856909"/>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884341"/>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6" name="Slide Number Placeholder"/>
          <p:cNvSpPr>
            <a:spLocks noGrp="1"/>
          </p:cNvSpPr>
          <p:nvPr>
            <p:ph type="sldNum" sz="quarter" idx="10"/>
          </p:nvPr>
        </p:nvSpPr>
        <p:spPr/>
        <p:txBody>
          <a:bodyPr/>
          <a:lstStyle/>
          <a:p>
            <a:fld id="{BCB632DE-6AD4-40F1-944C-28C0E9BF62DC}"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3373412851"/>
              </p:ext>
            </p:extLst>
          </p:nvPr>
        </p:nvGraphicFramePr>
        <p:xfrm>
          <a:off x="548640" y="1508760"/>
          <a:ext cx="11091672" cy="416052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OFFICIAL TOOLING</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56869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568696"/>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The methods are complementary. None is a substitute for evidence in the validation plane.</a:t>
            </a:r>
          </a:p>
        </p:txBody>
      </p:sp>
      <p:sp>
        <p:nvSpPr>
          <p:cNvPr id="9" name="Slide Number Placeholder"/>
          <p:cNvSpPr>
            <a:spLocks noGrp="1"/>
          </p:cNvSpPr>
          <p:nvPr>
            <p:ph type="sldNum" sz="quarter" idx="10"/>
          </p:nvPr>
        </p:nvSpPr>
        <p:spPr/>
        <p:txBody>
          <a:bodyPr/>
          <a:lstStyle/>
          <a:p>
            <a:fld id="{BCB632DE-6AD4-40F1-944C-28C0E9BF62DC}"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559492123"/>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Agents / Agent Pools</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Runners / Runner Groups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Translation is a design exercise: preserve the original security and lifecycle intent, then validate conditions, needs, shell and error handling, approvals, runners and environment behavior.</a:t>
            </a:r>
            <a:endParaRPr lang="en-US" sz="1350" dirty="0"/>
          </a:p>
        </p:txBody>
      </p:sp>
      <p:sp>
        <p:nvSpPr>
          <p:cNvPr id="25" name="Slide Number Placeholder"/>
          <p:cNvSpPr>
            <a:spLocks noGrp="1"/>
          </p:cNvSpPr>
          <p:nvPr>
            <p:ph type="sldNum" sz="quarter" idx="10"/>
          </p:nvPr>
        </p:nvSpPr>
        <p:spPr/>
        <p:txBody>
          <a:bodyPr/>
          <a:lstStyle/>
          <a:p>
            <a:fld id="{BCB632DE-6AD4-40F1-944C-28C0E9BF62DC}"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t>GitHub Enterprise Importer (GEI) is a set of GitHub CLI extensions, with </a:t>
            </a:r>
            <a:r>
              <a:rPr lang="en-US" sz="1450" dirty="0">
                <a:latin typeface="Cascadia Code" panose="020B0609020000020004" pitchFamily="49" charset="0"/>
                <a:cs typeface="Cascadia Code" panose="020B0609020000020004" pitchFamily="49" charset="0"/>
              </a:rPr>
              <a:t>gh-ado2gh</a:t>
            </a:r>
            <a:r>
              <a:rPr lang="en-US" sz="1450" dirty="0"/>
              <a:t> specifically for ADO</a:t>
            </a:r>
            <a:endParaRPr lang="en-US" sz="1450" dirty="0">
              <a:latin typeface="Cascadia Mono" panose="020B0609020000020004" pitchFamily="49" charset="0"/>
              <a:ea typeface="Cascadia Mono" panose="020B0609020000020004" pitchFamily="49" charset="0"/>
              <a:cs typeface="Cascadia Mono" panose="020B0609020000020004" pitchFamily="49" charset="0"/>
            </a:endParaRP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ea typeface="Cascadia Mono" panose="020B0609020000020004" pitchFamily="49" charset="0"/>
                <a:cs typeface="Cascadia Code"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spcBef>
                <a:spcPts val="800"/>
              </a:spcBef>
              <a:buFont typeface="Arial" panose="020B0604020202020204" pitchFamily="34" charset="0"/>
              <a:buChar char="•"/>
            </a:pPr>
            <a:r>
              <a:rPr sz="1450" dirty="0">
                <a:solidFill>
                  <a:srgbClr val="F5F5F0"/>
                </a:solidFill>
                <a:latin typeface="Calibri"/>
              </a:rPr>
              <a:t>Pipeline-logic conversion belongs to </a:t>
            </a:r>
            <a:r>
              <a:rPr lang="en-US" sz="1450" dirty="0">
                <a:solidFill>
                  <a:srgbClr val="F5F5F0"/>
                </a:solidFill>
                <a:latin typeface="Calibri"/>
              </a:rPr>
              <a:t>elsewhere (</a:t>
            </a:r>
            <a:r>
              <a:rPr sz="1450" dirty="0">
                <a:solidFill>
                  <a:srgbClr val="F5F5F0"/>
                </a:solidFill>
                <a:latin typeface="Calibri"/>
              </a:rPr>
              <a:t>Actions Importer</a:t>
            </a:r>
            <a:r>
              <a:rPr lang="en-US" sz="1450" dirty="0">
                <a:solidFill>
                  <a:srgbClr val="F5F5F0"/>
                </a:solidFill>
                <a:latin typeface="Calibri"/>
              </a:rPr>
              <a:t>)</a:t>
            </a:r>
            <a:endParaRPr sz="1450" dirty="0">
              <a:solidFill>
                <a:srgbClr val="F5F5F0"/>
              </a:solidFill>
              <a:latin typeface="Calibri"/>
            </a:endParaRPr>
          </a:p>
          <a:p>
            <a:pPr marL="285750" indent="-285750">
              <a:spcBef>
                <a:spcPts val="800"/>
              </a:spcBef>
              <a:buFont typeface="Arial" panose="020B0604020202020204" pitchFamily="34" charset="0"/>
              <a:buChar char="•"/>
            </a:pPr>
            <a:r>
              <a:rPr sz="1450" dirty="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do2gh.png"/>
          <p:cNvPicPr>
            <a:picLocks noChangeAspect="1"/>
          </p:cNvPicPr>
          <p:nvPr/>
        </p:nvPicPr>
        <p:blipFill>
          <a:blip r:embed="rId4"/>
          <a:stretch>
            <a:fillRect/>
          </a:stretch>
        </p:blipFill>
        <p:spPr>
          <a:xfrm>
            <a:off x="10424160" y="5413248"/>
            <a:ext cx="777240" cy="777240"/>
          </a:xfrm>
          <a:prstGeom prst="rect">
            <a:avLst/>
          </a:prstGeom>
        </p:spPr>
      </p:pic>
      <p:sp>
        <p:nvSpPr>
          <p:cNvPr id="16" name="Slide Number Placeholder"/>
          <p:cNvSpPr>
            <a:spLocks noGrp="1"/>
          </p:cNvSpPr>
          <p:nvPr>
            <p:ph type="sldNum" sz="quarter" idx="10"/>
          </p:nvPr>
        </p:nvSpPr>
        <p:spPr/>
        <p:txBody>
          <a:bodyPr/>
          <a:lstStyle/>
          <a:p>
            <a:fld id="{BCB632DE-6AD4-40F1-944C-28C0E9BF62DC}" type="slidenum">
              <a:rPr lang="en-US"/>
              <a:t>21</a:t>
            </a:fld>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63880" y="5628132"/>
            <a:ext cx="11064240" cy="96012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a:solidFill>
                  <a:srgbClr val="F5F5F0"/>
                </a:solidFill>
                <a:latin typeface="Calibri"/>
              </a:rPr>
              <a:t>ELM changes the synchronization and cutover experience — not the boundaries of what must be migrated and validated.</a:t>
            </a:r>
          </a:p>
        </p:txBody>
      </p:sp>
      <p:sp>
        <p:nvSpPr>
          <p:cNvPr id="19" name="Slide Number Placeholder"/>
          <p:cNvSpPr>
            <a:spLocks noGrp="1"/>
          </p:cNvSpPr>
          <p:nvPr>
            <p:ph type="sldNum" sz="quarter" idx="10"/>
          </p:nvPr>
        </p:nvSpPr>
        <p:spPr/>
        <p:txBody>
          <a:bodyPr/>
          <a:lstStyle/>
          <a:p>
            <a:fld id="{BCB632DE-6AD4-40F1-944C-28C0E9BF62DC}" type="slidenum">
              <a:rPr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Decide Before the First Migration</a:t>
            </a:r>
            <a:endParaRPr lang="en-US" sz="3200" dirty="0"/>
          </a:p>
        </p:txBody>
      </p:sp>
      <p:sp>
        <p:nvSpPr>
          <p:cNvPr id="6" name="Shape 3"/>
          <p:cNvSpPr/>
          <p:nvPr/>
        </p:nvSpPr>
        <p:spPr>
          <a:xfrm>
            <a:off x="548640" y="4556259"/>
            <a:ext cx="11064240" cy="1358289"/>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4674899"/>
            <a:ext cx="10332720" cy="1124101"/>
          </a:xfrm>
          <a:prstGeom prst="rect">
            <a:avLst/>
          </a:prstGeom>
          <a:noFill/>
          <a:ln/>
        </p:spPr>
        <p:txBody>
          <a:bodyPr wrap="square" lIns="0" tIns="0" rIns="0" bIns="0" rtlCol="0" anchor="ctr"/>
          <a:lstStyle/>
          <a:p>
            <a:pPr marL="0" indent="0">
              <a:lnSpc>
                <a:spcPct val="130000"/>
              </a:lnSpc>
              <a:buNone/>
            </a:pPr>
            <a:r>
              <a:rPr lang="en-US" sz="1850" b="0" dirty="0">
                <a:solidFill>
                  <a:srgbClr val="2B2B2B"/>
                </a:solidFill>
                <a:latin typeface="Calibri"/>
              </a:rPr>
              <a:t>Install the Azure Pipelines App in your GitHub Org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1549966"/>
            <a:ext cx="11064240" cy="2638449"/>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1775672"/>
            <a:ext cx="10515600" cy="2257295"/>
          </a:xfrm>
          <a:prstGeom prst="rect">
            <a:avLst/>
          </a:prstGeom>
          <a:noFill/>
          <a:ln/>
        </p:spPr>
        <p:txBody>
          <a:bodyPr wrap="square" lIns="0" tIns="0" rIns="0" bIns="0" rtlCol="0" anchor="ctr"/>
          <a:lstStyle/>
          <a:p>
            <a:pPr marL="0" indent="0">
              <a:lnSpc>
                <a:spcPct val="115000"/>
              </a:lnSpc>
              <a:buNone/>
            </a:pPr>
            <a:r>
              <a:rPr lang="en-US" sz="1450" b="0" dirty="0">
                <a:solidFill>
                  <a:srgbClr val="F5F5F0"/>
                </a:solidFill>
                <a:latin typeface="Calibri"/>
              </a:rPr>
              <a:t>Before the first run: </a:t>
            </a:r>
          </a:p>
          <a:p>
            <a:pPr marL="285750" indent="-285750">
              <a:lnSpc>
                <a:spcPct val="115000"/>
              </a:lnSpc>
              <a:buFont typeface="Arial" panose="020B0604020202020204" pitchFamily="34" charset="0"/>
              <a:buChar char="•"/>
            </a:pPr>
            <a:r>
              <a:rPr lang="en-US" sz="1450" b="0" dirty="0">
                <a:solidFill>
                  <a:srgbClr val="F5F5F0"/>
                </a:solidFill>
                <a:latin typeface="Calibri"/>
              </a:rPr>
              <a:t>target enterprise and organization model  </a:t>
            </a:r>
          </a:p>
          <a:p>
            <a:pPr marL="285750" indent="-285750">
              <a:lnSpc>
                <a:spcPct val="115000"/>
              </a:lnSpc>
              <a:buFont typeface="Arial" panose="020B0604020202020204" pitchFamily="34" charset="0"/>
              <a:buChar char="•"/>
            </a:pPr>
            <a:r>
              <a:rPr lang="en-US" sz="1450" b="0" dirty="0">
                <a:solidFill>
                  <a:srgbClr val="F5F5F0"/>
                </a:solidFill>
                <a:latin typeface="Calibri"/>
              </a:rPr>
              <a:t>authentication and identity mapping  </a:t>
            </a:r>
          </a:p>
          <a:p>
            <a:pPr marL="285750" indent="-285750">
              <a:lnSpc>
                <a:spcPct val="115000"/>
              </a:lnSpc>
              <a:buFont typeface="Arial" panose="020B0604020202020204" pitchFamily="34" charset="0"/>
              <a:buChar char="•"/>
            </a:pPr>
            <a:r>
              <a:rPr lang="en-US" sz="1450" b="0" dirty="0">
                <a:solidFill>
                  <a:srgbClr val="F5F5F0"/>
                </a:solidFill>
                <a:latin typeface="Calibri"/>
              </a:rPr>
              <a:t>team and visibility policy  </a:t>
            </a:r>
          </a:p>
          <a:p>
            <a:pPr marL="285750" indent="-285750">
              <a:lnSpc>
                <a:spcPct val="115000"/>
              </a:lnSpc>
              <a:buFont typeface="Arial" panose="020B0604020202020204" pitchFamily="34" charset="0"/>
              <a:buChar char="•"/>
            </a:pPr>
            <a:r>
              <a:rPr lang="en-US" sz="1450" b="0" dirty="0">
                <a:solidFill>
                  <a:srgbClr val="F5F5F0"/>
                </a:solidFill>
                <a:latin typeface="Calibri"/>
              </a:rPr>
              <a:t>Boards/Pipelines integration  </a:t>
            </a:r>
          </a:p>
          <a:p>
            <a:pPr marL="285750" indent="-285750">
              <a:lnSpc>
                <a:spcPct val="115000"/>
              </a:lnSpc>
              <a:buFont typeface="Arial" panose="020B0604020202020204" pitchFamily="34" charset="0"/>
              <a:buChar char="•"/>
            </a:pPr>
            <a:r>
              <a:rPr lang="en-US" sz="1450" b="0" dirty="0">
                <a:solidFill>
                  <a:srgbClr val="F5F5F0"/>
                </a:solidFill>
                <a:latin typeface="Calibri"/>
              </a:rPr>
              <a:t>freeze or change-reconciliation approach  </a:t>
            </a:r>
          </a:p>
          <a:p>
            <a:pPr marL="285750" indent="-285750">
              <a:lnSpc>
                <a:spcPct val="115000"/>
              </a:lnSpc>
              <a:buFont typeface="Arial" panose="020B0604020202020204" pitchFamily="34" charset="0"/>
              <a:buChar char="•"/>
            </a:pPr>
            <a:r>
              <a:rPr lang="en-US" sz="1450" b="0" dirty="0">
                <a:solidFill>
                  <a:srgbClr val="F5F5F0"/>
                </a:solidFill>
                <a:latin typeface="Calibri"/>
              </a:rPr>
              <a:t>owner for migration failures</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GitHub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00000"/>
              </a:lnSpc>
              <a:spcAft>
                <a:spcPts val="800"/>
              </a:spcAft>
              <a:buSzPct val="100000"/>
              <a:buFont typeface="Arial" panose="020B0604020202020204" pitchFamily="34" charset="0"/>
              <a:buChar char="•"/>
            </a:pPr>
            <a:r>
              <a:rPr lang="en-US" sz="1450" dirty="0">
                <a:solidFill>
                  <a:srgbClr val="2B2B2B"/>
                </a:solidFill>
                <a:cs typeface="Cascadia Code" panose="020B0609020000020004" pitchFamily="49" charset="0"/>
              </a:rPr>
              <a:t>GitHub CLI extension to migrate CI/CD pipelines</a:t>
            </a:r>
          </a:p>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audit</a:t>
            </a:r>
            <a:r>
              <a:rPr lang="en-US" sz="1450" dirty="0">
                <a:solidFill>
                  <a:srgbClr val="2B2B2B"/>
                </a:solidFill>
                <a:latin typeface="Calibri"/>
              </a:rPr>
              <a: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Code" panose="020B0609020000020004" pitchFamily="49" charset="0"/>
                <a:cs typeface="Cascadia Code" panose="020B0609020000020004" pitchFamily="49" charset="0"/>
              </a:rPr>
              <a:t>dry-run</a:t>
            </a:r>
            <a:r>
              <a:rPr lang="en-US" sz="1450" dirty="0">
                <a:solidFill>
                  <a:srgbClr val="2B2B2B"/>
                </a:solidFill>
                <a:latin typeface="Calibri"/>
              </a:rPr>
              <a:t>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libri"/>
              </a:rPr>
              <a:t>The conversion handles supported constructs</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250" b="1" spc="120">
                <a:solidFill>
                  <a:srgbClr val="C1440E"/>
                </a:solidFill>
                <a:latin typeface="Calibri"/>
              </a:rPr>
              <a:t>DO THIS </a:t>
            </a:r>
            <a:r>
              <a:rPr sz="1500" b="0">
                <a:solidFill>
                  <a:srgbClr val="2B2B2B"/>
                </a:solidFill>
                <a:latin typeface="Calibri"/>
              </a:rPr>
              <a:t>Use the audit output to build the migration backlog and recalibrate the planning estimate with evidence.</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ctions-importer.png"/>
          <p:cNvPicPr>
            <a:picLocks noChangeAspect="1"/>
          </p:cNvPicPr>
          <p:nvPr/>
        </p:nvPicPr>
        <p:blipFill>
          <a:blip r:embed="rId4"/>
          <a:stretch>
            <a:fillRect/>
          </a:stretch>
        </p:blipFill>
        <p:spPr>
          <a:xfrm>
            <a:off x="10424160" y="5413248"/>
            <a:ext cx="777240" cy="777240"/>
          </a:xfrm>
          <a:prstGeom prst="rect">
            <a:avLst/>
          </a:prstGeom>
        </p:spPr>
      </p:pic>
      <p:sp>
        <p:nvSpPr>
          <p:cNvPr id="16" name="Slide Number Placeholder"/>
          <p:cNvSpPr>
            <a:spLocks noGrp="1"/>
          </p:cNvSpPr>
          <p:nvPr>
            <p:ph type="sldNum" sz="quarter" idx="10"/>
          </p:nvPr>
        </p:nvSpPr>
        <p:spPr/>
        <p:txBody>
          <a:bodyPr/>
          <a:lstStyle/>
          <a:p>
            <a:fld id="{BCB632DE-6AD4-40F1-944C-28C0E9BF62DC}"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250" b="1" spc="120">
                <a:solidFill>
                  <a:srgbClr val="E0B85C"/>
                </a:solidFill>
                <a:latin typeface="Calibri"/>
              </a:rPr>
              <a:t>TAKEAWAY </a:t>
            </a:r>
            <a:r>
              <a:rPr sz="1500">
                <a:solidFill>
                  <a:srgbClr val="F5F5F0"/>
                </a:solidFill>
                <a:latin typeface="Calibri"/>
              </a:rPr>
              <a:t>The workflow converted successfully. It merely has no credentials, no network route, and nowhere to deploy.</a:t>
            </a:r>
          </a:p>
        </p:txBody>
      </p:sp>
      <p:sp>
        <p:nvSpPr>
          <p:cNvPr id="14" name="Slide Number Placeholder"/>
          <p:cNvSpPr>
            <a:spLocks noGrp="1"/>
          </p:cNvSpPr>
          <p:nvPr>
            <p:ph type="sldNum" sz="quarter" idx="10"/>
          </p:nvPr>
        </p:nvSpPr>
        <p:spPr/>
        <p:txBody>
          <a:bodyPr/>
          <a:lstStyle/>
          <a:p>
            <a:fld id="{BCB632DE-6AD4-40F1-944C-28C0E9BF62D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11094720" cy="1417320"/>
          </a:xfrm>
          <a:prstGeom prst="rect">
            <a:avLst/>
          </a:prstGeom>
          <a:noFill/>
          <a:ln/>
        </p:spPr>
        <p:txBody>
          <a:bodyPr wrap="square" lIns="256032" tIns="54864" rIns="256032" bIns="54864" rtlCol="0" anchor="ctr"/>
          <a:lstStyle/>
          <a:p>
            <a:pPr marL="0" indent="0" algn="l">
              <a:lnSpc>
                <a:spcPct val="110000"/>
              </a:lnSpc>
              <a:buNone/>
            </a:pPr>
            <a:r>
              <a:rPr sz="1250" b="1" spc="120" dirty="0">
                <a:solidFill>
                  <a:srgbClr val="C1440E"/>
                </a:solidFill>
                <a:latin typeface="Calibri"/>
              </a:rPr>
              <a:t>DO THIS </a:t>
            </a:r>
            <a:r>
              <a:rPr sz="1500" b="0" dirty="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lide Number Placeholder"/>
          <p:cNvSpPr>
            <a:spLocks noGrp="1"/>
          </p:cNvSpPr>
          <p:nvPr>
            <p:ph type="sldNum" sz="quarter" idx="10"/>
          </p:nvPr>
        </p:nvSpPr>
        <p:spPr/>
        <p:txBody>
          <a:bodyPr/>
          <a:lstStyle/>
          <a:p>
            <a:fld id="{BCB632DE-6AD4-40F1-944C-28C0E9BF62D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Finish line: first verified delivery — equivalent artifact + controlled deployment + traceability + rollback.</a:t>
            </a:r>
          </a:p>
        </p:txBody>
      </p:sp>
      <p:sp>
        <p:nvSpPr>
          <p:cNvPr id="30" name="Slide Number Placeholder"/>
          <p:cNvSpPr>
            <a:spLocks noGrp="1"/>
          </p:cNvSpPr>
          <p:nvPr>
            <p:ph type="sldNum" sz="quarter" idx="10"/>
          </p:nvPr>
        </p:nvSpPr>
        <p:spPr/>
        <p:txBody>
          <a:bodyPr/>
          <a:lstStyle/>
          <a:p>
            <a:fld id="{BCB632DE-6AD4-40F1-944C-28C0E9BF62DC}"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oundRect">
            <a:avLst>
              <a:gd name="adj" fmla="val 314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dirty="0">
                <a:solidFill>
                  <a:srgbClr val="2B2B2B"/>
                </a:solidFill>
                <a:latin typeface="Calibri"/>
              </a:rPr>
              <a:t>•  Branches, tags, and sampled commits reconciled</a:t>
            </a:r>
          </a:p>
          <a:p>
            <a:pPr>
              <a:spcAft>
                <a:spcPts val="500"/>
              </a:spcAft>
            </a:pPr>
            <a:r>
              <a:rPr lang="en-US" sz="1400" dirty="0">
                <a:solidFill>
                  <a:srgbClr val="2B2B2B"/>
                </a:solidFill>
                <a:latin typeface="Calibri"/>
              </a:rPr>
              <a:t>•  PR history and attachments sampled</a:t>
            </a:r>
          </a:p>
          <a:p>
            <a:pPr>
              <a:spcAft>
                <a:spcPts val="500"/>
              </a:spcAft>
            </a:pPr>
            <a:r>
              <a:rPr lang="en-US" sz="1400" dirty="0">
                <a:solidFill>
                  <a:srgbClr val="2B2B2B"/>
                </a:solidFill>
                <a:latin typeface="Calibri"/>
              </a:rPr>
              <a:t>•  Identity, teams, permissions, and visibility verified</a:t>
            </a:r>
          </a:p>
          <a:p>
            <a:pPr>
              <a:spcAft>
                <a:spcPts val="500"/>
              </a:spcAft>
            </a:pPr>
            <a:r>
              <a:rPr lang="en-US" sz="1400" dirty="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1540422"/>
          </a:xfrm>
          <a:prstGeom prst="rect">
            <a:avLst/>
          </a:prstGeom>
          <a:noFill/>
        </p:spPr>
        <p:txBody>
          <a:bodyPr wrap="square" lIns="36576" tIns="27432" rIns="36576" bIns="27432">
            <a:spAutoFit/>
          </a:bodyPr>
          <a:lstStyle/>
          <a:p>
            <a:pPr>
              <a:spcAft>
                <a:spcPts val="500"/>
              </a:spcAft>
            </a:pPr>
            <a:r>
              <a:rPr sz="1400">
                <a:latin typeface="Calibri"/>
              </a:rPr>
              <a:t>•  Equivalent build artifact produced</a:t>
            </a:r>
          </a:p>
          <a:p>
            <a:pPr>
              <a:spcAft>
                <a:spcPts val="500"/>
              </a:spcAft>
            </a:pPr>
            <a:r>
              <a:rPr sz="1400">
                <a:latin typeface="Calibri"/>
              </a:rPr>
              <a:t>•  Secrets, OIDC, and permissions reviewed</a:t>
            </a:r>
          </a:p>
          <a:p>
            <a:pPr>
              <a:spcAft>
                <a:spcPts val="500"/>
              </a:spcAft>
            </a:pPr>
            <a:r>
              <a:rPr sz="1400">
                <a:latin typeface="Calibri"/>
              </a:rPr>
              <a:t>•  Runner and network path proven</a:t>
            </a:r>
          </a:p>
          <a:p>
            <a:pPr>
              <a:spcAft>
                <a:spcPts val="500"/>
              </a:spcAft>
            </a:pPr>
            <a:r>
              <a:rPr sz="1400">
                <a:latin typeface="Calibri"/>
              </a:rPr>
              <a:t>•  Environments, approvals, and deployment exercised</a:t>
            </a:r>
          </a:p>
        </p:txBody>
      </p:sp>
      <p:sp>
        <p:nvSpPr>
          <p:cNvPr id="12" name="Rectangle 11"/>
          <p:cNvSpPr/>
          <p:nvPr/>
        </p:nvSpPr>
        <p:spPr>
          <a:xfrm>
            <a:off x="8010144" y="1508760"/>
            <a:ext cx="3493008" cy="3886200"/>
          </a:xfrm>
          <a:prstGeom prst="roundRect">
            <a:avLst>
              <a:gd name="adj" fmla="val 3141"/>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250" b="1" spc="120">
                <a:solidFill>
                  <a:srgbClr val="E0B85C"/>
                </a:solidFill>
                <a:latin typeface="Calibri"/>
              </a:rPr>
              <a:t>TAKEAWAY </a:t>
            </a:r>
            <a:r>
              <a:rPr sz="1500" b="0">
                <a:solidFill>
                  <a:srgbClr val="F5F5F0"/>
                </a:solidFill>
                <a:latin typeface="Calibri"/>
              </a:rPr>
              <a:t>Definition of done: verified delivery, traceability, operational ownership, and reversibility.</a:t>
            </a:r>
          </a:p>
        </p:txBody>
      </p:sp>
      <p:sp>
        <p:nvSpPr>
          <p:cNvPr id="17" name="Slide Number Placeholder"/>
          <p:cNvSpPr>
            <a:spLocks noGrp="1"/>
          </p:cNvSpPr>
          <p:nvPr>
            <p:ph type="sldNum" sz="quarter" idx="10"/>
          </p:nvPr>
        </p:nvSpPr>
        <p:spPr/>
        <p:txBody>
          <a:bodyPr/>
          <a:lstStyle/>
          <a:p>
            <a:fld id="{BCB632DE-6AD4-40F1-944C-28C0E9BF62DC}"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3 — Crossing the River</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29</a:t>
            </a:fld>
            <a:endParaRPr lang="en-US">
              <a:solidFill>
                <a:srgbClr val="E0B85C"/>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30</a:t>
            </a:fld>
            <a:endParaRPr lang="en-US">
              <a:solidFill>
                <a:srgbClr val="E0B85C"/>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Boards and Projects Are Two Different Models</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work-tracking system built around a process template. GitHub Projects is a planning layer built around custom fields and views.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
        <p:nvSpPr>
          <p:cNvPr id="14" name="Slide Number Placeholder"/>
          <p:cNvSpPr>
            <a:spLocks noGrp="1"/>
          </p:cNvSpPr>
          <p:nvPr>
            <p:ph type="sldNum" sz="quarter" idx="10"/>
          </p:nvPr>
        </p:nvSpPr>
        <p:spPr/>
        <p:txBody>
          <a:bodyPr/>
          <a:lstStyle/>
          <a:p>
            <a:fld id="{BCB632DE-6AD4-40F1-944C-28C0E9BF62D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Each Tool on Its Own Terms</a:t>
            </a:r>
            <a:endParaRPr lang="en-US" sz="3200" dirty="0"/>
          </a:p>
        </p:txBody>
      </p:sp>
      <p:sp>
        <p:nvSpPr>
          <p:cNvPr id="6" name="Shape 3"/>
          <p:cNvSpPr/>
          <p:nvPr/>
        </p:nvSpPr>
        <p:spPr>
          <a:xfrm>
            <a:off x="54864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3 right"/>
          <p:cNvSpPr/>
          <p:nvPr/>
        </p:nvSpPr>
        <p:spPr>
          <a:xfrm>
            <a:off x="6172200" y="1645920"/>
            <a:ext cx="544068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55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ORGANIZES BY </a:t>
            </a:r>
            <a:r>
              <a:rPr sz="1500" b="0">
                <a:solidFill>
                  <a:srgbClr val="F5F5F0"/>
                </a:solidFill>
                <a:latin typeface="Calibri"/>
              </a:rPr>
              <a:t>Boards: Project → Team → Area Path.   Projects: custom fields and iterations, org-wide across repositories.</a:t>
            </a:r>
            <a:endParaRPr lang="en-US" sz="1600" dirty="0"/>
          </a:p>
        </p:txBody>
      </p:sp>
      <p:sp>
        <p:nvSpPr>
          <p:cNvPr id="11" name="Header left"/>
          <p:cNvSpPr txBox="1"/>
          <p:nvPr/>
        </p:nvSpPr>
        <p:spPr>
          <a:xfrm>
            <a:off x="86868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Azure Boards</a:t>
            </a:r>
            <a:endParaRPr lang="en-US" sz="2000" dirty="0"/>
          </a:p>
        </p:txBody>
      </p:sp>
      <p:sp>
        <p:nvSpPr>
          <p:cNvPr id="12" name="Header right"/>
          <p:cNvSpPr txBox="1"/>
          <p:nvPr/>
        </p:nvSpPr>
        <p:spPr>
          <a:xfrm>
            <a:off x="6492240" y="1828800"/>
            <a:ext cx="484632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4 right"/>
          <p:cNvSpPr txBox="1"/>
          <p:nvPr/>
        </p:nvSpPr>
        <p:spPr>
          <a:xfrm>
            <a:off x="6492240" y="2395728"/>
            <a:ext cx="4846320" cy="265176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Custom fields instead of a fixed process: iteration, single-select, date, number</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Lives next to the issues and PRs it tracks</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Fast daily triage, with no context switch to a separate system</a:t>
            </a:r>
            <a:endParaRPr lang="en-US" sz="1900" dirty="0"/>
          </a:p>
          <a:p>
            <a:pPr marL="342900" indent="-342900">
              <a:lnSpc>
                <a:spcPct val="115000"/>
              </a:lnSpc>
              <a:spcAft>
                <a:spcPts val="1400"/>
              </a:spcAft>
              <a:buSzPct val="100000"/>
              <a:buChar char="•"/>
            </a:pPr>
            <a:r>
              <a:rPr lang="en-US" sz="1550" dirty="0">
                <a:solidFill>
                  <a:srgbClr val="2B2B2B"/>
                </a:solidFill>
                <a:latin typeface="Calibri" pitchFamily="34" charset="0"/>
                <a:ea typeface="Calibri" pitchFamily="34" charset="-122"/>
                <a:cs typeface="Calibri" pitchFamily="34" charset="-120"/>
              </a:rPr>
              <a:t>Sub-issues, issue types and dependencies (all GA); roadmap layout; built-in or Actions automation</a:t>
            </a:r>
            <a:endParaRPr lang="en-US" sz="1900" dirty="0"/>
          </a:p>
        </p:txBody>
      </p:sp>
      <p:sp>
        <p:nvSpPr>
          <p:cNvPr id="14" name="Slide Number Placeholder"/>
          <p:cNvSpPr>
            <a:spLocks noGrp="1"/>
          </p:cNvSpPr>
          <p:nvPr>
            <p:ph type="sldNum" sz="quarter" idx="10"/>
          </p:nvPr>
        </p:nvSpPr>
        <p:spPr/>
        <p:txBody>
          <a:bodyPr/>
          <a:lstStyle/>
          <a:p>
            <a:fld id="{BCB632DE-6AD4-40F1-944C-28C0E9BF62DC}"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Sprint history and capacity data</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Custom process fields and work-item rules</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process template itself: no Agile/Scrum/CMMI equivalent, no built-in capacity or burndown</a:t>
            </a:r>
            <a:endParaRPr lang="en-US" sz="1900" dirty="0"/>
          </a:p>
          <a:p>
            <a:pPr marL="342900" indent="-342900">
              <a:lnSpc>
                <a:spcPct val="120000"/>
              </a:lnSpc>
              <a:spcAft>
                <a:spcPts val="1200"/>
              </a:spcAft>
              <a:buSzPct val="100000"/>
              <a:buChar char="•"/>
            </a:pPr>
            <a:r>
              <a:rPr lang="en-US" sz="1800" dirty="0">
                <a:solidFill>
                  <a:srgbClr val="2B2B2B"/>
                </a:solidFill>
                <a:latin typeface="Calibri" pitchFamily="34" charset="0"/>
                <a:ea typeface="Calibri" pitchFamily="34" charset="-122"/>
                <a:cs typeface="Calibri" pitchFamily="34" charset="-120"/>
              </a:rPr>
              <a:t>The Project → Team → Area Path structure (parent–child links can map to sub-issues)</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There’s no first-party tool that moves Azure Boards work items into GitHub Issues, and the data models don’t line up. Budget real manual mapping: this is a project, not a script you run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E0B85C"/>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Sometimes “it doesn’t move, and that’s fine” is the honest answer.</a:t>
            </a:r>
            <a:endParaRPr lang="en-US" sz="1900" dirty="0"/>
          </a:p>
        </p:txBody>
      </p:sp>
      <p:sp>
        <p:nvSpPr>
          <p:cNvPr id="13" name="Slide Number Placeholder"/>
          <p:cNvSpPr>
            <a:spLocks noGrp="1"/>
          </p:cNvSpPr>
          <p:nvPr>
            <p:ph type="sldNum" sz="quarter" idx="10"/>
          </p:nvPr>
        </p:nvSpPr>
        <p:spPr/>
        <p:txBody>
          <a:bodyPr/>
          <a:lstStyle/>
          <a:p>
            <a:fld id="{BCB632DE-6AD4-40F1-944C-28C0E9BF62D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WATCH AS THE SCRUM MASTER APPROACHES CAREFULLY</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Boards to GitHub; migrate work items only if planning is simple.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Not “Azure Boards forever”: just don’t default to GitHub Issues because the code moved. Where you plan work is a separate decision from where the code lives.</a:t>
            </a:r>
            <a:endParaRPr lang="en-US" sz="1800" dirty="0"/>
          </a:p>
        </p:txBody>
      </p:sp>
      <p:sp>
        <p:nvSpPr>
          <p:cNvPr id="15" name="Slide Number Placeholder"/>
          <p:cNvSpPr>
            <a:spLocks noGrp="1"/>
          </p:cNvSpPr>
          <p:nvPr>
            <p:ph type="sldNum" sz="quarter" idx="10"/>
          </p:nvPr>
        </p:nvSpPr>
        <p:spPr/>
        <p:txBody>
          <a:bodyPr/>
          <a:lstStyle/>
          <a:p>
            <a:fld id="{BCB632DE-6AD4-40F1-944C-28C0E9BF62DC}" type="slidenum">
              <a:rPr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4 — Watch as the Scrum Master Approaches Carefully</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36</a:t>
            </a:fld>
            <a:endParaRPr lang="en-US">
              <a:solidFill>
                <a:srgbClr val="E0B85C"/>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37</a:t>
            </a:fld>
            <a:endParaRPr lang="en-US">
              <a:solidFill>
                <a:srgbClr val="E0B85C"/>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Most migrations that fail don’t fail in the converter.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 starting with the people.</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
        <p:nvSpPr>
          <p:cNvPr id="14" name="Slide Number Placeholder"/>
          <p:cNvSpPr>
            <a:spLocks noGrp="1"/>
          </p:cNvSpPr>
          <p:nvPr>
            <p:ph type="sldNum" sz="quarter" idx="10"/>
          </p:nvPr>
        </p:nvSpPr>
        <p:spPr/>
        <p:txBody>
          <a:bodyPr/>
          <a:lstStyle/>
          <a:p>
            <a:fld id="{BCB632DE-6AD4-40F1-944C-28C0E9BF62DC}"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Choose With Evidence, Then Pilot on Defaults</a:t>
            </a:r>
            <a:endParaRPr lang="en-US" sz="3200" dirty="0"/>
          </a:p>
        </p:txBody>
      </p:sp>
      <p:sp>
        <p:nvSpPr>
          <p:cNvPr id="6" name="Shape 3"/>
          <p:cNvSpPr/>
          <p:nvPr/>
        </p:nvSpPr>
        <p:spPr>
          <a:xfrm>
            <a:off x="548640" y="1554480"/>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618488"/>
            <a:ext cx="585216" cy="585216"/>
          </a:xfrm>
          <a:prstGeom prst="ellipse">
            <a:avLst/>
          </a:prstGeom>
          <a:solidFill>
            <a:srgbClr val="C1440E"/>
          </a:solidFill>
          <a:ln/>
        </p:spPr>
        <p:txBody>
          <a:bodyPr/>
          <a:lstStyle/>
          <a:p>
            <a:endParaRPr lang="en-US"/>
          </a:p>
        </p:txBody>
      </p:sp>
      <p:sp>
        <p:nvSpPr>
          <p:cNvPr id="8" name="Text 5"/>
          <p:cNvSpPr txBox="1"/>
          <p:nvPr/>
        </p:nvSpPr>
        <p:spPr>
          <a:xfrm>
            <a:off x="777240" y="161848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59105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59105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each option has to do, not what would be nice.</a:t>
            </a:r>
            <a:endParaRPr lang="en-US" sz="1350" dirty="0"/>
          </a:p>
        </p:txBody>
      </p:sp>
      <p:sp>
        <p:nvSpPr>
          <p:cNvPr id="11" name="Shape 8"/>
          <p:cNvSpPr/>
          <p:nvPr/>
        </p:nvSpPr>
        <p:spPr>
          <a:xfrm>
            <a:off x="548640" y="2359152"/>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423160"/>
            <a:ext cx="585216" cy="585216"/>
          </a:xfrm>
          <a:prstGeom prst="ellipse">
            <a:avLst/>
          </a:prstGeom>
          <a:solidFill>
            <a:srgbClr val="C1440E"/>
          </a:solidFill>
          <a:ln/>
        </p:spPr>
        <p:txBody>
          <a:bodyPr/>
          <a:lstStyle/>
          <a:p>
            <a:endParaRPr lang="en-US"/>
          </a:p>
        </p:txBody>
      </p:sp>
      <p:sp>
        <p:nvSpPr>
          <p:cNvPr id="13" name="Text 10"/>
          <p:cNvSpPr txBox="1"/>
          <p:nvPr/>
        </p:nvSpPr>
        <p:spPr>
          <a:xfrm>
            <a:off x="777240" y="242316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39572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39572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163824"/>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227832"/>
            <a:ext cx="585216" cy="585216"/>
          </a:xfrm>
          <a:prstGeom prst="ellipse">
            <a:avLst/>
          </a:prstGeom>
          <a:solidFill>
            <a:srgbClr val="C1440E"/>
          </a:solidFill>
          <a:ln/>
        </p:spPr>
        <p:txBody>
          <a:bodyPr/>
          <a:lstStyle/>
          <a:p>
            <a:endParaRPr lang="en-US"/>
          </a:p>
        </p:txBody>
      </p:sp>
      <p:sp>
        <p:nvSpPr>
          <p:cNvPr id="18" name="Text 15"/>
          <p:cNvSpPr txBox="1"/>
          <p:nvPr/>
        </p:nvSpPr>
        <p:spPr>
          <a:xfrm>
            <a:off x="777240" y="322783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20040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20040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option: a real slice of real work, not a vendor demo.</a:t>
            </a:r>
            <a:endParaRPr lang="en-US" sz="1350" dirty="0"/>
          </a:p>
        </p:txBody>
      </p:sp>
      <p:sp>
        <p:nvSpPr>
          <p:cNvPr id="21" name="Shape 18"/>
          <p:cNvSpPr/>
          <p:nvPr/>
        </p:nvSpPr>
        <p:spPr>
          <a:xfrm>
            <a:off x="548640" y="3968496"/>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032504"/>
            <a:ext cx="585216" cy="585216"/>
          </a:xfrm>
          <a:prstGeom prst="ellipse">
            <a:avLst/>
          </a:prstGeom>
          <a:solidFill>
            <a:srgbClr val="C1440E"/>
          </a:solidFill>
          <a:ln/>
        </p:spPr>
        <p:txBody>
          <a:bodyPr/>
          <a:lstStyle/>
          <a:p>
            <a:endParaRPr lang="en-US"/>
          </a:p>
        </p:txBody>
      </p:sp>
      <p:sp>
        <p:nvSpPr>
          <p:cNvPr id="23" name="Text 20"/>
          <p:cNvSpPr txBox="1"/>
          <p:nvPr/>
        </p:nvSpPr>
        <p:spPr>
          <a:xfrm>
            <a:off x="777240" y="4032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005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005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4773168"/>
            <a:ext cx="11064240" cy="713232"/>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4837176"/>
            <a:ext cx="585216" cy="585216"/>
          </a:xfrm>
          <a:prstGeom prst="ellipse">
            <a:avLst/>
          </a:prstGeom>
          <a:solidFill>
            <a:srgbClr val="C1440E"/>
          </a:solidFill>
          <a:ln/>
        </p:spPr>
        <p:txBody>
          <a:bodyPr/>
          <a:lstStyle/>
          <a:p>
            <a:endParaRPr lang="en-US"/>
          </a:p>
        </p:txBody>
      </p:sp>
      <p:sp>
        <p:nvSpPr>
          <p:cNvPr id="28" name="Text 25"/>
          <p:cNvSpPr txBox="1"/>
          <p:nvPr/>
        </p:nvSpPr>
        <p:spPr>
          <a:xfrm>
            <a:off x="777240" y="483717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480974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Pilot on defaults</a:t>
            </a:r>
            <a:endParaRPr lang="en-US" sz="1600" dirty="0"/>
          </a:p>
        </p:txBody>
      </p:sp>
      <p:sp>
        <p:nvSpPr>
          <p:cNvPr id="30" name="Text 27"/>
          <p:cNvSpPr txBox="1"/>
          <p:nvPr/>
        </p:nvSpPr>
        <p:spPr>
          <a:xfrm>
            <a:off x="4892040" y="480974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4–6 weeks, outcomes decided in advance. Customize only after, with real usage data.</a:t>
            </a:r>
            <a:endParaRPr lang="en-US" sz="1350" dirty="0"/>
          </a:p>
        </p:txBody>
      </p:sp>
      <p:sp>
        <p:nvSpPr>
          <p:cNvPr id="31" name="Takeaway bar"/>
          <p:cNvSpPr/>
          <p:nvPr/>
        </p:nvSpPr>
        <p:spPr>
          <a:xfrm>
            <a:off x="548640" y="5669280"/>
            <a:ext cx="11064240" cy="77724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2" name="Takeaway text"/>
          <p:cNvSpPr txBox="1"/>
          <p:nvPr/>
        </p:nvSpPr>
        <p:spPr>
          <a:xfrm>
            <a:off x="548640" y="5669280"/>
            <a:ext cx="11064240" cy="777240"/>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Every customization made before the pilot is a bet placed with the least information you’ll ever have.</a:t>
            </a:r>
            <a:endParaRPr lang="en-US" sz="1700" dirty="0"/>
          </a:p>
        </p:txBody>
      </p:sp>
      <p:sp>
        <p:nvSpPr>
          <p:cNvPr id="33" name="Slide Number Placeholder"/>
          <p:cNvSpPr>
            <a:spLocks noGrp="1"/>
          </p:cNvSpPr>
          <p:nvPr>
            <p:ph type="sldNum" sz="quarter" idx="10"/>
          </p:nvPr>
        </p:nvSpPr>
        <p:spPr/>
        <p:txBody>
          <a:bodyPr/>
          <a:lstStyle/>
          <a:p>
            <a:fld id="{BCB632DE-6AD4-40F1-944C-28C0E9BF62DC}" type="slidenum">
              <a:rPr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Connect Boards, name the source of truth, owners, and rollback authority.</a:t>
            </a:r>
            <a:endParaRPr lang="en-US" sz="125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
        <p:nvSpPr>
          <p:cNvPr id="28" name="Slide Number Placeholder"/>
          <p:cNvSpPr>
            <a:spLocks noGrp="1"/>
          </p:cNvSpPr>
          <p:nvPr>
            <p:ph type="sldNum" sz="quarter" idx="10"/>
          </p:nvPr>
        </p:nvSpPr>
        <p:spPr/>
        <p:txBody>
          <a:bodyPr/>
          <a:lstStyle/>
          <a:p>
            <a:fld id="{BCB632DE-6AD4-40F1-944C-28C0E9BF62DC}"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Secret Protection and Code Security as add-ons, runner and compute minutes, and the admin and migration effort it actually takes to get there.</a:t>
            </a:r>
            <a:endParaRPr lang="en-US" sz="1900" dirty="0"/>
          </a:p>
        </p:txBody>
      </p:sp>
      <p:sp>
        <p:nvSpPr>
          <p:cNvPr id="8" name="Shape 5"/>
          <p:cNvSpPr/>
          <p:nvPr/>
        </p:nvSpPr>
        <p:spPr>
          <a:xfrm>
            <a:off x="548640" y="4526280"/>
            <a:ext cx="11064240" cy="8686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868680"/>
          </a:xfrm>
          <a:prstGeom prst="rect">
            <a:avLst/>
          </a:prstGeom>
          <a:noFill/>
          <a:ln/>
        </p:spPr>
        <p:txBody>
          <a:bodyPr wrap="square" lIns="256032" tIns="54864" rIns="256032" bIns="54864" rtlCol="0" anchor="ctr"/>
          <a:lstStyle/>
          <a:p>
            <a:pPr marL="0" indent="0" algn="l">
              <a:lnSpc>
                <a:spcPct val="115000"/>
              </a:lnSpc>
              <a:buNone/>
            </a:pPr>
            <a:r>
              <a:rPr sz="1250" b="1" spc="120">
                <a:solidFill>
                  <a:srgbClr val="C1440E"/>
                </a:solidFill>
                <a:latin typeface="Calibri"/>
              </a:rPr>
              <a:t>CAVEAT </a:t>
            </a:r>
            <a:r>
              <a:rPr sz="1500" b="0">
                <a:solidFill>
                  <a:srgbClr val="2B2B2B"/>
                </a:solidFill>
                <a:latin typeface="Calibri"/>
              </a:rPr>
              <a:t>Price the migration and the steady state separately, and count the months when both platforms are billing at once.</a:t>
            </a:r>
            <a:endParaRPr lang="en-US" sz="1500" dirty="0"/>
          </a:p>
        </p:txBody>
      </p:sp>
      <p:sp>
        <p:nvSpPr>
          <p:cNvPr id="10" name="Slide Number Placeholder"/>
          <p:cNvSpPr>
            <a:spLocks noGrp="1"/>
          </p:cNvSpPr>
          <p:nvPr>
            <p:ph type="sldNum" sz="quarter" idx="10"/>
          </p:nvPr>
        </p:nvSpPr>
        <p:spPr/>
        <p:txBody>
          <a:bodyPr/>
          <a:lstStyle/>
          <a:p>
            <a:fld id="{BCB632DE-6AD4-40F1-944C-28C0E9BF62DC}"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dirty="0">
                <a:solidFill>
                  <a:srgbClr val="2B2B2B"/>
                </a:solidFill>
                <a:latin typeface="Calibri"/>
              </a:rPr>
              <a:t>Moving the code unlocks the tooling. Four other things decide whether it pays off.</a:t>
            </a:r>
            <a:endParaRPr lang="en-US" sz="2000" dirty="0"/>
          </a:p>
          <a:p>
            <a:pPr marL="285750" indent="-285750">
              <a:spcBef>
                <a:spcPts val="900"/>
              </a:spcBef>
              <a:spcAft>
                <a:spcPts val="800"/>
              </a:spcAft>
              <a:buFont typeface="Arial" panose="020B0604020202020204" pitchFamily="34" charset="0"/>
              <a:buChar char="•"/>
            </a:pPr>
            <a:r>
              <a:rPr sz="1550" b="0" dirty="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dirty="0">
                <a:solidFill>
                  <a:srgbClr val="2B2B2B"/>
                </a:solidFill>
                <a:latin typeface="Calibri"/>
              </a:rPr>
              <a:t>Licenses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E0B85C"/>
                </a:solidFill>
                <a:latin typeface="Calibri"/>
              </a:rPr>
              <a:t>TAKEAWAY </a:t>
            </a:r>
            <a:r>
              <a:rPr sz="1500" b="0" dirty="0">
                <a:solidFill>
                  <a:srgbClr val="F5F5F0"/>
                </a:solidFill>
                <a:latin typeface="Calibri"/>
              </a:rPr>
              <a:t>These are preconditions, not nice-to-haves. Budget for them before you promise anyone the AI payoff.</a:t>
            </a:r>
            <a:endParaRPr lang="en-US" sz="1600" dirty="0"/>
          </a:p>
        </p:txBody>
      </p:sp>
      <p:sp>
        <p:nvSpPr>
          <p:cNvPr id="10" name="Slide Number Placeholder"/>
          <p:cNvSpPr>
            <a:spLocks noGrp="1"/>
          </p:cNvSpPr>
          <p:nvPr>
            <p:ph type="sldNum" sz="quarter" idx="10"/>
          </p:nvPr>
        </p:nvSpPr>
        <p:spPr/>
        <p:txBody>
          <a:bodyPr/>
          <a:lstStyle/>
          <a:p>
            <a:fld id="{BCB632DE-6AD4-40F1-944C-28C0E9BF62D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SENIOR ENGINEER DEFENDS AN ANCIENT PIPELINE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Scaled agile, regulated, multi-team</a:t>
            </a:r>
            <a:endParaRPr lang="en-US" sz="1600" dirty="0">
              <a:solidFill>
                <a:srgbClr val="1F3D2C"/>
              </a:solidFill>
            </a:endParaRPr>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373636"/>
                </a:solidFill>
                <a:latin typeface="Calibri" pitchFamily="34" charset="0"/>
                <a:ea typeface="Calibri" pitchFamily="34" charset="-122"/>
                <a:cs typeface="Calibri" pitchFamily="34" charset="-120"/>
              </a:rPr>
              <a:t>Azure Boards’ hierarchy and reporting earn their keep here.</a:t>
            </a:r>
            <a:endParaRPr lang="en-US" sz="1350" dirty="0">
              <a:solidFill>
                <a:srgbClr val="373636"/>
              </a:solidFill>
            </a:endParaRPr>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952198"/>
            <a:ext cx="11064240" cy="895149"/>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901665"/>
            <a:ext cx="11064240" cy="1032309"/>
          </a:xfrm>
          <a:prstGeom prst="rect">
            <a:avLst/>
          </a:prstGeom>
          <a:noFill/>
          <a:ln/>
        </p:spPr>
        <p:txBody>
          <a:bodyPr wrap="square" lIns="256032" tIns="54864" rIns="256032" bIns="54864" rtlCol="0" anchor="ctr"/>
          <a:lstStyle/>
          <a:p>
            <a:pPr marL="0" indent="0" algn="l">
              <a:lnSpc>
                <a:spcPct val="115000"/>
              </a:lnSpc>
              <a:buNone/>
            </a:pPr>
            <a:r>
              <a:rPr sz="1250" b="1" spc="120" dirty="0">
                <a:solidFill>
                  <a:srgbClr val="C1440E"/>
                </a:solidFill>
                <a:latin typeface="Calibri"/>
              </a:rPr>
              <a:t>ASIDE </a:t>
            </a:r>
            <a:r>
              <a:rPr sz="1500" b="0" dirty="0">
                <a:solidFill>
                  <a:srgbClr val="2B2B2B"/>
                </a:solidFill>
                <a:latin typeface="Calibri"/>
              </a:rPr>
              <a:t>The Senior Engineer guarding that ancient pipeline isn’t wrong to be cautious — they’re defending it with the wrong argument (“it’s always worked”) instead of the right one (“here’s what the audit says”).</a:t>
            </a:r>
            <a:endParaRPr lang="en-US" sz="1450" dirty="0"/>
          </a:p>
        </p:txBody>
      </p:sp>
      <p:sp>
        <p:nvSpPr>
          <p:cNvPr id="17" name="Slide Number Placeholder"/>
          <p:cNvSpPr>
            <a:spLocks noGrp="1"/>
          </p:cNvSpPr>
          <p:nvPr>
            <p:ph type="sldNum" sz="quarter" idx="10"/>
          </p:nvPr>
        </p:nvSpPr>
        <p:spPr/>
        <p:txBody>
          <a:bodyPr/>
          <a:lstStyle/>
          <a:p>
            <a:fld id="{BCB632DE-6AD4-40F1-944C-28C0E9BF62DC}"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E0B85C"/>
                </a:solidFill>
                <a:latin typeface="Calibri" pitchFamily="34" charset="0"/>
                <a:ea typeface="Calibri" pitchFamily="34" charset="-122"/>
                <a:cs typeface="Calibri" pitchFamily="34" charset="-120"/>
              </a:rPr>
              <a:t>One quick question before we leave Section 5 — The Senior Engineer Defends an Ancient Pipeline</a:t>
            </a:r>
            <a:endParaRPr lang="en-US" sz="1900" dirty="0"/>
          </a:p>
        </p:txBody>
      </p:sp>
      <p:sp>
        <p:nvSpPr>
          <p:cNvPr id="4" name="Slide Number Placeholder"/>
          <p:cNvSpPr>
            <a:spLocks noGrp="1"/>
          </p:cNvSpPr>
          <p:nvPr>
            <p:ph type="sldNum" sz="quarter" idx="10"/>
          </p:nvPr>
        </p:nvSpPr>
        <p:spPr/>
        <p:txBody>
          <a:bodyPr/>
          <a:lstStyle/>
          <a:p>
            <a:fld id="{BCB632DE-6AD4-40F1-944C-28C0E9BF62DC}" type="slidenum">
              <a:rPr lang="en-US">
                <a:solidFill>
                  <a:srgbClr val="E0B85C"/>
                </a:solidFill>
              </a:rPr>
              <a:t>44</a:t>
            </a:fld>
            <a:endParaRPr lang="en-US">
              <a:solidFill>
                <a:srgbClr val="E0B85C"/>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E0B85C"/>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10154652"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E0B85C"/>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
        <p:nvSpPr>
          <p:cNvPr id="8" name="Slide Number Placeholder"/>
          <p:cNvSpPr>
            <a:spLocks noGrp="1"/>
          </p:cNvSpPr>
          <p:nvPr>
            <p:ph type="sldNum" sz="quarter" idx="10"/>
          </p:nvPr>
        </p:nvSpPr>
        <p:spPr/>
        <p:txBody>
          <a:bodyPr/>
          <a:lstStyle/>
          <a:p>
            <a:fld id="{BCB632DE-6AD4-40F1-944C-28C0E9BF62DC}" type="slidenum">
              <a:rPr lang="en-US">
                <a:solidFill>
                  <a:srgbClr val="E0B85C"/>
                </a:solidFill>
              </a:rPr>
              <a:t>45</a:t>
            </a:fld>
            <a:endParaRPr lang="en-US">
              <a:solidFill>
                <a:srgbClr val="E0B85C"/>
              </a:solidFil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250" b="1" spc="120">
                <a:solidFill>
                  <a:srgbClr val="C1440E"/>
                </a:solidFill>
                <a:latin typeface="Calibri"/>
              </a:rPr>
              <a:t>DO THIS </a:t>
            </a:r>
            <a:r>
              <a:rPr sz="130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
        <p:nvSpPr>
          <p:cNvPr id="22" name="Slide Number Placeholder"/>
          <p:cNvSpPr>
            <a:spLocks noGrp="1"/>
          </p:cNvSpPr>
          <p:nvPr>
            <p:ph type="sldNum" sz="quarter" idx="10"/>
          </p:nvPr>
        </p:nvSpPr>
        <p:spPr/>
        <p:txBody>
          <a:bodyPr/>
          <a:lstStyle/>
          <a:p>
            <a:fld id="{BCB632DE-6AD4-40F1-944C-28C0E9BF62DC}"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792702"/>
            <a:ext cx="11064240" cy="109728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948150"/>
            <a:ext cx="10424160" cy="8229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3072862"/>
            <a:ext cx="11064240" cy="128016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3237454"/>
            <a:ext cx="10424160" cy="96012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pull-request authorship, comments and reviews — stays on the mannequin until it is reclaimed. An organization owner sends the attribution invitation, but nothing is reattributed until the person accepts it.</a:t>
            </a:r>
          </a:p>
        </p:txBody>
      </p:sp>
      <p:sp>
        <p:nvSpPr>
          <p:cNvPr id="13" name="Rounded Rectangle 12"/>
          <p:cNvSpPr/>
          <p:nvPr/>
        </p:nvSpPr>
        <p:spPr>
          <a:xfrm>
            <a:off x="548640" y="4535902"/>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4535902"/>
            <a:ext cx="11064240" cy="859536"/>
          </a:xfrm>
          <a:prstGeom prst="rect">
            <a:avLst/>
          </a:prstGeom>
          <a:noFill/>
          <a:ln/>
        </p:spPr>
        <p:txBody>
          <a:bodyPr wrap="square" lIns="256032" tIns="54864" rIns="256032" bIns="54864" rtlCol="0" anchor="ctr"/>
          <a:lstStyle/>
          <a:p>
            <a:pPr marL="0" indent="0" algn="l">
              <a:buNone/>
            </a:pPr>
            <a:r>
              <a:rPr sz="1250" b="1" spc="120">
                <a:solidFill>
                  <a:srgbClr val="E0B85C"/>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63880" y="589788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63880" y="6007608"/>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
        <p:nvSpPr>
          <p:cNvPr id="14" name="Slide Number Placeholder"/>
          <p:cNvSpPr>
            <a:spLocks noGrp="1"/>
          </p:cNvSpPr>
          <p:nvPr>
            <p:ph type="sldNum" sz="quarter" idx="10"/>
          </p:nvPr>
        </p:nvSpPr>
        <p:spPr/>
        <p:txBody>
          <a:bodyPr/>
          <a:lstStyle/>
          <a:p>
            <a:fld id="{BCB632DE-6AD4-40F1-944C-28C0E9BF62D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
        <p:nvSpPr>
          <p:cNvPr id="36" name="Slide Number Placeholder"/>
          <p:cNvSpPr>
            <a:spLocks noGrp="1"/>
          </p:cNvSpPr>
          <p:nvPr>
            <p:ph type="sldNum" sz="quarter" idx="10"/>
          </p:nvPr>
        </p:nvSpPr>
        <p:spPr/>
        <p:txBody>
          <a:bodyPr/>
          <a:lstStyle/>
          <a:p>
            <a:fld id="{BCB632DE-6AD4-40F1-944C-28C0E9BF62DC}" type="slidenum">
              <a:rPr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
        <p:nvSpPr>
          <p:cNvPr id="7" name="Slide Number Placeholder"/>
          <p:cNvSpPr>
            <a:spLocks noGrp="1"/>
          </p:cNvSpPr>
          <p:nvPr>
            <p:ph type="sldNum" sz="quarter" idx="10"/>
          </p:nvPr>
        </p:nvSpPr>
        <p:spPr/>
        <p:txBody>
          <a:bodyPr/>
          <a:lstStyle/>
          <a:p>
            <a:fld id="{BCB632DE-6AD4-40F1-944C-28C0E9BF62DC}"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E0B85C"/>
                </a:solidFill>
                <a:latin typeface="Calibri"/>
              </a:rPr>
              <a:t>— CLOSING NARRATION, FROM THE FAR BANK</a:t>
            </a:r>
            <a:endParaRPr lang="en-US" sz="1300" dirty="0"/>
          </a:p>
        </p:txBody>
      </p:sp>
      <p:sp>
        <p:nvSpPr>
          <p:cNvPr id="6" name="Slide Number Placeholder"/>
          <p:cNvSpPr>
            <a:spLocks noGrp="1"/>
          </p:cNvSpPr>
          <p:nvPr>
            <p:ph type="sldNum" sz="quarter" idx="10"/>
          </p:nvPr>
        </p:nvSpPr>
        <p:spPr/>
        <p:txBody>
          <a:bodyPr/>
          <a:lstStyle/>
          <a:p>
            <a:fld id="{BCB632DE-6AD4-40F1-944C-28C0E9BF62DC}" type="slidenum">
              <a:rPr lang="en-US">
                <a:solidFill>
                  <a:srgbClr val="E0B85C"/>
                </a:solidFill>
              </a:rPr>
              <a:t>50</a:t>
            </a:fld>
            <a:endParaRPr lang="en-US">
              <a:solidFill>
                <a:srgbClr val="E0B85C"/>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776886"/>
            <a:ext cx="6035040" cy="731520"/>
          </a:xfrm>
          <a:prstGeom prst="rect">
            <a:avLst/>
          </a:prstGeom>
          <a:noFill/>
          <a:ln/>
        </p:spPr>
        <p:txBody>
          <a:bodyPr wrap="square" lIns="0" tIns="0" rIns="0" bIns="0" rtlCol="0" anchor="ctr"/>
          <a:lstStyle/>
          <a:p>
            <a:pPr marL="0" indent="0" algn="l">
              <a:buNone/>
            </a:pPr>
            <a:r>
              <a:rPr sz="1800" b="0" dirty="0">
                <a:solidFill>
                  <a:srgbClr val="6B6B63"/>
                </a:solidFill>
                <a:latin typeface="Calibri"/>
              </a:rPr>
              <a:t>Azure DevOps to GitHub Enterprise: The Great Migration</a:t>
            </a:r>
            <a:endParaRPr lang="en-US" sz="1800" dirty="0"/>
          </a:p>
        </p:txBody>
      </p:sp>
      <p:sp>
        <p:nvSpPr>
          <p:cNvPr id="6" name="Text 4"/>
          <p:cNvSpPr txBox="1"/>
          <p:nvPr/>
        </p:nvSpPr>
        <p:spPr>
          <a:xfrm>
            <a:off x="777240" y="3656066"/>
            <a:ext cx="6035040" cy="411480"/>
          </a:xfrm>
          <a:prstGeom prst="rect">
            <a:avLst/>
          </a:prstGeom>
          <a:noFill/>
          <a:ln/>
        </p:spPr>
        <p:txBody>
          <a:bodyPr wrap="square" lIns="0" tIns="0" rIns="0" bIns="0" rtlCol="0" anchor="ctr"/>
          <a:lstStyle/>
          <a:p>
            <a:pPr marL="0" indent="0" algn="l">
              <a:buNone/>
            </a:pPr>
            <a:r>
              <a:rPr sz="2000" b="1" dirty="0">
                <a:solidFill>
                  <a:srgbClr val="1F3D2C"/>
                </a:solidFill>
                <a:latin typeface="Cambria"/>
              </a:rPr>
              <a:t>Kevin Neumann</a:t>
            </a:r>
            <a:endParaRPr lang="en-US" sz="2000" dirty="0"/>
          </a:p>
        </p:txBody>
      </p:sp>
      <p:sp>
        <p:nvSpPr>
          <p:cNvPr id="7" name="Text 5"/>
          <p:cNvSpPr txBox="1"/>
          <p:nvPr/>
        </p:nvSpPr>
        <p:spPr>
          <a:xfrm>
            <a:off x="777240" y="4094978"/>
            <a:ext cx="6035040" cy="365760"/>
          </a:xfrm>
          <a:prstGeom prst="rect">
            <a:avLst/>
          </a:prstGeom>
          <a:noFill/>
          <a:ln/>
        </p:spPr>
        <p:txBody>
          <a:bodyPr wrap="square" lIns="0" tIns="0" rIns="0" bIns="0" rtlCol="0" anchor="ctr"/>
          <a:lstStyle/>
          <a:p>
            <a:pPr marL="0" indent="0" algn="l">
              <a:buNone/>
            </a:pPr>
            <a:r>
              <a:rPr sz="1500" b="0" dirty="0">
                <a:solidFill>
                  <a:srgbClr val="2B2B2B"/>
                </a:solidFill>
                <a:latin typeface="Calibri"/>
              </a:rPr>
              <a:t>kneumann@hunter.com</a:t>
            </a:r>
            <a:endParaRPr lang="en-US" sz="1500" dirty="0"/>
          </a:p>
        </p:txBody>
      </p:sp>
      <p:sp>
        <p:nvSpPr>
          <p:cNvPr id="10" name="Text 7"/>
          <p:cNvSpPr txBox="1"/>
          <p:nvPr/>
        </p:nvSpPr>
        <p:spPr>
          <a:xfrm>
            <a:off x="777240" y="4786465"/>
            <a:ext cx="6035040" cy="411480"/>
          </a:xfrm>
          <a:prstGeom prst="rect">
            <a:avLst/>
          </a:prstGeom>
          <a:noFill/>
          <a:ln/>
        </p:spPr>
        <p:txBody>
          <a:bodyPr wrap="square" lIns="0" tIns="0" rIns="0" bIns="0" rtlCol="0" anchor="ctr"/>
          <a:lstStyle/>
          <a:p>
            <a:pPr marL="0" indent="0" algn="l">
              <a:buNone/>
            </a:pPr>
            <a:r>
              <a:rPr sz="1700" b="0" dirty="0">
                <a:solidFill>
                  <a:srgbClr val="C1440E"/>
                </a:solidFill>
                <a:latin typeface="Calibri"/>
              </a:rPr>
              <a:t>Open floor — questions welcome.</a:t>
            </a:r>
            <a:endParaRPr lang="en-US" sz="1700" dirty="0"/>
          </a:p>
        </p:txBody>
      </p:sp>
      <p:sp>
        <p:nvSpPr>
          <p:cNvPr id="11" name="Rounded Rectangle 10"/>
          <p:cNvSpPr/>
          <p:nvPr/>
        </p:nvSpPr>
        <p:spPr>
          <a:xfrm>
            <a:off x="7443196" y="1433090"/>
            <a:ext cx="4297680" cy="505915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443196" y="2011680"/>
            <a:ext cx="4297680" cy="292608"/>
          </a:xfrm>
          <a:prstGeom prst="rect">
            <a:avLst/>
          </a:prstGeom>
          <a:noFill/>
        </p:spPr>
        <p:txBody>
          <a:bodyPr wrap="square">
            <a:spAutoFit/>
          </a:bodyPr>
          <a:lstStyle/>
          <a:p>
            <a:pPr algn="ctr"/>
            <a:r>
              <a:rPr sz="1300" b="1" dirty="0">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540476" y="2377440"/>
            <a:ext cx="2103120" cy="2103120"/>
          </a:xfrm>
          <a:prstGeom prst="rect">
            <a:avLst/>
          </a:prstGeom>
        </p:spPr>
      </p:pic>
      <p:sp>
        <p:nvSpPr>
          <p:cNvPr id="13" name="TextBox 12"/>
          <p:cNvSpPr txBox="1"/>
          <p:nvPr/>
        </p:nvSpPr>
        <p:spPr>
          <a:xfrm>
            <a:off x="7443196" y="4599432"/>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626076" y="4992624"/>
            <a:ext cx="3931920" cy="700192"/>
          </a:xfrm>
          <a:prstGeom prst="rect">
            <a:avLst/>
          </a:prstGeom>
          <a:noFill/>
        </p:spPr>
        <p:txBody>
          <a:bodyPr wrap="square">
            <a:spAutoFit/>
          </a:bodyPr>
          <a:lstStyle/>
          <a:p>
            <a:pPr algn="ctr"/>
            <a:r>
              <a:rPr sz="1150" b="0" dirty="0">
                <a:solidFill>
                  <a:srgbClr val="2B2B2B"/>
                </a:solidFill>
                <a:latin typeface="Calibri"/>
              </a:rPr>
              <a:t>Azure Pipelines → Actions migration docs</a:t>
            </a:r>
          </a:p>
          <a:p>
            <a:pPr algn="ctr">
              <a:spcBef>
                <a:spcPts val="300"/>
              </a:spcBef>
            </a:pPr>
            <a:r>
              <a:rPr sz="1150" b="0" dirty="0">
                <a:solidFill>
                  <a:srgbClr val="2B2B2B"/>
                </a:solidFill>
                <a:latin typeface="Calibri"/>
              </a:rPr>
              <a:t>gh-ado2gh  ·  </a:t>
            </a:r>
            <a:r>
              <a:rPr sz="1150" b="0" dirty="0" err="1">
                <a:solidFill>
                  <a:srgbClr val="2B2B2B"/>
                </a:solidFill>
                <a:latin typeface="Calibri"/>
              </a:rPr>
              <a:t>gh</a:t>
            </a:r>
            <a:r>
              <a:rPr sz="1150" b="0" dirty="0">
                <a:solidFill>
                  <a:srgbClr val="2B2B2B"/>
                </a:solidFill>
                <a:latin typeface="Calibri"/>
              </a:rPr>
              <a:t>-actions-importer</a:t>
            </a:r>
          </a:p>
          <a:p>
            <a:pPr algn="ctr">
              <a:spcBef>
                <a:spcPts val="300"/>
              </a:spcBef>
            </a:pPr>
            <a:r>
              <a:rPr sz="1150" b="0" dirty="0">
                <a:solidFill>
                  <a:srgbClr val="2B2B2B"/>
                </a:solidFill>
                <a:latin typeface="Calibri"/>
              </a:rPr>
              <a:t>Every note behind this talk</a:t>
            </a:r>
          </a:p>
        </p:txBody>
      </p:sp>
      <p:sp>
        <p:nvSpPr>
          <p:cNvPr id="15" name="Slide Number Placeholder"/>
          <p:cNvSpPr>
            <a:spLocks noGrp="1"/>
          </p:cNvSpPr>
          <p:nvPr>
            <p:ph type="sldNum" sz="quarter" idx="10"/>
          </p:nvPr>
        </p:nvSpPr>
        <p:spPr/>
        <p:txBody>
          <a:bodyPr/>
          <a:lstStyle/>
          <a:p>
            <a:fld id="{BCB632DE-6AD4-40F1-944C-28C0E9BF62DC}" type="slidenum">
              <a:rPr lang="en-US"/>
              <a:t>51</a:t>
            </a:fld>
            <a:endParaRPr lang="en-US"/>
          </a:p>
        </p:txBody>
      </p:sp>
      <p:sp>
        <p:nvSpPr>
          <p:cNvPr id="20" name="Text 5">
            <a:extLst>
              <a:ext uri="{FF2B5EF4-FFF2-40B4-BE49-F238E27FC236}">
                <a16:creationId xmlns:a16="http://schemas.microsoft.com/office/drawing/2014/main" id="{CB8717A8-9D3F-256D-9992-560C6C010532}"/>
              </a:ext>
            </a:extLst>
          </p:cNvPr>
          <p:cNvSpPr txBox="1"/>
          <p:nvPr/>
        </p:nvSpPr>
        <p:spPr>
          <a:xfrm>
            <a:off x="2044969" y="5939697"/>
            <a:ext cx="1443170" cy="365760"/>
          </a:xfrm>
          <a:prstGeom prst="rect">
            <a:avLst/>
          </a:prstGeom>
          <a:noFill/>
          <a:ln/>
        </p:spPr>
        <p:txBody>
          <a:bodyPr wrap="square" lIns="0" tIns="0" rIns="0" bIns="0" rtlCol="0" anchor="ctr"/>
          <a:lstStyle/>
          <a:p>
            <a:pPr marL="0" indent="0" algn="l">
              <a:buNone/>
            </a:pPr>
            <a:r>
              <a:rPr lang="en-US" sz="1500" dirty="0"/>
              <a:t>Careers @ Hunter</a:t>
            </a:r>
          </a:p>
        </p:txBody>
      </p:sp>
      <p:pic>
        <p:nvPicPr>
          <p:cNvPr id="22" name="Picture 21">
            <a:extLst>
              <a:ext uri="{FF2B5EF4-FFF2-40B4-BE49-F238E27FC236}">
                <a16:creationId xmlns:a16="http://schemas.microsoft.com/office/drawing/2014/main" id="{3D11451F-32AE-DE63-753E-822486F5602F}"/>
              </a:ext>
            </a:extLst>
          </p:cNvPr>
          <p:cNvPicPr>
            <a:picLocks noChangeAspect="1"/>
          </p:cNvPicPr>
          <p:nvPr/>
        </p:nvPicPr>
        <p:blipFill>
          <a:blip r:embed="rId4"/>
          <a:stretch>
            <a:fillRect/>
          </a:stretch>
        </p:blipFill>
        <p:spPr>
          <a:xfrm>
            <a:off x="736332" y="5523672"/>
            <a:ext cx="1197811" cy="119781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2131</TotalTime>
  <Words>11511</Words>
  <Application>Microsoft Office PowerPoint</Application>
  <PresentationFormat>Widescreen</PresentationFormat>
  <Paragraphs>815</Paragraphs>
  <Slides>51</Slides>
  <Notes>51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51</vt:i4>
      </vt:variant>
    </vt:vector>
  </HeadingPairs>
  <TitlesOfParts>
    <vt:vector size="58" baseType="lpstr">
      <vt:lpstr>Aptos</vt:lpstr>
      <vt:lpstr>Arial</vt:lpstr>
      <vt:lpstr>Calibri</vt:lpstr>
      <vt:lpstr>Cambria</vt:lpstr>
      <vt:lpstr>Cascadia Code</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23</cp:revision>
  <dcterms:created xsi:type="dcterms:W3CDTF">2026-09-21T19:07:56Z</dcterms:created>
  <dcterms:modified xsi:type="dcterms:W3CDTF">2026-09-28T16:10:42Z</dcterms:modified>
</cp:coreProperties>
</file>