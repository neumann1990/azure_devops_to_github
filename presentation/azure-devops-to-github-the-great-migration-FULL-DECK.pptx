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8"/>
  </p:notesMasterIdLst>
  <p:sldIdLst>
    <p:sldId id="256" r:id="rId2"/>
    <p:sldId id="257" r:id="rId3"/>
    <p:sldId id="258" r:id="rId4"/>
    <p:sldId id="259" r:id="rId5"/>
    <p:sldId id="261" r:id="rId7"/>
    <p:sldId id="262" r:id="rId8"/>
    <p:sldId id="265" r:id="rId9"/>
    <p:sldId id="267" r:id="rId10"/>
    <p:sldId id="268" r:id="rId11"/>
    <p:sldId id="269" r:id="rId12"/>
    <p:sldId id="270" r:id="rId13"/>
    <p:sldId id="271" r:id="rId14"/>
    <p:sldId id="272" r:id="rId15"/>
    <p:sldId id="273" r:id="rId16"/>
    <p:sldId id="264" r:id="rId17"/>
    <p:sldId id="274" r:id="rId18"/>
    <p:sldId id="275" r:id="rId19"/>
    <p:sldId id="276" r:id="rId20"/>
    <p:sldId id="277" r:id="rId21"/>
    <p:sldId id="278" r:id="rId22"/>
    <p:sldId id="279" r:id="rId23"/>
    <p:sldId id="280" r:id="rId24"/>
    <p:sldId id="281" r:id="rId26"/>
    <p:sldId id="313" r:id="rId27"/>
    <p:sldId id="283" r:id="rId28"/>
    <p:sldId id="284" r:id="rId29"/>
    <p:sldId id="285" r:id="rId30"/>
    <p:sldId id="286" r:id="rId31"/>
    <p:sldId id="287" r:id="rId32"/>
    <p:sldId id="288" r:id="rId33"/>
    <p:sldId id="289" r:id="rId34"/>
    <p:sldId id="291" r:id="rId37"/>
    <p:sldId id="292" r:id="rId38"/>
    <p:sldId id="293" r:id="rId39"/>
    <p:sldId id="295" r:id="rId41"/>
    <p:sldId id="296" r:id="rId42"/>
    <p:sldId id="297" r:id="rId43"/>
    <p:sldId id="298" r:id="rId44"/>
    <p:sldId id="301" r:id="rId46"/>
    <p:sldId id="300" r:id="rId47"/>
    <p:sldId id="302" r:id="rId48"/>
    <p:sldId id="303" r:id="rId49"/>
    <p:sldId id="304" r:id="rId50"/>
    <p:sldId id="305" r:id="rId51"/>
    <p:sldId id="306" r:id="rId52"/>
    <p:sldId id="307" r:id="rId53"/>
    <p:sldId id="309" r:id="rId54"/>
    <p:sldId id="308" r:id="rId55"/>
    <p:sldId id="311" r:id="rId56"/>
    <p:sldId id="312" r:id="rId57"/>
    <p:sldId id="282"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8701" autoAdjust="0"/>
  </p:normalViewPr>
  <p:slideViewPr>
    <p:cSldViewPr snapToGrid="0" snapToObjects="1">
      <p:cViewPr varScale="1">
        <p:scale>
          <a:sx n="76" d="100"/>
          <a:sy n="76" d="100"/>
        </p:scale>
        <p:origin x="191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51.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sponsor-thanks slide — event organizer will tell you if this is required and what logos go here. Placeholder only; swap in real sponsor logos once the summit sends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The ELM slide now sits in the appendix after the thank-you slide; pull it up only if someone asks.</a:t>
            </a:r>
          </a:p>
          <a:p/>
          <a:p>
            <a:r>
              <a:t>This is not a GitHub sales pitch. It is a field guide to what transfers cleanly, what must be redesigned, and what should deliberately remain in Azure DevOps.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Name the real reason teams migrate before the polite reasons: most of the agentic Copilot work (cloud agent, agentic code review, agentic Autofix, Agent HQ) ships on GitHub first. Be fair to Microsoft: Azure DevOps is gaining AI features too, and Copilot in the IDE works wherever the repository is hosted. The point is not that Azure DevOps has nothing; it is that the frontier depends on where the repository lives.</a:t>
            </a:r>
          </a:p>
          <a:p/>
          <a:p>
            <a:r>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p>
            <a:r>
              <a:t>Do not frame this as “GitHub has AI and Azure DevOps does not.” Frame it as a difference in native depth, integration, and repository dependency.</a:t>
            </a:r>
          </a:p>
          <a:p/>
          <a:p>
            <a:r>
              <a:t>CUT FROM THE SLIDE, for Q&amp;A:</a:t>
            </a:r>
          </a:p>
          <a:p>
            <a:r>
              <a:t>- Repository-aware chat. GitHub: native workspace and repository context. Azure DevOps: local repo context, plus Azure DevOps service context through MCP.</a:t>
            </a:r>
          </a:p>
          <a:p>
            <a:r>
              <a:t>- Multi-agent orchestration. GitHub: a central hub running Copilot, Claude and Codex sessions in parallel. Azure DevOps: no native equivalent; external agents connect through MCP.</a:t>
            </a:r>
          </a:p>
          <a:p>
            <a:r>
              <a:t>- Azure DevOps MCP. The Remote MCP Server is GA and the server itself is free; normal Azure DevOps pricing and AI-platform usage charges may still apply. The next slide covers MCP.</a:t>
            </a:r>
          </a:p>
          <a:p>
            <a:r>
              <a:t>- Licensing. Paid Copilot for agents and review; GitHub Code Security where Autofix is needed.</a:t>
            </a:r>
          </a:p>
          <a:p/>
          <a:p>
            <a:r>
              <a:t>The capability gap is real, but it is neither absolute nor static. As of September 21, 2026: Azure DevOps Remote MCP Server is generally available; Copilot Code Review for Azure Repos is in public preview; Copilot Autofix for Azure DevOps remains in limited public preview; and GitHub Copilot cloud agent still requires a GitHub-hosted repository even when initiated from Azure Boards.</a:t>
            </a:r>
          </a:p>
          <a:p/>
          <a:p>
            <a:r>
              <a:t>Sources (accessed September 21, 2026): GitHub Docs — About GitHub Copilot cloud agent; Integrating Copilot cloud agent with Azure Boards; About agent management; About autofix for code scanning. Microsoft Learn — Azure DevOps Sprint 278 and Sprint 279 release notes; Azure DevOps MCP Server overview; Copilot code review for Azure Repos; Copilot Autofix for GitHub Advanced Security for Azure DevOps. GitHub Changelog — Copilot code review now runs on an agentic architecture (March 5, 2026).</a:t>
            </a:r>
          </a:p>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spoiler slide — the full seven-subsystem scorecard for the whole talk, not just section 2. Two travel clean (Repos, Wiki), four need a decision (Packages/Artifacts, Pipelines, Dashboards, Boards), one stays behind entirely (Test Plans).</a:t>
            </a:r>
          </a:p>
          <a:p>
            <a:endParaRPr/>
          </a:p>
          <a:p>
            <a:r>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a:p>
          <a:p>
            <a:r>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Git is Git, so commit history is easy, and pull requests plus most branch policies migrate without much drama through GitHub Enterprise Importer.</a:t>
            </a:r>
          </a:p>
          <a:p/>
          <a:p>
            <a:r>
              <a:t>The asterisk is what doesn’t:</a:t>
            </a:r>
          </a:p>
          <a:p>
            <a:r>
              <a:t>- Repo permissions get rebuilt as two GitHub teams per team project.</a:t>
            </a:r>
          </a:p>
          <a:p>
            <a:r>
              <a:t>- Git LFS objects are not migrated. GEI moves the repository; you push the LFS objects separately.</a:t>
            </a:r>
          </a:p>
          <a:p>
            <a:r>
              <a:t>- User-scoped and cross-repo branch policies need rebuilding by hand.</a:t>
            </a:r>
          </a:p>
          <a:p/>
          <a:p>
            <a:r>
              <a:t>Verify target visibility during the trial migration. Migration scripts can preserve or explicitly set visibility, but enterprise policies and managed-user configurations may constrain the available choices.</a:t>
            </a:r>
          </a:p>
          <a:p/>
          <a:p>
            <a:r>
              <a:t>If there’s time, mention the hard limits: during migration, 40 GiB per repository and 400 MiB per file; afterwards, GitHub’s normal 100 MiB per file, 2 GiB per commit and 2 GiB per push. Don’t recite them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 Azure DevOps-only markdown ([[_TOC_]], ::: mermaid blocks, #123 work-item links, @mentions) renders as plain text or breaks; attachments live in a .attachments folder that page links point into.</a:t>
            </a:r>
          </a:p>
          <a:p/>
          <a:p>
            <a:r>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p>
            <a:r>
              <a:t>OPTIONAL LAUGH LINE — “Every field guide has one species that just walks across the river. This is it. Mostly. Enjoy it — the slide is forty seconds long.”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p>
            <a: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p>
            <a:r>
              <a:t>Be precise about that grant: it covers Basic only. Test Plans (which section 4 tells you to keep) is a separate Azure DevOps licence, and Copilot, Secret Protection and Code Security, Actions overages, larger runners and the migration work itself are all separate costs.</a:t>
            </a:r>
          </a:p>
          <a:p/>
          <a:p>
            <a:r>
              <a:t>What holds the two halves together is the integration layer: work-item traceability, commit and pull-request links, pipeline integration, identity mapping, and cross-platform reporting.</a:t>
            </a:r>
          </a:p>
          <a:p/>
          <a:p>
            <a:r>
              <a:t>Explicitly reframe: this is the shape the rest of the talk builds toward, not a fallback. Section 4 comes back to this exact point for Boards and Projects.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3.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take this one slowly — the rest of the section depends on the distinction.</a:t>
            </a:r>
          </a:p>
          <a:p>
            <a:endParaRPr/>
          </a:p>
          <a:p>
            <a:r>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a:p>
          <a:p>
            <a:r>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p>
            <a:r>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p>
            <a:r>
              <a:t>OPTIONAL LAUGH LINE — stop on the Service Connection row: “Two words on the left, three on the right, and about three weeks in between.” This is the row the whole room has personally lost a sprint to.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Spend twenty seconds getting the naming right, because the docs don't and everyone who goes looking afterwards hits the same confusion.</a:t>
            </a:r>
          </a:p>
          <a:p>
            <a:endParaRPr/>
          </a:p>
          <a:p>
            <a:r>
              <a:t>GitHub's own wording: “GitHub Enterprise Importer is a collection of extensions for GitHub CLI.” So GEI is not a service sitting underneath gh-ado2gh — gh-ado2gh IS GEI, the Azure DevOps one. Its siblings are gh-gei (GitHub to GitHub) and gh-bbs2gh (Bitbucket Server). Install is `gh extension install github/gh-ado2gh`. The repository copy itself runs server-side through GitHub's migration API; the extension inventories the estate, generates the script and drives those calls.</a:t>
            </a:r>
          </a:p>
          <a:p>
            <a:endParaRPr/>
          </a:p>
          <a:p>
            <a:r>
              <a:t>Do not describe GEI and gh-ado2gh as two layers with a boundary between them — an earlier draft of this slide did, and somebody who has read the docs will pick it up. The real boundaries are the other three bullets: pipeline logic belongs to Actions Importer, and LFS and identity are separate work.</a:t>
            </a:r>
          </a:p>
          <a:p>
            <a:endParaRPr/>
          </a:p>
          <a:p>
            <a:r>
              <a:t>The --all flag adds team creation, Boards integration and pipeline reference rewiring, but it does not convert pipeline logic. Worth knowing before you demo: there is an open gh-gei issue where --all omits the rewire step unless the tooling can resolve pipelines and a service connection.</a:t>
            </a:r>
          </a:p>
          <a:p>
            <a:endParaRPr/>
          </a:p>
          <a:p>
            <a:r>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a:p>
          <a:p>
            <a:r>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SLIDE. Moved out of the main flow for time; show it only if someone asks about ELM or near-zero-downtime cutover. Straight delivery. Enterprise Live Migrations was named on the methods table in section 3.</a:t>
            </a:r>
          </a:p>
          <a:p/>
          <a:p>
            <a:r>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p>
            <a:r>
              <a:t>It is also research-only for us: Hunter's current tenant does not meet the data-residency prerequisite, so we have not run it.</a:t>
            </a:r>
          </a:p>
          <a:p/>
          <a:p>
            <a:r>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p>
            <a:r>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p>
            <a:r>
              <a:t>GitHub Enterprise Cloud (GHEC) with Data Residency is a distinct deployment model where:</a:t>
            </a:r>
          </a:p>
          <a:p>
            <a:r>
              <a:t> - Your enterprise is hosted on a dedicated ghe.com subdomain (instead of github.com&lt;org&gt;).</a:t>
            </a:r>
          </a:p>
          <a:p>
            <a:r>
              <a:t> - You choose the geographic region where your code and repository data are stored (currently including U.S., EU, Australia, and Japan).</a:t>
            </a:r>
          </a:p>
          <a:p>
            <a:r>
              <a:t> - The environment is isolated from the broader github.com ecosystem.</a:t>
            </a:r>
          </a:p>
          <a:p>
            <a:r>
              <a:t> - It requires Enterprise Managed Users (EMU). </a:t>
            </a:r>
          </a:p>
          <a:p/>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automation-plane tool. The audit breakdown is the planning artifact: it turns “this looks hard” into a backlog with counts.</a:t>
            </a:r>
          </a:p>
          <a:p>
            <a:endParaRPr/>
          </a:p>
          <a:p>
            <a:r>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a:p>
          <a:p>
            <a:r>
              <a:t>Conversion still leaves secrets, service connections, runner and network strategy, environments, approvals, custom tasks, and unsupported triggers for engineering judgment and validation.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Frame this before comparing feature by feature — Azure Boards and GitHub Projects are not two competitors in one category, they are two different models.</a:t>
            </a:r>
          </a:p>
          <a:p/>
          <a:p>
            <a:r>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p>
            <a:r>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p>
            <a:r>
              <a:t>The next slide takes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Take each tool on its own terms before comparing what a migration loses.</a:t>
            </a:r>
          </a:p>
          <a:p/>
          <a:p>
            <a: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p>
            <a: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p>
            <a:r>
              <a:t>The contrast is process template versus fields and views, not enterprise versus toy. If asked about limits: a project holds up to 50 fields, counting the built-in ones.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p>
            <a: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There is no native GitHub Projects or Issues equivalent for structured manual and exploratory testing, full stop. In a regulated environment, that alone can be sufficient reason to keep Azure DevOps around. 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p>
            <a:r>
              <a:t>Say the recommendation plainly: don’t migrate to GitHub Issues unless your planning needs are genuinely simple. For most teams past a handful of people, the hierarchy, capacity planning and reporting Azure Boards already gives you are worth keeping.</a:t>
            </a:r>
          </a:p>
          <a:p/>
          <a:p>
            <a: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5.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walking the steps: “In most organizations the real selection process is that somebody senior used it at their last job.” OPTIONAL LAUGH LINE, and it is precisely failure mode one from the previous slide.</a:t>
            </a:r>
          </a:p>
          <a:p/>
          <a:p>
            <a: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p>
            <a: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p>
            <a:r>
              <a:t>The bottom bar is the part most business cases skip: price the migration and the steady state as two separate numbers, and count the months when both platforms are billing at once. Dual-running is where the estimate usually goes wrong.</a:t>
            </a:r>
          </a:p>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counterweight to section 1. AI is the honest reason most teams are migrating — this slide is where you pay that argument down so it reads as analysis rather than a pitch. Frame the four as a to-do list, not as reasons to doubt the move.</a:t>
            </a:r>
          </a:p>
          <a:p/>
          <a:p>
            <a:r>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p>
            <a:r>
              <a:t>   WORTH SAYING FOR A REGULATED ROOM: that captured context is stored in the pull request and is visible to anyone with access to the repository. A work item that was private in Azure DevOps becomes readable in GitHub the moment an agent picks it up. Most people have not thought about that, and for anyone with compliance obligations it is the most useful thirty seconds on the slide.</a:t>
            </a:r>
          </a:p>
          <a:p/>
          <a:p>
            <a:r>
              <a:t>2. CONVENTIONS. Three supported files: .github/copilot-instructions.md repository-wide, path-specific NAME.instructions.md under .github/instructions (cloud agent and code review only), and AGENTS.md anywhere in the tree, nearest one winning. Without them the agent infers house style from whatever it can see, which on a large legacy repo is whatever is oldest.</a:t>
            </a:r>
          </a:p>
          <a:p/>
          <a:p>
            <a:r>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p>
            <a:r>
              <a:t>4. LICENSING. Moving the repository turns nothing on. The cloud agent needs a paid Copilot plan, it must be enabled on each connected repository, and an organization owner has to install the Azure Boards GitHub app before anyone can use the integration.</a:t>
            </a:r>
          </a:p>
          <a:p/>
          <a:p>
            <a:r>
              <a:t>OPTIONAL LAUGH LINE — after “The work item is the prompt”: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Then the documentary callback: the Senior Engineer from the opener card isn't wrong to be cautious about change, they're just defending the old pipeline with the wrong argument ('it's always worked') instead of the right one ('here's what the audit says'). Land this warmly, not as a dunk — the point is to hear the objection out and then hand them the Actions Importer audit from section 3. The bucket their pipeline landed in is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6, the final section.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registers on this one slide. STRAIGHT for the top two cards — this is real mechanical risk, say it plainly.</a:t>
            </a:r>
          </a:p>
          <a:p/>
          <a:p>
            <a: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p>
            <a:r>
              <a:t>Be precise about what sits on a mannequin: pull-request data only — authorship, comments and reviews. Work items don’t migrate at all, so there is no work-item history to reclaim.</a:t>
            </a:r>
          </a:p>
          <a:p/>
          <a:p>
            <a: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let it land quieter than anything around it. This is the deck's thesis in one sentence, and it now sits where it earns the most: the recap just handed them six things to remember, and this is the one thing to feel.</a:t>
            </a:r>
          </a:p>
          <a:p>
            <a:endParaRPr/>
          </a:p>
          <a:p>
            <a:r>
              <a:t>The slide is built as a statement, not a section card — light ground, no motif, sentence centred, nothing on it competing with the line. Deliver the first sentence flat, then pause before the last clause. “And got fixed by people in the room” is the payoff and it is set in the accent colour for exactly that reason: land it on the people, not the checklist.</a:t>
            </a:r>
          </a:p>
          <a:p>
            <a:endParaRPr/>
          </a:p>
          <a:p>
            <a:r>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spoken live, slower than anything else in the deck.</a:t>
            </a:r>
          </a:p>
          <a:p>
            <a:endParaRPr/>
          </a:p>
          <a:p>
            <a:r>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a:p>
          <a:p>
            <a:r>
              <a:t>That last line is the callback to section 6's title, so it should land as a click rather than a punchline. Let the silence sit for two full seconds before advancing — do not rush into the thank-you slide, and do not add another joke on top of it.</a:t>
            </a:r>
          </a:p>
          <a:p>
            <a:endParaRPr/>
          </a:p>
          <a:p>
            <a:r>
              <a:t>Note the division of labour with the Unglamorous Truth slide two back: that one is the sincere version in your own voice, this one is the funny version in the documentary voice. Sincerity first, laugh last.</a:t>
            </a:r>
          </a:p>
          <a:p>
            <a:endParaRPr/>
          </a:p>
          <a:p>
            <a:r>
              <a:t>---- ALTERNATE CLOSER, if this one doesn't fit on the night ----</a:t>
            </a:r>
          </a:p>
          <a:p>
            <a:endParaRPr/>
          </a:p>
          <a:p>
            <a:r>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warm. This is the handoff into the open Q&amp;A, roughly 14 minutes — there has been no interim pocket since section 5, so the room has been banking questions. Invite them explicitly rather than just stopping talking.</a:t>
            </a:r>
          </a:p>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p>
            <a:r>
              <a:t>If a question needs more than the time you have, point at the code: the long answer is almost certainly already in the repo.</a:t>
            </a:r>
          </a:p>
          <a:p/>
          <a:p>
            <a:r>
              <a:t>The ELM slide is in the appendix, right after this one, if someone asks about live migration or near-zero-downtime cutover.</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7.png"/><Relationship Id="rId6" Type="http://schemas.openxmlformats.org/officeDocument/2006/relationships/image" Target="../media/image33.png"/><Relationship Id="rId7"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4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4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5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5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3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8C6A3F"/>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8C6A3F"/>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0515600" cy="68580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Thank You to Our Sponsors</a:t>
            </a:r>
            <a:endParaRPr lang="en-US" sz="3200" dirty="0"/>
          </a:p>
        </p:txBody>
      </p:sp>
      <p:sp>
        <p:nvSpPr>
          <p:cNvPr id="3" name="Shape 1"/>
          <p:cNvSpPr/>
          <p:nvPr/>
        </p:nvSpPr>
        <p:spPr>
          <a:xfrm>
            <a:off x="548640" y="1645920"/>
            <a:ext cx="11064240" cy="3931920"/>
          </a:xfrm>
          <a:prstGeom prst="roundRect">
            <a:avLst>
              <a:gd name="adj" fmla="val 279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4" name="Text 2"/>
          <p:cNvSpPr txBox="1"/>
          <p:nvPr/>
        </p:nvSpPr>
        <p:spPr>
          <a:xfrm>
            <a:off x="914400" y="3200400"/>
            <a:ext cx="10332720" cy="640080"/>
          </a:xfrm>
          <a:prstGeom prst="rect">
            <a:avLst/>
          </a:prstGeom>
          <a:noFill/>
          <a:ln/>
        </p:spPr>
        <p:txBody>
          <a:bodyPr wrap="square" lIns="0" tIns="0" rIns="0" bIns="0" rtlCol="0" anchor="ctr"/>
          <a:lstStyle/>
          <a:p>
            <a:pPr marL="0" indent="0" algn="ctr">
              <a:buNone/>
            </a:pPr>
            <a:r>
              <a:rPr lang="en-US" sz="2000" i="1" dirty="0">
                <a:solidFill>
                  <a:srgbClr val="6B6B63"/>
                </a:solidFill>
                <a:latin typeface="Calibri" pitchFamily="34" charset="0"/>
                <a:ea typeface="Calibri" pitchFamily="34" charset="-122"/>
                <a:cs typeface="Calibri" pitchFamily="34" charset="-120"/>
              </a:rPr>
              <a:t>[PLACEHOLDER — drop in actual sponsor logos before the talk]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7068312"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Crossing the River — </a:t>
            </a:r>
            <a:r>
              <a:rPr lang="en-US" sz="16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Watch as the Scrum Master Approaches Carefully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Senior Engineer Defends an Ancient Pipeline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754112" y="1554480"/>
            <a:ext cx="3858768"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8010144" y="1737360"/>
            <a:ext cx="338328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8010144" y="2331720"/>
            <a:ext cx="338328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comparing GitHub with every competing platform.</a:t>
            </a: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2331720"/>
          <a:ext cx="11064240" cy="310896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92">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621792">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621792">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0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
        <p:nvSpPr>
          <p:cNvPr id="13" name="Lead"/>
          <p:cNvSpPr txBox="1"/>
          <p:nvPr/>
        </p:nvSpPr>
        <p:spPr>
          <a:xfrm>
            <a:off x="548640" y="1444752"/>
            <a:ext cx="11064240" cy="731520"/>
          </a:xfrm>
          <a:prstGeom prst="rect">
            <a:avLst/>
          </a:prstGeom>
          <a:noFill/>
        </p:spPr>
        <p:txBody>
          <a:bodyPr wrap="square" lIns="0" rIns="0" tIns="0" bIns="0">
            <a:spAutoFit/>
          </a:bodyPr>
          <a:lstStyle/>
          <a:p>
            <a:r>
              <a:rPr sz="1800" b="1">
                <a:solidFill>
                  <a:srgbClr val="2B2B2B"/>
                </a:solidFill>
                <a:latin typeface="Calibri"/>
              </a:rPr>
              <a:t>Most agentic Copilot features ship on GitHub first. </a:t>
            </a:r>
            <a:r>
              <a:rPr sz="1800" b="0">
                <a:solidFill>
                  <a:srgbClr val="2B2B2B"/>
                </a:solidFill>
                <a:latin typeface="Calibri"/>
              </a:rPr>
              <a:t>Azure DevOps keeps gaining AI features, but where the repository lives still decides which workflows run natively.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platform decision did not disappear. It merely acquired more adapters.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run a workflow in a local container: fast feedback on syntax and job order, not a stand-in for CI.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don’t migrate — push them separately</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The Pages Travel, the Structure Doesn’t</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wikis are Git repos under the hood, so the pages copy with a clone and a push. </a:t>
            </a:r>
            <a:r>
              <a:rPr lang="en-US" sz="2000" b="1" dirty="0">
                <a:solidFill>
                  <a:srgbClr val="2B2B2B"/>
                </a:solidFill>
                <a:latin typeface="Calibri" pitchFamily="34" charset="0"/>
                <a:ea typeface="Calibri" pitchFamily="34" charset="-122"/>
                <a:cs typeface="Calibri" pitchFamily="34" charset="-120"/>
              </a:rPr>
              <a:t>What doesn’t copy cleanly: </a:t>
            </a:r>
            <a:r>
              <a:rPr lang="en-US" sz="2000" dirty="0">
                <a:solidFill>
                  <a:srgbClr val="2B2B2B"/>
                </a:solidFill>
                <a:latin typeface="Calibri" pitchFamily="34" charset="0"/>
                <a:ea typeface="Calibri" pitchFamily="34" charset="-122"/>
                <a:cs typeface="Calibri" pitchFamily="34" charset="-120"/>
              </a:rPr>
              <a:t>page order and nesting (Azure DevOps’ .order files and folders; GitHub’s wiki page list is flat), and Azure DevOps-only markdown such as [[_TOC_]], ::: mermaid blocks and #123 work-item links.</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050" b="1" spc="120">
                <a:solidFill>
                  <a:srgbClr val="8C6A3F"/>
                </a:solidFill>
                <a:latin typeface="Calibri"/>
              </a:rPr>
              <a:t>TAKEAWAY </a:t>
            </a:r>
            <a:r>
              <a:rPr sz="1500" b="0">
                <a:solidFill>
                  <a:srgbClr val="F5F5F0"/>
                </a:solidFill>
                <a:latin typeface="Calibri"/>
              </a:rPr>
              <a:t>The pages copy in minutes. The structure and the Azure DevOps-only markdown are the real work.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if your feeds fit: no PyPI, Universal Packages or upstream sources.</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86868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8C6A3F"/>
                </a:solidFill>
                <a:latin typeface="Calibri"/>
              </a:rPr>
              <a:t>TAKEAWAY </a:t>
            </a:r>
            <a:r>
              <a:rPr sz="1500" b="0">
                <a:solidFill>
                  <a:srgbClr val="F5F5F0"/>
                </a:solidFill>
                <a:latin typeface="Calibri"/>
              </a:rPr>
              <a:t>Neither platform hands you DORA. Agree on the four metrics first, then instrument them yourselves. That baseline outlives the migration.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b="1" i="1"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71800"/>
            <a:ext cx="4709160" cy="1874519"/>
          </a:xfrm>
          <a:prstGeom prst="rect">
            <a:avLst/>
          </a:prstGeom>
          <a:noFill/>
        </p:spPr>
        <p:txBody>
          <a:bodyPr wrap="square" lIns="0" tIns="0" rIns="0" bIns="0" anchor="t">
            <a:spAutoFit/>
          </a:bodyPr>
          <a:lstStyle/>
          <a:p>
            <a:pPr algn="l">
              <a:lnSpc>
                <a:spcPts val="2100"/>
              </a:lnSpc>
              <a:spcAft>
                <a:spcPts val="700"/>
              </a:spcAft>
            </a:pPr>
            <a:r>
              <a:rPr lang="en-US" sz="1600">
                <a:solidFill>
                  <a:srgbClr val="2B2B2B"/>
                </a:solidFill>
                <a:latin typeface="Calibri"/>
              </a:rPr>
              <a:t>•  GitHub repositories</a:t>
            </a:r>
          </a:p>
          <a:p>
            <a:pPr algn="l">
              <a:lnSpc>
                <a:spcPts val="2100"/>
              </a:lnSpc>
              <a:spcAft>
                <a:spcPts val="700"/>
              </a:spcAft>
            </a:pPr>
            <a:r>
              <a:rPr lang="en-US" sz="1600">
                <a:solidFill>
                  <a:srgbClr val="2B2B2B"/>
                </a:solidFill>
                <a:latin typeface="Calibri"/>
              </a:rPr>
              <a:t>•  Pull requests and code review</a:t>
            </a:r>
          </a:p>
          <a:p>
            <a:pPr algn="l">
              <a:lnSpc>
                <a:spcPts val="2100"/>
              </a:lnSpc>
              <a:spcAft>
                <a:spcPts val="700"/>
              </a:spcAft>
            </a:pPr>
            <a:r>
              <a:rPr lang="en-US" sz="1600">
                <a:solidFill>
                  <a:srgbClr val="2B2B2B"/>
                </a:solidFill>
                <a:latin typeface="Calibri"/>
              </a:rPr>
              <a:t>•  Repository-native Copilot capabilities</a:t>
            </a:r>
          </a:p>
          <a:p>
            <a:pPr algn="l">
              <a:lnSpc>
                <a:spcPts val="2100"/>
              </a:lnSpc>
              <a:spcAft>
                <a:spcPts val="700"/>
              </a:spcAft>
            </a:pPr>
            <a:r>
              <a:rPr lang="en-US" sz="1600">
                <a:solidFill>
                  <a:srgbClr val="2B2B2B"/>
                </a:solidFill>
                <a:latin typeface="Calibri"/>
              </a:rPr>
              <a:t>•  GitHub Actions, where appropriate</a:t>
            </a:r>
          </a:p>
          <a:p>
            <a:pPr algn="l">
              <a:lnSpc>
                <a:spcPts val="2100"/>
              </a:lnSpc>
              <a:spcAft>
                <a:spcPts val="700"/>
              </a:spcAft>
            </a:pPr>
            <a:r>
              <a:rPr lang="en-US" sz="160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71800"/>
            <a:ext cx="4709160" cy="1874519"/>
          </a:xfrm>
          <a:prstGeom prst="rect">
            <a:avLst/>
          </a:prstGeom>
          <a:noFill/>
        </p:spPr>
        <p:txBody>
          <a:bodyPr wrap="square" lIns="0" tIns="0" rIns="0" bIns="0" anchor="t">
            <a:spAutoFit/>
          </a:bodyPr>
          <a:lstStyle/>
          <a:p>
            <a:pPr algn="l">
              <a:lnSpc>
                <a:spcPts val="2100"/>
              </a:lnSpc>
              <a:spcAft>
                <a:spcPts val="700"/>
              </a:spcAft>
            </a:pPr>
            <a:r>
              <a:rPr sz="1600">
                <a:solidFill>
                  <a:srgbClr val="2B2B2B"/>
                </a:solidFill>
                <a:latin typeface="Calibri"/>
              </a:rPr>
              <a:t>•  Azure Boards—formal planning and reporting</a:t>
            </a:r>
          </a:p>
          <a:p>
            <a:pPr algn="l">
              <a:lnSpc>
                <a:spcPts val="2100"/>
              </a:lnSpc>
              <a:spcAft>
                <a:spcPts val="700"/>
              </a:spcAft>
            </a:pPr>
            <a:r>
              <a:rPr sz="1600">
                <a:solidFill>
                  <a:srgbClr val="2B2B2B"/>
                </a:solidFill>
                <a:latin typeface="Calibri"/>
              </a:rPr>
              <a:t>•  Azure Test Plans—structured manual testing</a:t>
            </a:r>
          </a:p>
          <a:p>
            <a:pPr algn="l">
              <a:lnSpc>
                <a:spcPts val="2100"/>
              </a:lnSpc>
              <a:spcAft>
                <a:spcPts val="700"/>
              </a:spcAft>
            </a:pPr>
            <a:r>
              <a:rPr sz="1600">
                <a:solidFill>
                  <a:srgbClr val="2B2B2B"/>
                </a:solidFill>
                <a:latin typeface="Calibri"/>
              </a:rPr>
              <a:t>•  Azure Pipelines—retained temporarily or deliberately</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349240"/>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050" b="1" spc="120">
                <a:solidFill>
                  <a:srgbClr val="8C6A3F"/>
                </a:solidFill>
                <a:latin typeface="Calibri"/>
              </a:rPr>
              <a:t>TAKEAWAY </a:t>
            </a:r>
            <a:r>
              <a:rPr sz="1500" b="0">
                <a:solidFill>
                  <a:srgbClr val="F5F5F0"/>
                </a:solidFill>
                <a:latin typeface="Calibri"/>
              </a:rPr>
              <a:t>Hybrid is not a temporary failure to finish the migration. It can be the intended architecture.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8C6A3F"/>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508760"/>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166420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1691639"/>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2862072"/>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017520"/>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007882"/>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215384"/>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370832"/>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398264"/>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5" name="TextBox 14"/>
          <p:cNvSpPr txBox="1"/>
          <p:nvPr/>
        </p:nvSpPr>
        <p:spPr>
          <a:xfrm>
            <a:off x="566928" y="5623560"/>
            <a:ext cx="11064240" cy="411480"/>
          </a:xfrm>
          <a:prstGeom prst="rect">
            <a:avLst/>
          </a:prstGeom>
          <a:noFill/>
        </p:spPr>
        <p:txBody>
          <a:bodyPr wrap="square" lIns="73152" tIns="73152" rIns="73152" bIns="73152" anchor="t">
            <a:spAutoFit/>
          </a:bodyPr>
          <a:lstStyle/>
          <a:p>
            <a:pPr algn="ctr"/>
            <a:r>
              <a:rPr sz="1500" b="0" i="1" dirty="0">
                <a:solidFill>
                  <a:srgbClr val="8C6A3F"/>
                </a:solidFill>
                <a:latin typeface="Calibri"/>
              </a:rPr>
              <a:t>Manual judgment, official tooling, and AI assistance can contribute within every plane.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3373412851"/>
              </p:ext>
            </p:extLst>
          </p:nvPr>
        </p:nvGraphicFramePr>
        <p:xfrm>
          <a:off x="548640" y="1508760"/>
          <a:ext cx="11091672" cy="4160520"/>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OFFICIAL TOOLING</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56869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568696"/>
            <a:ext cx="11064240" cy="73152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The methods are complementary. None is a substitute for evidence in the validation plane.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748089721"/>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 Pool</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Translation is a design exercise: preserve the original security and lifecycle intent, then validate conditions, needs, shell and error handling, approvals, runners and environment behavior.</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sz="1450">
                <a:solidFill>
                  <a:srgbClr val="F5F5F0"/>
                </a:solidFill>
                <a:latin typeface="Calibri"/>
              </a:rPr>
              <a:t>GitHub Enterprise Importer (GEI) is a set of GitHub CLI extensions</a:t>
            </a:r>
            <a:endParaRPr lang="en-US" sz="1450" dirty="0"/>
          </a:p>
          <a:p>
            <a:pPr>
              <a:spcBef>
                <a:spcPts val="800"/>
              </a:spcBef>
            </a:pPr>
            <a:r>
              <a:rPr sz="1450">
                <a:solidFill>
                  <a:srgbClr val="F5F5F0"/>
                </a:solidFill>
                <a:latin typeface="Calibri"/>
              </a:rPr>
              <a:t>gh-ado2gh is GEI’s Azure DevOps extension — not a separate tool</a:t>
            </a:r>
          </a:p>
          <a:p>
            <a:pPr>
              <a:spcBef>
                <a:spcPts val="800"/>
              </a:spcBef>
            </a:pPr>
            <a:r>
              <a:rPr sz="1450">
                <a:solidFill>
                  <a:srgbClr val="F5F5F0"/>
                </a:solidFill>
                <a:latin typeface="Calibri"/>
              </a:rPr>
              <a:t>Pipeline-logic conversion belongs to Actions Importer</a:t>
            </a:r>
          </a:p>
          <a:p>
            <a:pPr>
              <a:spcBef>
                <a:spcPts val="800"/>
              </a:spcBef>
            </a:pPr>
            <a:r>
              <a:rPr sz="145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do2gh.png"/>
          <p:cNvPicPr>
            <a:picLocks noChangeAspect="1"/>
          </p:cNvPicPr>
          <p:nvPr/>
        </p:nvPicPr>
        <p:blipFill>
          <a:blip r:embed="rId4"/>
          <a:stretch>
            <a:fillRect/>
          </a:stretch>
        </p:blipFill>
        <p:spPr>
          <a:xfrm>
            <a:off x="10424160" y="5413248"/>
            <a:ext cx="777240" cy="7772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Decide Before the First Migration</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332720" cy="2194560"/>
          </a:xfrm>
          <a:prstGeom prst="rect">
            <a:avLst/>
          </a:prstGeom>
          <a:noFill/>
          <a:ln/>
        </p:spPr>
        <p:txBody>
          <a:bodyPr wrap="square" lIns="0" tIns="0" rIns="0" bIns="0" rtlCol="0" anchor="ctr"/>
          <a:lstStyle/>
          <a:p>
            <a:pPr marL="0" indent="0">
              <a:lnSpc>
                <a:spcPct val="130000"/>
              </a:lnSpc>
              <a:buNone/>
            </a:pPr>
            <a:r>
              <a:rPr lang="en-US" sz="1850" b="0">
                <a:solidFill>
                  <a:srgbClr val="2B2B2B"/>
                </a:solidFill>
                <a:latin typeface="Calibri"/>
              </a:rPr>
              <a:t>Install the Azure Pipelines GitHub App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4572000"/>
            <a:ext cx="11064240" cy="1417320"/>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736592"/>
            <a:ext cx="10515600" cy="1097280"/>
          </a:xfrm>
          <a:prstGeom prst="rect">
            <a:avLst/>
          </a:prstGeom>
          <a:noFill/>
          <a:ln/>
        </p:spPr>
        <p:txBody>
          <a:bodyPr wrap="square" lIns="0" tIns="0" rIns="0" bIns="0" rtlCol="0" anchor="ctr"/>
          <a:lstStyle/>
          <a:p>
            <a:pPr marL="0" indent="0">
              <a:lnSpc>
                <a:spcPct val="115000"/>
              </a:lnSpc>
              <a:buNone/>
            </a:pPr>
            <a:r>
              <a:rPr lang="en-US" sz="1450" b="0" dirty="0">
                <a:solidFill>
                  <a:srgbClr val="F5F5F0"/>
                </a:solidFill>
                <a:latin typeface="Calibri"/>
              </a:rPr>
              <a:t>Before the first run: target enterprise and organization model  •  authentication and identity mapping  •  team and visibility policy  •  Boards/Pipelines integration  •  freeze or change-reconciliation approach  •  owner for migration failures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libri"/>
              </a:rPr>
              <a:t>audit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libri"/>
              </a:rPr>
              <a:t>dry-run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libri"/>
              </a:rPr>
              <a:t>conversion handles supported constructs</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Use the audit output to build the migration backlog and recalibrate the planning estimate with evidence.</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ctions-importer.png"/>
          <p:cNvPicPr>
            <a:picLocks noChangeAspect="1"/>
          </p:cNvPicPr>
          <p:nvPr/>
        </p:nvPicPr>
        <p:blipFill>
          <a:blip r:embed="rId4"/>
          <a:stretch>
            <a:fillRect/>
          </a:stretch>
        </p:blipFill>
        <p:spPr>
          <a:xfrm>
            <a:off x="10424160" y="5413248"/>
            <a:ext cx="777240" cy="7772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050" b="1" spc="120">
                <a:solidFill>
                  <a:srgbClr val="8C6A3F"/>
                </a:solidFill>
                <a:latin typeface="Calibri"/>
              </a:rPr>
              <a:t>TAKEAWAY </a:t>
            </a:r>
            <a:r>
              <a:rPr sz="1500">
                <a:solidFill>
                  <a:srgbClr val="F5F5F0"/>
                </a:solidFill>
                <a:latin typeface="Calibri"/>
              </a:rPr>
              <a:t>The workflow converted successfully. It merely has no credentials, no network route, and nowhere to deploy.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9418320" cy="141732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hape 17"/>
          <p:cNvSpPr/>
          <p:nvPr/>
        </p:nvSpPr>
        <p:spPr>
          <a:xfrm>
            <a:off x="10122408" y="5184648"/>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24" name="Image 4" descr="/home/claude/pptx-build/assets/qr-sec3-ai-prompts.png"/>
          <p:cNvPicPr>
            <a:picLocks noChangeAspect="1"/>
          </p:cNvPicPr>
          <p:nvPr/>
        </p:nvPicPr>
        <p:blipFill>
          <a:blip r:embed="rId7"/>
          <a:stretch>
            <a:fillRect/>
          </a:stretch>
        </p:blipFill>
        <p:spPr>
          <a:xfrm>
            <a:off x="10195560" y="5257800"/>
            <a:ext cx="777240" cy="777240"/>
          </a:xfrm>
          <a:prstGeom prst="rect">
            <a:avLst/>
          </a:prstGeom>
        </p:spPr>
      </p:pic>
      <p:sp>
        <p:nvSpPr>
          <p:cNvPr id="25" name="Text 18"/>
          <p:cNvSpPr txBox="1"/>
          <p:nvPr/>
        </p:nvSpPr>
        <p:spPr>
          <a:xfrm>
            <a:off x="548640" y="6537960"/>
            <a:ext cx="11064240" cy="274320"/>
          </a:xfrm>
          <a:prstGeom prst="rect">
            <a:avLst/>
          </a:prstGeom>
          <a:noFill/>
          <a:ln/>
        </p:spPr>
        <p:txBody>
          <a:bodyPr wrap="square" lIns="0" tIns="0" rIns="0" bIns="0" rtlCol="0" anchor="ctr"/>
          <a:lstStyle/>
          <a:p>
            <a:pPr marL="0" indent="0">
              <a:buNone/>
            </a:pPr>
            <a:r>
              <a:rPr sz="1000" b="1" spc="120">
                <a:solidFill>
                  <a:srgbClr val="C1440E"/>
                </a:solidFill>
                <a:latin typeface="Calibri"/>
              </a:rPr>
              <a:t>STATUS </a:t>
            </a:r>
            <a:r>
              <a:rPr sz="1300">
                <a:solidFill>
                  <a:srgbClr val="2B2B2B"/>
                </a:solidFill>
                <a:latin typeface="Calibri"/>
              </a:rPr>
              <a:t>Prompts drafted and reviewed; not yet validated against a production pipeline.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Finish line: first verified delivery — equivalent artifact + controlled deployment + traceability + rollback.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ect">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a:solidFill>
                  <a:srgbClr val="2B2B2B"/>
                </a:solidFill>
                <a:latin typeface="Calibri"/>
              </a:rPr>
              <a:t>•  Branches, tags, and sampled commits reconciled</a:t>
            </a:r>
          </a:p>
          <a:p>
            <a:pPr>
              <a:spcAft>
                <a:spcPts val="500"/>
              </a:spcAft>
            </a:pPr>
            <a:r>
              <a:rPr lang="en-US" sz="1400">
                <a:solidFill>
                  <a:srgbClr val="2B2B2B"/>
                </a:solidFill>
                <a:latin typeface="Calibri"/>
              </a:rPr>
              <a:t>•  PR history and attachments sampled</a:t>
            </a:r>
          </a:p>
          <a:p>
            <a:pPr>
              <a:spcAft>
                <a:spcPts val="500"/>
              </a:spcAft>
            </a:pPr>
            <a:r>
              <a:rPr lang="en-US" sz="1400">
                <a:solidFill>
                  <a:srgbClr val="2B2B2B"/>
                </a:solidFill>
                <a:latin typeface="Calibri"/>
              </a:rPr>
              <a:t>•  Identity, teams, permissions, and visibility verified</a:t>
            </a:r>
          </a:p>
          <a:p>
            <a:pPr>
              <a:spcAft>
                <a:spcPts val="500"/>
              </a:spcAft>
            </a:pPr>
            <a:r>
              <a:rPr lang="en-US" sz="140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ect">
            <a:avLst/>
          </a:prstGeom>
          <a:solidFill>
            <a:srgbClr val="1F3D2C"/>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2697480"/>
          </a:xfrm>
          <a:prstGeom prst="rect">
            <a:avLst/>
          </a:prstGeom>
          <a:noFill/>
        </p:spPr>
        <p:txBody>
          <a:bodyPr wrap="square" lIns="36576" tIns="27432" rIns="36576" bIns="27432">
            <a:spAutoFit/>
          </a:bodyPr>
          <a:lstStyle/>
          <a:p>
            <a:pPr>
              <a:spcAft>
                <a:spcPts val="500"/>
              </a:spcAft>
            </a:pPr>
            <a:r>
              <a:rPr sz="1400">
                <a:solidFill>
                  <a:srgbClr val="F5F5F0"/>
                </a:solidFill>
                <a:latin typeface="Calibri"/>
              </a:rPr>
              <a:t>•  Equivalent build artifact produced</a:t>
            </a:r>
          </a:p>
          <a:p>
            <a:pPr>
              <a:spcAft>
                <a:spcPts val="500"/>
              </a:spcAft>
            </a:pPr>
            <a:r>
              <a:rPr sz="1400">
                <a:solidFill>
                  <a:srgbClr val="F5F5F0"/>
                </a:solidFill>
                <a:latin typeface="Calibri"/>
              </a:rPr>
              <a:t>•  Secrets, OIDC, and permissions reviewed</a:t>
            </a:r>
          </a:p>
          <a:p>
            <a:pPr>
              <a:spcAft>
                <a:spcPts val="500"/>
              </a:spcAft>
            </a:pPr>
            <a:r>
              <a:rPr sz="1400">
                <a:solidFill>
                  <a:srgbClr val="F5F5F0"/>
                </a:solidFill>
                <a:latin typeface="Calibri"/>
              </a:rPr>
              <a:t>•  Runner and network path proven</a:t>
            </a:r>
          </a:p>
          <a:p>
            <a:pPr>
              <a:spcAft>
                <a:spcPts val="500"/>
              </a:spcAft>
            </a:pPr>
            <a:r>
              <a:rPr sz="1400">
                <a:solidFill>
                  <a:srgbClr val="F5F5F0"/>
                </a:solidFill>
                <a:latin typeface="Calibri"/>
              </a:rPr>
              <a:t>•  Environments, approvals, and deployment exercised</a:t>
            </a:r>
          </a:p>
        </p:txBody>
      </p:sp>
      <p:sp>
        <p:nvSpPr>
          <p:cNvPr id="12" name="Rectangle 11"/>
          <p:cNvSpPr/>
          <p:nvPr/>
        </p:nvSpPr>
        <p:spPr>
          <a:xfrm>
            <a:off x="8010144" y="1508760"/>
            <a:ext cx="3493008" cy="3886200"/>
          </a:xfrm>
          <a:prstGeom prst="rect">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Definition of done: verified delivery, traceability, operational ownership, and reversibility.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3 — Crossing the River</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Boards and Projects Are Two Different Models</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work-tracking system built around a process template. GitHub Projects is a planning layer built around custom fields and views.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Each Tool on Its Own Terms</a:t>
            </a:r>
            <a:endParaRPr lang="en-US" sz="3200" dirty="0"/>
          </a:p>
        </p:txBody>
      </p:sp>
      <p:sp>
        <p:nvSpPr>
          <p:cNvPr id="6" name="Shape 3"/>
          <p:cNvSpPr/>
          <p:nvPr/>
        </p:nvSpPr>
        <p:spPr>
          <a:xfrm>
            <a:off x="54864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3 right"/>
          <p:cNvSpPr/>
          <p:nvPr/>
        </p:nvSpPr>
        <p:spPr>
          <a:xfrm>
            <a:off x="617220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55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ORGANIZES BY </a:t>
            </a:r>
            <a:r>
              <a:rPr sz="1500" b="0">
                <a:solidFill>
                  <a:srgbClr val="F5F5F0"/>
                </a:solidFill>
                <a:latin typeface="Calibri"/>
              </a:rPr>
              <a:t>Boards: Project → Team → Area Path.   Projects: custom fields and iterations, org-wide across repositories.</a:t>
            </a:r>
            <a:endParaRPr lang="en-US" sz="1600" dirty="0"/>
          </a:p>
        </p:txBody>
      </p:sp>
      <p:sp>
        <p:nvSpPr>
          <p:cNvPr id="11" name="Header left"/>
          <p:cNvSpPr txBox="1"/>
          <p:nvPr/>
        </p:nvSpPr>
        <p:spPr>
          <a:xfrm>
            <a:off x="86868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Azure Boards</a:t>
            </a:r>
            <a:endParaRPr lang="en-US" sz="2000" dirty="0"/>
          </a:p>
        </p:txBody>
      </p:sp>
      <p:sp>
        <p:nvSpPr>
          <p:cNvPr id="12" name="Header right"/>
          <p:cNvSpPr txBox="1"/>
          <p:nvPr/>
        </p:nvSpPr>
        <p:spPr>
          <a:xfrm>
            <a:off x="649224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4 right"/>
          <p:cNvSpPr txBox="1"/>
          <p:nvPr/>
        </p:nvSpPr>
        <p:spPr>
          <a:xfrm>
            <a:off x="649224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Custom fields instead of a fixed process: iteration, single-select, date, number</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Lives next to the issues and PRs it tracks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Fast daily triage, with no context switch to a separate system</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Sub-issues, issue types and dependencies (all GA); roadmap layout; built-in or Actions automation</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Sprint history and capacity data</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Custom process fields and work-item rules</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process template itself: no Agile/Scrum/CMMI equivalent, no built-in capacity or burndown</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Project → Team → Area Path structure (parent–child links can map to sub-issues)</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There’s no first-party tool that moves Azure Boards work items into GitHub Issues, and the data models don’t line up. Budget real manual mapping: this is a project, not a script you run once.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8C6A3F"/>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Sometimes “it doesn’t move, and that’s fine” is the honest answer.</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Boards to GitHub; migrate work items only if planning is simple.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Not “Azure Boards forever”: just don’t default to GitHub Issues because the code moved. Where you plan work is a separate decision from where the code lives.</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4 — Watch as the Scrum Master Approaches Carefully</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Most migrations that fail don’t fail in the converter.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 starting with the people.</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Choose With Evidence, Then Pilot on Defaults</a:t>
            </a:r>
            <a:endParaRPr lang="en-US" sz="3200" dirty="0"/>
          </a:p>
        </p:txBody>
      </p:sp>
      <p:sp>
        <p:nvSpPr>
          <p:cNvPr id="6" name="Shape 3"/>
          <p:cNvSpPr/>
          <p:nvPr/>
        </p:nvSpPr>
        <p:spPr>
          <a:xfrm>
            <a:off x="548640" y="1554480"/>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618488"/>
            <a:ext cx="585216" cy="585216"/>
          </a:xfrm>
          <a:prstGeom prst="ellipse">
            <a:avLst/>
          </a:prstGeom>
          <a:solidFill>
            <a:srgbClr val="C1440E"/>
          </a:solidFill>
          <a:ln/>
        </p:spPr>
        <p:txBody>
          <a:bodyPr/>
          <a:lstStyle/>
          <a:p>
            <a:endParaRPr lang="en-US"/>
          </a:p>
        </p:txBody>
      </p:sp>
      <p:sp>
        <p:nvSpPr>
          <p:cNvPr id="8" name="Text 5"/>
          <p:cNvSpPr txBox="1"/>
          <p:nvPr/>
        </p:nvSpPr>
        <p:spPr>
          <a:xfrm>
            <a:off x="777240" y="161848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59105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59105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each option has to do, not what would be nice.</a:t>
            </a:r>
            <a:endParaRPr lang="en-US" sz="1350" dirty="0"/>
          </a:p>
        </p:txBody>
      </p:sp>
      <p:sp>
        <p:nvSpPr>
          <p:cNvPr id="11" name="Shape 8"/>
          <p:cNvSpPr/>
          <p:nvPr/>
        </p:nvSpPr>
        <p:spPr>
          <a:xfrm>
            <a:off x="548640" y="2359152"/>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423160"/>
            <a:ext cx="585216" cy="585216"/>
          </a:xfrm>
          <a:prstGeom prst="ellipse">
            <a:avLst/>
          </a:prstGeom>
          <a:solidFill>
            <a:srgbClr val="C1440E"/>
          </a:solidFill>
          <a:ln/>
        </p:spPr>
        <p:txBody>
          <a:bodyPr/>
          <a:lstStyle/>
          <a:p>
            <a:endParaRPr lang="en-US"/>
          </a:p>
        </p:txBody>
      </p:sp>
      <p:sp>
        <p:nvSpPr>
          <p:cNvPr id="13" name="Text 10"/>
          <p:cNvSpPr txBox="1"/>
          <p:nvPr/>
        </p:nvSpPr>
        <p:spPr>
          <a:xfrm>
            <a:off x="777240" y="242316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39572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39572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163824"/>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227832"/>
            <a:ext cx="585216" cy="585216"/>
          </a:xfrm>
          <a:prstGeom prst="ellipse">
            <a:avLst/>
          </a:prstGeom>
          <a:solidFill>
            <a:srgbClr val="C1440E"/>
          </a:solidFill>
          <a:ln/>
        </p:spPr>
        <p:txBody>
          <a:bodyPr/>
          <a:lstStyle/>
          <a:p>
            <a:endParaRPr lang="en-US"/>
          </a:p>
        </p:txBody>
      </p:sp>
      <p:sp>
        <p:nvSpPr>
          <p:cNvPr id="18" name="Text 15"/>
          <p:cNvSpPr txBox="1"/>
          <p:nvPr/>
        </p:nvSpPr>
        <p:spPr>
          <a:xfrm>
            <a:off x="777240" y="322783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20040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20040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option: a real slice of real work, not a vendor demo.</a:t>
            </a:r>
            <a:endParaRPr lang="en-US" sz="1350" dirty="0"/>
          </a:p>
        </p:txBody>
      </p:sp>
      <p:sp>
        <p:nvSpPr>
          <p:cNvPr id="21" name="Shape 18"/>
          <p:cNvSpPr/>
          <p:nvPr/>
        </p:nvSpPr>
        <p:spPr>
          <a:xfrm>
            <a:off x="548640" y="3968496"/>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032504"/>
            <a:ext cx="585216" cy="585216"/>
          </a:xfrm>
          <a:prstGeom prst="ellipse">
            <a:avLst/>
          </a:prstGeom>
          <a:solidFill>
            <a:srgbClr val="C1440E"/>
          </a:solidFill>
          <a:ln/>
        </p:spPr>
        <p:txBody>
          <a:bodyPr/>
          <a:lstStyle/>
          <a:p>
            <a:endParaRPr lang="en-US"/>
          </a:p>
        </p:txBody>
      </p:sp>
      <p:sp>
        <p:nvSpPr>
          <p:cNvPr id="23" name="Text 20"/>
          <p:cNvSpPr txBox="1"/>
          <p:nvPr/>
        </p:nvSpPr>
        <p:spPr>
          <a:xfrm>
            <a:off x="777240" y="4032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005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005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4773168"/>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4837176"/>
            <a:ext cx="585216" cy="585216"/>
          </a:xfrm>
          <a:prstGeom prst="ellipse">
            <a:avLst/>
          </a:prstGeom>
          <a:solidFill>
            <a:srgbClr val="C1440E"/>
          </a:solidFill>
          <a:ln/>
        </p:spPr>
        <p:txBody>
          <a:bodyPr/>
          <a:lstStyle/>
          <a:p>
            <a:endParaRPr lang="en-US"/>
          </a:p>
        </p:txBody>
      </p:sp>
      <p:sp>
        <p:nvSpPr>
          <p:cNvPr id="28" name="Text 25"/>
          <p:cNvSpPr txBox="1"/>
          <p:nvPr/>
        </p:nvSpPr>
        <p:spPr>
          <a:xfrm>
            <a:off x="777240" y="483717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480974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Pilot on defaults</a:t>
            </a:r>
            <a:endParaRPr lang="en-US" sz="1600" dirty="0"/>
          </a:p>
        </p:txBody>
      </p:sp>
      <p:sp>
        <p:nvSpPr>
          <p:cNvPr id="30" name="Text 27"/>
          <p:cNvSpPr txBox="1"/>
          <p:nvPr/>
        </p:nvSpPr>
        <p:spPr>
          <a:xfrm>
            <a:off x="4892040" y="480974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4–6 weeks, outcomes decided in advance. Customize only after, with real usage data.</a:t>
            </a:r>
            <a:endParaRPr lang="en-US" sz="1350" dirty="0"/>
          </a:p>
        </p:txBody>
      </p:sp>
      <p:sp>
        <p:nvSpPr>
          <p:cNvPr id="31" name="Takeaway bar"/>
          <p:cNvSpPr/>
          <p:nvPr/>
        </p:nvSpPr>
        <p:spPr>
          <a:xfrm>
            <a:off x="548640" y="5669280"/>
            <a:ext cx="11064240" cy="77724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2" name="Takeaway text"/>
          <p:cNvSpPr txBox="1"/>
          <p:nvPr/>
        </p:nvSpPr>
        <p:spPr>
          <a:xfrm>
            <a:off x="548640" y="5669280"/>
            <a:ext cx="11064240" cy="77724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Every customization made before the pilot is a bet placed with the least information you’ll ever have.</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Connect Boards, name the source of truth, owners, and rollback authority.</a:t>
            </a:r>
            <a:endParaRPr lang="en-US" sz="1250"/>
          </a:p>
        </p:txBody>
      </p:sp>
      <p:sp>
        <p:nvSpPr>
          <p:cNvPr id="11" name="Shape 8"/>
          <p:cNvSpPr/>
          <p:nvPr/>
        </p:nvSpPr>
        <p:spPr>
          <a:xfrm>
            <a:off x="333756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Secret Protection and Code Security as add-ons, runner and compute minutes, and the admin and migration effort it actually takes to get there.</a:t>
            </a:r>
            <a:endParaRPr lang="en-US" sz="1900" dirty="0"/>
          </a:p>
        </p:txBody>
      </p:sp>
      <p:sp>
        <p:nvSpPr>
          <p:cNvPr id="8" name="Shape 5"/>
          <p:cNvSpPr/>
          <p:nvPr/>
        </p:nvSpPr>
        <p:spPr>
          <a:xfrm>
            <a:off x="548640" y="4526280"/>
            <a:ext cx="11064240" cy="8686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86868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Price the migration and the steady state separately, and count the months when both platforms are billing at once.</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dirty="0">
                <a:solidFill>
                  <a:srgbClr val="2B2B2B"/>
                </a:solidFill>
                <a:latin typeface="Calibri"/>
              </a:rPr>
              <a:t>Moving the code unlocks the tooling. Four other things decide whether it pays off.</a:t>
            </a:r>
            <a:endParaRPr lang="en-US" sz="2000" dirty="0"/>
          </a:p>
          <a:p>
            <a:pPr marL="285750" indent="-285750">
              <a:spcBef>
                <a:spcPts val="900"/>
              </a:spcBef>
              <a:spcAft>
                <a:spcPts val="800"/>
              </a:spcAft>
              <a:buFont typeface="Arial" panose="020B0604020202020204" pitchFamily="34" charset="0"/>
              <a:buChar char="•"/>
            </a:pPr>
            <a:r>
              <a:rPr sz="1550" b="0" dirty="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Licenses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050" b="1" spc="120" dirty="0">
                <a:solidFill>
                  <a:srgbClr val="8C6A3F"/>
                </a:solidFill>
                <a:latin typeface="Calibri"/>
              </a:rPr>
              <a:t>TAKEAWAY </a:t>
            </a:r>
            <a:r>
              <a:rPr sz="1500" b="0" dirty="0">
                <a:solidFill>
                  <a:srgbClr val="F5F5F0"/>
                </a:solidFill>
                <a:latin typeface="Calibri"/>
              </a:rPr>
              <a:t>These are preconditions, not nice-to-haves. Budget for them before you promise anyone the AI payoff.</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squads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F5F5F0"/>
                </a:solidFill>
                <a:latin typeface="Cambria" pitchFamily="34" charset="0"/>
                <a:ea typeface="Cambria" pitchFamily="34" charset="-122"/>
                <a:cs typeface="Cambria" pitchFamily="34" charset="-120"/>
              </a:rPr>
              <a:t>Scaled agile, regulated, multi-team</a:t>
            </a:r>
            <a:endParaRPr lang="en-US" sz="1600" dirty="0"/>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F5F5F0"/>
                </a:solidFill>
                <a:latin typeface="Calibri" pitchFamily="34" charset="0"/>
                <a:ea typeface="Calibri" pitchFamily="34" charset="-122"/>
                <a:cs typeface="Calibri" pitchFamily="34" charset="-120"/>
              </a:rPr>
              <a:t>Azure Boards’ hierarchy and reporting earn their keep here.</a:t>
            </a:r>
            <a:endParaRPr lang="en-US" sz="1350" dirty="0"/>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617720"/>
            <a:ext cx="11064240" cy="160020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617720"/>
            <a:ext cx="11064240" cy="160020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ASIDE </a:t>
            </a:r>
            <a:r>
              <a:rPr sz="1500" b="0">
                <a:solidFill>
                  <a:srgbClr val="2B2B2B"/>
                </a:solidFill>
                <a:latin typeface="Calibri"/>
              </a:rPr>
              <a:t>The Senior Engineer guarding that ancient pipeline isn’t wrong to be cautious — they’re defending it with the wrong argument (“it’s always worked”) instead of the right one (“here’s what the audit says”).</a:t>
            </a:r>
            <a:endParaRPr lang="en-US" sz="14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5 — The Senior Engineer Defends an Ancient Pipeline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000" b="1" spc="120">
                <a:solidFill>
                  <a:srgbClr val="C1440E"/>
                </a:solidFill>
                <a:latin typeface="Calibri"/>
              </a:rPr>
              <a:t>DO THIS </a:t>
            </a:r>
            <a:r>
              <a:rPr sz="130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417320"/>
            <a:ext cx="11064240" cy="109728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572768"/>
            <a:ext cx="10424160" cy="8229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2697480"/>
            <a:ext cx="11064240" cy="128016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2862072"/>
            <a:ext cx="10424160" cy="96012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pull-request authorship, comments and reviews — stays on the mannequin until it is reclaimed. An organization owner sends the attribution invitation, but nothing is reattributed until the person accepts it.</a:t>
            </a:r>
          </a:p>
        </p:txBody>
      </p:sp>
      <p:sp>
        <p:nvSpPr>
          <p:cNvPr id="13" name="Rounded Rectangle 12"/>
          <p:cNvSpPr/>
          <p:nvPr/>
        </p:nvSpPr>
        <p:spPr>
          <a:xfrm>
            <a:off x="548640" y="4160520"/>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4160520"/>
            <a:ext cx="11064240" cy="85953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48640" y="525780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48640" y="5367528"/>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structured work items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8C6A3F"/>
                </a:solidFill>
                <a:latin typeface="Calibri"/>
              </a:rPr>
              <a:t>— CLOSING NARRATION, FROM THE FAR BANK</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926080"/>
            <a:ext cx="6035040" cy="731520"/>
          </a:xfrm>
          <a:prstGeom prst="rect">
            <a:avLst/>
          </a:prstGeom>
          <a:noFill/>
          <a:ln/>
        </p:spPr>
        <p:txBody>
          <a:bodyPr wrap="square" lIns="0" tIns="0" rIns="0" bIns="0" rtlCol="0" anchor="ctr"/>
          <a:lstStyle/>
          <a:p>
            <a:pPr marL="0" indent="0" algn="l">
              <a:buNone/>
            </a:pPr>
            <a:r>
              <a:rPr sz="1800" b="0">
                <a:solidFill>
                  <a:srgbClr val="6B6B63"/>
                </a:solidFill>
                <a:latin typeface="Calibri"/>
              </a:rPr>
              <a:t>Azure DevOps to GitHub Enterprise: The Great Migration</a:t>
            </a:r>
            <a:endParaRPr lang="en-US" sz="1800" dirty="0"/>
          </a:p>
        </p:txBody>
      </p:sp>
      <p:sp>
        <p:nvSpPr>
          <p:cNvPr id="6" name="Text 4"/>
          <p:cNvSpPr txBox="1"/>
          <p:nvPr/>
        </p:nvSpPr>
        <p:spPr>
          <a:xfrm>
            <a:off x="777240" y="3931920"/>
            <a:ext cx="6035040" cy="411480"/>
          </a:xfrm>
          <a:prstGeom prst="rect">
            <a:avLst/>
          </a:prstGeom>
          <a:noFill/>
          <a:ln/>
        </p:spPr>
        <p:txBody>
          <a:bodyPr wrap="square" lIns="0" tIns="0" rIns="0" bIns="0" rtlCol="0" anchor="ctr"/>
          <a:lstStyle/>
          <a:p>
            <a:pPr marL="0" indent="0" algn="l">
              <a:buNone/>
            </a:pPr>
            <a:r>
              <a:rPr sz="2000" b="1">
                <a:solidFill>
                  <a:srgbClr val="1F3D2C"/>
                </a:solidFill>
                <a:latin typeface="Cambria"/>
              </a:rPr>
              <a:t>Kevin Neumann</a:t>
            </a:r>
            <a:endParaRPr lang="en-US" sz="2000" dirty="0"/>
          </a:p>
        </p:txBody>
      </p:sp>
      <p:sp>
        <p:nvSpPr>
          <p:cNvPr id="7" name="Text 5"/>
          <p:cNvSpPr txBox="1"/>
          <p:nvPr/>
        </p:nvSpPr>
        <p:spPr>
          <a:xfrm>
            <a:off x="777240" y="4370832"/>
            <a:ext cx="6035040" cy="365760"/>
          </a:xfrm>
          <a:prstGeom prst="rect">
            <a:avLst/>
          </a:prstGeom>
          <a:noFill/>
          <a:ln/>
        </p:spPr>
        <p:txBody>
          <a:bodyPr wrap="square" lIns="0" tIns="0" rIns="0" bIns="0" rtlCol="0" anchor="ctr"/>
          <a:lstStyle/>
          <a:p>
            <a:pPr marL="0" indent="0" algn="l">
              <a:buNone/>
            </a:pPr>
            <a:r>
              <a:rPr sz="1500" b="0">
                <a:solidFill>
                  <a:srgbClr val="2B2B2B"/>
                </a:solidFill>
                <a:latin typeface="Calibri"/>
              </a:rPr>
              <a:t>kneumann@hunter.com</a:t>
            </a:r>
            <a:endParaRPr lang="en-US" sz="1500" dirty="0"/>
          </a:p>
        </p:txBody>
      </p:sp>
      <p:sp>
        <p:nvSpPr>
          <p:cNvPr id="10" name="Text 7"/>
          <p:cNvSpPr txBox="1"/>
          <p:nvPr/>
        </p:nvSpPr>
        <p:spPr>
          <a:xfrm>
            <a:off x="777240" y="5212080"/>
            <a:ext cx="6035040" cy="411480"/>
          </a:xfrm>
          <a:prstGeom prst="rect">
            <a:avLst/>
          </a:prstGeom>
          <a:noFill/>
          <a:ln/>
        </p:spPr>
        <p:txBody>
          <a:bodyPr wrap="square" lIns="0" tIns="0" rIns="0" bIns="0" rtlCol="0" anchor="ctr"/>
          <a:lstStyle/>
          <a:p>
            <a:pPr marL="0" indent="0" algn="l">
              <a:buNone/>
            </a:pPr>
            <a:r>
              <a:rPr sz="1700" b="0">
                <a:solidFill>
                  <a:srgbClr val="C1440E"/>
                </a:solidFill>
                <a:latin typeface="Calibri"/>
              </a:rPr>
              <a:t>Open floor — questions welcome.</a:t>
            </a:r>
            <a:endParaRPr lang="en-US" sz="1700" dirty="0"/>
          </a:p>
        </p:txBody>
      </p:sp>
      <p:sp>
        <p:nvSpPr>
          <p:cNvPr id="11" name="Rounded Rectangle 10"/>
          <p:cNvSpPr/>
          <p:nvPr/>
        </p:nvSpPr>
        <p:spPr>
          <a:xfrm>
            <a:off x="7360920" y="1783080"/>
            <a:ext cx="4297680" cy="420624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360920" y="1938528"/>
            <a:ext cx="4297680" cy="292608"/>
          </a:xfrm>
          <a:prstGeom prst="rect">
            <a:avLst/>
          </a:prstGeom>
          <a:noFill/>
        </p:spPr>
        <p:txBody>
          <a:bodyPr wrap="square">
            <a:spAutoFit/>
          </a:bodyPr>
          <a:lstStyle/>
          <a:p>
            <a:pPr algn="ctr"/>
            <a:r>
              <a:rPr sz="1100" b="1">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458200" y="2304288"/>
            <a:ext cx="2103120" cy="2103120"/>
          </a:xfrm>
          <a:prstGeom prst="rect">
            <a:avLst/>
          </a:prstGeom>
        </p:spPr>
      </p:pic>
      <p:sp>
        <p:nvSpPr>
          <p:cNvPr id="13" name="TextBox 12"/>
          <p:cNvSpPr txBox="1"/>
          <p:nvPr/>
        </p:nvSpPr>
        <p:spPr>
          <a:xfrm>
            <a:off x="7360920" y="4526280"/>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543800" y="4919472"/>
            <a:ext cx="3931920" cy="960120"/>
          </a:xfrm>
          <a:prstGeom prst="rect">
            <a:avLst/>
          </a:prstGeom>
          <a:noFill/>
        </p:spPr>
        <p:txBody>
          <a:bodyPr wrap="square">
            <a:spAutoFit/>
          </a:bodyPr>
          <a:lstStyle/>
          <a:p>
            <a:pPr algn="ctr"/>
            <a:r>
              <a:rPr sz="1150" b="0">
                <a:solidFill>
                  <a:srgbClr val="2B2B2B"/>
                </a:solidFill>
                <a:latin typeface="Calibri"/>
              </a:rPr>
              <a:t>Azure Pipelines → Actions migration docs</a:t>
            </a:r>
          </a:p>
          <a:p>
            <a:pPr algn="ctr">
              <a:spcBef>
                <a:spcPts val="300"/>
              </a:spcBef>
            </a:pPr>
            <a:r>
              <a:rPr sz="1150" b="0">
                <a:solidFill>
                  <a:srgbClr val="2B2B2B"/>
                </a:solidFill>
                <a:latin typeface="Calibri"/>
              </a:rPr>
              <a:t>gh-ado2gh  ·  gh-actions-importer</a:t>
            </a:r>
          </a:p>
          <a:p>
            <a:pPr algn="ctr">
              <a:spcBef>
                <a:spcPts val="300"/>
              </a:spcBef>
            </a:pPr>
            <a:r>
              <a:rPr sz="1150" b="0">
                <a:solidFill>
                  <a:srgbClr val="2B2B2B"/>
                </a:solidFill>
                <a:latin typeface="Calibri"/>
              </a:rPr>
              <a:t>AI analyze / convert / validate prompts</a:t>
            </a:r>
          </a:p>
          <a:p>
            <a:pPr algn="ctr">
              <a:spcBef>
                <a:spcPts val="300"/>
              </a:spcBef>
            </a:pPr>
            <a:r>
              <a:rPr sz="1150" b="0">
                <a:solidFill>
                  <a:srgbClr val="2B2B2B"/>
                </a:solidFill>
                <a:latin typeface="Calibri"/>
              </a:rPr>
              <a:t>Every note behind this talk</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APPENDIX  ·  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48640" y="5628132"/>
            <a:ext cx="11064240" cy="96012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a:solidFill>
                  <a:srgbClr val="F5F5F0"/>
                </a:solidFill>
                <a:latin typeface="Calibri"/>
              </a:rPr>
              <a:t>ELM changes the synchronization and cutover experience — not the boundaries of what must be migrated and validated.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1409</TotalTime>
  <Words>11801</Words>
  <Application>Microsoft Office PowerPoint</Application>
  <PresentationFormat>Widescreen</PresentationFormat>
  <Paragraphs>787</Paragraphs>
  <Slides>56</Slides>
  <Notes>56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56</vt:i4>
      </vt:variant>
    </vt:vector>
  </HeadingPairs>
  <TitlesOfParts>
    <vt:vector size="62" baseType="lpstr">
      <vt:lpstr>Aptos</vt:lpstr>
      <vt:lpstr>Arial</vt:lpstr>
      <vt:lpstr>Calibri</vt:lpstr>
      <vt:lpstr>Cambria</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13</cp:revision>
  <dcterms:created xsi:type="dcterms:W3CDTF">2026-09-21T19:07:56Z</dcterms:created>
  <dcterms:modified xsi:type="dcterms:W3CDTF">2026-09-27T01:27:55Z</dcterms:modified>
</cp:coreProperties>
</file>