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3"/>
  </p:notesMasterIdLst>
  <p:sldIdLst>
    <p:sldId id="256" r:id="rId2"/>
    <p:sldId id="257" r:id="rId3"/>
    <p:sldId id="258" r:id="rId4"/>
    <p:sldId id="259" r:id="rId5"/>
    <p:sldId id="261" r:id="rId6"/>
    <p:sldId id="262" r:id="rId7"/>
    <p:sldId id="265" r:id="rId8"/>
    <p:sldId id="267" r:id="rId9"/>
    <p:sldId id="268" r:id="rId10"/>
    <p:sldId id="269" r:id="rId11"/>
    <p:sldId id="270" r:id="rId12"/>
    <p:sldId id="271" r:id="rId13"/>
    <p:sldId id="272" r:id="rId14"/>
    <p:sldId id="273" r:id="rId15"/>
    <p:sldId id="264" r:id="rId16"/>
    <p:sldId id="274" r:id="rId17"/>
    <p:sldId id="275" r:id="rId18"/>
    <p:sldId id="276" r:id="rId19"/>
    <p:sldId id="277" r:id="rId20"/>
    <p:sldId id="278" r:id="rId21"/>
    <p:sldId id="279" r:id="rId22"/>
    <p:sldId id="282" r:id="rId23"/>
    <p:sldId id="280" r:id="rId24"/>
    <p:sldId id="281" r:id="rId25"/>
    <p:sldId id="313" r:id="rId26"/>
    <p:sldId id="283" r:id="rId27"/>
    <p:sldId id="284" r:id="rId28"/>
    <p:sldId id="285" r:id="rId29"/>
    <p:sldId id="286" r:id="rId30"/>
    <p:sldId id="287" r:id="rId31"/>
    <p:sldId id="288" r:id="rId32"/>
    <p:sldId id="289" r:id="rId33"/>
    <p:sldId id="291" r:id="rId34"/>
    <p:sldId id="292" r:id="rId35"/>
    <p:sldId id="293" r:id="rId36"/>
    <p:sldId id="295" r:id="rId37"/>
    <p:sldId id="296" r:id="rId38"/>
    <p:sldId id="297" r:id="rId39"/>
    <p:sldId id="298" r:id="rId40"/>
    <p:sldId id="301" r:id="rId41"/>
    <p:sldId id="300" r:id="rId42"/>
    <p:sldId id="302" r:id="rId43"/>
    <p:sldId id="303" r:id="rId44"/>
    <p:sldId id="304" r:id="rId45"/>
    <p:sldId id="305" r:id="rId46"/>
    <p:sldId id="306" r:id="rId47"/>
    <p:sldId id="307" r:id="rId48"/>
    <p:sldId id="309" r:id="rId49"/>
    <p:sldId id="308" r:id="rId50"/>
    <p:sldId id="311" r:id="rId51"/>
    <p:sldId id="312"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2B2B"/>
    <a:srgbClr val="373636"/>
    <a:srgbClr val="1F3D2C"/>
    <a:srgbClr val="1D1610"/>
    <a:srgbClr val="F7F6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1997" autoAdjust="0"/>
  </p:normalViewPr>
  <p:slideViewPr>
    <p:cSldViewPr snapToGrid="0" snapToObjects="1">
      <p:cViewPr varScale="1">
        <p:scale>
          <a:sx n="132" d="100"/>
          <a:sy n="132" d="100"/>
        </p:scale>
        <p:origin x="135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a:t>
            </a:r>
            <a:r>
              <a:rPr lang="en-US"/>
              <a:t>sponsor-thanks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Section 3 includes the ELM slide; give it a few seconds and move on.</a:t>
            </a:r>
          </a:p>
          <a:p>
            <a:endParaRPr/>
          </a:p>
          <a:p>
            <a:r>
              <a:t>This is not a GitHub sales pitch. It is a field guide to what transfers cleanly, what must be redesigned, and what should deliberately remain in Azure DevOps.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Name the real reason teams migrate before the polite reasons: most of the agentic Copilot work (cloud agent, agentic code review, agentic </a:t>
            </a:r>
            <a:r>
              <a:rPr dirty="0" err="1"/>
              <a:t>Autofix</a:t>
            </a:r>
            <a:r>
              <a:rPr dirty="0"/>
              <a:t>, Agent HQ) ships on GitHub first. Be fair to Microsoft: Azure DevOps is gaining AI features too, and Copilot in the IDE works wherever the repository is hosted. The point is not that Azure DevOps has nothing; it is that the frontier depends on where the repository lives.</a:t>
            </a:r>
          </a:p>
          <a:p>
            <a:endParaRPr dirty="0"/>
          </a:p>
          <a:p>
            <a:r>
              <a:rPr dirty="0"/>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endParaRPr dirty="0"/>
          </a:p>
          <a:p>
            <a:r>
              <a:rPr dirty="0"/>
              <a:t>Do not frame this as “GitHub has AI and Azure DevOps does not.” Frame it as a difference in native depth, integration, and repository dependency.</a:t>
            </a:r>
          </a:p>
          <a:p>
            <a:endParaRPr dirty="0"/>
          </a:p>
          <a:p>
            <a:r>
              <a:rPr dirty="0"/>
              <a:t>CUT FROM THE SLIDE, for Q&amp;A:</a:t>
            </a:r>
          </a:p>
          <a:p>
            <a:r>
              <a:rPr dirty="0"/>
              <a:t>- Repository-aware chat. GitHub: native workspace and repository context. Azure DevOps: local repo context, plus Azure DevOps service context through MCP.</a:t>
            </a:r>
          </a:p>
          <a:p>
            <a:r>
              <a:rPr dirty="0"/>
              <a:t>- Multi-agent orchestration. GitHub: a central hub running Copilot, Claude and Codex sessions in parallel. Azure DevOps: no native equivalent; external agents connect through MCP.</a:t>
            </a:r>
          </a:p>
          <a:p>
            <a:r>
              <a:rPr dirty="0"/>
              <a:t>- Azure DevOps MCP. The Remote MCP Server is GA and the server itself is free; normal Azure DevOps pricing and AI-platform usage charges may still apply. The next slide covers MCP.</a:t>
            </a:r>
          </a:p>
          <a:p>
            <a:r>
              <a:rPr dirty="0"/>
              <a:t>- Licensing. Paid Copilot for agents and review; GitHub Code Security where </a:t>
            </a:r>
            <a:r>
              <a:rPr dirty="0" err="1"/>
              <a:t>Autofix</a:t>
            </a:r>
            <a:r>
              <a:rPr dirty="0"/>
              <a:t> is needed.</a:t>
            </a:r>
          </a:p>
          <a:p>
            <a:endParaRPr dirty="0"/>
          </a:p>
          <a:p>
            <a:r>
              <a:rPr dirty="0"/>
              <a:t>The capability gap is real, but it is neither absolute nor static. As of September 21, 2026: Azure DevOps Remote MCP Server is generally available; Copilot Code Review for Azure Repos is in public preview; Copilot </a:t>
            </a:r>
            <a:r>
              <a:rPr dirty="0" err="1"/>
              <a:t>Autofix</a:t>
            </a:r>
            <a:r>
              <a:rPr dirty="0"/>
              <a:t> for Azure DevOps remains in limited public preview; and GitHub Copilot cloud agent still requires a GitHub-hosted repository even when initiated from Azure Boards.</a:t>
            </a:r>
          </a:p>
          <a:p>
            <a:endParaRPr dirty="0"/>
          </a:p>
          <a:p>
            <a:r>
              <a:rPr dirty="0"/>
              <a:t>Sources (accessed September 21, 2026): GitHub Docs — About GitHub Copilot cloud agent; Integrating Copilot cloud agent with Azure Boards; About agent management; About </a:t>
            </a:r>
            <a:r>
              <a:rPr dirty="0" err="1"/>
              <a:t>autofix</a:t>
            </a:r>
            <a:r>
              <a:rPr dirty="0"/>
              <a:t> for code scanning. Microsoft Learn — Azure DevOps Sprint 278 and Sprint 279 release notes; Azure DevOps MCP Server overview; Copilot code review for Azure Repos; Copilot </a:t>
            </a:r>
            <a:r>
              <a:rPr dirty="0" err="1"/>
              <a:t>Autofix</a:t>
            </a:r>
            <a:r>
              <a:rPr dirty="0"/>
              <a:t> for GitHub Advanced Security for Azure DevOps. GitHub Changelog — Copilot code review now runs on an agentic architecture (March 5, 2026).</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spoiler slide — the full seven-subsystem scorecard for the whole talk, not just section 2. Two travel clean (Repos, Wiki), four need a decision (Packages/Artifacts, Pipelines, Dashboards, Boards), one stays behind entirely (Test Plans).</a:t>
            </a:r>
          </a:p>
          <a:p>
            <a:endParaRPr dirty="0"/>
          </a:p>
          <a:p>
            <a:r>
              <a:rPr dirty="0"/>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dirty="0"/>
          </a:p>
          <a:p>
            <a:r>
              <a:rPr dirty="0"/>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Git is Git, so commit history is easy, and pull requests plus most branch policies migrate without much drama through GitHub Enterprise Importer.</a:t>
            </a:r>
          </a:p>
          <a:p>
            <a:endParaRPr/>
          </a:p>
          <a:p>
            <a:r>
              <a:t>The asterisk is what doesn’t:</a:t>
            </a:r>
          </a:p>
          <a:p>
            <a:r>
              <a:t>- Repo permissions get rebuilt as two GitHub teams per team project.</a:t>
            </a:r>
          </a:p>
          <a:p>
            <a:r>
              <a:t>- Git LFS objects are not migrated. GEI moves the repository; you push the LFS objects separately.</a:t>
            </a:r>
          </a:p>
          <a:p>
            <a:r>
              <a:t>- User-scoped and cross-repo branch policies need rebuilding by hand.</a:t>
            </a:r>
          </a:p>
          <a:p>
            <a:endParaRPr/>
          </a:p>
          <a:p>
            <a:r>
              <a:t>Verify target visibility during the trial migration. Migration scripts can preserve or explicitly set visibility, but enterprise policies and managed-user configurations may constrain the available choices.</a:t>
            </a:r>
          </a:p>
          <a:p>
            <a:endParaRPr/>
          </a:p>
          <a:p>
            <a:r>
              <a:t>If there’s time, mention the hard limits: during migration, 40 GiB per repository and 400 MiB per file; afterwards, GitHub’s normal 100 MiB per file, 2 GiB per commit and 2 GiB per push. Don’t recite them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 Azure DevOps-only markdown ([[_TOC_]], ::: mermaid blocks, #123 work-item links, @mentions) renders as plain text or breaks; attachments live in a .attachments folder that page links point into.</a:t>
            </a:r>
          </a:p>
          <a:p>
            <a:endParaRPr dirty="0"/>
          </a:p>
          <a:p>
            <a:r>
              <a:rPr dirty="0"/>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endParaRPr/>
          </a:p>
          <a:p>
            <a: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endParaRPr/>
          </a:p>
          <a:p>
            <a:r>
              <a:t>Be precise about that grant: it covers Basic only. Test Plans (which section 4 tells you to keep) is a separate Azure DevOps licence, and Copilot, Secret Protection and Code Security, Actions overages, larger runners and the migration work itself are all separate costs.</a:t>
            </a:r>
          </a:p>
          <a:p>
            <a:endParaRPr/>
          </a:p>
          <a:p>
            <a:r>
              <a:t>What holds the two halves together is the integration layer: work-item traceability, commit and pull-request links, pipeline integration, identity mapping, and cross-platform reporting.</a:t>
            </a:r>
          </a:p>
          <a:p>
            <a:endParaRPr/>
          </a:p>
          <a:p>
            <a:r>
              <a:t>Explicitly reframe: this is the shape the rest of the talk builds toward, not a fallback. Section 4 comes back to this exact point for Boards and Projects.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3.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take this one slowly — the rest of the section depends on the distinction.</a:t>
            </a:r>
          </a:p>
          <a:p>
            <a:endParaRPr/>
          </a:p>
          <a:p>
            <a:r>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a:p>
          <a:p>
            <a:r>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endParaRPr dirty="0"/>
          </a:p>
          <a:p>
            <a:r>
              <a:rPr dirty="0"/>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endParaRPr dirty="0"/>
          </a:p>
          <a:p>
            <a:r>
              <a:rPr dirty="0"/>
              <a:t>OPTIONAL LAUGH LINE — stop on the Service Connection row: “Two words on the left, </a:t>
            </a:r>
            <a:r>
              <a:rPr lang="en-US" dirty="0"/>
              <a:t>two</a:t>
            </a:r>
            <a:r>
              <a:rPr dirty="0"/>
              <a:t> on the right, and about three weeks in between.” This is the row the whole room has personally lost a sprint 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Spend twenty seconds getting the naming right, because the docs don't and everyone who goes looking afterwards hits the same confusion.</a:t>
            </a:r>
          </a:p>
          <a:p>
            <a:endParaRPr dirty="0"/>
          </a:p>
          <a:p>
            <a:r>
              <a:rPr dirty="0"/>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Briefly mention it, but don’t spend much time on it. </a:t>
            </a:r>
          </a:p>
          <a:p>
            <a:endParaRPr dirty="0"/>
          </a:p>
          <a:p>
            <a:r>
              <a:rPr dirty="0"/>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endParaRPr dirty="0"/>
          </a:p>
          <a:p>
            <a:r>
              <a:rPr dirty="0"/>
              <a:t>It is also research-only for us: Hunter's current tenant does not meet the data-residency prerequisite, so we have not run it.</a:t>
            </a:r>
          </a:p>
          <a:p>
            <a:endParaRPr dirty="0"/>
          </a:p>
          <a:p>
            <a:r>
              <a:rPr dirty="0"/>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endParaRPr dirty="0"/>
          </a:p>
          <a:p>
            <a:r>
              <a:rPr dirty="0"/>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endParaRPr dirty="0"/>
          </a:p>
          <a:p>
            <a:r>
              <a:rPr dirty="0"/>
              <a:t>GitHub Enterprise Cloud (GHEC) with Data Residency is a distinct deployment model where:</a:t>
            </a:r>
          </a:p>
          <a:p>
            <a:r>
              <a:rPr dirty="0"/>
              <a:t> - Your enterprise is hosted on a dedicated ghe.com subdomain (instead of github.com&lt;org&gt;).</a:t>
            </a:r>
          </a:p>
          <a:p>
            <a:r>
              <a:rPr dirty="0"/>
              <a:t> - You choose the geographic region where your code and repository data are stored (currently including U.S., EU, Australia, and Japan).</a:t>
            </a:r>
          </a:p>
          <a:p>
            <a:r>
              <a:rPr dirty="0"/>
              <a:t> - The environment is isolated from the broader github.com ecosystem.</a:t>
            </a:r>
          </a:p>
          <a:p>
            <a:r>
              <a:rPr dirty="0"/>
              <a:t> - It requires Enterprise Managed Users (EMU). </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a:p>
          <a:p>
            <a:r>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automation-plane tool. The audit breakdown is the planning artifact: it turns “this looks hard” into a backlog with counts.</a:t>
            </a:r>
          </a:p>
          <a:p>
            <a:endParaRPr dirty="0"/>
          </a:p>
          <a:p>
            <a:r>
              <a:rPr dirty="0"/>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dirty="0"/>
          </a:p>
          <a:p>
            <a:r>
              <a:rPr dirty="0"/>
              <a:t>Conversion still leaves secrets, service connections, runner and network strategy, environments, approvals, custom tasks, and unsupported triggers for engineering judgment and validation.</a:t>
            </a:r>
            <a:endParaRPr lang="en-US" dirty="0"/>
          </a:p>
          <a:p>
            <a:endParaRPr lang="en-US" dirty="0"/>
          </a:p>
          <a:p>
            <a:pPr lvl="0"/>
            <a:r>
              <a:rPr lang="en-US" dirty="0"/>
              <a:t>Supported platforms:</a:t>
            </a:r>
            <a:br>
              <a:rPr lang="en-US" dirty="0"/>
            </a:br>
            <a:r>
              <a:rPr lang="en-US" sz="1200" b="0" i="0" kern="1200" dirty="0">
                <a:solidFill>
                  <a:schemeClr val="tx1"/>
                </a:solidFill>
                <a:effectLst/>
                <a:latin typeface="+mn-lt"/>
                <a:ea typeface="+mn-ea"/>
                <a:cs typeface="+mn-cs"/>
              </a:rPr>
              <a:t>Azure DevOps</a:t>
            </a:r>
          </a:p>
          <a:p>
            <a:pPr lvl="0"/>
            <a:r>
              <a:rPr lang="en-US" sz="1200" b="0" i="0" kern="1200" dirty="0">
                <a:solidFill>
                  <a:schemeClr val="tx1"/>
                </a:solidFill>
                <a:effectLst/>
                <a:latin typeface="+mn-lt"/>
                <a:ea typeface="+mn-ea"/>
                <a:cs typeface="+mn-cs"/>
              </a:rPr>
              <a:t>Bamboo</a:t>
            </a:r>
          </a:p>
          <a:p>
            <a:pPr lvl="0"/>
            <a:r>
              <a:rPr lang="en-US" sz="1200" b="0" i="0" kern="1200" dirty="0">
                <a:solidFill>
                  <a:schemeClr val="tx1"/>
                </a:solidFill>
                <a:effectLst/>
                <a:latin typeface="+mn-lt"/>
                <a:ea typeface="+mn-ea"/>
                <a:cs typeface="+mn-cs"/>
              </a:rPr>
              <a:t>Bitbucket Pipelines</a:t>
            </a:r>
          </a:p>
          <a:p>
            <a:pPr lvl="0"/>
            <a:r>
              <a:rPr lang="en-US" sz="1200" b="0" i="0" kern="1200" dirty="0" err="1">
                <a:solidFill>
                  <a:schemeClr val="tx1"/>
                </a:solidFill>
                <a:effectLst/>
                <a:latin typeface="+mn-lt"/>
                <a:ea typeface="+mn-ea"/>
                <a:cs typeface="+mn-cs"/>
              </a:rPr>
              <a:t>CircleCI</a:t>
            </a:r>
            <a:endParaRPr lang="en-US" sz="1200" b="0" i="0" kern="1200" dirty="0">
              <a:solidFill>
                <a:schemeClr val="tx1"/>
              </a:solidFill>
              <a:effectLst/>
              <a:latin typeface="+mn-lt"/>
              <a:ea typeface="+mn-ea"/>
              <a:cs typeface="+mn-cs"/>
            </a:endParaRPr>
          </a:p>
          <a:p>
            <a:pPr lvl="0"/>
            <a:r>
              <a:rPr lang="en-US" sz="1200" b="0" i="0" kern="1200" dirty="0">
                <a:solidFill>
                  <a:schemeClr val="tx1"/>
                </a:solidFill>
                <a:effectLst/>
                <a:latin typeface="+mn-lt"/>
                <a:ea typeface="+mn-ea"/>
                <a:cs typeface="+mn-cs"/>
              </a:rPr>
              <a:t>GitLab (both cloud and self-hosted)</a:t>
            </a:r>
          </a:p>
          <a:p>
            <a:pPr lvl="0"/>
            <a:r>
              <a:rPr lang="en-US" sz="1200" b="0" i="0" kern="1200" dirty="0">
                <a:solidFill>
                  <a:schemeClr val="tx1"/>
                </a:solidFill>
                <a:effectLst/>
                <a:latin typeface="+mn-lt"/>
                <a:ea typeface="+mn-ea"/>
                <a:cs typeface="+mn-cs"/>
              </a:rPr>
              <a:t>Jenkins</a:t>
            </a:r>
          </a:p>
          <a:p>
            <a:pPr lvl="0"/>
            <a:r>
              <a:rPr lang="en-US" sz="1200" b="0" i="0" kern="1200" dirty="0">
                <a:solidFill>
                  <a:schemeClr val="tx1"/>
                </a:solidFill>
                <a:effectLst/>
                <a:latin typeface="+mn-lt"/>
                <a:ea typeface="+mn-ea"/>
                <a:cs typeface="+mn-cs"/>
              </a:rPr>
              <a:t>Travis CI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Frame this before comparing feature by feature — Azure Boards and GitHub Projects are not two competitors in one category, they are two different models.</a:t>
            </a:r>
          </a:p>
          <a:p>
            <a:endParaRPr dirty="0"/>
          </a:p>
          <a:p>
            <a:r>
              <a:rPr dirty="0"/>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endParaRPr dirty="0"/>
          </a:p>
          <a:p>
            <a:r>
              <a:rPr dirty="0"/>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endParaRPr dirty="0"/>
          </a:p>
          <a:p>
            <a:r>
              <a:rPr dirty="0"/>
              <a:t>The next slide takes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Take each tool on its own terms before comparing what a migration loses.</a:t>
            </a:r>
          </a:p>
          <a:p>
            <a:endParaRPr/>
          </a:p>
          <a:p>
            <a: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endParaRPr/>
          </a:p>
          <a:p>
            <a: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endParaRPr/>
          </a:p>
          <a:p>
            <a:r>
              <a:t>The contrast is process template versus fields and views, not enterprise versus toy. If asked about limits: a project holds up to 50 fields, counting the built-in ones.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endParaRPr/>
          </a:p>
          <a:p>
            <a: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endParaRPr/>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a:t>
            </a:r>
          </a:p>
          <a:p>
            <a:endParaRPr lang="en-US" dirty="0"/>
          </a:p>
          <a:p>
            <a:r>
              <a:rPr lang="en-US" dirty="0"/>
              <a:t>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endParaRPr/>
          </a:p>
          <a:p>
            <a:r>
              <a:t>Say the recommendation plainly: don’t migrate to GitHub Issues unless your planning needs are genuinely simple. For most teams past a handful of people, the hierarchy, capacity planning and reporting Azure Boards already gives you are worth keeping.</a:t>
            </a:r>
          </a:p>
          <a:p>
            <a:endParaRPr/>
          </a:p>
          <a:p>
            <a: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5.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walking the steps: “In most organizations the real selection process is that somebody senior used it at their last job.” OPTIONAL LAUGH LINE, and it is precisely failure mode one from the previous slide.</a:t>
            </a:r>
          </a:p>
          <a:p>
            <a:endParaRPr/>
          </a:p>
          <a:p>
            <a: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endParaRPr/>
          </a:p>
          <a:p>
            <a: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endParaRPr/>
          </a:p>
          <a:p>
            <a:r>
              <a:t>The bottom bar is the part most business cases skip: price the migration and the steady state as two separate numbers, and count the months when both platforms are billing at once. Dual-running is where the estimate usually goes wrong.</a:t>
            </a:r>
          </a:p>
          <a:p>
            <a:endParaRPr/>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counterweight to section 1. AI is the honest reason most teams are migrating — this slide is where you pay that argument down so it reads as analysis rather than a pitch. Frame the four as a to-do list, not as reasons to doubt the move.</a:t>
            </a:r>
          </a:p>
          <a:p>
            <a:endParaRPr/>
          </a:p>
          <a:p>
            <a:r>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endParaRPr/>
          </a:p>
          <a:p>
            <a:r>
              <a:t>   WORTH SAYING FOR A REGULATED ROOM: that captured context is stored in the pull request and is visible to anyone with access to the repository. A work item that was private in Azure DevOps becomes readable in GitHub the moment an agent picks it up. Most people have not thought about that, and for anyone with compliance obligations it is the most useful thirty seconds on the slide.</a:t>
            </a:r>
          </a:p>
          <a:p>
            <a:endParaRPr/>
          </a:p>
          <a:p>
            <a:r>
              <a:t>2. CONVENTIONS. Three supported files: .github/copilot-instructions.md repository-wide, path-specific NAME.instructions.md under .github/instructions (cloud agent and code review only), and AGENTS.md anywhere in the tree, nearest one winning. Without them the agent infers house style from whatever it can see, which on a large legacy repo is whatever is oldest.</a:t>
            </a:r>
          </a:p>
          <a:p>
            <a:endParaRPr/>
          </a:p>
          <a:p>
            <a:r>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endParaRPr/>
          </a:p>
          <a:p>
            <a:r>
              <a:t>4. LICENSING. Moving the repository turns nothing on. The cloud agent needs a paid Copilot plan, it must be enabled on each connected repository, and an organization owner has to install the Azure Boards GitHub app before anyone can use the integration.</a:t>
            </a:r>
          </a:p>
          <a:p>
            <a:endParaRPr/>
          </a:p>
          <a:p>
            <a:r>
              <a:t>OPTIONAL LAUGH LINE — after “The work item is the prompt”: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Then the documentary callback: the Senior Engineer from the opener card isn't wrong to be cautious about change, they're just defending the old pipeline with the wrong argument ('it's always worked') instead of the right one ('here's what the audit says'). Land this warmly, not as a dunk — the point is to hear the objection out and then hand them the Actions Importer audit from section 3. The bucket their pipeline landed in is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6, the final section.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registers on this one slide. STRAIGHT for the top two cards — this is real mechanical risk, say it plainly.</a:t>
            </a:r>
          </a:p>
          <a:p>
            <a:endParaRPr/>
          </a:p>
          <a:p>
            <a: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endParaRPr/>
          </a:p>
          <a:p>
            <a:r>
              <a:t>Be precise about what sits on a mannequin: pull-request data only — authorship, comments and reviews. Work items don’t migrate at all, so there is no work-item history to reclaim.</a:t>
            </a:r>
          </a:p>
          <a:p>
            <a:endParaRPr/>
          </a:p>
          <a:p>
            <a: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let it land quieter than anything around it. This is the deck's thesis in one sentence, and it now sits where it earns the most: the recap just handed them six things to remember, and this is the one thing to feel.</a:t>
            </a:r>
          </a:p>
          <a:p>
            <a:endParaRPr/>
          </a:p>
          <a:p>
            <a:r>
              <a:t>The slide is built as a statement, not a section card — light ground, no motif, sentence centred, nothing on it competing with the line. Deliver the first sentence flat, then pause before the last clause. “And got fixed by people in the room” is the payoff and it is set in the accent colour for exactly that reason: land it on the people, not the checklist.</a:t>
            </a:r>
          </a:p>
          <a:p>
            <a:endParaRPr/>
          </a:p>
          <a:p>
            <a:r>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spoken live, slower than anything else in the deck.</a:t>
            </a:r>
          </a:p>
          <a:p>
            <a:endParaRPr/>
          </a:p>
          <a:p>
            <a:r>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a:p>
          <a:p>
            <a:r>
              <a:t>That last line is the callback to section 6's title, so it should land as a click rather than a punchline. Let the silence sit for two full seconds before advancing — do not rush into the thank-you slide, and do not add another joke on top of it.</a:t>
            </a:r>
          </a:p>
          <a:p>
            <a:endParaRPr/>
          </a:p>
          <a:p>
            <a:r>
              <a:t>Note the division of labour with the Unglamorous Truth slide two back: that one is the sincere version in your own voice, this one is the funny version in the documentary voice. Sincerity first, laugh last.</a:t>
            </a:r>
          </a:p>
          <a:p>
            <a:endParaRPr/>
          </a:p>
          <a:p>
            <a:r>
              <a:t>---- ALTERNATE CLOSER, if this one doesn't fit on the night ----</a:t>
            </a:r>
          </a:p>
          <a:p>
            <a:endParaRPr/>
          </a:p>
          <a:p>
            <a:r>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warm. This is the handoff into the open Q&amp;A, roughly 14 minutes — there has been no interim pocket since section 5, so the room has been banking questions. Invite them explicitly rather than just stopping talking.</a:t>
            </a:r>
          </a:p>
          <a:p>
            <a:endParaRPr/>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endParaRPr/>
          </a:p>
          <a:p>
            <a:r>
              <a:t>If a question needs more than the time you have, point at the code: the long answer is almost certainly already in the repo.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FCB2E6C-B1C0-81B8-1A95-7A3B7452C911}"/>
              </a:ext>
            </a:extLst>
          </p:cNvPr>
          <p:cNvSpPr>
            <a:spLocks noGrp="1"/>
          </p:cNvSpPr>
          <p:nvPr>
            <p:ph type="sldNum" sz="quarter" idx="10"/>
          </p:nvPr>
        </p:nvSpPr>
        <p:spPr/>
        <p:txBody>
          <a:bodyPr/>
          <a:lstStyle/>
          <a:p>
            <a:fld id="{BCB632DE-6AD4-40F1-944C-28C0E9BF62DC}" type="slidenum">
              <a:rPr lang="en-US" smtClean="0"/>
              <a:t>‹#›</a:t>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B22153-3E74-9A77-9771-8EE0002F3ED0}"/>
              </a:ext>
            </a:extLst>
          </p:cNvPr>
          <p:cNvSpPr>
            <a:spLocks noGrp="1"/>
          </p:cNvSpPr>
          <p:nvPr>
            <p:ph type="sldNum" sz="quarter" idx="4"/>
          </p:nvPr>
        </p:nvSpPr>
        <p:spPr>
          <a:xfrm>
            <a:off x="11612880" y="6492240"/>
            <a:ext cx="411480" cy="256032"/>
          </a:xfrm>
          <a:prstGeom prst="rect">
            <a:avLst/>
          </a:prstGeom>
        </p:spPr>
        <p:txBody>
          <a:bodyPr vert="horz" wrap="none" lIns="0" tIns="0" rIns="0" bIns="0" anchor="ctr"/>
          <a:lstStyle>
            <a:lvl1pPr algn="r">
              <a:defRPr sz="1000" b="0">
                <a:solidFill>
                  <a:srgbClr val="6B6B63"/>
                </a:solidFill>
                <a:latin typeface="Calibri"/>
              </a:defRPr>
            </a:lvl1pPr>
          </a:lstStyle>
          <a:p>
            <a:fld id="{BCB632DE-6AD4-40F1-944C-28C0E9BF62DC}"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8.png"/><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305"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E0B85C"/>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E0B85C"/>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
        <p:nvSpPr>
          <p:cNvPr id="9" name="Slide Number Placeholder"/>
          <p:cNvSpPr>
            <a:spLocks noGrp="1"/>
          </p:cNvSpPr>
          <p:nvPr>
            <p:ph type="sldNum" sz="quarter" idx="10"/>
          </p:nvPr>
        </p:nvSpPr>
        <p:spPr/>
        <p:txBody>
          <a:bodyPr/>
          <a:lstStyle/>
          <a:p>
            <a:fld id="{BCB632DE-6AD4-40F1-944C-28C0E9BF62DC}" type="slidenum">
              <a:rPr lang="en-US">
                <a:solidFill>
                  <a:srgbClr val="E0B85C"/>
                </a:solidFill>
              </a:rPr>
              <a:t>1</a:t>
            </a:fld>
            <a:endParaRPr lang="en-US">
              <a:solidFill>
                <a:srgbClr val="E0B85C"/>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5" name="Slide Number Placeholder"/>
          <p:cNvSpPr>
            <a:spLocks noGrp="1"/>
          </p:cNvSpPr>
          <p:nvPr>
            <p:ph type="sldNum" sz="quarter" idx="10"/>
          </p:nvPr>
        </p:nvSpPr>
        <p:spPr/>
        <p:txBody>
          <a:bodyPr/>
          <a:lstStyle/>
          <a:p>
            <a:fld id="{BCB632DE-6AD4-40F1-944C-28C0E9BF62DC}" type="slidenum">
              <a:rPr lang="en-US"/>
              <a:t>2</a:t>
            </a:fld>
            <a:endParaRPr lang="en-US"/>
          </a:p>
        </p:txBody>
      </p:sp>
      <p:pic>
        <p:nvPicPr>
          <p:cNvPr id="7" name="Picture 6">
            <a:extLst>
              <a:ext uri="{FF2B5EF4-FFF2-40B4-BE49-F238E27FC236}">
                <a16:creationId xmlns:a16="http://schemas.microsoft.com/office/drawing/2014/main" id="{62312F7A-D149-7F69-75D6-2B4AA23FC0C3}"/>
              </a:ext>
            </a:extLst>
          </p:cNvPr>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7068312"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Crossing the River — </a:t>
            </a:r>
            <a:r>
              <a:rPr lang="en-US" sz="16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Watch as the Scrum Master Approaches Carefully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Senior Engineer Defends an Ancient Pipeline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754112" y="1554480"/>
            <a:ext cx="3858768"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8010144" y="1737360"/>
            <a:ext cx="338328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8010144" y="2331720"/>
            <a:ext cx="338328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comparing GitHub with every competing platform.</a:t>
            </a: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
        <p:nvSpPr>
          <p:cNvPr id="22" name="Slide Number Placeholder"/>
          <p:cNvSpPr>
            <a:spLocks noGrp="1"/>
          </p:cNvSpPr>
          <p:nvPr>
            <p:ph type="sldNum" sz="quarter" idx="10"/>
          </p:nvPr>
        </p:nvSpPr>
        <p:spPr/>
        <p:txBody>
          <a:bodyPr/>
          <a:lstStyle/>
          <a:p>
            <a:fld id="{BCB632DE-6AD4-40F1-944C-28C0E9BF62DC}" type="slidenum">
              <a:rPr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a:t>
            </a:fld>
            <a:endParaRPr lang="en-US">
              <a:solidFill>
                <a:srgbClr val="E0B85C"/>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2331720"/>
          <a:ext cx="11064240" cy="310896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92">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621792">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621792">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2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
        <p:nvSpPr>
          <p:cNvPr id="13" name="Lead"/>
          <p:cNvSpPr txBox="1"/>
          <p:nvPr/>
        </p:nvSpPr>
        <p:spPr>
          <a:xfrm>
            <a:off x="548640" y="1444752"/>
            <a:ext cx="11064240" cy="731520"/>
          </a:xfrm>
          <a:prstGeom prst="rect">
            <a:avLst/>
          </a:prstGeom>
          <a:noFill/>
        </p:spPr>
        <p:txBody>
          <a:bodyPr wrap="square" lIns="0" tIns="0" rIns="0" bIns="0">
            <a:spAutoFit/>
          </a:bodyPr>
          <a:lstStyle/>
          <a:p>
            <a:r>
              <a:rPr sz="1800" b="1">
                <a:solidFill>
                  <a:srgbClr val="2B2B2B"/>
                </a:solidFill>
                <a:latin typeface="Calibri"/>
              </a:rPr>
              <a:t>Most agentic Copilot features ship on GitHub first. </a:t>
            </a:r>
            <a:r>
              <a:rPr sz="1800" b="0">
                <a:solidFill>
                  <a:srgbClr val="2B2B2B"/>
                </a:solidFill>
                <a:latin typeface="Calibri"/>
              </a:rPr>
              <a:t>Azure DevOps keeps gaining AI features, but where the repository lives still decides which workflows run natively.</a:t>
            </a:r>
          </a:p>
        </p:txBody>
      </p:sp>
      <p:sp>
        <p:nvSpPr>
          <p:cNvPr id="14" name="Slide Number Placeholder"/>
          <p:cNvSpPr>
            <a:spLocks noGrp="1"/>
          </p:cNvSpPr>
          <p:nvPr>
            <p:ph type="sldNum" sz="quarter" idx="10"/>
          </p:nvPr>
        </p:nvSpPr>
        <p:spPr/>
        <p:txBody>
          <a:bodyPr/>
          <a:lstStyle/>
          <a:p>
            <a:fld id="{BCB632DE-6AD4-40F1-944C-28C0E9BF62DC}"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platform decision did not disappear. It merely acquired more adapters.</a:t>
            </a:r>
          </a:p>
        </p:txBody>
      </p:sp>
      <p:sp>
        <p:nvSpPr>
          <p:cNvPr id="34" name="Slide Number Placeholder"/>
          <p:cNvSpPr>
            <a:spLocks noGrp="1"/>
          </p:cNvSpPr>
          <p:nvPr>
            <p:ph type="sldNum" sz="quarter" idx="10"/>
          </p:nvPr>
        </p:nvSpPr>
        <p:spPr/>
        <p:txBody>
          <a:bodyPr/>
          <a:lstStyle/>
          <a:p>
            <a:fld id="{BCB632DE-6AD4-40F1-944C-28C0E9BF62DC}"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run a workflow in a local container: fast feedback on syntax and job order, not a stand-in for CI.</a:t>
            </a:r>
            <a:endParaRPr lang="en-US" sz="1400" dirty="0"/>
          </a:p>
        </p:txBody>
      </p:sp>
      <p:sp>
        <p:nvSpPr>
          <p:cNvPr id="31" name="Slide Number Placeholder"/>
          <p:cNvSpPr>
            <a:spLocks noGrp="1"/>
          </p:cNvSpPr>
          <p:nvPr>
            <p:ph type="sldNum" sz="quarter" idx="10"/>
          </p:nvPr>
        </p:nvSpPr>
        <p:spPr/>
        <p:txBody>
          <a:bodyPr/>
          <a:lstStyle/>
          <a:p>
            <a:fld id="{BCB632DE-6AD4-40F1-944C-28C0E9BF62DC}"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8</a:t>
            </a:fld>
            <a:endParaRPr lang="en-US">
              <a:solidFill>
                <a:srgbClr val="E0B85C"/>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15" name="Slide Number Placeholder"/>
          <p:cNvSpPr>
            <a:spLocks noGrp="1"/>
          </p:cNvSpPr>
          <p:nvPr>
            <p:ph type="sldNum" sz="quarter" idx="10"/>
          </p:nvPr>
        </p:nvSpPr>
        <p:spPr/>
        <p:txBody>
          <a:bodyPr/>
          <a:lstStyle/>
          <a:p>
            <a:fld id="{BCB632DE-6AD4-40F1-944C-28C0E9BF62DC}"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don’t migrate — push them separately</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a:t>
            </a:r>
            <a:endParaRPr lang="en-US" sz="1600" dirty="0"/>
          </a:p>
        </p:txBody>
      </p:sp>
      <p:sp>
        <p:nvSpPr>
          <p:cNvPr id="13" name="Shape 13"/>
          <p:cNvSpPr/>
          <p:nvPr/>
        </p:nvSpPr>
        <p:spPr>
          <a:xfrm>
            <a:off x="548640" y="585216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4" name="Text 14"/>
          <p:cNvSpPr txBox="1"/>
          <p:nvPr/>
        </p:nvSpPr>
        <p:spPr>
          <a:xfrm>
            <a:off x="548640" y="585216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word “repo” survives the migration. The project-level boundary it used to sit inside — shared config, ownership, access — doesn’t come with it.</a:t>
            </a:r>
          </a:p>
        </p:txBody>
      </p:sp>
      <p:sp>
        <p:nvSpPr>
          <p:cNvPr id="12" name="Slide Number Placeholder"/>
          <p:cNvSpPr>
            <a:spLocks noGrp="1"/>
          </p:cNvSpPr>
          <p:nvPr>
            <p:ph type="sldNum" sz="quarter" idx="10"/>
          </p:nvPr>
        </p:nvSpPr>
        <p:spPr/>
        <p:txBody>
          <a:bodyPr/>
          <a:lstStyle/>
          <a:p>
            <a:fld id="{BCB632DE-6AD4-40F1-944C-28C0E9BF62DC}"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The Pages Travel, the Structure Doesn’t</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wikis are Git repos under the hood, so the pages copy with a clone and a push. </a:t>
            </a:r>
          </a:p>
          <a:p>
            <a:pPr marL="0" indent="0">
              <a:lnSpc>
                <a:spcPct val="130000"/>
              </a:lnSpc>
              <a:buNone/>
            </a:pPr>
            <a:endParaRPr lang="en-US" sz="2000" b="1" dirty="0">
              <a:solidFill>
                <a:srgbClr val="2B2B2B"/>
              </a:solidFill>
              <a:latin typeface="Calibri" pitchFamily="34" charset="0"/>
              <a:ea typeface="Calibri" pitchFamily="34" charset="-122"/>
              <a:cs typeface="Calibri" pitchFamily="34" charset="-120"/>
            </a:endParaRPr>
          </a:p>
          <a:p>
            <a:pPr marL="0" indent="0">
              <a:lnSpc>
                <a:spcPct val="130000"/>
              </a:lnSpc>
              <a:buNone/>
            </a:pPr>
            <a:r>
              <a:rPr lang="en-US" sz="2000" b="1" dirty="0">
                <a:solidFill>
                  <a:srgbClr val="2B2B2B"/>
                </a:solidFill>
                <a:latin typeface="Calibri" pitchFamily="34" charset="0"/>
                <a:ea typeface="Calibri" pitchFamily="34" charset="-122"/>
                <a:cs typeface="Calibri" pitchFamily="34" charset="-120"/>
              </a:rPr>
              <a:t>What doesn’t copy cleanly: </a:t>
            </a:r>
            <a:r>
              <a:rPr lang="en-US" sz="2000" dirty="0">
                <a:solidFill>
                  <a:srgbClr val="2B2B2B"/>
                </a:solidFill>
                <a:latin typeface="Calibri" pitchFamily="34" charset="0"/>
                <a:ea typeface="Calibri" pitchFamily="34" charset="-122"/>
                <a:cs typeface="Calibri" pitchFamily="34" charset="-120"/>
              </a:rPr>
              <a:t>page order and nesting (Azure DevOps’ .order files and folders; GitHub’s wiki page list is flat), and Azure DevOps-only markdown such as [[_TOC_]], ::: mermaid blocks and #123 work-item links.</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The pages copy in minutes. The structure and the Azure DevOps-only markdown are the real work.</a:t>
            </a:r>
          </a:p>
        </p:txBody>
      </p:sp>
      <p:sp>
        <p:nvSpPr>
          <p:cNvPr id="11" name="Slide Number Placeholder"/>
          <p:cNvSpPr>
            <a:spLocks noGrp="1"/>
          </p:cNvSpPr>
          <p:nvPr>
            <p:ph type="sldNum" sz="quarter" idx="10"/>
          </p:nvPr>
        </p:nvSpPr>
        <p:spPr/>
        <p:txBody>
          <a:bodyPr/>
          <a:lstStyle/>
          <a:p>
            <a:fld id="{BCB632DE-6AD4-40F1-944C-28C0E9BF62DC}"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if your feeds fit: no PyPI, Universal Packages or upstream sources.</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
        <p:nvSpPr>
          <p:cNvPr id="23" name="Slide Number Placeholder"/>
          <p:cNvSpPr>
            <a:spLocks noGrp="1"/>
          </p:cNvSpPr>
          <p:nvPr>
            <p:ph type="sldNum" sz="quarter" idx="10"/>
          </p:nvPr>
        </p:nvSpPr>
        <p:spPr/>
        <p:txBody>
          <a:bodyPr/>
          <a:lstStyle/>
          <a:p>
            <a:fld id="{BCB632DE-6AD4-40F1-944C-28C0E9BF62D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E0B85C"/>
                </a:solidFill>
                <a:latin typeface="Calibri"/>
              </a:rPr>
              <a:t>TAKEAWAY </a:t>
            </a:r>
            <a:r>
              <a:rPr sz="1500" b="0">
                <a:solidFill>
                  <a:srgbClr val="F5F5F0"/>
                </a:solidFill>
                <a:latin typeface="Calibri"/>
              </a:rPr>
              <a:t>Neither platform hands you DORA. Agree on the four metrics first, then instrument them yourselves. That baseline outlives the migration.</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
        <p:nvSpPr>
          <p:cNvPr id="13" name="Slide Number Placeholder"/>
          <p:cNvSpPr>
            <a:spLocks noGrp="1"/>
          </p:cNvSpPr>
          <p:nvPr>
            <p:ph type="sldNum" sz="quarter" idx="10"/>
          </p:nvPr>
        </p:nvSpPr>
        <p:spPr/>
        <p:txBody>
          <a:bodyPr/>
          <a:lstStyle/>
          <a:p>
            <a:fld id="{BCB632DE-6AD4-40F1-944C-28C0E9BF62DC}" type="slidenum">
              <a:rPr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71800"/>
            <a:ext cx="4709160" cy="1874519"/>
          </a:xfrm>
          <a:prstGeom prst="rect">
            <a:avLst/>
          </a:prstGeom>
          <a:noFill/>
        </p:spPr>
        <p:txBody>
          <a:bodyPr wrap="square" lIns="0" tIns="0" rIns="0" bIns="0" anchor="t">
            <a:spAutoFit/>
          </a:bodyPr>
          <a:lstStyle/>
          <a:p>
            <a:pPr algn="l">
              <a:lnSpc>
                <a:spcPts val="2100"/>
              </a:lnSpc>
              <a:spcAft>
                <a:spcPts val="700"/>
              </a:spcAft>
            </a:pPr>
            <a:r>
              <a:rPr lang="en-US" sz="1600">
                <a:solidFill>
                  <a:srgbClr val="2B2B2B"/>
                </a:solidFill>
                <a:latin typeface="Calibri"/>
              </a:rPr>
              <a:t>•  GitHub repositories</a:t>
            </a:r>
          </a:p>
          <a:p>
            <a:pPr algn="l">
              <a:lnSpc>
                <a:spcPts val="2100"/>
              </a:lnSpc>
              <a:spcAft>
                <a:spcPts val="700"/>
              </a:spcAft>
            </a:pPr>
            <a:r>
              <a:rPr lang="en-US" sz="1600">
                <a:solidFill>
                  <a:srgbClr val="2B2B2B"/>
                </a:solidFill>
                <a:latin typeface="Calibri"/>
              </a:rPr>
              <a:t>•  Pull requests and code review</a:t>
            </a:r>
          </a:p>
          <a:p>
            <a:pPr algn="l">
              <a:lnSpc>
                <a:spcPts val="2100"/>
              </a:lnSpc>
              <a:spcAft>
                <a:spcPts val="700"/>
              </a:spcAft>
            </a:pPr>
            <a:r>
              <a:rPr lang="en-US" sz="1600">
                <a:solidFill>
                  <a:srgbClr val="2B2B2B"/>
                </a:solidFill>
                <a:latin typeface="Calibri"/>
              </a:rPr>
              <a:t>•  Repository-native Copilot capabilities</a:t>
            </a:r>
          </a:p>
          <a:p>
            <a:pPr algn="l">
              <a:lnSpc>
                <a:spcPts val="2100"/>
              </a:lnSpc>
              <a:spcAft>
                <a:spcPts val="700"/>
              </a:spcAft>
            </a:pPr>
            <a:r>
              <a:rPr lang="en-US" sz="1600">
                <a:solidFill>
                  <a:srgbClr val="2B2B2B"/>
                </a:solidFill>
                <a:latin typeface="Calibri"/>
              </a:rPr>
              <a:t>•  GitHub Actions, where appropriate</a:t>
            </a:r>
          </a:p>
          <a:p>
            <a:pPr algn="l">
              <a:lnSpc>
                <a:spcPts val="2100"/>
              </a:lnSpc>
              <a:spcAft>
                <a:spcPts val="700"/>
              </a:spcAft>
            </a:pPr>
            <a:r>
              <a:rPr lang="en-US" sz="160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71800"/>
            <a:ext cx="4709160" cy="1874519"/>
          </a:xfrm>
          <a:prstGeom prst="rect">
            <a:avLst/>
          </a:prstGeom>
          <a:noFill/>
        </p:spPr>
        <p:txBody>
          <a:bodyPr wrap="square" lIns="0" tIns="0" rIns="0" bIns="0" anchor="t">
            <a:spAutoFit/>
          </a:bodyPr>
          <a:lstStyle/>
          <a:p>
            <a:pPr algn="l">
              <a:lnSpc>
                <a:spcPts val="2100"/>
              </a:lnSpc>
              <a:spcAft>
                <a:spcPts val="700"/>
              </a:spcAft>
            </a:pPr>
            <a:r>
              <a:rPr sz="1600">
                <a:solidFill>
                  <a:srgbClr val="2B2B2B"/>
                </a:solidFill>
                <a:latin typeface="Calibri"/>
              </a:rPr>
              <a:t>•  Azure Boards—formal planning and reporting</a:t>
            </a:r>
          </a:p>
          <a:p>
            <a:pPr algn="l">
              <a:lnSpc>
                <a:spcPts val="2100"/>
              </a:lnSpc>
              <a:spcAft>
                <a:spcPts val="700"/>
              </a:spcAft>
            </a:pPr>
            <a:r>
              <a:rPr sz="1600">
                <a:solidFill>
                  <a:srgbClr val="2B2B2B"/>
                </a:solidFill>
                <a:latin typeface="Calibri"/>
              </a:rPr>
              <a:t>•  Azure Test Plans—structured manual testing</a:t>
            </a:r>
          </a:p>
          <a:p>
            <a:pPr algn="l">
              <a:lnSpc>
                <a:spcPts val="2100"/>
              </a:lnSpc>
              <a:spcAft>
                <a:spcPts val="700"/>
              </a:spcAft>
            </a:pPr>
            <a:r>
              <a:rPr sz="1600">
                <a:solidFill>
                  <a:srgbClr val="2B2B2B"/>
                </a:solidFill>
                <a:latin typeface="Calibri"/>
              </a:rPr>
              <a:t>•  Azure Pipelines—retained temporarily or deliberately</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349240"/>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Hybrid is not a temporary failure to finish the migration. It can be the intended architecture.</a:t>
            </a:r>
          </a:p>
        </p:txBody>
      </p:sp>
      <p:sp>
        <p:nvSpPr>
          <p:cNvPr id="35" name="Slide Number Placeholder"/>
          <p:cNvSpPr>
            <a:spLocks noGrp="1"/>
          </p:cNvSpPr>
          <p:nvPr>
            <p:ph type="sldNum" sz="quarter" idx="10"/>
          </p:nvPr>
        </p:nvSpPr>
        <p:spPr/>
        <p:txBody>
          <a:bodyPr/>
          <a:lstStyle/>
          <a:p>
            <a:fld id="{BCB632DE-6AD4-40F1-944C-28C0E9BF62DC}" type="slidenum">
              <a:rPr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16</a:t>
            </a:fld>
            <a:endParaRPr lang="en-US">
              <a:solidFill>
                <a:srgbClr val="E0B85C"/>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E0B85C"/>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17</a:t>
            </a:fld>
            <a:endParaRPr lang="en-US">
              <a:solidFill>
                <a:srgbClr val="E0B85C"/>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994837"/>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2150284"/>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2177716"/>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3348149"/>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50359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493959"/>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701461"/>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856909"/>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884341"/>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6" name="Slide Number Placeholder"/>
          <p:cNvSpPr>
            <a:spLocks noGrp="1"/>
          </p:cNvSpPr>
          <p:nvPr>
            <p:ph type="sldNum" sz="quarter" idx="10"/>
          </p:nvPr>
        </p:nvSpPr>
        <p:spPr/>
        <p:txBody>
          <a:bodyPr/>
          <a:lstStyle/>
          <a:p>
            <a:fld id="{BCB632DE-6AD4-40F1-944C-28C0E9BF62DC}" type="slidenum">
              <a:rPr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3373412851"/>
              </p:ext>
            </p:extLst>
          </p:nvPr>
        </p:nvGraphicFramePr>
        <p:xfrm>
          <a:off x="548640" y="1508760"/>
          <a:ext cx="11091672" cy="4160520"/>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OFFICIAL TOOLING</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56869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568696"/>
            <a:ext cx="11064240" cy="73152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The methods are complementary. None is a substitute for evidence in the validation plane.</a:t>
            </a:r>
          </a:p>
        </p:txBody>
      </p:sp>
      <p:sp>
        <p:nvSpPr>
          <p:cNvPr id="9" name="Slide Number Placeholder"/>
          <p:cNvSpPr>
            <a:spLocks noGrp="1"/>
          </p:cNvSpPr>
          <p:nvPr>
            <p:ph type="sldNum" sz="quarter" idx="10"/>
          </p:nvPr>
        </p:nvSpPr>
        <p:spPr/>
        <p:txBody>
          <a:bodyPr/>
          <a:lstStyle/>
          <a:p>
            <a:fld id="{BCB632DE-6AD4-40F1-944C-28C0E9BF62DC}"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559492123"/>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Agents / Agent Pools</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Runners / Runner Groups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Translation is a design exercise: preserve the original security and lifecycle intent, then validate conditions, needs, shell and error handling, approvals, runners and environment behavior.</a:t>
            </a:r>
            <a:endParaRPr lang="en-US" sz="1350" dirty="0"/>
          </a:p>
        </p:txBody>
      </p:sp>
      <p:sp>
        <p:nvSpPr>
          <p:cNvPr id="25" name="Slide Number Placeholder"/>
          <p:cNvSpPr>
            <a:spLocks noGrp="1"/>
          </p:cNvSpPr>
          <p:nvPr>
            <p:ph type="sldNum" sz="quarter" idx="10"/>
          </p:nvPr>
        </p:nvSpPr>
        <p:spPr/>
        <p:txBody>
          <a:bodyPr/>
          <a:lstStyle/>
          <a:p>
            <a:fld id="{BCB632DE-6AD4-40F1-944C-28C0E9BF62DC}"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rPr>
              <a:t>GitHub Enterprise Importer (GEI) is a set of GitHub CLI extensions (including </a:t>
            </a:r>
            <a:r>
              <a:rPr lang="en-US" sz="1450" dirty="0">
                <a:solidFill>
                  <a:srgbClr val="2B2B2B"/>
                </a:solidFill>
                <a:latin typeface="Cascadia Code" panose="020B0609020000020004" pitchFamily="49" charset="0"/>
                <a:cs typeface="Cascadia Code" panose="020B0609020000020004" pitchFamily="49" charset="0"/>
              </a:rPr>
              <a:t>ado2gh</a:t>
            </a:r>
            <a:r>
              <a:rPr lang="en-US" sz="1450" dirty="0">
                <a:solidFill>
                  <a:srgbClr val="2B2B2B"/>
                </a:solidFill>
              </a:rPr>
              <a:t>)</a:t>
            </a:r>
            <a:endParaRPr lang="en-US" sz="1450" dirty="0">
              <a:solidFill>
                <a:srgbClr val="2B2B2B"/>
              </a:solidFill>
              <a:ea typeface="Cascadia Mono" panose="020B0609020000020004" pitchFamily="49" charset="0"/>
              <a:cs typeface="Cascadia Mono" panose="020B0609020000020004" pitchFamily="49" charset="0"/>
            </a:endParaRP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spcBef>
                <a:spcPts val="800"/>
              </a:spcBef>
              <a:buFont typeface="Arial" panose="020B0604020202020204" pitchFamily="34" charset="0"/>
              <a:buChar char="•"/>
            </a:pPr>
            <a:r>
              <a:rPr sz="1450" dirty="0">
                <a:solidFill>
                  <a:srgbClr val="F5F5F0"/>
                </a:solidFill>
                <a:latin typeface="Calibri"/>
              </a:rPr>
              <a:t>Pipeline-logic conversion belongs to </a:t>
            </a:r>
            <a:r>
              <a:rPr lang="en-US" sz="1450" dirty="0">
                <a:solidFill>
                  <a:srgbClr val="F5F5F0"/>
                </a:solidFill>
                <a:latin typeface="Calibri"/>
              </a:rPr>
              <a:t>elsewhere (</a:t>
            </a:r>
            <a:r>
              <a:rPr sz="1450" dirty="0">
                <a:solidFill>
                  <a:srgbClr val="F5F5F0"/>
                </a:solidFill>
                <a:latin typeface="Calibri"/>
              </a:rPr>
              <a:t>Actions Importer</a:t>
            </a:r>
            <a:r>
              <a:rPr lang="en-US" sz="1450" dirty="0">
                <a:solidFill>
                  <a:srgbClr val="F5F5F0"/>
                </a:solidFill>
                <a:latin typeface="Calibri"/>
              </a:rPr>
              <a:t>)</a:t>
            </a:r>
            <a:endParaRPr sz="1450" dirty="0">
              <a:solidFill>
                <a:srgbClr val="F5F5F0"/>
              </a:solidFill>
              <a:latin typeface="Calibri"/>
            </a:endParaRPr>
          </a:p>
          <a:p>
            <a:pPr marL="285750" indent="-285750">
              <a:spcBef>
                <a:spcPts val="800"/>
              </a:spcBef>
              <a:buFont typeface="Arial" panose="020B0604020202020204" pitchFamily="34" charset="0"/>
              <a:buChar char="•"/>
            </a:pPr>
            <a:r>
              <a:rPr sz="1450" dirty="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6" name="Slide Number Placeholder"/>
          <p:cNvSpPr>
            <a:spLocks noGrp="1"/>
          </p:cNvSpPr>
          <p:nvPr>
            <p:ph type="sldNum" sz="quarter" idx="10"/>
          </p:nvPr>
        </p:nvSpPr>
        <p:spPr/>
        <p:txBody>
          <a:bodyPr/>
          <a:lstStyle/>
          <a:p>
            <a:fld id="{BCB632DE-6AD4-40F1-944C-28C0E9BF62DC}" type="slidenum">
              <a:rPr lang="en-US"/>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63880" y="5628132"/>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a:solidFill>
                  <a:srgbClr val="F5F5F0"/>
                </a:solidFill>
                <a:latin typeface="Calibri"/>
              </a:rPr>
              <a:t>ELM changes the synchronization and cutover experience — not the boundaries of what must be migrated and validated.</a:t>
            </a:r>
          </a:p>
        </p:txBody>
      </p:sp>
      <p:sp>
        <p:nvSpPr>
          <p:cNvPr id="19" name="Slide Number Placeholder"/>
          <p:cNvSpPr>
            <a:spLocks noGrp="1"/>
          </p:cNvSpPr>
          <p:nvPr>
            <p:ph type="sldNum" sz="quarter" idx="10"/>
          </p:nvPr>
        </p:nvSpPr>
        <p:spPr/>
        <p:txBody>
          <a:bodyPr/>
          <a:lstStyle/>
          <a:p>
            <a:fld id="{BCB632DE-6AD4-40F1-944C-28C0E9BF62DC}" type="slidenum">
              <a:rPr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Decide Before the First Migration</a:t>
            </a:r>
            <a:endParaRPr lang="en-US" sz="3200" dirty="0"/>
          </a:p>
        </p:txBody>
      </p:sp>
      <p:sp>
        <p:nvSpPr>
          <p:cNvPr id="6" name="Shape 3"/>
          <p:cNvSpPr/>
          <p:nvPr/>
        </p:nvSpPr>
        <p:spPr>
          <a:xfrm>
            <a:off x="548640" y="4556259"/>
            <a:ext cx="11064240" cy="1358289"/>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4674899"/>
            <a:ext cx="10332720" cy="1124101"/>
          </a:xfrm>
          <a:prstGeom prst="rect">
            <a:avLst/>
          </a:prstGeom>
          <a:noFill/>
          <a:ln/>
        </p:spPr>
        <p:txBody>
          <a:bodyPr wrap="square" lIns="0" tIns="0" rIns="0" bIns="0" rtlCol="0" anchor="ctr"/>
          <a:lstStyle/>
          <a:p>
            <a:pPr marL="0" indent="0">
              <a:lnSpc>
                <a:spcPct val="130000"/>
              </a:lnSpc>
              <a:buNone/>
            </a:pPr>
            <a:r>
              <a:rPr lang="en-US" sz="1850" b="0" dirty="0">
                <a:solidFill>
                  <a:srgbClr val="2B2B2B"/>
                </a:solidFill>
                <a:latin typeface="Calibri"/>
              </a:rPr>
              <a:t>Install the Azure Pipelines App in your GitHub Org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1549966"/>
            <a:ext cx="11064240" cy="2638449"/>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1775672"/>
            <a:ext cx="10515600" cy="2257295"/>
          </a:xfrm>
          <a:prstGeom prst="rect">
            <a:avLst/>
          </a:prstGeom>
          <a:noFill/>
          <a:ln/>
        </p:spPr>
        <p:txBody>
          <a:bodyPr wrap="square" lIns="0" tIns="0" rIns="0" bIns="0" rtlCol="0" anchor="ctr"/>
          <a:lstStyle/>
          <a:p>
            <a:pPr marL="0" indent="0">
              <a:lnSpc>
                <a:spcPct val="115000"/>
              </a:lnSpc>
              <a:buNone/>
            </a:pPr>
            <a:r>
              <a:rPr lang="en-US" sz="1600" b="0" dirty="0">
                <a:solidFill>
                  <a:srgbClr val="F5F5F0"/>
                </a:solidFill>
                <a:latin typeface="Calibri"/>
              </a:rPr>
              <a:t>Before the first run: </a:t>
            </a:r>
          </a:p>
          <a:p>
            <a:pPr marL="285750" indent="-285750">
              <a:lnSpc>
                <a:spcPct val="115000"/>
              </a:lnSpc>
              <a:buFont typeface="Arial" panose="020B0604020202020204" pitchFamily="34" charset="0"/>
              <a:buChar char="•"/>
            </a:pPr>
            <a:r>
              <a:rPr lang="en-US" sz="1600" b="0" dirty="0">
                <a:solidFill>
                  <a:srgbClr val="F5F5F0"/>
                </a:solidFill>
                <a:latin typeface="Calibri"/>
              </a:rPr>
              <a:t>target enterprise and organization model  </a:t>
            </a:r>
          </a:p>
          <a:p>
            <a:pPr marL="285750" indent="-285750">
              <a:lnSpc>
                <a:spcPct val="115000"/>
              </a:lnSpc>
              <a:buFont typeface="Arial" panose="020B0604020202020204" pitchFamily="34" charset="0"/>
              <a:buChar char="•"/>
            </a:pPr>
            <a:r>
              <a:rPr lang="en-US" sz="1600" b="0" dirty="0">
                <a:solidFill>
                  <a:srgbClr val="F5F5F0"/>
                </a:solidFill>
                <a:latin typeface="Calibri"/>
              </a:rPr>
              <a:t>authentication and identity mapping  </a:t>
            </a:r>
          </a:p>
          <a:p>
            <a:pPr marL="285750" indent="-285750">
              <a:lnSpc>
                <a:spcPct val="115000"/>
              </a:lnSpc>
              <a:buFont typeface="Arial" panose="020B0604020202020204" pitchFamily="34" charset="0"/>
              <a:buChar char="•"/>
            </a:pPr>
            <a:r>
              <a:rPr lang="en-US" sz="1600" b="0" dirty="0">
                <a:solidFill>
                  <a:srgbClr val="F5F5F0"/>
                </a:solidFill>
                <a:latin typeface="Calibri"/>
              </a:rPr>
              <a:t>team and visibility policy  </a:t>
            </a:r>
          </a:p>
          <a:p>
            <a:pPr marL="285750" indent="-285750">
              <a:lnSpc>
                <a:spcPct val="115000"/>
              </a:lnSpc>
              <a:buFont typeface="Arial" panose="020B0604020202020204" pitchFamily="34" charset="0"/>
              <a:buChar char="•"/>
            </a:pPr>
            <a:r>
              <a:rPr lang="en-US" sz="1600" b="0" dirty="0">
                <a:solidFill>
                  <a:srgbClr val="F5F5F0"/>
                </a:solidFill>
                <a:latin typeface="Calibri"/>
              </a:rPr>
              <a:t>Boards/Pipelines integration  </a:t>
            </a:r>
          </a:p>
          <a:p>
            <a:pPr marL="285750" indent="-285750">
              <a:lnSpc>
                <a:spcPct val="115000"/>
              </a:lnSpc>
              <a:buFont typeface="Arial" panose="020B0604020202020204" pitchFamily="34" charset="0"/>
              <a:buChar char="•"/>
            </a:pPr>
            <a:r>
              <a:rPr lang="en-US" sz="1600" b="0" dirty="0">
                <a:solidFill>
                  <a:srgbClr val="F5F5F0"/>
                </a:solidFill>
                <a:latin typeface="Calibri"/>
              </a:rPr>
              <a:t>freeze or change-reconciliation approach  </a:t>
            </a:r>
          </a:p>
          <a:p>
            <a:pPr marL="285750" indent="-285750">
              <a:lnSpc>
                <a:spcPct val="115000"/>
              </a:lnSpc>
              <a:buFont typeface="Arial" panose="020B0604020202020204" pitchFamily="34" charset="0"/>
              <a:buChar char="•"/>
            </a:pPr>
            <a:r>
              <a:rPr lang="en-US" sz="1600" b="0" dirty="0">
                <a:solidFill>
                  <a:srgbClr val="F5F5F0"/>
                </a:solidFill>
                <a:latin typeface="Calibri"/>
              </a:rPr>
              <a:t>owner for migration failures</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GitHub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00000"/>
              </a:lnSpc>
              <a:spcAft>
                <a:spcPts val="800"/>
              </a:spcAft>
              <a:buSzPct val="100000"/>
              <a:buFont typeface="Arial" panose="020B0604020202020204" pitchFamily="34" charset="0"/>
              <a:buChar char="•"/>
            </a:pPr>
            <a:r>
              <a:rPr lang="en-US" sz="1450" dirty="0">
                <a:solidFill>
                  <a:srgbClr val="2B2B2B"/>
                </a:solidFill>
                <a:cs typeface="Cascadia Code" panose="020B0609020000020004" pitchFamily="49" charset="0"/>
              </a:rPr>
              <a:t>GitHub CLI extension to migrate CI/CD pipelines</a:t>
            </a: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audit</a:t>
            </a:r>
            <a:r>
              <a:rPr lang="en-US" sz="1450" dirty="0">
                <a:solidFill>
                  <a:srgbClr val="2B2B2B"/>
                </a:solidFill>
                <a:latin typeface="Calibri"/>
              </a:rPr>
              <a: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dry-run</a:t>
            </a:r>
            <a:r>
              <a:rPr lang="en-US" sz="1450" dirty="0">
                <a:solidFill>
                  <a:srgbClr val="2B2B2B"/>
                </a:solidFill>
                <a:latin typeface="Calibri"/>
              </a:rPr>
              <a:t>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libri"/>
              </a:rPr>
              <a:t>The conversion handles supported constructs</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a:solidFill>
                  <a:srgbClr val="C1440E"/>
                </a:solidFill>
                <a:latin typeface="Calibri"/>
              </a:rPr>
              <a:t>DO THIS </a:t>
            </a:r>
            <a:r>
              <a:rPr sz="1500" b="0">
                <a:solidFill>
                  <a:srgbClr val="2B2B2B"/>
                </a:solidFill>
                <a:latin typeface="Calibri"/>
              </a:rPr>
              <a:t>Use the audit output to build the migration backlog and recalibrate the planning estimate with evidence.</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ctions-importer.png"/>
          <p:cNvPicPr>
            <a:picLocks noChangeAspect="1"/>
          </p:cNvPicPr>
          <p:nvPr/>
        </p:nvPicPr>
        <p:blipFill>
          <a:blip r:embed="rId4"/>
          <a:stretch>
            <a:fillRect/>
          </a:stretch>
        </p:blipFill>
        <p:spPr>
          <a:xfrm>
            <a:off x="10424160" y="5413248"/>
            <a:ext cx="777240" cy="777240"/>
          </a:xfrm>
          <a:prstGeom prst="rect">
            <a:avLst/>
          </a:prstGeom>
        </p:spPr>
      </p:pic>
      <p:sp>
        <p:nvSpPr>
          <p:cNvPr id="16" name="Slide Number Placeholder"/>
          <p:cNvSpPr>
            <a:spLocks noGrp="1"/>
          </p:cNvSpPr>
          <p:nvPr>
            <p:ph type="sldNum" sz="quarter" idx="10"/>
          </p:nvPr>
        </p:nvSpPr>
        <p:spPr/>
        <p:txBody>
          <a:bodyPr/>
          <a:lstStyle/>
          <a:p>
            <a:fld id="{BCB632DE-6AD4-40F1-944C-28C0E9BF62DC}"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250" b="1" spc="120">
                <a:solidFill>
                  <a:srgbClr val="E0B85C"/>
                </a:solidFill>
                <a:latin typeface="Calibri"/>
              </a:rPr>
              <a:t>TAKEAWAY </a:t>
            </a:r>
            <a:r>
              <a:rPr sz="1500">
                <a:solidFill>
                  <a:srgbClr val="F5F5F0"/>
                </a:solidFill>
                <a:latin typeface="Calibri"/>
              </a:rPr>
              <a:t>The workflow converted successfully. It merely has no credentials, no network route, and nowhere to deploy.</a:t>
            </a:r>
          </a:p>
        </p:txBody>
      </p:sp>
      <p:sp>
        <p:nvSpPr>
          <p:cNvPr id="14" name="Slide Number Placeholder"/>
          <p:cNvSpPr>
            <a:spLocks noGrp="1"/>
          </p:cNvSpPr>
          <p:nvPr>
            <p:ph type="sldNum" sz="quarter" idx="10"/>
          </p:nvPr>
        </p:nvSpPr>
        <p:spPr/>
        <p:txBody>
          <a:bodyPr/>
          <a:lstStyle/>
          <a:p>
            <a:fld id="{BCB632DE-6AD4-40F1-944C-28C0E9BF62D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11094720" cy="1417320"/>
          </a:xfrm>
          <a:prstGeom prst="rect">
            <a:avLst/>
          </a:prstGeom>
          <a:noFill/>
          <a:ln/>
        </p:spPr>
        <p:txBody>
          <a:bodyPr wrap="square" lIns="256032" tIns="54864" rIns="256032" bIns="54864" rtlCol="0" anchor="ctr"/>
          <a:lstStyle/>
          <a:p>
            <a:pPr marL="0" indent="0" algn="l">
              <a:lnSpc>
                <a:spcPct val="110000"/>
              </a:lnSpc>
              <a:buNone/>
            </a:pPr>
            <a:r>
              <a:rPr sz="1250" b="1" spc="120" dirty="0">
                <a:solidFill>
                  <a:srgbClr val="C1440E"/>
                </a:solidFill>
                <a:latin typeface="Calibri"/>
              </a:rPr>
              <a:t>DO THIS </a:t>
            </a:r>
            <a:r>
              <a:rPr sz="1500" b="0" dirty="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lide Number Placeholder"/>
          <p:cNvSpPr>
            <a:spLocks noGrp="1"/>
          </p:cNvSpPr>
          <p:nvPr>
            <p:ph type="sldNum" sz="quarter" idx="10"/>
          </p:nvPr>
        </p:nvSpPr>
        <p:spPr/>
        <p:txBody>
          <a:bodyPr/>
          <a:lstStyle/>
          <a:p>
            <a:fld id="{BCB632DE-6AD4-40F1-944C-28C0E9BF62D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Finish line: first verified delivery — equivalent artifact + controlled deployment + traceability + rollback.</a:t>
            </a:r>
          </a:p>
        </p:txBody>
      </p:sp>
      <p:sp>
        <p:nvSpPr>
          <p:cNvPr id="30" name="Slide Number Placeholder"/>
          <p:cNvSpPr>
            <a:spLocks noGrp="1"/>
          </p:cNvSpPr>
          <p:nvPr>
            <p:ph type="sldNum" sz="quarter" idx="10"/>
          </p:nvPr>
        </p:nvSpPr>
        <p:spPr/>
        <p:txBody>
          <a:bodyPr/>
          <a:lstStyle/>
          <a:p>
            <a:fld id="{BCB632DE-6AD4-40F1-944C-28C0E9BF62DC}"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oundRect">
            <a:avLst>
              <a:gd name="adj" fmla="val 314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dirty="0">
                <a:solidFill>
                  <a:srgbClr val="2B2B2B"/>
                </a:solidFill>
                <a:latin typeface="Calibri"/>
              </a:rPr>
              <a:t>•  Branches, tags, and sampled commits reconciled</a:t>
            </a:r>
          </a:p>
          <a:p>
            <a:pPr>
              <a:spcAft>
                <a:spcPts val="500"/>
              </a:spcAft>
            </a:pPr>
            <a:r>
              <a:rPr lang="en-US" sz="1400" dirty="0">
                <a:solidFill>
                  <a:srgbClr val="2B2B2B"/>
                </a:solidFill>
                <a:latin typeface="Calibri"/>
              </a:rPr>
              <a:t>•  PR history and attachments sampled</a:t>
            </a:r>
          </a:p>
          <a:p>
            <a:pPr>
              <a:spcAft>
                <a:spcPts val="500"/>
              </a:spcAft>
            </a:pPr>
            <a:r>
              <a:rPr lang="en-US" sz="1400" dirty="0">
                <a:solidFill>
                  <a:srgbClr val="2B2B2B"/>
                </a:solidFill>
                <a:latin typeface="Calibri"/>
              </a:rPr>
              <a:t>•  Identity, teams, permissions, and visibility verified</a:t>
            </a:r>
          </a:p>
          <a:p>
            <a:pPr>
              <a:spcAft>
                <a:spcPts val="500"/>
              </a:spcAft>
            </a:pPr>
            <a:r>
              <a:rPr lang="en-US" sz="1400" dirty="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1540422"/>
          </a:xfrm>
          <a:prstGeom prst="rect">
            <a:avLst/>
          </a:prstGeom>
          <a:noFill/>
        </p:spPr>
        <p:txBody>
          <a:bodyPr wrap="square" lIns="36576" tIns="27432" rIns="36576" bIns="27432">
            <a:spAutoFit/>
          </a:bodyPr>
          <a:lstStyle/>
          <a:p>
            <a:pPr>
              <a:spcAft>
                <a:spcPts val="500"/>
              </a:spcAft>
            </a:pPr>
            <a:r>
              <a:rPr sz="1400">
                <a:latin typeface="Calibri"/>
              </a:rPr>
              <a:t>•  Equivalent build artifact produced</a:t>
            </a:r>
          </a:p>
          <a:p>
            <a:pPr>
              <a:spcAft>
                <a:spcPts val="500"/>
              </a:spcAft>
            </a:pPr>
            <a:r>
              <a:rPr sz="1400">
                <a:latin typeface="Calibri"/>
              </a:rPr>
              <a:t>•  Secrets, OIDC, and permissions reviewed</a:t>
            </a:r>
          </a:p>
          <a:p>
            <a:pPr>
              <a:spcAft>
                <a:spcPts val="500"/>
              </a:spcAft>
            </a:pPr>
            <a:r>
              <a:rPr sz="1400">
                <a:latin typeface="Calibri"/>
              </a:rPr>
              <a:t>•  Runner and network path proven</a:t>
            </a:r>
          </a:p>
          <a:p>
            <a:pPr>
              <a:spcAft>
                <a:spcPts val="500"/>
              </a:spcAft>
            </a:pPr>
            <a:r>
              <a:rPr sz="1400">
                <a:latin typeface="Calibri"/>
              </a:rPr>
              <a:t>•  Environments, approvals, and deployment exercised</a:t>
            </a:r>
          </a:p>
        </p:txBody>
      </p:sp>
      <p:sp>
        <p:nvSpPr>
          <p:cNvPr id="12" name="Rectangle 11"/>
          <p:cNvSpPr/>
          <p:nvPr/>
        </p:nvSpPr>
        <p:spPr>
          <a:xfrm>
            <a:off x="8010144"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Definition of done: verified delivery, traceability, operational ownership, and reversibility.</a:t>
            </a:r>
          </a:p>
        </p:txBody>
      </p:sp>
      <p:sp>
        <p:nvSpPr>
          <p:cNvPr id="17" name="Slide Number Placeholder"/>
          <p:cNvSpPr>
            <a:spLocks noGrp="1"/>
          </p:cNvSpPr>
          <p:nvPr>
            <p:ph type="sldNum" sz="quarter" idx="10"/>
          </p:nvPr>
        </p:nvSpPr>
        <p:spPr/>
        <p:txBody>
          <a:bodyPr/>
          <a:lstStyle/>
          <a:p>
            <a:fld id="{BCB632DE-6AD4-40F1-944C-28C0E9BF62DC}"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3 — Crossing the River</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29</a:t>
            </a:fld>
            <a:endParaRPr lang="en-US">
              <a:solidFill>
                <a:srgbClr val="E0B85C"/>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30</a:t>
            </a:fld>
            <a:endParaRPr lang="en-US">
              <a:solidFill>
                <a:srgbClr val="E0B85C"/>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Boards and Projects Are Two Different Models</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work-tracking system built around a process template. GitHub Projects is a planning layer built around custom fields and views.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
        <p:nvSpPr>
          <p:cNvPr id="14" name="Slide Number Placeholder"/>
          <p:cNvSpPr>
            <a:spLocks noGrp="1"/>
          </p:cNvSpPr>
          <p:nvPr>
            <p:ph type="sldNum" sz="quarter" idx="10"/>
          </p:nvPr>
        </p:nvSpPr>
        <p:spPr/>
        <p:txBody>
          <a:bodyPr/>
          <a:lstStyle/>
          <a:p>
            <a:fld id="{BCB632DE-6AD4-40F1-944C-28C0E9BF62D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Each Tool on Its Own Terms</a:t>
            </a:r>
            <a:endParaRPr lang="en-US" sz="3200" dirty="0"/>
          </a:p>
        </p:txBody>
      </p:sp>
      <p:sp>
        <p:nvSpPr>
          <p:cNvPr id="6" name="Shape 3"/>
          <p:cNvSpPr/>
          <p:nvPr/>
        </p:nvSpPr>
        <p:spPr>
          <a:xfrm>
            <a:off x="54864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3 right"/>
          <p:cNvSpPr/>
          <p:nvPr/>
        </p:nvSpPr>
        <p:spPr>
          <a:xfrm>
            <a:off x="617220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55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ORGANIZES BY </a:t>
            </a:r>
            <a:r>
              <a:rPr sz="1500" b="0">
                <a:solidFill>
                  <a:srgbClr val="F5F5F0"/>
                </a:solidFill>
                <a:latin typeface="Calibri"/>
              </a:rPr>
              <a:t>Boards: Project → Team → Area Path.   Projects: custom fields and iterations, org-wide across repositories.</a:t>
            </a:r>
            <a:endParaRPr lang="en-US" sz="1600" dirty="0"/>
          </a:p>
        </p:txBody>
      </p:sp>
      <p:sp>
        <p:nvSpPr>
          <p:cNvPr id="11" name="Header left"/>
          <p:cNvSpPr txBox="1"/>
          <p:nvPr/>
        </p:nvSpPr>
        <p:spPr>
          <a:xfrm>
            <a:off x="86868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Azure Boards</a:t>
            </a:r>
            <a:endParaRPr lang="en-US" sz="2000" dirty="0"/>
          </a:p>
        </p:txBody>
      </p:sp>
      <p:sp>
        <p:nvSpPr>
          <p:cNvPr id="12" name="Header right"/>
          <p:cNvSpPr txBox="1"/>
          <p:nvPr/>
        </p:nvSpPr>
        <p:spPr>
          <a:xfrm>
            <a:off x="649224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4 right"/>
          <p:cNvSpPr txBox="1"/>
          <p:nvPr/>
        </p:nvSpPr>
        <p:spPr>
          <a:xfrm>
            <a:off x="649224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Custom fields instead of a fixed process: iteration, single-select, date, number</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Lives next to the issues and PRs it tracks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Fast daily triage, with no context switch to a separate system</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Sub-issues, issue types and dependencies (all GA); roadmap layout; built-in or Actions automation</a:t>
            </a:r>
            <a:endParaRPr lang="en-US" sz="1900" dirty="0"/>
          </a:p>
        </p:txBody>
      </p:sp>
      <p:sp>
        <p:nvSpPr>
          <p:cNvPr id="14" name="Slide Number Placeholder"/>
          <p:cNvSpPr>
            <a:spLocks noGrp="1"/>
          </p:cNvSpPr>
          <p:nvPr>
            <p:ph type="sldNum" sz="quarter" idx="10"/>
          </p:nvPr>
        </p:nvSpPr>
        <p:spPr/>
        <p:txBody>
          <a:bodyPr/>
          <a:lstStyle/>
          <a:p>
            <a:fld id="{BCB632DE-6AD4-40F1-944C-28C0E9BF62DC}"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Sprint history and capacity data</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Custom process fields and work-item rules</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process template itself: no Agile/Scrum/CMMI equivalent, no built-in capacity or burndown</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Project → Team → Area Path structure (parent–child links can map to sub-issues)</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There’s no first-party tool that moves Azure Boards work items into GitHub Issues, and the data models don’t line up. Budget real manual mapping: this is a project, not a script you run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E0B85C"/>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Sometimes “it doesn’t move, and that’s fine” is the honest answer.</a:t>
            </a:r>
            <a:endParaRPr lang="en-US" sz="1900" dirty="0"/>
          </a:p>
        </p:txBody>
      </p:sp>
      <p:sp>
        <p:nvSpPr>
          <p:cNvPr id="13" name="Slide Number Placeholder"/>
          <p:cNvSpPr>
            <a:spLocks noGrp="1"/>
          </p:cNvSpPr>
          <p:nvPr>
            <p:ph type="sldNum" sz="quarter" idx="10"/>
          </p:nvPr>
        </p:nvSpPr>
        <p:spPr/>
        <p:txBody>
          <a:bodyPr/>
          <a:lstStyle/>
          <a:p>
            <a:fld id="{BCB632DE-6AD4-40F1-944C-28C0E9BF62D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Boards to GitHub; migrate work items only if planning is simple.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Not “Azure Boards forever”: just don’t default to GitHub Issues because the code moved. Where you plan work is a separate decision from where the code lives.</a:t>
            </a:r>
            <a:endParaRPr lang="en-US" sz="1800" dirty="0"/>
          </a:p>
        </p:txBody>
      </p:sp>
      <p:sp>
        <p:nvSpPr>
          <p:cNvPr id="15" name="Slide Number Placeholder"/>
          <p:cNvSpPr>
            <a:spLocks noGrp="1"/>
          </p:cNvSpPr>
          <p:nvPr>
            <p:ph type="sldNum" sz="quarter" idx="10"/>
          </p:nvPr>
        </p:nvSpPr>
        <p:spPr/>
        <p:txBody>
          <a:bodyPr/>
          <a:lstStyle/>
          <a:p>
            <a:fld id="{BCB632DE-6AD4-40F1-944C-28C0E9BF62DC}"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4 — Watch as the Scrum Master Approaches Carefully</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36</a:t>
            </a:fld>
            <a:endParaRPr lang="en-US">
              <a:solidFill>
                <a:srgbClr val="E0B85C"/>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37</a:t>
            </a:fld>
            <a:endParaRPr lang="en-US">
              <a:solidFill>
                <a:srgbClr val="E0B85C"/>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Most migrations that fail don’t fail in the converter.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 starting with the people.</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
        <p:nvSpPr>
          <p:cNvPr id="14" name="Slide Number Placeholder"/>
          <p:cNvSpPr>
            <a:spLocks noGrp="1"/>
          </p:cNvSpPr>
          <p:nvPr>
            <p:ph type="sldNum" sz="quarter" idx="10"/>
          </p:nvPr>
        </p:nvSpPr>
        <p:spPr/>
        <p:txBody>
          <a:bodyPr/>
          <a:lstStyle/>
          <a:p>
            <a:fld id="{BCB632DE-6AD4-40F1-944C-28C0E9BF62DC}"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Choose With Evidence, Then Pilot on Defaults</a:t>
            </a:r>
            <a:endParaRPr lang="en-US" sz="3200" dirty="0"/>
          </a:p>
        </p:txBody>
      </p:sp>
      <p:sp>
        <p:nvSpPr>
          <p:cNvPr id="6" name="Shape 3"/>
          <p:cNvSpPr/>
          <p:nvPr/>
        </p:nvSpPr>
        <p:spPr>
          <a:xfrm>
            <a:off x="548640" y="1554480"/>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618488"/>
            <a:ext cx="585216" cy="585216"/>
          </a:xfrm>
          <a:prstGeom prst="ellipse">
            <a:avLst/>
          </a:prstGeom>
          <a:solidFill>
            <a:srgbClr val="C1440E"/>
          </a:solidFill>
          <a:ln/>
        </p:spPr>
        <p:txBody>
          <a:bodyPr/>
          <a:lstStyle/>
          <a:p>
            <a:endParaRPr lang="en-US"/>
          </a:p>
        </p:txBody>
      </p:sp>
      <p:sp>
        <p:nvSpPr>
          <p:cNvPr id="8" name="Text 5"/>
          <p:cNvSpPr txBox="1"/>
          <p:nvPr/>
        </p:nvSpPr>
        <p:spPr>
          <a:xfrm>
            <a:off x="777240" y="161848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59105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59105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each option has to do, not what would be nice.</a:t>
            </a:r>
            <a:endParaRPr lang="en-US" sz="1350" dirty="0"/>
          </a:p>
        </p:txBody>
      </p:sp>
      <p:sp>
        <p:nvSpPr>
          <p:cNvPr id="11" name="Shape 8"/>
          <p:cNvSpPr/>
          <p:nvPr/>
        </p:nvSpPr>
        <p:spPr>
          <a:xfrm>
            <a:off x="548640" y="2359152"/>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423160"/>
            <a:ext cx="585216" cy="585216"/>
          </a:xfrm>
          <a:prstGeom prst="ellipse">
            <a:avLst/>
          </a:prstGeom>
          <a:solidFill>
            <a:srgbClr val="C1440E"/>
          </a:solidFill>
          <a:ln/>
        </p:spPr>
        <p:txBody>
          <a:bodyPr/>
          <a:lstStyle/>
          <a:p>
            <a:endParaRPr lang="en-US"/>
          </a:p>
        </p:txBody>
      </p:sp>
      <p:sp>
        <p:nvSpPr>
          <p:cNvPr id="13" name="Text 10"/>
          <p:cNvSpPr txBox="1"/>
          <p:nvPr/>
        </p:nvSpPr>
        <p:spPr>
          <a:xfrm>
            <a:off x="777240" y="242316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39572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39572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163824"/>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227832"/>
            <a:ext cx="585216" cy="585216"/>
          </a:xfrm>
          <a:prstGeom prst="ellipse">
            <a:avLst/>
          </a:prstGeom>
          <a:solidFill>
            <a:srgbClr val="C1440E"/>
          </a:solidFill>
          <a:ln/>
        </p:spPr>
        <p:txBody>
          <a:bodyPr/>
          <a:lstStyle/>
          <a:p>
            <a:endParaRPr lang="en-US"/>
          </a:p>
        </p:txBody>
      </p:sp>
      <p:sp>
        <p:nvSpPr>
          <p:cNvPr id="18" name="Text 15"/>
          <p:cNvSpPr txBox="1"/>
          <p:nvPr/>
        </p:nvSpPr>
        <p:spPr>
          <a:xfrm>
            <a:off x="777240" y="322783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20040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20040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option: a real slice of real work, not a vendor demo.</a:t>
            </a:r>
            <a:endParaRPr lang="en-US" sz="1350" dirty="0"/>
          </a:p>
        </p:txBody>
      </p:sp>
      <p:sp>
        <p:nvSpPr>
          <p:cNvPr id="21" name="Shape 18"/>
          <p:cNvSpPr/>
          <p:nvPr/>
        </p:nvSpPr>
        <p:spPr>
          <a:xfrm>
            <a:off x="548640" y="3968496"/>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032504"/>
            <a:ext cx="585216" cy="585216"/>
          </a:xfrm>
          <a:prstGeom prst="ellipse">
            <a:avLst/>
          </a:prstGeom>
          <a:solidFill>
            <a:srgbClr val="C1440E"/>
          </a:solidFill>
          <a:ln/>
        </p:spPr>
        <p:txBody>
          <a:bodyPr/>
          <a:lstStyle/>
          <a:p>
            <a:endParaRPr lang="en-US"/>
          </a:p>
        </p:txBody>
      </p:sp>
      <p:sp>
        <p:nvSpPr>
          <p:cNvPr id="23" name="Text 20"/>
          <p:cNvSpPr txBox="1"/>
          <p:nvPr/>
        </p:nvSpPr>
        <p:spPr>
          <a:xfrm>
            <a:off x="777240" y="4032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005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005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4773168"/>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4837176"/>
            <a:ext cx="585216" cy="585216"/>
          </a:xfrm>
          <a:prstGeom prst="ellipse">
            <a:avLst/>
          </a:prstGeom>
          <a:solidFill>
            <a:srgbClr val="C1440E"/>
          </a:solidFill>
          <a:ln/>
        </p:spPr>
        <p:txBody>
          <a:bodyPr/>
          <a:lstStyle/>
          <a:p>
            <a:endParaRPr lang="en-US"/>
          </a:p>
        </p:txBody>
      </p:sp>
      <p:sp>
        <p:nvSpPr>
          <p:cNvPr id="28" name="Text 25"/>
          <p:cNvSpPr txBox="1"/>
          <p:nvPr/>
        </p:nvSpPr>
        <p:spPr>
          <a:xfrm>
            <a:off x="777240" y="483717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480974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Pilot on defaults</a:t>
            </a:r>
            <a:endParaRPr lang="en-US" sz="1600" dirty="0"/>
          </a:p>
        </p:txBody>
      </p:sp>
      <p:sp>
        <p:nvSpPr>
          <p:cNvPr id="30" name="Text 27"/>
          <p:cNvSpPr txBox="1"/>
          <p:nvPr/>
        </p:nvSpPr>
        <p:spPr>
          <a:xfrm>
            <a:off x="4892040" y="480974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4–6 weeks, outcomes decided in advance. Customize only after, with real usage data.</a:t>
            </a:r>
            <a:endParaRPr lang="en-US" sz="1350" dirty="0"/>
          </a:p>
        </p:txBody>
      </p:sp>
      <p:sp>
        <p:nvSpPr>
          <p:cNvPr id="31" name="Takeaway bar"/>
          <p:cNvSpPr/>
          <p:nvPr/>
        </p:nvSpPr>
        <p:spPr>
          <a:xfrm>
            <a:off x="548640" y="5669280"/>
            <a:ext cx="11064240" cy="77724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2" name="Takeaway text"/>
          <p:cNvSpPr txBox="1"/>
          <p:nvPr/>
        </p:nvSpPr>
        <p:spPr>
          <a:xfrm>
            <a:off x="548640" y="5669280"/>
            <a:ext cx="11064240" cy="77724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Every customization made before the pilot is a bet placed with the least information you’ll ever have.</a:t>
            </a:r>
            <a:endParaRPr lang="en-US" sz="1700" dirty="0"/>
          </a:p>
        </p:txBody>
      </p:sp>
      <p:sp>
        <p:nvSpPr>
          <p:cNvPr id="33" name="Slide Number Placeholder"/>
          <p:cNvSpPr>
            <a:spLocks noGrp="1"/>
          </p:cNvSpPr>
          <p:nvPr>
            <p:ph type="sldNum" sz="quarter" idx="10"/>
          </p:nvPr>
        </p:nvSpPr>
        <p:spPr/>
        <p:txBody>
          <a:bodyPr/>
          <a:lstStyle/>
          <a:p>
            <a:fld id="{BCB632DE-6AD4-40F1-944C-28C0E9BF62DC}" type="slidenum">
              <a:rPr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Connect Boards, name the source of truth, owners, and rollback authority.</a:t>
            </a:r>
            <a:endParaRPr lang="en-US" sz="1250"/>
          </a:p>
        </p:txBody>
      </p:sp>
      <p:sp>
        <p:nvSpPr>
          <p:cNvPr id="11" name="Shape 8"/>
          <p:cNvSpPr/>
          <p:nvPr/>
        </p:nvSpPr>
        <p:spPr>
          <a:xfrm>
            <a:off x="333756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
        <p:nvSpPr>
          <p:cNvPr id="28" name="Slide Number Placeholder"/>
          <p:cNvSpPr>
            <a:spLocks noGrp="1"/>
          </p:cNvSpPr>
          <p:nvPr>
            <p:ph type="sldNum" sz="quarter" idx="10"/>
          </p:nvPr>
        </p:nvSpPr>
        <p:spPr/>
        <p:txBody>
          <a:bodyPr/>
          <a:lstStyle/>
          <a:p>
            <a:fld id="{BCB632DE-6AD4-40F1-944C-28C0E9BF62DC}"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Secret Protection and Code Security as add-ons, runner and compute minutes, and the admin and migration effort it actually takes to get there.</a:t>
            </a:r>
            <a:endParaRPr lang="en-US" sz="1900" dirty="0"/>
          </a:p>
        </p:txBody>
      </p:sp>
      <p:sp>
        <p:nvSpPr>
          <p:cNvPr id="8" name="Shape 5"/>
          <p:cNvSpPr/>
          <p:nvPr/>
        </p:nvSpPr>
        <p:spPr>
          <a:xfrm>
            <a:off x="548640" y="4526280"/>
            <a:ext cx="11064240" cy="8686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Price the migration and the steady state separately, and count the months when both platforms are billing at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dirty="0">
                <a:solidFill>
                  <a:srgbClr val="2B2B2B"/>
                </a:solidFill>
                <a:latin typeface="Calibri"/>
              </a:rPr>
              <a:t>Moving the code unlocks the tooling. Four other things decide whether it pays off.</a:t>
            </a:r>
            <a:endParaRPr lang="en-US" sz="2000" dirty="0"/>
          </a:p>
          <a:p>
            <a:pPr marL="285750" indent="-285750">
              <a:spcBef>
                <a:spcPts val="900"/>
              </a:spcBef>
              <a:spcAft>
                <a:spcPts val="800"/>
              </a:spcAft>
              <a:buFont typeface="Arial" panose="020B0604020202020204" pitchFamily="34" charset="0"/>
              <a:buChar char="•"/>
            </a:pPr>
            <a:r>
              <a:rPr sz="1550" b="0" dirty="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Licenses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E0B85C"/>
                </a:solidFill>
                <a:latin typeface="Calibri"/>
              </a:rPr>
              <a:t>TAKEAWAY </a:t>
            </a:r>
            <a:r>
              <a:rPr sz="1500" b="0" dirty="0">
                <a:solidFill>
                  <a:srgbClr val="F5F5F0"/>
                </a:solidFill>
                <a:latin typeface="Calibri"/>
              </a:rPr>
              <a:t>These are preconditions, not nice-to-haves. Budget for them before you promise anyone the AI payoff.</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squads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Scaled agile, regulated, multi-team</a:t>
            </a:r>
            <a:endParaRPr lang="en-US" sz="1600" dirty="0">
              <a:solidFill>
                <a:srgbClr val="1F3D2C"/>
              </a:solidFill>
            </a:endParaRPr>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373636"/>
                </a:solidFill>
                <a:latin typeface="Calibri" pitchFamily="34" charset="0"/>
                <a:ea typeface="Calibri" pitchFamily="34" charset="-122"/>
                <a:cs typeface="Calibri" pitchFamily="34" charset="-120"/>
              </a:rPr>
              <a:t>Azure Boards’ hierarchy and reporting earn their keep here.</a:t>
            </a:r>
            <a:endParaRPr lang="en-US" sz="1350" dirty="0">
              <a:solidFill>
                <a:srgbClr val="373636"/>
              </a:solidFill>
            </a:endParaRPr>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952198"/>
            <a:ext cx="11064240" cy="895149"/>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901665"/>
            <a:ext cx="11064240" cy="1032309"/>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C1440E"/>
                </a:solidFill>
                <a:latin typeface="Calibri"/>
              </a:rPr>
              <a:t>ASIDE </a:t>
            </a:r>
            <a:r>
              <a:rPr sz="1500" b="0" dirty="0">
                <a:solidFill>
                  <a:srgbClr val="2B2B2B"/>
                </a:solidFill>
                <a:latin typeface="Calibri"/>
              </a:rPr>
              <a:t>The Senior Engineer guarding that ancient pipeline isn’t wrong to be cautious — they’re defending it with the wrong argument (“it’s always worked”) instead of the right one (“here’s what the audit says”).</a:t>
            </a:r>
            <a:endParaRPr lang="en-US" sz="1450" dirty="0"/>
          </a:p>
        </p:txBody>
      </p:sp>
      <p:sp>
        <p:nvSpPr>
          <p:cNvPr id="17" name="Slide Number Placeholder"/>
          <p:cNvSpPr>
            <a:spLocks noGrp="1"/>
          </p:cNvSpPr>
          <p:nvPr>
            <p:ph type="sldNum" sz="quarter" idx="10"/>
          </p:nvPr>
        </p:nvSpPr>
        <p:spPr/>
        <p:txBody>
          <a:bodyPr/>
          <a:lstStyle/>
          <a:p>
            <a:fld id="{BCB632DE-6AD4-40F1-944C-28C0E9BF62DC}"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5 — The Senior Engineer Defends an Ancient Pipeline</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44</a:t>
            </a:fld>
            <a:endParaRPr lang="en-US">
              <a:solidFill>
                <a:srgbClr val="E0B85C"/>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10154652"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45</a:t>
            </a:fld>
            <a:endParaRPr lang="en-US">
              <a:solidFill>
                <a:srgbClr val="E0B85C"/>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250" b="1" spc="120">
                <a:solidFill>
                  <a:srgbClr val="C1440E"/>
                </a:solidFill>
                <a:latin typeface="Calibri"/>
              </a:rPr>
              <a:t>DO THIS </a:t>
            </a:r>
            <a:r>
              <a:rPr sz="130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
        <p:nvSpPr>
          <p:cNvPr id="22" name="Slide Number Placeholder"/>
          <p:cNvSpPr>
            <a:spLocks noGrp="1"/>
          </p:cNvSpPr>
          <p:nvPr>
            <p:ph type="sldNum" sz="quarter" idx="10"/>
          </p:nvPr>
        </p:nvSpPr>
        <p:spPr/>
        <p:txBody>
          <a:bodyPr/>
          <a:lstStyle/>
          <a:p>
            <a:fld id="{BCB632DE-6AD4-40F1-944C-28C0E9BF62DC}"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792702"/>
            <a:ext cx="11064240" cy="109728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948150"/>
            <a:ext cx="10424160" cy="8229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3072862"/>
            <a:ext cx="11064240" cy="128016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3237454"/>
            <a:ext cx="10424160" cy="96012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pull-request authorship, comments and reviews — stays on the mannequin until it is reclaimed. An organization owner sends the attribution invitation, but nothing is reattributed until the person accepts it.</a:t>
            </a:r>
          </a:p>
        </p:txBody>
      </p:sp>
      <p:sp>
        <p:nvSpPr>
          <p:cNvPr id="13" name="Rounded Rectangle 12"/>
          <p:cNvSpPr/>
          <p:nvPr/>
        </p:nvSpPr>
        <p:spPr>
          <a:xfrm>
            <a:off x="548640" y="4535902"/>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4535902"/>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63880" y="589788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63880" y="6007608"/>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
        <p:nvSpPr>
          <p:cNvPr id="14" name="Slide Number Placeholder"/>
          <p:cNvSpPr>
            <a:spLocks noGrp="1"/>
          </p:cNvSpPr>
          <p:nvPr>
            <p:ph type="sldNum" sz="quarter" idx="10"/>
          </p:nvPr>
        </p:nvSpPr>
        <p:spPr/>
        <p:txBody>
          <a:bodyPr/>
          <a:lstStyle/>
          <a:p>
            <a:fld id="{BCB632DE-6AD4-40F1-944C-28C0E9BF62D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structured work items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
        <p:nvSpPr>
          <p:cNvPr id="36" name="Slide Number Placeholder"/>
          <p:cNvSpPr>
            <a:spLocks noGrp="1"/>
          </p:cNvSpPr>
          <p:nvPr>
            <p:ph type="sldNum" sz="quarter" idx="10"/>
          </p:nvPr>
        </p:nvSpPr>
        <p:spPr/>
        <p:txBody>
          <a:bodyPr/>
          <a:lstStyle/>
          <a:p>
            <a:fld id="{BCB632DE-6AD4-40F1-944C-28C0E9BF62DC}" type="slidenum">
              <a:rPr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
        <p:nvSpPr>
          <p:cNvPr id="7" name="Slide Number Placeholder"/>
          <p:cNvSpPr>
            <a:spLocks noGrp="1"/>
          </p:cNvSpPr>
          <p:nvPr>
            <p:ph type="sldNum" sz="quarter" idx="10"/>
          </p:nvPr>
        </p:nvSpPr>
        <p:spPr/>
        <p:txBody>
          <a:bodyPr/>
          <a:lstStyle/>
          <a:p>
            <a:fld id="{BCB632DE-6AD4-40F1-944C-28C0E9BF62DC}"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E0B85C"/>
                </a:solidFill>
                <a:latin typeface="Calibri"/>
              </a:rPr>
              <a:t>— CLOSING NARRATION, FROM THE FAR BANK</a:t>
            </a:r>
            <a:endParaRPr lang="en-US" sz="1300" dirty="0"/>
          </a:p>
        </p:txBody>
      </p:sp>
      <p:sp>
        <p:nvSpPr>
          <p:cNvPr id="6" name="Slide Number Placeholder"/>
          <p:cNvSpPr>
            <a:spLocks noGrp="1"/>
          </p:cNvSpPr>
          <p:nvPr>
            <p:ph type="sldNum" sz="quarter" idx="10"/>
          </p:nvPr>
        </p:nvSpPr>
        <p:spPr/>
        <p:txBody>
          <a:bodyPr/>
          <a:lstStyle/>
          <a:p>
            <a:fld id="{BCB632DE-6AD4-40F1-944C-28C0E9BF62DC}" type="slidenum">
              <a:rPr lang="en-US">
                <a:solidFill>
                  <a:srgbClr val="E0B85C"/>
                </a:solidFill>
              </a:rPr>
              <a:t>50</a:t>
            </a:fld>
            <a:endParaRPr lang="en-US">
              <a:solidFill>
                <a:srgbClr val="E0B85C"/>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776886"/>
            <a:ext cx="6035040" cy="731520"/>
          </a:xfrm>
          <a:prstGeom prst="rect">
            <a:avLst/>
          </a:prstGeom>
          <a:noFill/>
          <a:ln/>
        </p:spPr>
        <p:txBody>
          <a:bodyPr wrap="square" lIns="0" tIns="0" rIns="0" bIns="0" rtlCol="0" anchor="ctr"/>
          <a:lstStyle/>
          <a:p>
            <a:pPr marL="0" indent="0" algn="l">
              <a:buNone/>
            </a:pPr>
            <a:r>
              <a:rPr sz="1800" b="0" dirty="0">
                <a:solidFill>
                  <a:srgbClr val="6B6B63"/>
                </a:solidFill>
                <a:latin typeface="Calibri"/>
              </a:rPr>
              <a:t>Azure DevOps to GitHub Enterprise: The Great Migration</a:t>
            </a:r>
            <a:endParaRPr lang="en-US" sz="1800" dirty="0"/>
          </a:p>
        </p:txBody>
      </p:sp>
      <p:sp>
        <p:nvSpPr>
          <p:cNvPr id="6" name="Text 4"/>
          <p:cNvSpPr txBox="1"/>
          <p:nvPr/>
        </p:nvSpPr>
        <p:spPr>
          <a:xfrm>
            <a:off x="777240" y="3656066"/>
            <a:ext cx="6035040" cy="411480"/>
          </a:xfrm>
          <a:prstGeom prst="rect">
            <a:avLst/>
          </a:prstGeom>
          <a:noFill/>
          <a:ln/>
        </p:spPr>
        <p:txBody>
          <a:bodyPr wrap="square" lIns="0" tIns="0" rIns="0" bIns="0" rtlCol="0" anchor="ctr"/>
          <a:lstStyle/>
          <a:p>
            <a:pPr marL="0" indent="0" algn="l">
              <a:buNone/>
            </a:pPr>
            <a:r>
              <a:rPr sz="2000" b="1" dirty="0">
                <a:solidFill>
                  <a:srgbClr val="1F3D2C"/>
                </a:solidFill>
                <a:latin typeface="Cambria"/>
              </a:rPr>
              <a:t>Kevin Neumann</a:t>
            </a:r>
            <a:endParaRPr lang="en-US" sz="2000" dirty="0"/>
          </a:p>
        </p:txBody>
      </p:sp>
      <p:sp>
        <p:nvSpPr>
          <p:cNvPr id="7" name="Text 5"/>
          <p:cNvSpPr txBox="1"/>
          <p:nvPr/>
        </p:nvSpPr>
        <p:spPr>
          <a:xfrm>
            <a:off x="777240" y="4094978"/>
            <a:ext cx="6035040" cy="365760"/>
          </a:xfrm>
          <a:prstGeom prst="rect">
            <a:avLst/>
          </a:prstGeom>
          <a:noFill/>
          <a:ln/>
        </p:spPr>
        <p:txBody>
          <a:bodyPr wrap="square" lIns="0" tIns="0" rIns="0" bIns="0" rtlCol="0" anchor="ctr"/>
          <a:lstStyle/>
          <a:p>
            <a:pPr marL="0" indent="0" algn="l">
              <a:buNone/>
            </a:pPr>
            <a:r>
              <a:rPr sz="1500" b="0" dirty="0">
                <a:solidFill>
                  <a:srgbClr val="2B2B2B"/>
                </a:solidFill>
                <a:latin typeface="Calibri"/>
              </a:rPr>
              <a:t>kneumann@hunter.com</a:t>
            </a:r>
            <a:endParaRPr lang="en-US" sz="1500" dirty="0"/>
          </a:p>
        </p:txBody>
      </p:sp>
      <p:sp>
        <p:nvSpPr>
          <p:cNvPr id="10" name="Text 7"/>
          <p:cNvSpPr txBox="1"/>
          <p:nvPr/>
        </p:nvSpPr>
        <p:spPr>
          <a:xfrm>
            <a:off x="777240" y="4786465"/>
            <a:ext cx="6035040" cy="411480"/>
          </a:xfrm>
          <a:prstGeom prst="rect">
            <a:avLst/>
          </a:prstGeom>
          <a:noFill/>
          <a:ln/>
        </p:spPr>
        <p:txBody>
          <a:bodyPr wrap="square" lIns="0" tIns="0" rIns="0" bIns="0" rtlCol="0" anchor="ctr"/>
          <a:lstStyle/>
          <a:p>
            <a:pPr marL="0" indent="0" algn="l">
              <a:buNone/>
            </a:pPr>
            <a:r>
              <a:rPr sz="1700" b="0" dirty="0">
                <a:solidFill>
                  <a:srgbClr val="C1440E"/>
                </a:solidFill>
                <a:latin typeface="Calibri"/>
              </a:rPr>
              <a:t>Open floor — questions welcome.</a:t>
            </a:r>
            <a:endParaRPr lang="en-US" sz="1700" dirty="0"/>
          </a:p>
        </p:txBody>
      </p:sp>
      <p:sp>
        <p:nvSpPr>
          <p:cNvPr id="11" name="Rounded Rectangle 10"/>
          <p:cNvSpPr/>
          <p:nvPr/>
        </p:nvSpPr>
        <p:spPr>
          <a:xfrm>
            <a:off x="7443196" y="1433090"/>
            <a:ext cx="4297680" cy="505915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443196" y="2011680"/>
            <a:ext cx="4297680" cy="292608"/>
          </a:xfrm>
          <a:prstGeom prst="rect">
            <a:avLst/>
          </a:prstGeom>
          <a:noFill/>
        </p:spPr>
        <p:txBody>
          <a:bodyPr wrap="square">
            <a:spAutoFit/>
          </a:bodyPr>
          <a:lstStyle/>
          <a:p>
            <a:pPr algn="ctr"/>
            <a:r>
              <a:rPr sz="1300" b="1" dirty="0">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540476" y="2377440"/>
            <a:ext cx="2103120" cy="2103120"/>
          </a:xfrm>
          <a:prstGeom prst="rect">
            <a:avLst/>
          </a:prstGeom>
        </p:spPr>
      </p:pic>
      <p:sp>
        <p:nvSpPr>
          <p:cNvPr id="13" name="TextBox 12"/>
          <p:cNvSpPr txBox="1"/>
          <p:nvPr/>
        </p:nvSpPr>
        <p:spPr>
          <a:xfrm>
            <a:off x="7443196" y="4599432"/>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626076" y="4992624"/>
            <a:ext cx="3931920" cy="700192"/>
          </a:xfrm>
          <a:prstGeom prst="rect">
            <a:avLst/>
          </a:prstGeom>
          <a:noFill/>
        </p:spPr>
        <p:txBody>
          <a:bodyPr wrap="square">
            <a:spAutoFit/>
          </a:bodyPr>
          <a:lstStyle/>
          <a:p>
            <a:pPr algn="ctr"/>
            <a:r>
              <a:rPr sz="1150" b="0" dirty="0">
                <a:solidFill>
                  <a:srgbClr val="2B2B2B"/>
                </a:solidFill>
                <a:latin typeface="Calibri"/>
              </a:rPr>
              <a:t>Azure Pipelines → Actions migration docs</a:t>
            </a:r>
          </a:p>
          <a:p>
            <a:pPr algn="ctr">
              <a:spcBef>
                <a:spcPts val="300"/>
              </a:spcBef>
            </a:pPr>
            <a:r>
              <a:rPr sz="1150" b="0" dirty="0">
                <a:solidFill>
                  <a:srgbClr val="2B2B2B"/>
                </a:solidFill>
                <a:latin typeface="Calibri"/>
              </a:rPr>
              <a:t>gh-ado2gh  ·  </a:t>
            </a:r>
            <a:r>
              <a:rPr sz="1150" b="0" dirty="0" err="1">
                <a:solidFill>
                  <a:srgbClr val="2B2B2B"/>
                </a:solidFill>
                <a:latin typeface="Calibri"/>
              </a:rPr>
              <a:t>gh</a:t>
            </a:r>
            <a:r>
              <a:rPr sz="1150" b="0" dirty="0">
                <a:solidFill>
                  <a:srgbClr val="2B2B2B"/>
                </a:solidFill>
                <a:latin typeface="Calibri"/>
              </a:rPr>
              <a:t>-actions-importer</a:t>
            </a:r>
          </a:p>
          <a:p>
            <a:pPr algn="ctr">
              <a:spcBef>
                <a:spcPts val="300"/>
              </a:spcBef>
            </a:pPr>
            <a:r>
              <a:rPr sz="1150" b="0" dirty="0">
                <a:solidFill>
                  <a:srgbClr val="2B2B2B"/>
                </a:solidFill>
                <a:latin typeface="Calibri"/>
              </a:rPr>
              <a:t>Every note behind this talk</a:t>
            </a:r>
          </a:p>
        </p:txBody>
      </p:sp>
      <p:sp>
        <p:nvSpPr>
          <p:cNvPr id="15" name="Slide Number Placeholder"/>
          <p:cNvSpPr>
            <a:spLocks noGrp="1"/>
          </p:cNvSpPr>
          <p:nvPr>
            <p:ph type="sldNum" sz="quarter" idx="10"/>
          </p:nvPr>
        </p:nvSpPr>
        <p:spPr/>
        <p:txBody>
          <a:bodyPr/>
          <a:lstStyle/>
          <a:p>
            <a:fld id="{BCB632DE-6AD4-40F1-944C-28C0E9BF62DC}" type="slidenum">
              <a:rPr lang="en-US"/>
              <a:t>51</a:t>
            </a:fld>
            <a:endParaRPr lang="en-US"/>
          </a:p>
        </p:txBody>
      </p:sp>
      <p:sp>
        <p:nvSpPr>
          <p:cNvPr id="20" name="Text 5">
            <a:extLst>
              <a:ext uri="{FF2B5EF4-FFF2-40B4-BE49-F238E27FC236}">
                <a16:creationId xmlns:a16="http://schemas.microsoft.com/office/drawing/2014/main" id="{CB8717A8-9D3F-256D-9992-560C6C010532}"/>
              </a:ext>
            </a:extLst>
          </p:cNvPr>
          <p:cNvSpPr txBox="1"/>
          <p:nvPr/>
        </p:nvSpPr>
        <p:spPr>
          <a:xfrm>
            <a:off x="2044969" y="5939697"/>
            <a:ext cx="1443170" cy="365760"/>
          </a:xfrm>
          <a:prstGeom prst="rect">
            <a:avLst/>
          </a:prstGeom>
          <a:noFill/>
          <a:ln/>
        </p:spPr>
        <p:txBody>
          <a:bodyPr wrap="square" lIns="0" tIns="0" rIns="0" bIns="0" rtlCol="0" anchor="ctr"/>
          <a:lstStyle/>
          <a:p>
            <a:pPr marL="0" indent="0" algn="l">
              <a:buNone/>
            </a:pPr>
            <a:r>
              <a:rPr lang="en-US" sz="1500" dirty="0"/>
              <a:t>Careers @ Hunter</a:t>
            </a:r>
          </a:p>
        </p:txBody>
      </p:sp>
      <p:pic>
        <p:nvPicPr>
          <p:cNvPr id="22" name="Picture 21">
            <a:extLst>
              <a:ext uri="{FF2B5EF4-FFF2-40B4-BE49-F238E27FC236}">
                <a16:creationId xmlns:a16="http://schemas.microsoft.com/office/drawing/2014/main" id="{3D11451F-32AE-DE63-753E-822486F5602F}"/>
              </a:ext>
            </a:extLst>
          </p:cNvPr>
          <p:cNvPicPr>
            <a:picLocks noChangeAspect="1"/>
          </p:cNvPicPr>
          <p:nvPr/>
        </p:nvPicPr>
        <p:blipFill>
          <a:blip r:embed="rId4"/>
          <a:stretch>
            <a:fillRect/>
          </a:stretch>
        </p:blipFill>
        <p:spPr>
          <a:xfrm>
            <a:off x="736332" y="5523672"/>
            <a:ext cx="1197811" cy="119781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2196</TotalTime>
  <Words>11493</Words>
  <Application>Microsoft Office PowerPoint</Application>
  <PresentationFormat>Widescreen</PresentationFormat>
  <Paragraphs>814</Paragraphs>
  <Slides>51</Slides>
  <Notes>51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Aptos</vt:lpstr>
      <vt:lpstr>Arial</vt:lpstr>
      <vt:lpstr>Calibri</vt:lpstr>
      <vt:lpstr>Cambria</vt:lpstr>
      <vt:lpstr>Cascadia Code</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27</cp:revision>
  <dcterms:created xsi:type="dcterms:W3CDTF">2026-09-21T19:07:56Z</dcterms:created>
  <dcterms:modified xsi:type="dcterms:W3CDTF">2026-09-28T19:21:20Z</dcterms:modified>
</cp:coreProperties>
</file>