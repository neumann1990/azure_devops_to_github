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7" r:id="rId3"/>
    <p:sldId id="258" r:id="rId4"/>
    <p:sldId id="259" r:id="rId5"/>
    <p:sldId id="261" r:id="rId7"/>
    <p:sldId id="262" r:id="rId8"/>
    <p:sldId id="265" r:id="rId9"/>
    <p:sldId id="267" r:id="rId10"/>
    <p:sldId id="268" r:id="rId11"/>
    <p:sldId id="269" r:id="rId12"/>
    <p:sldId id="270" r:id="rId13"/>
    <p:sldId id="271" r:id="rId14"/>
    <p:sldId id="272" r:id="rId15"/>
    <p:sldId id="273" r:id="rId16"/>
    <p:sldId id="264" r:id="rId17"/>
    <p:sldId id="274" r:id="rId18"/>
    <p:sldId id="275" r:id="rId19"/>
    <p:sldId id="276" r:id="rId20"/>
    <p:sldId id="277" r:id="rId21"/>
    <p:sldId id="278" r:id="rId22"/>
    <p:sldId id="279" r:id="rId23"/>
    <p:sldId id="280" r:id="rId24"/>
    <p:sldId id="281" r:id="rId26"/>
    <p:sldId id="313" r:id="rId27"/>
    <p:sldId id="283" r:id="rId28"/>
    <p:sldId id="284" r:id="rId29"/>
    <p:sldId id="285" r:id="rId30"/>
    <p:sldId id="286" r:id="rId31"/>
    <p:sldId id="287" r:id="rId32"/>
    <p:sldId id="288" r:id="rId33"/>
    <p:sldId id="289" r:id="rId34"/>
    <p:sldId id="291" r:id="rId37"/>
    <p:sldId id="292" r:id="rId38"/>
    <p:sldId id="293" r:id="rId39"/>
    <p:sldId id="295" r:id="rId41"/>
    <p:sldId id="296" r:id="rId42"/>
    <p:sldId id="297" r:id="rId43"/>
    <p:sldId id="298" r:id="rId44"/>
    <p:sldId id="301" r:id="rId46"/>
    <p:sldId id="300" r:id="rId47"/>
    <p:sldId id="302" r:id="rId48"/>
    <p:sldId id="303" r:id="rId49"/>
    <p:sldId id="304" r:id="rId50"/>
    <p:sldId id="305" r:id="rId51"/>
    <p:sldId id="306" r:id="rId52"/>
    <p:sldId id="307" r:id="rId53"/>
    <p:sldId id="309" r:id="rId54"/>
    <p:sldId id="308" r:id="rId55"/>
    <p:sldId id="311" r:id="rId56"/>
    <p:sldId id="312" r:id="rId57"/>
    <p:sldId id="282"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8701" autoAdjust="0"/>
  </p:normalViewPr>
  <p:slideViewPr>
    <p:cSldViewPr snapToGrid="0" snapToObjects="1">
      <p:cViewPr varScale="1">
        <p:scale>
          <a:sx n="76" d="100"/>
          <a:sy n="76" d="100"/>
        </p:scale>
        <p:origin x="191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The ELM slide now sits in the appendix after the thank-you slide; pull it up only if someone asks.</a:t>
            </a:r>
          </a:p>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Name the real reason teams migrate before the polite reasons: most of the agentic Copilot work (cloud agent, agentic code review, agentic Autofix, Agent HQ) ships on GitHub first. Be fair to Microsoft: Azure DevOps is gaining AI features too, and Copilot in the IDE works wherever the repository is hosted. The point is not that Azure DevOps has nothing; it is that the frontier depends on where the repository lives.</a:t>
            </a:r>
          </a:p>
          <a:p/>
          <a:p>
            <a:r>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p>
            <a:r>
              <a:t>Do not frame this as “GitHub has AI and Azure DevOps does not.” Frame it as a difference in native depth, integration, and repository dependency.</a:t>
            </a:r>
          </a:p>
          <a:p/>
          <a:p>
            <a:r>
              <a:t>CUT FROM THE SLIDE, for Q&amp;A:</a:t>
            </a:r>
          </a:p>
          <a:p>
            <a:r>
              <a:t>- Repository-aware chat. GitHub: native workspace and repository context. Azure DevOps: local repo context, plus Azure DevOps service context through MCP.</a:t>
            </a:r>
          </a:p>
          <a:p>
            <a:r>
              <a:t>- Multi-agent orchestration. GitHub: a central hub running Copilot, Claude and Codex sessions in parallel. Azure DevOps: no native equivalent; external agents connect through MCP.</a:t>
            </a:r>
          </a:p>
          <a:p>
            <a:r>
              <a:t>- Azure DevOps MCP. The Remote MCP Server is GA and the server itself is free; normal Azure DevOps pricing and AI-platform usage charges may still apply. The next slide covers MCP.</a:t>
            </a:r>
          </a:p>
          <a:p>
            <a:r>
              <a:t>- Licensing. Paid Copilot for agents and review; GitHub Code Security where Autofix is needed.</a:t>
            </a:r>
          </a:p>
          <a:p/>
          <a:p>
            <a:r>
              <a:t>The capability gap is real, but it is neither absolute nor static. As of September 21, 2026: Azure DevOps Remote MCP Server is generally available; Copilot Code Review for Azure Repos is in public preview; Copilot Autofix for Azure DevOps remains in limited public preview; and GitHub Copilot cloud agent still requires a GitHub-hosted repository even when initiated from Azure Boards.</a:t>
            </a:r>
          </a:p>
          <a:p/>
          <a:p>
            <a:r>
              <a:t>Sources (accessed September 21, 2026): GitHub Docs — About GitHub Copilot cloud agent; Integrating Copilot cloud agent with Azure Boards; About agent management; About autofix for code scanning. Microsoft Learn — Azure DevOps Sprint 278 and Sprint 279 release notes; Azure DevOps MCP Server overview; Copilot code review for Azure Repos; Copilot Autofix for GitHub Advanced Security for Azure DevOps. GitHub Changelog — Copilot code review now runs on an agentic architecture (March 5, 2026).</a:t>
            </a:r>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spoiler slide — the full seven-subsystem scorecard for the whole talk, not just section 2. Two travel clean (Repos, Wiki), four need a decision (Packages/Artifacts, Pipelines, Dashboards, Boards), one stays behind entirely (Test Plans).</a:t>
            </a:r>
          </a:p>
          <a:p>
            <a:endParaRPr/>
          </a:p>
          <a:p>
            <a:r>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a:p>
          <a:p>
            <a:r>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Git is Git, so commit history is easy, and pull requests plus most branch policies migrate without much drama through GitHub Enterprise Importer.</a:t>
            </a:r>
          </a:p>
          <a:p/>
          <a:p>
            <a:r>
              <a:t>The asterisk is what doesn’t:</a:t>
            </a:r>
          </a:p>
          <a:p>
            <a:r>
              <a:t>- Repo permissions get rebuilt as two GitHub teams per team project.</a:t>
            </a:r>
          </a:p>
          <a:p>
            <a:r>
              <a:t>- Git LFS objects are not migrated. GEI moves the repository; you push the LFS objects separately.</a:t>
            </a:r>
          </a:p>
          <a:p>
            <a:r>
              <a:t>- User-scoped and cross-repo branch policies need rebuilding by hand.</a:t>
            </a:r>
          </a:p>
          <a:p/>
          <a:p>
            <a:r>
              <a:t>Verify target visibility during the trial migration. Migration scripts can preserve or explicitly set visibility, but enterprise policies and managed-user configurations may constrain the available choices.</a:t>
            </a:r>
          </a:p>
          <a:p/>
          <a:p>
            <a:r>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p>
            <a:r>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p>
            <a:r>
              <a:t>OPTIONAL LAUGH LINE — “Every field guide has one species that just walks across the river. This is it. Mostly. Enjoy it — the slide is forty seconds long.”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p>
            <a:r>
              <a:t>What holds the two halves together is the integration layer: work-item traceability, commit and pull-request links, pipeline integration, identity mapping, and cross-platform reporting.</a:t>
            </a:r>
          </a:p>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p>
            <a:r>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p>
            <a:r>
              <a:t>OPTIONAL LAUGH LINE — stop on the Service Connection row: “Two words on the left, three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Spend twenty seconds getting the naming right, because the docs don't and everyone who goes looking afterwards hits the same confusion.</a:t>
            </a:r>
          </a:p>
          <a:p>
            <a:endParaRPr/>
          </a:p>
          <a:p>
            <a:r>
              <a:t>GitHub's own wording: “GitHub Enterprise Importer is a collection of extensions for GitHub CLI.” So GEI is not a service sitting underneath gh-ado2gh — gh-ado2gh IS GEI, the Azure DevOps one. Its siblings are gh-gei (GitHub to GitHub) and gh-bbs2gh (Bitbucket Server). Install is `gh extension install github/gh-ado2gh`. The repository copy itself runs server-side through GitHub's migration API; the extension inventories the estate, generates the script and drives those calls.</a:t>
            </a:r>
          </a:p>
          <a:p>
            <a:endParaRPr/>
          </a:p>
          <a:p>
            <a:r>
              <a:t>Do not describe GEI and gh-ado2gh as two layers with a boundary between them — an earlier draft of this slide did, and somebody who has read the docs will pick it up. The real boundaries are the other three bullets: pipeline logic belongs to Actions Importer, and LFS and identity are separate work.</a:t>
            </a:r>
          </a:p>
          <a:p>
            <a:endParaRPr/>
          </a:p>
          <a:p>
            <a:r>
              <a:t>The --all flag adds team creation, Boards integration and pipeline reference rewiring, but it does not convert pipeline logic. Worth knowing before you demo: there is an open gh-gei issue where --all omits the rewire step unless the tooling can resolve pipelines and a service connection.</a:t>
            </a:r>
          </a:p>
          <a:p>
            <a:endParaRPr/>
          </a:p>
          <a:p>
            <a:r>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SLIDE. Moved out of the main flow for time; show it only if someone asks about ELM or near-zero-downtime cutover. Straight delivery. Enterprise Live Migrations was named on the methods table in section 3.</a:t>
            </a:r>
          </a:p>
          <a:p/>
          <a:p>
            <a:r>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p>
            <a:r>
              <a:t>It is also research-only for us: Hunter's current tenant does not meet the data-residency prerequisite, so we have not run it.</a:t>
            </a:r>
          </a:p>
          <a:p/>
          <a:p>
            <a:r>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p>
            <a:r>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p>
            <a:r>
              <a:t>GitHub Enterprise Cloud (GHEC) with Data Residency is a distinct deployment model where:</a:t>
            </a:r>
          </a:p>
          <a:p>
            <a:r>
              <a:t> - Your enterprise is hosted on a dedicated ghe.com subdomain (instead of github.com&lt;org&gt;).</a:t>
            </a:r>
          </a:p>
          <a:p>
            <a:r>
              <a:t> - You choose the geographic region where your code and repository data are stored (currently including U.S., EU, Australia, and Japan).</a:t>
            </a:r>
          </a:p>
          <a:p>
            <a:r>
              <a:t> - The environment is isolated from the broader github.com ecosystem.</a:t>
            </a:r>
          </a:p>
          <a:p>
            <a:r>
              <a:t> - It requires Enterprise Managed Users (EMU). </a:t>
            </a:r>
          </a:p>
          <a:p/>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automation-plane tool. The audit breakdown is the planning artifact: it turns “this looks hard” into a backlog with counts.</a:t>
            </a:r>
          </a:p>
          <a:p>
            <a:endParaRPr/>
          </a:p>
          <a:p>
            <a:r>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a:p>
          <a:p>
            <a:r>
              <a:t>Conversion still leaves secrets, service connections, runner and network strategy, environments, approvals, custom tasks, and unsupported triggers for engineering judgment and validation.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Frame this before comparing feature by feature — Azure Boards and GitHub Projects are not two competitors in one category, they are two different models.</a:t>
            </a:r>
          </a:p>
          <a:p/>
          <a:p>
            <a:r>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p>
            <a:r>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p>
            <a:r>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There is no native GitHub Projects or Issues equivalent for structured manual and exploratory testing, full stop. In a regulated environment, that alone can be sufficient reason to keep Azure DevOps around. 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p>
            <a:r>
              <a:t>Say the recommendation plainly: don’t migrate to GitHub Issues unless your planning needs are genuinely simple. For most teams past a handful of people, the hierarchy, capacity planning and reporting Azure Boards already gives you are worth keeping.</a:t>
            </a:r>
          </a:p>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p>
            <a:r>
              <a:t>The bottom bar is the part most business cases skip: price the migration and the steady state as two separate numbers, and count the months when both platforms are billing at once. Dual-running is where the estimate usually goes wrong.</a:t>
            </a:r>
          </a:p>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p>
            <a: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p>
            <a:r>
              <a:t>4. LICENSING. Moving the repository turns nothing on. The cloud agent needs a paid Copilot plan, it must be enabled on each connected repository, and an organization owner has to install the Azure Boards GitHub app before anyone can use the integration.</a:t>
            </a:r>
          </a:p>
          <a:p/>
          <a:p>
            <a:r>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p>
            <a:r>
              <a:t>Be precise about what sits on a mannequin: pull-request data only — authorship, comments and reviews. Work items don’t migrate at all, so there is no work-item history to reclaim.</a:t>
            </a:r>
          </a:p>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p>
            <a:r>
              <a:t>If a question needs more than the time you have, point at the code: the long answer is almost certainly already in the repo.</a:t>
            </a:r>
          </a:p>
          <a:p/>
          <a:p>
            <a:r>
              <a:t>The ELM slide is in the appendix, right after this one, if someone asks about live migration or near-zero-downtime cutover.</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image" Target="../media/image33.png"/><Relationship Id="rId7"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8C6A3F"/>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8C6A3F"/>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4" name="Text 2"/>
          <p:cNvSpPr txBox="1"/>
          <p:nvPr/>
        </p:nvSpPr>
        <p:spPr>
          <a:xfrm>
            <a:off x="914400" y="3200400"/>
            <a:ext cx="10332720" cy="640080"/>
          </a:xfrm>
          <a:prstGeom prst="rect">
            <a:avLst/>
          </a:prstGeom>
          <a:noFill/>
          <a:ln/>
        </p:spPr>
        <p:txBody>
          <a:bodyPr wrap="square" lIns="0" tIns="0" rIns="0" bIns="0" rtlCol="0" anchor="ctr"/>
          <a:lstStyle/>
          <a:p>
            <a:pPr marL="0" indent="0" algn="ctr">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6790006"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585216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Crossing the River — </a:t>
            </a:r>
            <a:r>
              <a:rPr lang="en-US" sz="17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Sprint Planning in Its Natural Habitat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Preventing the Uprising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452360" y="1554480"/>
            <a:ext cx="4160520"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7726680" y="1737360"/>
            <a:ext cx="365760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7726680" y="2331720"/>
            <a:ext cx="365760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0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rIns="0" t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platform decision did not disappear. It merely acquired more adapters.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 mermaid blocks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The pages copy in minutes. The structure and the Azure DevOps-only markdown are the real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8C6A3F"/>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b="1" i="1"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Hybrid is not a temporary failure to finish the migration. It can be the intended architecture.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8C6A3F"/>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508760"/>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166420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1691639"/>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2862072"/>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017520"/>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007882"/>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215384"/>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370832"/>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398264"/>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5" name="TextBox 14"/>
          <p:cNvSpPr txBox="1"/>
          <p:nvPr/>
        </p:nvSpPr>
        <p:spPr>
          <a:xfrm>
            <a:off x="566928" y="5623560"/>
            <a:ext cx="11064240" cy="411480"/>
          </a:xfrm>
          <a:prstGeom prst="rect">
            <a:avLst/>
          </a:prstGeom>
          <a:noFill/>
        </p:spPr>
        <p:txBody>
          <a:bodyPr wrap="square" lIns="73152" tIns="73152" rIns="73152" bIns="73152" anchor="t">
            <a:spAutoFit/>
          </a:bodyPr>
          <a:lstStyle/>
          <a:p>
            <a:pPr algn="ctr"/>
            <a:r>
              <a:rPr sz="1500" b="0" i="1" dirty="0">
                <a:solidFill>
                  <a:srgbClr val="8C6A3F"/>
                </a:solidFill>
                <a:latin typeface="Calibri"/>
              </a:rPr>
              <a:t>Manual judgment, official tooling, and AI assistance can contribute within every plane.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The methods are complementary. None is a substitute for evidence in the validation plane.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748089721"/>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 Pool</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sz="1450">
                <a:solidFill>
                  <a:srgbClr val="F5F5F0"/>
                </a:solidFill>
                <a:latin typeface="Calibri"/>
              </a:rPr>
              <a:t>GitHub Enterprise Importer (GEI) is a set of GitHub CLI extensions</a:t>
            </a:r>
            <a:endParaRPr lang="en-US" sz="1450" dirty="0"/>
          </a:p>
          <a:p>
            <a:pPr>
              <a:spcBef>
                <a:spcPts val="800"/>
              </a:spcBef>
            </a:pPr>
            <a:r>
              <a:rPr sz="1450">
                <a:solidFill>
                  <a:srgbClr val="F5F5F0"/>
                </a:solidFill>
                <a:latin typeface="Calibri"/>
              </a:rPr>
              <a:t>gh-ado2gh is GEI’s Azure DevOps extension — not a separate tool</a:t>
            </a:r>
          </a:p>
          <a:p>
            <a:pPr>
              <a:spcBef>
                <a:spcPts val="800"/>
              </a:spcBef>
            </a:pPr>
            <a:r>
              <a:rPr sz="1450">
                <a:solidFill>
                  <a:srgbClr val="F5F5F0"/>
                </a:solidFill>
                <a:latin typeface="Calibri"/>
              </a:rPr>
              <a:t>Pipeline-logic conversion belongs to Actions Importer</a:t>
            </a:r>
          </a:p>
          <a:p>
            <a:pPr>
              <a:spcBef>
                <a:spcPts val="800"/>
              </a:spcBef>
            </a:pPr>
            <a:r>
              <a:rPr sz="145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do2gh.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332720" cy="2194560"/>
          </a:xfrm>
          <a:prstGeom prst="rect">
            <a:avLst/>
          </a:prstGeom>
          <a:noFill/>
          <a:ln/>
        </p:spPr>
        <p:txBody>
          <a:bodyPr wrap="square" lIns="0" tIns="0" rIns="0" bIns="0" rtlCol="0" anchor="ctr"/>
          <a:lstStyle/>
          <a:p>
            <a:pPr marL="0" indent="0">
              <a:lnSpc>
                <a:spcPct val="130000"/>
              </a:lnSpc>
              <a:buNone/>
            </a:pPr>
            <a:r>
              <a:rPr lang="en-US" sz="1850" b="0">
                <a:solidFill>
                  <a:srgbClr val="2B2B2B"/>
                </a:solidFill>
                <a:latin typeface="Calibri"/>
              </a:rPr>
              <a:t>Install the Azure Pipelines GitHub App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4572000"/>
            <a:ext cx="11064240" cy="1417320"/>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736592"/>
            <a:ext cx="10515600" cy="1097280"/>
          </a:xfrm>
          <a:prstGeom prst="rect">
            <a:avLst/>
          </a:prstGeom>
          <a:noFill/>
          <a:ln/>
        </p:spPr>
        <p:txBody>
          <a:bodyPr wrap="square" lIns="0" tIns="0" rIns="0" bIns="0" rtlCol="0" anchor="ctr"/>
          <a:lstStyle/>
          <a:p>
            <a:pPr marL="0" indent="0">
              <a:lnSpc>
                <a:spcPct val="115000"/>
              </a:lnSpc>
              <a:buNone/>
            </a:pPr>
            <a:r>
              <a:rPr lang="en-US" sz="1450" b="0" dirty="0">
                <a:solidFill>
                  <a:srgbClr val="F5F5F0"/>
                </a:solidFill>
                <a:latin typeface="Calibri"/>
              </a:rPr>
              <a:t>Before the first run: target enterprise and organization model  •  authentication and identity mapping  •  team and visibility policy  •  Boards/Pipelines integration  •  freeze or change-reconciliation approach  •  owner for migration failures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APPENDIX  ·  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48640" y="5628132"/>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libri"/>
              </a:rPr>
              <a:t>audit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libri"/>
              </a:rPr>
              <a:t>dry-run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050" b="1" spc="120">
                <a:solidFill>
                  <a:srgbClr val="8C6A3F"/>
                </a:solidFill>
                <a:latin typeface="Calibri"/>
              </a:rPr>
              <a:t>TAKEAWAY </a:t>
            </a:r>
            <a:r>
              <a:rPr sz="1500">
                <a:solidFill>
                  <a:srgbClr val="F5F5F0"/>
                </a:solidFill>
                <a:latin typeface="Calibri"/>
              </a:rPr>
              <a:t>The workflow converted successfully. It merely has no credentials, no network route, and nowhere to deploy.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9418320" cy="141732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hape 17"/>
          <p:cNvSpPr/>
          <p:nvPr/>
        </p:nvSpPr>
        <p:spPr>
          <a:xfrm>
            <a:off x="10122408" y="5184648"/>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24" name="Image 4" descr="/home/claude/pptx-build/assets/qr-sec3-ai-prompts.png"/>
          <p:cNvPicPr>
            <a:picLocks noChangeAspect="1"/>
          </p:cNvPicPr>
          <p:nvPr/>
        </p:nvPicPr>
        <p:blipFill>
          <a:blip r:embed="rId7"/>
          <a:stretch>
            <a:fillRect/>
          </a:stretch>
        </p:blipFill>
        <p:spPr>
          <a:xfrm>
            <a:off x="10195560" y="5257800"/>
            <a:ext cx="777240" cy="777240"/>
          </a:xfrm>
          <a:prstGeom prst="rect">
            <a:avLst/>
          </a:prstGeom>
        </p:spPr>
      </p:pic>
      <p:sp>
        <p:nvSpPr>
          <p:cNvPr id="25" name="Text 18"/>
          <p:cNvSpPr txBox="1"/>
          <p:nvPr/>
        </p:nvSpPr>
        <p:spPr>
          <a:xfrm>
            <a:off x="548640" y="6537960"/>
            <a:ext cx="11064240" cy="274320"/>
          </a:xfrm>
          <a:prstGeom prst="rect">
            <a:avLst/>
          </a:prstGeom>
          <a:noFill/>
          <a:ln/>
        </p:spPr>
        <p:txBody>
          <a:bodyPr wrap="square" lIns="0" tIns="0" rIns="0" bIns="0" rtlCol="0" anchor="ctr"/>
          <a:lstStyle/>
          <a:p>
            <a:pPr marL="0" indent="0">
              <a:buNone/>
            </a:pPr>
            <a:r>
              <a:rPr sz="1000" b="1" spc="120">
                <a:solidFill>
                  <a:srgbClr val="C1440E"/>
                </a:solidFill>
                <a:latin typeface="Calibri"/>
              </a:rPr>
              <a:t>STATUS </a:t>
            </a:r>
            <a:r>
              <a:rPr sz="1300">
                <a:solidFill>
                  <a:srgbClr val="2B2B2B"/>
                </a:solidFill>
                <a:latin typeface="Calibri"/>
              </a:rPr>
              <a:t>Prompts drafted and reviewed; not yet validated against a production pipeline.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Finish line: first verified delivery — equivalent artifact + controlled deployment + traceability + rollback.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a:solidFill>
                  <a:srgbClr val="2B2B2B"/>
                </a:solidFill>
                <a:latin typeface="Calibri"/>
              </a:rPr>
              <a:t>•  Branches, tags, and sampled commits reconciled</a:t>
            </a:r>
          </a:p>
          <a:p>
            <a:pPr>
              <a:spcAft>
                <a:spcPts val="500"/>
              </a:spcAft>
            </a:pPr>
            <a:r>
              <a:rPr lang="en-US" sz="1400">
                <a:solidFill>
                  <a:srgbClr val="2B2B2B"/>
                </a:solidFill>
                <a:latin typeface="Calibri"/>
              </a:rPr>
              <a:t>•  PR history and attachments sampled</a:t>
            </a:r>
          </a:p>
          <a:p>
            <a:pPr>
              <a:spcAft>
                <a:spcPts val="500"/>
              </a:spcAft>
            </a:pPr>
            <a:r>
              <a:rPr lang="en-US" sz="1400">
                <a:solidFill>
                  <a:srgbClr val="2B2B2B"/>
                </a:solidFill>
                <a:latin typeface="Calibri"/>
              </a:rPr>
              <a:t>•  Identity, teams, permissions, and visibility verified</a:t>
            </a:r>
          </a:p>
          <a:p>
            <a:pPr>
              <a:spcAft>
                <a:spcPts val="500"/>
              </a:spcAft>
            </a:pPr>
            <a:r>
              <a:rPr lang="en-US" sz="140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ect">
            <a:avLst/>
          </a:prstGeom>
          <a:solidFill>
            <a:srgbClr val="1F3D2C"/>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2697480"/>
          </a:xfrm>
          <a:prstGeom prst="rect">
            <a:avLst/>
          </a:prstGeom>
          <a:noFill/>
        </p:spPr>
        <p:txBody>
          <a:bodyPr wrap="square" lIns="36576" tIns="27432" rIns="36576" bIns="27432">
            <a:spAutoFit/>
          </a:bodyPr>
          <a:lstStyle/>
          <a:p>
            <a:pPr>
              <a:spcAft>
                <a:spcPts val="500"/>
              </a:spcAft>
            </a:pPr>
            <a:r>
              <a:rPr sz="1400">
                <a:solidFill>
                  <a:srgbClr val="F5F5F0"/>
                </a:solidFill>
                <a:latin typeface="Calibri"/>
              </a:rPr>
              <a:t>•  Equivalent build artifact produced</a:t>
            </a:r>
          </a:p>
          <a:p>
            <a:pPr>
              <a:spcAft>
                <a:spcPts val="500"/>
              </a:spcAft>
            </a:pPr>
            <a:r>
              <a:rPr sz="1400">
                <a:solidFill>
                  <a:srgbClr val="F5F5F0"/>
                </a:solidFill>
                <a:latin typeface="Calibri"/>
              </a:rPr>
              <a:t>•  Secrets, OIDC, and permissions reviewed</a:t>
            </a:r>
          </a:p>
          <a:p>
            <a:pPr>
              <a:spcAft>
                <a:spcPts val="500"/>
              </a:spcAft>
            </a:pPr>
            <a:r>
              <a:rPr sz="1400">
                <a:solidFill>
                  <a:srgbClr val="F5F5F0"/>
                </a:solidFill>
                <a:latin typeface="Calibri"/>
              </a:rPr>
              <a:t>•  Runner and network path proven</a:t>
            </a:r>
          </a:p>
          <a:p>
            <a:pPr>
              <a:spcAft>
                <a:spcPts val="500"/>
              </a:spcAft>
            </a:pPr>
            <a:r>
              <a:rPr sz="1400">
                <a:solidFill>
                  <a:srgbClr val="F5F5F0"/>
                </a:solidFill>
                <a:latin typeface="Calibri"/>
              </a:rPr>
              <a:t>•  Environments, approvals, and deployment exercised</a:t>
            </a:r>
          </a:p>
        </p:txBody>
      </p:sp>
      <p:sp>
        <p:nvSpPr>
          <p:cNvPr id="12" name="Rectangle 11"/>
          <p:cNvSpPr/>
          <p:nvPr/>
        </p:nvSpPr>
        <p:spPr>
          <a:xfrm>
            <a:off x="8010144" y="1508760"/>
            <a:ext cx="3493008" cy="3886200"/>
          </a:xfrm>
          <a:prstGeom prst="rect">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Definition of done: verified delivery, traceability, operational ownership, and reversibility.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3 — Crossing the River</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8C6A3F"/>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Sometimes “it doesn’t move, and that’s fine” is the honest answer.</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4 — Sprint Planning in Its Natural Habitat</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050" b="1" spc="120" dirty="0">
                <a:solidFill>
                  <a:srgbClr val="8C6A3F"/>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F5F5F0"/>
                </a:solidFill>
                <a:latin typeface="Cambria" pitchFamily="34" charset="0"/>
                <a:ea typeface="Cambria" pitchFamily="34" charset="-122"/>
                <a:cs typeface="Cambria" pitchFamily="34" charset="-120"/>
              </a:rPr>
              <a:t>Scaled agile, regulated, multi-team</a:t>
            </a:r>
            <a:endParaRPr lang="en-US" sz="1600" dirty="0"/>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F5F5F0"/>
                </a:solidFill>
                <a:latin typeface="Calibri" pitchFamily="34" charset="0"/>
                <a:ea typeface="Calibri" pitchFamily="34" charset="-122"/>
                <a:cs typeface="Calibri" pitchFamily="34" charset="-120"/>
              </a:rPr>
              <a:t>Azure Boards’ hierarchy and reporting earn their keep here.</a:t>
            </a:r>
            <a:endParaRPr lang="en-US" sz="1350" dirty="0"/>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617720"/>
            <a:ext cx="11064240" cy="160020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617720"/>
            <a:ext cx="11064240" cy="160020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ASIDE </a:t>
            </a:r>
            <a:r>
              <a:rPr sz="1500" b="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5 — Preventing the Uprising</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00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417320"/>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572768"/>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2697480"/>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2862072"/>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160520"/>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160520"/>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48640" y="525780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48640" y="536752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8C6A3F"/>
                </a:solidFill>
                <a:latin typeface="Calibri"/>
              </a:rPr>
              <a:t>— CLOSING NARRATION, FROM THE FAR BANK</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926080"/>
            <a:ext cx="6035040" cy="731520"/>
          </a:xfrm>
          <a:prstGeom prst="rect">
            <a:avLst/>
          </a:prstGeom>
          <a:noFill/>
          <a:ln/>
        </p:spPr>
        <p:txBody>
          <a:bodyPr wrap="square" lIns="0" tIns="0" rIns="0" bIns="0" rtlCol="0" anchor="ctr"/>
          <a:lstStyle/>
          <a:p>
            <a:pPr marL="0" indent="0" algn="l">
              <a:buNone/>
            </a:pPr>
            <a:r>
              <a:rPr sz="1800" b="0">
                <a:solidFill>
                  <a:srgbClr val="6B6B63"/>
                </a:solidFill>
                <a:latin typeface="Calibri"/>
              </a:rPr>
              <a:t>Azure DevOps to GitHub Enterprise: The Great Migration</a:t>
            </a:r>
            <a:endParaRPr lang="en-US" sz="1800" dirty="0"/>
          </a:p>
        </p:txBody>
      </p:sp>
      <p:sp>
        <p:nvSpPr>
          <p:cNvPr id="6" name="Text 4"/>
          <p:cNvSpPr txBox="1"/>
          <p:nvPr/>
        </p:nvSpPr>
        <p:spPr>
          <a:xfrm>
            <a:off x="777240" y="3931920"/>
            <a:ext cx="6035040" cy="411480"/>
          </a:xfrm>
          <a:prstGeom prst="rect">
            <a:avLst/>
          </a:prstGeom>
          <a:noFill/>
          <a:ln/>
        </p:spPr>
        <p:txBody>
          <a:bodyPr wrap="square" lIns="0" tIns="0" rIns="0" bIns="0" rtlCol="0" anchor="ctr"/>
          <a:lstStyle/>
          <a:p>
            <a:pPr marL="0" indent="0" algn="l">
              <a:buNone/>
            </a:pPr>
            <a:r>
              <a:rPr sz="2000" b="1">
                <a:solidFill>
                  <a:srgbClr val="1F3D2C"/>
                </a:solidFill>
                <a:latin typeface="Cambria"/>
              </a:rPr>
              <a:t>Kevin Neumann</a:t>
            </a:r>
            <a:endParaRPr lang="en-US" sz="2000" dirty="0"/>
          </a:p>
        </p:txBody>
      </p:sp>
      <p:sp>
        <p:nvSpPr>
          <p:cNvPr id="7" name="Text 5"/>
          <p:cNvSpPr txBox="1"/>
          <p:nvPr/>
        </p:nvSpPr>
        <p:spPr>
          <a:xfrm>
            <a:off x="777240" y="4370832"/>
            <a:ext cx="6035040" cy="365760"/>
          </a:xfrm>
          <a:prstGeom prst="rect">
            <a:avLst/>
          </a:prstGeom>
          <a:noFill/>
          <a:ln/>
        </p:spPr>
        <p:txBody>
          <a:bodyPr wrap="square" lIns="0" tIns="0" rIns="0" bIns="0" rtlCol="0" anchor="ctr"/>
          <a:lstStyle/>
          <a:p>
            <a:pPr marL="0" indent="0" algn="l">
              <a:buNone/>
            </a:pPr>
            <a:r>
              <a:rPr sz="1500" b="0">
                <a:solidFill>
                  <a:srgbClr val="2B2B2B"/>
                </a:solidFill>
                <a:latin typeface="Calibri"/>
              </a:rPr>
              <a:t>kneumann@hunter.com</a:t>
            </a:r>
            <a:endParaRPr lang="en-US" sz="1500" dirty="0"/>
          </a:p>
        </p:txBody>
      </p:sp>
      <p:sp>
        <p:nvSpPr>
          <p:cNvPr id="10" name="Text 7"/>
          <p:cNvSpPr txBox="1"/>
          <p:nvPr/>
        </p:nvSpPr>
        <p:spPr>
          <a:xfrm>
            <a:off x="777240" y="5212080"/>
            <a:ext cx="6035040" cy="411480"/>
          </a:xfrm>
          <a:prstGeom prst="rect">
            <a:avLst/>
          </a:prstGeom>
          <a:noFill/>
          <a:ln/>
        </p:spPr>
        <p:txBody>
          <a:bodyPr wrap="square" lIns="0" tIns="0" rIns="0" bIns="0" rtlCol="0" anchor="ctr"/>
          <a:lstStyle/>
          <a:p>
            <a:pPr marL="0" indent="0" algn="l">
              <a:buNone/>
            </a:pPr>
            <a:r>
              <a:rPr sz="1700" b="0">
                <a:solidFill>
                  <a:srgbClr val="C1440E"/>
                </a:solidFill>
                <a:latin typeface="Calibri"/>
              </a:rPr>
              <a:t>Open floor — questions welcome.</a:t>
            </a:r>
            <a:endParaRPr lang="en-US" sz="1700" dirty="0"/>
          </a:p>
        </p:txBody>
      </p:sp>
      <p:sp>
        <p:nvSpPr>
          <p:cNvPr id="11" name="Rounded Rectangle 10"/>
          <p:cNvSpPr/>
          <p:nvPr/>
        </p:nvSpPr>
        <p:spPr>
          <a:xfrm>
            <a:off x="7360920" y="1783080"/>
            <a:ext cx="4297680" cy="420624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360920" y="1938528"/>
            <a:ext cx="4297680" cy="292608"/>
          </a:xfrm>
          <a:prstGeom prst="rect">
            <a:avLst/>
          </a:prstGeom>
          <a:noFill/>
        </p:spPr>
        <p:txBody>
          <a:bodyPr wrap="square">
            <a:spAutoFit/>
          </a:bodyPr>
          <a:lstStyle/>
          <a:p>
            <a:pPr algn="ctr"/>
            <a:r>
              <a:rPr sz="1100" b="1">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458200" y="2304288"/>
            <a:ext cx="2103120" cy="2103120"/>
          </a:xfrm>
          <a:prstGeom prst="rect">
            <a:avLst/>
          </a:prstGeom>
        </p:spPr>
      </p:pic>
      <p:sp>
        <p:nvSpPr>
          <p:cNvPr id="13" name="TextBox 12"/>
          <p:cNvSpPr txBox="1"/>
          <p:nvPr/>
        </p:nvSpPr>
        <p:spPr>
          <a:xfrm>
            <a:off x="7360920" y="4526280"/>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543800" y="4919472"/>
            <a:ext cx="3931920" cy="960120"/>
          </a:xfrm>
          <a:prstGeom prst="rect">
            <a:avLst/>
          </a:prstGeom>
          <a:noFill/>
        </p:spPr>
        <p:txBody>
          <a:bodyPr wrap="square">
            <a:spAutoFit/>
          </a:bodyPr>
          <a:lstStyle/>
          <a:p>
            <a:pPr algn="ctr"/>
            <a:r>
              <a:rPr sz="1150" b="0">
                <a:solidFill>
                  <a:srgbClr val="2B2B2B"/>
                </a:solidFill>
                <a:latin typeface="Calibri"/>
              </a:rPr>
              <a:t>Azure Pipelines → Actions migration docs</a:t>
            </a:r>
          </a:p>
          <a:p>
            <a:pPr algn="ctr">
              <a:spcBef>
                <a:spcPts val="300"/>
              </a:spcBef>
            </a:pPr>
            <a:r>
              <a:rPr sz="1150" b="0">
                <a:solidFill>
                  <a:srgbClr val="2B2B2B"/>
                </a:solidFill>
                <a:latin typeface="Calibri"/>
              </a:rPr>
              <a:t>gh-ado2gh  ·  gh-actions-importer</a:t>
            </a:r>
          </a:p>
          <a:p>
            <a:pPr algn="ctr">
              <a:spcBef>
                <a:spcPts val="300"/>
              </a:spcBef>
            </a:pPr>
            <a:r>
              <a:rPr sz="1150" b="0">
                <a:solidFill>
                  <a:srgbClr val="2B2B2B"/>
                </a:solidFill>
                <a:latin typeface="Calibri"/>
              </a:rPr>
              <a:t>AI analyze / convert / validate prompts</a:t>
            </a:r>
          </a:p>
          <a:p>
            <a:pPr algn="ctr">
              <a:spcBef>
                <a:spcPts val="300"/>
              </a:spcBef>
            </a:pPr>
            <a:r>
              <a:rPr sz="1150" b="0">
                <a:solidFill>
                  <a:srgbClr val="2B2B2B"/>
                </a:solidFill>
                <a:latin typeface="Calibri"/>
              </a:rPr>
              <a:t>Every note behind this talk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1409</TotalTime>
  <Words>11801</Words>
  <Application>Microsoft Office PowerPoint</Application>
  <PresentationFormat>Widescreen</PresentationFormat>
  <Paragraphs>787</Paragraphs>
  <Slides>56</Slides>
  <Notes>56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56</vt:i4>
      </vt:variant>
    </vt:vector>
  </HeadingPairs>
  <TitlesOfParts>
    <vt:vector size="62" baseType="lpstr">
      <vt:lpstr>Aptos</vt:lpstr>
      <vt:lpstr>Arial</vt:lpstr>
      <vt:lpstr>Calibri</vt:lpstr>
      <vt:lpstr>Cambria</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13</cp:revision>
  <dcterms:created xsi:type="dcterms:W3CDTF">2026-09-21T19:07:56Z</dcterms:created>
  <dcterms:modified xsi:type="dcterms:W3CDTF">2026-09-27T01:27:55Z</dcterms:modified>
</cp:coreProperties>
</file>