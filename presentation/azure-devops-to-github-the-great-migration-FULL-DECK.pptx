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 </a:t>
            </a:r>
          </a:p>
        </p:txBody>
      </p:sp>
      <p:sp>
        <p:nvSpPr>
          <p:cNvPr id="8" name="PlaceHolder 4"/>
          <p:cNvSpPr>
            <a:spLocks noGrp="1"/>
          </p:cNvSpPr>
          <p:nvPr>
            <p:ph type="dt" idx="2"/>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p>
        </p:txBody>
      </p:sp>
      <p:sp>
        <p:nvSpPr>
          <p:cNvPr id="9" name="PlaceHolder 5"/>
          <p:cNvSpPr>
            <a:spLocks noGrp="1"/>
          </p:cNvSpPr>
          <p:nvPr>
            <p:ph type="ftr" idx="3"/>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p>
        </p:txBody>
      </p:sp>
      <p:sp>
        <p:nvSpPr>
          <p:cNvPr id="10" name="PlaceHolder 6"/>
          <p:cNvSpPr>
            <a:spLocks noGrp="1"/>
          </p:cNvSpPr>
          <p:nvPr>
            <p:ph type="sldNum" idx="4"/>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D35131DA-E569-447C-A2B9-06BDF3F77CDB}"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7" name="PlaceHolder 1"/>
          <p:cNvSpPr>
            <a:spLocks noGrp="1" noRot="1" noChangeAspect="1"/>
          </p:cNvSpPr>
          <p:nvPr>
            <p:ph type="sldImg"/>
          </p:nvPr>
        </p:nvSpPr>
        <p:spPr>
          <a:xfrm>
            <a:off x="0" y="0"/>
            <a:ext cx="0" cy="0"/>
          </a:xfrm>
          <a:prstGeom prst="rect">
            <a:avLst/>
          </a:prstGeom>
          <a:ln w="0">
            <a:noFill/>
          </a:ln>
        </p:spPr>
      </p:sp>
      <p:sp>
        <p:nvSpPr>
          <p:cNvPr id="61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0:15 for this slide (cum 0:00-0:15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619"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45B25045-C587-47BF-8900-5012236FC1A5}"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0" name="PlaceHolder 1"/>
          <p:cNvSpPr>
            <a:spLocks noGrp="1" noRot="1" noChangeAspect="1"/>
          </p:cNvSpPr>
          <p:nvPr>
            <p:ph type="sldImg"/>
          </p:nvPr>
        </p:nvSpPr>
        <p:spPr>
          <a:xfrm>
            <a:off x="0" y="0"/>
            <a:ext cx="0" cy="0"/>
          </a:xfrm>
          <a:prstGeom prst="rect">
            <a:avLst/>
          </a:prstGeom>
          <a:ln w="0">
            <a:noFill/>
          </a:ln>
        </p:spPr>
      </p:sp>
      <p:sp>
        <p:nvSpPr>
          <p:cNvPr id="62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defTabSz="914400">
              <a:lnSpc>
                <a:spcPct val="100000"/>
              </a:lnSpc>
              <a:buNone/>
              <a:tabLst>
                <a:tab pos="0" algn="l"/>
              </a:tabLst>
            </a:pPr>
            <a:r>
              <a:rPr lang="en-US" sz="2000" b="1" u="none" strike="noStrike">
                <a:solidFill>
                  <a:srgbClr val="000000"/>
                </a:solidFill>
                <a:effectLst/>
                <a:uFillTx/>
                <a:latin typeface="Arial"/>
              </a:rPr>
              <a:t>TIMING: budget 0:30 for this slide (cum 0:15-0:45 of 90:00).</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Standard sponsor-thanks slide</a:t>
            </a:r>
          </a:p>
        </p:txBody>
      </p:sp>
      <p:sp>
        <p:nvSpPr>
          <p:cNvPr id="622"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B80D6E9-F850-4CEA-9FA6-7891F1E35155}" type="slidenum">
              <a:rPr lang="en-US" sz="1800" b="0" u="none" strike="noStrike">
                <a:solidFill>
                  <a:schemeClr val="dk1"/>
                </a:solidFill>
                <a:effectLst/>
                <a:uFillTx/>
                <a:latin typeface="+mn-lt"/>
                <a:ea typeface="+mn-ea"/>
              </a:rPr>
              <a:t>2</a:t>
            </a:fld>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3" name="PlaceHolder 1"/>
          <p:cNvSpPr>
            <a:spLocks noGrp="1" noRot="1" noChangeAspect="1"/>
          </p:cNvSpPr>
          <p:nvPr>
            <p:ph type="sldImg"/>
          </p:nvPr>
        </p:nvSpPr>
        <p:spPr>
          <a:xfrm>
            <a:off x="0" y="0"/>
            <a:ext cx="0" cy="0"/>
          </a:xfrm>
          <a:prstGeom prst="rect">
            <a:avLst/>
          </a:prstGeom>
          <a:ln w="0">
            <a:noFill/>
          </a:ln>
        </p:spPr>
      </p:sp>
      <p:sp>
        <p:nvSpPr>
          <p:cNvPr id="62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0:50 for this slide (cum 0:45-1:35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Section 3 includes the ELM slide; give it a few seconds and move 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is not a GitHub sales pitch. It is a field guide to what transfers cleanly, what must be redesigned, and what should deliberately remain in Azure DevOps.</a:t>
            </a:r>
          </a:p>
        </p:txBody>
      </p:sp>
      <p:sp>
        <p:nvSpPr>
          <p:cNvPr id="625"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5505DA0-DA76-4806-95BA-FB82BA2143C5}" type="slidenum">
              <a:rPr lang="en-US" sz="1800" b="0" u="none" strike="noStrike">
                <a:solidFill>
                  <a:schemeClr val="dk1"/>
                </a:solidFill>
                <a:effectLst/>
                <a:uFillTx/>
                <a:latin typeface="+mn-lt"/>
                <a:ea typeface="+mn-ea"/>
              </a:rPr>
              <a:t>3</a:t>
            </a:fld>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noRot="1" noChangeAspect="1"/>
          </p:cNvSpPr>
          <p:nvPr>
            <p:ph type="sldImg"/>
          </p:nvPr>
        </p:nvSpPr>
        <p:spPr>
          <a:xfrm>
            <a:off x="0" y="0"/>
            <a:ext cx="0" cy="0"/>
          </a:xfrm>
          <a:prstGeom prst="rect">
            <a:avLst/>
          </a:prstGeom>
          <a:ln w="0">
            <a:noFill/>
          </a:ln>
        </p:spPr>
      </p:sp>
      <p:sp>
        <p:nvSpPr>
          <p:cNvPr id="62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0:20 for this slide (cum 1:35-1:55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628"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7B01F68-53A5-48B9-BC4D-1C17DC25EACC}" type="slidenum">
              <a:rPr lang="en-US" sz="1800" b="0" u="none" strike="noStrike">
                <a:solidFill>
                  <a:schemeClr val="dk1"/>
                </a:solidFill>
                <a:effectLst/>
                <a:uFillTx/>
                <a:latin typeface="+mn-lt"/>
                <a:ea typeface="+mn-ea"/>
              </a:rPr>
              <a:t>4</a:t>
            </a:fld>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9" name="PlaceHolder 1"/>
          <p:cNvSpPr>
            <a:spLocks noGrp="1" noRot="1" noChangeAspect="1"/>
          </p:cNvSpPr>
          <p:nvPr>
            <p:ph type="sldImg"/>
          </p:nvPr>
        </p:nvSpPr>
        <p:spPr>
          <a:xfrm>
            <a:off x="0" y="0"/>
            <a:ext cx="0" cy="0"/>
          </a:xfrm>
          <a:prstGeom prst="rect">
            <a:avLst/>
          </a:prstGeom>
          <a:ln w="0">
            <a:noFill/>
          </a:ln>
        </p:spPr>
      </p:sp>
      <p:sp>
        <p:nvSpPr>
          <p:cNvPr id="63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2:35 for this slide (cum 1:55-4:30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Name the real reason teams migrate before the polite reasons: most of the agentic Copilot work (cloud agent, agentic code review, agentic Autofix, Agent HQ) ships on GitHub first. Be fair to Microsoft: Azure DevOps is gaining AI features too, and Copilot in the IDE works wherever the repository is hosted. The point is not that Azure DevOps has nothing; it is that the frontier depends on where the repository lives.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 not frame this as “GitHub has AI and Azure DevOps does not.” Frame it as a difference in native depth, integration, and repository dependency.</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CUT FROM THE SLIDE, for Q&amp;A:</a:t>
            </a:r>
          </a:p>
          <a:p>
            <a:pPr indent="0" algn="l">
              <a:lnSpc>
                <a:spcPct val="100000"/>
              </a:lnSpc>
              <a:buNone/>
            </a:pPr>
            <a:r>
              <a:rPr lang="en-US" sz="2000" b="0" u="none" strike="noStrike">
                <a:solidFill>
                  <a:srgbClr val="000000"/>
                </a:solidFill>
                <a:effectLst/>
                <a:uFillTx/>
                <a:latin typeface="Arial"/>
              </a:rPr>
              <a:t>- Repository-aware chat. GitHub: native workspace and repository context. Azure DevOps: local repo context, plus Azure DevOps service context through MCP.</a:t>
            </a:r>
          </a:p>
          <a:p>
            <a:pPr indent="0" algn="l">
              <a:lnSpc>
                <a:spcPct val="100000"/>
              </a:lnSpc>
              <a:buNone/>
            </a:pPr>
            <a:r>
              <a:rPr lang="en-US" sz="2000" b="0" u="none" strike="noStrike">
                <a:solidFill>
                  <a:srgbClr val="000000"/>
                </a:solidFill>
                <a:effectLst/>
                <a:uFillTx/>
                <a:latin typeface="Arial"/>
              </a:rPr>
              <a:t>- Multi-agent orchestration. GitHub: a central hub running Copilot, Claude and Codex sessions in parallel. Azure DevOps: no native equivalent; external agents connect through MCP.</a:t>
            </a:r>
          </a:p>
          <a:p>
            <a:pPr indent="0" algn="l">
              <a:lnSpc>
                <a:spcPct val="100000"/>
              </a:lnSpc>
              <a:buNone/>
            </a:pPr>
            <a:r>
              <a:rPr lang="en-US" sz="2000" b="0" u="none" strike="noStrike">
                <a:solidFill>
                  <a:srgbClr val="000000"/>
                </a:solidFill>
                <a:effectLst/>
                <a:uFillTx/>
                <a:latin typeface="Arial"/>
              </a:rPr>
              <a:t>- Azure DevOps MCP. The Remote MCP Server is GA and the server itself is free; normal Azure DevOps pricing and AI-platform usage charges may still apply. The next slide covers MCP.</a:t>
            </a:r>
          </a:p>
          <a:p>
            <a:pPr indent="0" algn="l">
              <a:lnSpc>
                <a:spcPct val="100000"/>
              </a:lnSpc>
              <a:buNone/>
            </a:pPr>
            <a:r>
              <a:rPr lang="en-US" sz="2000" b="0" u="none" strike="noStrike">
                <a:solidFill>
                  <a:srgbClr val="000000"/>
                </a:solidFill>
                <a:effectLst/>
                <a:uFillTx/>
                <a:latin typeface="Arial"/>
              </a:rPr>
              <a:t>- Licensing. Paid Copilot for agents and review; GitHub Code Security where Autofix is needed.</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capability gap is real, but it is neither absolute nor static. As of September 21, 2026: Azure DevOps Remote MCP Server is generally available; Copilot Code Review for Azure Repos is in public preview; Copilot Autofix for Azure DevOps remains in limited public preview; and GitHub Copilot cloud agent still requires a GitHub-hosted repository even when initiated from Azure Boards.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 (accessed September 21, 2026): GitHub Docs — About GitHub Copilot cloud agent; Integrating Copilot cloud agent with Azure Boards; About agent management; About autofix for code scanning. Microsoft Learn — Azure DevOps Sprint 278 and Sprint 279 release notes; Azure DevOps MCP Server overview; Copilot code review for Azure Repos; Copilot Autofix for GitHub Advanced Security for Azure DevOps. GitHub Changelog — Copilot code review now runs on an agentic architecture (March 5, 2026).</a:t>
            </a:r>
          </a:p>
          <a:p>
            <a:pPr indent="0" algn="l">
              <a:lnSpc>
                <a:spcPct val="100000"/>
              </a:lnSpc>
              <a:buNone/>
            </a:pPr>
            <a:endParaRPr lang="en-US" sz="2000" b="0" u="none" strike="noStrike">
              <a:solidFill>
                <a:srgbClr val="000000"/>
              </a:solidFill>
              <a:effectLst/>
              <a:uFillTx/>
              <a:latin typeface="Arial"/>
            </a:endParaRPr>
          </a:p>
        </p:txBody>
      </p:sp>
      <p:sp>
        <p:nvSpPr>
          <p:cNvPr id="631"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B649A5C-E5E6-4AA9-A5D2-5CEC30EA2E1C}" type="slidenum">
              <a:rPr lang="en-US" sz="1800" b="0" u="none" strike="noStrike">
                <a:solidFill>
                  <a:schemeClr val="dk1"/>
                </a:solidFill>
                <a:effectLst/>
                <a:uFillTx/>
                <a:latin typeface="+mn-lt"/>
                <a:ea typeface="+mn-ea"/>
              </a:rPr>
              <a:t>5</a:t>
            </a:fld>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PlaceHolder 1"/>
          <p:cNvSpPr>
            <a:spLocks noGrp="1" noRot="1" noChangeAspect="1"/>
          </p:cNvSpPr>
          <p:nvPr>
            <p:ph type="sldImg"/>
          </p:nvPr>
        </p:nvSpPr>
        <p:spPr>
          <a:xfrm>
            <a:off x="0" y="0"/>
            <a:ext cx="0" cy="0"/>
          </a:xfrm>
          <a:prstGeom prst="rect">
            <a:avLst/>
          </a:prstGeom>
          <a:ln w="0">
            <a:noFill/>
          </a:ln>
        </p:spPr>
      </p:sp>
      <p:sp>
        <p:nvSpPr>
          <p:cNvPr id="63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1:15 for this slide (cum 4:30-5:45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and keep it brisk — this is a framing slide, not a deep dive.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What it does not change: where pull-request automation runs, where repository security analysis runs, which policies can be enforced natively, which platform owns repository governance, and where code-centric agent workflows execute. All of those still follow the code.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634"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A043559-4702-4A7D-9EF3-382BCBEB92FF}" type="slidenum">
              <a:rPr lang="en-US" sz="1800" b="0" u="none" strike="noStrike">
                <a:solidFill>
                  <a:schemeClr val="dk1"/>
                </a:solidFill>
                <a:effectLst/>
                <a:uFillTx/>
                <a:latin typeface="+mn-lt"/>
                <a:ea typeface="+mn-ea"/>
              </a:rPr>
              <a:t>6</a:t>
            </a:fld>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PlaceHolder 1"/>
          <p:cNvSpPr>
            <a:spLocks noGrp="1" noRot="1" noChangeAspect="1"/>
          </p:cNvSpPr>
          <p:nvPr>
            <p:ph type="sldImg"/>
          </p:nvPr>
        </p:nvSpPr>
        <p:spPr>
          <a:xfrm>
            <a:off x="0" y="0"/>
            <a:ext cx="0" cy="0"/>
          </a:xfrm>
          <a:prstGeom prst="rect">
            <a:avLst/>
          </a:prstGeom>
          <a:ln w="0">
            <a:noFill/>
          </a:ln>
        </p:spPr>
      </p:sp>
      <p:sp>
        <p:nvSpPr>
          <p:cNvPr id="63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2:15 for this slide (cum 5:45-8:00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move quickly — five rows, roughly fifteen seconds each, do not read them verbatim. Frame it up front as “even if you delete the entire AI argument, here is why teams still move.”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180M+ figure is GitHub's own Octoverse number and is current. On the marketplace row, the honest comparison is breadth of third-party actions versus the Azure Pipelines task catalogue — claim volume, not quality.</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637"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F719270-42EA-4054-9CC6-F9A989A02031}" type="slidenum">
              <a:rPr lang="en-US" sz="1800" b="0" u="none" strike="noStrike">
                <a:solidFill>
                  <a:schemeClr val="dk1"/>
                </a:solidFill>
                <a:effectLst/>
                <a:uFillTx/>
                <a:latin typeface="+mn-lt"/>
                <a:ea typeface="+mn-ea"/>
              </a:rPr>
              <a:t>7</a:t>
            </a:fld>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noRot="1" noChangeAspect="1"/>
          </p:cNvSpPr>
          <p:nvPr>
            <p:ph type="sldImg"/>
          </p:nvPr>
        </p:nvSpPr>
        <p:spPr>
          <a:xfrm>
            <a:off x="0" y="0"/>
            <a:ext cx="0" cy="0"/>
          </a:xfrm>
          <a:prstGeom prst="rect">
            <a:avLst/>
          </a:prstGeom>
          <a:ln w="0">
            <a:noFill/>
          </a:ln>
        </p:spPr>
      </p:sp>
      <p:sp>
        <p:nvSpPr>
          <p:cNvPr id="63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0:20 for this slide (cum 8:00-8:20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DOCUMENTARY VOICE — the only register for this slide. Deliver slowly, deadpan, faintly awed, same conceit as section 1's opener. Pause after the line, then go straight back to normal delivery for the scorecard slide.</a:t>
            </a:r>
          </a:p>
        </p:txBody>
      </p:sp>
      <p:sp>
        <p:nvSpPr>
          <p:cNvPr id="640"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CB561454-7786-4D46-856E-EB36034D0F56}" type="slidenum">
              <a:rPr lang="en-US" sz="1800" b="0" u="none" strike="noStrike">
                <a:solidFill>
                  <a:schemeClr val="dk1"/>
                </a:solidFill>
                <a:effectLst/>
                <a:uFillTx/>
                <a:latin typeface="+mn-lt"/>
                <a:ea typeface="+mn-ea"/>
              </a:rPr>
              <a:t>8</a:t>
            </a:fld>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PlaceHolder 1"/>
          <p:cNvSpPr>
            <a:spLocks noGrp="1" noRot="1" noChangeAspect="1"/>
          </p:cNvSpPr>
          <p:nvPr>
            <p:ph type="sldImg"/>
          </p:nvPr>
        </p:nvSpPr>
        <p:spPr>
          <a:xfrm>
            <a:off x="0" y="0"/>
            <a:ext cx="0" cy="0"/>
          </a:xfrm>
          <a:prstGeom prst="rect">
            <a:avLst/>
          </a:prstGeom>
          <a:ln w="0">
            <a:noFill/>
          </a:ln>
        </p:spPr>
      </p:sp>
      <p:sp>
        <p:nvSpPr>
          <p:cNvPr id="64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2:05 for this slide (cum 8:20-10:25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This is the spoiler slide — the full seven-subsystem scorecard for the whole talk, not just section 2. Two travel clean (Repos, Wiki), four need a decision (Packages/Artifacts, Pipelines, Dashboards, Boards), one stays behind entirely (Test Plans).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Don't over-explain each row yet. Pipelines gets all of section 3; Boards and Test Plans get all of section 4. This slide's job is just to set the map before the detailed stops. Repos, Wiki, Packages/Artifacts and Dashboards get their own slides in the rest of this section.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643" name="PlaceHolder 3"/>
          <p:cNvSpPr>
            <a:spLocks noGrp="1"/>
          </p:cNvSpPr>
          <p:nvPr>
            <p:ph type="sldNum" idx="2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446672BC-91C6-4371-9345-A9D29E11AECF}" type="slidenum">
              <a:rPr lang="en-US" sz="1800" b="0" u="none" strike="noStrike">
                <a:solidFill>
                  <a:schemeClr val="dk1"/>
                </a:solidFill>
                <a:effectLst/>
                <a:uFillTx/>
                <a:latin typeface="+mn-lt"/>
                <a:ea typeface="+mn-ea"/>
              </a:rPr>
              <a:t>9</a:t>
            </a:fld>
            <a:endParaRPr lang="en-US" sz="18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4" name="PlaceHolder 1"/>
          <p:cNvSpPr>
            <a:spLocks noGrp="1" noRot="1" noChangeAspect="1"/>
          </p:cNvSpPr>
          <p:nvPr>
            <p:ph type="sldImg"/>
          </p:nvPr>
        </p:nvSpPr>
        <p:spPr>
          <a:xfrm>
            <a:off x="0" y="0"/>
            <a:ext cx="0" cy="0"/>
          </a:xfrm>
          <a:prstGeom prst="rect">
            <a:avLst/>
          </a:prstGeom>
          <a:ln w="0">
            <a:noFill/>
          </a:ln>
        </p:spPr>
      </p:sp>
      <p:sp>
        <p:nvSpPr>
          <p:cNvPr id="64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defTabSz="914400">
              <a:lnSpc>
                <a:spcPct val="100000"/>
              </a:lnSpc>
              <a:buNone/>
              <a:tabLst>
                <a:tab pos="0" algn="l"/>
              </a:tabLst>
            </a:pPr>
            <a:r>
              <a:rPr lang="en-US" sz="2000" b="1" u="none" strike="noStrike">
                <a:solidFill>
                  <a:srgbClr val="000000"/>
                </a:solidFill>
                <a:effectLst/>
                <a:uFillTx/>
                <a:latin typeface="Arial"/>
              </a:rPr>
              <a:t>TIMING: budget 1:45 for this slide (cum 10:25-12:10 of 90:00).</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Straight delivery. Git is Git, so commit history is easy, and pull requests plus most branch policies migrate without much drama through GitHub Enterprise Importer.</a:t>
            </a:r>
            <a:br>
              <a:rPr sz="2000"/>
            </a:br>
            <a:br>
              <a:rPr sz="2000"/>
            </a:br>
            <a:r>
              <a:rPr lang="en-US" sz="2000" b="0" u="none" strike="noStrike">
                <a:solidFill>
                  <a:srgbClr val="000000"/>
                </a:solidFill>
                <a:effectLst/>
                <a:uFillTx/>
                <a:latin typeface="Arial"/>
              </a:rPr>
              <a:t>Highlight that ADO Repos != GitHub Repos</a:t>
            </a: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Verify target visibility during the trial migration. Migration scripts can preserve or explicitly set visibility, but enterprise policies and managed-user configurations may constrain the available choices.</a:t>
            </a: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If there’s time, mention the hard limits: during migration, 40 GiB per repository and 400 MiB per file; afterwards, GitHub’s normal 100 MiB per file, 2 GiB per commit and 2 GiB per push. Don’t recite them from the slide.</a:t>
            </a:r>
          </a:p>
        </p:txBody>
      </p:sp>
      <p:sp>
        <p:nvSpPr>
          <p:cNvPr id="646" name="PlaceHolder 3"/>
          <p:cNvSpPr>
            <a:spLocks noGrp="1"/>
          </p:cNvSpPr>
          <p:nvPr>
            <p:ph type="sldNum" idx="2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9E581F6-A2E5-475B-BE92-D88EE903DA84}" type="slidenum">
              <a:rPr lang="en-US" sz="1800" b="0" u="none" strike="noStrike">
                <a:solidFill>
                  <a:schemeClr val="dk1"/>
                </a:solidFill>
                <a:effectLst/>
                <a:uFillTx/>
                <a:latin typeface="+mn-lt"/>
                <a:ea typeface="+mn-ea"/>
              </a:rPr>
              <a:t>10</a:t>
            </a:fld>
            <a:endParaRPr lang="en-US" sz="18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7" name="PlaceHolder 1"/>
          <p:cNvSpPr>
            <a:spLocks noGrp="1" noRot="1" noChangeAspect="1"/>
          </p:cNvSpPr>
          <p:nvPr>
            <p:ph type="sldImg"/>
          </p:nvPr>
        </p:nvSpPr>
        <p:spPr>
          <a:xfrm>
            <a:off x="0" y="0"/>
            <a:ext cx="0" cy="0"/>
          </a:xfrm>
          <a:prstGeom prst="rect">
            <a:avLst/>
          </a:prstGeom>
          <a:ln w="0">
            <a:noFill/>
          </a:ln>
        </p:spPr>
      </p:sp>
      <p:sp>
        <p:nvSpPr>
          <p:cNvPr id="64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1:45 for this slide (cum 12:10-13:55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pPr indent="0" algn="l">
              <a:lnSpc>
                <a:spcPct val="100000"/>
              </a:lnSpc>
              <a:buNone/>
            </a:pPr>
            <a:endParaRPr lang="en-US" sz="2000" b="0" u="none" strike="noStrike">
              <a:solidFill>
                <a:srgbClr val="000000"/>
              </a:solidFill>
              <a:effectLst/>
              <a:uFillTx/>
              <a:latin typeface="Arial"/>
            </a:endParaRPr>
          </a:p>
        </p:txBody>
      </p:sp>
      <p:sp>
        <p:nvSpPr>
          <p:cNvPr id="649" name="PlaceHolder 3"/>
          <p:cNvSpPr>
            <a:spLocks noGrp="1"/>
          </p:cNvSpPr>
          <p:nvPr>
            <p:ph type="sldNum" idx="2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C12E774-C8AA-46BA-9279-8EB891DA0B8B}" type="slidenum">
              <a:rPr lang="en-US" sz="1800" b="0" u="none" strike="noStrike">
                <a:solidFill>
                  <a:schemeClr val="dk1"/>
                </a:solidFill>
                <a:effectLst/>
                <a:uFillTx/>
                <a:latin typeface="+mn-lt"/>
                <a:ea typeface="+mn-ea"/>
              </a:rPr>
              <a:t>11</a:t>
            </a:fld>
            <a:endParaRPr lang="en-US" sz="18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0" name="PlaceHolder 1"/>
          <p:cNvSpPr>
            <a:spLocks noGrp="1" noRot="1" noChangeAspect="1"/>
          </p:cNvSpPr>
          <p:nvPr>
            <p:ph type="sldImg"/>
          </p:nvPr>
        </p:nvSpPr>
        <p:spPr>
          <a:xfrm>
            <a:off x="0" y="0"/>
            <a:ext cx="0" cy="0"/>
          </a:xfrm>
          <a:prstGeom prst="rect">
            <a:avLst/>
          </a:prstGeom>
          <a:ln w="0">
            <a:noFill/>
          </a:ln>
        </p:spPr>
      </p:sp>
      <p:sp>
        <p:nvSpPr>
          <p:cNvPr id="65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1:45 for this slide (cum 13:55-15:40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652" name="PlaceHolder 3"/>
          <p:cNvSpPr>
            <a:spLocks noGrp="1"/>
          </p:cNvSpPr>
          <p:nvPr>
            <p:ph type="sldNum" idx="2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93B606AE-21E9-45C1-8847-D4FC939C5423}" type="slidenum">
              <a:rPr lang="en-US" sz="1800" b="0" u="none" strike="noStrike">
                <a:solidFill>
                  <a:schemeClr val="dk1"/>
                </a:solidFill>
                <a:effectLst/>
                <a:uFillTx/>
                <a:latin typeface="+mn-lt"/>
                <a:ea typeface="+mn-ea"/>
              </a:rPr>
              <a:t>12</a:t>
            </a:fld>
            <a:endParaRPr lang="en-US" sz="18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3" name="PlaceHolder 1"/>
          <p:cNvSpPr>
            <a:spLocks noGrp="1" noRot="1" noChangeAspect="1"/>
          </p:cNvSpPr>
          <p:nvPr>
            <p:ph type="sldImg"/>
          </p:nvPr>
        </p:nvSpPr>
        <p:spPr>
          <a:xfrm>
            <a:off x="0" y="0"/>
            <a:ext cx="0" cy="0"/>
          </a:xfrm>
          <a:prstGeom prst="rect">
            <a:avLst/>
          </a:prstGeom>
          <a:ln w="0">
            <a:noFill/>
          </a:ln>
        </p:spPr>
      </p:sp>
      <p:sp>
        <p:nvSpPr>
          <p:cNvPr id="65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2:05 for this slide (cum 15:40-17:45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and lead with the correction rather than burying it: GitHub does not ship a DORA dashboard.</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655" name="PlaceHolder 3"/>
          <p:cNvSpPr>
            <a:spLocks noGrp="1"/>
          </p:cNvSpPr>
          <p:nvPr>
            <p:ph type="sldNum" idx="2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D185EDA-4529-46BA-9EA8-70B0A6D4FFE1}" type="slidenum">
              <a:rPr lang="en-US" sz="1800" b="0" u="none" strike="noStrike">
                <a:solidFill>
                  <a:schemeClr val="dk1"/>
                </a:solidFill>
                <a:effectLst/>
                <a:uFillTx/>
                <a:latin typeface="+mn-lt"/>
                <a:ea typeface="+mn-ea"/>
              </a:rPr>
              <a:t>13</a:t>
            </a:fld>
            <a:endParaRPr lang="en-US" sz="18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PlaceHolder 1"/>
          <p:cNvSpPr>
            <a:spLocks noGrp="1" noRot="1" noChangeAspect="1"/>
          </p:cNvSpPr>
          <p:nvPr>
            <p:ph type="sldImg"/>
          </p:nvPr>
        </p:nvSpPr>
        <p:spPr>
          <a:xfrm>
            <a:off x="0" y="0"/>
            <a:ext cx="0" cy="0"/>
          </a:xfrm>
          <a:prstGeom prst="rect">
            <a:avLst/>
          </a:prstGeom>
          <a:ln w="0">
            <a:noFill/>
          </a:ln>
        </p:spPr>
      </p:sp>
      <p:sp>
        <p:nvSpPr>
          <p:cNvPr id="65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1:05 for this slide (cum 17:45-18:50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658" name="PlaceHolder 3"/>
          <p:cNvSpPr>
            <a:spLocks noGrp="1"/>
          </p:cNvSpPr>
          <p:nvPr>
            <p:ph type="sldNum" idx="3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C0CA2684-019A-4553-86C3-0FB455A171AD}" type="slidenum">
              <a:rPr lang="en-US" sz="1800" b="0" u="none" strike="noStrike">
                <a:solidFill>
                  <a:schemeClr val="dk1"/>
                </a:solidFill>
                <a:effectLst/>
                <a:uFillTx/>
                <a:latin typeface="+mn-lt"/>
                <a:ea typeface="+mn-ea"/>
              </a:rPr>
              <a:t>14</a:t>
            </a:fld>
            <a:endParaRPr lang="en-US" sz="18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noRot="1" noChangeAspect="1"/>
          </p:cNvSpPr>
          <p:nvPr>
            <p:ph type="sldImg"/>
          </p:nvPr>
        </p:nvSpPr>
        <p:spPr>
          <a:xfrm>
            <a:off x="0" y="0"/>
            <a:ext cx="0" cy="0"/>
          </a:xfrm>
          <a:prstGeom prst="rect">
            <a:avLst/>
          </a:prstGeom>
          <a:ln w="0">
            <a:noFill/>
          </a:ln>
        </p:spPr>
      </p:sp>
      <p:sp>
        <p:nvSpPr>
          <p:cNvPr id="66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2:10 for this slide (cum 18:50-21:00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Be precise about that grant: it covers Basic only. Test Plans (which section 4 tells you to keep) is a separate Azure DevOps licence, and Copilot, Secret Protection and Code Security, Actions overages, larger runners and the migration work itself are all separate costs.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What holds the two halves together is the integration layer: work-item traceability, commit and pull-request links, pipeline integration, identity mapping, and cross-platform reporting.</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Explicitly reframe: this is the shape the rest of the talk builds toward, not a fallback. Section 4 comes back to this exact point for Boards and Projects.</a:t>
            </a:r>
          </a:p>
        </p:txBody>
      </p:sp>
      <p:sp>
        <p:nvSpPr>
          <p:cNvPr id="661" name="PlaceHolder 3"/>
          <p:cNvSpPr>
            <a:spLocks noGrp="1"/>
          </p:cNvSpPr>
          <p:nvPr>
            <p:ph type="sldNum" idx="3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0831213-57A0-4BF5-9B41-4BA743683143}" type="slidenum">
              <a:rPr lang="en-US" sz="1800" b="0" u="none" strike="noStrike">
                <a:solidFill>
                  <a:schemeClr val="dk1"/>
                </a:solidFill>
                <a:effectLst/>
                <a:uFillTx/>
                <a:latin typeface="+mn-lt"/>
                <a:ea typeface="+mn-ea"/>
              </a:rPr>
              <a:t>15</a:t>
            </a:fld>
            <a:endParaRPr lang="en-US" sz="18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2" name="PlaceHolder 1"/>
          <p:cNvSpPr>
            <a:spLocks noGrp="1" noRot="1" noChangeAspect="1"/>
          </p:cNvSpPr>
          <p:nvPr>
            <p:ph type="sldImg"/>
          </p:nvPr>
        </p:nvSpPr>
        <p:spPr>
          <a:xfrm>
            <a:off x="0" y="0"/>
            <a:ext cx="0" cy="0"/>
          </a:xfrm>
          <a:prstGeom prst="rect">
            <a:avLst/>
          </a:prstGeom>
          <a:ln w="0">
            <a:noFill/>
          </a:ln>
        </p:spPr>
      </p:sp>
      <p:sp>
        <p:nvSpPr>
          <p:cNvPr id="66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1:00 for this slide (cum 21:00-22:00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Brief check-in, not a discussion window — about a minute. Take one quick question if a hand is up, otherwise move straight into section 3. The real Q&amp;A time is banked for the open Q&amp;A at the end.</a:t>
            </a:r>
          </a:p>
        </p:txBody>
      </p:sp>
      <p:sp>
        <p:nvSpPr>
          <p:cNvPr id="664" name="PlaceHolder 3"/>
          <p:cNvSpPr>
            <a:spLocks noGrp="1"/>
          </p:cNvSpPr>
          <p:nvPr>
            <p:ph type="sldNum" idx="3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A502512-EA82-480D-9310-59180D578625}" type="slidenum">
              <a:rPr lang="en-US" sz="1800" b="0" u="none" strike="noStrike">
                <a:solidFill>
                  <a:schemeClr val="dk1"/>
                </a:solidFill>
                <a:effectLst/>
                <a:uFillTx/>
                <a:latin typeface="+mn-lt"/>
                <a:ea typeface="+mn-ea"/>
              </a:rPr>
              <a:t>16</a:t>
            </a:fld>
            <a:endParaRPr lang="en-US" sz="18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 name="PlaceHolder 1"/>
          <p:cNvSpPr>
            <a:spLocks noGrp="1" noRot="1" noChangeAspect="1"/>
          </p:cNvSpPr>
          <p:nvPr>
            <p:ph type="sldImg"/>
          </p:nvPr>
        </p:nvSpPr>
        <p:spPr>
          <a:xfrm>
            <a:off x="0" y="0"/>
            <a:ext cx="0" cy="0"/>
          </a:xfrm>
          <a:prstGeom prst="rect">
            <a:avLst/>
          </a:prstGeom>
          <a:ln w="0">
            <a:noFill/>
          </a:ln>
        </p:spPr>
      </p:sp>
      <p:sp>
        <p:nvSpPr>
          <p:cNvPr id="66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0:25 for this slide (cum 22:00-22:25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667" name="PlaceHolder 3"/>
          <p:cNvSpPr>
            <a:spLocks noGrp="1"/>
          </p:cNvSpPr>
          <p:nvPr>
            <p:ph type="sldNum" idx="3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21D8BCD-B6CC-48AF-A0F5-F4C9A8577A2C}" type="slidenum">
              <a:rPr lang="en-US" sz="1800" b="0" u="none" strike="noStrike">
                <a:solidFill>
                  <a:schemeClr val="dk1"/>
                </a:solidFill>
                <a:effectLst/>
                <a:uFillTx/>
                <a:latin typeface="+mn-lt"/>
                <a:ea typeface="+mn-ea"/>
              </a:rPr>
              <a:t>17</a:t>
            </a:fld>
            <a:endParaRPr lang="en-US" sz="18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 name="PlaceHolder 1"/>
          <p:cNvSpPr>
            <a:spLocks noGrp="1" noRot="1" noChangeAspect="1"/>
          </p:cNvSpPr>
          <p:nvPr>
            <p:ph type="sldImg"/>
          </p:nvPr>
        </p:nvSpPr>
        <p:spPr>
          <a:xfrm>
            <a:off x="0" y="0"/>
            <a:ext cx="0" cy="0"/>
          </a:xfrm>
          <a:prstGeom prst="rect">
            <a:avLst/>
          </a:prstGeom>
          <a:ln w="0">
            <a:noFill/>
          </a:ln>
        </p:spPr>
      </p:sp>
      <p:sp>
        <p:nvSpPr>
          <p:cNvPr id="66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1:35 for this slide (cum 22:25-24:00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and take this one slowly — the rest of the section depends on the distinction.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Everything from here follows the planes.</a:t>
            </a:r>
          </a:p>
        </p:txBody>
      </p:sp>
      <p:sp>
        <p:nvSpPr>
          <p:cNvPr id="670" name="PlaceHolder 3"/>
          <p:cNvSpPr>
            <a:spLocks noGrp="1"/>
          </p:cNvSpPr>
          <p:nvPr>
            <p:ph type="sldNum" idx="3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B3824BD-BFEE-44CB-ACD2-00A31A80D82C}" type="slidenum">
              <a:rPr lang="en-US" sz="1800" b="0" u="none" strike="noStrike">
                <a:solidFill>
                  <a:schemeClr val="dk1"/>
                </a:solidFill>
                <a:effectLst/>
                <a:uFillTx/>
                <a:latin typeface="+mn-lt"/>
                <a:ea typeface="+mn-ea"/>
              </a:rPr>
              <a:t>18</a:t>
            </a:fld>
            <a:endParaRPr lang="en-US" sz="18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1" name="PlaceHolder 1"/>
          <p:cNvSpPr>
            <a:spLocks noGrp="1" noRot="1" noChangeAspect="1"/>
          </p:cNvSpPr>
          <p:nvPr>
            <p:ph type="sldImg"/>
          </p:nvPr>
        </p:nvSpPr>
        <p:spPr>
          <a:xfrm>
            <a:off x="0" y="0"/>
            <a:ext cx="0" cy="0"/>
          </a:xfrm>
          <a:prstGeom prst="rect">
            <a:avLst/>
          </a:prstGeom>
          <a:ln w="0">
            <a:noFill/>
          </a:ln>
        </p:spPr>
      </p:sp>
      <p:sp>
        <p:nvSpPr>
          <p:cNvPr id="67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1:35 for this slide (cum 24:00-25:35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673" name="PlaceHolder 3"/>
          <p:cNvSpPr>
            <a:spLocks noGrp="1"/>
          </p:cNvSpPr>
          <p:nvPr>
            <p:ph type="sldNum" idx="3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E15E795-EA88-4A1F-896B-CE5D4C8B11C6}" type="slidenum">
              <a:rPr lang="en-US" sz="1800" b="0" u="none" strike="noStrike">
                <a:solidFill>
                  <a:schemeClr val="dk1"/>
                </a:solidFill>
                <a:effectLst/>
                <a:uFillTx/>
                <a:latin typeface="+mn-lt"/>
                <a:ea typeface="+mn-ea"/>
              </a:rPr>
              <a:t>19</a:t>
            </a:fld>
            <a:endParaRPr lang="en-US" sz="18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noRot="1" noChangeAspect="1"/>
          </p:cNvSpPr>
          <p:nvPr>
            <p:ph type="sldImg"/>
          </p:nvPr>
        </p:nvSpPr>
        <p:spPr>
          <a:xfrm>
            <a:off x="0" y="0"/>
            <a:ext cx="0" cy="0"/>
          </a:xfrm>
          <a:prstGeom prst="rect">
            <a:avLst/>
          </a:prstGeom>
          <a:ln w="0">
            <a:noFill/>
          </a:ln>
        </p:spPr>
      </p:sp>
      <p:sp>
        <p:nvSpPr>
          <p:cNvPr id="67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1:15 for this slide (cum 25:35-26:50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Spend twenty seconds getting the naming right, because the docs don't and everyone who goes looking afterwards hits the same confusion.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Review the generated PowerShell as migration code, not disposable output — that is the bottom line on the slide.</a:t>
            </a:r>
          </a:p>
        </p:txBody>
      </p:sp>
      <p:sp>
        <p:nvSpPr>
          <p:cNvPr id="676" name="PlaceHolder 3"/>
          <p:cNvSpPr>
            <a:spLocks noGrp="1"/>
          </p:cNvSpPr>
          <p:nvPr>
            <p:ph type="sldNum" idx="3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5ED1E54-4D52-42C6-92C8-94D0832A6489}" type="slidenum">
              <a:rPr lang="en-US" sz="1800" b="0" u="none" strike="noStrike">
                <a:solidFill>
                  <a:schemeClr val="dk1"/>
                </a:solidFill>
                <a:effectLst/>
                <a:uFillTx/>
                <a:latin typeface="+mn-lt"/>
                <a:ea typeface="+mn-ea"/>
              </a:rPr>
              <a:t>20</a:t>
            </a:fld>
            <a:endParaRPr lang="en-US" sz="18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noRot="1" noChangeAspect="1"/>
          </p:cNvSpPr>
          <p:nvPr>
            <p:ph type="sldImg"/>
          </p:nvPr>
        </p:nvSpPr>
        <p:spPr>
          <a:xfrm>
            <a:off x="0" y="0"/>
            <a:ext cx="0" cy="0"/>
          </a:xfrm>
          <a:prstGeom prst="rect">
            <a:avLst/>
          </a:prstGeom>
          <a:ln w="0">
            <a:noFill/>
          </a:ln>
        </p:spPr>
      </p:sp>
      <p:sp>
        <p:nvSpPr>
          <p:cNvPr id="67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1:35 for this slide (cum 26:50-28:25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Briefly mention it, but don’t spend much time on it. </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It is also research-only for us: Hunter's current tenant does not meet the data-residency prerequisite, so we have not run it.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GitHub Enterprise Cloud (GHEC) with Data Residency is a distinct deployment model where:</a:t>
            </a:r>
          </a:p>
          <a:p>
            <a:pPr indent="0" algn="l">
              <a:lnSpc>
                <a:spcPct val="100000"/>
              </a:lnSpc>
              <a:buNone/>
            </a:pPr>
            <a:r>
              <a:rPr lang="en-US" sz="2000" b="0" u="none" strike="noStrike">
                <a:solidFill>
                  <a:srgbClr val="000000"/>
                </a:solidFill>
                <a:effectLst/>
                <a:uFillTx/>
                <a:latin typeface="Arial"/>
              </a:rPr>
              <a:t> - Your enterprise is hosted on a dedicated ghe.com subdomain (instead of github.com&lt;org&gt;).</a:t>
            </a:r>
          </a:p>
          <a:p>
            <a:pPr indent="0" algn="l">
              <a:lnSpc>
                <a:spcPct val="100000"/>
              </a:lnSpc>
              <a:buNone/>
            </a:pPr>
            <a:r>
              <a:rPr lang="en-US" sz="2000" b="0" u="none" strike="noStrike">
                <a:solidFill>
                  <a:srgbClr val="000000"/>
                </a:solidFill>
                <a:effectLst/>
                <a:uFillTx/>
                <a:latin typeface="Arial"/>
              </a:rPr>
              <a:t> - You choose the geographic region where your code and repository data are stored (currently including U.S., EU, Australia, and Japan).</a:t>
            </a:r>
          </a:p>
          <a:p>
            <a:pPr indent="0" algn="l">
              <a:lnSpc>
                <a:spcPct val="100000"/>
              </a:lnSpc>
              <a:buNone/>
            </a:pPr>
            <a:r>
              <a:rPr lang="en-US" sz="2000" b="0" u="none" strike="noStrike">
                <a:solidFill>
                  <a:srgbClr val="000000"/>
                </a:solidFill>
                <a:effectLst/>
                <a:uFillTx/>
                <a:latin typeface="Arial"/>
              </a:rPr>
              <a:t> - The environment is isolated from the broader github.com ecosystem.</a:t>
            </a:r>
          </a:p>
          <a:p>
            <a:pPr indent="0" algn="l">
              <a:lnSpc>
                <a:spcPct val="100000"/>
              </a:lnSpc>
              <a:buNone/>
            </a:pPr>
            <a:r>
              <a:rPr lang="en-US" sz="2000" b="0" u="none" strike="noStrike">
                <a:solidFill>
                  <a:srgbClr val="000000"/>
                </a:solidFill>
                <a:effectLst/>
                <a:uFillTx/>
                <a:latin typeface="Arial"/>
              </a:rPr>
              <a:t> - It requires Enterprise Managed Users (EMU). </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679"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E8056E2-DBB8-4C73-8CEE-4421A4C6EF3F}" type="slidenum">
              <a:rPr lang="en-US" sz="1800" b="0" u="none" strike="noStrike">
                <a:solidFill>
                  <a:schemeClr val="dk1"/>
                </a:solidFill>
                <a:effectLst/>
                <a:uFillTx/>
                <a:latin typeface="+mn-lt"/>
                <a:ea typeface="+mn-ea"/>
              </a:rPr>
              <a:t>21</a:t>
            </a:fld>
            <a:endParaRPr lang="en-US" sz="18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0" name="PlaceHolder 1"/>
          <p:cNvSpPr>
            <a:spLocks noGrp="1" noRot="1" noChangeAspect="1"/>
          </p:cNvSpPr>
          <p:nvPr>
            <p:ph type="sldImg"/>
          </p:nvPr>
        </p:nvSpPr>
        <p:spPr>
          <a:xfrm>
            <a:off x="0" y="0"/>
            <a:ext cx="0" cy="0"/>
          </a:xfrm>
          <a:prstGeom prst="rect">
            <a:avLst/>
          </a:prstGeom>
          <a:ln w="0">
            <a:noFill/>
          </a:ln>
        </p:spPr>
      </p:sp>
      <p:sp>
        <p:nvSpPr>
          <p:cNvPr id="68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1:55 for this slide (cum 28:25-30:20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OPTIONAL LAUGH LINE — after reading the six decisions: “You are going to make all six of these decisions either way. The only question is whether you make them now, or at two in the morning, under pressure, by accident.”</a:t>
            </a:r>
          </a:p>
        </p:txBody>
      </p:sp>
      <p:sp>
        <p:nvSpPr>
          <p:cNvPr id="682"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AE04418-A195-4A6C-B52F-3F8102105853}" type="slidenum">
              <a:rPr lang="en-US" sz="1800" b="0" u="none" strike="noStrike">
                <a:solidFill>
                  <a:schemeClr val="dk1"/>
                </a:solidFill>
                <a:effectLst/>
                <a:uFillTx/>
                <a:latin typeface="+mn-lt"/>
                <a:ea typeface="+mn-ea"/>
              </a:rPr>
              <a:t>22</a:t>
            </a:fld>
            <a:endParaRPr lang="en-US" sz="18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 name="PlaceHolder 1"/>
          <p:cNvSpPr>
            <a:spLocks noGrp="1" noRot="1" noChangeAspect="1"/>
          </p:cNvSpPr>
          <p:nvPr>
            <p:ph type="sldImg"/>
          </p:nvPr>
        </p:nvSpPr>
        <p:spPr>
          <a:xfrm>
            <a:off x="0" y="0"/>
            <a:ext cx="0" cy="0"/>
          </a:xfrm>
          <a:prstGeom prst="rect">
            <a:avLst/>
          </a:prstGeom>
          <a:ln w="0">
            <a:noFill/>
          </a:ln>
        </p:spPr>
      </p:sp>
      <p:sp>
        <p:nvSpPr>
          <p:cNvPr id="68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1:55 for this slide (cum 30:20-32:15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This is the automation-plane tool. The audit breakdown is the planning artifact: it turns “this looks hard” into a backlog with counts.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Conversion still leaves secrets, service connections, runner and network strategy, environments, approvals, custom tasks, and unsupported triggers for engineering judgment and validation.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Supported platforms:</a:t>
            </a:r>
            <a:br>
              <a:rPr sz="2000"/>
            </a:br>
            <a:r>
              <a:rPr lang="en-US" sz="1200" b="0" u="none" strike="noStrike">
                <a:solidFill>
                  <a:schemeClr val="dk1"/>
                </a:solidFill>
                <a:effectLst/>
                <a:uFillTx/>
                <a:latin typeface="+mn-lt"/>
                <a:ea typeface="+mn-ea"/>
              </a:rPr>
              <a:t>Azure DevOps</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Bamboo</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Bitbucket Pipelines</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CircleCI</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GitLab (both cloud and self-hosted)</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Jenkins</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Travis CI</a:t>
            </a:r>
            <a:endParaRPr lang="en-US" sz="1200" b="0" u="none" strike="noStrike">
              <a:solidFill>
                <a:srgbClr val="000000"/>
              </a:solidFill>
              <a:effectLst/>
              <a:uFillTx/>
              <a:latin typeface="Arial"/>
            </a:endParaRPr>
          </a:p>
          <a:p>
            <a:pPr indent="0" algn="l">
              <a:lnSpc>
                <a:spcPct val="100000"/>
              </a:lnSpc>
              <a:buNone/>
            </a:pPr>
            <a:endParaRPr lang="en-US" sz="1200" b="0" u="none" strike="noStrike">
              <a:solidFill>
                <a:srgbClr val="000000"/>
              </a:solidFill>
              <a:effectLst/>
              <a:uFillTx/>
              <a:latin typeface="Arial"/>
            </a:endParaRPr>
          </a:p>
        </p:txBody>
      </p:sp>
      <p:sp>
        <p:nvSpPr>
          <p:cNvPr id="685"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5F62CE49-4D1F-4C6E-BE6A-173D7A2A1063}" type="slidenum">
              <a:rPr lang="en-US" sz="1800" b="0" u="none" strike="noStrike">
                <a:solidFill>
                  <a:schemeClr val="dk1"/>
                </a:solidFill>
                <a:effectLst/>
                <a:uFillTx/>
                <a:latin typeface="+mn-lt"/>
                <a:ea typeface="+mn-ea"/>
              </a:rPr>
              <a:t>23</a:t>
            </a:fld>
            <a:endParaRPr lang="en-US" sz="18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 name="PlaceHolder 1"/>
          <p:cNvSpPr>
            <a:spLocks noGrp="1" noRot="1" noChangeAspect="1"/>
          </p:cNvSpPr>
          <p:nvPr>
            <p:ph type="sldImg"/>
          </p:nvPr>
        </p:nvSpPr>
        <p:spPr>
          <a:xfrm>
            <a:off x="0" y="0"/>
            <a:ext cx="0" cy="0"/>
          </a:xfrm>
          <a:prstGeom prst="rect">
            <a:avLst/>
          </a:prstGeom>
          <a:ln w="0">
            <a:noFill/>
          </a:ln>
        </p:spPr>
      </p:sp>
      <p:sp>
        <p:nvSpPr>
          <p:cNvPr id="68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2:35 for this slide (cum 32:15-34:50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OPTIONAL LAUGH LINE — stop on the Service Connection row: “Two words on the left, two on the right, and about three weeks in between.” This is the row the whole room has personally lost a sprint to.</a:t>
            </a:r>
          </a:p>
        </p:txBody>
      </p:sp>
      <p:sp>
        <p:nvSpPr>
          <p:cNvPr id="688"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C573DE92-EE06-4662-9D83-5AD2049C3369}" type="slidenum">
              <a:rPr lang="en-US" sz="1800" b="0" u="none" strike="noStrike">
                <a:solidFill>
                  <a:schemeClr val="dk1"/>
                </a:solidFill>
                <a:effectLst/>
                <a:uFillTx/>
                <a:latin typeface="+mn-lt"/>
                <a:ea typeface="+mn-ea"/>
              </a:rPr>
              <a:t>24</a:t>
            </a:fld>
            <a:endParaRPr lang="en-US" sz="18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 name="PlaceHolder 1"/>
          <p:cNvSpPr>
            <a:spLocks noGrp="1" noRot="1" noChangeAspect="1"/>
          </p:cNvSpPr>
          <p:nvPr>
            <p:ph type="sldImg"/>
          </p:nvPr>
        </p:nvSpPr>
        <p:spPr>
          <a:xfrm>
            <a:off x="0" y="0"/>
            <a:ext cx="0" cy="0"/>
          </a:xfrm>
          <a:prstGeom prst="rect">
            <a:avLst/>
          </a:prstGeom>
          <a:ln w="0">
            <a:noFill/>
          </a:ln>
        </p:spPr>
      </p:sp>
      <p:sp>
        <p:nvSpPr>
          <p:cNvPr id="69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3:25 for this slide (cum 34:50-38:15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and slow down here — for an enterprise room this is the slide that separates a migration talk from a migration.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setup: Actions Importer just told you the YAML converts. That is the easy half. The execution environment is the half that does not travel, and it is where regulated and on-prem estates actually stall.</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Walk the left column as decisions, not tasks — each one has an owner and a cost attached. The two that bite hardest are the network path to private endpoints, and who operates self-hosted runners once the migration team goes away.</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Walk the right column as evidence. Nobody gets to call the automation plane done on a green build; they get to call it done when an internal feed resolved, OIDC issued a real token, and something actually deployed.</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If asked about act: it runs workflows in containers rather than GitHub's VMs, Linux runners only, and it does not support OIDC — so it will never prove any of the right-hand column.</a:t>
            </a:r>
          </a:p>
        </p:txBody>
      </p:sp>
      <p:sp>
        <p:nvSpPr>
          <p:cNvPr id="691"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chemeClr val="dk1"/>
              </a:solidFill>
              <a:effectLst/>
              <a:uFillTx/>
              <a:latin typeface="+mn-lt"/>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2" name="PlaceHolder 1"/>
          <p:cNvSpPr>
            <a:spLocks noGrp="1" noRot="1" noChangeAspect="1"/>
          </p:cNvSpPr>
          <p:nvPr>
            <p:ph type="sldImg"/>
          </p:nvPr>
        </p:nvSpPr>
        <p:spPr>
          <a:xfrm>
            <a:off x="0" y="0"/>
            <a:ext cx="0" cy="0"/>
          </a:xfrm>
          <a:prstGeom prst="rect">
            <a:avLst/>
          </a:prstGeom>
          <a:ln w="0">
            <a:noFill/>
          </a:ln>
        </p:spPr>
      </p:sp>
      <p:sp>
        <p:nvSpPr>
          <p:cNvPr id="69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1:15 for this slide (cum 38:15-39:30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694"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432E9DC-1165-4CA7-A60B-DA9B2AF64CA0}" type="slidenum">
              <a:rPr lang="en-US" sz="1800" b="0" u="none" strike="noStrike">
                <a:solidFill>
                  <a:schemeClr val="dk1"/>
                </a:solidFill>
                <a:effectLst/>
                <a:uFillTx/>
                <a:latin typeface="+mn-lt"/>
                <a:ea typeface="+mn-ea"/>
              </a:rPr>
              <a:t>26</a:t>
            </a:fld>
            <a:endParaRPr lang="en-US" sz="18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 name="PlaceHolder 1"/>
          <p:cNvSpPr>
            <a:spLocks noGrp="1" noRot="1" noChangeAspect="1"/>
          </p:cNvSpPr>
          <p:nvPr>
            <p:ph type="sldImg"/>
          </p:nvPr>
        </p:nvSpPr>
        <p:spPr>
          <a:xfrm>
            <a:off x="0" y="0"/>
            <a:ext cx="0" cy="0"/>
          </a:xfrm>
          <a:prstGeom prst="rect">
            <a:avLst/>
          </a:prstGeom>
          <a:ln w="0">
            <a:noFill/>
          </a:ln>
        </p:spPr>
      </p:sp>
      <p:sp>
        <p:nvSpPr>
          <p:cNvPr id="69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1:55 for this slide (cum 39:30-41:25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Walk the five steps across all three planes. Inventory before moving; trial-migrate repository data; rebuild automation semantics and the execution environment; prove equivalence and deployability; then cut over with monitoring and rollback ready.</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Say the finish-line distinction out loud: first verified delivery, not first green build. A green build proves the workflow ran. It proves nothing about the artifact, the deployment, traceability, or your ability to go back.</a:t>
            </a:r>
          </a:p>
        </p:txBody>
      </p:sp>
      <p:sp>
        <p:nvSpPr>
          <p:cNvPr id="697"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7F92B5EF-7038-4E76-A179-889F7C77A6A6}" type="slidenum">
              <a:rPr lang="en-US" sz="1800" b="0" u="none" strike="noStrike">
                <a:solidFill>
                  <a:schemeClr val="dk1"/>
                </a:solidFill>
                <a:effectLst/>
                <a:uFillTx/>
                <a:latin typeface="+mn-lt"/>
                <a:ea typeface="+mn-ea"/>
              </a:rPr>
              <a:t>27</a:t>
            </a:fld>
            <a:endParaRPr lang="en-US" sz="18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8" name="PlaceHolder 1"/>
          <p:cNvSpPr>
            <a:spLocks noGrp="1" noRot="1" noChangeAspect="1"/>
          </p:cNvSpPr>
          <p:nvPr>
            <p:ph type="sldImg"/>
          </p:nvPr>
        </p:nvSpPr>
        <p:spPr>
          <a:xfrm>
            <a:off x="0" y="0"/>
            <a:ext cx="0" cy="0"/>
          </a:xfrm>
          <a:prstGeom prst="rect">
            <a:avLst/>
          </a:prstGeom>
          <a:ln w="0">
            <a:noFill/>
          </a:ln>
        </p:spPr>
      </p:sp>
      <p:sp>
        <p:nvSpPr>
          <p:cNvPr id="69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1:35 for this slide (cum 41:25-43:00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This is a reusable acceptance checklist — tell the room to photograph it, it is the most portable thing in the talk.</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Emphasize that acceptance spans all three planes: repository data, automation, and validation/cutover. A repository URL and a green build do not prove identity, policy, artifact, deployment, observability, traceability, or rollback readiness.</a:t>
            </a:r>
          </a:p>
        </p:txBody>
      </p:sp>
      <p:sp>
        <p:nvSpPr>
          <p:cNvPr id="700"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63CCE40-AB72-40C7-AFDF-5CDFDA530C39}" type="slidenum">
              <a:rPr lang="en-US" sz="1800" b="0" u="none" strike="noStrike">
                <a:solidFill>
                  <a:schemeClr val="dk1"/>
                </a:solidFill>
                <a:effectLst/>
                <a:uFillTx/>
                <a:latin typeface="+mn-lt"/>
                <a:ea typeface="+mn-ea"/>
              </a:rPr>
              <a:t>28</a:t>
            </a:fld>
            <a:endParaRPr lang="en-US" sz="18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PlaceHolder 1"/>
          <p:cNvSpPr>
            <a:spLocks noGrp="1" noRot="1" noChangeAspect="1"/>
          </p:cNvSpPr>
          <p:nvPr>
            <p:ph type="sldImg"/>
          </p:nvPr>
        </p:nvSpPr>
        <p:spPr>
          <a:xfrm>
            <a:off x="0" y="0"/>
            <a:ext cx="0" cy="0"/>
          </a:xfrm>
          <a:prstGeom prst="rect">
            <a:avLst/>
          </a:prstGeom>
          <a:ln w="0">
            <a:noFill/>
          </a:ln>
        </p:spPr>
      </p:sp>
      <p:sp>
        <p:nvSpPr>
          <p:cNvPr id="70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1:00 for this slide (cum 43:00-44:00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703"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A74C301-889E-4F75-8B4A-25ED8327AE3C}" type="slidenum">
              <a:rPr lang="en-US" sz="1800" b="0" u="none" strike="noStrike">
                <a:solidFill>
                  <a:schemeClr val="dk1"/>
                </a:solidFill>
                <a:effectLst/>
                <a:uFillTx/>
                <a:latin typeface="+mn-lt"/>
                <a:ea typeface="+mn-ea"/>
              </a:rPr>
              <a:t>29</a:t>
            </a:fld>
            <a:endParaRPr lang="en-US" sz="18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4" name="PlaceHolder 1"/>
          <p:cNvSpPr>
            <a:spLocks noGrp="1" noRot="1" noChangeAspect="1"/>
          </p:cNvSpPr>
          <p:nvPr>
            <p:ph type="sldImg"/>
          </p:nvPr>
        </p:nvSpPr>
        <p:spPr>
          <a:xfrm>
            <a:off x="0" y="0"/>
            <a:ext cx="0" cy="0"/>
          </a:xfrm>
          <a:prstGeom prst="rect">
            <a:avLst/>
          </a:prstGeom>
          <a:ln w="0">
            <a:noFill/>
          </a:ln>
        </p:spPr>
      </p:sp>
      <p:sp>
        <p:nvSpPr>
          <p:cNvPr id="70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0:25 for this slide (cum 44:00-44:25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706"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9678C883-1DE1-421C-9947-241AD460A6A9}" type="slidenum">
              <a:rPr lang="en-US" sz="1800" b="0" u="none" strike="noStrike">
                <a:solidFill>
                  <a:schemeClr val="dk1"/>
                </a:solidFill>
                <a:effectLst/>
                <a:uFillTx/>
                <a:latin typeface="+mn-lt"/>
                <a:ea typeface="+mn-ea"/>
              </a:rPr>
              <a:t>30</a:t>
            </a:fld>
            <a:endParaRPr lang="en-US" sz="18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7" name="PlaceHolder 1"/>
          <p:cNvSpPr>
            <a:spLocks noGrp="1" noRot="1" noChangeAspect="1"/>
          </p:cNvSpPr>
          <p:nvPr>
            <p:ph type="sldImg"/>
          </p:nvPr>
        </p:nvSpPr>
        <p:spPr>
          <a:xfrm>
            <a:off x="0" y="0"/>
            <a:ext cx="0" cy="0"/>
          </a:xfrm>
          <a:prstGeom prst="rect">
            <a:avLst/>
          </a:prstGeom>
          <a:ln w="0">
            <a:noFill/>
          </a:ln>
        </p:spPr>
      </p:sp>
      <p:sp>
        <p:nvSpPr>
          <p:cNvPr id="70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2:00 for this slide (cum 44:25-46:25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Frame this before comparing feature by feature — Azure Boards and GitHub Projects are not two competitors in one category, they are two different models.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slide takes each tool on its own terms before comparing what's lost in a migration — say that as a transition, don't put it on the slide.</a:t>
            </a:r>
          </a:p>
        </p:txBody>
      </p:sp>
      <p:sp>
        <p:nvSpPr>
          <p:cNvPr id="709"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7871B1E-073C-4463-B53D-2647C83C5D01}" type="slidenum">
              <a:rPr lang="en-US" sz="1800" b="0" u="none" strike="noStrike">
                <a:solidFill>
                  <a:schemeClr val="dk1"/>
                </a:solidFill>
                <a:effectLst/>
                <a:uFillTx/>
                <a:latin typeface="+mn-lt"/>
                <a:ea typeface="+mn-ea"/>
              </a:rPr>
              <a:t>31</a:t>
            </a:fld>
            <a:endParaRPr lang="en-US" sz="18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 name="PlaceHolder 1"/>
          <p:cNvSpPr>
            <a:spLocks noGrp="1" noRot="1" noChangeAspect="1"/>
          </p:cNvSpPr>
          <p:nvPr>
            <p:ph type="sldImg"/>
          </p:nvPr>
        </p:nvSpPr>
        <p:spPr>
          <a:xfrm>
            <a:off x="0" y="0"/>
            <a:ext cx="0" cy="0"/>
          </a:xfrm>
          <a:prstGeom prst="rect">
            <a:avLst/>
          </a:prstGeom>
          <a:ln w="0">
            <a:noFill/>
          </a:ln>
        </p:spPr>
      </p:sp>
      <p:sp>
        <p:nvSpPr>
          <p:cNvPr id="71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2:25 for this slide (cum 46:25-48:50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Take each tool on its own terms before comparing what a migration loses.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contrast is process template versus fields and views, not enterprise versus toy. If asked about limits: a project holds up to 50 fields, counting the built-in ones.</a:t>
            </a:r>
          </a:p>
        </p:txBody>
      </p:sp>
      <p:sp>
        <p:nvSpPr>
          <p:cNvPr id="712"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D8BD8C4-47E0-4E73-A09C-75138000AA13}" type="slidenum">
              <a:rPr lang="en-US" sz="1800" b="0" u="none" strike="noStrike">
                <a:solidFill>
                  <a:schemeClr val="dk1"/>
                </a:solidFill>
                <a:effectLst/>
                <a:uFillTx/>
                <a:latin typeface="+mn-lt"/>
                <a:ea typeface="+mn-ea"/>
              </a:rPr>
              <a:t>32</a:t>
            </a:fld>
            <a:endParaRPr lang="en-US" sz="18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noRot="1" noChangeAspect="1"/>
          </p:cNvSpPr>
          <p:nvPr>
            <p:ph type="sldImg"/>
          </p:nvPr>
        </p:nvSpPr>
        <p:spPr>
          <a:xfrm>
            <a:off x="0" y="0"/>
            <a:ext cx="0" cy="0"/>
          </a:xfrm>
          <a:prstGeom prst="rect">
            <a:avLst/>
          </a:prstGeom>
          <a:ln w="0">
            <a:noFill/>
          </a:ln>
        </p:spPr>
      </p:sp>
      <p:sp>
        <p:nvSpPr>
          <p:cNvPr id="71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2:15 for this slide (cum 48:50-51:05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OPTIONAL LAUGH LINE — on losing sprint history and capacity data: “Nobody has ever asked to see sprint history from three years ago. They will ask exactly once, about six weeks after you delete it.”</a:t>
            </a:r>
          </a:p>
        </p:txBody>
      </p:sp>
      <p:sp>
        <p:nvSpPr>
          <p:cNvPr id="715"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49027D6-57E8-4914-B25D-E04B123AD9F8}" type="slidenum">
              <a:rPr lang="en-US" sz="1800" b="0" u="none" strike="noStrike">
                <a:solidFill>
                  <a:schemeClr val="dk1"/>
                </a:solidFill>
                <a:effectLst/>
                <a:uFillTx/>
                <a:latin typeface="+mn-lt"/>
                <a:ea typeface="+mn-ea"/>
              </a:rPr>
              <a:t>33</a:t>
            </a:fld>
            <a:endParaRPr lang="en-US" sz="18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 name="PlaceHolder 1"/>
          <p:cNvSpPr>
            <a:spLocks noGrp="1" noRot="1" noChangeAspect="1"/>
          </p:cNvSpPr>
          <p:nvPr>
            <p:ph type="sldImg"/>
          </p:nvPr>
        </p:nvSpPr>
        <p:spPr>
          <a:xfrm>
            <a:off x="0" y="0"/>
            <a:ext cx="0" cy="0"/>
          </a:xfrm>
          <a:prstGeom prst="rect">
            <a:avLst/>
          </a:prstGeom>
          <a:ln w="0">
            <a:noFill/>
          </a:ln>
        </p:spPr>
      </p:sp>
      <p:sp>
        <p:nvSpPr>
          <p:cNvPr id="71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0:40 for this slide (cum 51:05-51:45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and let this one land plainly — it's probably the best-received slide in the whole deck precisely because it doesn't try to spin anything. </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is the shortest slide in the section on purpose — sometimes the honest answer is just 'it doesn't move, and that's fine,' and saying it plainly builds more credibility than manufacturing a workaround.</a:t>
            </a:r>
          </a:p>
        </p:txBody>
      </p:sp>
      <p:sp>
        <p:nvSpPr>
          <p:cNvPr id="718" name="PlaceHolder 3"/>
          <p:cNvSpPr>
            <a:spLocks noGrp="1"/>
          </p:cNvSpPr>
          <p:nvPr>
            <p:ph type="sldNum" idx="5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65C3C088-5A14-442A-9CE8-0457282B76B8}" type="slidenum">
              <a:rPr lang="en-US" sz="1800" b="0" u="none" strike="noStrike">
                <a:solidFill>
                  <a:schemeClr val="dk1"/>
                </a:solidFill>
                <a:effectLst/>
                <a:uFillTx/>
                <a:latin typeface="+mn-lt"/>
                <a:ea typeface="+mn-ea"/>
              </a:rPr>
              <a:t>34</a:t>
            </a:fld>
            <a:endParaRPr lang="en-US" sz="18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noRot="1" noChangeAspect="1"/>
          </p:cNvSpPr>
          <p:nvPr>
            <p:ph type="sldImg"/>
          </p:nvPr>
        </p:nvSpPr>
        <p:spPr>
          <a:xfrm>
            <a:off x="0" y="0"/>
            <a:ext cx="0" cy="0"/>
          </a:xfrm>
          <a:prstGeom prst="rect">
            <a:avLst/>
          </a:prstGeom>
          <a:ln w="0">
            <a:noFill/>
          </a:ln>
        </p:spPr>
      </p:sp>
      <p:sp>
        <p:nvSpPr>
          <p:cNvPr id="72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2:15 for this slide (cum 51:45-54:00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Say the recommendation plainly: don’t migrate to GitHub Issues unless your planning needs are genuinely simple. For most teams past a handful of people, the hierarchy, capacity planning and reporting Azure Boards already gives you are worth keeping.</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721" name="PlaceHolder 3"/>
          <p:cNvSpPr>
            <a:spLocks noGrp="1"/>
          </p:cNvSpPr>
          <p:nvPr>
            <p:ph type="sldNum" idx="5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FDB00F1-4965-4775-95F0-7BE06C2EF74E}" type="slidenum">
              <a:rPr lang="en-US" sz="1800" b="0" u="none" strike="noStrike">
                <a:solidFill>
                  <a:schemeClr val="dk1"/>
                </a:solidFill>
                <a:effectLst/>
                <a:uFillTx/>
                <a:latin typeface="+mn-lt"/>
                <a:ea typeface="+mn-ea"/>
              </a:rPr>
              <a:t>35</a:t>
            </a:fld>
            <a:endParaRPr lang="en-US" sz="18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noRot="1" noChangeAspect="1"/>
          </p:cNvSpPr>
          <p:nvPr>
            <p:ph type="sldImg"/>
          </p:nvPr>
        </p:nvSpPr>
        <p:spPr>
          <a:xfrm>
            <a:off x="0" y="0"/>
            <a:ext cx="0" cy="0"/>
          </a:xfrm>
          <a:prstGeom prst="rect">
            <a:avLst/>
          </a:prstGeom>
          <a:ln w="0">
            <a:noFill/>
          </a:ln>
        </p:spPr>
      </p:sp>
      <p:sp>
        <p:nvSpPr>
          <p:cNvPr id="72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1:00 for this slide (cum 54:00-55:00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Brief check-in, not a discussion window — about a minute. Take one quick question if a hand is up, otherwise move straight into section 5. The real Q&amp;A time is banked for the open Q&amp;A at the end.</a:t>
            </a:r>
          </a:p>
        </p:txBody>
      </p:sp>
      <p:sp>
        <p:nvSpPr>
          <p:cNvPr id="724" name="PlaceHolder 3"/>
          <p:cNvSpPr>
            <a:spLocks noGrp="1"/>
          </p:cNvSpPr>
          <p:nvPr>
            <p:ph type="sldNum" idx="5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57262544-7FCC-450E-88E3-785F49E37F5A}" type="slidenum">
              <a:rPr lang="en-US" sz="1800" b="0" u="none" strike="noStrike">
                <a:solidFill>
                  <a:schemeClr val="dk1"/>
                </a:solidFill>
                <a:effectLst/>
                <a:uFillTx/>
                <a:latin typeface="+mn-lt"/>
                <a:ea typeface="+mn-ea"/>
              </a:rPr>
              <a:t>36</a:t>
            </a:fld>
            <a:endParaRPr lang="en-US" sz="1800" b="0" u="none" strike="noStrike">
              <a:solidFill>
                <a:srgbClr val="000000"/>
              </a:solidFill>
              <a:effectLst/>
              <a:uFillTx/>
              <a:latin typeface="Times New Roman"/>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5" name="PlaceHolder 1"/>
          <p:cNvSpPr>
            <a:spLocks noGrp="1" noRot="1" noChangeAspect="1"/>
          </p:cNvSpPr>
          <p:nvPr>
            <p:ph type="sldImg"/>
          </p:nvPr>
        </p:nvSpPr>
        <p:spPr>
          <a:xfrm>
            <a:off x="0" y="0"/>
            <a:ext cx="0" cy="0"/>
          </a:xfrm>
          <a:prstGeom prst="rect">
            <a:avLst/>
          </a:prstGeom>
          <a:ln w="0">
            <a:noFill/>
          </a:ln>
        </p:spPr>
      </p:sp>
      <p:sp>
        <p:nvSpPr>
          <p:cNvPr id="72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0:25 for this slide (cum 55:00-55:25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727" name="PlaceHolder 3"/>
          <p:cNvSpPr>
            <a:spLocks noGrp="1"/>
          </p:cNvSpPr>
          <p:nvPr>
            <p:ph type="sldNum" idx="5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64C065E-30B4-4067-8E04-EF1401C02B7C}" type="slidenum">
              <a:rPr lang="en-US" sz="1800" b="0" u="none" strike="noStrike">
                <a:solidFill>
                  <a:schemeClr val="dk1"/>
                </a:solidFill>
                <a:effectLst/>
                <a:uFillTx/>
                <a:latin typeface="+mn-lt"/>
                <a:ea typeface="+mn-ea"/>
              </a:rPr>
              <a:t>37</a:t>
            </a:fld>
            <a:endParaRPr lang="en-US" sz="18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 name="PlaceHolder 1"/>
          <p:cNvSpPr>
            <a:spLocks noGrp="1" noRot="1" noChangeAspect="1"/>
          </p:cNvSpPr>
          <p:nvPr>
            <p:ph type="sldImg"/>
          </p:nvPr>
        </p:nvSpPr>
        <p:spPr>
          <a:xfrm>
            <a:off x="0" y="0"/>
            <a:ext cx="0" cy="0"/>
          </a:xfrm>
          <a:prstGeom prst="rect">
            <a:avLst/>
          </a:prstGeom>
          <a:ln w="0">
            <a:noFill/>
          </a:ln>
        </p:spPr>
      </p:sp>
      <p:sp>
        <p:nvSpPr>
          <p:cNvPr id="72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1:30 for this slide (cum 55:25-56:55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730" name="PlaceHolder 3"/>
          <p:cNvSpPr>
            <a:spLocks noGrp="1"/>
          </p:cNvSpPr>
          <p:nvPr>
            <p:ph type="sldNum" idx="5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FAFF8803-922F-458B-A4BD-FFA021098E51}" type="slidenum">
              <a:rPr lang="en-US" sz="1800" b="0" u="none" strike="noStrike">
                <a:solidFill>
                  <a:schemeClr val="dk1"/>
                </a:solidFill>
                <a:effectLst/>
                <a:uFillTx/>
                <a:latin typeface="+mn-lt"/>
                <a:ea typeface="+mn-ea"/>
              </a:rPr>
              <a:t>38</a:t>
            </a:fld>
            <a:endParaRPr lang="en-US" sz="1800" b="0" u="none" strike="noStrike">
              <a:solidFill>
                <a:srgbClr val="000000"/>
              </a:solidFill>
              <a:effectLst/>
              <a:uFillTx/>
              <a:latin typeface="Times New Roman"/>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noRot="1" noChangeAspect="1"/>
          </p:cNvSpPr>
          <p:nvPr>
            <p:ph type="sldImg"/>
          </p:nvPr>
        </p:nvSpPr>
        <p:spPr>
          <a:xfrm>
            <a:off x="0" y="0"/>
            <a:ext cx="0" cy="0"/>
          </a:xfrm>
          <a:prstGeom prst="rect">
            <a:avLst/>
          </a:prstGeom>
          <a:ln w="0">
            <a:noFill/>
          </a:ln>
        </p:spPr>
      </p:sp>
      <p:sp>
        <p:nvSpPr>
          <p:cNvPr id="73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2:20 for this slide (cum 56:55-59:15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Before walking the steps: “In most organizations the real selection process is that somebody senior used it at their last job.” OPTIONAL LAUGH LINE, and it is precisely failure mode one from the previous slide.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733" name="PlaceHolder 3"/>
          <p:cNvSpPr>
            <a:spLocks noGrp="1"/>
          </p:cNvSpPr>
          <p:nvPr>
            <p:ph type="sldNum" idx="5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D5D9ACA-5D55-49B9-A1DE-B334E76A8DD4}" type="slidenum">
              <a:rPr lang="en-US" sz="1800" b="0" u="none" strike="noStrike">
                <a:solidFill>
                  <a:schemeClr val="dk1"/>
                </a:solidFill>
                <a:effectLst/>
                <a:uFillTx/>
                <a:latin typeface="+mn-lt"/>
                <a:ea typeface="+mn-ea"/>
              </a:rPr>
              <a:t>39</a:t>
            </a:fld>
            <a:endParaRPr lang="en-US" sz="1800" b="0" u="none" strike="noStrike">
              <a:solidFill>
                <a:srgbClr val="000000"/>
              </a:solidFill>
              <a:effectLst/>
              <a:uFillTx/>
              <a:latin typeface="Times New Roman"/>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 name="PlaceHolder 1"/>
          <p:cNvSpPr>
            <a:spLocks noGrp="1" noRot="1" noChangeAspect="1"/>
          </p:cNvSpPr>
          <p:nvPr>
            <p:ph type="sldImg"/>
          </p:nvPr>
        </p:nvSpPr>
        <p:spPr>
          <a:xfrm>
            <a:off x="0" y="0"/>
            <a:ext cx="0" cy="0"/>
          </a:xfrm>
          <a:prstGeom prst="rect">
            <a:avLst/>
          </a:prstGeom>
          <a:ln w="0">
            <a:noFill/>
          </a:ln>
        </p:spPr>
      </p:sp>
      <p:sp>
        <p:nvSpPr>
          <p:cNvPr id="73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1:30 for this slide (cum 59:15-60:45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736" name="PlaceHolder 3"/>
          <p:cNvSpPr>
            <a:spLocks noGrp="1"/>
          </p:cNvSpPr>
          <p:nvPr>
            <p:ph type="sldNum" idx="5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C5696FD-D737-43E4-B4E1-F255D8DBAFB9}" type="slidenum">
              <a:rPr lang="en-US" sz="1800" b="0" u="none" strike="noStrike">
                <a:solidFill>
                  <a:schemeClr val="dk1"/>
                </a:solidFill>
                <a:effectLst/>
                <a:uFillTx/>
                <a:latin typeface="+mn-lt"/>
                <a:ea typeface="+mn-ea"/>
              </a:rPr>
              <a:t>40</a:t>
            </a:fld>
            <a:endParaRPr lang="en-US" sz="1800" b="0" u="none" strike="noStrike">
              <a:solidFill>
                <a:srgbClr val="000000"/>
              </a:solidFill>
              <a:effectLst/>
              <a:uFillTx/>
              <a:latin typeface="Times New Roman"/>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PlaceHolder 1"/>
          <p:cNvSpPr>
            <a:spLocks noGrp="1" noRot="1" noChangeAspect="1"/>
          </p:cNvSpPr>
          <p:nvPr>
            <p:ph type="sldImg"/>
          </p:nvPr>
        </p:nvSpPr>
        <p:spPr>
          <a:xfrm>
            <a:off x="0" y="0"/>
            <a:ext cx="0" cy="0"/>
          </a:xfrm>
          <a:prstGeom prst="rect">
            <a:avLst/>
          </a:prstGeom>
          <a:ln w="0">
            <a:noFill/>
          </a:ln>
        </p:spPr>
      </p:sp>
      <p:sp>
        <p:nvSpPr>
          <p:cNvPr id="73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1:50 for this slide (cum 60:45-62:35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bottom bar is the part most business cases skip: price the migration and the steady state as two separate numbers, and count the months when both platforms are billing at once. Dual-running is where the estimate usually goes wrong.</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OPTIONAL LAUGH LINE — on the last item of the cost model: “Every migration business case has a line called *migration effort*, and it is always the number nobody wanted to be the person to estimate.”</a:t>
            </a:r>
          </a:p>
        </p:txBody>
      </p:sp>
      <p:sp>
        <p:nvSpPr>
          <p:cNvPr id="739" name="PlaceHolder 3"/>
          <p:cNvSpPr>
            <a:spLocks noGrp="1"/>
          </p:cNvSpPr>
          <p:nvPr>
            <p:ph type="sldNum" idx="5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F3797F62-2042-4DE6-99B9-5F1272E0A464}" type="slidenum">
              <a:rPr lang="en-US" sz="1800" b="0" u="none" strike="noStrike">
                <a:solidFill>
                  <a:schemeClr val="dk1"/>
                </a:solidFill>
                <a:effectLst/>
                <a:uFillTx/>
                <a:latin typeface="+mn-lt"/>
                <a:ea typeface="+mn-ea"/>
              </a:rPr>
              <a:t>41</a:t>
            </a:fld>
            <a:endParaRPr lang="en-US" sz="1800" b="0" u="none" strike="noStrike">
              <a:solidFill>
                <a:srgbClr val="000000"/>
              </a:solidFill>
              <a:effectLst/>
              <a:uFillTx/>
              <a:latin typeface="Times New 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0" name="PlaceHolder 1"/>
          <p:cNvSpPr>
            <a:spLocks noGrp="1" noRot="1" noChangeAspect="1"/>
          </p:cNvSpPr>
          <p:nvPr>
            <p:ph type="sldImg"/>
          </p:nvPr>
        </p:nvSpPr>
        <p:spPr>
          <a:xfrm>
            <a:off x="0" y="0"/>
            <a:ext cx="0" cy="0"/>
          </a:xfrm>
          <a:prstGeom prst="rect">
            <a:avLst/>
          </a:prstGeom>
          <a:ln w="0">
            <a:noFill/>
          </a:ln>
        </p:spPr>
      </p:sp>
      <p:sp>
        <p:nvSpPr>
          <p:cNvPr id="74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2:35 for this slide (cum 62:35-65:10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This is the counterweight to section 1. AI is the honest reason most teams are migrating — this slide is where you pay that argument down so it reads as analysis rather than a pitch. Frame the four as a to-do list, not as reasons to doubt the move.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4. LICENSING. Moving the repository turns nothing on. The cloud agent needs a paid Copilot plan, it must be enabled on each connected repository, and an organization owner has to install the Azure Boards GitHub app before anyone can use the integration.</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OPTIONAL LAUGH LINE — after “The work item is the prompt”: “Garbage in, garbage out — except now the garbage arrives with unit tests and a confident summary.”</a:t>
            </a:r>
          </a:p>
        </p:txBody>
      </p:sp>
      <p:sp>
        <p:nvSpPr>
          <p:cNvPr id="742" name="PlaceHolder 3"/>
          <p:cNvSpPr>
            <a:spLocks noGrp="1"/>
          </p:cNvSpPr>
          <p:nvPr>
            <p:ph type="sldNum" idx="5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F9362C3-733E-4625-B33D-398D917489E7}" type="slidenum">
              <a:rPr lang="en-US" sz="1800" b="0" u="none" strike="noStrike">
                <a:solidFill>
                  <a:schemeClr val="dk1"/>
                </a:solidFill>
                <a:effectLst/>
                <a:uFillTx/>
                <a:latin typeface="+mn-lt"/>
                <a:ea typeface="+mn-ea"/>
              </a:rPr>
              <a:t>42</a:t>
            </a:fld>
            <a:endParaRPr lang="en-US" sz="18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3" name="PlaceHolder 1"/>
          <p:cNvSpPr>
            <a:spLocks noGrp="1" noRot="1" noChangeAspect="1"/>
          </p:cNvSpPr>
          <p:nvPr>
            <p:ph type="sldImg"/>
          </p:nvPr>
        </p:nvSpPr>
        <p:spPr>
          <a:xfrm>
            <a:off x="0" y="0"/>
            <a:ext cx="0" cy="0"/>
          </a:xfrm>
          <a:prstGeom prst="rect">
            <a:avLst/>
          </a:prstGeom>
          <a:ln w="0">
            <a:noFill/>
          </a:ln>
        </p:spPr>
      </p:sp>
      <p:sp>
        <p:nvSpPr>
          <p:cNvPr id="74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defTabSz="914400">
              <a:lnSpc>
                <a:spcPct val="100000"/>
              </a:lnSpc>
              <a:buNone/>
              <a:tabLst>
                <a:tab pos="0" algn="l"/>
              </a:tabLst>
            </a:pPr>
            <a:r>
              <a:rPr lang="en-US" sz="2000" b="1" u="none" strike="noStrike">
                <a:solidFill>
                  <a:srgbClr val="000000"/>
                </a:solidFill>
                <a:effectLst/>
                <a:uFillTx/>
                <a:latin typeface="Arial"/>
              </a:rPr>
              <a:t>TIMING: budget 2:35 for this slide (cum 65:10-67:00 of 90:00).</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a:t>
            </a: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Then the documentary callback: the Senior Engineer from the opener card isn't wrong to be cautious about change, they're just defending the old pipeline with the wrong argument ('it's always worked') instead of the right one ('here's what the audit says'). Land this warmly, not as a dunk — the point is to hear the objection out and then hand them the Actions Importer audit from section 3. The bucket their pipeline landed in is the conversation.</a:t>
            </a:r>
          </a:p>
        </p:txBody>
      </p:sp>
      <p:sp>
        <p:nvSpPr>
          <p:cNvPr id="745" name="PlaceHolder 3"/>
          <p:cNvSpPr>
            <a:spLocks noGrp="1"/>
          </p:cNvSpPr>
          <p:nvPr>
            <p:ph type="sldNum" idx="5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5AC0ED9-1011-470E-93DD-26FB21FCAF12}" type="slidenum">
              <a:rPr lang="en-US" sz="1800" b="0" u="none" strike="noStrike">
                <a:solidFill>
                  <a:schemeClr val="dk1"/>
                </a:solidFill>
                <a:effectLst/>
                <a:uFillTx/>
                <a:latin typeface="+mn-lt"/>
                <a:ea typeface="+mn-ea"/>
              </a:rPr>
              <a:t>43</a:t>
            </a:fld>
            <a:endParaRPr lang="en-US" sz="18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 name="PlaceHolder 1"/>
          <p:cNvSpPr>
            <a:spLocks noGrp="1" noRot="1" noChangeAspect="1"/>
          </p:cNvSpPr>
          <p:nvPr>
            <p:ph type="sldImg"/>
          </p:nvPr>
        </p:nvSpPr>
        <p:spPr>
          <a:xfrm>
            <a:off x="0" y="0"/>
            <a:ext cx="0" cy="0"/>
          </a:xfrm>
          <a:prstGeom prst="rect">
            <a:avLst/>
          </a:prstGeom>
          <a:ln w="0">
            <a:noFill/>
          </a:ln>
        </p:spPr>
      </p:sp>
      <p:sp>
        <p:nvSpPr>
          <p:cNvPr id="74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1:00 for this slide (cum 67:00-68:00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Brief check-in, not a discussion window — about a minute. Take one quick question if a hand is up, otherwise move straight into section 6, the final section. The real Q&amp;A time is banked for the open Q&amp;A at the end.</a:t>
            </a:r>
          </a:p>
        </p:txBody>
      </p:sp>
      <p:sp>
        <p:nvSpPr>
          <p:cNvPr id="748" name="PlaceHolder 3"/>
          <p:cNvSpPr>
            <a:spLocks noGrp="1"/>
          </p:cNvSpPr>
          <p:nvPr>
            <p:ph type="sldNum" idx="6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51E7A56C-595A-4F27-A1E3-04DC06076ABD}" type="slidenum">
              <a:rPr lang="en-US" sz="1800" b="0" u="none" strike="noStrike">
                <a:solidFill>
                  <a:schemeClr val="dk1"/>
                </a:solidFill>
                <a:effectLst/>
                <a:uFillTx/>
                <a:latin typeface="+mn-lt"/>
                <a:ea typeface="+mn-ea"/>
              </a:rPr>
              <a:t>44</a:t>
            </a:fld>
            <a:endParaRPr lang="en-US" sz="1800" b="0" u="none" strike="noStrike">
              <a:solidFill>
                <a:srgbClr val="000000"/>
              </a:solidFill>
              <a:effectLst/>
              <a:uFillTx/>
              <a:latin typeface="Times New Roman"/>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noRot="1" noChangeAspect="1"/>
          </p:cNvSpPr>
          <p:nvPr>
            <p:ph type="sldImg"/>
          </p:nvPr>
        </p:nvSpPr>
        <p:spPr>
          <a:xfrm>
            <a:off x="0" y="0"/>
            <a:ext cx="0" cy="0"/>
          </a:xfrm>
          <a:prstGeom prst="rect">
            <a:avLst/>
          </a:prstGeom>
          <a:ln w="0">
            <a:noFill/>
          </a:ln>
        </p:spPr>
      </p:sp>
      <p:sp>
        <p:nvSpPr>
          <p:cNvPr id="75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0:25 for this slide (cum 68:00-68:25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751" name="PlaceHolder 3"/>
          <p:cNvSpPr>
            <a:spLocks noGrp="1"/>
          </p:cNvSpPr>
          <p:nvPr>
            <p:ph type="sldNum" idx="6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FAF3258-1854-4B15-ACBA-E99A5E526AA3}" type="slidenum">
              <a:rPr lang="en-US" sz="1800" b="0" u="none" strike="noStrike">
                <a:solidFill>
                  <a:schemeClr val="dk1"/>
                </a:solidFill>
                <a:effectLst/>
                <a:uFillTx/>
                <a:latin typeface="+mn-lt"/>
                <a:ea typeface="+mn-ea"/>
              </a:rPr>
              <a:t>45</a:t>
            </a:fld>
            <a:endParaRPr lang="en-US" sz="1800" b="0" u="none" strike="noStrike">
              <a:solidFill>
                <a:srgbClr val="000000"/>
              </a:solidFill>
              <a:effectLst/>
              <a:uFillTx/>
              <a:latin typeface="Times New Roman"/>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 name="PlaceHolder 1"/>
          <p:cNvSpPr>
            <a:spLocks noGrp="1" noRot="1" noChangeAspect="1"/>
          </p:cNvSpPr>
          <p:nvPr>
            <p:ph type="sldImg"/>
          </p:nvPr>
        </p:nvSpPr>
        <p:spPr>
          <a:xfrm>
            <a:off x="0" y="0"/>
            <a:ext cx="0" cy="0"/>
          </a:xfrm>
          <a:prstGeom prst="rect">
            <a:avLst/>
          </a:prstGeom>
          <a:ln w="0">
            <a:noFill/>
          </a:ln>
        </p:spPr>
      </p:sp>
      <p:sp>
        <p:nvSpPr>
          <p:cNvPr id="75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1:50 for this slide (cum 68:25-70:15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754" name="PlaceHolder 3"/>
          <p:cNvSpPr>
            <a:spLocks noGrp="1"/>
          </p:cNvSpPr>
          <p:nvPr>
            <p:ph type="sldNum" idx="6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2B99858-49BE-4EBE-AE23-4E6AB5C7DFB6}" type="slidenum">
              <a:rPr lang="en-US" sz="1800" b="0" u="none" strike="noStrike">
                <a:solidFill>
                  <a:schemeClr val="dk1"/>
                </a:solidFill>
                <a:effectLst/>
                <a:uFillTx/>
                <a:latin typeface="+mn-lt"/>
                <a:ea typeface="+mn-ea"/>
              </a:rPr>
              <a:t>46</a:t>
            </a:fld>
            <a:endParaRPr lang="en-US" sz="1800" b="0" u="none" strike="noStrike">
              <a:solidFill>
                <a:srgbClr val="000000"/>
              </a:solidFill>
              <a:effectLst/>
              <a:uFillTx/>
              <a:latin typeface="Times New Roman"/>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5" name="PlaceHolder 1"/>
          <p:cNvSpPr>
            <a:spLocks noGrp="1" noRot="1" noChangeAspect="1"/>
          </p:cNvSpPr>
          <p:nvPr>
            <p:ph type="sldImg"/>
          </p:nvPr>
        </p:nvSpPr>
        <p:spPr>
          <a:xfrm>
            <a:off x="0" y="0"/>
            <a:ext cx="0" cy="0"/>
          </a:xfrm>
          <a:prstGeom prst="rect">
            <a:avLst/>
          </a:prstGeom>
          <a:ln w="0">
            <a:noFill/>
          </a:ln>
        </p:spPr>
      </p:sp>
      <p:sp>
        <p:nvSpPr>
          <p:cNvPr id="75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2:20 for this slide (cum 70:15-72:35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Two registers on this one slide. STRAIGHT for the top two cards — this is real mechanical risk, say it plainly.</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Be precise about what sits on a mannequin: pull-request data only — authorship, comments and reviews. Work items don’t migrate at all, so there is no work-item history to reclaim.</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757" name="PlaceHolder 3"/>
          <p:cNvSpPr>
            <a:spLocks noGrp="1"/>
          </p:cNvSpPr>
          <p:nvPr>
            <p:ph type="sldNum" idx="6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0D6DAE1-D39E-4285-9360-135D0656E7C0}" type="slidenum">
              <a:rPr lang="en-US" sz="1800" b="0" u="none" strike="noStrike">
                <a:solidFill>
                  <a:schemeClr val="dk1"/>
                </a:solidFill>
                <a:effectLst/>
                <a:uFillTx/>
                <a:latin typeface="+mn-lt"/>
                <a:ea typeface="+mn-ea"/>
              </a:rPr>
              <a:t>47</a:t>
            </a:fld>
            <a:endParaRPr lang="en-US" sz="1800" b="0" u="none" strike="noStrike">
              <a:solidFill>
                <a:srgbClr val="000000"/>
              </a:solidFill>
              <a:effectLst/>
              <a:uFillTx/>
              <a:latin typeface="Times New Roman"/>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 name="PlaceHolder 1"/>
          <p:cNvSpPr>
            <a:spLocks noGrp="1" noRot="1" noChangeAspect="1"/>
          </p:cNvSpPr>
          <p:nvPr>
            <p:ph type="sldImg"/>
          </p:nvPr>
        </p:nvSpPr>
        <p:spPr>
          <a:xfrm>
            <a:off x="0" y="0"/>
            <a:ext cx="0" cy="0"/>
          </a:xfrm>
          <a:prstGeom prst="rect">
            <a:avLst/>
          </a:prstGeom>
          <a:ln w="0">
            <a:noFill/>
          </a:ln>
        </p:spPr>
      </p:sp>
      <p:sp>
        <p:nvSpPr>
          <p:cNvPr id="75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1:35 for this slide (cum 72:35-74:10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briskly. For item three, recap the three planes and the cross-plane methods. For item five, reinforce that migration is an operating model: ownership, entry criteria, evidence, rollback, and decommissioning—not merely a tooling sequence.</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Then hand straight off to the Unglamorous Truth slide. The recap is the list; that slide is the point. Do not editorialise between the two — just turn the page.</a:t>
            </a:r>
          </a:p>
        </p:txBody>
      </p:sp>
      <p:sp>
        <p:nvSpPr>
          <p:cNvPr id="760" name="PlaceHolder 3"/>
          <p:cNvSpPr>
            <a:spLocks noGrp="1"/>
          </p:cNvSpPr>
          <p:nvPr>
            <p:ph type="sldNum" idx="6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555EF961-C890-47FC-B15B-6C3E20D63972}" type="slidenum">
              <a:rPr lang="en-US" sz="1800" b="0" u="none" strike="noStrike">
                <a:solidFill>
                  <a:schemeClr val="dk1"/>
                </a:solidFill>
                <a:effectLst/>
                <a:uFillTx/>
                <a:latin typeface="+mn-lt"/>
                <a:ea typeface="+mn-ea"/>
              </a:rPr>
              <a:t>48</a:t>
            </a:fld>
            <a:endParaRPr lang="en-US" sz="1800" b="0" u="none" strike="noStrike">
              <a:solidFill>
                <a:srgbClr val="000000"/>
              </a:solidFill>
              <a:effectLst/>
              <a:uFillTx/>
              <a:latin typeface="Times New Roman"/>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noRot="1" noChangeAspect="1"/>
          </p:cNvSpPr>
          <p:nvPr>
            <p:ph type="sldImg"/>
          </p:nvPr>
        </p:nvSpPr>
        <p:spPr>
          <a:xfrm>
            <a:off x="0" y="0"/>
            <a:ext cx="0" cy="0"/>
          </a:xfrm>
          <a:prstGeom prst="rect">
            <a:avLst/>
          </a:prstGeom>
          <a:ln w="0">
            <a:noFill/>
          </a:ln>
        </p:spPr>
      </p:sp>
      <p:sp>
        <p:nvSpPr>
          <p:cNvPr id="76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1:50 for this slide (cum 74:10-76:00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and let it land quieter than anything around it. This is the deck's thesis in one sentence, and it now sits where it earns the most: the recap just handed them six things to remember, and this is the one thing to feel.</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763" name="PlaceHolder 3"/>
          <p:cNvSpPr>
            <a:spLocks noGrp="1"/>
          </p:cNvSpPr>
          <p:nvPr>
            <p:ph type="sldNum" idx="6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C119249-A0CD-461F-84D5-2D4568633E48}" type="slidenum">
              <a:rPr lang="en-US" sz="1800" b="0" u="none" strike="noStrike">
                <a:solidFill>
                  <a:schemeClr val="dk1"/>
                </a:solidFill>
                <a:effectLst/>
                <a:uFillTx/>
                <a:latin typeface="+mn-lt"/>
                <a:ea typeface="+mn-ea"/>
              </a:rPr>
              <a:t>49</a:t>
            </a:fld>
            <a:endParaRPr lang="en-US" sz="1800" b="0" u="none" strike="noStrike">
              <a:solidFill>
                <a:srgbClr val="000000"/>
              </a:solidFill>
              <a:effectLst/>
              <a:uFillTx/>
              <a:latin typeface="Times New Roman"/>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PlaceHolder 1"/>
          <p:cNvSpPr>
            <a:spLocks noGrp="1" noRot="1" noChangeAspect="1"/>
          </p:cNvSpPr>
          <p:nvPr>
            <p:ph type="sldImg"/>
          </p:nvPr>
        </p:nvSpPr>
        <p:spPr>
          <a:xfrm>
            <a:off x="0" y="0"/>
            <a:ext cx="0" cy="0"/>
          </a:xfrm>
          <a:prstGeom prst="rect">
            <a:avLst/>
          </a:prstGeom>
          <a:ln w="0">
            <a:noFill/>
          </a:ln>
        </p:spPr>
      </p:sp>
      <p:sp>
        <p:nvSpPr>
          <p:cNvPr id="76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1:00 for this slide (cum 76:00-77:00 of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DOCUMENTARY VOICE — spoken live, slower than anything else in the deck.</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last line is the callback to section 6's title, so it should land as a click rather than a punchline. Let the silence sit for two full seconds before advancing — do not rush into the thank-you slide, and do not add another joke on top of it.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Note the division of labour with the Unglamorous Truth slide two back: that one is the sincere version in your own voice, this one is the funny version in the documentary voice. Sincerity first, laugh last.</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ALTERNATE CLOSER, if this one doesn't fit on the night ----</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766" name="PlaceHolder 3"/>
          <p:cNvSpPr>
            <a:spLocks noGrp="1"/>
          </p:cNvSpPr>
          <p:nvPr>
            <p:ph type="sldNum" idx="6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F08052A3-65C7-4FE1-90B2-8DF489E0FDEC}" type="slidenum">
              <a:rPr lang="en-US" sz="1800" b="0" u="none" strike="noStrike">
                <a:solidFill>
                  <a:schemeClr val="dk1"/>
                </a:solidFill>
                <a:effectLst/>
                <a:uFillTx/>
                <a:latin typeface="+mn-lt"/>
                <a:ea typeface="+mn-ea"/>
              </a:rPr>
              <a:t>50</a:t>
            </a:fld>
            <a:endParaRPr lang="en-US" sz="1800" b="0" u="none" strike="noStrike">
              <a:solidFill>
                <a:srgbClr val="000000"/>
              </a:solidFill>
              <a:effectLst/>
              <a:uFillTx/>
              <a:latin typeface="Times New Roman"/>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7" name="PlaceHolder 1"/>
          <p:cNvSpPr>
            <a:spLocks noGrp="1" noRot="1" noChangeAspect="1"/>
          </p:cNvSpPr>
          <p:nvPr>
            <p:ph type="sldImg"/>
          </p:nvPr>
        </p:nvSpPr>
        <p:spPr>
          <a:xfrm>
            <a:off x="0" y="0"/>
            <a:ext cx="0" cy="0"/>
          </a:xfrm>
          <a:prstGeom prst="rect">
            <a:avLst/>
          </a:prstGeom>
          <a:ln w="0">
            <a:noFill/>
          </a:ln>
        </p:spPr>
      </p:sp>
      <p:sp>
        <p:nvSpPr>
          <p:cNvPr id="76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1" u="none" strike="noStrike">
                <a:solidFill>
                  <a:srgbClr val="000000"/>
                </a:solidFill>
                <a:effectLst/>
                <a:uFillTx/>
                <a:latin typeface="Arial"/>
              </a:rPr>
              <a:t>TIMING: budget 1:00 for this slide (cum 77:00-78:00 of 90:00), then open Q&amp;A gets ~12:00 to 90:00.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STRAIGHT delivery, warm. This is the handoff into the open Q&amp;A, roughly 14 minutes — there has been no interim pocket since section 5, so the room has been banking questions. Invite them explicitly rather than just stopping talking.</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If a question needs more than the time you have, point at the code: the long answer is almost certainly already in the repo.</a:t>
            </a:r>
          </a:p>
        </p:txBody>
      </p:sp>
      <p:sp>
        <p:nvSpPr>
          <p:cNvPr id="769" name="PlaceHolder 3"/>
          <p:cNvSpPr>
            <a:spLocks noGrp="1"/>
          </p:cNvSpPr>
          <p:nvPr>
            <p:ph type="sldNum" idx="6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AF57FAB-D258-4727-BEF2-937D70753715}" type="slidenum">
              <a:rPr lang="en-US" sz="1800" b="0" u="none" strike="noStrike">
                <a:solidFill>
                  <a:schemeClr val="dk1"/>
                </a:solidFill>
                <a:effectLst/>
                <a:uFillTx/>
                <a:latin typeface="+mn-lt"/>
                <a:ea typeface="+mn-ea"/>
              </a:rPr>
              <a:t>51</a:t>
            </a:fld>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lstStyle/>
          <a:p>
            <a:fld id="{49C52FE9-0218-4DC5-9820-5AECDBB500B6}"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sldNum" idx="1"/>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6B6B63"/>
                </a:solidFill>
                <a:effectLst/>
                <a:uFillTx/>
                <a:latin typeface="Calibri"/>
              </a:defRPr>
            </a:lvl1pPr>
          </a:lstStyle>
          <a:p>
            <a:pPr indent="0" algn="r" defTabSz="914400">
              <a:lnSpc>
                <a:spcPct val="100000"/>
              </a:lnSpc>
              <a:buNone/>
            </a:pPr>
            <a:fld id="{9A89DE66-6D96-429E-AB2E-5E23E669CF22}" type="slidenum">
              <a:rPr lang="en-US" sz="1000" b="0" u="none" strike="noStrike">
                <a:solidFill>
                  <a:srgbClr val="6B6B63"/>
                </a:solidFill>
                <a:effectLst/>
                <a:uFillTx/>
                <a:latin typeface="Calibri"/>
              </a:rPr>
              <a:t>‹#›</a:t>
            </a:fld>
            <a:endParaRPr lang="en-US" sz="1000" b="0" u="none" strike="noStrike">
              <a:solidFill>
                <a:srgbClr val="000000"/>
              </a:solidFill>
              <a:effectLst/>
              <a:uFillTx/>
              <a:latin typeface="Times New Roman"/>
            </a:endParaRPr>
          </a:p>
        </p:txBody>
      </p:sp>
      <p:sp>
        <p:nvSpPr>
          <p:cNvPr id="3"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p>
        </p:txBody>
      </p:sp>
      <p:sp>
        <p:nvSpPr>
          <p:cNvPr id="4"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8.png"/><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11" name="Shape 0"/>
          <p:cNvSpPr/>
          <p:nvPr/>
        </p:nvSpPr>
        <p:spPr>
          <a:xfrm>
            <a:off x="360" y="0"/>
            <a:ext cx="12191400" cy="6857640"/>
          </a:xfrm>
          <a:prstGeom prst="rect">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12" name="Shape 1"/>
          <p:cNvSpPr/>
          <p:nvPr/>
        </p:nvSpPr>
        <p:spPr>
          <a:xfrm>
            <a:off x="0" y="5120640"/>
            <a:ext cx="12191400" cy="1737000"/>
          </a:xfrm>
          <a:prstGeom prst="rect">
            <a:avLst/>
          </a:prstGeom>
          <a:solidFill>
            <a:srgbClr val="142A1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3" name="Image 0" descr="/home/claude/pptx-build/assets/icons/FaCompass-8C6A3F-400.png"/>
          <p:cNvPicPr/>
          <p:nvPr/>
        </p:nvPicPr>
        <p:blipFill>
          <a:blip r:embed="rId3">
            <a:alphaModFix amt="80000"/>
          </a:blip>
          <a:stretch/>
        </p:blipFill>
        <p:spPr>
          <a:xfrm>
            <a:off x="9601200" y="640080"/>
            <a:ext cx="1919880" cy="1919880"/>
          </a:xfrm>
          <a:prstGeom prst="rect">
            <a:avLst/>
          </a:prstGeom>
          <a:noFill/>
          <a:ln w="0">
            <a:noFill/>
          </a:ln>
        </p:spPr>
      </p:pic>
      <p:sp>
        <p:nvSpPr>
          <p:cNvPr id="14" name="Text 2"/>
          <p:cNvSpPr/>
          <p:nvPr/>
        </p:nvSpPr>
        <p:spPr>
          <a:xfrm>
            <a:off x="640080" y="1828800"/>
            <a:ext cx="100580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spc="300">
                <a:solidFill>
                  <a:srgbClr val="E0B85C"/>
                </a:solidFill>
                <a:effectLst/>
                <a:uFillTx/>
                <a:latin typeface="Calibri"/>
                <a:ea typeface="Calibri"/>
              </a:rPr>
              <a:t>AZURE DEVOPS → GITHUB ENTERPRISE</a:t>
            </a:r>
            <a:endParaRPr lang="en-US" sz="1800" b="0" u="none" strike="noStrike">
              <a:solidFill>
                <a:srgbClr val="FFFFFF"/>
              </a:solidFill>
              <a:effectLst/>
              <a:uFillTx/>
              <a:latin typeface="Arial"/>
            </a:endParaRPr>
          </a:p>
        </p:txBody>
      </p:sp>
      <p:sp>
        <p:nvSpPr>
          <p:cNvPr id="15" name="Text 3"/>
          <p:cNvSpPr/>
          <p:nvPr/>
        </p:nvSpPr>
        <p:spPr>
          <a:xfrm>
            <a:off x="640080" y="2286000"/>
            <a:ext cx="10515240" cy="1462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600" b="1" u="none" strike="noStrike">
                <a:solidFill>
                  <a:srgbClr val="F5F5F0"/>
                </a:solidFill>
                <a:effectLst/>
                <a:uFillTx/>
                <a:latin typeface="Cambria"/>
                <a:ea typeface="Cambria"/>
              </a:rPr>
              <a:t>The Great Migration</a:t>
            </a:r>
            <a:endParaRPr lang="en-US" sz="5600" b="0" u="none" strike="noStrike">
              <a:solidFill>
                <a:srgbClr val="FFFFFF"/>
              </a:solidFill>
              <a:effectLst/>
              <a:uFillTx/>
              <a:latin typeface="Arial"/>
            </a:endParaRPr>
          </a:p>
        </p:txBody>
      </p:sp>
      <p:sp>
        <p:nvSpPr>
          <p:cNvPr id="16" name="Text 4"/>
          <p:cNvSpPr/>
          <p:nvPr/>
        </p:nvSpPr>
        <p:spPr>
          <a:xfrm>
            <a:off x="640080" y="5349240"/>
            <a:ext cx="1005804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0" i="1" u="none" strike="noStrike">
                <a:solidFill>
                  <a:srgbClr val="E0B85C"/>
                </a:solidFill>
                <a:effectLst/>
                <a:uFillTx/>
                <a:latin typeface="Cambria"/>
                <a:ea typeface="Cambria"/>
              </a:rPr>
              <a:t>“Observe the DevOps Engineer in their natural habitat.”</a:t>
            </a:r>
            <a:endParaRPr lang="en-US" sz="2400" b="0" u="none" strike="noStrike">
              <a:solidFill>
                <a:srgbClr val="FFFFFF"/>
              </a:solidFill>
              <a:effectLst/>
              <a:uFillTx/>
              <a:latin typeface="Arial"/>
            </a:endParaRPr>
          </a:p>
        </p:txBody>
      </p:sp>
      <p:sp>
        <p:nvSpPr>
          <p:cNvPr id="17" name="Text 5"/>
          <p:cNvSpPr/>
          <p:nvPr/>
        </p:nvSpPr>
        <p:spPr>
          <a:xfrm>
            <a:off x="640080" y="6172200"/>
            <a:ext cx="100580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F5F5F0"/>
                </a:solidFill>
                <a:effectLst/>
                <a:uFillTx/>
                <a:latin typeface="Calibri"/>
                <a:ea typeface="Calibri"/>
              </a:rPr>
              <a:t>Kevin Neumann  •  Cloud &amp; AI Summit  •  September 30, 2026</a:t>
            </a:r>
            <a:endParaRPr lang="en-US" sz="1500" b="0" u="none" strike="noStrike">
              <a:solidFill>
                <a:srgbClr val="FFFFFF"/>
              </a:solidFill>
              <a:effectLst/>
              <a:uFillTx/>
              <a:latin typeface="Arial"/>
            </a:endParaRPr>
          </a:p>
        </p:txBody>
      </p:sp>
      <p:sp>
        <p:nvSpPr>
          <p:cNvPr id="18" name="PlaceHolder 1"/>
          <p:cNvSpPr>
            <a:spLocks noGrp="1"/>
          </p:cNvSpPr>
          <p:nvPr>
            <p:ph type="sldNum" idx="5"/>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0389975C-2301-4104-8865-A10127E45DE5}" type="slidenum">
              <a:rPr lang="en-US" sz="1000" b="0" u="none" strike="noStrike">
                <a:solidFill>
                  <a:srgbClr val="E0B85C"/>
                </a:solidFill>
                <a:effectLst/>
                <a:uFillTx/>
                <a:latin typeface="Calibri"/>
              </a:rPr>
              <a:t>1</a:t>
            </a:fld>
            <a:endParaRPr lang="en-US" sz="1000" b="0" u="none" strike="noStrike">
              <a:solidFill>
                <a:srgbClr val="FFFFFF"/>
              </a:solidFill>
              <a:effectLst/>
              <a:uFillTx/>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9" name="Picture 6"/>
          <p:cNvPicPr/>
          <p:nvPr/>
        </p:nvPicPr>
        <p:blipFill>
          <a:blip r:embed="rId3"/>
          <a:stretch/>
        </p:blipFill>
        <p:spPr>
          <a:xfrm>
            <a:off x="0" y="0"/>
            <a:ext cx="12191760" cy="6857640"/>
          </a:xfrm>
          <a:prstGeom prst="rect">
            <a:avLst/>
          </a:prstGeom>
          <a:noFill/>
          <a:ln w="0">
            <a:noFill/>
          </a:ln>
        </p:spPr>
      </p:pic>
      <p:sp>
        <p:nvSpPr>
          <p:cNvPr id="2" name="PlaceHolder 1"/>
          <p:cNvSpPr>
            <a:spLocks noGrp="1"/>
          </p:cNvSpPr>
          <p:nvPr>
            <p:ph type="sldNum" idx="1"/>
          </p:nvPr>
        </p:nvSpPr>
        <p:spPr/>
        <p:txBody>
          <a:bodyPr/>
          <a:lstStyle/>
          <a:p>
            <a:fld id="{E5463CBF-07A8-4190-9498-0F8AA1E9D27F}" type="slidenum">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1" name="Image 0" descr="/home/claude/pptx-build/assets/icons/FaMap-FFFFFF-200.png"/>
          <p:cNvPicPr/>
          <p:nvPr/>
        </p:nvPicPr>
        <p:blipFill>
          <a:blip r:embed="rId3"/>
          <a:stretch/>
        </p:blipFill>
        <p:spPr>
          <a:xfrm>
            <a:off x="685800" y="594360"/>
            <a:ext cx="292320" cy="292320"/>
          </a:xfrm>
          <a:prstGeom prst="rect">
            <a:avLst/>
          </a:prstGeom>
          <a:noFill/>
          <a:ln w="0">
            <a:noFill/>
          </a:ln>
        </p:spPr>
      </p:pic>
      <p:sp>
        <p:nvSpPr>
          <p:cNvPr id="22"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AGENDA</a:t>
            </a:r>
            <a:endParaRPr lang="en-US" sz="1500" b="0" u="none" strike="noStrike">
              <a:solidFill>
                <a:srgbClr val="000000"/>
              </a:solidFill>
              <a:effectLst/>
              <a:uFillTx/>
              <a:latin typeface="Arial"/>
            </a:endParaRPr>
          </a:p>
        </p:txBody>
      </p:sp>
      <p:sp>
        <p:nvSpPr>
          <p:cNvPr id="23"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Six Legs of the Expedition</a:t>
            </a:r>
            <a:endParaRPr lang="en-US" sz="3200" b="0" u="none" strike="noStrike">
              <a:solidFill>
                <a:srgbClr val="000000"/>
              </a:solidFill>
              <a:effectLst/>
              <a:uFillTx/>
              <a:latin typeface="Arial"/>
            </a:endParaRPr>
          </a:p>
        </p:txBody>
      </p:sp>
      <p:sp>
        <p:nvSpPr>
          <p:cNvPr id="24" name="Shape 3"/>
          <p:cNvSpPr/>
          <p:nvPr/>
        </p:nvSpPr>
        <p:spPr>
          <a:xfrm>
            <a:off x="548640" y="1554480"/>
            <a:ext cx="7067880" cy="4434480"/>
          </a:xfrm>
          <a:prstGeom prst="roundRect">
            <a:avLst>
              <a:gd name="adj" fmla="val 2474"/>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5" name="Text 4"/>
          <p:cNvSpPr/>
          <p:nvPr/>
        </p:nvSpPr>
        <p:spPr>
          <a:xfrm>
            <a:off x="777240" y="1783080"/>
            <a:ext cx="50256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C1440E"/>
                </a:solidFill>
                <a:effectLst/>
                <a:uFillTx/>
                <a:latin typeface="Cambria"/>
                <a:ea typeface="Cambria"/>
              </a:rPr>
              <a:t>1</a:t>
            </a:r>
            <a:endParaRPr lang="en-US" sz="2400" b="0" u="none" strike="noStrike">
              <a:solidFill>
                <a:srgbClr val="000000"/>
              </a:solidFill>
              <a:effectLst/>
              <a:uFillTx/>
              <a:latin typeface="Arial"/>
            </a:endParaRPr>
          </a:p>
        </p:txBody>
      </p:sp>
      <p:sp>
        <p:nvSpPr>
          <p:cNvPr id="26" name="Text 5"/>
          <p:cNvSpPr/>
          <p:nvPr/>
        </p:nvSpPr>
        <p:spPr>
          <a:xfrm>
            <a:off x="1371600" y="1783080"/>
            <a:ext cx="6126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2B2B2B"/>
                </a:solidFill>
                <a:effectLst/>
                <a:uFillTx/>
                <a:latin typeface="Calibri"/>
                <a:ea typeface="Calibri"/>
              </a:rPr>
              <a:t>Why Leave the Herd — the case for migrating</a:t>
            </a:r>
            <a:endParaRPr lang="en-US" sz="1600" b="0" u="none" strike="noStrike">
              <a:solidFill>
                <a:srgbClr val="000000"/>
              </a:solidFill>
              <a:effectLst/>
              <a:uFillTx/>
              <a:latin typeface="Arial"/>
            </a:endParaRPr>
          </a:p>
        </p:txBody>
      </p:sp>
      <p:sp>
        <p:nvSpPr>
          <p:cNvPr id="27" name="Text 6"/>
          <p:cNvSpPr/>
          <p:nvPr/>
        </p:nvSpPr>
        <p:spPr>
          <a:xfrm>
            <a:off x="777240" y="2496240"/>
            <a:ext cx="50256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C1440E"/>
                </a:solidFill>
                <a:effectLst/>
                <a:uFillTx/>
                <a:latin typeface="Cambria"/>
                <a:ea typeface="Cambria"/>
              </a:rPr>
              <a:t>2</a:t>
            </a:r>
            <a:endParaRPr lang="en-US" sz="2400" b="0" u="none" strike="noStrike">
              <a:solidFill>
                <a:srgbClr val="000000"/>
              </a:solidFill>
              <a:effectLst/>
              <a:uFillTx/>
              <a:latin typeface="Arial"/>
            </a:endParaRPr>
          </a:p>
        </p:txBody>
      </p:sp>
      <p:sp>
        <p:nvSpPr>
          <p:cNvPr id="28" name="Text 7"/>
          <p:cNvSpPr/>
          <p:nvPr/>
        </p:nvSpPr>
        <p:spPr>
          <a:xfrm>
            <a:off x="1371600" y="2496240"/>
            <a:ext cx="6126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2B2B2B"/>
                </a:solidFill>
                <a:effectLst/>
                <a:uFillTx/>
                <a:latin typeface="Calibri"/>
                <a:ea typeface="Calibri"/>
              </a:rPr>
              <a:t>A Field Guide to the Local Species — what concepts natively thrive</a:t>
            </a:r>
            <a:endParaRPr lang="en-US" sz="1600" b="0" u="none" strike="noStrike">
              <a:solidFill>
                <a:srgbClr val="000000"/>
              </a:solidFill>
              <a:effectLst/>
              <a:uFillTx/>
              <a:latin typeface="Arial"/>
            </a:endParaRPr>
          </a:p>
        </p:txBody>
      </p:sp>
      <p:sp>
        <p:nvSpPr>
          <p:cNvPr id="29" name="Text 8"/>
          <p:cNvSpPr/>
          <p:nvPr/>
        </p:nvSpPr>
        <p:spPr>
          <a:xfrm>
            <a:off x="777240" y="3209400"/>
            <a:ext cx="50256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C1440E"/>
                </a:solidFill>
                <a:effectLst/>
                <a:uFillTx/>
                <a:latin typeface="Cambria"/>
                <a:ea typeface="Cambria"/>
              </a:rPr>
              <a:t>3</a:t>
            </a:r>
            <a:endParaRPr lang="en-US" sz="2400" b="0" u="none" strike="noStrike">
              <a:solidFill>
                <a:srgbClr val="000000"/>
              </a:solidFill>
              <a:effectLst/>
              <a:uFillTx/>
              <a:latin typeface="Arial"/>
            </a:endParaRPr>
          </a:p>
        </p:txBody>
      </p:sp>
      <p:sp>
        <p:nvSpPr>
          <p:cNvPr id="30" name="Text 9"/>
          <p:cNvSpPr/>
          <p:nvPr/>
        </p:nvSpPr>
        <p:spPr>
          <a:xfrm>
            <a:off x="1371600" y="3209400"/>
            <a:ext cx="6126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2B2B2B"/>
                </a:solidFill>
                <a:effectLst/>
                <a:uFillTx/>
                <a:latin typeface="Calibri"/>
                <a:ea typeface="Calibri"/>
              </a:rPr>
              <a:t>Crossing the River — repository data, automation, validation</a:t>
            </a:r>
            <a:endParaRPr lang="en-US" sz="1600" b="0" u="none" strike="noStrike">
              <a:solidFill>
                <a:srgbClr val="000000"/>
              </a:solidFill>
              <a:effectLst/>
              <a:uFillTx/>
              <a:latin typeface="Arial"/>
            </a:endParaRPr>
          </a:p>
        </p:txBody>
      </p:sp>
      <p:sp>
        <p:nvSpPr>
          <p:cNvPr id="31" name="Text 10"/>
          <p:cNvSpPr/>
          <p:nvPr/>
        </p:nvSpPr>
        <p:spPr>
          <a:xfrm>
            <a:off x="777240" y="3922920"/>
            <a:ext cx="50256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C1440E"/>
                </a:solidFill>
                <a:effectLst/>
                <a:uFillTx/>
                <a:latin typeface="Cambria"/>
                <a:ea typeface="Cambria"/>
              </a:rPr>
              <a:t>4</a:t>
            </a:r>
            <a:endParaRPr lang="en-US" sz="2400" b="0" u="none" strike="noStrike">
              <a:solidFill>
                <a:srgbClr val="000000"/>
              </a:solidFill>
              <a:effectLst/>
              <a:uFillTx/>
              <a:latin typeface="Arial"/>
            </a:endParaRPr>
          </a:p>
        </p:txBody>
      </p:sp>
      <p:sp>
        <p:nvSpPr>
          <p:cNvPr id="32" name="Text 11"/>
          <p:cNvSpPr/>
          <p:nvPr/>
        </p:nvSpPr>
        <p:spPr>
          <a:xfrm>
            <a:off x="1371600" y="3922920"/>
            <a:ext cx="6126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2B2B2B"/>
                </a:solidFill>
                <a:effectLst/>
                <a:uFillTx/>
                <a:latin typeface="Calibri"/>
                <a:ea typeface="Calibri"/>
              </a:rPr>
              <a:t>Watch as the Scrum Master Approaches Carefully — Boards vs. Projects</a:t>
            </a:r>
            <a:endParaRPr lang="en-US" sz="1600" b="0" u="none" strike="noStrike">
              <a:solidFill>
                <a:srgbClr val="000000"/>
              </a:solidFill>
              <a:effectLst/>
              <a:uFillTx/>
              <a:latin typeface="Arial"/>
            </a:endParaRPr>
          </a:p>
        </p:txBody>
      </p:sp>
      <p:sp>
        <p:nvSpPr>
          <p:cNvPr id="33" name="Text 12"/>
          <p:cNvSpPr/>
          <p:nvPr/>
        </p:nvSpPr>
        <p:spPr>
          <a:xfrm>
            <a:off x="777240" y="4636080"/>
            <a:ext cx="50256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C1440E"/>
                </a:solidFill>
                <a:effectLst/>
                <a:uFillTx/>
                <a:latin typeface="Cambria"/>
                <a:ea typeface="Cambria"/>
              </a:rPr>
              <a:t>5</a:t>
            </a:r>
            <a:endParaRPr lang="en-US" sz="2400" b="0" u="none" strike="noStrike">
              <a:solidFill>
                <a:srgbClr val="000000"/>
              </a:solidFill>
              <a:effectLst/>
              <a:uFillTx/>
              <a:latin typeface="Arial"/>
            </a:endParaRPr>
          </a:p>
        </p:txBody>
      </p:sp>
      <p:sp>
        <p:nvSpPr>
          <p:cNvPr id="34" name="Text 13"/>
          <p:cNvSpPr/>
          <p:nvPr/>
        </p:nvSpPr>
        <p:spPr>
          <a:xfrm>
            <a:off x="1371600" y="4636080"/>
            <a:ext cx="6126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2B2B2B"/>
                </a:solidFill>
                <a:effectLst/>
                <a:uFillTx/>
                <a:latin typeface="Calibri"/>
                <a:ea typeface="Calibri"/>
              </a:rPr>
              <a:t>The Senior Engineer Defends an Ancient Pipeline — change management</a:t>
            </a:r>
            <a:endParaRPr lang="en-US" sz="1600" b="0" u="none" strike="noStrike">
              <a:solidFill>
                <a:srgbClr val="000000"/>
              </a:solidFill>
              <a:effectLst/>
              <a:uFillTx/>
              <a:latin typeface="Arial"/>
            </a:endParaRPr>
          </a:p>
        </p:txBody>
      </p:sp>
      <p:sp>
        <p:nvSpPr>
          <p:cNvPr id="35" name="Text 14"/>
          <p:cNvSpPr/>
          <p:nvPr/>
        </p:nvSpPr>
        <p:spPr>
          <a:xfrm>
            <a:off x="777240" y="5349240"/>
            <a:ext cx="50256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C1440E"/>
                </a:solidFill>
                <a:effectLst/>
                <a:uFillTx/>
                <a:latin typeface="Cambria"/>
                <a:ea typeface="Cambria"/>
              </a:rPr>
              <a:t>6</a:t>
            </a:r>
            <a:endParaRPr lang="en-US" sz="2400" b="0" u="none" strike="noStrike">
              <a:solidFill>
                <a:srgbClr val="000000"/>
              </a:solidFill>
              <a:effectLst/>
              <a:uFillTx/>
              <a:latin typeface="Arial"/>
            </a:endParaRPr>
          </a:p>
        </p:txBody>
      </p:sp>
      <p:sp>
        <p:nvSpPr>
          <p:cNvPr id="36" name="Text 15"/>
          <p:cNvSpPr/>
          <p:nvPr/>
        </p:nvSpPr>
        <p:spPr>
          <a:xfrm>
            <a:off x="1371600" y="5349240"/>
            <a:ext cx="6126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2B2B2B"/>
                </a:solidFill>
                <a:effectLst/>
                <a:uFillTx/>
                <a:latin typeface="Calibri"/>
                <a:ea typeface="Calibri"/>
              </a:rPr>
              <a:t>The Watering Hole Nobody Told to Move — the long tail</a:t>
            </a:r>
            <a:endParaRPr lang="en-US" sz="1600" b="0" u="none" strike="noStrike">
              <a:solidFill>
                <a:srgbClr val="000000"/>
              </a:solidFill>
              <a:effectLst/>
              <a:uFillTx/>
              <a:latin typeface="Arial"/>
            </a:endParaRPr>
          </a:p>
        </p:txBody>
      </p:sp>
      <p:sp>
        <p:nvSpPr>
          <p:cNvPr id="37" name="Shape 16"/>
          <p:cNvSpPr/>
          <p:nvPr/>
        </p:nvSpPr>
        <p:spPr>
          <a:xfrm>
            <a:off x="7754040" y="1554480"/>
            <a:ext cx="3858480" cy="4434480"/>
          </a:xfrm>
          <a:prstGeom prst="roundRect">
            <a:avLst>
              <a:gd name="adj" fmla="val 2637"/>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8" name="Text 17"/>
          <p:cNvSpPr/>
          <p:nvPr/>
        </p:nvSpPr>
        <p:spPr>
          <a:xfrm>
            <a:off x="8010000" y="1737360"/>
            <a:ext cx="338292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F5F5F0"/>
                </a:solidFill>
                <a:effectLst/>
                <a:uFillTx/>
                <a:latin typeface="Cambria"/>
                <a:ea typeface="Cambria"/>
              </a:rPr>
              <a:t>Trails We’re Not Hiking</a:t>
            </a:r>
            <a:endParaRPr lang="en-US" sz="1900" b="0" u="none" strike="noStrike">
              <a:solidFill>
                <a:srgbClr val="000000"/>
              </a:solidFill>
              <a:effectLst/>
              <a:uFillTx/>
              <a:latin typeface="Arial"/>
            </a:endParaRPr>
          </a:p>
        </p:txBody>
      </p:sp>
      <p:sp>
        <p:nvSpPr>
          <p:cNvPr id="39" name="Text 18"/>
          <p:cNvSpPr/>
          <p:nvPr/>
        </p:nvSpPr>
        <p:spPr>
          <a:xfrm>
            <a:off x="8010000" y="2331720"/>
            <a:ext cx="3382920" cy="352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pPr>
            <a:r>
              <a:rPr lang="en-US" sz="1500" b="1" u="none" strike="noStrike">
                <a:solidFill>
                  <a:srgbClr val="F5F5F0"/>
                </a:solidFill>
                <a:effectLst/>
                <a:uFillTx/>
                <a:latin typeface="Calibri"/>
                <a:ea typeface="Calibri"/>
              </a:rPr>
              <a:t>Non-goal: </a:t>
            </a:r>
            <a:r>
              <a:rPr lang="en-US" sz="1500" b="0" u="none" strike="noStrike">
                <a:solidFill>
                  <a:srgbClr val="F5F5F0"/>
                </a:solidFill>
                <a:effectLst/>
                <a:uFillTx/>
                <a:latin typeface="Calibri"/>
                <a:ea typeface="Calibri"/>
              </a:rPr>
              <a:t>comparing GitHub with every competing platform.</a:t>
            </a:r>
            <a:endParaRPr lang="en-US" sz="1500" b="0" u="none" strike="noStrike">
              <a:solidFill>
                <a:srgbClr val="000000"/>
              </a:solidFill>
              <a:effectLst/>
              <a:uFillTx/>
              <a:latin typeface="Arial"/>
            </a:endParaRPr>
          </a:p>
          <a:p>
            <a:pPr defTabSz="914400">
              <a:lnSpc>
                <a:spcPct val="115000"/>
              </a:lnSpc>
            </a:pPr>
            <a:endParaRPr lang="en-US" sz="1500" b="0" u="none" strike="noStrike">
              <a:solidFill>
                <a:srgbClr val="000000"/>
              </a:solidFill>
              <a:effectLst/>
              <a:uFillTx/>
              <a:latin typeface="Arial"/>
            </a:endParaRPr>
          </a:p>
          <a:p>
            <a:pPr defTabSz="914400">
              <a:lnSpc>
                <a:spcPct val="115000"/>
              </a:lnSpc>
            </a:pPr>
            <a:endParaRPr lang="en-US" sz="1500" b="0" u="none" strike="noStrike">
              <a:solidFill>
                <a:srgbClr val="000000"/>
              </a:solidFill>
              <a:effectLst/>
              <a:uFillTx/>
              <a:latin typeface="Arial"/>
            </a:endParaRPr>
          </a:p>
          <a:p>
            <a:pPr defTabSz="914400">
              <a:lnSpc>
                <a:spcPct val="115000"/>
              </a:lnSpc>
            </a:pPr>
            <a:r>
              <a:rPr lang="en-US" sz="1500" b="0" i="1" u="none" strike="noStrike">
                <a:solidFill>
                  <a:srgbClr val="F5F5F0"/>
                </a:solidFill>
                <a:effectLst/>
                <a:uFillTx/>
                <a:latin typeface="Calibri"/>
                <a:ea typeface="Calibri"/>
              </a:rPr>
              <a:t>Good news for fellow travelers: much of this trail works no matter which CI/CD platform you’re hiking toward.</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3D1A9E7B-7534-4E4C-9584-F5824997E842}" type="slidenum">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40" name="Shape 0"/>
          <p:cNvSpPr/>
          <p:nvPr/>
        </p:nvSpPr>
        <p:spPr>
          <a:xfrm>
            <a:off x="0" y="0"/>
            <a:ext cx="12191400" cy="1234080"/>
          </a:xfrm>
          <a:prstGeom prst="rect">
            <a:avLst/>
          </a:prstGeom>
          <a:solidFill>
            <a:srgbClr val="142A1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1" name="Text 1"/>
          <p:cNvSpPr/>
          <p:nvPr/>
        </p:nvSpPr>
        <p:spPr>
          <a:xfrm>
            <a:off x="548640" y="365760"/>
            <a:ext cx="91436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spc="300">
                <a:solidFill>
                  <a:srgbClr val="E0B85C"/>
                </a:solidFill>
                <a:effectLst/>
                <a:uFillTx/>
                <a:latin typeface="Calibri"/>
                <a:ea typeface="Calibri"/>
              </a:rPr>
              <a:t>SECTION 1</a:t>
            </a:r>
            <a:endParaRPr lang="en-US" sz="1700" b="0" u="none" strike="noStrike">
              <a:solidFill>
                <a:srgbClr val="FFFFFF"/>
              </a:solidFill>
              <a:effectLst/>
              <a:uFillTx/>
              <a:latin typeface="Arial"/>
            </a:endParaRPr>
          </a:p>
        </p:txBody>
      </p:sp>
      <p:pic>
        <p:nvPicPr>
          <p:cNvPr id="42" name="Image 0" descr="/home/claude/pptx-build/assets/icons/FaFeatherAlt-8C6A3F-300.png"/>
          <p:cNvPicPr/>
          <p:nvPr/>
        </p:nvPicPr>
        <p:blipFill>
          <a:blip r:embed="rId3">
            <a:alphaModFix amt="85000"/>
          </a:blip>
          <a:stretch/>
        </p:blipFill>
        <p:spPr>
          <a:xfrm>
            <a:off x="9692640" y="2194560"/>
            <a:ext cx="1462680" cy="1462680"/>
          </a:xfrm>
          <a:prstGeom prst="rect">
            <a:avLst/>
          </a:prstGeom>
          <a:noFill/>
          <a:ln w="0">
            <a:noFill/>
          </a:ln>
        </p:spPr>
      </p:pic>
      <p:sp>
        <p:nvSpPr>
          <p:cNvPr id="43" name="Text 2"/>
          <p:cNvSpPr/>
          <p:nvPr/>
        </p:nvSpPr>
        <p:spPr>
          <a:xfrm>
            <a:off x="548640" y="2331720"/>
            <a:ext cx="877788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4400" b="1" u="none" strike="noStrike">
                <a:solidFill>
                  <a:srgbClr val="F5F5F0"/>
                </a:solidFill>
                <a:effectLst/>
                <a:uFillTx/>
                <a:latin typeface="Cambria"/>
                <a:ea typeface="Cambria"/>
              </a:rPr>
              <a:t>Why Leave the Herd</a:t>
            </a:r>
            <a:endParaRPr lang="en-US" sz="4400" b="0" u="none" strike="noStrike">
              <a:solidFill>
                <a:srgbClr val="FFFFFF"/>
              </a:solidFill>
              <a:effectLst/>
              <a:uFillTx/>
              <a:latin typeface="Arial"/>
            </a:endParaRPr>
          </a:p>
        </p:txBody>
      </p:sp>
      <p:sp>
        <p:nvSpPr>
          <p:cNvPr id="44" name="Text 3"/>
          <p:cNvSpPr/>
          <p:nvPr/>
        </p:nvSpPr>
        <p:spPr>
          <a:xfrm>
            <a:off x="548640" y="4160520"/>
            <a:ext cx="8777880" cy="123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0" i="1" u="none" strike="noStrike">
                <a:solidFill>
                  <a:srgbClr val="E0B85C"/>
                </a:solidFill>
                <a:effectLst/>
                <a:uFillTx/>
                <a:latin typeface="Calibri"/>
                <a:ea typeface="Calibri"/>
              </a:rPr>
              <a:t>Across the enterprise, teams gather at the edge of a familiar ecosystem and prepare to move toward a repository that has learned to act on its own.</a:t>
            </a:r>
            <a:endParaRPr lang="en-US" sz="2000" b="0" u="none" strike="noStrike">
              <a:solidFill>
                <a:srgbClr val="FFFFFF"/>
              </a:solidFill>
              <a:effectLst/>
              <a:uFillTx/>
              <a:latin typeface="Arial"/>
            </a:endParaRPr>
          </a:p>
        </p:txBody>
      </p:sp>
      <p:sp>
        <p:nvSpPr>
          <p:cNvPr id="45" name="Shape 4"/>
          <p:cNvSpPr/>
          <p:nvPr/>
        </p:nvSpPr>
        <p:spPr>
          <a:xfrm>
            <a:off x="548640" y="6217920"/>
            <a:ext cx="11064240" cy="360"/>
          </a:xfrm>
          <a:prstGeom prst="line">
            <a:avLst/>
          </a:prstGeom>
          <a:ln w="9525">
            <a:solidFill>
              <a:srgbClr val="8C6A3F"/>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46" name="PlaceHolder 1"/>
          <p:cNvSpPr>
            <a:spLocks noGrp="1"/>
          </p:cNvSpPr>
          <p:nvPr>
            <p:ph type="sldNum" idx="6"/>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17CF0EEF-D2B9-4459-9C3C-52132D82959B}" type="slidenum">
              <a:rPr lang="en-US" sz="1000" b="0" u="none" strike="noStrike">
                <a:solidFill>
                  <a:srgbClr val="E0B85C"/>
                </a:solidFill>
                <a:effectLst/>
                <a:uFillTx/>
                <a:latin typeface="Calibri"/>
              </a:rPr>
              <a:t>4</a:t>
            </a:fld>
            <a:endParaRPr lang="en-US" sz="1000" b="0" u="none" strike="noStrike">
              <a:solidFill>
                <a:srgbClr val="FFFFFF"/>
              </a:solidFill>
              <a:effectLst/>
              <a:uFillTx/>
              <a:latin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8"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500" b="1" u="none" strike="noStrike" spc="201">
                <a:solidFill>
                  <a:srgbClr val="C1440E"/>
                </a:solidFill>
                <a:effectLst/>
                <a:uFillTx/>
                <a:latin typeface="Calibri"/>
                <a:ea typeface="Calibri"/>
              </a:rPr>
              <a:t>WHY LEAVE THE HERD</a:t>
            </a:r>
            <a:endParaRPr lang="en-US" sz="1500" b="0" u="none" strike="noStrike">
              <a:solidFill>
                <a:srgbClr val="000000"/>
              </a:solidFill>
              <a:effectLst/>
              <a:uFillTx/>
              <a:latin typeface="Arial"/>
            </a:endParaRPr>
          </a:p>
        </p:txBody>
      </p:sp>
      <p:sp>
        <p:nvSpPr>
          <p:cNvPr id="49" name="Text 2"/>
          <p:cNvSpPr/>
          <p:nvPr/>
        </p:nvSpPr>
        <p:spPr>
          <a:xfrm>
            <a:off x="1234440" y="731520"/>
            <a:ext cx="1046952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3200" b="1" u="none" strike="noStrike">
                <a:solidFill>
                  <a:srgbClr val="1F3D2C"/>
                </a:solidFill>
                <a:effectLst/>
                <a:uFillTx/>
                <a:latin typeface="Cambria"/>
                <a:ea typeface="Cambria"/>
              </a:rPr>
              <a:t>Why Repository Location Matters</a:t>
            </a:r>
            <a:endParaRPr lang="en-US" sz="3200" b="0" u="none" strike="noStrike">
              <a:solidFill>
                <a:srgbClr val="000000"/>
              </a:solidFill>
              <a:effectLst/>
              <a:uFillTx/>
              <a:latin typeface="Arial"/>
            </a:endParaRPr>
          </a:p>
        </p:txBody>
      </p:sp>
      <p:graphicFrame>
        <p:nvGraphicFramePr>
          <p:cNvPr id="50" name="Table 0"/>
          <p:cNvGraphicFramePr/>
          <p:nvPr/>
        </p:nvGraphicFramePr>
        <p:xfrm>
          <a:off x="548640" y="2331720"/>
          <a:ext cx="11064240" cy="310860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20">
                <a:tc>
                  <a:txBody>
                    <a:bodyPr/>
                    <a:lstStyle/>
                    <a:p>
                      <a:pPr defTabSz="914400">
                        <a:lnSpc>
                          <a:spcPct val="92000"/>
                        </a:lnSpc>
                        <a:tabLst>
                          <a:tab pos="0" algn="l"/>
                        </a:tabLst>
                      </a:pPr>
                      <a:r>
                        <a:rPr lang="en-US" sz="1400" b="1" u="none" strike="noStrike">
                          <a:solidFill>
                            <a:srgbClr val="F5F5F0"/>
                          </a:solidFill>
                          <a:effectLst/>
                          <a:uFillTx/>
                          <a:latin typeface="Calibri"/>
                        </a:rPr>
                        <a:t>Capability</a:t>
                      </a:r>
                      <a:endParaRPr lang="en-US" sz="1400" b="0" u="none" strike="noStrike">
                        <a:solidFill>
                          <a:srgbClr val="FFFFFF"/>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tc>
                  <a:txBody>
                    <a:bodyPr/>
                    <a:lstStyle/>
                    <a:p>
                      <a:pPr defTabSz="914400">
                        <a:lnSpc>
                          <a:spcPct val="92000"/>
                        </a:lnSpc>
                        <a:tabLst>
                          <a:tab pos="0" algn="l"/>
                        </a:tabLst>
                      </a:pPr>
                      <a:r>
                        <a:rPr lang="en-US" sz="1400" b="1" u="none" strike="noStrike">
                          <a:solidFill>
                            <a:srgbClr val="F5F5F0"/>
                          </a:solidFill>
                          <a:effectLst/>
                          <a:uFillTx/>
                          <a:latin typeface="Calibri"/>
                        </a:rPr>
                        <a:t>GitHub </a:t>
                      </a:r>
                      <a:endParaRPr lang="en-US" sz="1400" b="0" u="none" strike="noStrike">
                        <a:solidFill>
                          <a:srgbClr val="FFFFFF"/>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tc>
                  <a:txBody>
                    <a:bodyPr/>
                    <a:lstStyle/>
                    <a:p>
                      <a:pPr defTabSz="914400">
                        <a:lnSpc>
                          <a:spcPct val="92000"/>
                        </a:lnSpc>
                        <a:tabLst>
                          <a:tab pos="0" algn="l"/>
                        </a:tabLst>
                      </a:pPr>
                      <a:r>
                        <a:rPr lang="en-US" sz="1400" b="1" u="none" strike="noStrike">
                          <a:solidFill>
                            <a:srgbClr val="F5F5F0"/>
                          </a:solidFill>
                          <a:effectLst/>
                          <a:uFillTx/>
                          <a:latin typeface="Calibri"/>
                        </a:rPr>
                        <a:t>Azure DevOps</a:t>
                      </a:r>
                      <a:endParaRPr lang="en-US" sz="1400" b="0" u="none" strike="noStrike">
                        <a:solidFill>
                          <a:srgbClr val="FFFFFF"/>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extLst>
                  <a:ext uri="{0D108BD9-81ED-4DB2-BD59-A6C34878D82A}">
                    <a16:rowId xmlns:a16="http://schemas.microsoft.com/office/drawing/2014/main" val="10000"/>
                  </a:ext>
                </a:extLst>
              </a:tr>
              <a:tr h="621720">
                <a:tc>
                  <a:txBody>
                    <a:bodyPr/>
                    <a:lstStyle/>
                    <a:p>
                      <a:pPr defTabSz="914400">
                        <a:lnSpc>
                          <a:spcPct val="92000"/>
                        </a:lnSpc>
                        <a:tabLst>
                          <a:tab pos="0" algn="l"/>
                        </a:tabLst>
                      </a:pPr>
                      <a:r>
                        <a:rPr lang="en-US" sz="1400" b="1" u="none" strike="noStrike">
                          <a:solidFill>
                            <a:srgbClr val="1F3D2C"/>
                          </a:solidFill>
                          <a:effectLst/>
                          <a:uFillTx/>
                          <a:latin typeface="Cambria"/>
                        </a:rPr>
                        <a:t>Autonomous coding agents</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Cloud agent changes code and opens pull requests</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Azure Boards can trigger it, but output must be GitHub-hosted</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1"/>
                  </a:ext>
                </a:extLst>
              </a:tr>
              <a:tr h="621720">
                <a:tc>
                  <a:txBody>
                    <a:bodyPr/>
                    <a:lstStyle/>
                    <a:p>
                      <a:pPr defTabSz="914400">
                        <a:lnSpc>
                          <a:spcPct val="92000"/>
                        </a:lnSpc>
                        <a:tabLst>
                          <a:tab pos="0" algn="l"/>
                        </a:tabLst>
                      </a:pPr>
                      <a:r>
                        <a:rPr lang="en-US" sz="1400" b="1" u="none" strike="noStrike">
                          <a:solidFill>
                            <a:srgbClr val="1F3D2C"/>
                          </a:solidFill>
                          <a:effectLst/>
                          <a:uFillTx/>
                          <a:latin typeface="Cambria"/>
                        </a:rPr>
                        <a:t>Security remediation</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Autofix GA; agentic Autofix in public preview</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Autofix in limited preview through GitHub Code Security</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2"/>
                  </a:ext>
                </a:extLst>
              </a:tr>
              <a:tr h="621720">
                <a:tc>
                  <a:txBody>
                    <a:bodyPr/>
                    <a:lstStyle/>
                    <a:p>
                      <a:pPr defTabSz="914400">
                        <a:lnSpc>
                          <a:spcPct val="92000"/>
                        </a:lnSpc>
                        <a:tabLst>
                          <a:tab pos="0" algn="l"/>
                        </a:tabLst>
                      </a:pPr>
                      <a:r>
                        <a:rPr lang="en-US" sz="1400" b="1" u="none" strike="noStrike">
                          <a:solidFill>
                            <a:srgbClr val="1F3D2C"/>
                          </a:solidFill>
                          <a:effectLst/>
                          <a:uFillTx/>
                          <a:latin typeface="Cambria"/>
                        </a:rPr>
                        <a:t>Agentic code review</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Agentic Copilot code review is GA</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Copilot Code Review for Azure Repos is in public preview</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3"/>
                  </a:ext>
                </a:extLst>
              </a:tr>
              <a:tr h="621720">
                <a:tc>
                  <a:txBody>
                    <a:bodyPr/>
                    <a:lstStyle/>
                    <a:p>
                      <a:pPr defTabSz="914400">
                        <a:lnSpc>
                          <a:spcPct val="92000"/>
                        </a:lnSpc>
                        <a:tabLst>
                          <a:tab pos="0" algn="l"/>
                        </a:tabLst>
                      </a:pPr>
                      <a:r>
                        <a:rPr lang="en-US" sz="1400" b="1" u="none" strike="noStrike">
                          <a:solidFill>
                            <a:srgbClr val="1F3D2C"/>
                          </a:solidFill>
                          <a:effectLst/>
                          <a:uFillTx/>
                          <a:latin typeface="Cambria"/>
                        </a:rPr>
                        <a:t>Repository hosting requirement</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Copilot cloud agent requires a GitHub-hosted repository</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92000"/>
                        </a:lnSpc>
                        <a:tabLst>
                          <a:tab pos="0" algn="l"/>
                        </a:tabLst>
                      </a:pPr>
                      <a:r>
                        <a:rPr lang="en-US" sz="1400" b="0" u="none" strike="noStrike">
                          <a:solidFill>
                            <a:srgbClr val="2B2B2B"/>
                          </a:solidFill>
                          <a:effectLst/>
                          <a:uFillTx/>
                          <a:latin typeface="Calibri"/>
                        </a:rPr>
                        <a:t>Review, Autofix, and MCP support Azure Repos; cloud agent does not</a:t>
                      </a:r>
                      <a:endParaRPr lang="en-US" sz="1400" b="0" u="none" strike="noStrike">
                        <a:solidFill>
                          <a:srgbClr val="000000"/>
                        </a:solidFill>
                        <a:effectLst/>
                        <a:uFillTx/>
                        <a:latin typeface="Arial"/>
                      </a:endParaRPr>
                    </a:p>
                  </a:txBody>
                  <a:tcPr marL="82080" marR="82080" marT="31680" marB="3168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4"/>
                  </a:ext>
                </a:extLst>
              </a:tr>
            </a:tbl>
          </a:graphicData>
        </a:graphic>
      </p:graphicFrame>
      <p:sp>
        <p:nvSpPr>
          <p:cNvPr id="51" name="Shape 3"/>
          <p:cNvSpPr/>
          <p:nvPr/>
        </p:nvSpPr>
        <p:spPr>
          <a:xfrm>
            <a:off x="548640" y="5943600"/>
            <a:ext cx="11063880" cy="639720"/>
          </a:xfrm>
          <a:prstGeom prst="roundRect">
            <a:avLst>
              <a:gd name="adj" fmla="val 12632"/>
            </a:avLst>
          </a:prstGeom>
          <a:solidFill>
            <a:srgbClr val="F7F6F2"/>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pPr>
            <a:r>
              <a:rPr lang="en-US" sz="1250" b="1" u="none" strike="noStrike" spc="119">
                <a:solidFill>
                  <a:srgbClr val="C1440E"/>
                </a:solidFill>
                <a:effectLst/>
                <a:uFillTx/>
                <a:latin typeface="Calibri"/>
              </a:rPr>
              <a:t>VERIFY </a:t>
            </a:r>
            <a:r>
              <a:rPr lang="en-US" sz="1500" b="0" u="none" strike="noStrike">
                <a:solidFill>
                  <a:srgbClr val="2B2B2B"/>
                </a:solidFill>
                <a:effectLst/>
                <a:uFillTx/>
                <a:latin typeface="Calibri"/>
              </a:rPr>
              <a:t>Capability status, licensing and repository requirements change quickly — verify against the target tenant before planning around any single feature.</a:t>
            </a:r>
            <a:endParaRPr lang="en-US" sz="1500" b="0" u="none" strike="noStrike">
              <a:solidFill>
                <a:srgbClr val="000000"/>
              </a:solidFill>
              <a:effectLst/>
              <a:uFillTx/>
              <a:latin typeface="Arial"/>
            </a:endParaRPr>
          </a:p>
        </p:txBody>
      </p:sp>
      <p:pic>
        <p:nvPicPr>
          <p:cNvPr id="52" name="Image 0" descr="/home/claude/pptx-build/assets/icons/FaRobot-FFFFFF-200.png"/>
          <p:cNvPicPr/>
          <p:nvPr/>
        </p:nvPicPr>
        <p:blipFill>
          <a:blip r:embed="rId3"/>
          <a:stretch/>
        </p:blipFill>
        <p:spPr>
          <a:xfrm>
            <a:off x="685800" y="594360"/>
            <a:ext cx="292320" cy="292320"/>
          </a:xfrm>
          <a:prstGeom prst="rect">
            <a:avLst/>
          </a:prstGeom>
          <a:noFill/>
          <a:ln w="0">
            <a:noFill/>
          </a:ln>
        </p:spPr>
      </p:pic>
      <p:sp>
        <p:nvSpPr>
          <p:cNvPr id="53" name="Lead"/>
          <p:cNvSpPr/>
          <p:nvPr/>
        </p:nvSpPr>
        <p:spPr>
          <a:xfrm>
            <a:off x="548640" y="1444680"/>
            <a:ext cx="110638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800" b="1" u="none" strike="noStrike">
                <a:solidFill>
                  <a:srgbClr val="2B2B2B"/>
                </a:solidFill>
                <a:effectLst/>
                <a:uFillTx/>
                <a:latin typeface="Calibri"/>
              </a:rPr>
              <a:t>Most agentic Copilot features ship on GitHub first. </a:t>
            </a:r>
            <a:r>
              <a:rPr lang="en-US" sz="1800" b="0" u="none" strike="noStrike">
                <a:solidFill>
                  <a:srgbClr val="2B2B2B"/>
                </a:solidFill>
                <a:effectLst/>
                <a:uFillTx/>
                <a:latin typeface="Calibri"/>
              </a:rPr>
              <a:t>Azure DevOps keeps gaining AI features, but where the repository lives still decides which workflows run natively.</a:t>
            </a:r>
            <a:endParaRPr lang="en-US" sz="18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A2BFE104-961A-46F1-B374-E274850D0ED8}" type="slidenum">
              <a:rPr/>
              <a:t>5</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51"/>
                                  </p:tgtEl>
                                  <p:attrNameLst>
                                    <p:attrName>style.visibility</p:attrName>
                                  </p:attrNameLst>
                                </p:cBhvr>
                                <p:to>
                                  <p:strVal val="visible"/>
                                </p:to>
                              </p:set>
                              <p:animEffect transition="in" filter="fade">
                                <p:cBhvr additive="repl">
                                  <p:cTn id="6" dur="500"/>
                                  <p:tgtEl>
                                    <p:spTgt spid="51"/>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55" name="Image 0" descr="/home/claude/pptx-build/assets/icons/FaMapSigns-FFFFFF-200.png"/>
          <p:cNvPicPr/>
          <p:nvPr/>
        </p:nvPicPr>
        <p:blipFill>
          <a:blip r:embed="rId3"/>
          <a:stretch/>
        </p:blipFill>
        <p:spPr>
          <a:xfrm>
            <a:off x="685800" y="594360"/>
            <a:ext cx="292320" cy="292320"/>
          </a:xfrm>
          <a:prstGeom prst="rect">
            <a:avLst/>
          </a:prstGeom>
          <a:noFill/>
          <a:ln w="0">
            <a:noFill/>
          </a:ln>
        </p:spPr>
      </p:pic>
      <p:sp>
        <p:nvSpPr>
          <p:cNvPr id="56"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WHY LEAVE THE HERD</a:t>
            </a:r>
            <a:endParaRPr lang="en-US" sz="1500" b="0" u="none" strike="noStrike">
              <a:solidFill>
                <a:srgbClr val="000000"/>
              </a:solidFill>
              <a:effectLst/>
              <a:uFillTx/>
              <a:latin typeface="Arial"/>
            </a:endParaRPr>
          </a:p>
        </p:txBody>
      </p:sp>
      <p:sp>
        <p:nvSpPr>
          <p:cNvPr id="57"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MCP Changed the Boundary, Not the Decision</a:t>
            </a:r>
            <a:endParaRPr lang="en-US" sz="3200" b="0" u="none" strike="noStrike">
              <a:solidFill>
                <a:srgbClr val="000000"/>
              </a:solidFill>
              <a:effectLst/>
              <a:uFillTx/>
              <a:latin typeface="Arial"/>
            </a:endParaRPr>
          </a:p>
        </p:txBody>
      </p:sp>
      <p:sp>
        <p:nvSpPr>
          <p:cNvPr id="58" name="Shape 3"/>
          <p:cNvSpPr/>
          <p:nvPr/>
        </p:nvSpPr>
        <p:spPr>
          <a:xfrm>
            <a:off x="822960" y="5504400"/>
            <a:ext cx="10561320" cy="360"/>
          </a:xfrm>
          <a:prstGeom prst="line">
            <a:avLst/>
          </a:prstGeom>
          <a:ln w="19050">
            <a:solidFill>
              <a:srgbClr val="DDD8CC"/>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59" name="Text 19"/>
          <p:cNvSpPr/>
          <p:nvPr/>
        </p:nvSpPr>
        <p:spPr>
          <a:xfrm>
            <a:off x="822960" y="1325880"/>
            <a:ext cx="1056096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0" u="none" strike="noStrike">
                <a:solidFill>
                  <a:srgbClr val="1F3D2C"/>
                </a:solidFill>
                <a:effectLst/>
                <a:uFillTx/>
                <a:latin typeface="Calibri"/>
              </a:rPr>
              <a:t>MCP reduces the need for custom point-to-point integrations, but repository-native development and governance capabilities still depend on where the code resides.</a:t>
            </a:r>
            <a:endParaRPr lang="en-US" sz="1800" b="0" u="none" strike="noStrike">
              <a:solidFill>
                <a:srgbClr val="000000"/>
              </a:solidFill>
              <a:effectLst/>
              <a:uFillTx/>
              <a:latin typeface="Arial"/>
            </a:endParaRPr>
          </a:p>
        </p:txBody>
      </p:sp>
      <p:sp>
        <p:nvSpPr>
          <p:cNvPr id="60" name="Shape 20"/>
          <p:cNvSpPr/>
          <p:nvPr/>
        </p:nvSpPr>
        <p:spPr>
          <a:xfrm>
            <a:off x="548640" y="2103120"/>
            <a:ext cx="5440320" cy="3200040"/>
          </a:xfrm>
          <a:prstGeom prst="roundRect">
            <a:avLst>
              <a:gd name="adj" fmla="val 4615"/>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61" name="Text 21"/>
          <p:cNvSpPr/>
          <p:nvPr/>
        </p:nvSpPr>
        <p:spPr>
          <a:xfrm>
            <a:off x="822960" y="2313360"/>
            <a:ext cx="489168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F3D2C"/>
                </a:solidFill>
                <a:effectLst/>
                <a:uFillTx/>
                <a:latin typeface="Cambria"/>
              </a:rPr>
              <a:t>What MCP changes</a:t>
            </a:r>
            <a:endParaRPr lang="en-US" sz="2000" b="0" u="none" strike="noStrike">
              <a:solidFill>
                <a:srgbClr val="000000"/>
              </a:solidFill>
              <a:effectLst/>
              <a:uFillTx/>
              <a:latin typeface="Arial"/>
            </a:endParaRPr>
          </a:p>
        </p:txBody>
      </p:sp>
      <p:sp>
        <p:nvSpPr>
          <p:cNvPr id="62" name="Text 22"/>
          <p:cNvSpPr/>
          <p:nvPr/>
        </p:nvSpPr>
        <p:spPr>
          <a:xfrm>
            <a:off x="822960" y="2816280"/>
            <a:ext cx="4891680" cy="214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08000"/>
              </a:lnSpc>
              <a:spcAft>
                <a:spcPts val="1001"/>
              </a:spcAft>
              <a:tabLst>
                <a:tab pos="0" algn="l"/>
              </a:tabLst>
            </a:pPr>
            <a:r>
              <a:rPr lang="en-US" sz="1700" b="0" u="none" strike="noStrike">
                <a:solidFill>
                  <a:srgbClr val="2B2B2B"/>
                </a:solidFill>
                <a:effectLst/>
                <a:uFillTx/>
                <a:latin typeface="Calibri"/>
              </a:rPr>
              <a:t>•  Agents can reach more enterprise systems.</a:t>
            </a:r>
            <a:endParaRPr lang="en-US" sz="1700" b="0" u="none" strike="noStrike">
              <a:solidFill>
                <a:srgbClr val="000000"/>
              </a:solidFill>
              <a:effectLst/>
              <a:uFillTx/>
              <a:latin typeface="Arial"/>
            </a:endParaRPr>
          </a:p>
          <a:p>
            <a:pPr defTabSz="914400">
              <a:lnSpc>
                <a:spcPct val="108000"/>
              </a:lnSpc>
              <a:spcAft>
                <a:spcPts val="1001"/>
              </a:spcAft>
              <a:tabLst>
                <a:tab pos="0" algn="l"/>
              </a:tabLst>
            </a:pPr>
            <a:r>
              <a:rPr lang="en-US" sz="1700" b="0" u="none" strike="noStrike">
                <a:solidFill>
                  <a:srgbClr val="2B2B2B"/>
                </a:solidFill>
                <a:effectLst/>
                <a:uFillTx/>
                <a:latin typeface="Calibri"/>
              </a:rPr>
              <a:t>•  Cross-tool workflows require less bespoke integration.</a:t>
            </a:r>
            <a:endParaRPr lang="en-US" sz="1700" b="0" u="none" strike="noStrike">
              <a:solidFill>
                <a:srgbClr val="000000"/>
              </a:solidFill>
              <a:effectLst/>
              <a:uFillTx/>
              <a:latin typeface="Arial"/>
            </a:endParaRPr>
          </a:p>
          <a:p>
            <a:pPr defTabSz="914400">
              <a:lnSpc>
                <a:spcPct val="108000"/>
              </a:lnSpc>
              <a:spcAft>
                <a:spcPts val="1001"/>
              </a:spcAft>
              <a:tabLst>
                <a:tab pos="0" algn="l"/>
              </a:tabLst>
            </a:pPr>
            <a:r>
              <a:rPr lang="en-US" sz="1700" b="0" u="none" strike="noStrike">
                <a:solidFill>
                  <a:srgbClr val="2B2B2B"/>
                </a:solidFill>
                <a:effectLst/>
                <a:uFillTx/>
                <a:latin typeface="Calibri"/>
              </a:rPr>
              <a:t>•  Platform boundaries are more permeable.</a:t>
            </a:r>
            <a:endParaRPr lang="en-US" sz="1700" b="0" u="none" strike="noStrike">
              <a:solidFill>
                <a:srgbClr val="000000"/>
              </a:solidFill>
              <a:effectLst/>
              <a:uFillTx/>
              <a:latin typeface="Arial"/>
            </a:endParaRPr>
          </a:p>
        </p:txBody>
      </p:sp>
      <p:sp>
        <p:nvSpPr>
          <p:cNvPr id="63" name="Shape 23"/>
          <p:cNvSpPr/>
          <p:nvPr/>
        </p:nvSpPr>
        <p:spPr>
          <a:xfrm>
            <a:off x="6199560" y="2103120"/>
            <a:ext cx="5440320" cy="3200040"/>
          </a:xfrm>
          <a:prstGeom prst="roundRect">
            <a:avLst>
              <a:gd name="adj" fmla="val 4615"/>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64" name="Text 24"/>
          <p:cNvSpPr/>
          <p:nvPr/>
        </p:nvSpPr>
        <p:spPr>
          <a:xfrm>
            <a:off x="6473880" y="2313360"/>
            <a:ext cx="489168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F5F5F0"/>
                </a:solidFill>
                <a:effectLst/>
                <a:uFillTx/>
                <a:latin typeface="Cambria"/>
              </a:rPr>
              <a:t>What MCP does not change</a:t>
            </a:r>
            <a:endParaRPr lang="en-US" sz="2000" b="0" u="none" strike="noStrike">
              <a:solidFill>
                <a:srgbClr val="000000"/>
              </a:solidFill>
              <a:effectLst/>
              <a:uFillTx/>
              <a:latin typeface="Arial"/>
            </a:endParaRPr>
          </a:p>
        </p:txBody>
      </p:sp>
      <p:sp>
        <p:nvSpPr>
          <p:cNvPr id="65" name="Text 25"/>
          <p:cNvSpPr/>
          <p:nvPr/>
        </p:nvSpPr>
        <p:spPr>
          <a:xfrm>
            <a:off x="6473880" y="2816280"/>
            <a:ext cx="4891680" cy="214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8000"/>
              </a:lnSpc>
              <a:spcAft>
                <a:spcPts val="601"/>
              </a:spcAft>
              <a:tabLst>
                <a:tab pos="0" algn="l"/>
              </a:tabLst>
            </a:pPr>
            <a:r>
              <a:rPr lang="en-US" sz="1600" b="0" u="none" strike="noStrike">
                <a:solidFill>
                  <a:srgbClr val="F5F5F0"/>
                </a:solidFill>
                <a:effectLst/>
                <a:uFillTx/>
                <a:latin typeface="Calibri"/>
              </a:rPr>
              <a:t>•  Where pull-request automation runs.</a:t>
            </a:r>
            <a:endParaRPr lang="en-US" sz="1600" b="0" u="none" strike="noStrike">
              <a:solidFill>
                <a:srgbClr val="000000"/>
              </a:solidFill>
              <a:effectLst/>
              <a:uFillTx/>
              <a:latin typeface="Arial"/>
            </a:endParaRPr>
          </a:p>
          <a:p>
            <a:pPr defTabSz="914400">
              <a:lnSpc>
                <a:spcPct val="108000"/>
              </a:lnSpc>
              <a:spcAft>
                <a:spcPts val="601"/>
              </a:spcAft>
              <a:tabLst>
                <a:tab pos="0" algn="l"/>
              </a:tabLst>
            </a:pPr>
            <a:r>
              <a:rPr lang="en-US" sz="1600" b="0" u="none" strike="noStrike">
                <a:solidFill>
                  <a:srgbClr val="F5F5F0"/>
                </a:solidFill>
                <a:effectLst/>
                <a:uFillTx/>
                <a:latin typeface="Calibri"/>
              </a:rPr>
              <a:t>•  Where repository security analysis runs.</a:t>
            </a:r>
            <a:endParaRPr lang="en-US" sz="1600" b="0" u="none" strike="noStrike">
              <a:solidFill>
                <a:srgbClr val="000000"/>
              </a:solidFill>
              <a:effectLst/>
              <a:uFillTx/>
              <a:latin typeface="Arial"/>
            </a:endParaRPr>
          </a:p>
          <a:p>
            <a:pPr defTabSz="914400">
              <a:lnSpc>
                <a:spcPct val="108000"/>
              </a:lnSpc>
              <a:spcAft>
                <a:spcPts val="601"/>
              </a:spcAft>
              <a:tabLst>
                <a:tab pos="0" algn="l"/>
              </a:tabLst>
            </a:pPr>
            <a:r>
              <a:rPr lang="en-US" sz="1600" b="0" u="none" strike="noStrike">
                <a:solidFill>
                  <a:srgbClr val="F5F5F0"/>
                </a:solidFill>
                <a:effectLst/>
                <a:uFillTx/>
                <a:latin typeface="Calibri"/>
              </a:rPr>
              <a:t>•  Which policies can be enforced natively.</a:t>
            </a:r>
            <a:endParaRPr lang="en-US" sz="1600" b="0" u="none" strike="noStrike">
              <a:solidFill>
                <a:srgbClr val="000000"/>
              </a:solidFill>
              <a:effectLst/>
              <a:uFillTx/>
              <a:latin typeface="Arial"/>
            </a:endParaRPr>
          </a:p>
          <a:p>
            <a:pPr defTabSz="914400">
              <a:lnSpc>
                <a:spcPct val="108000"/>
              </a:lnSpc>
              <a:spcAft>
                <a:spcPts val="601"/>
              </a:spcAft>
              <a:tabLst>
                <a:tab pos="0" algn="l"/>
              </a:tabLst>
            </a:pPr>
            <a:r>
              <a:rPr lang="en-US" sz="1600" b="0" u="none" strike="noStrike">
                <a:solidFill>
                  <a:srgbClr val="F5F5F0"/>
                </a:solidFill>
                <a:effectLst/>
                <a:uFillTx/>
                <a:latin typeface="Calibri"/>
              </a:rPr>
              <a:t>•  Which platform owns repository governance.</a:t>
            </a:r>
            <a:endParaRPr lang="en-US" sz="1600" b="0" u="none" strike="noStrike">
              <a:solidFill>
                <a:srgbClr val="000000"/>
              </a:solidFill>
              <a:effectLst/>
              <a:uFillTx/>
              <a:latin typeface="Arial"/>
            </a:endParaRPr>
          </a:p>
          <a:p>
            <a:pPr defTabSz="914400">
              <a:lnSpc>
                <a:spcPct val="108000"/>
              </a:lnSpc>
              <a:spcAft>
                <a:spcPts val="601"/>
              </a:spcAft>
              <a:tabLst>
                <a:tab pos="0" algn="l"/>
              </a:tabLst>
            </a:pPr>
            <a:r>
              <a:rPr lang="en-US" sz="1600" b="0" u="none" strike="noStrike">
                <a:solidFill>
                  <a:srgbClr val="F5F5F0"/>
                </a:solidFill>
                <a:effectLst/>
                <a:uFillTx/>
                <a:latin typeface="Calibri"/>
              </a:rPr>
              <a:t>•  Where code-centric agent workflows execute.</a:t>
            </a:r>
            <a:endParaRPr lang="en-US" sz="1600" b="0" u="none" strike="noStrike">
              <a:solidFill>
                <a:srgbClr val="000000"/>
              </a:solidFill>
              <a:effectLst/>
              <a:uFillTx/>
              <a:latin typeface="Arial"/>
            </a:endParaRPr>
          </a:p>
        </p:txBody>
      </p:sp>
      <p:sp>
        <p:nvSpPr>
          <p:cNvPr id="66" name="Shape 15"/>
          <p:cNvSpPr/>
          <p:nvPr/>
        </p:nvSpPr>
        <p:spPr>
          <a:xfrm>
            <a:off x="548640" y="5756040"/>
            <a:ext cx="11063880" cy="86832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7" name="Text 16"/>
          <p:cNvSpPr/>
          <p:nvPr/>
        </p:nvSpPr>
        <p:spPr>
          <a:xfrm>
            <a:off x="548640" y="5756040"/>
            <a:ext cx="11063880" cy="868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 platform decision did not disappear. It merely acquired more adapters.</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818AA597-C29F-40AF-8797-BAF0D57D13B7}" type="slidenum">
              <a:rPr/>
              <a:t>6</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66"/>
                                  </p:tgtEl>
                                  <p:attrNameLst>
                                    <p:attrName>style.visibility</p:attrName>
                                  </p:attrNameLst>
                                </p:cBhvr>
                                <p:to>
                                  <p:strVal val="visible"/>
                                </p:to>
                              </p:set>
                              <p:animEffect transition="in" filter="fade">
                                <p:cBhvr additive="repl">
                                  <p:cTn id="6" dur="500"/>
                                  <p:tgtEl>
                                    <p:spTgt spid="66"/>
                                  </p:tgtEl>
                                </p:cBhvr>
                              </p:animEffect>
                            </p:childTnLst>
                          </p:cTn>
                        </p:par>
                        <p:par>
                          <p:cTn id="7" presetID="10" presetClass="entr" fill="hold" nodeType="clickEffect">
                            <p:stCondLst>
                              <p:cond delay="0"/>
                            </p:stCondLst>
                            <p:childTnLst>
                              <p:set>
                                <p:cBhvr>
                                  <p:cTn id="8" dur="1" fill="hold">
                                    <p:stCondLst>
                                      <p:cond delay="0"/>
                                    </p:stCondLst>
                                  </p:cTn>
                                  <p:tgtEl>
                                    <p:spTgt spid="67"/>
                                  </p:tgtEl>
                                  <p:attrNameLst>
                                    <p:attrName>style.visibility</p:attrName>
                                  </p:attrNameLst>
                                </p:cBhvr>
                                <p:to>
                                  <p:strVal val="visible"/>
                                </p:to>
                              </p:set>
                              <p:animEffect transition="in" filter="fade">
                                <p:cBhvr additive="repl">
                                  <p:cTn id="9" dur="500"/>
                                  <p:tgtEl>
                                    <p:spTgt spid="67"/>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69" name="Image 0" descr="/home/claude/pptx-build/assets/icons/FaUsers-FFFFFF-200.png"/>
          <p:cNvPicPr/>
          <p:nvPr/>
        </p:nvPicPr>
        <p:blipFill>
          <a:blip r:embed="rId3"/>
          <a:stretch/>
        </p:blipFill>
        <p:spPr>
          <a:xfrm>
            <a:off x="685800" y="594360"/>
            <a:ext cx="292320" cy="292320"/>
          </a:xfrm>
          <a:prstGeom prst="rect">
            <a:avLst/>
          </a:prstGeom>
          <a:noFill/>
          <a:ln w="0">
            <a:noFill/>
          </a:ln>
        </p:spPr>
      </p:pic>
      <p:sp>
        <p:nvSpPr>
          <p:cNvPr id="70"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WHY LEAVE THE HERD</a:t>
            </a:r>
            <a:endParaRPr lang="en-US" sz="1500" b="0" u="none" strike="noStrike">
              <a:solidFill>
                <a:srgbClr val="000000"/>
              </a:solidFill>
              <a:effectLst/>
              <a:uFillTx/>
              <a:latin typeface="Arial"/>
            </a:endParaRPr>
          </a:p>
        </p:txBody>
      </p:sp>
      <p:sp>
        <p:nvSpPr>
          <p:cNvPr id="71"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Non-AI Reasons for GitHub</a:t>
            </a:r>
            <a:endParaRPr lang="en-US" sz="3200" b="0" u="none" strike="noStrike">
              <a:solidFill>
                <a:srgbClr val="000000"/>
              </a:solidFill>
              <a:effectLst/>
              <a:uFillTx/>
              <a:latin typeface="Arial"/>
            </a:endParaRPr>
          </a:p>
        </p:txBody>
      </p:sp>
      <p:sp>
        <p:nvSpPr>
          <p:cNvPr id="72" name="Shape 3"/>
          <p:cNvSpPr/>
          <p:nvPr/>
        </p:nvSpPr>
        <p:spPr>
          <a:xfrm>
            <a:off x="548640" y="1600200"/>
            <a:ext cx="11063880" cy="859320"/>
          </a:xfrm>
          <a:prstGeom prst="roundRect">
            <a:avLst>
              <a:gd name="adj" fmla="val 1276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73" name="Shape 4"/>
          <p:cNvSpPr/>
          <p:nvPr/>
        </p:nvSpPr>
        <p:spPr>
          <a:xfrm>
            <a:off x="822960" y="174636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74" name="Image 1" descr="/home/claude/pptx-build/assets/icons/FaUsers-FFFFFF-200.png"/>
          <p:cNvPicPr/>
          <p:nvPr/>
        </p:nvPicPr>
        <p:blipFill>
          <a:blip r:embed="rId3"/>
          <a:stretch/>
        </p:blipFill>
        <p:spPr>
          <a:xfrm>
            <a:off x="960120" y="1883520"/>
            <a:ext cx="292320" cy="292320"/>
          </a:xfrm>
          <a:prstGeom prst="rect">
            <a:avLst/>
          </a:prstGeom>
          <a:noFill/>
          <a:ln w="0">
            <a:noFill/>
          </a:ln>
        </p:spPr>
      </p:pic>
      <p:sp>
        <p:nvSpPr>
          <p:cNvPr id="75" name="Text 5"/>
          <p:cNvSpPr/>
          <p:nvPr/>
        </p:nvSpPr>
        <p:spPr>
          <a:xfrm>
            <a:off x="1600200" y="1673280"/>
            <a:ext cx="324576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50" b="1" u="none" strike="noStrike">
                <a:solidFill>
                  <a:srgbClr val="1F3D2C"/>
                </a:solidFill>
                <a:effectLst/>
                <a:uFillTx/>
                <a:latin typeface="Cambria"/>
                <a:ea typeface="Cambria"/>
              </a:rPr>
              <a:t>180M+ developers already on GitHub</a:t>
            </a:r>
            <a:endParaRPr lang="en-US" sz="1650" b="0" u="none" strike="noStrike">
              <a:solidFill>
                <a:srgbClr val="000000"/>
              </a:solidFill>
              <a:effectLst/>
              <a:uFillTx/>
              <a:latin typeface="Arial"/>
            </a:endParaRPr>
          </a:p>
        </p:txBody>
      </p:sp>
      <p:sp>
        <p:nvSpPr>
          <p:cNvPr id="76" name="Text 6"/>
          <p:cNvSpPr/>
          <p:nvPr/>
        </p:nvSpPr>
        <p:spPr>
          <a:xfrm>
            <a:off x="5029200" y="1673280"/>
            <a:ext cx="630900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The ecosystem is already there.</a:t>
            </a:r>
            <a:endParaRPr lang="en-US" sz="1400" b="0" u="none" strike="noStrike">
              <a:solidFill>
                <a:srgbClr val="000000"/>
              </a:solidFill>
              <a:effectLst/>
              <a:uFillTx/>
              <a:latin typeface="Arial"/>
            </a:endParaRPr>
          </a:p>
        </p:txBody>
      </p:sp>
      <p:sp>
        <p:nvSpPr>
          <p:cNvPr id="77" name="Shape 7"/>
          <p:cNvSpPr/>
          <p:nvPr/>
        </p:nvSpPr>
        <p:spPr>
          <a:xfrm>
            <a:off x="548640" y="2532960"/>
            <a:ext cx="11063880" cy="859320"/>
          </a:xfrm>
          <a:prstGeom prst="roundRect">
            <a:avLst>
              <a:gd name="adj" fmla="val 1276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78" name="Shape 8"/>
          <p:cNvSpPr/>
          <p:nvPr/>
        </p:nvSpPr>
        <p:spPr>
          <a:xfrm>
            <a:off x="822960" y="267912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79" name="Image 2" descr="/home/claude/pptx-build/assets/icons/FaCubes-FFFFFF-200.png"/>
          <p:cNvPicPr/>
          <p:nvPr/>
        </p:nvPicPr>
        <p:blipFill>
          <a:blip r:embed="rId4"/>
          <a:stretch/>
        </p:blipFill>
        <p:spPr>
          <a:xfrm>
            <a:off x="960120" y="2816280"/>
            <a:ext cx="292320" cy="292320"/>
          </a:xfrm>
          <a:prstGeom prst="rect">
            <a:avLst/>
          </a:prstGeom>
          <a:noFill/>
          <a:ln w="0">
            <a:noFill/>
          </a:ln>
        </p:spPr>
      </p:pic>
      <p:sp>
        <p:nvSpPr>
          <p:cNvPr id="80" name="Text 9"/>
          <p:cNvSpPr/>
          <p:nvPr/>
        </p:nvSpPr>
        <p:spPr>
          <a:xfrm>
            <a:off x="1600200" y="2606040"/>
            <a:ext cx="324576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50" b="1" u="none" strike="noStrike">
                <a:solidFill>
                  <a:srgbClr val="1F3D2C"/>
                </a:solidFill>
                <a:effectLst/>
                <a:uFillTx/>
                <a:latin typeface="Cambria"/>
                <a:ea typeface="Cambria"/>
              </a:rPr>
              <a:t>Large public Actions ecosystem and marketplace</a:t>
            </a:r>
            <a:endParaRPr lang="en-US" sz="1650" b="0" u="none" strike="noStrike">
              <a:solidFill>
                <a:srgbClr val="000000"/>
              </a:solidFill>
              <a:effectLst/>
              <a:uFillTx/>
              <a:latin typeface="Arial"/>
            </a:endParaRPr>
          </a:p>
        </p:txBody>
      </p:sp>
      <p:sp>
        <p:nvSpPr>
          <p:cNvPr id="81" name="Text 10"/>
          <p:cNvSpPr/>
          <p:nvPr/>
        </p:nvSpPr>
        <p:spPr>
          <a:xfrm>
            <a:off x="5029200" y="2606040"/>
            <a:ext cx="630900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A far bigger marketplace than Azure Pipelines’ task catalogue.</a:t>
            </a:r>
            <a:endParaRPr lang="en-US" sz="1400" b="0" u="none" strike="noStrike">
              <a:solidFill>
                <a:srgbClr val="000000"/>
              </a:solidFill>
              <a:effectLst/>
              <a:uFillTx/>
              <a:latin typeface="Arial"/>
            </a:endParaRPr>
          </a:p>
        </p:txBody>
      </p:sp>
      <p:sp>
        <p:nvSpPr>
          <p:cNvPr id="82" name="Shape 11"/>
          <p:cNvSpPr/>
          <p:nvPr/>
        </p:nvSpPr>
        <p:spPr>
          <a:xfrm>
            <a:off x="548640" y="3465720"/>
            <a:ext cx="11063880" cy="859320"/>
          </a:xfrm>
          <a:prstGeom prst="roundRect">
            <a:avLst>
              <a:gd name="adj" fmla="val 1276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83" name="Shape 12"/>
          <p:cNvSpPr/>
          <p:nvPr/>
        </p:nvSpPr>
        <p:spPr>
          <a:xfrm>
            <a:off x="822960" y="361188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84" name="Image 3" descr="/home/claude/pptx-build/assets/icons/FaHandshake-FFFFFF-200.png"/>
          <p:cNvPicPr/>
          <p:nvPr/>
        </p:nvPicPr>
        <p:blipFill>
          <a:blip r:embed="rId5"/>
          <a:stretch/>
        </p:blipFill>
        <p:spPr>
          <a:xfrm>
            <a:off x="960120" y="3749040"/>
            <a:ext cx="292320" cy="292320"/>
          </a:xfrm>
          <a:prstGeom prst="rect">
            <a:avLst/>
          </a:prstGeom>
          <a:noFill/>
          <a:ln w="0">
            <a:noFill/>
          </a:ln>
        </p:spPr>
      </p:pic>
      <p:sp>
        <p:nvSpPr>
          <p:cNvPr id="85" name="Text 13"/>
          <p:cNvSpPr/>
          <p:nvPr/>
        </p:nvSpPr>
        <p:spPr>
          <a:xfrm>
            <a:off x="1600200" y="3538800"/>
            <a:ext cx="324576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50" b="1" u="none" strike="noStrike">
                <a:solidFill>
                  <a:srgbClr val="1F3D2C"/>
                </a:solidFill>
                <a:effectLst/>
                <a:uFillTx/>
                <a:latin typeface="Cambria"/>
                <a:ea typeface="Cambria"/>
              </a:rPr>
              <a:t>Open-source &amp; external contributors</a:t>
            </a:r>
            <a:endParaRPr lang="en-US" sz="1650" b="0" u="none" strike="noStrike">
              <a:solidFill>
                <a:srgbClr val="000000"/>
              </a:solidFill>
              <a:effectLst/>
              <a:uFillTx/>
              <a:latin typeface="Arial"/>
            </a:endParaRPr>
          </a:p>
        </p:txBody>
      </p:sp>
      <p:sp>
        <p:nvSpPr>
          <p:cNvPr id="86" name="Text 14"/>
          <p:cNvSpPr/>
          <p:nvPr/>
        </p:nvSpPr>
        <p:spPr>
          <a:xfrm>
            <a:off x="5029200" y="3538800"/>
            <a:ext cx="630900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Already default to GitHub — no extra onboarding friction.</a:t>
            </a:r>
            <a:endParaRPr lang="en-US" sz="1400" b="0" u="none" strike="noStrike">
              <a:solidFill>
                <a:srgbClr val="000000"/>
              </a:solidFill>
              <a:effectLst/>
              <a:uFillTx/>
              <a:latin typeface="Arial"/>
            </a:endParaRPr>
          </a:p>
        </p:txBody>
      </p:sp>
      <p:sp>
        <p:nvSpPr>
          <p:cNvPr id="87" name="Shape 15"/>
          <p:cNvSpPr/>
          <p:nvPr/>
        </p:nvSpPr>
        <p:spPr>
          <a:xfrm>
            <a:off x="548640" y="4398120"/>
            <a:ext cx="11063880" cy="859320"/>
          </a:xfrm>
          <a:prstGeom prst="roundRect">
            <a:avLst>
              <a:gd name="adj" fmla="val 1276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88" name="Shape 16"/>
          <p:cNvSpPr/>
          <p:nvPr/>
        </p:nvSpPr>
        <p:spPr>
          <a:xfrm>
            <a:off x="822960" y="454464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89" name="Image 4" descr="/home/claude/pptx-build/assets/icons/FaSlidersH-FFFFFF-200.png"/>
          <p:cNvPicPr/>
          <p:nvPr/>
        </p:nvPicPr>
        <p:blipFill>
          <a:blip r:embed="rId6"/>
          <a:stretch/>
        </p:blipFill>
        <p:spPr>
          <a:xfrm>
            <a:off x="960120" y="4681800"/>
            <a:ext cx="292320" cy="292320"/>
          </a:xfrm>
          <a:prstGeom prst="rect">
            <a:avLst/>
          </a:prstGeom>
          <a:noFill/>
          <a:ln w="0">
            <a:noFill/>
          </a:ln>
        </p:spPr>
      </p:pic>
      <p:sp>
        <p:nvSpPr>
          <p:cNvPr id="90" name="Text 17"/>
          <p:cNvSpPr/>
          <p:nvPr/>
        </p:nvSpPr>
        <p:spPr>
          <a:xfrm>
            <a:off x="1600200" y="4471560"/>
            <a:ext cx="324576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50" b="1" u="none" strike="noStrike">
                <a:solidFill>
                  <a:srgbClr val="1F3D2C"/>
                </a:solidFill>
                <a:effectLst/>
                <a:uFillTx/>
                <a:latin typeface="Cambria"/>
                <a:ea typeface="Cambria"/>
              </a:rPr>
              <a:t>GitHub Actions flexibility</a:t>
            </a:r>
            <a:endParaRPr lang="en-US" sz="1650" b="0" u="none" strike="noStrike">
              <a:solidFill>
                <a:srgbClr val="000000"/>
              </a:solidFill>
              <a:effectLst/>
              <a:uFillTx/>
              <a:latin typeface="Arial"/>
            </a:endParaRPr>
          </a:p>
        </p:txBody>
      </p:sp>
      <p:sp>
        <p:nvSpPr>
          <p:cNvPr id="91" name="Text 18"/>
          <p:cNvSpPr/>
          <p:nvPr/>
        </p:nvSpPr>
        <p:spPr>
          <a:xfrm>
            <a:off x="5029200" y="4471560"/>
            <a:ext cx="630900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Reusable workflows, matrix builds, a huge marketplace of pre-built steps, and self-hosted runners when you need them.</a:t>
            </a:r>
            <a:endParaRPr lang="en-US" sz="1400" b="0" u="none" strike="noStrike">
              <a:solidFill>
                <a:srgbClr val="000000"/>
              </a:solidFill>
              <a:effectLst/>
              <a:uFillTx/>
              <a:latin typeface="Arial"/>
            </a:endParaRPr>
          </a:p>
        </p:txBody>
      </p:sp>
      <p:sp>
        <p:nvSpPr>
          <p:cNvPr id="92" name="Shape 19"/>
          <p:cNvSpPr/>
          <p:nvPr/>
        </p:nvSpPr>
        <p:spPr>
          <a:xfrm>
            <a:off x="548640" y="5330880"/>
            <a:ext cx="11063880" cy="859320"/>
          </a:xfrm>
          <a:prstGeom prst="roundRect">
            <a:avLst>
              <a:gd name="adj" fmla="val 1276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93" name="Shape 20"/>
          <p:cNvSpPr/>
          <p:nvPr/>
        </p:nvSpPr>
        <p:spPr>
          <a:xfrm>
            <a:off x="822960" y="54774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94" name="Image 5" descr="/home/claude/pptx-build/assets/icons/FaTerminal-FFFFFF-200.png"/>
          <p:cNvPicPr/>
          <p:nvPr/>
        </p:nvPicPr>
        <p:blipFill>
          <a:blip r:embed="rId7"/>
          <a:stretch/>
        </p:blipFill>
        <p:spPr>
          <a:xfrm>
            <a:off x="960120" y="5614560"/>
            <a:ext cx="292320" cy="292320"/>
          </a:xfrm>
          <a:prstGeom prst="rect">
            <a:avLst/>
          </a:prstGeom>
          <a:noFill/>
          <a:ln w="0">
            <a:noFill/>
          </a:ln>
        </p:spPr>
      </p:pic>
      <p:sp>
        <p:nvSpPr>
          <p:cNvPr id="95" name="Text 21"/>
          <p:cNvSpPr/>
          <p:nvPr/>
        </p:nvSpPr>
        <p:spPr>
          <a:xfrm>
            <a:off x="1600200" y="5403960"/>
            <a:ext cx="324576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50" b="1" u="none" strike="noStrike">
                <a:solidFill>
                  <a:srgbClr val="1F3D2C"/>
                </a:solidFill>
                <a:effectLst/>
                <a:uFillTx/>
                <a:latin typeface="Cambria"/>
                <a:ea typeface="Cambria"/>
              </a:rPr>
              <a:t>Run a workflow locally to troubleshoot</a:t>
            </a:r>
            <a:endParaRPr lang="en-US" sz="1650" b="0" u="none" strike="noStrike">
              <a:solidFill>
                <a:srgbClr val="000000"/>
              </a:solidFill>
              <a:effectLst/>
              <a:uFillTx/>
              <a:latin typeface="Arial"/>
            </a:endParaRPr>
          </a:p>
        </p:txBody>
      </p:sp>
      <p:sp>
        <p:nvSpPr>
          <p:cNvPr id="96" name="Text 22"/>
          <p:cNvSpPr/>
          <p:nvPr/>
        </p:nvSpPr>
        <p:spPr>
          <a:xfrm>
            <a:off x="5029200" y="5403960"/>
            <a:ext cx="630900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Tools like act run a workflow in a local container: fast feedback on syntax and job order, not a stand-in for CI.</a:t>
            </a:r>
            <a:endParaRPr lang="en-US" sz="14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F922DAE6-8395-4BEA-BC9F-E3E6C0242DCD}" type="slidenum">
              <a:rPr/>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97" name="Shape 0"/>
          <p:cNvSpPr/>
          <p:nvPr/>
        </p:nvSpPr>
        <p:spPr>
          <a:xfrm>
            <a:off x="0" y="0"/>
            <a:ext cx="12191400" cy="1234080"/>
          </a:xfrm>
          <a:prstGeom prst="rect">
            <a:avLst/>
          </a:prstGeom>
          <a:solidFill>
            <a:srgbClr val="142A1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98" name="Text 1"/>
          <p:cNvSpPr/>
          <p:nvPr/>
        </p:nvSpPr>
        <p:spPr>
          <a:xfrm>
            <a:off x="548640" y="365760"/>
            <a:ext cx="91436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spc="300">
                <a:solidFill>
                  <a:srgbClr val="E0B85C"/>
                </a:solidFill>
                <a:effectLst/>
                <a:uFillTx/>
                <a:latin typeface="Calibri"/>
                <a:ea typeface="Calibri"/>
              </a:rPr>
              <a:t>SECTION 2</a:t>
            </a:r>
            <a:endParaRPr lang="en-US" sz="1700" b="0" u="none" strike="noStrike">
              <a:solidFill>
                <a:srgbClr val="FFFFFF"/>
              </a:solidFill>
              <a:effectLst/>
              <a:uFillTx/>
              <a:latin typeface="Arial"/>
            </a:endParaRPr>
          </a:p>
        </p:txBody>
      </p:sp>
      <p:pic>
        <p:nvPicPr>
          <p:cNvPr id="99" name="Image 0" descr="/home/claude/pptx-build/assets/icons/FaBinoculars-8C6A3F-300.png"/>
          <p:cNvPicPr/>
          <p:nvPr/>
        </p:nvPicPr>
        <p:blipFill>
          <a:blip r:embed="rId3">
            <a:alphaModFix amt="85000"/>
          </a:blip>
          <a:stretch/>
        </p:blipFill>
        <p:spPr>
          <a:xfrm>
            <a:off x="9692640" y="2194560"/>
            <a:ext cx="1462680" cy="1462680"/>
          </a:xfrm>
          <a:prstGeom prst="rect">
            <a:avLst/>
          </a:prstGeom>
          <a:noFill/>
          <a:ln w="0">
            <a:noFill/>
          </a:ln>
        </p:spPr>
      </p:pic>
      <p:sp>
        <p:nvSpPr>
          <p:cNvPr id="100" name="Text 2"/>
          <p:cNvSpPr/>
          <p:nvPr/>
        </p:nvSpPr>
        <p:spPr>
          <a:xfrm>
            <a:off x="548640" y="2331720"/>
            <a:ext cx="877788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4400" b="1" u="none" strike="noStrike">
                <a:solidFill>
                  <a:srgbClr val="F5F5F0"/>
                </a:solidFill>
                <a:effectLst/>
                <a:uFillTx/>
                <a:latin typeface="Cambria"/>
                <a:ea typeface="Cambria"/>
              </a:rPr>
              <a:t>A Field Guide to the Local Species</a:t>
            </a:r>
            <a:endParaRPr lang="en-US" sz="4400" b="0" u="none" strike="noStrike">
              <a:solidFill>
                <a:srgbClr val="FFFFFF"/>
              </a:solidFill>
              <a:effectLst/>
              <a:uFillTx/>
              <a:latin typeface="Arial"/>
            </a:endParaRPr>
          </a:p>
        </p:txBody>
      </p:sp>
      <p:sp>
        <p:nvSpPr>
          <p:cNvPr id="101" name="Text 3"/>
          <p:cNvSpPr/>
          <p:nvPr/>
        </p:nvSpPr>
        <p:spPr>
          <a:xfrm>
            <a:off x="548640" y="4160520"/>
            <a:ext cx="8777880" cy="123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0" i="1" u="none" strike="noStrike">
                <a:solidFill>
                  <a:srgbClr val="E0B85C"/>
                </a:solidFill>
                <a:effectLst/>
                <a:uFillTx/>
                <a:latin typeface="Calibri"/>
                <a:ea typeface="Calibri"/>
              </a:rPr>
              <a:t>Before the crossing, a survey of the terrain: which subsystems travel clean, which need a second look, and which never leave the old ground at all.</a:t>
            </a:r>
            <a:endParaRPr lang="en-US" sz="2000" b="0" u="none" strike="noStrike">
              <a:solidFill>
                <a:srgbClr val="FFFFFF"/>
              </a:solidFill>
              <a:effectLst/>
              <a:uFillTx/>
              <a:latin typeface="Arial"/>
            </a:endParaRPr>
          </a:p>
        </p:txBody>
      </p:sp>
      <p:sp>
        <p:nvSpPr>
          <p:cNvPr id="102" name="Shape 4"/>
          <p:cNvSpPr/>
          <p:nvPr/>
        </p:nvSpPr>
        <p:spPr>
          <a:xfrm>
            <a:off x="548640" y="6217920"/>
            <a:ext cx="11064240" cy="360"/>
          </a:xfrm>
          <a:prstGeom prst="line">
            <a:avLst/>
          </a:prstGeom>
          <a:ln w="9525">
            <a:solidFill>
              <a:srgbClr val="8C6A3F"/>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103" name="PlaceHolder 1"/>
          <p:cNvSpPr>
            <a:spLocks noGrp="1"/>
          </p:cNvSpPr>
          <p:nvPr>
            <p:ph type="sldNum" idx="7"/>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6349031D-4800-4A5F-8564-78A7A0144722}" type="slidenum">
              <a:rPr lang="en-US" sz="1000" b="0" u="none" strike="noStrike">
                <a:solidFill>
                  <a:srgbClr val="E0B85C"/>
                </a:solidFill>
                <a:effectLst/>
                <a:uFillTx/>
                <a:latin typeface="Calibri"/>
              </a:rPr>
              <a:t>8</a:t>
            </a:fld>
            <a:endParaRPr lang="en-US" sz="1000" b="0" u="none" strike="noStrike">
              <a:solidFill>
                <a:srgbClr val="FFFFFF"/>
              </a:solidFill>
              <a:effectLst/>
              <a:uFillTx/>
              <a:latin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05" name="Image 0" descr="/home/claude/pptx-build/assets/icons/FaClipboardList-FFFFFF-200.png"/>
          <p:cNvPicPr/>
          <p:nvPr/>
        </p:nvPicPr>
        <p:blipFill>
          <a:blip r:embed="rId3"/>
          <a:stretch/>
        </p:blipFill>
        <p:spPr>
          <a:xfrm>
            <a:off x="685800" y="594360"/>
            <a:ext cx="292320" cy="292320"/>
          </a:xfrm>
          <a:prstGeom prst="rect">
            <a:avLst/>
          </a:prstGeom>
          <a:noFill/>
          <a:ln w="0">
            <a:noFill/>
          </a:ln>
        </p:spPr>
      </p:pic>
      <p:sp>
        <p:nvSpPr>
          <p:cNvPr id="106"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A FIELD GUIDE TO THE LOCAL SPECIES</a:t>
            </a:r>
            <a:endParaRPr lang="en-US" sz="1500" b="0" u="none" strike="noStrike">
              <a:solidFill>
                <a:srgbClr val="000000"/>
              </a:solidFill>
              <a:effectLst/>
              <a:uFillTx/>
              <a:latin typeface="Arial"/>
            </a:endParaRPr>
          </a:p>
        </p:txBody>
      </p:sp>
      <p:sp>
        <p:nvSpPr>
          <p:cNvPr id="107"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The Scorecard — Full Reveal</a:t>
            </a:r>
            <a:endParaRPr lang="en-US" sz="3200" b="0" u="none" strike="noStrike">
              <a:solidFill>
                <a:srgbClr val="000000"/>
              </a:solidFill>
              <a:effectLst/>
              <a:uFillTx/>
              <a:latin typeface="Arial"/>
            </a:endParaRPr>
          </a:p>
        </p:txBody>
      </p:sp>
      <p:graphicFrame>
        <p:nvGraphicFramePr>
          <p:cNvPr id="108" name="Table 0"/>
          <p:cNvGraphicFramePr/>
          <p:nvPr/>
        </p:nvGraphicFramePr>
        <p:xfrm>
          <a:off x="548640" y="1554480"/>
          <a:ext cx="11064240" cy="440208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120">
                <a:tc>
                  <a:txBody>
                    <a:bodyPr/>
                    <a:lstStyle/>
                    <a:p>
                      <a:pPr defTabSz="914400">
                        <a:lnSpc>
                          <a:spcPct val="100000"/>
                        </a:lnSpc>
                        <a:tabLst>
                          <a:tab pos="0" algn="l"/>
                        </a:tabLst>
                      </a:pPr>
                      <a:r>
                        <a:rPr lang="en-US" sz="1500" b="1" u="none" strike="noStrike">
                          <a:solidFill>
                            <a:srgbClr val="F5F5F0"/>
                          </a:solidFill>
                          <a:effectLst/>
                          <a:uFillTx/>
                          <a:latin typeface="Calibri"/>
                          <a:ea typeface="Calibri"/>
                        </a:rPr>
                        <a:t>Subsystem</a:t>
                      </a:r>
                      <a:endParaRPr lang="en-US" sz="150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tc>
                  <a:txBody>
                    <a:bodyPr/>
                    <a:lstStyle/>
                    <a:p>
                      <a:pPr algn="ctr" defTabSz="914400">
                        <a:lnSpc>
                          <a:spcPct val="100000"/>
                        </a:lnSpc>
                        <a:tabLst>
                          <a:tab pos="0" algn="l"/>
                        </a:tabLst>
                      </a:pPr>
                      <a:r>
                        <a:rPr lang="en-US" sz="1500" b="1" u="none" strike="noStrike">
                          <a:solidFill>
                            <a:srgbClr val="F5F5F0"/>
                          </a:solidFill>
                          <a:effectLst/>
                          <a:uFillTx/>
                          <a:latin typeface="Calibri"/>
                          <a:ea typeface="Calibri"/>
                        </a:rPr>
                        <a:t>Verdict</a:t>
                      </a:r>
                      <a:endParaRPr lang="en-US" sz="150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tc>
                  <a:txBody>
                    <a:bodyPr/>
                    <a:lstStyle/>
                    <a:p>
                      <a:pPr defTabSz="914400">
                        <a:lnSpc>
                          <a:spcPct val="100000"/>
                        </a:lnSpc>
                        <a:tabLst>
                          <a:tab pos="0" algn="l"/>
                        </a:tabLst>
                      </a:pPr>
                      <a:r>
                        <a:rPr lang="en-US" sz="1500" b="1" u="none" strike="noStrike">
                          <a:solidFill>
                            <a:srgbClr val="F5F5F0"/>
                          </a:solidFill>
                          <a:effectLst/>
                          <a:uFillTx/>
                          <a:latin typeface="Calibri"/>
                          <a:ea typeface="Calibri"/>
                        </a:rPr>
                        <a:t>Why</a:t>
                      </a:r>
                      <a:endParaRPr lang="en-US" sz="150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extLst>
                  <a:ext uri="{0D108BD9-81ED-4DB2-BD59-A6C34878D82A}">
                    <a16:rowId xmlns:a16="http://schemas.microsoft.com/office/drawing/2014/main" val="10000"/>
                  </a:ext>
                </a:extLst>
              </a:tr>
              <a:tr h="537120">
                <a:tc>
                  <a:txBody>
                    <a:bodyPr/>
                    <a:lstStyle/>
                    <a:p>
                      <a:pPr defTabSz="914400">
                        <a:lnSpc>
                          <a:spcPct val="100000"/>
                        </a:lnSpc>
                        <a:tabLst>
                          <a:tab pos="0" algn="l"/>
                        </a:tabLst>
                      </a:pPr>
                      <a:r>
                        <a:rPr lang="en-US" sz="1500" b="1" u="none" strike="noStrike">
                          <a:solidFill>
                            <a:srgbClr val="1F3D2C"/>
                          </a:solidFill>
                          <a:effectLst/>
                          <a:uFillTx/>
                          <a:latin typeface="Cambria"/>
                          <a:ea typeface="Cambria"/>
                        </a:rPr>
                        <a:t>Repos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algn="ctr" defTabSz="914400">
                        <a:lnSpc>
                          <a:spcPct val="100000"/>
                        </a:lnSpc>
                        <a:tabLst>
                          <a:tab pos="0" algn="l"/>
                        </a:tabLst>
                      </a:pPr>
                      <a:r>
                        <a:rPr lang="en-US" sz="1350" b="1" u="none" strike="noStrike">
                          <a:solidFill>
                            <a:srgbClr val="F5F5F0"/>
                          </a:solidFill>
                          <a:effectLst/>
                          <a:uFillTx/>
                          <a:latin typeface="Calibri"/>
                          <a:ea typeface="Calibri"/>
                        </a:rPr>
                        <a:t>PORTABLE</a:t>
                      </a:r>
                      <a:endParaRPr lang="en-US" sz="135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tc>
                  <a:txBody>
                    <a:bodyPr/>
                    <a:lstStyle/>
                    <a:p>
                      <a:pPr defTabSz="914400">
                        <a:lnSpc>
                          <a:spcPct val="100000"/>
                        </a:lnSpc>
                        <a:tabLst>
                          <a:tab pos="0" algn="l"/>
                        </a:tabLst>
                      </a:pPr>
                      <a:r>
                        <a:rPr lang="en-US" sz="1350" b="0" u="none" strike="noStrike">
                          <a:solidFill>
                            <a:srgbClr val="2B2B2B"/>
                          </a:solidFill>
                          <a:effectLst/>
                          <a:uFillTx/>
                          <a:latin typeface="Calibri"/>
                          <a:ea typeface="Calibri"/>
                        </a:rPr>
                        <a:t>Git history moves natively; supported PR metadata and repository-scoped policies move through GitHub Enterprise Importer (GEI).</a:t>
                      </a:r>
                      <a:endParaRPr lang="en-US" sz="135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1"/>
                  </a:ext>
                </a:extLst>
              </a:tr>
              <a:tr h="537120">
                <a:tc>
                  <a:txBody>
                    <a:bodyPr/>
                    <a:lstStyle/>
                    <a:p>
                      <a:pPr defTabSz="914400">
                        <a:lnSpc>
                          <a:spcPct val="100000"/>
                        </a:lnSpc>
                        <a:tabLst>
                          <a:tab pos="0" algn="l"/>
                        </a:tabLst>
                      </a:pPr>
                      <a:r>
                        <a:rPr lang="en-US" sz="1500" b="1" u="none" strike="noStrike">
                          <a:solidFill>
                            <a:srgbClr val="1F3D2C"/>
                          </a:solidFill>
                          <a:effectLst/>
                          <a:uFillTx/>
                          <a:latin typeface="Cambria"/>
                          <a:ea typeface="Cambria"/>
                        </a:rPr>
                        <a:t>Wiki</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algn="ctr" defTabSz="914400">
                        <a:lnSpc>
                          <a:spcPct val="100000"/>
                        </a:lnSpc>
                        <a:tabLst>
                          <a:tab pos="0" algn="l"/>
                        </a:tabLst>
                      </a:pPr>
                      <a:r>
                        <a:rPr lang="en-US" sz="1350" b="1" u="none" strike="noStrike">
                          <a:solidFill>
                            <a:srgbClr val="F5F5F0"/>
                          </a:solidFill>
                          <a:effectLst/>
                          <a:uFillTx/>
                          <a:latin typeface="Calibri"/>
                          <a:ea typeface="Calibri"/>
                        </a:rPr>
                        <a:t>PORTABLE</a:t>
                      </a:r>
                      <a:endParaRPr lang="en-US" sz="135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tc>
                  <a:txBody>
                    <a:bodyPr/>
                    <a:lstStyle/>
                    <a:p>
                      <a:pPr defTabSz="914400">
                        <a:lnSpc>
                          <a:spcPct val="100000"/>
                        </a:lnSpc>
                        <a:tabLst>
                          <a:tab pos="0" algn="l"/>
                        </a:tabLst>
                      </a:pPr>
                      <a:r>
                        <a:rPr lang="en-US" sz="1350" b="0" u="none" strike="noStrike">
                          <a:solidFill>
                            <a:srgbClr val="2B2B2B"/>
                          </a:solidFill>
                          <a:effectLst/>
                          <a:uFillTx/>
                          <a:latin typeface="Calibri"/>
                          <a:ea typeface="Calibri"/>
                        </a:rPr>
                        <a:t>Content travels; behavior needs review</a:t>
                      </a:r>
                      <a:endParaRPr lang="en-US" sz="135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2"/>
                  </a:ext>
                </a:extLst>
              </a:tr>
              <a:tr h="537120">
                <a:tc>
                  <a:txBody>
                    <a:bodyPr/>
                    <a:lstStyle/>
                    <a:p>
                      <a:pPr defTabSz="914400">
                        <a:lnSpc>
                          <a:spcPct val="100000"/>
                        </a:lnSpc>
                        <a:tabLst>
                          <a:tab pos="0" algn="l"/>
                        </a:tabLst>
                      </a:pPr>
                      <a:r>
                        <a:rPr lang="en-US" sz="1500" b="1" u="none" strike="noStrike">
                          <a:solidFill>
                            <a:srgbClr val="1F3D2C"/>
                          </a:solidFill>
                          <a:effectLst/>
                          <a:uFillTx/>
                          <a:latin typeface="Cambria"/>
                          <a:ea typeface="Cambria"/>
                        </a:rPr>
                        <a:t>Packages / Artifacts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algn="ctr" defTabSz="914400">
                        <a:lnSpc>
                          <a:spcPct val="100000"/>
                        </a:lnSpc>
                        <a:tabLst>
                          <a:tab pos="0" algn="l"/>
                        </a:tabLst>
                      </a:pPr>
                      <a:r>
                        <a:rPr lang="en-US" sz="1350" b="1" u="none" strike="noStrike">
                          <a:solidFill>
                            <a:srgbClr val="F5F5F0"/>
                          </a:solidFill>
                          <a:effectLst/>
                          <a:uFillTx/>
                          <a:latin typeface="Calibri"/>
                          <a:ea typeface="Calibri"/>
                        </a:rPr>
                        <a:t>RETAIN OR REPLACE</a:t>
                      </a:r>
                      <a:endParaRPr lang="en-US" sz="135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8C6A3F"/>
                    </a:solidFill>
                  </a:tcPr>
                </a:tc>
                <a:tc>
                  <a:txBody>
                    <a:bodyPr/>
                    <a:lstStyle/>
                    <a:p>
                      <a:pPr defTabSz="914400">
                        <a:lnSpc>
                          <a:spcPct val="100000"/>
                        </a:lnSpc>
                        <a:tabLst>
                          <a:tab pos="0" algn="l"/>
                        </a:tabLst>
                      </a:pPr>
                      <a:r>
                        <a:rPr lang="en-US" sz="1350" b="0" u="none" strike="noStrike">
                          <a:solidFill>
                            <a:srgbClr val="2B2B2B"/>
                          </a:solidFill>
                          <a:effectLst/>
                          <a:uFillTx/>
                          <a:latin typeface="Calibri"/>
                          <a:ea typeface="Calibri"/>
                        </a:rPr>
                        <a:t>Keep Azure Artifacts, move to GitHub Packages, or both during transition</a:t>
                      </a:r>
                      <a:endParaRPr lang="en-US" sz="135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3"/>
                  </a:ext>
                </a:extLst>
              </a:tr>
              <a:tr h="537120">
                <a:tc>
                  <a:txBody>
                    <a:bodyPr/>
                    <a:lstStyle/>
                    <a:p>
                      <a:pPr defTabSz="914400">
                        <a:lnSpc>
                          <a:spcPct val="100000"/>
                        </a:lnSpc>
                        <a:tabLst>
                          <a:tab pos="0" algn="l"/>
                        </a:tabLst>
                      </a:pPr>
                      <a:r>
                        <a:rPr lang="en-US" sz="1500" b="1" u="none" strike="noStrike">
                          <a:solidFill>
                            <a:srgbClr val="1F3D2C"/>
                          </a:solidFill>
                          <a:effectLst/>
                          <a:uFillTx/>
                          <a:latin typeface="Cambria"/>
                          <a:ea typeface="Cambria"/>
                        </a:rPr>
                        <a:t>Pipelines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algn="ctr" defTabSz="914400">
                        <a:lnSpc>
                          <a:spcPct val="100000"/>
                        </a:lnSpc>
                        <a:tabLst>
                          <a:tab pos="0" algn="l"/>
                        </a:tabLst>
                      </a:pPr>
                      <a:r>
                        <a:rPr lang="en-US" sz="1350" b="1" u="none" strike="noStrike">
                          <a:solidFill>
                            <a:srgbClr val="F5F5F0"/>
                          </a:solidFill>
                          <a:effectLst/>
                          <a:uFillTx/>
                          <a:latin typeface="Calibri"/>
                          <a:ea typeface="Calibri"/>
                        </a:rPr>
                        <a:t>RETAIN OR REPLACE</a:t>
                      </a:r>
                      <a:endParaRPr lang="en-US" sz="135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8C6A3F"/>
                    </a:solidFill>
                  </a:tcPr>
                </a:tc>
                <a:tc>
                  <a:txBody>
                    <a:bodyPr/>
                    <a:lstStyle/>
                    <a:p>
                      <a:pPr defTabSz="914400">
                        <a:lnSpc>
                          <a:spcPct val="100000"/>
                        </a:lnSpc>
                        <a:tabLst>
                          <a:tab pos="0" algn="l"/>
                        </a:tabLst>
                      </a:pPr>
                      <a:r>
                        <a:rPr lang="en-US" sz="1350" b="0" u="none" strike="noStrike">
                          <a:solidFill>
                            <a:srgbClr val="2B2B2B"/>
                          </a:solidFill>
                          <a:effectLst/>
                          <a:uFillTx/>
                          <a:latin typeface="Calibri"/>
                          <a:ea typeface="Calibri"/>
                        </a:rPr>
                        <a:t>Same YAML shell, different concepts underneath — budget real rewrite time</a:t>
                      </a:r>
                      <a:endParaRPr lang="en-US" sz="135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4"/>
                  </a:ext>
                </a:extLst>
              </a:tr>
              <a:tr h="537120">
                <a:tc>
                  <a:txBody>
                    <a:bodyPr/>
                    <a:lstStyle/>
                    <a:p>
                      <a:pPr defTabSz="914400">
                        <a:lnSpc>
                          <a:spcPct val="100000"/>
                        </a:lnSpc>
                        <a:tabLst>
                          <a:tab pos="0" algn="l"/>
                        </a:tabLst>
                      </a:pPr>
                      <a:r>
                        <a:rPr lang="en-US" sz="1500" b="1" u="none" strike="noStrike">
                          <a:solidFill>
                            <a:srgbClr val="1F3D2C"/>
                          </a:solidFill>
                          <a:effectLst/>
                          <a:uFillTx/>
                          <a:latin typeface="Cambria"/>
                          <a:ea typeface="Cambria"/>
                        </a:rPr>
                        <a:t>Dashboards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algn="ctr" defTabSz="914400">
                        <a:lnSpc>
                          <a:spcPct val="100000"/>
                        </a:lnSpc>
                        <a:tabLst>
                          <a:tab pos="0" algn="l"/>
                        </a:tabLst>
                      </a:pPr>
                      <a:r>
                        <a:rPr lang="en-US" sz="1350" b="1" u="none" strike="noStrike">
                          <a:solidFill>
                            <a:srgbClr val="F5F5F0"/>
                          </a:solidFill>
                          <a:effectLst/>
                          <a:uFillTx/>
                          <a:latin typeface="Calibri"/>
                          <a:ea typeface="Calibri"/>
                        </a:rPr>
                        <a:t>RETAIN OR REPLACE</a:t>
                      </a:r>
                      <a:endParaRPr lang="en-US" sz="135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8C6A3F"/>
                    </a:solidFill>
                  </a:tcPr>
                </a:tc>
                <a:tc>
                  <a:txBody>
                    <a:bodyPr/>
                    <a:lstStyle/>
                    <a:p>
                      <a:pPr defTabSz="914400">
                        <a:lnSpc>
                          <a:spcPct val="100000"/>
                        </a:lnSpc>
                        <a:tabLst>
                          <a:tab pos="0" algn="l"/>
                        </a:tabLst>
                      </a:pPr>
                      <a:r>
                        <a:rPr lang="en-US" sz="1350" b="0" u="none" strike="noStrike">
                          <a:solidFill>
                            <a:srgbClr val="2B2B2B"/>
                          </a:solidFill>
                          <a:effectLst/>
                          <a:uFillTx/>
                          <a:latin typeface="Calibri"/>
                          <a:ea typeface="Calibri"/>
                        </a:rPr>
                        <a:t>No native DORA dashboard; GitHub's built-ins are narrower than Boards Analytics + Power BI</a:t>
                      </a:r>
                      <a:endParaRPr lang="en-US" sz="135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5"/>
                  </a:ext>
                </a:extLst>
              </a:tr>
              <a:tr h="537120">
                <a:tc>
                  <a:txBody>
                    <a:bodyPr/>
                    <a:lstStyle/>
                    <a:p>
                      <a:pPr defTabSz="914400">
                        <a:lnSpc>
                          <a:spcPct val="100000"/>
                        </a:lnSpc>
                        <a:tabLst>
                          <a:tab pos="0" algn="l"/>
                        </a:tabLst>
                      </a:pPr>
                      <a:r>
                        <a:rPr lang="en-US" sz="1500" b="1" u="none" strike="noStrike">
                          <a:solidFill>
                            <a:srgbClr val="1F3D2C"/>
                          </a:solidFill>
                          <a:effectLst/>
                          <a:uFillTx/>
                          <a:latin typeface="Cambria"/>
                          <a:ea typeface="Cambria"/>
                        </a:rPr>
                        <a:t>Boards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algn="ctr" defTabSz="914400">
                        <a:lnSpc>
                          <a:spcPct val="100000"/>
                        </a:lnSpc>
                        <a:tabLst>
                          <a:tab pos="0" algn="l"/>
                        </a:tabLst>
                      </a:pPr>
                      <a:r>
                        <a:rPr lang="en-US" sz="1350" b="1" u="none" strike="noStrike">
                          <a:solidFill>
                            <a:srgbClr val="F5F5F0"/>
                          </a:solidFill>
                          <a:effectLst/>
                          <a:uFillTx/>
                          <a:latin typeface="Calibri"/>
                          <a:ea typeface="Calibri"/>
                        </a:rPr>
                        <a:t>RETAIN OR REPLACE</a:t>
                      </a:r>
                      <a:endParaRPr lang="en-US" sz="135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8C6A3F"/>
                    </a:solidFill>
                  </a:tcPr>
                </a:tc>
                <a:tc>
                  <a:txBody>
                    <a:bodyPr/>
                    <a:lstStyle/>
                    <a:p>
                      <a:pPr defTabSz="914400">
                        <a:lnSpc>
                          <a:spcPct val="100000"/>
                        </a:lnSpc>
                        <a:tabLst>
                          <a:tab pos="0" algn="l"/>
                        </a:tabLst>
                      </a:pPr>
                      <a:r>
                        <a:rPr lang="en-US" sz="1350" b="0" u="none" strike="noStrike">
                          <a:solidFill>
                            <a:srgbClr val="2B2B2B"/>
                          </a:solidFill>
                          <a:effectLst/>
                          <a:uFillTx/>
                          <a:latin typeface="Calibri"/>
                          <a:ea typeface="Calibri"/>
                        </a:rPr>
                        <a:t>Both are enterprise-capable, but the data models don’t line up — no clean migration path, so replaced history stays in the legacy system</a:t>
                      </a:r>
                      <a:endParaRPr lang="en-US" sz="135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6"/>
                  </a:ext>
                </a:extLst>
              </a:tr>
              <a:tr h="537120">
                <a:tc>
                  <a:txBody>
                    <a:bodyPr/>
                    <a:lstStyle/>
                    <a:p>
                      <a:pPr defTabSz="914400">
                        <a:lnSpc>
                          <a:spcPct val="100000"/>
                        </a:lnSpc>
                        <a:tabLst>
                          <a:tab pos="0" algn="l"/>
                        </a:tabLst>
                      </a:pPr>
                      <a:r>
                        <a:rPr lang="en-US" sz="1500" b="1" u="none" strike="noStrike">
                          <a:solidFill>
                            <a:srgbClr val="1F3D2C"/>
                          </a:solidFill>
                          <a:effectLst/>
                          <a:uFillTx/>
                          <a:latin typeface="Cambria"/>
                          <a:ea typeface="Cambria"/>
                        </a:rPr>
                        <a:t>Test Plans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algn="ctr" defTabSz="914400">
                        <a:lnSpc>
                          <a:spcPct val="100000"/>
                        </a:lnSpc>
                        <a:tabLst>
                          <a:tab pos="0" algn="l"/>
                        </a:tabLst>
                      </a:pPr>
                      <a:r>
                        <a:rPr lang="en-US" sz="1350" b="1" u="none" strike="noStrike">
                          <a:solidFill>
                            <a:srgbClr val="F5F5F0"/>
                          </a:solidFill>
                          <a:effectLst/>
                          <a:uFillTx/>
                          <a:latin typeface="Calibri"/>
                          <a:ea typeface="Calibri"/>
                        </a:rPr>
                        <a:t>NO NATIVE DESTINATION</a:t>
                      </a:r>
                      <a:endParaRPr lang="en-US" sz="135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C1440E"/>
                    </a:solidFill>
                  </a:tcPr>
                </a:tc>
                <a:tc>
                  <a:txBody>
                    <a:bodyPr/>
                    <a:lstStyle/>
                    <a:p>
                      <a:pPr defTabSz="914400">
                        <a:lnSpc>
                          <a:spcPct val="100000"/>
                        </a:lnSpc>
                        <a:tabLst>
                          <a:tab pos="0" algn="l"/>
                        </a:tabLst>
                      </a:pPr>
                      <a:r>
                        <a:rPr lang="en-US" sz="1350" b="0" u="none" strike="noStrike">
                          <a:solidFill>
                            <a:srgbClr val="2B2B2B"/>
                          </a:solidFill>
                          <a:effectLst/>
                          <a:uFillTx/>
                          <a:latin typeface="Calibri"/>
                          <a:ea typeface="Calibri"/>
                        </a:rPr>
                        <a:t>No native GitHub equivalent for structured manual and exploratory test management.</a:t>
                      </a:r>
                      <a:endParaRPr lang="en-US" sz="135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7"/>
                  </a:ext>
                </a:extLst>
              </a:tr>
            </a:tbl>
          </a:graphicData>
        </a:graphic>
      </p:graphicFrame>
      <p:sp>
        <p:nvSpPr>
          <p:cNvPr id="2" name="PlaceHolder 1"/>
          <p:cNvSpPr>
            <a:spLocks noGrp="1"/>
          </p:cNvSpPr>
          <p:nvPr>
            <p:ph type="sldNum" idx="1"/>
          </p:nvPr>
        </p:nvSpPr>
        <p:spPr/>
        <p:txBody>
          <a:bodyPr/>
          <a:lstStyle/>
          <a:p>
            <a:fld id="{F1172BE3-E5DE-48B3-8A1D-B79A535F64F4}" type="slidenum">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9"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10" name="Image 0" descr="/home/claude/pptx-build/assets/icons/FaCodeBranch-FFFFFF-200.png"/>
          <p:cNvPicPr/>
          <p:nvPr/>
        </p:nvPicPr>
        <p:blipFill>
          <a:blip r:embed="rId3"/>
          <a:stretch/>
        </p:blipFill>
        <p:spPr>
          <a:xfrm>
            <a:off x="685800" y="594360"/>
            <a:ext cx="292320" cy="292320"/>
          </a:xfrm>
          <a:prstGeom prst="rect">
            <a:avLst/>
          </a:prstGeom>
          <a:noFill/>
          <a:ln w="0">
            <a:noFill/>
          </a:ln>
        </p:spPr>
      </p:pic>
      <p:sp>
        <p:nvSpPr>
          <p:cNvPr id="111"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A FIELD GUIDE TO THE LOCAL SPECIES</a:t>
            </a:r>
            <a:endParaRPr lang="en-US" sz="1500" b="0" u="none" strike="noStrike">
              <a:solidFill>
                <a:srgbClr val="000000"/>
              </a:solidFill>
              <a:effectLst/>
              <a:uFillTx/>
              <a:latin typeface="Arial"/>
            </a:endParaRPr>
          </a:p>
        </p:txBody>
      </p:sp>
      <p:sp>
        <p:nvSpPr>
          <p:cNvPr id="112"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Repos: The Asterisk</a:t>
            </a:r>
            <a:endParaRPr lang="en-US" sz="3200" b="0" u="none" strike="noStrike">
              <a:solidFill>
                <a:srgbClr val="000000"/>
              </a:solidFill>
              <a:effectLst/>
              <a:uFillTx/>
              <a:latin typeface="Arial"/>
            </a:endParaRPr>
          </a:p>
        </p:txBody>
      </p:sp>
      <p:sp>
        <p:nvSpPr>
          <p:cNvPr id="113" name="Shape 3"/>
          <p:cNvSpPr/>
          <p:nvPr/>
        </p:nvSpPr>
        <p:spPr>
          <a:xfrm>
            <a:off x="548640" y="1645920"/>
            <a:ext cx="5348880" cy="4114440"/>
          </a:xfrm>
          <a:prstGeom prst="roundRect">
            <a:avLst>
              <a:gd name="adj" fmla="val 2667"/>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4" name="Text 4"/>
          <p:cNvSpPr/>
          <p:nvPr/>
        </p:nvSpPr>
        <p:spPr>
          <a:xfrm>
            <a:off x="822960" y="182880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1F3D2C"/>
                </a:solidFill>
                <a:effectLst/>
                <a:uFillTx/>
                <a:latin typeface="Cambria"/>
                <a:ea typeface="Cambria"/>
              </a:rPr>
              <a:t>What Travels Clean</a:t>
            </a:r>
            <a:endParaRPr lang="en-US" sz="2100" b="0" u="none" strike="noStrike">
              <a:solidFill>
                <a:srgbClr val="000000"/>
              </a:solidFill>
              <a:effectLst/>
              <a:uFillTx/>
              <a:latin typeface="Arial"/>
            </a:endParaRPr>
          </a:p>
        </p:txBody>
      </p:sp>
      <p:sp>
        <p:nvSpPr>
          <p:cNvPr id="115" name="Text 5"/>
          <p:cNvSpPr/>
          <p:nvPr/>
        </p:nvSpPr>
        <p:spPr>
          <a:xfrm>
            <a:off x="822960" y="2423160"/>
            <a:ext cx="4800240" cy="3200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343080" indent="-343080" defTabSz="914400">
              <a:lnSpc>
                <a:spcPct val="115000"/>
              </a:lnSpc>
              <a:spcAft>
                <a:spcPts val="1199"/>
              </a:spcAft>
              <a:buClr>
                <a:srgbClr val="2B2B2B"/>
              </a:buClr>
              <a:buFont typeface="Symbol" charset="2"/>
              <a:buChar char=""/>
            </a:pPr>
            <a:r>
              <a:rPr lang="en-US" sz="1600" b="0" u="none" strike="noStrike">
                <a:solidFill>
                  <a:srgbClr val="2B2B2B"/>
                </a:solidFill>
                <a:effectLst/>
                <a:uFillTx/>
                <a:latin typeface="Calibri"/>
                <a:ea typeface="Calibri"/>
              </a:rPr>
              <a:t>Full commit history, branches, and tags come natively</a:t>
            </a:r>
            <a:endParaRPr lang="en-US" sz="1600" b="0" u="none" strike="noStrike">
              <a:solidFill>
                <a:srgbClr val="000000"/>
              </a:solidFill>
              <a:effectLst/>
              <a:uFillTx/>
              <a:latin typeface="Arial"/>
            </a:endParaRPr>
          </a:p>
          <a:p>
            <a:pPr marL="343080" indent="-343080" defTabSz="914400">
              <a:lnSpc>
                <a:spcPct val="115000"/>
              </a:lnSpc>
              <a:spcAft>
                <a:spcPts val="1199"/>
              </a:spcAft>
              <a:buClr>
                <a:srgbClr val="2B2B2B"/>
              </a:buClr>
              <a:buFont typeface="Symbol" charset="2"/>
              <a:buChar char=""/>
            </a:pPr>
            <a:r>
              <a:rPr lang="en-US" sz="1600" b="0" u="none" strike="noStrike">
                <a:solidFill>
                  <a:srgbClr val="2B2B2B"/>
                </a:solidFill>
                <a:effectLst/>
                <a:uFillTx/>
                <a:latin typeface="Calibri"/>
                <a:ea typeface="Calibri"/>
              </a:rPr>
              <a:t>Pull requests, with their comments, attachments, and review history (via GitHub Enterprise Importer)</a:t>
            </a:r>
            <a:endParaRPr lang="en-US" sz="1600" b="0" u="none" strike="noStrike">
              <a:solidFill>
                <a:srgbClr val="000000"/>
              </a:solidFill>
              <a:effectLst/>
              <a:uFillTx/>
              <a:latin typeface="Arial"/>
            </a:endParaRPr>
          </a:p>
          <a:p>
            <a:pPr marL="343080" indent="-343080" defTabSz="914400">
              <a:lnSpc>
                <a:spcPct val="115000"/>
              </a:lnSpc>
              <a:buClr>
                <a:srgbClr val="2B2B2B"/>
              </a:buClr>
              <a:buFont typeface="Symbol" charset="2"/>
              <a:buChar char=""/>
            </a:pPr>
            <a:r>
              <a:rPr lang="en-US" sz="1600" b="0" u="none" strike="noStrike">
                <a:solidFill>
                  <a:srgbClr val="2B2B2B"/>
                </a:solidFill>
                <a:effectLst/>
                <a:uFillTx/>
                <a:latin typeface="Calibri"/>
                <a:ea typeface="Calibri"/>
              </a:rPr>
              <a:t>Most branch policies — the ones scoped to a single repo (again via GEI)</a:t>
            </a:r>
            <a:endParaRPr lang="en-US" sz="1600" b="0" u="none" strike="noStrike">
              <a:solidFill>
                <a:srgbClr val="000000"/>
              </a:solidFill>
              <a:effectLst/>
              <a:uFillTx/>
              <a:latin typeface="Arial"/>
            </a:endParaRPr>
          </a:p>
        </p:txBody>
      </p:sp>
      <p:sp>
        <p:nvSpPr>
          <p:cNvPr id="116" name="Shape 6"/>
          <p:cNvSpPr/>
          <p:nvPr/>
        </p:nvSpPr>
        <p:spPr>
          <a:xfrm>
            <a:off x="6263640" y="1645920"/>
            <a:ext cx="5348880" cy="4114440"/>
          </a:xfrm>
          <a:prstGeom prst="roundRect">
            <a:avLst>
              <a:gd name="adj" fmla="val 2667"/>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7" name="Text 7"/>
          <p:cNvSpPr/>
          <p:nvPr/>
        </p:nvSpPr>
        <p:spPr>
          <a:xfrm>
            <a:off x="6537960" y="182880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F5F5F0"/>
                </a:solidFill>
                <a:effectLst/>
                <a:uFillTx/>
                <a:latin typeface="Cambria"/>
                <a:ea typeface="Cambria"/>
              </a:rPr>
              <a:t>The Asterisk</a:t>
            </a:r>
            <a:endParaRPr lang="en-US" sz="2100" b="0" u="none" strike="noStrike">
              <a:solidFill>
                <a:srgbClr val="000000"/>
              </a:solidFill>
              <a:effectLst/>
              <a:uFillTx/>
              <a:latin typeface="Arial"/>
            </a:endParaRPr>
          </a:p>
        </p:txBody>
      </p:sp>
      <p:sp>
        <p:nvSpPr>
          <p:cNvPr id="118" name="Text 8"/>
          <p:cNvSpPr/>
          <p:nvPr/>
        </p:nvSpPr>
        <p:spPr>
          <a:xfrm>
            <a:off x="6537960" y="2423160"/>
            <a:ext cx="4800240" cy="3200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343080" indent="-343080" defTabSz="914400">
              <a:lnSpc>
                <a:spcPct val="110000"/>
              </a:lnSpc>
              <a:spcAft>
                <a:spcPts val="1001"/>
              </a:spcAft>
              <a:buClr>
                <a:srgbClr val="F5F5F0"/>
              </a:buClr>
              <a:buFont typeface="Symbol" charset="2"/>
              <a:buChar char=""/>
            </a:pPr>
            <a:r>
              <a:rPr lang="en-US" sz="1600" b="0" u="none" strike="noStrike">
                <a:solidFill>
                  <a:srgbClr val="F5F5F0"/>
                </a:solidFill>
                <a:effectLst/>
                <a:uFillTx/>
                <a:latin typeface="Calibri"/>
                <a:ea typeface="Calibri"/>
              </a:rPr>
              <a:t>Repo permissions rebuilt as two GitHub teams per team project</a:t>
            </a:r>
            <a:endParaRPr lang="en-US" sz="1600" b="0" u="none" strike="noStrike">
              <a:solidFill>
                <a:srgbClr val="000000"/>
              </a:solidFill>
              <a:effectLst/>
              <a:uFillTx/>
              <a:latin typeface="Arial"/>
            </a:endParaRPr>
          </a:p>
          <a:p>
            <a:pPr marL="343080" indent="-343080" defTabSz="914400">
              <a:lnSpc>
                <a:spcPct val="110000"/>
              </a:lnSpc>
              <a:spcAft>
                <a:spcPts val="1001"/>
              </a:spcAft>
              <a:buClr>
                <a:srgbClr val="F5F5F0"/>
              </a:buClr>
              <a:buFont typeface="Symbol" charset="2"/>
              <a:buChar char=""/>
            </a:pPr>
            <a:r>
              <a:rPr lang="en-US" sz="1600" b="0" u="none" strike="noStrike">
                <a:solidFill>
                  <a:srgbClr val="F5F5F0"/>
                </a:solidFill>
                <a:effectLst/>
                <a:uFillTx/>
                <a:latin typeface="Calibri"/>
                <a:ea typeface="Calibri"/>
              </a:rPr>
              <a:t>Git LFS objects don’t migrate — push them separately</a:t>
            </a:r>
            <a:endParaRPr lang="en-US" sz="1600" b="0" u="none" strike="noStrike">
              <a:solidFill>
                <a:srgbClr val="000000"/>
              </a:solidFill>
              <a:effectLst/>
              <a:uFillTx/>
              <a:latin typeface="Arial"/>
            </a:endParaRPr>
          </a:p>
          <a:p>
            <a:pPr marL="343080" indent="-343080" defTabSz="914400">
              <a:lnSpc>
                <a:spcPct val="110000"/>
              </a:lnSpc>
              <a:spcAft>
                <a:spcPts val="1001"/>
              </a:spcAft>
              <a:buClr>
                <a:srgbClr val="F5F5F0"/>
              </a:buClr>
              <a:buFont typeface="Symbol" charset="2"/>
              <a:buChar char=""/>
            </a:pPr>
            <a:r>
              <a:rPr lang="en-US" sz="1600" b="0" u="none" strike="noStrike">
                <a:solidFill>
                  <a:srgbClr val="F5F5F0"/>
                </a:solidFill>
                <a:effectLst/>
                <a:uFillTx/>
                <a:latin typeface="Calibri"/>
                <a:ea typeface="Calibri"/>
              </a:rPr>
              <a:t>User-scoped and cross-repo branch policies need to be rebuilt by hand</a:t>
            </a:r>
            <a:endParaRPr lang="en-US" sz="1600" b="0" u="none" strike="noStrike">
              <a:solidFill>
                <a:srgbClr val="000000"/>
              </a:solidFill>
              <a:effectLst/>
              <a:uFillTx/>
              <a:latin typeface="Arial"/>
            </a:endParaRPr>
          </a:p>
          <a:p>
            <a:pPr marL="343080" indent="-343080" defTabSz="914400">
              <a:lnSpc>
                <a:spcPct val="110000"/>
              </a:lnSpc>
              <a:spcAft>
                <a:spcPts val="1001"/>
              </a:spcAft>
              <a:buClr>
                <a:srgbClr val="F5F5F0"/>
              </a:buClr>
              <a:buFont typeface="Symbol" charset="2"/>
              <a:buChar char=""/>
            </a:pPr>
            <a:r>
              <a:rPr lang="en-US" sz="1600" b="0" u="none" strike="noStrike">
                <a:solidFill>
                  <a:srgbClr val="F5F5F0"/>
                </a:solidFill>
                <a:effectLst/>
                <a:uFillTx/>
                <a:latin typeface="Calibri"/>
                <a:ea typeface="Calibri"/>
              </a:rPr>
              <a:t>TFVC repos need converting to Git first — no direct path</a:t>
            </a:r>
            <a:endParaRPr lang="en-US" sz="1600" b="0" u="none" strike="noStrike">
              <a:solidFill>
                <a:srgbClr val="000000"/>
              </a:solidFill>
              <a:effectLst/>
              <a:uFillTx/>
              <a:latin typeface="Arial"/>
            </a:endParaRPr>
          </a:p>
          <a:p>
            <a:pPr marL="343080" indent="-343080" defTabSz="914400">
              <a:lnSpc>
                <a:spcPct val="110000"/>
              </a:lnSpc>
              <a:spcAft>
                <a:spcPts val="1001"/>
              </a:spcAft>
              <a:buClr>
                <a:srgbClr val="F5F5F0"/>
              </a:buClr>
              <a:buFont typeface="Symbol" charset="2"/>
              <a:buChar char=""/>
            </a:pPr>
            <a:r>
              <a:rPr lang="en-US" sz="1600" b="0" u="none" strike="noStrike">
                <a:solidFill>
                  <a:srgbClr val="F5F5F0"/>
                </a:solidFill>
                <a:effectLst/>
                <a:uFillTx/>
                <a:latin typeface="Calibri"/>
                <a:ea typeface="Calibri"/>
              </a:rPr>
              <a:t>Identities carried over as mannequins</a:t>
            </a:r>
            <a:endParaRPr lang="en-US" sz="1600" b="0" u="none" strike="noStrike">
              <a:solidFill>
                <a:srgbClr val="000000"/>
              </a:solidFill>
              <a:effectLst/>
              <a:uFillTx/>
              <a:latin typeface="Arial"/>
            </a:endParaRPr>
          </a:p>
        </p:txBody>
      </p:sp>
      <p:sp>
        <p:nvSpPr>
          <p:cNvPr id="119" name="Shape 13"/>
          <p:cNvSpPr/>
          <p:nvPr/>
        </p:nvSpPr>
        <p:spPr>
          <a:xfrm>
            <a:off x="548640" y="5852160"/>
            <a:ext cx="11063880" cy="86832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0" name="Text 14"/>
          <p:cNvSpPr/>
          <p:nvPr/>
        </p:nvSpPr>
        <p:spPr>
          <a:xfrm>
            <a:off x="548640" y="5852160"/>
            <a:ext cx="11063880" cy="868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 word “repo” survives the migration. The project-level boundary it used to sit inside — shared config, ownership, access — doesn’t come with it.</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1082EDC3-9E3A-4632-8BB7-D846CE2FCF4B}" type="slidenum">
              <a:rPr/>
              <a:t>10</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113"/>
                                  </p:tgtEl>
                                  <p:attrNameLst>
                                    <p:attrName>style.visibility</p:attrName>
                                  </p:attrNameLst>
                                </p:cBhvr>
                                <p:to>
                                  <p:strVal val="visible"/>
                                </p:to>
                              </p:set>
                              <p:animEffect transition="in" filter="fade">
                                <p:cBhvr additive="repl">
                                  <p:cTn id="6" dur="500"/>
                                  <p:tgtEl>
                                    <p:spTgt spid="113"/>
                                  </p:tgtEl>
                                </p:cBhvr>
                              </p:animEffect>
                            </p:childTnLst>
                          </p:cTn>
                        </p:par>
                        <p:par>
                          <p:cTn id="7" presetID="10" presetClass="entr" fill="hold" nodeType="clickEffect">
                            <p:stCondLst>
                              <p:cond delay="0"/>
                            </p:stCondLst>
                            <p:childTnLst>
                              <p:set>
                                <p:cBhvr>
                                  <p:cTn id="8" dur="1" fill="hold">
                                    <p:stCondLst>
                                      <p:cond delay="0"/>
                                    </p:stCondLst>
                                  </p:cTn>
                                  <p:tgtEl>
                                    <p:spTgt spid="114"/>
                                  </p:tgtEl>
                                  <p:attrNameLst>
                                    <p:attrName>style.visibility</p:attrName>
                                  </p:attrNameLst>
                                </p:cBhvr>
                                <p:to>
                                  <p:strVal val="visible"/>
                                </p:to>
                              </p:set>
                              <p:animEffect transition="in" filter="fade">
                                <p:cBhvr additive="repl">
                                  <p:cTn id="9" dur="500"/>
                                  <p:tgtEl>
                                    <p:spTgt spid="114"/>
                                  </p:tgtEl>
                                </p:cBhvr>
                              </p:animEffect>
                            </p:childTnLst>
                          </p:cTn>
                        </p:par>
                        <p:par>
                          <p:cTn id="10" presetID="10" presetClass="entr"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additive="repl">
                                  <p:cTn id="12" dur="500"/>
                                  <p:tgtEl>
                                    <p:spTgt spid="115"/>
                                  </p:tgtEl>
                                </p:cBhvr>
                              </p:animEffect>
                            </p:childTnLst>
                          </p:cTn>
                        </p:par>
                      </p:childTnLst>
                    </p:cTn>
                  </p:par>
                  <p:par>
                    <p:cTn id="13" fill="hold">
                      <p:stCondLst>
                        <p:cond delay="indefinite"/>
                      </p:stCondLst>
                      <p:childTnLst>
                        <p:par>
                          <p:cTn id="14" presetID="10" presetClass="entr" fill="hold" nodeType="clickEffect">
                            <p:stCondLst>
                              <p:cond delay="0"/>
                            </p:stCondLst>
                            <p:childTnLst>
                              <p:set>
                                <p:cBhvr>
                                  <p:cTn id="15" dur="1" fill="hold">
                                    <p:stCondLst>
                                      <p:cond delay="0"/>
                                    </p:stCondLst>
                                  </p:cTn>
                                  <p:tgtEl>
                                    <p:spTgt spid="116"/>
                                  </p:tgtEl>
                                  <p:attrNameLst>
                                    <p:attrName>style.visibility</p:attrName>
                                  </p:attrNameLst>
                                </p:cBhvr>
                                <p:to>
                                  <p:strVal val="visible"/>
                                </p:to>
                              </p:set>
                              <p:animEffect transition="in" filter="fade">
                                <p:cBhvr additive="repl">
                                  <p:cTn id="16" dur="500"/>
                                  <p:tgtEl>
                                    <p:spTgt spid="116"/>
                                  </p:tgtEl>
                                </p:cBhvr>
                              </p:animEffect>
                            </p:childTnLst>
                          </p:cTn>
                        </p:par>
                        <p:par>
                          <p:cTn id="17" presetID="10" presetClass="entr"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additive="repl">
                                  <p:cTn id="19" dur="500"/>
                                  <p:tgtEl>
                                    <p:spTgt spid="117"/>
                                  </p:tgtEl>
                                </p:cBhvr>
                              </p:animEffect>
                            </p:childTnLst>
                          </p:cTn>
                        </p:par>
                        <p:par>
                          <p:cTn id="20" presetID="10" presetClass="entr" fill="hold" nodeType="clickEffect">
                            <p:stCondLst>
                              <p:cond delay="0"/>
                            </p:stCondLst>
                            <p:childTnLst>
                              <p:set>
                                <p:cBhvr>
                                  <p:cTn id="21" dur="1" fill="hold">
                                    <p:stCondLst>
                                      <p:cond delay="0"/>
                                    </p:stCondLst>
                                  </p:cTn>
                                  <p:tgtEl>
                                    <p:spTgt spid="118"/>
                                  </p:tgtEl>
                                  <p:attrNameLst>
                                    <p:attrName>style.visibility</p:attrName>
                                  </p:attrNameLst>
                                </p:cBhvr>
                                <p:to>
                                  <p:strVal val="visible"/>
                                </p:to>
                              </p:set>
                              <p:animEffect transition="in" filter="fade">
                                <p:cBhvr additive="repl">
                                  <p:cTn id="22" dur="500"/>
                                  <p:tgtEl>
                                    <p:spTgt spid="118"/>
                                  </p:tgtEl>
                                </p:cBhvr>
                              </p:animEffect>
                            </p:childTnLst>
                          </p:cTn>
                        </p:par>
                      </p:childTnLst>
                    </p:cTn>
                  </p:par>
                  <p:par>
                    <p:cTn id="23" fill="hold">
                      <p:stCondLst>
                        <p:cond delay="indefinite"/>
                      </p:stCondLst>
                      <p:childTnLst>
                        <p:par>
                          <p:cTn id="24" presetID="10" presetClass="entr" fill="hold" nodeType="clickEffect">
                            <p:stCondLst>
                              <p:cond delay="0"/>
                            </p:stCondLst>
                            <p:childTnLst>
                              <p:set>
                                <p:cBhvr>
                                  <p:cTn id="25" dur="1" fill="hold">
                                    <p:stCondLst>
                                      <p:cond delay="0"/>
                                    </p:stCondLst>
                                  </p:cTn>
                                  <p:tgtEl>
                                    <p:spTgt spid="119"/>
                                  </p:tgtEl>
                                  <p:attrNameLst>
                                    <p:attrName>style.visibility</p:attrName>
                                  </p:attrNameLst>
                                </p:cBhvr>
                                <p:to>
                                  <p:strVal val="visible"/>
                                </p:to>
                              </p:set>
                              <p:animEffect transition="in" filter="fade">
                                <p:cBhvr additive="repl">
                                  <p:cTn id="26" dur="500"/>
                                  <p:tgtEl>
                                    <p:spTgt spid="119"/>
                                  </p:tgtEl>
                                </p:cBhvr>
                              </p:animEffect>
                            </p:childTnLst>
                          </p:cTn>
                        </p:par>
                        <p:par>
                          <p:cTn id="27" presetID="10" presetClass="entr" fill="hold" nodeType="clickEffect">
                            <p:stCondLst>
                              <p:cond delay="0"/>
                            </p:stCondLst>
                            <p:childTnLst>
                              <p:set>
                                <p:cBhvr>
                                  <p:cTn id="28" dur="1" fill="hold">
                                    <p:stCondLst>
                                      <p:cond delay="0"/>
                                    </p:stCondLst>
                                  </p:cTn>
                                  <p:tgtEl>
                                    <p:spTgt spid="120"/>
                                  </p:tgtEl>
                                  <p:attrNameLst>
                                    <p:attrName>style.visibility</p:attrName>
                                  </p:attrNameLst>
                                </p:cBhvr>
                                <p:to>
                                  <p:strVal val="visible"/>
                                </p:to>
                              </p:set>
                              <p:animEffect transition="in" filter="fade">
                                <p:cBhvr additive="repl">
                                  <p:cTn id="29" dur="500"/>
                                  <p:tgtEl>
                                    <p:spTgt spid="120"/>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1"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22" name="Image 0" descr="/home/claude/pptx-build/assets/icons/FaBook-FFFFFF-200.png"/>
          <p:cNvPicPr/>
          <p:nvPr/>
        </p:nvPicPr>
        <p:blipFill>
          <a:blip r:embed="rId3"/>
          <a:stretch/>
        </p:blipFill>
        <p:spPr>
          <a:xfrm>
            <a:off x="685800" y="594360"/>
            <a:ext cx="292320" cy="292320"/>
          </a:xfrm>
          <a:prstGeom prst="rect">
            <a:avLst/>
          </a:prstGeom>
          <a:noFill/>
          <a:ln w="0">
            <a:noFill/>
          </a:ln>
        </p:spPr>
      </p:pic>
      <p:sp>
        <p:nvSpPr>
          <p:cNvPr id="123"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A FIELD GUIDE TO THE LOCAL SPECIES</a:t>
            </a:r>
            <a:endParaRPr lang="en-US" sz="1500" b="0" u="none" strike="noStrike">
              <a:solidFill>
                <a:srgbClr val="000000"/>
              </a:solidFill>
              <a:effectLst/>
              <a:uFillTx/>
              <a:latin typeface="Arial"/>
            </a:endParaRPr>
          </a:p>
        </p:txBody>
      </p:sp>
      <p:sp>
        <p:nvSpPr>
          <p:cNvPr id="124"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Wiki: The Pages Travel, the Structure Doesn’t</a:t>
            </a:r>
            <a:endParaRPr lang="en-US" sz="3200" b="0" u="none" strike="noStrike">
              <a:solidFill>
                <a:srgbClr val="000000"/>
              </a:solidFill>
              <a:effectLst/>
              <a:uFillTx/>
              <a:latin typeface="Arial"/>
            </a:endParaRPr>
          </a:p>
        </p:txBody>
      </p:sp>
      <p:sp>
        <p:nvSpPr>
          <p:cNvPr id="125" name="Shape 3"/>
          <p:cNvSpPr/>
          <p:nvPr/>
        </p:nvSpPr>
        <p:spPr>
          <a:xfrm>
            <a:off x="548640" y="1737360"/>
            <a:ext cx="11063880" cy="2834280"/>
          </a:xfrm>
          <a:prstGeom prst="roundRect">
            <a:avLst>
              <a:gd name="adj" fmla="val 3871"/>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126" name="Text 4"/>
          <p:cNvSpPr/>
          <p:nvPr/>
        </p:nvSpPr>
        <p:spPr>
          <a:xfrm>
            <a:off x="914400" y="1965960"/>
            <a:ext cx="10332360" cy="2377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0000"/>
              </a:lnSpc>
              <a:tabLst>
                <a:tab pos="0" algn="l"/>
              </a:tabLst>
            </a:pPr>
            <a:r>
              <a:rPr lang="en-US" sz="2000" b="0" u="none" strike="noStrike">
                <a:solidFill>
                  <a:srgbClr val="2B2B2B"/>
                </a:solidFill>
                <a:effectLst/>
                <a:uFillTx/>
                <a:latin typeface="Calibri"/>
                <a:ea typeface="Calibri"/>
              </a:rPr>
              <a:t>Both wikis are Git repos under the hood, so the pages copy with a clone and a push. </a:t>
            </a:r>
            <a:endParaRPr lang="en-US" sz="2000" b="0" u="none" strike="noStrike">
              <a:solidFill>
                <a:srgbClr val="000000"/>
              </a:solidFill>
              <a:effectLst/>
              <a:uFillTx/>
              <a:latin typeface="Arial"/>
            </a:endParaRPr>
          </a:p>
          <a:p>
            <a:pPr defTabSz="914400">
              <a:lnSpc>
                <a:spcPct val="130000"/>
              </a:lnSpc>
              <a:tabLst>
                <a:tab pos="0" algn="l"/>
              </a:tabLst>
            </a:pPr>
            <a:endParaRPr lang="en-US" sz="2000" b="0" u="none" strike="noStrike">
              <a:solidFill>
                <a:srgbClr val="000000"/>
              </a:solidFill>
              <a:effectLst/>
              <a:uFillTx/>
              <a:latin typeface="Arial"/>
            </a:endParaRPr>
          </a:p>
          <a:p>
            <a:pPr defTabSz="914400">
              <a:lnSpc>
                <a:spcPct val="130000"/>
              </a:lnSpc>
              <a:tabLst>
                <a:tab pos="0" algn="l"/>
              </a:tabLst>
            </a:pPr>
            <a:r>
              <a:rPr lang="en-US" sz="2000" b="1" u="none" strike="noStrike">
                <a:solidFill>
                  <a:srgbClr val="2B2B2B"/>
                </a:solidFill>
                <a:effectLst/>
                <a:uFillTx/>
                <a:latin typeface="Calibri"/>
                <a:ea typeface="Calibri"/>
              </a:rPr>
              <a:t>What doesn’t copy cleanly: </a:t>
            </a:r>
            <a:r>
              <a:rPr lang="en-US" sz="2000" b="0" u="none" strike="noStrike">
                <a:solidFill>
                  <a:srgbClr val="2B2B2B"/>
                </a:solidFill>
                <a:effectLst/>
                <a:uFillTx/>
                <a:latin typeface="Calibri"/>
                <a:ea typeface="Calibri"/>
              </a:rPr>
              <a:t>page order and nesting (Azure DevOps’ .order files and folders; GitHub’s wiki page list is flat), and Azure DevOps-only markdown such as [[_TOC_]] and #123 work-item links.</a:t>
            </a:r>
            <a:endParaRPr lang="en-US" sz="2000" b="0" u="none" strike="noStrike">
              <a:solidFill>
                <a:srgbClr val="000000"/>
              </a:solidFill>
              <a:effectLst/>
              <a:uFillTx/>
              <a:latin typeface="Arial"/>
            </a:endParaRPr>
          </a:p>
        </p:txBody>
      </p:sp>
      <p:sp>
        <p:nvSpPr>
          <p:cNvPr id="127" name="Rounded Rectangle 30"/>
          <p:cNvSpPr/>
          <p:nvPr/>
        </p:nvSpPr>
        <p:spPr>
          <a:xfrm>
            <a:off x="548640" y="4965120"/>
            <a:ext cx="11063880" cy="71280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 pages copy in minutes. The structure and the Azure DevOps-only markdown are the real work.</a:t>
            </a:r>
            <a:endParaRPr lang="en-US" sz="1500" b="0" u="none" strike="noStrike">
              <a:solidFill>
                <a:srgbClr val="FFFFFF"/>
              </a:solidFill>
              <a:effectLst/>
              <a:uFillTx/>
              <a:latin typeface="Arial"/>
            </a:endParaRPr>
          </a:p>
        </p:txBody>
      </p:sp>
      <p:sp>
        <p:nvSpPr>
          <p:cNvPr id="2" name="PlaceHolder 1"/>
          <p:cNvSpPr>
            <a:spLocks noGrp="1"/>
          </p:cNvSpPr>
          <p:nvPr>
            <p:ph type="sldNum" idx="1"/>
          </p:nvPr>
        </p:nvSpPr>
        <p:spPr/>
        <p:txBody>
          <a:bodyPr/>
          <a:lstStyle/>
          <a:p>
            <a:fld id="{6B3F147C-600E-4088-94AA-33DE0DCB405E}" type="slidenum">
              <a:rPr/>
              <a:t>11</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127"/>
                                  </p:tgtEl>
                                  <p:attrNameLst>
                                    <p:attrName>style.visibility</p:attrName>
                                  </p:attrNameLst>
                                </p:cBhvr>
                                <p:to>
                                  <p:strVal val="visible"/>
                                </p:to>
                              </p:set>
                              <p:animEffect transition="in" filter="fade">
                                <p:cBhvr additive="repl">
                                  <p:cTn id="6" dur="500"/>
                                  <p:tgtEl>
                                    <p:spTgt spid="127"/>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29" name="Image 0" descr="/home/claude/pptx-build/assets/icons/FaBoxOpen-FFFFFF-200.png"/>
          <p:cNvPicPr/>
          <p:nvPr/>
        </p:nvPicPr>
        <p:blipFill>
          <a:blip r:embed="rId3"/>
          <a:stretch/>
        </p:blipFill>
        <p:spPr>
          <a:xfrm>
            <a:off x="685800" y="594360"/>
            <a:ext cx="292320" cy="292320"/>
          </a:xfrm>
          <a:prstGeom prst="rect">
            <a:avLst/>
          </a:prstGeom>
          <a:noFill/>
          <a:ln w="0">
            <a:noFill/>
          </a:ln>
        </p:spPr>
      </p:pic>
      <p:sp>
        <p:nvSpPr>
          <p:cNvPr id="130"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A FIELD GUIDE TO THE LOCAL SPECIES</a:t>
            </a:r>
            <a:endParaRPr lang="en-US" sz="1500" b="0" u="none" strike="noStrike">
              <a:solidFill>
                <a:srgbClr val="000000"/>
              </a:solidFill>
              <a:effectLst/>
              <a:uFillTx/>
              <a:latin typeface="Arial"/>
            </a:endParaRPr>
          </a:p>
        </p:txBody>
      </p:sp>
      <p:sp>
        <p:nvSpPr>
          <p:cNvPr id="131"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Packages &amp; Artifacts: A Decision, Not a Rewrite</a:t>
            </a:r>
            <a:endParaRPr lang="en-US" sz="3200" b="0" u="none" strike="noStrike">
              <a:solidFill>
                <a:srgbClr val="000000"/>
              </a:solidFill>
              <a:effectLst/>
              <a:uFillTx/>
              <a:latin typeface="Arial"/>
            </a:endParaRPr>
          </a:p>
        </p:txBody>
      </p:sp>
      <p:sp>
        <p:nvSpPr>
          <p:cNvPr id="132" name="Shape 3"/>
          <p:cNvSpPr/>
          <p:nvPr/>
        </p:nvSpPr>
        <p:spPr>
          <a:xfrm>
            <a:off x="548640" y="1691640"/>
            <a:ext cx="3428640" cy="3382920"/>
          </a:xfrm>
          <a:prstGeom prst="roundRect">
            <a:avLst>
              <a:gd name="adj" fmla="val 324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133" name="Shape 4"/>
          <p:cNvSpPr/>
          <p:nvPr/>
        </p:nvSpPr>
        <p:spPr>
          <a:xfrm>
            <a:off x="822960" y="1920240"/>
            <a:ext cx="603000" cy="603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34" name="Image 1" descr="/home/claude/pptx-build/assets/icons/FaBoxOpen-FFFFFF-200.png"/>
          <p:cNvPicPr/>
          <p:nvPr/>
        </p:nvPicPr>
        <p:blipFill>
          <a:blip r:embed="rId3"/>
          <a:stretch/>
        </p:blipFill>
        <p:spPr>
          <a:xfrm>
            <a:off x="969120" y="2066400"/>
            <a:ext cx="310680" cy="310680"/>
          </a:xfrm>
          <a:prstGeom prst="rect">
            <a:avLst/>
          </a:prstGeom>
          <a:noFill/>
          <a:ln w="0">
            <a:noFill/>
          </a:ln>
        </p:spPr>
      </p:pic>
      <p:sp>
        <p:nvSpPr>
          <p:cNvPr id="135" name="Text 5"/>
          <p:cNvSpPr/>
          <p:nvPr/>
        </p:nvSpPr>
        <p:spPr>
          <a:xfrm>
            <a:off x="822960" y="2670120"/>
            <a:ext cx="288000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F3D2C"/>
                </a:solidFill>
                <a:effectLst/>
                <a:uFillTx/>
                <a:latin typeface="Cambria"/>
                <a:ea typeface="Cambria"/>
              </a:rPr>
              <a:t>Keep Azure Artifacts</a:t>
            </a:r>
            <a:endParaRPr lang="en-US" sz="1700" b="0" u="none" strike="noStrike">
              <a:solidFill>
                <a:srgbClr val="000000"/>
              </a:solidFill>
              <a:effectLst/>
              <a:uFillTx/>
              <a:latin typeface="Arial"/>
            </a:endParaRPr>
          </a:p>
        </p:txBody>
      </p:sp>
      <p:sp>
        <p:nvSpPr>
          <p:cNvPr id="136" name="Text 6"/>
          <p:cNvSpPr/>
          <p:nvPr/>
        </p:nvSpPr>
        <p:spPr>
          <a:xfrm>
            <a:off x="822960" y="3364920"/>
            <a:ext cx="2880000" cy="1599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Change nothing. GitHub Actions can publish to and consume from an existing Azure Artifacts feed.</a:t>
            </a:r>
            <a:endParaRPr lang="en-US" sz="1400" b="0" u="none" strike="noStrike">
              <a:solidFill>
                <a:srgbClr val="000000"/>
              </a:solidFill>
              <a:effectLst/>
              <a:uFillTx/>
              <a:latin typeface="Arial"/>
            </a:endParaRPr>
          </a:p>
        </p:txBody>
      </p:sp>
      <p:sp>
        <p:nvSpPr>
          <p:cNvPr id="137" name="Shape 7"/>
          <p:cNvSpPr/>
          <p:nvPr/>
        </p:nvSpPr>
        <p:spPr>
          <a:xfrm>
            <a:off x="4251960" y="1691640"/>
            <a:ext cx="3428640" cy="3382920"/>
          </a:xfrm>
          <a:prstGeom prst="roundRect">
            <a:avLst>
              <a:gd name="adj" fmla="val 324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138" name="Shape 8"/>
          <p:cNvSpPr/>
          <p:nvPr/>
        </p:nvSpPr>
        <p:spPr>
          <a:xfrm>
            <a:off x="4526280" y="1920240"/>
            <a:ext cx="603000" cy="603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39" name="Image 2" descr="/home/claude/pptx-build/assets/icons/FaGithub-FFFFFF-200.png"/>
          <p:cNvPicPr/>
          <p:nvPr/>
        </p:nvPicPr>
        <p:blipFill>
          <a:blip r:embed="rId4"/>
          <a:stretch/>
        </p:blipFill>
        <p:spPr>
          <a:xfrm>
            <a:off x="4672440" y="2066400"/>
            <a:ext cx="310680" cy="310680"/>
          </a:xfrm>
          <a:prstGeom prst="rect">
            <a:avLst/>
          </a:prstGeom>
          <a:noFill/>
          <a:ln w="0">
            <a:noFill/>
          </a:ln>
        </p:spPr>
      </p:pic>
      <p:sp>
        <p:nvSpPr>
          <p:cNvPr id="140" name="Text 9"/>
          <p:cNvSpPr/>
          <p:nvPr/>
        </p:nvSpPr>
        <p:spPr>
          <a:xfrm>
            <a:off x="4526280" y="2670120"/>
            <a:ext cx="288000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F3D2C"/>
                </a:solidFill>
                <a:effectLst/>
                <a:uFillTx/>
                <a:latin typeface="Cambria"/>
                <a:ea typeface="Cambria"/>
              </a:rPr>
              <a:t>Move to GitHub Packages</a:t>
            </a:r>
            <a:endParaRPr lang="en-US" sz="1700" b="0" u="none" strike="noStrike">
              <a:solidFill>
                <a:srgbClr val="000000"/>
              </a:solidFill>
              <a:effectLst/>
              <a:uFillTx/>
              <a:latin typeface="Arial"/>
            </a:endParaRPr>
          </a:p>
        </p:txBody>
      </p:sp>
      <p:sp>
        <p:nvSpPr>
          <p:cNvPr id="141" name="Text 10"/>
          <p:cNvSpPr/>
          <p:nvPr/>
        </p:nvSpPr>
        <p:spPr>
          <a:xfrm>
            <a:off x="4526280" y="3364920"/>
            <a:ext cx="2880000" cy="1599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Consolidate onto one platform, if your feeds fit: no PyPI, Universal Packages or upstream sources.</a:t>
            </a:r>
            <a:endParaRPr lang="en-US" sz="1400" b="0" u="none" strike="noStrike">
              <a:solidFill>
                <a:srgbClr val="000000"/>
              </a:solidFill>
              <a:effectLst/>
              <a:uFillTx/>
              <a:latin typeface="Arial"/>
            </a:endParaRPr>
          </a:p>
        </p:txBody>
      </p:sp>
      <p:sp>
        <p:nvSpPr>
          <p:cNvPr id="142" name="Shape 11"/>
          <p:cNvSpPr/>
          <p:nvPr/>
        </p:nvSpPr>
        <p:spPr>
          <a:xfrm>
            <a:off x="7955280" y="1691640"/>
            <a:ext cx="3428640" cy="3382920"/>
          </a:xfrm>
          <a:prstGeom prst="roundRect">
            <a:avLst>
              <a:gd name="adj" fmla="val 324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143" name="Shape 12"/>
          <p:cNvSpPr/>
          <p:nvPr/>
        </p:nvSpPr>
        <p:spPr>
          <a:xfrm>
            <a:off x="8229600" y="1920240"/>
            <a:ext cx="603000" cy="603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44" name="Image 3" descr="/home/claude/pptx-build/assets/icons/FaExchangeAlt-FFFFFF-200.png"/>
          <p:cNvPicPr/>
          <p:nvPr/>
        </p:nvPicPr>
        <p:blipFill>
          <a:blip r:embed="rId5"/>
          <a:stretch/>
        </p:blipFill>
        <p:spPr>
          <a:xfrm>
            <a:off x="8375760" y="2066400"/>
            <a:ext cx="310680" cy="310680"/>
          </a:xfrm>
          <a:prstGeom prst="rect">
            <a:avLst/>
          </a:prstGeom>
          <a:noFill/>
          <a:ln w="0">
            <a:noFill/>
          </a:ln>
        </p:spPr>
      </p:pic>
      <p:sp>
        <p:nvSpPr>
          <p:cNvPr id="145" name="Text 13"/>
          <p:cNvSpPr/>
          <p:nvPr/>
        </p:nvSpPr>
        <p:spPr>
          <a:xfrm>
            <a:off x="8229600" y="2670120"/>
            <a:ext cx="288000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F3D2C"/>
                </a:solidFill>
                <a:effectLst/>
                <a:uFillTx/>
                <a:latin typeface="Cambria"/>
                <a:ea typeface="Cambria"/>
              </a:rPr>
              <a:t>Both, during transition</a:t>
            </a:r>
            <a:endParaRPr lang="en-US" sz="1700" b="0" u="none" strike="noStrike">
              <a:solidFill>
                <a:srgbClr val="000000"/>
              </a:solidFill>
              <a:effectLst/>
              <a:uFillTx/>
              <a:latin typeface="Arial"/>
            </a:endParaRPr>
          </a:p>
        </p:txBody>
      </p:sp>
      <p:sp>
        <p:nvSpPr>
          <p:cNvPr id="146" name="Text 14"/>
          <p:cNvSpPr/>
          <p:nvPr/>
        </p:nvSpPr>
        <p:spPr>
          <a:xfrm>
            <a:off x="8229600" y="3364920"/>
            <a:ext cx="2880000" cy="1599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ea typeface="Calibri"/>
              </a:rPr>
              <a:t>Dual-publish while consumers migrate at their own pace. Buys time, costs a little duplication.</a:t>
            </a:r>
            <a:endParaRPr lang="en-US" sz="1400" b="0" u="none" strike="noStrike">
              <a:solidFill>
                <a:srgbClr val="000000"/>
              </a:solidFill>
              <a:effectLst/>
              <a:uFillTx/>
              <a:latin typeface="Arial"/>
            </a:endParaRPr>
          </a:p>
        </p:txBody>
      </p:sp>
      <p:sp>
        <p:nvSpPr>
          <p:cNvPr id="147" name="Shape 15"/>
          <p:cNvSpPr/>
          <p:nvPr/>
        </p:nvSpPr>
        <p:spPr>
          <a:xfrm>
            <a:off x="548640" y="5257800"/>
            <a:ext cx="11063880" cy="86832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8" name="Text 16"/>
          <p:cNvSpPr/>
          <p:nvPr/>
        </p:nvSpPr>
        <p:spPr>
          <a:xfrm>
            <a:off x="548640" y="5257800"/>
            <a:ext cx="11063880" cy="868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 realistic target: GitHub Actions publishing to an existing Azure Artifacts feed — the answer for teams that can’t repoint every consumer at cutover.</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E24E0FBB-ADFD-4CA3-8C5D-6E3BA8BC61F3}" type="slidenum">
              <a:rPr/>
              <a:t>12</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147"/>
                                  </p:tgtEl>
                                  <p:attrNameLst>
                                    <p:attrName>style.visibility</p:attrName>
                                  </p:attrNameLst>
                                </p:cBhvr>
                                <p:to>
                                  <p:strVal val="visible"/>
                                </p:to>
                              </p:set>
                              <p:animEffect transition="in" filter="fade">
                                <p:cBhvr additive="repl">
                                  <p:cTn id="6" dur="500"/>
                                  <p:tgtEl>
                                    <p:spTgt spid="147"/>
                                  </p:tgtEl>
                                </p:cBhvr>
                              </p:animEffect>
                            </p:childTnLst>
                          </p:cTn>
                        </p:par>
                        <p:par>
                          <p:cTn id="7" presetID="10" presetClass="entr" fill="hold" nodeType="clickEffect">
                            <p:stCondLst>
                              <p:cond delay="0"/>
                            </p:stCondLst>
                            <p:childTnLst>
                              <p:set>
                                <p:cBhvr>
                                  <p:cTn id="8" dur="1" fill="hold">
                                    <p:stCondLst>
                                      <p:cond delay="0"/>
                                    </p:stCondLst>
                                  </p:cTn>
                                  <p:tgtEl>
                                    <p:spTgt spid="148"/>
                                  </p:tgtEl>
                                  <p:attrNameLst>
                                    <p:attrName>style.visibility</p:attrName>
                                  </p:attrNameLst>
                                </p:cBhvr>
                                <p:to>
                                  <p:strVal val="visible"/>
                                </p:to>
                              </p:set>
                              <p:animEffect transition="in" filter="fade">
                                <p:cBhvr additive="repl">
                                  <p:cTn id="9" dur="500"/>
                                  <p:tgtEl>
                                    <p:spTgt spid="148"/>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9"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50" name="Image 0" descr="/home/claude/pptx-build/assets/icons/FaChartBar-FFFFFF-200.png"/>
          <p:cNvPicPr/>
          <p:nvPr/>
        </p:nvPicPr>
        <p:blipFill>
          <a:blip r:embed="rId3"/>
          <a:stretch/>
        </p:blipFill>
        <p:spPr>
          <a:xfrm>
            <a:off x="685800" y="594360"/>
            <a:ext cx="292320" cy="292320"/>
          </a:xfrm>
          <a:prstGeom prst="rect">
            <a:avLst/>
          </a:prstGeom>
          <a:noFill/>
          <a:ln w="0">
            <a:noFill/>
          </a:ln>
        </p:spPr>
      </p:pic>
      <p:sp>
        <p:nvSpPr>
          <p:cNvPr id="151"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A FIELD GUIDE TO THE LOCAL SPECIES</a:t>
            </a:r>
            <a:endParaRPr lang="en-US" sz="1500" b="0" u="none" strike="noStrike">
              <a:solidFill>
                <a:srgbClr val="000000"/>
              </a:solidFill>
              <a:effectLst/>
              <a:uFillTx/>
              <a:latin typeface="Arial"/>
            </a:endParaRPr>
          </a:p>
        </p:txBody>
      </p:sp>
      <p:sp>
        <p:nvSpPr>
          <p:cNvPr id="152"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Dashboards: A Partial Equivalent</a:t>
            </a:r>
            <a:endParaRPr lang="en-US" sz="3200" b="0" u="none" strike="noStrike">
              <a:solidFill>
                <a:srgbClr val="000000"/>
              </a:solidFill>
              <a:effectLst/>
              <a:uFillTx/>
              <a:latin typeface="Arial"/>
            </a:endParaRPr>
          </a:p>
        </p:txBody>
      </p:sp>
      <p:sp>
        <p:nvSpPr>
          <p:cNvPr id="153" name="Shape 3"/>
          <p:cNvSpPr/>
          <p:nvPr/>
        </p:nvSpPr>
        <p:spPr>
          <a:xfrm>
            <a:off x="548640" y="1691640"/>
            <a:ext cx="11063880" cy="2651400"/>
          </a:xfrm>
          <a:prstGeom prst="roundRect">
            <a:avLst>
              <a:gd name="adj" fmla="val 4138"/>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154" name="Text 4"/>
          <p:cNvSpPr/>
          <p:nvPr/>
        </p:nvSpPr>
        <p:spPr>
          <a:xfrm>
            <a:off x="914400" y="1920240"/>
            <a:ext cx="10332360" cy="219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5000"/>
              </a:lnSpc>
              <a:tabLst>
                <a:tab pos="0" algn="l"/>
              </a:tabLst>
            </a:pPr>
            <a:r>
              <a:rPr lang="en-US" sz="1900" b="0" u="none" strike="noStrike">
                <a:solidFill>
                  <a:srgbClr val="2B2B2B"/>
                </a:solidFill>
                <a:effectLst/>
                <a:uFillTx/>
                <a:latin typeface="Calibri"/>
                <a:ea typeface="Calibri"/>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b="0" u="none" strike="noStrike">
              <a:solidFill>
                <a:srgbClr val="000000"/>
              </a:solidFill>
              <a:effectLst/>
              <a:uFillTx/>
              <a:latin typeface="Arial"/>
            </a:endParaRPr>
          </a:p>
        </p:txBody>
      </p:sp>
      <p:sp>
        <p:nvSpPr>
          <p:cNvPr id="155" name="Shape 5"/>
          <p:cNvSpPr/>
          <p:nvPr/>
        </p:nvSpPr>
        <p:spPr>
          <a:xfrm>
            <a:off x="548640" y="4572000"/>
            <a:ext cx="11063880" cy="86832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6" name="Text 6"/>
          <p:cNvSpPr/>
          <p:nvPr/>
        </p:nvSpPr>
        <p:spPr>
          <a:xfrm>
            <a:off x="548640" y="4572000"/>
            <a:ext cx="11063880" cy="868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5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Neither platform hands you DORA. Agree on the four metrics first, then instrument them yourselves. That baseline outlives the migration.</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8BF99B91-E18B-4306-9B65-CA7D251CF792}" type="slidenum">
              <a:rPr/>
              <a:t>13</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155"/>
                                  </p:tgtEl>
                                  <p:attrNameLst>
                                    <p:attrName>style.visibility</p:attrName>
                                  </p:attrNameLst>
                                </p:cBhvr>
                                <p:to>
                                  <p:strVal val="visible"/>
                                </p:to>
                              </p:set>
                              <p:animEffect transition="in" filter="fade">
                                <p:cBhvr additive="repl">
                                  <p:cTn id="6" dur="500"/>
                                  <p:tgtEl>
                                    <p:spTgt spid="155"/>
                                  </p:tgtEl>
                                </p:cBhvr>
                              </p:animEffect>
                            </p:childTnLst>
                          </p:cTn>
                        </p:par>
                        <p:par>
                          <p:cTn id="7" presetID="10" presetClass="entr" fill="hold" nodeType="clickEffect">
                            <p:stCondLst>
                              <p:cond delay="0"/>
                            </p:stCondLst>
                            <p:childTnLst>
                              <p:set>
                                <p:cBhvr>
                                  <p:cTn id="8" dur="1" fill="hold">
                                    <p:stCondLst>
                                      <p:cond delay="0"/>
                                    </p:stCondLst>
                                  </p:cTn>
                                  <p:tgtEl>
                                    <p:spTgt spid="156"/>
                                  </p:tgtEl>
                                  <p:attrNameLst>
                                    <p:attrName>style.visibility</p:attrName>
                                  </p:attrNameLst>
                                </p:cBhvr>
                                <p:to>
                                  <p:strVal val="visible"/>
                                </p:to>
                              </p:set>
                              <p:animEffect transition="in" filter="fade">
                                <p:cBhvr additive="repl">
                                  <p:cTn id="9" dur="500"/>
                                  <p:tgtEl>
                                    <p:spTgt spid="156"/>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7"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58" name="Image 0" descr="/home/claude/pptx-build/assets/icons/FaLayerGroup-FFFFFF-200.png"/>
          <p:cNvPicPr/>
          <p:nvPr/>
        </p:nvPicPr>
        <p:blipFill>
          <a:blip r:embed="rId3"/>
          <a:stretch/>
        </p:blipFill>
        <p:spPr>
          <a:xfrm>
            <a:off x="685800" y="594360"/>
            <a:ext cx="292320" cy="292320"/>
          </a:xfrm>
          <a:prstGeom prst="rect">
            <a:avLst/>
          </a:prstGeom>
          <a:noFill/>
          <a:ln w="0">
            <a:noFill/>
          </a:ln>
        </p:spPr>
      </p:pic>
      <p:sp>
        <p:nvSpPr>
          <p:cNvPr id="159"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A FIELD GUIDE TO THE LOCAL SPECIES</a:t>
            </a:r>
            <a:endParaRPr lang="en-US" sz="1500" b="0" u="none" strike="noStrike">
              <a:solidFill>
                <a:srgbClr val="000000"/>
              </a:solidFill>
              <a:effectLst/>
              <a:uFillTx/>
              <a:latin typeface="Arial"/>
            </a:endParaRPr>
          </a:p>
        </p:txBody>
      </p:sp>
      <p:sp>
        <p:nvSpPr>
          <p:cNvPr id="160"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The Pattern</a:t>
            </a:r>
            <a:endParaRPr lang="en-US" sz="3200" b="0" u="none" strike="noStrike">
              <a:solidFill>
                <a:srgbClr val="000000"/>
              </a:solidFill>
              <a:effectLst/>
              <a:uFillTx/>
              <a:latin typeface="Arial"/>
            </a:endParaRPr>
          </a:p>
        </p:txBody>
      </p:sp>
      <p:sp>
        <p:nvSpPr>
          <p:cNvPr id="161" name="Text 3"/>
          <p:cNvSpPr/>
          <p:nvPr/>
        </p:nvSpPr>
        <p:spPr>
          <a:xfrm>
            <a:off x="548640" y="1691640"/>
            <a:ext cx="1106388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0" u="none" strike="noStrike">
                <a:solidFill>
                  <a:srgbClr val="1F3D2C"/>
                </a:solidFill>
                <a:effectLst/>
                <a:uFillTx/>
                <a:latin typeface="Calibri"/>
                <a:ea typeface="Cambria"/>
              </a:rPr>
              <a:t>Portable, standards-based artifacts usually travel best. Platform-specific behavior and data models create the real migration work.</a:t>
            </a:r>
            <a:endParaRPr lang="en-US" sz="2000" b="0" u="none" strike="noStrike">
              <a:solidFill>
                <a:srgbClr val="000000"/>
              </a:solidFill>
              <a:effectLst/>
              <a:uFillTx/>
              <a:latin typeface="Arial"/>
            </a:endParaRPr>
          </a:p>
        </p:txBody>
      </p:sp>
      <p:sp>
        <p:nvSpPr>
          <p:cNvPr id="162" name="Shape 4"/>
          <p:cNvSpPr/>
          <p:nvPr/>
        </p:nvSpPr>
        <p:spPr>
          <a:xfrm>
            <a:off x="548640" y="2971800"/>
            <a:ext cx="5348880" cy="2880000"/>
          </a:xfrm>
          <a:prstGeom prst="roundRect">
            <a:avLst>
              <a:gd name="adj" fmla="val 381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3" name="Text 5"/>
          <p:cNvSpPr/>
          <p:nvPr/>
        </p:nvSpPr>
        <p:spPr>
          <a:xfrm>
            <a:off x="822960" y="315468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F3D2C"/>
                </a:solidFill>
                <a:effectLst/>
                <a:uFillTx/>
                <a:latin typeface="Cambria"/>
                <a:ea typeface="Cambria"/>
              </a:rPr>
              <a:t>Portable</a:t>
            </a:r>
            <a:endParaRPr lang="en-US" sz="1900" b="0" u="none" strike="noStrike">
              <a:solidFill>
                <a:srgbClr val="000000"/>
              </a:solidFill>
              <a:effectLst/>
              <a:uFillTx/>
              <a:latin typeface="Arial"/>
            </a:endParaRPr>
          </a:p>
        </p:txBody>
      </p:sp>
      <p:sp>
        <p:nvSpPr>
          <p:cNvPr id="164" name="Text 6"/>
          <p:cNvSpPr/>
          <p:nvPr/>
        </p:nvSpPr>
        <p:spPr>
          <a:xfrm>
            <a:off x="822960" y="3703320"/>
            <a:ext cx="4800240" cy="201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343080" indent="-343080" defTabSz="914400">
              <a:lnSpc>
                <a:spcPct val="100000"/>
              </a:lnSpc>
              <a:spcAft>
                <a:spcPts val="1001"/>
              </a:spcAft>
              <a:buClr>
                <a:srgbClr val="2B2B2B"/>
              </a:buClr>
              <a:buFont typeface="Symbol" charset="2"/>
              <a:buChar char=""/>
            </a:pPr>
            <a:r>
              <a:rPr lang="en-US" sz="1650" b="0" u="none" strike="noStrike">
                <a:solidFill>
                  <a:srgbClr val="2B2B2B"/>
                </a:solidFill>
                <a:effectLst/>
                <a:uFillTx/>
                <a:latin typeface="Calibri"/>
                <a:ea typeface="Calibri"/>
              </a:rPr>
              <a:t>Repos — it’s Git on both sides</a:t>
            </a:r>
            <a:endParaRPr lang="en-US" sz="1650" b="0" u="none" strike="noStrike">
              <a:solidFill>
                <a:srgbClr val="000000"/>
              </a:solidFill>
              <a:effectLst/>
              <a:uFillTx/>
              <a:latin typeface="Arial"/>
            </a:endParaRPr>
          </a:p>
          <a:p>
            <a:pPr marL="343080" indent="-343080" defTabSz="914400">
              <a:lnSpc>
                <a:spcPct val="100000"/>
              </a:lnSpc>
              <a:buClr>
                <a:srgbClr val="2B2B2B"/>
              </a:buClr>
              <a:buFont typeface="Symbol" charset="2"/>
              <a:buChar char=""/>
            </a:pPr>
            <a:r>
              <a:rPr lang="en-US" sz="1650" b="0" u="none" strike="noStrike">
                <a:solidFill>
                  <a:srgbClr val="2B2B2B"/>
                </a:solidFill>
                <a:effectLst/>
                <a:uFillTx/>
                <a:latin typeface="Calibri"/>
                <a:ea typeface="Calibri"/>
              </a:rPr>
              <a:t>Wiki — also Git on both sides</a:t>
            </a:r>
            <a:endParaRPr lang="en-US" sz="1650" b="0" u="none" strike="noStrike">
              <a:solidFill>
                <a:srgbClr val="000000"/>
              </a:solidFill>
              <a:effectLst/>
              <a:uFillTx/>
              <a:latin typeface="Arial"/>
            </a:endParaRPr>
          </a:p>
        </p:txBody>
      </p:sp>
      <p:sp>
        <p:nvSpPr>
          <p:cNvPr id="165" name="Shape 7"/>
          <p:cNvSpPr/>
          <p:nvPr/>
        </p:nvSpPr>
        <p:spPr>
          <a:xfrm>
            <a:off x="6263640" y="2971800"/>
            <a:ext cx="5348880" cy="2880000"/>
          </a:xfrm>
          <a:prstGeom prst="roundRect">
            <a:avLst>
              <a:gd name="adj" fmla="val 3810"/>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6" name="Text 8"/>
          <p:cNvSpPr/>
          <p:nvPr/>
        </p:nvSpPr>
        <p:spPr>
          <a:xfrm>
            <a:off x="6537960" y="315468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F5F5F0"/>
                </a:solidFill>
                <a:effectLst/>
                <a:uFillTx/>
                <a:latin typeface="Cambria"/>
                <a:ea typeface="Cambria"/>
              </a:rPr>
              <a:t>Platform-specific</a:t>
            </a:r>
            <a:endParaRPr lang="en-US" sz="1900" b="0" u="none" strike="noStrike">
              <a:solidFill>
                <a:srgbClr val="000000"/>
              </a:solidFill>
              <a:effectLst/>
              <a:uFillTx/>
              <a:latin typeface="Arial"/>
            </a:endParaRPr>
          </a:p>
        </p:txBody>
      </p:sp>
      <p:sp>
        <p:nvSpPr>
          <p:cNvPr id="167" name="Text 9"/>
          <p:cNvSpPr/>
          <p:nvPr/>
        </p:nvSpPr>
        <p:spPr>
          <a:xfrm>
            <a:off x="6537960" y="3703320"/>
            <a:ext cx="4800240" cy="201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343080" indent="-343080" defTabSz="914400">
              <a:lnSpc>
                <a:spcPct val="100000"/>
              </a:lnSpc>
              <a:spcAft>
                <a:spcPts val="1001"/>
              </a:spcAft>
              <a:buClr>
                <a:srgbClr val="F5F5F0"/>
              </a:buClr>
              <a:buFont typeface="Symbol" charset="2"/>
              <a:buChar char=""/>
            </a:pPr>
            <a:r>
              <a:rPr lang="en-US" sz="1650" b="0" u="none" strike="noStrike">
                <a:solidFill>
                  <a:srgbClr val="F5F5F0"/>
                </a:solidFill>
                <a:effectLst/>
                <a:uFillTx/>
                <a:latin typeface="Calibri"/>
                <a:ea typeface="Calibri"/>
              </a:rPr>
              <a:t>Dashboards — partial equivalent, this section</a:t>
            </a:r>
            <a:endParaRPr lang="en-US" sz="1650" b="0" u="none" strike="noStrike">
              <a:solidFill>
                <a:srgbClr val="000000"/>
              </a:solidFill>
              <a:effectLst/>
              <a:uFillTx/>
              <a:latin typeface="Arial"/>
            </a:endParaRPr>
          </a:p>
          <a:p>
            <a:pPr marL="343080" indent="-343080" defTabSz="914400">
              <a:lnSpc>
                <a:spcPct val="100000"/>
              </a:lnSpc>
              <a:buClr>
                <a:srgbClr val="F5F5F0"/>
              </a:buClr>
              <a:buFont typeface="Symbol" charset="2"/>
              <a:buChar char=""/>
            </a:pPr>
            <a:r>
              <a:rPr lang="en-US" sz="1650" b="0" u="none" strike="noStrike">
                <a:solidFill>
                  <a:srgbClr val="F5F5F0"/>
                </a:solidFill>
                <a:effectLst/>
                <a:uFillTx/>
                <a:latin typeface="Calibri"/>
                <a:ea typeface="Calibri"/>
              </a:rPr>
              <a:t>Boards &amp; Test Plans — the whole next section</a:t>
            </a:r>
            <a:endParaRPr lang="en-US" sz="165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9CA9E25F-D499-45E5-8C34-F3E899D815E2}" type="slidenum">
              <a:rPr/>
              <a:t>14</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162"/>
                                  </p:tgtEl>
                                  <p:attrNameLst>
                                    <p:attrName>style.visibility</p:attrName>
                                  </p:attrNameLst>
                                </p:cBhvr>
                                <p:to>
                                  <p:strVal val="visible"/>
                                </p:to>
                              </p:set>
                              <p:animEffect transition="in" filter="fade">
                                <p:cBhvr additive="repl">
                                  <p:cTn id="6" dur="500"/>
                                  <p:tgtEl>
                                    <p:spTgt spid="162"/>
                                  </p:tgtEl>
                                </p:cBhvr>
                              </p:animEffect>
                            </p:childTnLst>
                          </p:cTn>
                        </p:par>
                        <p:par>
                          <p:cTn id="7" presetID="10" presetClass="entr" fill="hold" nodeType="clickEffect">
                            <p:stCondLst>
                              <p:cond delay="0"/>
                            </p:stCondLst>
                            <p:childTnLst>
                              <p:set>
                                <p:cBhvr>
                                  <p:cTn id="8" dur="1" fill="hold">
                                    <p:stCondLst>
                                      <p:cond delay="0"/>
                                    </p:stCondLst>
                                  </p:cTn>
                                  <p:tgtEl>
                                    <p:spTgt spid="163"/>
                                  </p:tgtEl>
                                  <p:attrNameLst>
                                    <p:attrName>style.visibility</p:attrName>
                                  </p:attrNameLst>
                                </p:cBhvr>
                                <p:to>
                                  <p:strVal val="visible"/>
                                </p:to>
                              </p:set>
                              <p:animEffect transition="in" filter="fade">
                                <p:cBhvr additive="repl">
                                  <p:cTn id="9" dur="500"/>
                                  <p:tgtEl>
                                    <p:spTgt spid="163"/>
                                  </p:tgtEl>
                                </p:cBhvr>
                              </p:animEffect>
                            </p:childTnLst>
                          </p:cTn>
                        </p:par>
                        <p:par>
                          <p:cTn id="10" presetID="10" presetClass="entr" fill="hold" nodeType="clickEffect">
                            <p:stCondLst>
                              <p:cond delay="0"/>
                            </p:stCondLst>
                            <p:childTnLst>
                              <p:set>
                                <p:cBhvr>
                                  <p:cTn id="11" dur="1" fill="hold">
                                    <p:stCondLst>
                                      <p:cond delay="0"/>
                                    </p:stCondLst>
                                  </p:cTn>
                                  <p:tgtEl>
                                    <p:spTgt spid="164"/>
                                  </p:tgtEl>
                                  <p:attrNameLst>
                                    <p:attrName>style.visibility</p:attrName>
                                  </p:attrNameLst>
                                </p:cBhvr>
                                <p:to>
                                  <p:strVal val="visible"/>
                                </p:to>
                              </p:set>
                              <p:animEffect transition="in" filter="fade">
                                <p:cBhvr additive="repl">
                                  <p:cTn id="12" dur="500"/>
                                  <p:tgtEl>
                                    <p:spTgt spid="164"/>
                                  </p:tgtEl>
                                </p:cBhvr>
                              </p:animEffect>
                            </p:childTnLst>
                          </p:cTn>
                        </p:par>
                      </p:childTnLst>
                    </p:cTn>
                  </p:par>
                  <p:par>
                    <p:cTn id="13" fill="hold">
                      <p:stCondLst>
                        <p:cond delay="indefinite"/>
                      </p:stCondLst>
                      <p:childTnLst>
                        <p:par>
                          <p:cTn id="14" presetID="10" presetClass="entr" fill="hold" nodeType="clickEffect">
                            <p:stCondLst>
                              <p:cond delay="0"/>
                            </p:stCondLst>
                            <p:childTnLst>
                              <p:set>
                                <p:cBhvr>
                                  <p:cTn id="15" dur="1" fill="hold">
                                    <p:stCondLst>
                                      <p:cond delay="0"/>
                                    </p:stCondLst>
                                  </p:cTn>
                                  <p:tgtEl>
                                    <p:spTgt spid="165"/>
                                  </p:tgtEl>
                                  <p:attrNameLst>
                                    <p:attrName>style.visibility</p:attrName>
                                  </p:attrNameLst>
                                </p:cBhvr>
                                <p:to>
                                  <p:strVal val="visible"/>
                                </p:to>
                              </p:set>
                              <p:animEffect transition="in" filter="fade">
                                <p:cBhvr additive="repl">
                                  <p:cTn id="16" dur="500"/>
                                  <p:tgtEl>
                                    <p:spTgt spid="165"/>
                                  </p:tgtEl>
                                </p:cBhvr>
                              </p:animEffect>
                            </p:childTnLst>
                          </p:cTn>
                        </p:par>
                        <p:par>
                          <p:cTn id="17" presetID="10" presetClass="entr" fill="hold" nodeType="clickEffect">
                            <p:stCondLst>
                              <p:cond delay="0"/>
                            </p:stCondLst>
                            <p:childTnLst>
                              <p:set>
                                <p:cBhvr>
                                  <p:cTn id="18" dur="1" fill="hold">
                                    <p:stCondLst>
                                      <p:cond delay="0"/>
                                    </p:stCondLst>
                                  </p:cTn>
                                  <p:tgtEl>
                                    <p:spTgt spid="166"/>
                                  </p:tgtEl>
                                  <p:attrNameLst>
                                    <p:attrName>style.visibility</p:attrName>
                                  </p:attrNameLst>
                                </p:cBhvr>
                                <p:to>
                                  <p:strVal val="visible"/>
                                </p:to>
                              </p:set>
                              <p:animEffect transition="in" filter="fade">
                                <p:cBhvr additive="repl">
                                  <p:cTn id="19" dur="500"/>
                                  <p:tgtEl>
                                    <p:spTgt spid="166"/>
                                  </p:tgtEl>
                                </p:cBhvr>
                              </p:animEffect>
                            </p:childTnLst>
                          </p:cTn>
                        </p:par>
                        <p:par>
                          <p:cTn id="20" presetID="10" presetClass="entr" fill="hold" nodeType="clickEffect">
                            <p:stCondLst>
                              <p:cond delay="0"/>
                            </p:stCondLst>
                            <p:childTnLst>
                              <p:set>
                                <p:cBhvr>
                                  <p:cTn id="21" dur="1" fill="hold">
                                    <p:stCondLst>
                                      <p:cond delay="0"/>
                                    </p:stCondLst>
                                  </p:cTn>
                                  <p:tgtEl>
                                    <p:spTgt spid="167"/>
                                  </p:tgtEl>
                                  <p:attrNameLst>
                                    <p:attrName>style.visibility</p:attrName>
                                  </p:attrNameLst>
                                </p:cBhvr>
                                <p:to>
                                  <p:strVal val="visible"/>
                                </p:to>
                              </p:set>
                              <p:animEffect transition="in" filter="fade">
                                <p:cBhvr additive="repl">
                                  <p:cTn id="22" dur="500"/>
                                  <p:tgtEl>
                                    <p:spTgt spid="167"/>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8"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69" name="Image 0" descr="/home/claude/pptx-build/assets/icons/FaLink-FFFFFF-200.png"/>
          <p:cNvPicPr/>
          <p:nvPr/>
        </p:nvPicPr>
        <p:blipFill>
          <a:blip r:embed="rId3"/>
          <a:stretch/>
        </p:blipFill>
        <p:spPr>
          <a:xfrm>
            <a:off x="685800" y="594360"/>
            <a:ext cx="292320" cy="292320"/>
          </a:xfrm>
          <a:prstGeom prst="rect">
            <a:avLst/>
          </a:prstGeom>
          <a:noFill/>
          <a:ln w="0">
            <a:noFill/>
          </a:ln>
        </p:spPr>
      </p:pic>
      <p:sp>
        <p:nvSpPr>
          <p:cNvPr id="170"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500" b="1" u="none" strike="noStrike" spc="201">
                <a:solidFill>
                  <a:srgbClr val="C1440E"/>
                </a:solidFill>
                <a:effectLst/>
                <a:uFillTx/>
                <a:latin typeface="Calibri"/>
                <a:ea typeface="Calibri"/>
              </a:rPr>
              <a:t>A FIELD GUIDE TO THE LOCAL SPECIES</a:t>
            </a:r>
            <a:endParaRPr lang="en-US" sz="1500" b="0" u="none" strike="noStrike">
              <a:solidFill>
                <a:srgbClr val="000000"/>
              </a:solidFill>
              <a:effectLst/>
              <a:uFillTx/>
              <a:latin typeface="Arial"/>
            </a:endParaRPr>
          </a:p>
        </p:txBody>
      </p:sp>
      <p:sp>
        <p:nvSpPr>
          <p:cNvPr id="171" name="Text 2"/>
          <p:cNvSpPr/>
          <p:nvPr/>
        </p:nvSpPr>
        <p:spPr>
          <a:xfrm>
            <a:off x="1234440" y="749880"/>
            <a:ext cx="1074636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Hybrid: Leave What Makes Sense</a:t>
            </a:r>
            <a:endParaRPr lang="en-US" sz="3200" b="0" u="none" strike="noStrike">
              <a:solidFill>
                <a:srgbClr val="000000"/>
              </a:solidFill>
              <a:effectLst/>
              <a:uFillTx/>
              <a:latin typeface="Arial"/>
            </a:endParaRPr>
          </a:p>
        </p:txBody>
      </p:sp>
      <p:sp>
        <p:nvSpPr>
          <p:cNvPr id="172" name="TextBox 5"/>
          <p:cNvSpPr/>
          <p:nvPr/>
        </p:nvSpPr>
        <p:spPr>
          <a:xfrm>
            <a:off x="548640" y="1525680"/>
            <a:ext cx="11063880" cy="27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pPr>
            <a:r>
              <a:rPr lang="en-US" sz="1800" b="1" u="none" strike="noStrike">
                <a:solidFill>
                  <a:srgbClr val="1F3D2C"/>
                </a:solidFill>
                <a:effectLst/>
                <a:uFillTx/>
                <a:latin typeface="Calibri"/>
              </a:rPr>
              <a:t>Move repository-centric workflows to GitHub—retain Azure DevOps where it still provides material value.</a:t>
            </a:r>
            <a:endParaRPr lang="en-US" sz="1800" b="0" u="none" strike="noStrike">
              <a:solidFill>
                <a:srgbClr val="000000"/>
              </a:solidFill>
              <a:effectLst/>
              <a:uFillTx/>
              <a:latin typeface="Arial"/>
            </a:endParaRPr>
          </a:p>
        </p:txBody>
      </p:sp>
      <p:sp>
        <p:nvSpPr>
          <p:cNvPr id="173" name="Rounded Rectangle 6"/>
          <p:cNvSpPr/>
          <p:nvPr/>
        </p:nvSpPr>
        <p:spPr>
          <a:xfrm>
            <a:off x="548640" y="2011680"/>
            <a:ext cx="5348880" cy="3017160"/>
          </a:xfrm>
          <a:prstGeom prst="roundRect">
            <a:avLst>
              <a:gd name="adj" fmla="val 8000"/>
            </a:avLst>
          </a:prstGeom>
          <a:solidFill>
            <a:srgbClr val="F7F6F2"/>
          </a:solidFill>
          <a:ln w="12700">
            <a:solidFill>
              <a:srgbClr val="DDD8CC"/>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174" name="Rounded Rectangle 7"/>
          <p:cNvSpPr/>
          <p:nvPr/>
        </p:nvSpPr>
        <p:spPr>
          <a:xfrm>
            <a:off x="6263640" y="2011680"/>
            <a:ext cx="5348880" cy="3017160"/>
          </a:xfrm>
          <a:prstGeom prst="roundRect">
            <a:avLst>
              <a:gd name="adj" fmla="val 8000"/>
            </a:avLst>
          </a:prstGeom>
          <a:solidFill>
            <a:srgbClr val="F7F6F2"/>
          </a:solidFill>
          <a:ln w="12700">
            <a:solidFill>
              <a:srgbClr val="DDD8CC"/>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175" name="TextBox 8"/>
          <p:cNvSpPr/>
          <p:nvPr/>
        </p:nvSpPr>
        <p:spPr>
          <a:xfrm>
            <a:off x="822960" y="2212920"/>
            <a:ext cx="475452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200" b="1" u="none" strike="noStrike">
                <a:solidFill>
                  <a:srgbClr val="1F3D2C"/>
                </a:solidFill>
                <a:effectLst/>
                <a:uFillTx/>
                <a:latin typeface="Cambria"/>
              </a:rPr>
              <a:t>GitHub</a:t>
            </a:r>
            <a:endParaRPr lang="en-US" sz="2200" b="0" u="none" strike="noStrike">
              <a:solidFill>
                <a:srgbClr val="000000"/>
              </a:solidFill>
              <a:effectLst/>
              <a:uFillTx/>
              <a:latin typeface="Arial"/>
            </a:endParaRPr>
          </a:p>
        </p:txBody>
      </p:sp>
      <p:sp>
        <p:nvSpPr>
          <p:cNvPr id="176" name="TextBox 9"/>
          <p:cNvSpPr/>
          <p:nvPr/>
        </p:nvSpPr>
        <p:spPr>
          <a:xfrm>
            <a:off x="822960" y="2560320"/>
            <a:ext cx="47545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450" b="1" i="1" u="none" strike="noStrike">
                <a:solidFill>
                  <a:srgbClr val="C1440E"/>
                </a:solidFill>
                <a:effectLst/>
                <a:uFillTx/>
                <a:latin typeface="Calibri"/>
              </a:rPr>
              <a:t>Repository + code workflows</a:t>
            </a:r>
            <a:endParaRPr lang="en-US" sz="1450" b="0" u="none" strike="noStrike">
              <a:solidFill>
                <a:srgbClr val="000000"/>
              </a:solidFill>
              <a:effectLst/>
              <a:uFillTx/>
              <a:latin typeface="Arial"/>
            </a:endParaRPr>
          </a:p>
        </p:txBody>
      </p:sp>
      <p:sp>
        <p:nvSpPr>
          <p:cNvPr id="177" name="TextBox 10"/>
          <p:cNvSpPr/>
          <p:nvPr/>
        </p:nvSpPr>
        <p:spPr>
          <a:xfrm>
            <a:off x="822960" y="2971800"/>
            <a:ext cx="4708800" cy="187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00"/>
              </a:lnSpc>
              <a:spcAft>
                <a:spcPts val="700"/>
              </a:spcAft>
            </a:pPr>
            <a:r>
              <a:rPr lang="en-US" sz="1600" b="0" u="none" strike="noStrike">
                <a:solidFill>
                  <a:srgbClr val="2B2B2B"/>
                </a:solidFill>
                <a:effectLst/>
                <a:uFillTx/>
                <a:latin typeface="Calibri"/>
              </a:rPr>
              <a:t>•  GitHub repositories</a:t>
            </a:r>
            <a:endParaRPr lang="en-US" sz="1600" b="0" u="none" strike="noStrike">
              <a:solidFill>
                <a:srgbClr val="000000"/>
              </a:solidFill>
              <a:effectLst/>
              <a:uFillTx/>
              <a:latin typeface="Arial"/>
            </a:endParaRPr>
          </a:p>
          <a:p>
            <a:pPr defTabSz="914400">
              <a:lnSpc>
                <a:spcPts val="2100"/>
              </a:lnSpc>
              <a:spcAft>
                <a:spcPts val="700"/>
              </a:spcAft>
            </a:pPr>
            <a:r>
              <a:rPr lang="en-US" sz="1600" b="0" u="none" strike="noStrike">
                <a:solidFill>
                  <a:srgbClr val="2B2B2B"/>
                </a:solidFill>
                <a:effectLst/>
                <a:uFillTx/>
                <a:latin typeface="Calibri"/>
              </a:rPr>
              <a:t>•  Pull requests and code review</a:t>
            </a:r>
            <a:endParaRPr lang="en-US" sz="1600" b="0" u="none" strike="noStrike">
              <a:solidFill>
                <a:srgbClr val="000000"/>
              </a:solidFill>
              <a:effectLst/>
              <a:uFillTx/>
              <a:latin typeface="Arial"/>
            </a:endParaRPr>
          </a:p>
          <a:p>
            <a:pPr defTabSz="914400">
              <a:lnSpc>
                <a:spcPts val="2100"/>
              </a:lnSpc>
              <a:spcAft>
                <a:spcPts val="700"/>
              </a:spcAft>
            </a:pPr>
            <a:r>
              <a:rPr lang="en-US" sz="1600" b="0" u="none" strike="noStrike">
                <a:solidFill>
                  <a:srgbClr val="2B2B2B"/>
                </a:solidFill>
                <a:effectLst/>
                <a:uFillTx/>
                <a:latin typeface="Calibri"/>
              </a:rPr>
              <a:t>•  Repository-native Copilot capabilities</a:t>
            </a:r>
            <a:endParaRPr lang="en-US" sz="1600" b="0" u="none" strike="noStrike">
              <a:solidFill>
                <a:srgbClr val="000000"/>
              </a:solidFill>
              <a:effectLst/>
              <a:uFillTx/>
              <a:latin typeface="Arial"/>
            </a:endParaRPr>
          </a:p>
          <a:p>
            <a:pPr defTabSz="914400">
              <a:lnSpc>
                <a:spcPts val="2100"/>
              </a:lnSpc>
              <a:spcAft>
                <a:spcPts val="700"/>
              </a:spcAft>
            </a:pPr>
            <a:r>
              <a:rPr lang="en-US" sz="1600" b="0" u="none" strike="noStrike">
                <a:solidFill>
                  <a:srgbClr val="2B2B2B"/>
                </a:solidFill>
                <a:effectLst/>
                <a:uFillTx/>
                <a:latin typeface="Calibri"/>
              </a:rPr>
              <a:t>•  GitHub Actions, where appropriate</a:t>
            </a:r>
            <a:endParaRPr lang="en-US" sz="1600" b="0" u="none" strike="noStrike">
              <a:solidFill>
                <a:srgbClr val="000000"/>
              </a:solidFill>
              <a:effectLst/>
              <a:uFillTx/>
              <a:latin typeface="Arial"/>
            </a:endParaRPr>
          </a:p>
          <a:p>
            <a:pPr defTabSz="914400">
              <a:lnSpc>
                <a:spcPts val="2100"/>
              </a:lnSpc>
              <a:spcAft>
                <a:spcPts val="700"/>
              </a:spcAft>
            </a:pPr>
            <a:r>
              <a:rPr lang="en-US" sz="1600" b="0" u="none" strike="noStrike">
                <a:solidFill>
                  <a:srgbClr val="2B2B2B"/>
                </a:solidFill>
                <a:effectLst/>
                <a:uFillTx/>
                <a:latin typeface="Calibri"/>
              </a:rPr>
              <a:t>•  Repository security and policy controls</a:t>
            </a:r>
            <a:endParaRPr lang="en-US" sz="1600" b="0" u="none" strike="noStrike">
              <a:solidFill>
                <a:srgbClr val="000000"/>
              </a:solidFill>
              <a:effectLst/>
              <a:uFillTx/>
              <a:latin typeface="Arial"/>
            </a:endParaRPr>
          </a:p>
        </p:txBody>
      </p:sp>
      <p:sp>
        <p:nvSpPr>
          <p:cNvPr id="178" name="TextBox 11"/>
          <p:cNvSpPr/>
          <p:nvPr/>
        </p:nvSpPr>
        <p:spPr>
          <a:xfrm>
            <a:off x="6537960" y="2212920"/>
            <a:ext cx="475452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200" b="1" u="none" strike="noStrike">
                <a:solidFill>
                  <a:srgbClr val="1F3D2C"/>
                </a:solidFill>
                <a:effectLst/>
                <a:uFillTx/>
                <a:latin typeface="Cambria"/>
              </a:rPr>
              <a:t>Azure DevOps</a:t>
            </a:r>
            <a:endParaRPr lang="en-US" sz="2200" b="0" u="none" strike="noStrike">
              <a:solidFill>
                <a:srgbClr val="000000"/>
              </a:solidFill>
              <a:effectLst/>
              <a:uFillTx/>
              <a:latin typeface="Arial"/>
            </a:endParaRPr>
          </a:p>
        </p:txBody>
      </p:sp>
      <p:sp>
        <p:nvSpPr>
          <p:cNvPr id="179" name="TextBox 12"/>
          <p:cNvSpPr/>
          <p:nvPr/>
        </p:nvSpPr>
        <p:spPr>
          <a:xfrm>
            <a:off x="6537960" y="2560320"/>
            <a:ext cx="47545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450" b="1" i="1" u="none" strike="noStrike">
                <a:solidFill>
                  <a:srgbClr val="C1440E"/>
                </a:solidFill>
                <a:effectLst/>
                <a:uFillTx/>
                <a:latin typeface="Calibri"/>
              </a:rPr>
              <a:t>Planning, portfolio + testing workflows</a:t>
            </a:r>
            <a:endParaRPr lang="en-US" sz="1450" b="0" u="none" strike="noStrike">
              <a:solidFill>
                <a:srgbClr val="000000"/>
              </a:solidFill>
              <a:effectLst/>
              <a:uFillTx/>
              <a:latin typeface="Arial"/>
            </a:endParaRPr>
          </a:p>
        </p:txBody>
      </p:sp>
      <p:sp>
        <p:nvSpPr>
          <p:cNvPr id="180" name="TextBox 13"/>
          <p:cNvSpPr/>
          <p:nvPr/>
        </p:nvSpPr>
        <p:spPr>
          <a:xfrm>
            <a:off x="6537960" y="2971800"/>
            <a:ext cx="4708800" cy="187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00"/>
              </a:lnSpc>
              <a:spcAft>
                <a:spcPts val="700"/>
              </a:spcAft>
            </a:pPr>
            <a:r>
              <a:rPr lang="en-US" sz="1600" b="0" u="none" strike="noStrike">
                <a:solidFill>
                  <a:srgbClr val="2B2B2B"/>
                </a:solidFill>
                <a:effectLst/>
                <a:uFillTx/>
                <a:latin typeface="Calibri"/>
              </a:rPr>
              <a:t>•  Azure Boards—formal planning and reporting</a:t>
            </a:r>
            <a:endParaRPr lang="en-US" sz="1600" b="0" u="none" strike="noStrike">
              <a:solidFill>
                <a:srgbClr val="000000"/>
              </a:solidFill>
              <a:effectLst/>
              <a:uFillTx/>
              <a:latin typeface="Arial"/>
            </a:endParaRPr>
          </a:p>
          <a:p>
            <a:pPr defTabSz="914400">
              <a:lnSpc>
                <a:spcPts val="2100"/>
              </a:lnSpc>
              <a:spcAft>
                <a:spcPts val="700"/>
              </a:spcAft>
            </a:pPr>
            <a:r>
              <a:rPr lang="en-US" sz="1600" b="0" u="none" strike="noStrike">
                <a:solidFill>
                  <a:srgbClr val="2B2B2B"/>
                </a:solidFill>
                <a:effectLst/>
                <a:uFillTx/>
                <a:latin typeface="Calibri"/>
              </a:rPr>
              <a:t>•  Azure Test Plans—structured manual testing</a:t>
            </a:r>
            <a:endParaRPr lang="en-US" sz="1600" b="0" u="none" strike="noStrike">
              <a:solidFill>
                <a:srgbClr val="000000"/>
              </a:solidFill>
              <a:effectLst/>
              <a:uFillTx/>
              <a:latin typeface="Arial"/>
            </a:endParaRPr>
          </a:p>
          <a:p>
            <a:pPr defTabSz="914400">
              <a:lnSpc>
                <a:spcPts val="2100"/>
              </a:lnSpc>
              <a:spcAft>
                <a:spcPts val="700"/>
              </a:spcAft>
            </a:pPr>
            <a:r>
              <a:rPr lang="en-US" sz="1600" b="0" u="none" strike="noStrike">
                <a:solidFill>
                  <a:srgbClr val="2B2B2B"/>
                </a:solidFill>
                <a:effectLst/>
                <a:uFillTx/>
                <a:latin typeface="Calibri"/>
              </a:rPr>
              <a:t>•  Azure Pipelines—retained temporarily or deliberately</a:t>
            </a:r>
            <a:endParaRPr lang="en-US" sz="1600" b="0" u="none" strike="noStrike">
              <a:solidFill>
                <a:srgbClr val="000000"/>
              </a:solidFill>
              <a:effectLst/>
              <a:uFillTx/>
              <a:latin typeface="Arial"/>
            </a:endParaRPr>
          </a:p>
        </p:txBody>
      </p:sp>
      <p:sp>
        <p:nvSpPr>
          <p:cNvPr id="181" name="Rounded Rectangle 30"/>
          <p:cNvSpPr/>
          <p:nvPr/>
        </p:nvSpPr>
        <p:spPr>
          <a:xfrm>
            <a:off x="548640" y="5349240"/>
            <a:ext cx="11063880" cy="71280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Hybrid is not a temporary failure to finish the migration. It can be the intended architecture.</a:t>
            </a:r>
            <a:endParaRPr lang="en-US" sz="1500" b="0" u="none" strike="noStrike">
              <a:solidFill>
                <a:srgbClr val="FFFFFF"/>
              </a:solidFill>
              <a:effectLst/>
              <a:uFillTx/>
              <a:latin typeface="Arial"/>
            </a:endParaRPr>
          </a:p>
        </p:txBody>
      </p:sp>
      <p:sp>
        <p:nvSpPr>
          <p:cNvPr id="2" name="PlaceHolder 1"/>
          <p:cNvSpPr>
            <a:spLocks noGrp="1"/>
          </p:cNvSpPr>
          <p:nvPr>
            <p:ph type="sldNum" idx="1"/>
          </p:nvPr>
        </p:nvSpPr>
        <p:spPr/>
        <p:txBody>
          <a:bodyPr/>
          <a:lstStyle/>
          <a:p>
            <a:fld id="{20031972-7D85-4C31-BC33-93726C0D7CC3}" type="slidenum">
              <a:rPr/>
              <a:t>15</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173"/>
                                  </p:tgtEl>
                                  <p:attrNameLst>
                                    <p:attrName>style.visibility</p:attrName>
                                  </p:attrNameLst>
                                </p:cBhvr>
                                <p:to>
                                  <p:strVal val="visible"/>
                                </p:to>
                              </p:set>
                              <p:animEffect transition="in" filter="fade">
                                <p:cBhvr additive="repl">
                                  <p:cTn id="6" dur="500"/>
                                  <p:tgtEl>
                                    <p:spTgt spid="173"/>
                                  </p:tgtEl>
                                </p:cBhvr>
                              </p:animEffect>
                            </p:childTnLst>
                          </p:cTn>
                        </p:par>
                        <p:par>
                          <p:cTn id="7" presetID="10" presetClass="entr" fill="hold" nodeType="clickEffect">
                            <p:stCondLst>
                              <p:cond delay="0"/>
                            </p:stCondLst>
                            <p:childTnLst>
                              <p:set>
                                <p:cBhvr>
                                  <p:cTn id="8" dur="1" fill="hold">
                                    <p:stCondLst>
                                      <p:cond delay="0"/>
                                    </p:stCondLst>
                                  </p:cTn>
                                  <p:tgtEl>
                                    <p:spTgt spid="175"/>
                                  </p:tgtEl>
                                  <p:attrNameLst>
                                    <p:attrName>style.visibility</p:attrName>
                                  </p:attrNameLst>
                                </p:cBhvr>
                                <p:to>
                                  <p:strVal val="visible"/>
                                </p:to>
                              </p:set>
                              <p:animEffect transition="in" filter="fade">
                                <p:cBhvr additive="repl">
                                  <p:cTn id="9" dur="500"/>
                                  <p:tgtEl>
                                    <p:spTgt spid="175"/>
                                  </p:tgtEl>
                                </p:cBhvr>
                              </p:animEffect>
                            </p:childTnLst>
                          </p:cTn>
                        </p:par>
                        <p:par>
                          <p:cTn id="10" presetID="10" presetClass="entr" fill="hold" nodeType="clickEffect">
                            <p:stCondLst>
                              <p:cond delay="0"/>
                            </p:stCondLst>
                            <p:childTnLst>
                              <p:set>
                                <p:cBhvr>
                                  <p:cTn id="11" dur="1" fill="hold">
                                    <p:stCondLst>
                                      <p:cond delay="0"/>
                                    </p:stCondLst>
                                  </p:cTn>
                                  <p:tgtEl>
                                    <p:spTgt spid="176"/>
                                  </p:tgtEl>
                                  <p:attrNameLst>
                                    <p:attrName>style.visibility</p:attrName>
                                  </p:attrNameLst>
                                </p:cBhvr>
                                <p:to>
                                  <p:strVal val="visible"/>
                                </p:to>
                              </p:set>
                              <p:animEffect transition="in" filter="fade">
                                <p:cBhvr additive="repl">
                                  <p:cTn id="12" dur="500"/>
                                  <p:tgtEl>
                                    <p:spTgt spid="176"/>
                                  </p:tgtEl>
                                </p:cBhvr>
                              </p:animEffect>
                            </p:childTnLst>
                          </p:cTn>
                        </p:par>
                        <p:par>
                          <p:cTn id="13" presetID="10" presetClass="entr" fill="hold" nodeType="clickEffect">
                            <p:stCondLst>
                              <p:cond delay="0"/>
                            </p:stCondLst>
                            <p:childTnLst>
                              <p:set>
                                <p:cBhvr>
                                  <p:cTn id="14" dur="1" fill="hold">
                                    <p:stCondLst>
                                      <p:cond delay="0"/>
                                    </p:stCondLst>
                                  </p:cTn>
                                  <p:tgtEl>
                                    <p:spTgt spid="177"/>
                                  </p:tgtEl>
                                  <p:attrNameLst>
                                    <p:attrName>style.visibility</p:attrName>
                                  </p:attrNameLst>
                                </p:cBhvr>
                                <p:to>
                                  <p:strVal val="visible"/>
                                </p:to>
                              </p:set>
                              <p:animEffect transition="in" filter="fade">
                                <p:cBhvr additive="repl">
                                  <p:cTn id="15" dur="500"/>
                                  <p:tgtEl>
                                    <p:spTgt spid="177"/>
                                  </p:tgtEl>
                                </p:cBhvr>
                              </p:animEffect>
                            </p:childTnLst>
                          </p:cTn>
                        </p:par>
                      </p:childTnLst>
                    </p:cTn>
                  </p:par>
                  <p:par>
                    <p:cTn id="16" fill="hold">
                      <p:stCondLst>
                        <p:cond delay="indefinite"/>
                      </p:stCondLst>
                      <p:childTnLst>
                        <p:par>
                          <p:cTn id="17" presetID="10" presetClass="entr" fill="hold" nodeType="clickEffect">
                            <p:stCondLst>
                              <p:cond delay="0"/>
                            </p:stCondLst>
                            <p:childTnLst>
                              <p:set>
                                <p:cBhvr>
                                  <p:cTn id="18" dur="1" fill="hold">
                                    <p:stCondLst>
                                      <p:cond delay="0"/>
                                    </p:stCondLst>
                                  </p:cTn>
                                  <p:tgtEl>
                                    <p:spTgt spid="174"/>
                                  </p:tgtEl>
                                  <p:attrNameLst>
                                    <p:attrName>style.visibility</p:attrName>
                                  </p:attrNameLst>
                                </p:cBhvr>
                                <p:to>
                                  <p:strVal val="visible"/>
                                </p:to>
                              </p:set>
                              <p:animEffect transition="in" filter="fade">
                                <p:cBhvr additive="repl">
                                  <p:cTn id="19" dur="500"/>
                                  <p:tgtEl>
                                    <p:spTgt spid="174"/>
                                  </p:tgtEl>
                                </p:cBhvr>
                              </p:animEffect>
                            </p:childTnLst>
                          </p:cTn>
                        </p:par>
                        <p:par>
                          <p:cTn id="20" presetID="10" presetClass="entr" fill="hold" nodeType="clickEffect">
                            <p:stCondLst>
                              <p:cond delay="0"/>
                            </p:stCondLst>
                            <p:childTnLst>
                              <p:set>
                                <p:cBhvr>
                                  <p:cTn id="21" dur="1" fill="hold">
                                    <p:stCondLst>
                                      <p:cond delay="0"/>
                                    </p:stCondLst>
                                  </p:cTn>
                                  <p:tgtEl>
                                    <p:spTgt spid="178"/>
                                  </p:tgtEl>
                                  <p:attrNameLst>
                                    <p:attrName>style.visibility</p:attrName>
                                  </p:attrNameLst>
                                </p:cBhvr>
                                <p:to>
                                  <p:strVal val="visible"/>
                                </p:to>
                              </p:set>
                              <p:animEffect transition="in" filter="fade">
                                <p:cBhvr additive="repl">
                                  <p:cTn id="22" dur="500"/>
                                  <p:tgtEl>
                                    <p:spTgt spid="178"/>
                                  </p:tgtEl>
                                </p:cBhvr>
                              </p:animEffect>
                            </p:childTnLst>
                          </p:cTn>
                        </p:par>
                        <p:par>
                          <p:cTn id="23" presetID="10" presetClass="entr" fill="hold" nodeType="clickEffect">
                            <p:stCondLst>
                              <p:cond delay="0"/>
                            </p:stCondLst>
                            <p:childTnLst>
                              <p:set>
                                <p:cBhvr>
                                  <p:cTn id="24" dur="1" fill="hold">
                                    <p:stCondLst>
                                      <p:cond delay="0"/>
                                    </p:stCondLst>
                                  </p:cTn>
                                  <p:tgtEl>
                                    <p:spTgt spid="179"/>
                                  </p:tgtEl>
                                  <p:attrNameLst>
                                    <p:attrName>style.visibility</p:attrName>
                                  </p:attrNameLst>
                                </p:cBhvr>
                                <p:to>
                                  <p:strVal val="visible"/>
                                </p:to>
                              </p:set>
                              <p:animEffect transition="in" filter="fade">
                                <p:cBhvr additive="repl">
                                  <p:cTn id="25" dur="500"/>
                                  <p:tgtEl>
                                    <p:spTgt spid="179"/>
                                  </p:tgtEl>
                                </p:cBhvr>
                              </p:animEffect>
                            </p:childTnLst>
                          </p:cTn>
                        </p:par>
                        <p:par>
                          <p:cTn id="26" presetID="10" presetClass="entr" fill="hold" nodeType="clickEffect">
                            <p:stCondLst>
                              <p:cond delay="0"/>
                            </p:stCondLst>
                            <p:childTnLst>
                              <p:set>
                                <p:cBhvr>
                                  <p:cTn id="27" dur="1" fill="hold">
                                    <p:stCondLst>
                                      <p:cond delay="0"/>
                                    </p:stCondLst>
                                  </p:cTn>
                                  <p:tgtEl>
                                    <p:spTgt spid="180"/>
                                  </p:tgtEl>
                                  <p:attrNameLst>
                                    <p:attrName>style.visibility</p:attrName>
                                  </p:attrNameLst>
                                </p:cBhvr>
                                <p:to>
                                  <p:strVal val="visible"/>
                                </p:to>
                              </p:set>
                              <p:animEffect transition="in" filter="fade">
                                <p:cBhvr additive="repl">
                                  <p:cTn id="28" dur="500"/>
                                  <p:tgtEl>
                                    <p:spTgt spid="180"/>
                                  </p:tgtEl>
                                </p:cBhvr>
                              </p:animEffect>
                            </p:childTnLst>
                          </p:cTn>
                        </p:par>
                      </p:childTnLst>
                    </p:cTn>
                  </p:par>
                  <p:par>
                    <p:cTn id="29" fill="hold">
                      <p:stCondLst>
                        <p:cond delay="indefinite"/>
                      </p:stCondLst>
                      <p:childTnLst>
                        <p:par>
                          <p:cTn id="30" presetID="10" presetClass="entr" fill="hold" nodeType="clickEffect">
                            <p:stCondLst>
                              <p:cond delay="0"/>
                            </p:stCondLst>
                            <p:childTnLst>
                              <p:set>
                                <p:cBhvr>
                                  <p:cTn id="31" dur="1" fill="hold">
                                    <p:stCondLst>
                                      <p:cond delay="0"/>
                                    </p:stCondLst>
                                  </p:cTn>
                                  <p:tgtEl>
                                    <p:spTgt spid="181"/>
                                  </p:tgtEl>
                                  <p:attrNameLst>
                                    <p:attrName>style.visibility</p:attrName>
                                  </p:attrNameLst>
                                </p:cBhvr>
                                <p:to>
                                  <p:strVal val="visible"/>
                                </p:to>
                              </p:set>
                              <p:animEffect transition="in" filter="fade">
                                <p:cBhvr additive="repl">
                                  <p:cTn id="32" dur="500"/>
                                  <p:tgtEl>
                                    <p:spTgt spid="181"/>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182" name="Text 0"/>
          <p:cNvSpPr/>
          <p:nvPr/>
        </p:nvSpPr>
        <p:spPr>
          <a:xfrm>
            <a:off x="548640" y="2651760"/>
            <a:ext cx="1106388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200" b="1" u="none" strike="noStrike">
                <a:solidFill>
                  <a:srgbClr val="F5F5F0"/>
                </a:solidFill>
                <a:effectLst/>
                <a:uFillTx/>
                <a:latin typeface="Cambria"/>
                <a:ea typeface="Cambria"/>
              </a:rPr>
              <a:t>Q&amp;A POCKET</a:t>
            </a:r>
            <a:endParaRPr lang="en-US" sz="4200" b="0" u="none" strike="noStrike">
              <a:solidFill>
                <a:srgbClr val="FFFFFF"/>
              </a:solidFill>
              <a:effectLst/>
              <a:uFillTx/>
              <a:latin typeface="Arial"/>
            </a:endParaRPr>
          </a:p>
        </p:txBody>
      </p:sp>
      <p:sp>
        <p:nvSpPr>
          <p:cNvPr id="183" name="Text 1"/>
          <p:cNvSpPr/>
          <p:nvPr/>
        </p:nvSpPr>
        <p:spPr>
          <a:xfrm>
            <a:off x="548640" y="3703320"/>
            <a:ext cx="1106388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0" i="1" u="none" strike="noStrike">
                <a:solidFill>
                  <a:srgbClr val="E0B85C"/>
                </a:solidFill>
                <a:effectLst/>
                <a:uFillTx/>
                <a:latin typeface="Calibri"/>
                <a:ea typeface="Calibri"/>
              </a:rPr>
              <a:t>One quick question before we leave Section 2 — A Field Guide to the Local Species</a:t>
            </a:r>
            <a:endParaRPr lang="en-US" sz="1900" b="0" u="none" strike="noStrike">
              <a:solidFill>
                <a:srgbClr val="FFFFFF"/>
              </a:solidFill>
              <a:effectLst/>
              <a:uFillTx/>
              <a:latin typeface="Arial"/>
            </a:endParaRPr>
          </a:p>
        </p:txBody>
      </p:sp>
      <p:sp>
        <p:nvSpPr>
          <p:cNvPr id="184" name="PlaceHolder 1"/>
          <p:cNvSpPr>
            <a:spLocks noGrp="1"/>
          </p:cNvSpPr>
          <p:nvPr>
            <p:ph type="sldNum" idx="8"/>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0D5561D4-C8F0-4363-A161-A884627050A7}" type="slidenum">
              <a:rPr lang="en-US" sz="1000" b="0" u="none" strike="noStrike">
                <a:solidFill>
                  <a:srgbClr val="E0B85C"/>
                </a:solidFill>
                <a:effectLst/>
                <a:uFillTx/>
                <a:latin typeface="Calibri"/>
              </a:rPr>
              <a:t>16</a:t>
            </a:fld>
            <a:endParaRPr lang="en-US" sz="1000" b="0" u="none" strike="noStrike">
              <a:solidFill>
                <a:srgbClr val="FFFFFF"/>
              </a:solidFill>
              <a:effectLst/>
              <a:uFillTx/>
              <a:latin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185" name="Shape 0"/>
          <p:cNvSpPr/>
          <p:nvPr/>
        </p:nvSpPr>
        <p:spPr>
          <a:xfrm>
            <a:off x="0" y="0"/>
            <a:ext cx="12191400" cy="1234080"/>
          </a:xfrm>
          <a:prstGeom prst="rect">
            <a:avLst/>
          </a:prstGeom>
          <a:solidFill>
            <a:srgbClr val="142A1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186" name="Text 1"/>
          <p:cNvSpPr/>
          <p:nvPr/>
        </p:nvSpPr>
        <p:spPr>
          <a:xfrm>
            <a:off x="548640" y="365760"/>
            <a:ext cx="91436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spc="300">
                <a:solidFill>
                  <a:srgbClr val="E0B85C"/>
                </a:solidFill>
                <a:effectLst/>
                <a:uFillTx/>
                <a:latin typeface="Calibri"/>
                <a:ea typeface="Calibri"/>
              </a:rPr>
              <a:t>SECTION 3</a:t>
            </a:r>
            <a:endParaRPr lang="en-US" sz="1700" b="0" u="none" strike="noStrike">
              <a:solidFill>
                <a:srgbClr val="FFFFFF"/>
              </a:solidFill>
              <a:effectLst/>
              <a:uFillTx/>
              <a:latin typeface="Arial"/>
            </a:endParaRPr>
          </a:p>
        </p:txBody>
      </p:sp>
      <p:pic>
        <p:nvPicPr>
          <p:cNvPr id="187" name="Image 0" descr="/home/claude/pptx-build/assets/icons/FaShip-8C6A3F-300.png"/>
          <p:cNvPicPr/>
          <p:nvPr/>
        </p:nvPicPr>
        <p:blipFill>
          <a:blip r:embed="rId3">
            <a:alphaModFix amt="85000"/>
          </a:blip>
          <a:stretch/>
        </p:blipFill>
        <p:spPr>
          <a:xfrm>
            <a:off x="9692640" y="2194560"/>
            <a:ext cx="1462680" cy="1462680"/>
          </a:xfrm>
          <a:prstGeom prst="rect">
            <a:avLst/>
          </a:prstGeom>
          <a:noFill/>
          <a:ln w="0">
            <a:noFill/>
          </a:ln>
        </p:spPr>
      </p:pic>
      <p:sp>
        <p:nvSpPr>
          <p:cNvPr id="188" name="Text 2"/>
          <p:cNvSpPr/>
          <p:nvPr/>
        </p:nvSpPr>
        <p:spPr>
          <a:xfrm>
            <a:off x="548640" y="2331720"/>
            <a:ext cx="877788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4400" b="1" u="none" strike="noStrike">
                <a:solidFill>
                  <a:srgbClr val="F5F5F0"/>
                </a:solidFill>
                <a:effectLst/>
                <a:uFillTx/>
                <a:latin typeface="Cambria"/>
                <a:ea typeface="Cambria"/>
              </a:rPr>
              <a:t>Crossing the River</a:t>
            </a:r>
            <a:endParaRPr lang="en-US" sz="4400" b="0" u="none" strike="noStrike">
              <a:solidFill>
                <a:srgbClr val="FFFFFF"/>
              </a:solidFill>
              <a:effectLst/>
              <a:uFillTx/>
              <a:latin typeface="Arial"/>
            </a:endParaRPr>
          </a:p>
        </p:txBody>
      </p:sp>
      <p:sp>
        <p:nvSpPr>
          <p:cNvPr id="189" name="Text 3"/>
          <p:cNvSpPr/>
          <p:nvPr/>
        </p:nvSpPr>
        <p:spPr>
          <a:xfrm>
            <a:off x="548640" y="4160520"/>
            <a:ext cx="8777880" cy="123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0" i="1" u="none" strike="noStrike">
                <a:solidFill>
                  <a:srgbClr val="E0B85C"/>
                </a:solidFill>
                <a:effectLst/>
                <a:uFillTx/>
                <a:latin typeface="Calibri"/>
              </a:rPr>
              <a:t>The river is crossed in layers: first the cargo, then the machinery that moves it, then the proof that it still works on the far bank.</a:t>
            </a:r>
            <a:endParaRPr lang="en-US" sz="2000" b="0" u="none" strike="noStrike">
              <a:solidFill>
                <a:srgbClr val="FFFFFF"/>
              </a:solidFill>
              <a:effectLst/>
              <a:uFillTx/>
              <a:latin typeface="Arial"/>
            </a:endParaRPr>
          </a:p>
        </p:txBody>
      </p:sp>
      <p:sp>
        <p:nvSpPr>
          <p:cNvPr id="190" name="Shape 4"/>
          <p:cNvSpPr/>
          <p:nvPr/>
        </p:nvSpPr>
        <p:spPr>
          <a:xfrm>
            <a:off x="548640" y="6217920"/>
            <a:ext cx="11064240" cy="360"/>
          </a:xfrm>
          <a:prstGeom prst="line">
            <a:avLst/>
          </a:prstGeom>
          <a:ln w="9525">
            <a:solidFill>
              <a:srgbClr val="8C6A3F"/>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191" name="PlaceHolder 1"/>
          <p:cNvSpPr>
            <a:spLocks noGrp="1"/>
          </p:cNvSpPr>
          <p:nvPr>
            <p:ph type="sldNum" idx="9"/>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86348FC0-B56C-44DB-907E-E83225639A40}" type="slidenum">
              <a:rPr lang="en-US" sz="1000" b="0" u="none" strike="noStrike">
                <a:solidFill>
                  <a:srgbClr val="E0B85C"/>
                </a:solidFill>
                <a:effectLst/>
                <a:uFillTx/>
                <a:latin typeface="Calibri"/>
              </a:rPr>
              <a:t>17</a:t>
            </a:fld>
            <a:endParaRPr lang="en-US" sz="1000" b="0" u="none" strike="noStrike">
              <a:solidFill>
                <a:srgbClr val="FFFFFF"/>
              </a:solidFill>
              <a:effectLst/>
              <a:uFillTx/>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2"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193" name="Image 0" descr="/home/claude/pptx-build/assets/icons/FaExclamationTriangle-FFFFFF-200.png"/>
          <p:cNvPicPr/>
          <p:nvPr/>
        </p:nvPicPr>
        <p:blipFill>
          <a:blip r:embed="rId3"/>
          <a:stretch/>
        </p:blipFill>
        <p:spPr>
          <a:xfrm>
            <a:off x="685800" y="594360"/>
            <a:ext cx="292320" cy="292320"/>
          </a:xfrm>
          <a:prstGeom prst="rect">
            <a:avLst/>
          </a:prstGeom>
          <a:noFill/>
          <a:ln w="0">
            <a:noFill/>
          </a:ln>
        </p:spPr>
      </p:pic>
      <p:sp>
        <p:nvSpPr>
          <p:cNvPr id="194"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195"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rPr>
              <a:t>Migration Risk Lives in Three Planes</a:t>
            </a:r>
            <a:endParaRPr lang="en-US" sz="3200" b="0" u="none" strike="noStrike">
              <a:solidFill>
                <a:srgbClr val="000000"/>
              </a:solidFill>
              <a:effectLst/>
              <a:uFillTx/>
              <a:latin typeface="Arial"/>
            </a:endParaRPr>
          </a:p>
        </p:txBody>
      </p:sp>
      <p:sp>
        <p:nvSpPr>
          <p:cNvPr id="196" name="Rectangle 5"/>
          <p:cNvSpPr/>
          <p:nvPr/>
        </p:nvSpPr>
        <p:spPr>
          <a:xfrm>
            <a:off x="548640" y="1994760"/>
            <a:ext cx="11091240" cy="1142640"/>
          </a:xfrm>
          <a:prstGeom prst="roundRect">
            <a:avLst>
              <a:gd name="adj" fmla="val 9600"/>
            </a:avLst>
          </a:prstGeom>
          <a:solidFill>
            <a:srgbClr val="F7F6F2"/>
          </a:solidFill>
          <a:ln w="12700">
            <a:solidFill>
              <a:srgbClr val="DDD8CC"/>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197" name="TextBox 6"/>
          <p:cNvSpPr/>
          <p:nvPr/>
        </p:nvSpPr>
        <p:spPr>
          <a:xfrm>
            <a:off x="777240" y="2150280"/>
            <a:ext cx="2742840" cy="32868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defTabSz="914400">
              <a:lnSpc>
                <a:spcPct val="100000"/>
              </a:lnSpc>
            </a:pPr>
            <a:r>
              <a:rPr lang="en-US" sz="1500" b="1" u="none" strike="noStrike">
                <a:solidFill>
                  <a:srgbClr val="C1440E"/>
                </a:solidFill>
                <a:effectLst/>
                <a:uFillTx/>
                <a:latin typeface="Calibri"/>
              </a:rPr>
              <a:t>01  REPOSITORY DATA PLANE</a:t>
            </a:r>
            <a:endParaRPr lang="en-US" sz="1500" b="0" u="none" strike="noStrike">
              <a:solidFill>
                <a:srgbClr val="000000"/>
              </a:solidFill>
              <a:effectLst/>
              <a:uFillTx/>
              <a:latin typeface="Arial"/>
            </a:endParaRPr>
          </a:p>
        </p:txBody>
      </p:sp>
      <p:sp>
        <p:nvSpPr>
          <p:cNvPr id="198" name="TextBox 7"/>
          <p:cNvSpPr/>
          <p:nvPr/>
        </p:nvSpPr>
        <p:spPr>
          <a:xfrm>
            <a:off x="3337560" y="2177640"/>
            <a:ext cx="7954920" cy="65808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defTabSz="914400">
              <a:lnSpc>
                <a:spcPct val="100000"/>
              </a:lnSpc>
            </a:pPr>
            <a:r>
              <a:rPr lang="en-US" sz="1900" b="1" u="none" strike="noStrike">
                <a:solidFill>
                  <a:srgbClr val="2B2B2B"/>
                </a:solidFill>
                <a:effectLst/>
                <a:uFillTx/>
                <a:latin typeface="Cambria"/>
              </a:rPr>
              <a:t>Git history  •  PR metadata  •  branch policies  •  identity attribution</a:t>
            </a:r>
            <a:endParaRPr lang="en-US" sz="1900" b="0" u="none" strike="noStrike">
              <a:solidFill>
                <a:srgbClr val="000000"/>
              </a:solidFill>
              <a:effectLst/>
              <a:uFillTx/>
              <a:latin typeface="Arial"/>
            </a:endParaRPr>
          </a:p>
        </p:txBody>
      </p:sp>
      <p:sp>
        <p:nvSpPr>
          <p:cNvPr id="199" name="Rectangle 8"/>
          <p:cNvSpPr/>
          <p:nvPr/>
        </p:nvSpPr>
        <p:spPr>
          <a:xfrm>
            <a:off x="548640" y="3348000"/>
            <a:ext cx="11091240" cy="1142640"/>
          </a:xfrm>
          <a:prstGeom prst="roundRect">
            <a:avLst>
              <a:gd name="adj" fmla="val 9600"/>
            </a:avLst>
          </a:prstGeom>
          <a:solidFill>
            <a:srgbClr val="F7F6F2"/>
          </a:solidFill>
          <a:ln w="12700">
            <a:solidFill>
              <a:srgbClr val="DDD8CC"/>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00" name="TextBox 9"/>
          <p:cNvSpPr/>
          <p:nvPr/>
        </p:nvSpPr>
        <p:spPr>
          <a:xfrm>
            <a:off x="777240" y="3503520"/>
            <a:ext cx="2742840" cy="32868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defTabSz="914400">
              <a:lnSpc>
                <a:spcPct val="100000"/>
              </a:lnSpc>
            </a:pPr>
            <a:r>
              <a:rPr lang="en-US" sz="1500" b="1" u="none" strike="noStrike">
                <a:solidFill>
                  <a:srgbClr val="C1440E"/>
                </a:solidFill>
                <a:effectLst/>
                <a:uFillTx/>
                <a:latin typeface="Calibri"/>
              </a:rPr>
              <a:t>02  AUTOMATION PLANE</a:t>
            </a:r>
            <a:endParaRPr lang="en-US" sz="1500" b="0" u="none" strike="noStrike">
              <a:solidFill>
                <a:srgbClr val="000000"/>
              </a:solidFill>
              <a:effectLst/>
              <a:uFillTx/>
              <a:latin typeface="Arial"/>
            </a:endParaRPr>
          </a:p>
        </p:txBody>
      </p:sp>
      <p:sp>
        <p:nvSpPr>
          <p:cNvPr id="201" name="TextBox 10"/>
          <p:cNvSpPr/>
          <p:nvPr/>
        </p:nvSpPr>
        <p:spPr>
          <a:xfrm>
            <a:off x="3337560" y="3493800"/>
            <a:ext cx="7954920" cy="7322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defTabSz="914400">
              <a:lnSpc>
                <a:spcPct val="100000"/>
              </a:lnSpc>
            </a:pPr>
            <a:r>
              <a:rPr lang="en-US" sz="1900" b="1" u="none" strike="noStrike">
                <a:solidFill>
                  <a:srgbClr val="2B2B2B"/>
                </a:solidFill>
                <a:effectLst/>
                <a:uFillTx/>
                <a:latin typeface="Cambria"/>
              </a:rPr>
              <a:t>Builds  •  deployments  •  approvals  •  secrets  •  runners  •  environments</a:t>
            </a:r>
            <a:endParaRPr lang="en-US" sz="1900" b="0" u="none" strike="noStrike">
              <a:solidFill>
                <a:srgbClr val="000000"/>
              </a:solidFill>
              <a:effectLst/>
              <a:uFillTx/>
              <a:latin typeface="Arial"/>
            </a:endParaRPr>
          </a:p>
        </p:txBody>
      </p:sp>
      <p:sp>
        <p:nvSpPr>
          <p:cNvPr id="202" name="Rectangle 11"/>
          <p:cNvSpPr/>
          <p:nvPr/>
        </p:nvSpPr>
        <p:spPr>
          <a:xfrm>
            <a:off x="548640" y="4701600"/>
            <a:ext cx="11091240" cy="1142640"/>
          </a:xfrm>
          <a:prstGeom prst="roundRect">
            <a:avLst>
              <a:gd name="adj" fmla="val 9600"/>
            </a:avLst>
          </a:prstGeom>
          <a:solidFill>
            <a:srgbClr val="F7F6F2"/>
          </a:solidFill>
          <a:ln w="12700">
            <a:solidFill>
              <a:srgbClr val="DDD8CC"/>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03" name="TextBox 12"/>
          <p:cNvSpPr/>
          <p:nvPr/>
        </p:nvSpPr>
        <p:spPr>
          <a:xfrm>
            <a:off x="777240" y="4856760"/>
            <a:ext cx="2742840" cy="32868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defTabSz="914400">
              <a:lnSpc>
                <a:spcPct val="100000"/>
              </a:lnSpc>
            </a:pPr>
            <a:r>
              <a:rPr lang="en-US" sz="1500" b="1" u="none" strike="noStrike">
                <a:solidFill>
                  <a:srgbClr val="C1440E"/>
                </a:solidFill>
                <a:effectLst/>
                <a:uFillTx/>
                <a:latin typeface="Calibri"/>
              </a:rPr>
              <a:t>03  VALIDATION PLANE</a:t>
            </a:r>
            <a:endParaRPr lang="en-US" sz="1500" b="0" u="none" strike="noStrike">
              <a:solidFill>
                <a:srgbClr val="000000"/>
              </a:solidFill>
              <a:effectLst/>
              <a:uFillTx/>
              <a:latin typeface="Arial"/>
            </a:endParaRPr>
          </a:p>
        </p:txBody>
      </p:sp>
      <p:sp>
        <p:nvSpPr>
          <p:cNvPr id="204" name="TextBox 13"/>
          <p:cNvSpPr/>
          <p:nvPr/>
        </p:nvSpPr>
        <p:spPr>
          <a:xfrm>
            <a:off x="3337560" y="4884480"/>
            <a:ext cx="7954920" cy="65808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defTabSz="914400">
              <a:lnSpc>
                <a:spcPct val="100000"/>
              </a:lnSpc>
            </a:pPr>
            <a:r>
              <a:rPr lang="en-US" sz="1900" b="1" u="none" strike="noStrike">
                <a:solidFill>
                  <a:srgbClr val="2B2B2B"/>
                </a:solidFill>
                <a:effectLst/>
                <a:uFillTx/>
                <a:latin typeface="Cambria"/>
              </a:rPr>
              <a:t>Behavioral equivalence  •  security  •  performance  •  rollback  •  operability</a:t>
            </a:r>
            <a:endParaRPr lang="en-US" sz="19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B598A909-504D-4195-AFF7-C4542B97D7C3}" type="slidenum">
              <a:rPr/>
              <a:t>18</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196"/>
                                  </p:tgtEl>
                                  <p:attrNameLst>
                                    <p:attrName>style.visibility</p:attrName>
                                  </p:attrNameLst>
                                </p:cBhvr>
                                <p:to>
                                  <p:strVal val="visible"/>
                                </p:to>
                              </p:set>
                              <p:animEffect transition="in" filter="fade">
                                <p:cBhvr additive="repl">
                                  <p:cTn id="6" dur="500"/>
                                  <p:tgtEl>
                                    <p:spTgt spid="196"/>
                                  </p:tgtEl>
                                </p:cBhvr>
                              </p:animEffect>
                            </p:childTnLst>
                          </p:cTn>
                        </p:par>
                        <p:par>
                          <p:cTn id="7" presetID="10" presetClass="entr" fill="hold" nodeType="clickEffect">
                            <p:stCondLst>
                              <p:cond delay="0"/>
                            </p:stCondLst>
                            <p:childTnLst>
                              <p:set>
                                <p:cBhvr>
                                  <p:cTn id="8" dur="1" fill="hold">
                                    <p:stCondLst>
                                      <p:cond delay="0"/>
                                    </p:stCondLst>
                                  </p:cTn>
                                  <p:tgtEl>
                                    <p:spTgt spid="197"/>
                                  </p:tgtEl>
                                  <p:attrNameLst>
                                    <p:attrName>style.visibility</p:attrName>
                                  </p:attrNameLst>
                                </p:cBhvr>
                                <p:to>
                                  <p:strVal val="visible"/>
                                </p:to>
                              </p:set>
                              <p:animEffect transition="in" filter="fade">
                                <p:cBhvr additive="repl">
                                  <p:cTn id="9" dur="500"/>
                                  <p:tgtEl>
                                    <p:spTgt spid="197"/>
                                  </p:tgtEl>
                                </p:cBhvr>
                              </p:animEffect>
                            </p:childTnLst>
                          </p:cTn>
                        </p:par>
                        <p:par>
                          <p:cTn id="10" presetID="10" presetClass="entr" fill="hold" nodeType="clickEffect">
                            <p:stCondLst>
                              <p:cond delay="0"/>
                            </p:stCondLst>
                            <p:childTnLst>
                              <p:set>
                                <p:cBhvr>
                                  <p:cTn id="11" dur="1" fill="hold">
                                    <p:stCondLst>
                                      <p:cond delay="0"/>
                                    </p:stCondLst>
                                  </p:cTn>
                                  <p:tgtEl>
                                    <p:spTgt spid="198"/>
                                  </p:tgtEl>
                                  <p:attrNameLst>
                                    <p:attrName>style.visibility</p:attrName>
                                  </p:attrNameLst>
                                </p:cBhvr>
                                <p:to>
                                  <p:strVal val="visible"/>
                                </p:to>
                              </p:set>
                              <p:animEffect transition="in" filter="fade">
                                <p:cBhvr additive="repl">
                                  <p:cTn id="12" dur="500"/>
                                  <p:tgtEl>
                                    <p:spTgt spid="198"/>
                                  </p:tgtEl>
                                </p:cBhvr>
                              </p:animEffect>
                            </p:childTnLst>
                          </p:cTn>
                        </p:par>
                      </p:childTnLst>
                    </p:cTn>
                  </p:par>
                  <p:par>
                    <p:cTn id="13" fill="hold">
                      <p:stCondLst>
                        <p:cond delay="indefinite"/>
                      </p:stCondLst>
                      <p:childTnLst>
                        <p:par>
                          <p:cTn id="14" presetID="10" presetClass="entr" fill="hold" nodeType="clickEffect">
                            <p:stCondLst>
                              <p:cond delay="0"/>
                            </p:stCondLst>
                            <p:childTnLst>
                              <p:set>
                                <p:cBhvr>
                                  <p:cTn id="15" dur="1" fill="hold">
                                    <p:stCondLst>
                                      <p:cond delay="0"/>
                                    </p:stCondLst>
                                  </p:cTn>
                                  <p:tgtEl>
                                    <p:spTgt spid="199"/>
                                  </p:tgtEl>
                                  <p:attrNameLst>
                                    <p:attrName>style.visibility</p:attrName>
                                  </p:attrNameLst>
                                </p:cBhvr>
                                <p:to>
                                  <p:strVal val="visible"/>
                                </p:to>
                              </p:set>
                              <p:animEffect transition="in" filter="fade">
                                <p:cBhvr additive="repl">
                                  <p:cTn id="16" dur="500"/>
                                  <p:tgtEl>
                                    <p:spTgt spid="199"/>
                                  </p:tgtEl>
                                </p:cBhvr>
                              </p:animEffect>
                            </p:childTnLst>
                          </p:cTn>
                        </p:par>
                        <p:par>
                          <p:cTn id="17" presetID="10" presetClass="entr" fill="hold" nodeType="clickEffect">
                            <p:stCondLst>
                              <p:cond delay="0"/>
                            </p:stCondLst>
                            <p:childTnLst>
                              <p:set>
                                <p:cBhvr>
                                  <p:cTn id="18" dur="1" fill="hold">
                                    <p:stCondLst>
                                      <p:cond delay="0"/>
                                    </p:stCondLst>
                                  </p:cTn>
                                  <p:tgtEl>
                                    <p:spTgt spid="200"/>
                                  </p:tgtEl>
                                  <p:attrNameLst>
                                    <p:attrName>style.visibility</p:attrName>
                                  </p:attrNameLst>
                                </p:cBhvr>
                                <p:to>
                                  <p:strVal val="visible"/>
                                </p:to>
                              </p:set>
                              <p:animEffect transition="in" filter="fade">
                                <p:cBhvr additive="repl">
                                  <p:cTn id="19" dur="500"/>
                                  <p:tgtEl>
                                    <p:spTgt spid="200"/>
                                  </p:tgtEl>
                                </p:cBhvr>
                              </p:animEffect>
                            </p:childTnLst>
                          </p:cTn>
                        </p:par>
                        <p:par>
                          <p:cTn id="20" presetID="10" presetClass="entr" fill="hold" nodeType="clickEffect">
                            <p:stCondLst>
                              <p:cond delay="0"/>
                            </p:stCondLst>
                            <p:childTnLst>
                              <p:set>
                                <p:cBhvr>
                                  <p:cTn id="21" dur="1" fill="hold">
                                    <p:stCondLst>
                                      <p:cond delay="0"/>
                                    </p:stCondLst>
                                  </p:cTn>
                                  <p:tgtEl>
                                    <p:spTgt spid="201"/>
                                  </p:tgtEl>
                                  <p:attrNameLst>
                                    <p:attrName>style.visibility</p:attrName>
                                  </p:attrNameLst>
                                </p:cBhvr>
                                <p:to>
                                  <p:strVal val="visible"/>
                                </p:to>
                              </p:set>
                              <p:animEffect transition="in" filter="fade">
                                <p:cBhvr additive="repl">
                                  <p:cTn id="22" dur="500"/>
                                  <p:tgtEl>
                                    <p:spTgt spid="201"/>
                                  </p:tgtEl>
                                </p:cBhvr>
                              </p:animEffect>
                            </p:childTnLst>
                          </p:cTn>
                        </p:par>
                      </p:childTnLst>
                    </p:cTn>
                  </p:par>
                  <p:par>
                    <p:cTn id="23" fill="hold">
                      <p:stCondLst>
                        <p:cond delay="indefinite"/>
                      </p:stCondLst>
                      <p:childTnLst>
                        <p:par>
                          <p:cTn id="24" presetID="10" presetClass="entr" fill="hold" nodeType="clickEffect">
                            <p:stCondLst>
                              <p:cond delay="0"/>
                            </p:stCondLst>
                            <p:childTnLst>
                              <p:set>
                                <p:cBhvr>
                                  <p:cTn id="25" dur="1" fill="hold">
                                    <p:stCondLst>
                                      <p:cond delay="0"/>
                                    </p:stCondLst>
                                  </p:cTn>
                                  <p:tgtEl>
                                    <p:spTgt spid="202"/>
                                  </p:tgtEl>
                                  <p:attrNameLst>
                                    <p:attrName>style.visibility</p:attrName>
                                  </p:attrNameLst>
                                </p:cBhvr>
                                <p:to>
                                  <p:strVal val="visible"/>
                                </p:to>
                              </p:set>
                              <p:animEffect transition="in" filter="fade">
                                <p:cBhvr additive="repl">
                                  <p:cTn id="26" dur="500"/>
                                  <p:tgtEl>
                                    <p:spTgt spid="202"/>
                                  </p:tgtEl>
                                </p:cBhvr>
                              </p:animEffect>
                            </p:childTnLst>
                          </p:cTn>
                        </p:par>
                        <p:par>
                          <p:cTn id="27" presetID="10" presetClass="entr" fill="hold" nodeType="clickEffect">
                            <p:stCondLst>
                              <p:cond delay="0"/>
                            </p:stCondLst>
                            <p:childTnLst>
                              <p:set>
                                <p:cBhvr>
                                  <p:cTn id="28" dur="1" fill="hold">
                                    <p:stCondLst>
                                      <p:cond delay="0"/>
                                    </p:stCondLst>
                                  </p:cTn>
                                  <p:tgtEl>
                                    <p:spTgt spid="203"/>
                                  </p:tgtEl>
                                  <p:attrNameLst>
                                    <p:attrName>style.visibility</p:attrName>
                                  </p:attrNameLst>
                                </p:cBhvr>
                                <p:to>
                                  <p:strVal val="visible"/>
                                </p:to>
                              </p:set>
                              <p:animEffect transition="in" filter="fade">
                                <p:cBhvr additive="repl">
                                  <p:cTn id="29" dur="500"/>
                                  <p:tgtEl>
                                    <p:spTgt spid="203"/>
                                  </p:tgtEl>
                                </p:cBhvr>
                              </p:animEffect>
                            </p:childTnLst>
                          </p:cTn>
                        </p:par>
                        <p:par>
                          <p:cTn id="30" presetID="10" presetClass="entr" fill="hold" nodeType="clickEffect">
                            <p:stCondLst>
                              <p:cond delay="0"/>
                            </p:stCondLst>
                            <p:childTnLst>
                              <p:set>
                                <p:cBhvr>
                                  <p:cTn id="31" dur="1" fill="hold">
                                    <p:stCondLst>
                                      <p:cond delay="0"/>
                                    </p:stCondLst>
                                  </p:cTn>
                                  <p:tgtEl>
                                    <p:spTgt spid="204"/>
                                  </p:tgtEl>
                                  <p:attrNameLst>
                                    <p:attrName>style.visibility</p:attrName>
                                  </p:attrNameLst>
                                </p:cBhvr>
                                <p:to>
                                  <p:strVal val="visible"/>
                                </p:to>
                              </p:set>
                              <p:animEffect transition="in" filter="fade">
                                <p:cBhvr additive="repl">
                                  <p:cTn id="32" dur="500"/>
                                  <p:tgtEl>
                                    <p:spTgt spid="20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5"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06" name="Image 0" descr="/home/claude/pptx-build/assets/icons/FaRoute-FFFFFF-200.png"/>
          <p:cNvPicPr/>
          <p:nvPr/>
        </p:nvPicPr>
        <p:blipFill>
          <a:blip r:embed="rId3"/>
          <a:stretch/>
        </p:blipFill>
        <p:spPr>
          <a:xfrm>
            <a:off x="685800" y="594360"/>
            <a:ext cx="292320" cy="292320"/>
          </a:xfrm>
          <a:prstGeom prst="rect">
            <a:avLst/>
          </a:prstGeom>
          <a:noFill/>
          <a:ln w="0">
            <a:noFill/>
          </a:ln>
        </p:spPr>
      </p:pic>
      <p:sp>
        <p:nvSpPr>
          <p:cNvPr id="207"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208"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rPr>
              <a:t>Migration Methods</a:t>
            </a:r>
            <a:endParaRPr lang="en-US" sz="3200" b="0" u="none" strike="noStrike">
              <a:solidFill>
                <a:srgbClr val="000000"/>
              </a:solidFill>
              <a:effectLst/>
              <a:uFillTx/>
              <a:latin typeface="Arial"/>
            </a:endParaRPr>
          </a:p>
        </p:txBody>
      </p:sp>
      <p:graphicFrame>
        <p:nvGraphicFramePr>
          <p:cNvPr id="209" name="Table 5"/>
          <p:cNvGraphicFramePr/>
          <p:nvPr/>
        </p:nvGraphicFramePr>
        <p:xfrm>
          <a:off x="548640" y="1508760"/>
          <a:ext cx="11045520" cy="4160160"/>
        </p:xfrm>
        <a:graphic>
          <a:graphicData uri="http://schemas.openxmlformats.org/drawingml/2006/table">
            <a:tbl>
              <a:tblPr/>
              <a:tblGrid>
                <a:gridCol w="1449000">
                  <a:extLst>
                    <a:ext uri="{9D8B030D-6E8A-4147-A177-3AD203B41FA5}">
                      <a16:colId xmlns:a16="http://schemas.microsoft.com/office/drawing/2014/main" val="20000"/>
                    </a:ext>
                  </a:extLst>
                </a:gridCol>
                <a:gridCol w="3023640">
                  <a:extLst>
                    <a:ext uri="{9D8B030D-6E8A-4147-A177-3AD203B41FA5}">
                      <a16:colId xmlns:a16="http://schemas.microsoft.com/office/drawing/2014/main" val="20001"/>
                    </a:ext>
                  </a:extLst>
                </a:gridCol>
                <a:gridCol w="3312720">
                  <a:extLst>
                    <a:ext uri="{9D8B030D-6E8A-4147-A177-3AD203B41FA5}">
                      <a16:colId xmlns:a16="http://schemas.microsoft.com/office/drawing/2014/main" val="20002"/>
                    </a:ext>
                  </a:extLst>
                </a:gridCol>
                <a:gridCol w="3260160">
                  <a:extLst>
                    <a:ext uri="{9D8B030D-6E8A-4147-A177-3AD203B41FA5}">
                      <a16:colId xmlns:a16="http://schemas.microsoft.com/office/drawing/2014/main" val="20003"/>
                    </a:ext>
                  </a:extLst>
                </a:gridCol>
              </a:tblGrid>
              <a:tr h="576000">
                <a:tc>
                  <a:txBody>
                    <a:bodyPr/>
                    <a:lstStyle/>
                    <a:p>
                      <a:pPr defTabSz="914400">
                        <a:lnSpc>
                          <a:spcPct val="100000"/>
                        </a:lnSpc>
                      </a:pPr>
                      <a:r>
                        <a:rPr lang="en-US" sz="1400" b="1" u="none" strike="noStrike">
                          <a:solidFill>
                            <a:srgbClr val="F5F5F0"/>
                          </a:solidFill>
                          <a:effectLst/>
                          <a:uFillTx/>
                          <a:latin typeface="Calibri"/>
                        </a:rPr>
                        <a:t>MIGRATION PLANE</a:t>
                      </a:r>
                      <a:endParaRPr lang="en-US" sz="1400" b="0" u="none" strike="noStrike">
                        <a:solidFill>
                          <a:srgbClr val="FFFFFF"/>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3D2C"/>
                    </a:solidFill>
                  </a:tcPr>
                </a:tc>
                <a:tc>
                  <a:txBody>
                    <a:bodyPr/>
                    <a:lstStyle/>
                    <a:p>
                      <a:pPr defTabSz="914400">
                        <a:lnSpc>
                          <a:spcPct val="100000"/>
                        </a:lnSpc>
                      </a:pPr>
                      <a:r>
                        <a:rPr lang="en-US" sz="1400" b="1" u="none" strike="noStrike">
                          <a:solidFill>
                            <a:srgbClr val="F5F5F0"/>
                          </a:solidFill>
                          <a:effectLst/>
                          <a:uFillTx/>
                          <a:latin typeface="Calibri"/>
                        </a:rPr>
                        <a:t>OFFICIAL TOOLING</a:t>
                      </a:r>
                      <a:endParaRPr lang="en-US" sz="1400" b="0" u="none" strike="noStrike">
                        <a:solidFill>
                          <a:srgbClr val="FFFFFF"/>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3D2C"/>
                    </a:solidFill>
                  </a:tcPr>
                </a:tc>
                <a:tc>
                  <a:txBody>
                    <a:bodyPr/>
                    <a:lstStyle/>
                    <a:p>
                      <a:pPr defTabSz="914400">
                        <a:lnSpc>
                          <a:spcPct val="100000"/>
                        </a:lnSpc>
                      </a:pPr>
                      <a:r>
                        <a:rPr lang="en-US" sz="1400" b="1" u="none" strike="noStrike">
                          <a:solidFill>
                            <a:srgbClr val="F5F5F0"/>
                          </a:solidFill>
                          <a:effectLst/>
                          <a:uFillTx/>
                          <a:latin typeface="Calibri"/>
                        </a:rPr>
                        <a:t>MANUAL JUDGMENT</a:t>
                      </a:r>
                      <a:endParaRPr lang="en-US" sz="1400" b="0" u="none" strike="noStrike">
                        <a:solidFill>
                          <a:srgbClr val="FFFFFF"/>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3D2C"/>
                    </a:solidFill>
                  </a:tcPr>
                </a:tc>
                <a:tc>
                  <a:txBody>
                    <a:bodyPr/>
                    <a:lstStyle/>
                    <a:p>
                      <a:pPr defTabSz="914400">
                        <a:lnSpc>
                          <a:spcPct val="100000"/>
                        </a:lnSpc>
                      </a:pPr>
                      <a:r>
                        <a:rPr lang="en-US" sz="1400" b="1" u="none" strike="noStrike">
                          <a:solidFill>
                            <a:srgbClr val="F5F5F0"/>
                          </a:solidFill>
                          <a:effectLst/>
                          <a:uFillTx/>
                          <a:latin typeface="Calibri"/>
                        </a:rPr>
                        <a:t>AI ASSISTANCE</a:t>
                      </a:r>
                      <a:endParaRPr lang="en-US" sz="1400" b="0" u="none" strike="noStrike">
                        <a:solidFill>
                          <a:srgbClr val="FFFFFF"/>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3D2C"/>
                    </a:solidFill>
                  </a:tcPr>
                </a:tc>
                <a:extLst>
                  <a:ext uri="{0D108BD9-81ED-4DB2-BD59-A6C34878D82A}">
                    <a16:rowId xmlns:a16="http://schemas.microsoft.com/office/drawing/2014/main" val="10000"/>
                  </a:ext>
                </a:extLst>
              </a:tr>
              <a:tr h="1188720">
                <a:tc>
                  <a:txBody>
                    <a:bodyPr/>
                    <a:lstStyle/>
                    <a:p>
                      <a:pPr defTabSz="914400">
                        <a:lnSpc>
                          <a:spcPct val="100000"/>
                        </a:lnSpc>
                      </a:pPr>
                      <a:r>
                        <a:rPr lang="en-US" sz="1400" b="1" u="none" strike="noStrike">
                          <a:solidFill>
                            <a:srgbClr val="C1440E"/>
                          </a:solidFill>
                          <a:effectLst/>
                          <a:uFillTx/>
                          <a:latin typeface="Calibri"/>
                        </a:rPr>
                        <a:t>Repository data</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tc>
                  <a:txBody>
                    <a:bodyPr/>
                    <a:lstStyle/>
                    <a:p>
                      <a:pPr defTabSz="914400">
                        <a:lnSpc>
                          <a:spcPct val="100000"/>
                        </a:lnSpc>
                      </a:pPr>
                      <a:r>
                        <a:rPr lang="en-US" sz="1400" b="0" u="none" strike="noStrike">
                          <a:solidFill>
                            <a:srgbClr val="2B2B2B"/>
                          </a:solidFill>
                          <a:effectLst/>
                          <a:uFillTx/>
                          <a:latin typeface="Calibri"/>
                        </a:rPr>
                        <a:t>GEI / gh-ado2gh; Enterprise Live Migrations (ELM) where eligible.</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tc>
                  <a:txBody>
                    <a:bodyPr/>
                    <a:lstStyle/>
                    <a:p>
                      <a:pPr defTabSz="914400">
                        <a:lnSpc>
                          <a:spcPct val="100000"/>
                        </a:lnSpc>
                      </a:pPr>
                      <a:r>
                        <a:rPr lang="en-US" sz="1400" b="0" u="none" strike="noStrike">
                          <a:solidFill>
                            <a:srgbClr val="2B2B2B"/>
                          </a:solidFill>
                          <a:effectLst/>
                          <a:uFillTx/>
                          <a:latin typeface="Calibri"/>
                        </a:rPr>
                        <a:t>Resolve identity, permissions, visibility, and policy exceptions.</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tc>
                  <a:txBody>
                    <a:bodyPr/>
                    <a:lstStyle/>
                    <a:p>
                      <a:pPr defTabSz="914400">
                        <a:lnSpc>
                          <a:spcPct val="100000"/>
                        </a:lnSpc>
                      </a:pPr>
                      <a:r>
                        <a:rPr lang="en-US" sz="1400" b="0" u="none" strike="noStrike">
                          <a:solidFill>
                            <a:srgbClr val="2B2B2B"/>
                          </a:solidFill>
                          <a:effectLst/>
                          <a:uFillTx/>
                          <a:latin typeface="Calibri"/>
                        </a:rPr>
                        <a:t>Triage inventory and explain migration-log failures.</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extLst>
                  <a:ext uri="{0D108BD9-81ED-4DB2-BD59-A6C34878D82A}">
                    <a16:rowId xmlns:a16="http://schemas.microsoft.com/office/drawing/2014/main" val="10001"/>
                  </a:ext>
                </a:extLst>
              </a:tr>
              <a:tr h="1188720">
                <a:tc>
                  <a:txBody>
                    <a:bodyPr/>
                    <a:lstStyle/>
                    <a:p>
                      <a:pPr defTabSz="914400">
                        <a:lnSpc>
                          <a:spcPct val="100000"/>
                        </a:lnSpc>
                      </a:pPr>
                      <a:r>
                        <a:rPr lang="en-US" sz="1400" b="1" u="none" strike="noStrike">
                          <a:solidFill>
                            <a:srgbClr val="C1440E"/>
                          </a:solidFill>
                          <a:effectLst/>
                          <a:uFillTx/>
                          <a:latin typeface="Calibri"/>
                        </a:rPr>
                        <a:t>Automation</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400" b="0" u="none" strike="noStrike">
                          <a:solidFill>
                            <a:srgbClr val="2B2B2B"/>
                          </a:solidFill>
                          <a:effectLst/>
                          <a:uFillTx/>
                          <a:latin typeface="Calibri"/>
                        </a:rPr>
                        <a:t>Actions Importer audits and converts supported constructs.</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400" b="0" u="none" strike="noStrike">
                          <a:solidFill>
                            <a:srgbClr val="2B2B2B"/>
                          </a:solidFill>
                          <a:effectLst/>
                          <a:uFillTx/>
                          <a:latin typeface="Calibri"/>
                        </a:rPr>
                        <a:t>Redesign approvals, secrets, runners, environments, and lifecycle boundaries.</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400" b="0" u="none" strike="noStrike">
                          <a:solidFill>
                            <a:srgbClr val="2B2B2B"/>
                          </a:solidFill>
                          <a:effectLst/>
                          <a:uFillTx/>
                          <a:latin typeface="Calibri"/>
                        </a:rPr>
                        <a:t>Analyze intent, draft semantic conversions, and explain deltas.</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2"/>
                  </a:ext>
                </a:extLst>
              </a:tr>
              <a:tr h="1206720">
                <a:tc>
                  <a:txBody>
                    <a:bodyPr/>
                    <a:lstStyle/>
                    <a:p>
                      <a:pPr defTabSz="914400">
                        <a:lnSpc>
                          <a:spcPct val="100000"/>
                        </a:lnSpc>
                      </a:pPr>
                      <a:r>
                        <a:rPr lang="en-US" sz="1400" b="1" u="none" strike="noStrike">
                          <a:solidFill>
                            <a:srgbClr val="C1440E"/>
                          </a:solidFill>
                          <a:effectLst/>
                          <a:uFillTx/>
                          <a:latin typeface="Calibri"/>
                        </a:rPr>
                        <a:t>Validation</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tc>
                  <a:txBody>
                    <a:bodyPr/>
                    <a:lstStyle/>
                    <a:p>
                      <a:pPr defTabSz="914400">
                        <a:lnSpc>
                          <a:spcPct val="100000"/>
                        </a:lnSpc>
                      </a:pPr>
                      <a:r>
                        <a:rPr lang="en-US" sz="1400" b="0" u="none" strike="noStrike">
                          <a:solidFill>
                            <a:srgbClr val="2B2B2B"/>
                          </a:solidFill>
                          <a:effectLst/>
                          <a:uFillTx/>
                          <a:latin typeface="Calibri"/>
                        </a:rPr>
                        <a:t>Tests, scanners, deployment gates, and observability.</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tc>
                  <a:txBody>
                    <a:bodyPr/>
                    <a:lstStyle/>
                    <a:p>
                      <a:pPr defTabSz="914400">
                        <a:lnSpc>
                          <a:spcPct val="100000"/>
                        </a:lnSpc>
                      </a:pPr>
                      <a:r>
                        <a:rPr lang="en-US" sz="1400" b="0" u="none" strike="noStrike">
                          <a:solidFill>
                            <a:srgbClr val="2B2B2B"/>
                          </a:solidFill>
                          <a:effectLst/>
                          <a:uFillTx/>
                          <a:latin typeface="Calibri"/>
                        </a:rPr>
                        <a:t>Own acceptance criteria, risk decisions, cutover, and rollback.</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tc>
                  <a:txBody>
                    <a:bodyPr/>
                    <a:lstStyle/>
                    <a:p>
                      <a:pPr defTabSz="914400">
                        <a:lnSpc>
                          <a:spcPct val="100000"/>
                        </a:lnSpc>
                      </a:pPr>
                      <a:r>
                        <a:rPr lang="en-US" sz="1400" b="0" u="none" strike="noStrike">
                          <a:solidFill>
                            <a:srgbClr val="2B2B2B"/>
                          </a:solidFill>
                          <a:effectLst/>
                          <a:uFillTx/>
                          <a:latin typeface="Calibri"/>
                        </a:rPr>
                        <a:t>Generate test hypotheses, compare behavior, and triage failures.</a:t>
                      </a:r>
                      <a:endParaRPr lang="en-US" sz="1400" b="0" u="none" strike="noStrike">
                        <a:solidFill>
                          <a:srgbClr val="000000"/>
                        </a:solidFill>
                        <a:effectLst/>
                        <a:uFillTx/>
                        <a:latin typeface="Arial"/>
                      </a:endParaRPr>
                    </a:p>
                  </a:txBody>
                  <a:tcPr marT="63720" marB="6372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7F6F2"/>
                    </a:solidFill>
                  </a:tcPr>
                </a:tc>
                <a:extLst>
                  <a:ext uri="{0D108BD9-81ED-4DB2-BD59-A6C34878D82A}">
                    <a16:rowId xmlns:a16="http://schemas.microsoft.com/office/drawing/2014/main" val="10003"/>
                  </a:ext>
                </a:extLst>
              </a:tr>
            </a:tbl>
          </a:graphicData>
        </a:graphic>
      </p:graphicFrame>
      <p:sp>
        <p:nvSpPr>
          <p:cNvPr id="210" name="Rounded Rectangle 7"/>
          <p:cNvSpPr/>
          <p:nvPr/>
        </p:nvSpPr>
        <p:spPr>
          <a:xfrm>
            <a:off x="548640" y="5783040"/>
            <a:ext cx="11063880" cy="73116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1" name="TextBox 6"/>
          <p:cNvSpPr/>
          <p:nvPr/>
        </p:nvSpPr>
        <p:spPr>
          <a:xfrm>
            <a:off x="548640" y="5783040"/>
            <a:ext cx="11063880" cy="73116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spAutoFit/>
          </a:bodyPr>
          <a:lstStyle/>
          <a:p>
            <a:pPr defTabSz="914400">
              <a:lnSpc>
                <a:spcPct val="100000"/>
              </a:lnSpc>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 methods are complementary. None is a substitute for evidence in the validation plane.</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3FEE3F59-5B43-4E05-A5A4-4649480864B8}" type="slidenum">
              <a:rPr/>
              <a:t>19</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211"/>
                                  </p:tgtEl>
                                  <p:attrNameLst>
                                    <p:attrName>style.visibility</p:attrName>
                                  </p:attrNameLst>
                                </p:cBhvr>
                                <p:to>
                                  <p:strVal val="visible"/>
                                </p:to>
                              </p:set>
                              <p:animEffect transition="in" filter="fade">
                                <p:cBhvr additive="repl">
                                  <p:cTn id="6" dur="500"/>
                                  <p:tgtEl>
                                    <p:spTgt spid="211"/>
                                  </p:tgtEl>
                                </p:cBhvr>
                              </p:animEffect>
                            </p:childTnLst>
                          </p:cTn>
                        </p:par>
                        <p:par>
                          <p:cTn id="7" presetID="10" presetClass="entr"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additive="repl">
                                  <p:cTn id="9" dur="500"/>
                                  <p:tgtEl>
                                    <p:spTgt spid="210"/>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2"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13" name="Image 0" descr="/home/claude/pptx-build/assets/icons/FaDatabase-FFFFFF-200.png"/>
          <p:cNvPicPr/>
          <p:nvPr/>
        </p:nvPicPr>
        <p:blipFill>
          <a:blip r:embed="rId3"/>
          <a:stretch/>
        </p:blipFill>
        <p:spPr>
          <a:xfrm>
            <a:off x="685800" y="594360"/>
            <a:ext cx="292320" cy="292320"/>
          </a:xfrm>
          <a:prstGeom prst="rect">
            <a:avLst/>
          </a:prstGeom>
          <a:noFill/>
          <a:ln w="0">
            <a:noFill/>
          </a:ln>
        </p:spPr>
      </p:pic>
      <p:sp>
        <p:nvSpPr>
          <p:cNvPr id="214"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215" name="Text 2"/>
          <p:cNvSpPr/>
          <p:nvPr/>
        </p:nvSpPr>
        <p:spPr>
          <a:xfrm>
            <a:off x="1234440" y="749880"/>
            <a:ext cx="10515240" cy="86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3200" b="1" u="none" strike="noStrike">
                <a:solidFill>
                  <a:srgbClr val="1F3D2C"/>
                </a:solidFill>
                <a:effectLst/>
                <a:uFillTx/>
                <a:latin typeface="Cambria"/>
              </a:rPr>
              <a:t>Repository Plane — gh-ado2gh Orchestrates the Move</a:t>
            </a:r>
            <a:endParaRPr lang="en-US" sz="3200" b="0" u="none" strike="noStrike">
              <a:solidFill>
                <a:srgbClr val="000000"/>
              </a:solidFill>
              <a:effectLst/>
              <a:uFillTx/>
              <a:latin typeface="Arial"/>
            </a:endParaRPr>
          </a:p>
        </p:txBody>
      </p:sp>
      <p:sp>
        <p:nvSpPr>
          <p:cNvPr id="216" name="Shape 3"/>
          <p:cNvSpPr/>
          <p:nvPr/>
        </p:nvSpPr>
        <p:spPr>
          <a:xfrm>
            <a:off x="548640" y="1645920"/>
            <a:ext cx="5348880" cy="3428640"/>
          </a:xfrm>
          <a:prstGeom prst="roundRect">
            <a:avLst>
              <a:gd name="adj" fmla="val 32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17" name="Text 4"/>
          <p:cNvSpPr/>
          <p:nvPr/>
        </p:nvSpPr>
        <p:spPr>
          <a:xfrm>
            <a:off x="822960" y="182880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F3D2C"/>
                </a:solidFill>
                <a:effectLst/>
                <a:uFillTx/>
                <a:latin typeface="Cambria"/>
              </a:rPr>
              <a:t>What It Does</a:t>
            </a:r>
            <a:endParaRPr lang="en-US" sz="1900" b="0" u="none" strike="noStrike">
              <a:solidFill>
                <a:srgbClr val="000000"/>
              </a:solidFill>
              <a:effectLst/>
              <a:uFillTx/>
              <a:latin typeface="Arial"/>
            </a:endParaRPr>
          </a:p>
        </p:txBody>
      </p:sp>
      <p:sp>
        <p:nvSpPr>
          <p:cNvPr id="218" name="Text 5"/>
          <p:cNvSpPr/>
          <p:nvPr/>
        </p:nvSpPr>
        <p:spPr>
          <a:xfrm>
            <a:off x="822960" y="2331720"/>
            <a:ext cx="4800240" cy="265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285840" indent="-285840" defTabSz="914400">
              <a:lnSpc>
                <a:spcPct val="110000"/>
              </a:lnSpc>
              <a:spcAft>
                <a:spcPts val="799"/>
              </a:spcAft>
              <a:buClr>
                <a:srgbClr val="2B2B2B"/>
              </a:buClr>
              <a:buFont typeface="Arial"/>
              <a:buChar char="•"/>
            </a:pPr>
            <a:r>
              <a:rPr lang="en-US" sz="1450" b="0" u="none" strike="noStrike">
                <a:solidFill>
                  <a:srgbClr val="2B2B2B"/>
                </a:solidFill>
                <a:effectLst/>
                <a:uFillTx/>
                <a:latin typeface="Calibri"/>
              </a:rPr>
              <a:t>GitHub Enterprise Importer (GEI) is a set of GitHub CLI extensions (including </a:t>
            </a:r>
            <a:r>
              <a:rPr lang="en-US" sz="1450" b="0" u="none" strike="noStrike">
                <a:solidFill>
                  <a:srgbClr val="2B2B2B"/>
                </a:solidFill>
                <a:effectLst/>
                <a:uFillTx/>
                <a:latin typeface="Cascadia Code"/>
              </a:rPr>
              <a:t>ado2gh</a:t>
            </a:r>
            <a:r>
              <a:rPr lang="en-US" sz="1450" b="0" u="none" strike="noStrike">
                <a:solidFill>
                  <a:srgbClr val="2B2B2B"/>
                </a:solidFill>
                <a:effectLst/>
                <a:uFillTx/>
                <a:latin typeface="Calibri"/>
              </a:rPr>
              <a:t>)</a:t>
            </a:r>
            <a:endParaRPr lang="en-US" sz="1450" b="0" u="none" strike="noStrike">
              <a:solidFill>
                <a:srgbClr val="000000"/>
              </a:solidFill>
              <a:effectLst/>
              <a:uFillTx/>
              <a:latin typeface="Arial"/>
            </a:endParaRPr>
          </a:p>
          <a:p>
            <a:pPr marL="285840" indent="-285840" defTabSz="914400">
              <a:lnSpc>
                <a:spcPct val="110000"/>
              </a:lnSpc>
              <a:spcAft>
                <a:spcPts val="799"/>
              </a:spcAft>
              <a:buClr>
                <a:srgbClr val="2B2B2B"/>
              </a:buClr>
              <a:buFont typeface="Arial"/>
              <a:buChar char="•"/>
            </a:pPr>
            <a:r>
              <a:rPr lang="en-US" sz="1450" b="0" u="none" strike="noStrike">
                <a:solidFill>
                  <a:srgbClr val="2B2B2B"/>
                </a:solidFill>
                <a:effectLst/>
                <a:uFillTx/>
                <a:latin typeface="Cascadia Code"/>
                <a:ea typeface="Cascadia Mono"/>
              </a:rPr>
              <a:t>inventory-report</a:t>
            </a:r>
            <a:r>
              <a:rPr lang="en-US" sz="1450" b="0" u="none" strike="noStrike">
                <a:solidFill>
                  <a:srgbClr val="2B2B2B"/>
                </a:solidFill>
                <a:effectLst/>
                <a:uFillTx/>
                <a:latin typeface="Calibri"/>
                <a:ea typeface="Cascadia Mono"/>
              </a:rPr>
              <a:t> profiles repositories and PR volume</a:t>
            </a:r>
            <a:endParaRPr lang="en-US" sz="145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50" b="0" u="none" strike="noStrike">
                <a:solidFill>
                  <a:srgbClr val="2B2B2B"/>
                </a:solidFill>
                <a:effectLst/>
                <a:uFillTx/>
                <a:latin typeface="Cascadia Code"/>
                <a:ea typeface="Cascadia Mono"/>
              </a:rPr>
              <a:t>generate-script</a:t>
            </a:r>
            <a:r>
              <a:rPr lang="en-US" sz="1450" b="0" u="none" strike="noStrike">
                <a:solidFill>
                  <a:srgbClr val="2B2B2B"/>
                </a:solidFill>
                <a:effectLst/>
                <a:uFillTx/>
                <a:latin typeface="Calibri"/>
                <a:ea typeface="Cascadia Mono"/>
              </a:rPr>
              <a:t> creates reviewable migration code</a:t>
            </a:r>
            <a:endParaRPr lang="en-US" sz="145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50" b="0" u="none" strike="noStrike">
                <a:solidFill>
                  <a:srgbClr val="2B2B2B"/>
                </a:solidFill>
                <a:effectLst/>
                <a:uFillTx/>
                <a:latin typeface="Cascadia Code"/>
                <a:ea typeface="Cascadia Mono"/>
              </a:rPr>
              <a:t>--all </a:t>
            </a:r>
            <a:r>
              <a:rPr lang="en-US" sz="1450" b="0" u="none" strike="noStrike">
                <a:solidFill>
                  <a:srgbClr val="2B2B2B"/>
                </a:solidFill>
                <a:effectLst/>
                <a:uFillTx/>
                <a:latin typeface="Calibri"/>
                <a:ea typeface="Cascadia Mono"/>
              </a:rPr>
              <a:t>adds team creation, Boards integration, and pipeline rewiring</a:t>
            </a:r>
            <a:endParaRPr lang="en-US" sz="1450" b="0" u="none" strike="noStrike">
              <a:solidFill>
                <a:srgbClr val="000000"/>
              </a:solidFill>
              <a:effectLst/>
              <a:uFillTx/>
              <a:latin typeface="Arial"/>
            </a:endParaRPr>
          </a:p>
        </p:txBody>
      </p:sp>
      <p:sp>
        <p:nvSpPr>
          <p:cNvPr id="219" name="Shape 6"/>
          <p:cNvSpPr/>
          <p:nvPr/>
        </p:nvSpPr>
        <p:spPr>
          <a:xfrm>
            <a:off x="6263640" y="1645920"/>
            <a:ext cx="5348880" cy="3428640"/>
          </a:xfrm>
          <a:prstGeom prst="roundRect">
            <a:avLst>
              <a:gd name="adj" fmla="val 3200"/>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20" name="Text 7"/>
          <p:cNvSpPr/>
          <p:nvPr/>
        </p:nvSpPr>
        <p:spPr>
          <a:xfrm>
            <a:off x="6537960" y="182880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F5F5F0"/>
                </a:solidFill>
                <a:effectLst/>
                <a:uFillTx/>
                <a:latin typeface="Cambria"/>
              </a:rPr>
              <a:t>Where the Boundary Is</a:t>
            </a:r>
            <a:endParaRPr lang="en-US" sz="1900" b="0" u="none" strike="noStrike">
              <a:solidFill>
                <a:srgbClr val="000000"/>
              </a:solidFill>
              <a:effectLst/>
              <a:uFillTx/>
              <a:latin typeface="Arial"/>
            </a:endParaRPr>
          </a:p>
        </p:txBody>
      </p:sp>
      <p:sp>
        <p:nvSpPr>
          <p:cNvPr id="221" name="Text 8"/>
          <p:cNvSpPr/>
          <p:nvPr/>
        </p:nvSpPr>
        <p:spPr>
          <a:xfrm>
            <a:off x="6537960" y="2331720"/>
            <a:ext cx="4800240" cy="265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285840" indent="-285840" defTabSz="914400">
              <a:lnSpc>
                <a:spcPct val="100000"/>
              </a:lnSpc>
              <a:spcBef>
                <a:spcPts val="799"/>
              </a:spcBef>
              <a:buClr>
                <a:srgbClr val="F5F5F0"/>
              </a:buClr>
              <a:buFont typeface="Arial"/>
              <a:buChar char="•"/>
            </a:pPr>
            <a:r>
              <a:rPr lang="en-US" sz="1450" b="0" u="none" strike="noStrike">
                <a:solidFill>
                  <a:srgbClr val="F5F5F0"/>
                </a:solidFill>
                <a:effectLst/>
                <a:uFillTx/>
                <a:latin typeface="Calibri"/>
              </a:rPr>
              <a:t>Pipeline-logic conversion belongs to elsewhere (Actions Importer)</a:t>
            </a:r>
            <a:endParaRPr lang="en-US" sz="1450" b="0" u="none" strike="noStrike">
              <a:solidFill>
                <a:srgbClr val="000000"/>
              </a:solidFill>
              <a:effectLst/>
              <a:uFillTx/>
              <a:latin typeface="Arial"/>
            </a:endParaRPr>
          </a:p>
          <a:p>
            <a:pPr marL="285840" indent="-285840" defTabSz="914400">
              <a:lnSpc>
                <a:spcPct val="100000"/>
              </a:lnSpc>
              <a:spcBef>
                <a:spcPts val="799"/>
              </a:spcBef>
              <a:buClr>
                <a:srgbClr val="F5F5F0"/>
              </a:buClr>
              <a:buFont typeface="Arial"/>
              <a:buChar char="•"/>
            </a:pPr>
            <a:r>
              <a:rPr lang="en-US" sz="1450" b="0" u="none" strike="noStrike">
                <a:solidFill>
                  <a:srgbClr val="F5F5F0"/>
                </a:solidFill>
                <a:effectLst/>
                <a:uFillTx/>
                <a:latin typeface="Calibri"/>
              </a:rPr>
              <a:t>LFS transfer and identity decisions remain separate work</a:t>
            </a:r>
            <a:endParaRPr lang="en-US" sz="1450" b="0" u="none" strike="noStrike">
              <a:solidFill>
                <a:srgbClr val="000000"/>
              </a:solidFill>
              <a:effectLst/>
              <a:uFillTx/>
              <a:latin typeface="Arial"/>
            </a:endParaRPr>
          </a:p>
        </p:txBody>
      </p:sp>
      <p:sp>
        <p:nvSpPr>
          <p:cNvPr id="222" name="Shape 9"/>
          <p:cNvSpPr/>
          <p:nvPr/>
        </p:nvSpPr>
        <p:spPr>
          <a:xfrm>
            <a:off x="548640" y="5257800"/>
            <a:ext cx="11063880" cy="1234080"/>
          </a:xfrm>
          <a:prstGeom prst="roundRect">
            <a:avLst>
              <a:gd name="adj" fmla="val 12632"/>
            </a:avLst>
          </a:prstGeom>
          <a:solidFill>
            <a:srgbClr val="F7F6F2"/>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23" name="Text 10"/>
          <p:cNvSpPr/>
          <p:nvPr/>
        </p:nvSpPr>
        <p:spPr>
          <a:xfrm>
            <a:off x="548640" y="5257800"/>
            <a:ext cx="11063880" cy="123408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0000"/>
              </a:lnSpc>
              <a:tabLst>
                <a:tab pos="0" algn="l"/>
              </a:tabLst>
            </a:pPr>
            <a:r>
              <a:rPr lang="en-US" sz="1250" b="1" u="none" strike="noStrike" spc="119">
                <a:solidFill>
                  <a:srgbClr val="C1440E"/>
                </a:solidFill>
                <a:effectLst/>
                <a:uFillTx/>
                <a:latin typeface="Calibri"/>
              </a:rPr>
              <a:t>DO THIS </a:t>
            </a:r>
            <a:r>
              <a:rPr lang="en-US" sz="1500" b="0" u="none" strike="noStrike">
                <a:solidFill>
                  <a:srgbClr val="2B2B2B"/>
                </a:solidFill>
                <a:effectLst/>
                <a:uFillTx/>
                <a:latin typeface="Calibri"/>
              </a:rPr>
              <a:t>Treat the generated script as production migration code: review it, version it, and make ownership explicit.</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828E612F-5F12-4472-B1D4-497610638FF3}" type="slidenum">
              <a:rPr/>
              <a:t>20</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222"/>
                                  </p:tgtEl>
                                  <p:attrNameLst>
                                    <p:attrName>style.visibility</p:attrName>
                                  </p:attrNameLst>
                                </p:cBhvr>
                                <p:to>
                                  <p:strVal val="visible"/>
                                </p:to>
                              </p:set>
                              <p:animEffect transition="in" filter="fade">
                                <p:cBhvr additive="repl">
                                  <p:cTn id="6" dur="500"/>
                                  <p:tgtEl>
                                    <p:spTgt spid="222"/>
                                  </p:tgtEl>
                                </p:cBhvr>
                              </p:animEffect>
                            </p:childTnLst>
                          </p:cTn>
                        </p:par>
                        <p:par>
                          <p:cTn id="7" presetID="10" presetClass="entr" fill="hold" nodeType="clickEffect">
                            <p:stCondLst>
                              <p:cond delay="0"/>
                            </p:stCondLst>
                            <p:childTnLst>
                              <p:set>
                                <p:cBhvr>
                                  <p:cTn id="8" dur="1" fill="hold">
                                    <p:stCondLst>
                                      <p:cond delay="0"/>
                                    </p:stCondLst>
                                  </p:cTn>
                                  <p:tgtEl>
                                    <p:spTgt spid="223"/>
                                  </p:tgtEl>
                                  <p:attrNameLst>
                                    <p:attrName>style.visibility</p:attrName>
                                  </p:attrNameLst>
                                </p:cBhvr>
                                <p:to>
                                  <p:strVal val="visible"/>
                                </p:to>
                              </p:set>
                              <p:animEffect transition="in" filter="fade">
                                <p:cBhvr additive="repl">
                                  <p:cTn id="9" dur="500"/>
                                  <p:tgtEl>
                                    <p:spTgt spid="223"/>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25" name="Image 0" descr="/home/claude/pptx-build/assets/icons/FaFlask-FFFFFF-200.png"/>
          <p:cNvPicPr/>
          <p:nvPr/>
        </p:nvPicPr>
        <p:blipFill>
          <a:blip r:embed="rId3"/>
          <a:stretch/>
        </p:blipFill>
        <p:spPr>
          <a:xfrm>
            <a:off x="685800" y="594360"/>
            <a:ext cx="292320" cy="292320"/>
          </a:xfrm>
          <a:prstGeom prst="rect">
            <a:avLst/>
          </a:prstGeom>
          <a:noFill/>
          <a:ln w="0">
            <a:noFill/>
          </a:ln>
        </p:spPr>
      </p:pic>
      <p:sp>
        <p:nvSpPr>
          <p:cNvPr id="226"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227" name="Text 2"/>
          <p:cNvSpPr/>
          <p:nvPr/>
        </p:nvSpPr>
        <p:spPr>
          <a:xfrm>
            <a:off x="1234440" y="749880"/>
            <a:ext cx="10515240" cy="86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3200" b="1" u="none" strike="noStrike">
                <a:solidFill>
                  <a:srgbClr val="1F3D2C"/>
                </a:solidFill>
                <a:effectLst/>
                <a:uFillTx/>
                <a:latin typeface="Cambria"/>
              </a:rPr>
              <a:t>Repository Plane — ELM Reduces Cutover Disruption</a:t>
            </a:r>
            <a:endParaRPr lang="en-US" sz="3200" b="0" u="none" strike="noStrike">
              <a:solidFill>
                <a:srgbClr val="000000"/>
              </a:solidFill>
              <a:effectLst/>
              <a:uFillTx/>
              <a:latin typeface="Arial"/>
            </a:endParaRPr>
          </a:p>
        </p:txBody>
      </p:sp>
      <p:sp>
        <p:nvSpPr>
          <p:cNvPr id="228" name="Shape 3"/>
          <p:cNvSpPr/>
          <p:nvPr/>
        </p:nvSpPr>
        <p:spPr>
          <a:xfrm>
            <a:off x="548640" y="1531080"/>
            <a:ext cx="11063880" cy="813600"/>
          </a:xfrm>
          <a:prstGeom prst="roundRect">
            <a:avLst>
              <a:gd name="adj" fmla="val 80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29" name="Text 4"/>
          <p:cNvSpPr/>
          <p:nvPr/>
        </p:nvSpPr>
        <p:spPr>
          <a:xfrm>
            <a:off x="822960" y="1430280"/>
            <a:ext cx="10515240" cy="1096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tabLst>
                <a:tab pos="0" algn="l"/>
              </a:tabLst>
            </a:pPr>
            <a:r>
              <a:rPr lang="en-US" sz="1650" b="0" u="none" strike="noStrike">
                <a:solidFill>
                  <a:srgbClr val="2B2B2B"/>
                </a:solidFill>
                <a:effectLst/>
                <a:uFillTx/>
                <a:latin typeface="Calibri"/>
              </a:rPr>
              <a:t>Enterprise Live Migrations (ELM) is in public preview for the Azure DevOps path, targeting GitHub Enterprise Cloud with data residency. Its differentiator is continuous sync plus a customer-scheduled cutover.</a:t>
            </a:r>
            <a:endParaRPr lang="en-US" sz="1650" b="0" u="none" strike="noStrike">
              <a:solidFill>
                <a:srgbClr val="000000"/>
              </a:solidFill>
              <a:effectLst/>
              <a:uFillTx/>
              <a:latin typeface="Arial"/>
            </a:endParaRPr>
          </a:p>
        </p:txBody>
      </p:sp>
      <p:sp>
        <p:nvSpPr>
          <p:cNvPr id="230" name="Shape 5"/>
          <p:cNvSpPr/>
          <p:nvPr/>
        </p:nvSpPr>
        <p:spPr>
          <a:xfrm>
            <a:off x="548640" y="2527560"/>
            <a:ext cx="5348880" cy="2912760"/>
          </a:xfrm>
          <a:prstGeom prst="roundRect">
            <a:avLst>
              <a:gd name="adj" fmla="val 48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31" name="Text 6"/>
          <p:cNvSpPr/>
          <p:nvPr/>
        </p:nvSpPr>
        <p:spPr>
          <a:xfrm>
            <a:off x="899280" y="2749680"/>
            <a:ext cx="480024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F3D2C"/>
                </a:solidFill>
                <a:effectLst/>
                <a:uFillTx/>
                <a:latin typeface="Cambria"/>
              </a:rPr>
              <a:t>What It Adds</a:t>
            </a:r>
            <a:endParaRPr lang="en-US" sz="1700" b="0" u="none" strike="noStrike">
              <a:solidFill>
                <a:srgbClr val="000000"/>
              </a:solidFill>
              <a:effectLst/>
              <a:uFillTx/>
              <a:latin typeface="Arial"/>
            </a:endParaRPr>
          </a:p>
        </p:txBody>
      </p:sp>
      <p:sp>
        <p:nvSpPr>
          <p:cNvPr id="232" name="Text 7"/>
          <p:cNvSpPr/>
          <p:nvPr/>
        </p:nvSpPr>
        <p:spPr>
          <a:xfrm>
            <a:off x="822960" y="3161160"/>
            <a:ext cx="4800240" cy="223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85840" indent="-285840" defTabSz="914400">
              <a:lnSpc>
                <a:spcPct val="105000"/>
              </a:lnSpc>
              <a:spcAft>
                <a:spcPts val="799"/>
              </a:spcAft>
              <a:buClr>
                <a:srgbClr val="2B2B2B"/>
              </a:buClr>
              <a:buFont typeface="Arial"/>
              <a:buChar char="•"/>
            </a:pPr>
            <a:r>
              <a:rPr lang="en-US" sz="1400" b="0" u="none" strike="noStrike">
                <a:solidFill>
                  <a:srgbClr val="2B2B2B"/>
                </a:solidFill>
                <a:effectLst/>
                <a:uFillTx/>
                <a:latin typeface="Calibri"/>
              </a:rPr>
              <a:t>Pre-migration checks and target creation</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00" b="0" u="none" strike="noStrike">
                <a:solidFill>
                  <a:srgbClr val="2B2B2B"/>
                </a:solidFill>
                <a:effectLst/>
                <a:uFillTx/>
                <a:latin typeface="Calibri"/>
              </a:rPr>
              <a:t>Git, PR, and policy delta synchronization</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00" b="0" u="none" strike="noStrike">
                <a:solidFill>
                  <a:srgbClr val="2B2B2B"/>
                </a:solidFill>
                <a:effectLst/>
                <a:uFillTx/>
                <a:latin typeface="Calibri"/>
              </a:rPr>
              <a:t>Boards connection and pipeline rewiring</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00" b="0" u="none" strike="noStrike">
                <a:solidFill>
                  <a:srgbClr val="2B2B2B"/>
                </a:solidFill>
                <a:effectLst/>
                <a:uFillTx/>
                <a:latin typeface="Calibri"/>
              </a:rPr>
              <a:t>A scheduled read-only cutover window under 30 minutes</a:t>
            </a:r>
            <a:endParaRPr lang="en-US" sz="1400" b="0" u="none" strike="noStrike">
              <a:solidFill>
                <a:srgbClr val="000000"/>
              </a:solidFill>
              <a:effectLst/>
              <a:uFillTx/>
              <a:latin typeface="Arial"/>
            </a:endParaRPr>
          </a:p>
        </p:txBody>
      </p:sp>
      <p:sp>
        <p:nvSpPr>
          <p:cNvPr id="233" name="Shape 8"/>
          <p:cNvSpPr/>
          <p:nvPr/>
        </p:nvSpPr>
        <p:spPr>
          <a:xfrm>
            <a:off x="6263640" y="2527560"/>
            <a:ext cx="5348880" cy="2912760"/>
          </a:xfrm>
          <a:prstGeom prst="roundRect">
            <a:avLst>
              <a:gd name="adj" fmla="val 4800"/>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34" name="Text 9"/>
          <p:cNvSpPr/>
          <p:nvPr/>
        </p:nvSpPr>
        <p:spPr>
          <a:xfrm>
            <a:off x="6492240" y="2749680"/>
            <a:ext cx="480024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F5F0"/>
                </a:solidFill>
                <a:effectLst/>
                <a:uFillTx/>
                <a:latin typeface="Cambria"/>
              </a:rPr>
              <a:t>Limits and What Remains</a:t>
            </a:r>
            <a:endParaRPr lang="en-US" sz="1700" b="0" u="none" strike="noStrike">
              <a:solidFill>
                <a:srgbClr val="000000"/>
              </a:solidFill>
              <a:effectLst/>
              <a:uFillTx/>
              <a:latin typeface="Arial"/>
            </a:endParaRPr>
          </a:p>
        </p:txBody>
      </p:sp>
      <p:sp>
        <p:nvSpPr>
          <p:cNvPr id="235" name="Text 10"/>
          <p:cNvSpPr/>
          <p:nvPr/>
        </p:nvSpPr>
        <p:spPr>
          <a:xfrm>
            <a:off x="6537960" y="3161160"/>
            <a:ext cx="4800240" cy="223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85840" indent="-285840" defTabSz="914400">
              <a:lnSpc>
                <a:spcPct val="105000"/>
              </a:lnSpc>
              <a:spcAft>
                <a:spcPts val="799"/>
              </a:spcAft>
              <a:buClr>
                <a:srgbClr val="F5F5F0"/>
              </a:buClr>
              <a:buFont typeface="Arial"/>
              <a:buChar char="•"/>
            </a:pPr>
            <a:r>
              <a:rPr lang="en-US" sz="1400" b="0" u="none" strike="noStrike">
                <a:solidFill>
                  <a:srgbClr val="F5F5F0"/>
                </a:solidFill>
                <a:effectLst/>
                <a:uFillTx/>
                <a:latin typeface="Calibri"/>
              </a:rPr>
              <a:t>Repositories only — 30 max (20 initial + 10 more)</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F5F5F0"/>
              </a:buClr>
              <a:buFont typeface="Arial"/>
              <a:buChar char="•"/>
            </a:pPr>
            <a:r>
              <a:rPr lang="en-US" sz="1400" b="0" u="none" strike="noStrike">
                <a:solidFill>
                  <a:srgbClr val="F5F5F0"/>
                </a:solidFill>
                <a:effectLst/>
                <a:uFillTx/>
                <a:latin typeface="Calibri"/>
              </a:rPr>
              <a:t>Cutover must finish within 21 days of starting</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F5F5F0"/>
              </a:buClr>
              <a:buFont typeface="Arial"/>
              <a:buChar char="•"/>
            </a:pPr>
            <a:r>
              <a:rPr lang="en-US" sz="1400" b="0" u="none" strike="noStrike">
                <a:solidFill>
                  <a:srgbClr val="F5F5F0"/>
                </a:solidFill>
                <a:effectLst/>
                <a:uFillTx/>
                <a:latin typeface="Calibri"/>
              </a:rPr>
              <a:t>Access, permissions, and ruleset verification</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F5F5F0"/>
              </a:buClr>
              <a:buFont typeface="Arial"/>
              <a:buChar char="•"/>
            </a:pPr>
            <a:r>
              <a:rPr lang="en-US" sz="1400" b="0" u="none" strike="noStrike">
                <a:solidFill>
                  <a:srgbClr val="F5F5F0"/>
                </a:solidFill>
                <a:effectLst/>
                <a:uFillTx/>
                <a:latin typeface="Calibri"/>
              </a:rPr>
              <a:t>Hardcoded URLs and other long-tail cleanup</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F5F5F0"/>
              </a:buClr>
              <a:buFont typeface="Arial"/>
              <a:buChar char="•"/>
            </a:pPr>
            <a:r>
              <a:rPr lang="en-US" sz="1400" b="0" u="none" strike="noStrike">
                <a:solidFill>
                  <a:srgbClr val="F5F5F0"/>
                </a:solidFill>
                <a:effectLst/>
                <a:uFillTx/>
                <a:latin typeface="Calibri"/>
              </a:rPr>
              <a:t>Pipeline logic, work items, wikis, and other non-repository data</a:t>
            </a:r>
            <a:endParaRPr lang="en-US" sz="1400" b="0" u="none" strike="noStrike">
              <a:solidFill>
                <a:srgbClr val="000000"/>
              </a:solidFill>
              <a:effectLst/>
              <a:uFillTx/>
              <a:latin typeface="Arial"/>
            </a:endParaRPr>
          </a:p>
          <a:p>
            <a:pPr marL="285840" indent="-285840" defTabSz="914400">
              <a:lnSpc>
                <a:spcPct val="100000"/>
              </a:lnSpc>
              <a:spcAft>
                <a:spcPts val="799"/>
              </a:spcAft>
              <a:buClr>
                <a:srgbClr val="F5F5F0"/>
              </a:buClr>
              <a:buFont typeface="Arial"/>
              <a:buChar char="•"/>
            </a:pPr>
            <a:r>
              <a:rPr lang="en-US" sz="1400" b="0" u="none" strike="noStrike">
                <a:solidFill>
                  <a:srgbClr val="F5F5F0"/>
                </a:solidFill>
                <a:effectLst/>
                <a:uFillTx/>
                <a:latin typeface="Calibri"/>
              </a:rPr>
              <a:t>Post-cutover validation and decommissioning</a:t>
            </a:r>
            <a:endParaRPr lang="en-US" sz="1400" b="0" u="none" strike="noStrike">
              <a:solidFill>
                <a:srgbClr val="000000"/>
              </a:solidFill>
              <a:effectLst/>
              <a:uFillTx/>
              <a:latin typeface="Arial"/>
            </a:endParaRPr>
          </a:p>
        </p:txBody>
      </p:sp>
      <p:sp>
        <p:nvSpPr>
          <p:cNvPr id="236" name="Shape 3"/>
          <p:cNvSpPr/>
          <p:nvPr/>
        </p:nvSpPr>
        <p:spPr>
          <a:xfrm>
            <a:off x="548640" y="5628240"/>
            <a:ext cx="11063880" cy="95976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37" name="Text 4"/>
          <p:cNvSpPr/>
          <p:nvPr/>
        </p:nvSpPr>
        <p:spPr>
          <a:xfrm>
            <a:off x="563760" y="5628240"/>
            <a:ext cx="11063880" cy="95976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ELM changes the synchronization and cutover experience — not the boundaries of what must be migrated and validated.</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DDE7914D-9EDA-4089-A155-0FCBAB642C2D}" type="slidenum">
              <a:rPr/>
              <a:t>21</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236"/>
                                  </p:tgtEl>
                                  <p:attrNameLst>
                                    <p:attrName>style.visibility</p:attrName>
                                  </p:attrNameLst>
                                </p:cBhvr>
                                <p:to>
                                  <p:strVal val="visible"/>
                                </p:to>
                              </p:set>
                              <p:animEffect transition="in" filter="fade">
                                <p:cBhvr additive="repl">
                                  <p:cTn id="6" dur="500"/>
                                  <p:tgtEl>
                                    <p:spTgt spid="236"/>
                                  </p:tgtEl>
                                </p:cBhvr>
                              </p:animEffect>
                            </p:childTnLst>
                          </p:cTn>
                        </p:par>
                        <p:par>
                          <p:cTn id="7" presetID="10" presetClass="entr" fill="hold" nodeType="clickEffect">
                            <p:stCondLst>
                              <p:cond delay="0"/>
                            </p:stCondLst>
                            <p:childTnLst>
                              <p:set>
                                <p:cBhvr>
                                  <p:cTn id="8" dur="1" fill="hold">
                                    <p:stCondLst>
                                      <p:cond delay="0"/>
                                    </p:stCondLst>
                                  </p:cTn>
                                  <p:tgtEl>
                                    <p:spTgt spid="237"/>
                                  </p:tgtEl>
                                  <p:attrNameLst>
                                    <p:attrName>style.visibility</p:attrName>
                                  </p:attrNameLst>
                                </p:cBhvr>
                                <p:to>
                                  <p:strVal val="visible"/>
                                </p:to>
                              </p:set>
                              <p:animEffect transition="in" filter="fade">
                                <p:cBhvr additive="repl">
                                  <p:cTn id="9" dur="500"/>
                                  <p:tgtEl>
                                    <p:spTgt spid="237"/>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8"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39" name="Image 0" descr="/home/claude/pptx-build/assets/icons/FaListOl-FFFFFF-200.png"/>
          <p:cNvPicPr/>
          <p:nvPr/>
        </p:nvPicPr>
        <p:blipFill>
          <a:blip r:embed="rId3"/>
          <a:stretch/>
        </p:blipFill>
        <p:spPr>
          <a:xfrm>
            <a:off x="685800" y="594360"/>
            <a:ext cx="292320" cy="292320"/>
          </a:xfrm>
          <a:prstGeom prst="rect">
            <a:avLst/>
          </a:prstGeom>
          <a:noFill/>
          <a:ln w="0">
            <a:noFill/>
          </a:ln>
        </p:spPr>
      </p:pic>
      <p:sp>
        <p:nvSpPr>
          <p:cNvPr id="240"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241" name="Text 2"/>
          <p:cNvSpPr/>
          <p:nvPr/>
        </p:nvSpPr>
        <p:spPr>
          <a:xfrm>
            <a:off x="1234440" y="749880"/>
            <a:ext cx="10515240" cy="86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3200" b="1" u="none" strike="noStrike">
                <a:solidFill>
                  <a:srgbClr val="1F3D2C"/>
                </a:solidFill>
                <a:effectLst/>
                <a:uFillTx/>
                <a:latin typeface="Cambria"/>
              </a:rPr>
              <a:t>Repository Plane — Decisions</a:t>
            </a:r>
            <a:endParaRPr lang="en-US" sz="3200" b="0" u="none" strike="noStrike">
              <a:solidFill>
                <a:srgbClr val="000000"/>
              </a:solidFill>
              <a:effectLst/>
              <a:uFillTx/>
              <a:latin typeface="Arial"/>
            </a:endParaRPr>
          </a:p>
        </p:txBody>
      </p:sp>
      <p:sp>
        <p:nvSpPr>
          <p:cNvPr id="242" name="Shape 3"/>
          <p:cNvSpPr/>
          <p:nvPr/>
        </p:nvSpPr>
        <p:spPr>
          <a:xfrm>
            <a:off x="548640" y="4556160"/>
            <a:ext cx="11063880" cy="1357920"/>
          </a:xfrm>
          <a:prstGeom prst="roundRect">
            <a:avLst>
              <a:gd name="adj" fmla="val 4138"/>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43" name="Text 4"/>
          <p:cNvSpPr/>
          <p:nvPr/>
        </p:nvSpPr>
        <p:spPr>
          <a:xfrm>
            <a:off x="822960" y="4674960"/>
            <a:ext cx="10332360" cy="1123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0000"/>
              </a:lnSpc>
              <a:tabLst>
                <a:tab pos="0" algn="l"/>
              </a:tabLst>
            </a:pPr>
            <a:r>
              <a:rPr lang="en-US" sz="1850" b="0" u="none" strike="noStrike">
                <a:solidFill>
                  <a:srgbClr val="2B2B2B"/>
                </a:solidFill>
                <a:effectLst/>
                <a:uFillTx/>
                <a:latin typeface="Calibri"/>
              </a:rPr>
              <a:t>Install the Azure Pipelines App in your GitHub Org before migrating repositories. That enables migration orchestration to reconnect pipeline references; it does not convert the pipeline logic itself.</a:t>
            </a:r>
            <a:endParaRPr lang="en-US" sz="1850" b="0" u="none" strike="noStrike">
              <a:solidFill>
                <a:srgbClr val="000000"/>
              </a:solidFill>
              <a:effectLst/>
              <a:uFillTx/>
              <a:latin typeface="Arial"/>
            </a:endParaRPr>
          </a:p>
        </p:txBody>
      </p:sp>
      <p:sp>
        <p:nvSpPr>
          <p:cNvPr id="244" name="Shape 5"/>
          <p:cNvSpPr/>
          <p:nvPr/>
        </p:nvSpPr>
        <p:spPr>
          <a:xfrm>
            <a:off x="548640" y="1549800"/>
            <a:ext cx="11063880" cy="2638080"/>
          </a:xfrm>
          <a:prstGeom prst="roundRect">
            <a:avLst>
              <a:gd name="adj" fmla="val 7742"/>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45" name="Text 6"/>
          <p:cNvSpPr/>
          <p:nvPr/>
        </p:nvSpPr>
        <p:spPr>
          <a:xfrm>
            <a:off x="838080" y="1721160"/>
            <a:ext cx="10515240" cy="22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tabLst>
                <a:tab pos="0" algn="l"/>
              </a:tabLst>
            </a:pPr>
            <a:r>
              <a:rPr lang="en-US" sz="1600" b="0" u="none" strike="noStrike">
                <a:solidFill>
                  <a:srgbClr val="F5F5F0"/>
                </a:solidFill>
                <a:effectLst/>
                <a:uFillTx/>
                <a:latin typeface="Calibri"/>
              </a:rPr>
              <a:t>Decide before the first migration: </a:t>
            </a:r>
            <a:endParaRPr lang="en-US" sz="1600" b="0" u="none" strike="noStrike">
              <a:solidFill>
                <a:srgbClr val="000000"/>
              </a:solidFill>
              <a:effectLst/>
              <a:uFillTx/>
              <a:latin typeface="Arial"/>
            </a:endParaRPr>
          </a:p>
          <a:p>
            <a:pPr marL="285840" indent="-285840" defTabSz="914400">
              <a:lnSpc>
                <a:spcPct val="115000"/>
              </a:lnSpc>
              <a:buClr>
                <a:srgbClr val="F5F5F0"/>
              </a:buClr>
              <a:buFont typeface="Arial"/>
              <a:buChar char="•"/>
              <a:tabLst>
                <a:tab pos="0" algn="l"/>
              </a:tabLst>
            </a:pPr>
            <a:r>
              <a:rPr lang="en-US" sz="1600" b="0" u="none" strike="noStrike">
                <a:solidFill>
                  <a:srgbClr val="F5F5F0"/>
                </a:solidFill>
                <a:effectLst/>
                <a:uFillTx/>
                <a:latin typeface="Calibri"/>
              </a:rPr>
              <a:t>target enterprise and organization model  </a:t>
            </a:r>
            <a:endParaRPr lang="en-US" sz="1600" b="0" u="none" strike="noStrike">
              <a:solidFill>
                <a:srgbClr val="000000"/>
              </a:solidFill>
              <a:effectLst/>
              <a:uFillTx/>
              <a:latin typeface="Arial"/>
            </a:endParaRPr>
          </a:p>
          <a:p>
            <a:pPr marL="285840" indent="-285840" defTabSz="914400">
              <a:lnSpc>
                <a:spcPct val="115000"/>
              </a:lnSpc>
              <a:buClr>
                <a:srgbClr val="F5F5F0"/>
              </a:buClr>
              <a:buFont typeface="Arial"/>
              <a:buChar char="•"/>
              <a:tabLst>
                <a:tab pos="0" algn="l"/>
              </a:tabLst>
            </a:pPr>
            <a:r>
              <a:rPr lang="en-US" sz="1600" b="0" u="none" strike="noStrike">
                <a:solidFill>
                  <a:srgbClr val="F5F5F0"/>
                </a:solidFill>
                <a:effectLst/>
                <a:uFillTx/>
                <a:latin typeface="Calibri"/>
              </a:rPr>
              <a:t>authentication and identity mapping  </a:t>
            </a:r>
            <a:endParaRPr lang="en-US" sz="1600" b="0" u="none" strike="noStrike">
              <a:solidFill>
                <a:srgbClr val="000000"/>
              </a:solidFill>
              <a:effectLst/>
              <a:uFillTx/>
              <a:latin typeface="Arial"/>
            </a:endParaRPr>
          </a:p>
          <a:p>
            <a:pPr marL="285840" indent="-285840" defTabSz="914400">
              <a:lnSpc>
                <a:spcPct val="115000"/>
              </a:lnSpc>
              <a:buClr>
                <a:srgbClr val="F5F5F0"/>
              </a:buClr>
              <a:buFont typeface="Arial"/>
              <a:buChar char="•"/>
              <a:tabLst>
                <a:tab pos="0" algn="l"/>
              </a:tabLst>
            </a:pPr>
            <a:r>
              <a:rPr lang="en-US" sz="1600" b="0" u="none" strike="noStrike">
                <a:solidFill>
                  <a:srgbClr val="F5F5F0"/>
                </a:solidFill>
                <a:effectLst/>
                <a:uFillTx/>
                <a:latin typeface="Calibri"/>
              </a:rPr>
              <a:t>team and visibility policy  </a:t>
            </a:r>
            <a:endParaRPr lang="en-US" sz="1600" b="0" u="none" strike="noStrike">
              <a:solidFill>
                <a:srgbClr val="000000"/>
              </a:solidFill>
              <a:effectLst/>
              <a:uFillTx/>
              <a:latin typeface="Arial"/>
            </a:endParaRPr>
          </a:p>
          <a:p>
            <a:pPr marL="285840" indent="-285840" defTabSz="914400">
              <a:lnSpc>
                <a:spcPct val="115000"/>
              </a:lnSpc>
              <a:buClr>
                <a:srgbClr val="F5F5F0"/>
              </a:buClr>
              <a:buFont typeface="Arial"/>
              <a:buChar char="•"/>
              <a:tabLst>
                <a:tab pos="0" algn="l"/>
              </a:tabLst>
            </a:pPr>
            <a:r>
              <a:rPr lang="en-US" sz="1600" b="0" u="none" strike="noStrike">
                <a:solidFill>
                  <a:srgbClr val="F5F5F0"/>
                </a:solidFill>
                <a:effectLst/>
                <a:uFillTx/>
                <a:latin typeface="Calibri"/>
              </a:rPr>
              <a:t>Boards/Pipelines integration  </a:t>
            </a:r>
            <a:endParaRPr lang="en-US" sz="1600" b="0" u="none" strike="noStrike">
              <a:solidFill>
                <a:srgbClr val="000000"/>
              </a:solidFill>
              <a:effectLst/>
              <a:uFillTx/>
              <a:latin typeface="Arial"/>
            </a:endParaRPr>
          </a:p>
          <a:p>
            <a:pPr marL="285840" indent="-285840" defTabSz="914400">
              <a:lnSpc>
                <a:spcPct val="115000"/>
              </a:lnSpc>
              <a:buClr>
                <a:srgbClr val="F5F5F0"/>
              </a:buClr>
              <a:buFont typeface="Arial"/>
              <a:buChar char="•"/>
              <a:tabLst>
                <a:tab pos="0" algn="l"/>
              </a:tabLst>
            </a:pPr>
            <a:r>
              <a:rPr lang="en-US" sz="1600" b="0" u="none" strike="noStrike">
                <a:solidFill>
                  <a:srgbClr val="F5F5F0"/>
                </a:solidFill>
                <a:effectLst/>
                <a:uFillTx/>
                <a:latin typeface="Calibri"/>
              </a:rPr>
              <a:t>freeze or change-reconciliation approach  </a:t>
            </a:r>
            <a:endParaRPr lang="en-US" sz="1600" b="0" u="none" strike="noStrike">
              <a:solidFill>
                <a:srgbClr val="000000"/>
              </a:solidFill>
              <a:effectLst/>
              <a:uFillTx/>
              <a:latin typeface="Arial"/>
            </a:endParaRPr>
          </a:p>
          <a:p>
            <a:pPr marL="285840" indent="-285840" defTabSz="914400">
              <a:lnSpc>
                <a:spcPct val="115000"/>
              </a:lnSpc>
              <a:buClr>
                <a:srgbClr val="F5F5F0"/>
              </a:buClr>
              <a:buFont typeface="Arial"/>
              <a:buChar char="•"/>
              <a:tabLst>
                <a:tab pos="0" algn="l"/>
              </a:tabLst>
            </a:pPr>
            <a:r>
              <a:rPr lang="en-US" sz="1600" b="0" u="none" strike="noStrike">
                <a:solidFill>
                  <a:srgbClr val="F5F5F0"/>
                </a:solidFill>
                <a:effectLst/>
                <a:uFillTx/>
                <a:latin typeface="Calibri"/>
              </a:rPr>
              <a:t>owner for migration failures</a:t>
            </a:r>
            <a:endParaRPr lang="en-US" sz="16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5586086D-27DC-42B3-A6C3-AFE30D29B09E}" type="slidenum">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6"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47" name="Image 0" descr="/home/claude/pptx-build/assets/icons/FaClipboardCheck-FFFFFF-200.png"/>
          <p:cNvPicPr/>
          <p:nvPr/>
        </p:nvPicPr>
        <p:blipFill>
          <a:blip r:embed="rId3"/>
          <a:stretch/>
        </p:blipFill>
        <p:spPr>
          <a:xfrm>
            <a:off x="685800" y="594360"/>
            <a:ext cx="292320" cy="292320"/>
          </a:xfrm>
          <a:prstGeom prst="rect">
            <a:avLst/>
          </a:prstGeom>
          <a:noFill/>
          <a:ln w="0">
            <a:noFill/>
          </a:ln>
        </p:spPr>
      </p:pic>
      <p:sp>
        <p:nvSpPr>
          <p:cNvPr id="248"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249"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rPr>
              <a:t>Automation Plane — GitHub Actions Importer</a:t>
            </a:r>
            <a:endParaRPr lang="en-US" sz="3200" b="0" u="none" strike="noStrike">
              <a:solidFill>
                <a:srgbClr val="000000"/>
              </a:solidFill>
              <a:effectLst/>
              <a:uFillTx/>
              <a:latin typeface="Arial"/>
            </a:endParaRPr>
          </a:p>
        </p:txBody>
      </p:sp>
      <p:sp>
        <p:nvSpPr>
          <p:cNvPr id="250" name="Shape 3"/>
          <p:cNvSpPr/>
          <p:nvPr/>
        </p:nvSpPr>
        <p:spPr>
          <a:xfrm>
            <a:off x="548640" y="1645920"/>
            <a:ext cx="5348880" cy="3428640"/>
          </a:xfrm>
          <a:prstGeom prst="roundRect">
            <a:avLst>
              <a:gd name="adj" fmla="val 32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51" name="Text 4"/>
          <p:cNvSpPr/>
          <p:nvPr/>
        </p:nvSpPr>
        <p:spPr>
          <a:xfrm>
            <a:off x="822960" y="182880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F3D2C"/>
                </a:solidFill>
                <a:effectLst/>
                <a:uFillTx/>
                <a:latin typeface="Cambria"/>
              </a:rPr>
              <a:t>What It Does</a:t>
            </a:r>
            <a:endParaRPr lang="en-US" sz="1900" b="0" u="none" strike="noStrike">
              <a:solidFill>
                <a:srgbClr val="000000"/>
              </a:solidFill>
              <a:effectLst/>
              <a:uFillTx/>
              <a:latin typeface="Arial"/>
            </a:endParaRPr>
          </a:p>
        </p:txBody>
      </p:sp>
      <p:sp>
        <p:nvSpPr>
          <p:cNvPr id="252" name="Text 5"/>
          <p:cNvSpPr/>
          <p:nvPr/>
        </p:nvSpPr>
        <p:spPr>
          <a:xfrm>
            <a:off x="822960" y="2331720"/>
            <a:ext cx="4800240" cy="265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285840" indent="-285840" defTabSz="914400">
              <a:lnSpc>
                <a:spcPct val="100000"/>
              </a:lnSpc>
              <a:spcAft>
                <a:spcPts val="799"/>
              </a:spcAft>
              <a:buClr>
                <a:srgbClr val="2B2B2B"/>
              </a:buClr>
              <a:buFont typeface="Arial"/>
              <a:buChar char="•"/>
            </a:pPr>
            <a:r>
              <a:rPr lang="en-US" sz="1450" b="0" u="none" strike="noStrike">
                <a:solidFill>
                  <a:srgbClr val="2B2B2B"/>
                </a:solidFill>
                <a:effectLst/>
                <a:uFillTx/>
                <a:latin typeface="Calibri"/>
              </a:rPr>
              <a:t>Actions Importer is a GitHub CLI extension to migrate CI/CD pipelines</a:t>
            </a:r>
            <a:endParaRPr lang="en-US" sz="1450" b="0" u="none" strike="noStrike">
              <a:solidFill>
                <a:srgbClr val="000000"/>
              </a:solidFill>
              <a:effectLst/>
              <a:uFillTx/>
              <a:latin typeface="Arial"/>
            </a:endParaRPr>
          </a:p>
          <a:p>
            <a:pPr marL="285840" indent="-285840" defTabSz="914400">
              <a:lnSpc>
                <a:spcPct val="110000"/>
              </a:lnSpc>
              <a:spcAft>
                <a:spcPts val="799"/>
              </a:spcAft>
              <a:buClr>
                <a:srgbClr val="2B2B2B"/>
              </a:buClr>
              <a:buFont typeface="Arial"/>
              <a:buChar char="•"/>
            </a:pPr>
            <a:r>
              <a:rPr lang="en-US" sz="1450" b="0" u="none" strike="noStrike">
                <a:solidFill>
                  <a:srgbClr val="2B2B2B"/>
                </a:solidFill>
                <a:effectLst/>
                <a:uFillTx/>
                <a:latin typeface="Cascadia Code"/>
              </a:rPr>
              <a:t>audit</a:t>
            </a:r>
            <a:r>
              <a:rPr lang="en-US" sz="1450" b="0" u="none" strike="noStrike">
                <a:solidFill>
                  <a:srgbClr val="2B2B2B"/>
                </a:solidFill>
                <a:effectLst/>
                <a:uFillTx/>
                <a:latin typeface="Calibri"/>
              </a:rPr>
              <a:t> buckets pipelines: successful, partially successful, unsupported, failed</a:t>
            </a:r>
            <a:endParaRPr lang="en-US" sz="145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50" b="0" u="none" strike="noStrike">
                <a:solidFill>
                  <a:srgbClr val="2B2B2B"/>
                </a:solidFill>
                <a:effectLst/>
                <a:uFillTx/>
                <a:latin typeface="Cascadia Code"/>
              </a:rPr>
              <a:t>dry-run</a:t>
            </a:r>
            <a:r>
              <a:rPr lang="en-US" sz="1450" b="0" u="none" strike="noStrike">
                <a:solidFill>
                  <a:srgbClr val="2B2B2B"/>
                </a:solidFill>
                <a:effectLst/>
                <a:uFillTx/>
                <a:latin typeface="Calibri"/>
              </a:rPr>
              <a:t> shows the candidate workflow before commit</a:t>
            </a:r>
            <a:endParaRPr lang="en-US" sz="145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50" b="0" u="none" strike="noStrike">
                <a:solidFill>
                  <a:srgbClr val="2B2B2B"/>
                </a:solidFill>
                <a:effectLst/>
                <a:uFillTx/>
                <a:latin typeface="Cascadia Code"/>
              </a:rPr>
              <a:t>forecast</a:t>
            </a:r>
            <a:r>
              <a:rPr lang="en-US" sz="1450" b="0" u="none" strike="noStrike">
                <a:solidFill>
                  <a:srgbClr val="2B2B2B"/>
                </a:solidFill>
                <a:effectLst/>
                <a:uFillTx/>
                <a:latin typeface="Calibri"/>
              </a:rPr>
              <a:t> calculates expected Actions usage </a:t>
            </a:r>
            <a:endParaRPr lang="en-US" sz="1450" b="0" u="none" strike="noStrike">
              <a:solidFill>
                <a:srgbClr val="000000"/>
              </a:solidFill>
              <a:effectLst/>
              <a:uFillTx/>
              <a:latin typeface="Arial"/>
            </a:endParaRPr>
          </a:p>
          <a:p>
            <a:pPr marL="285840" indent="-285840" defTabSz="914400">
              <a:lnSpc>
                <a:spcPct val="100000"/>
              </a:lnSpc>
              <a:spcAft>
                <a:spcPts val="799"/>
              </a:spcAft>
              <a:buClr>
                <a:srgbClr val="2B2B2B"/>
              </a:buClr>
              <a:buFont typeface="Arial"/>
              <a:buChar char="•"/>
            </a:pPr>
            <a:r>
              <a:rPr lang="en-US" sz="1450" b="0" u="none" strike="noStrike">
                <a:solidFill>
                  <a:srgbClr val="2B2B2B"/>
                </a:solidFill>
                <a:effectLst/>
                <a:uFillTx/>
                <a:latin typeface="Cascadia Code"/>
              </a:rPr>
              <a:t>migrate</a:t>
            </a:r>
            <a:r>
              <a:rPr lang="en-US" sz="1450" b="0" u="none" strike="noStrike">
                <a:solidFill>
                  <a:srgbClr val="2B2B2B"/>
                </a:solidFill>
                <a:effectLst/>
                <a:uFillTx/>
                <a:latin typeface="Calibri"/>
              </a:rPr>
              <a:t> converts the pipeline to Actions equivalent and creates PR </a:t>
            </a:r>
            <a:endParaRPr lang="en-US" sz="1450" b="0" u="none" strike="noStrike">
              <a:solidFill>
                <a:srgbClr val="000000"/>
              </a:solidFill>
              <a:effectLst/>
              <a:uFillTx/>
              <a:latin typeface="Arial"/>
            </a:endParaRPr>
          </a:p>
        </p:txBody>
      </p:sp>
      <p:sp>
        <p:nvSpPr>
          <p:cNvPr id="253" name="Shape 6"/>
          <p:cNvSpPr/>
          <p:nvPr/>
        </p:nvSpPr>
        <p:spPr>
          <a:xfrm>
            <a:off x="6263640" y="1645920"/>
            <a:ext cx="5348880" cy="3428640"/>
          </a:xfrm>
          <a:prstGeom prst="roundRect">
            <a:avLst>
              <a:gd name="adj" fmla="val 3200"/>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54" name="Text 7"/>
          <p:cNvSpPr/>
          <p:nvPr/>
        </p:nvSpPr>
        <p:spPr>
          <a:xfrm>
            <a:off x="6537960" y="182880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F5F5F0"/>
                </a:solidFill>
                <a:effectLst/>
                <a:uFillTx/>
                <a:latin typeface="Cambria"/>
              </a:rPr>
              <a:t>What Remains</a:t>
            </a:r>
            <a:endParaRPr lang="en-US" sz="1900" b="0" u="none" strike="noStrike">
              <a:solidFill>
                <a:srgbClr val="000000"/>
              </a:solidFill>
              <a:effectLst/>
              <a:uFillTx/>
              <a:latin typeface="Arial"/>
            </a:endParaRPr>
          </a:p>
        </p:txBody>
      </p:sp>
      <p:sp>
        <p:nvSpPr>
          <p:cNvPr id="255" name="Text 8"/>
          <p:cNvSpPr/>
          <p:nvPr/>
        </p:nvSpPr>
        <p:spPr>
          <a:xfrm>
            <a:off x="6537960" y="2331720"/>
            <a:ext cx="5074560" cy="265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285840" indent="-285840" defTabSz="914400">
              <a:lnSpc>
                <a:spcPct val="110000"/>
              </a:lnSpc>
              <a:spcAft>
                <a:spcPts val="799"/>
              </a:spcAft>
              <a:buClr>
                <a:srgbClr val="F5F5F0"/>
              </a:buClr>
              <a:buFont typeface="Arial"/>
              <a:buChar char="•"/>
            </a:pPr>
            <a:r>
              <a:rPr lang="en-US" sz="1420" b="0" u="none" strike="noStrike">
                <a:solidFill>
                  <a:srgbClr val="F5F5F0"/>
                </a:solidFill>
                <a:effectLst/>
                <a:uFillTx/>
                <a:latin typeface="Calibri"/>
              </a:rPr>
              <a:t>Secrets and service connections</a:t>
            </a:r>
            <a:endParaRPr lang="en-US" sz="1420" b="0" u="none" strike="noStrike">
              <a:solidFill>
                <a:srgbClr val="000000"/>
              </a:solidFill>
              <a:effectLst/>
              <a:uFillTx/>
              <a:latin typeface="Arial"/>
            </a:endParaRPr>
          </a:p>
          <a:p>
            <a:pPr marL="285840" indent="-285840" defTabSz="914400">
              <a:lnSpc>
                <a:spcPct val="100000"/>
              </a:lnSpc>
              <a:spcAft>
                <a:spcPts val="799"/>
              </a:spcAft>
              <a:buClr>
                <a:srgbClr val="F5F5F0"/>
              </a:buClr>
              <a:buFont typeface="Arial"/>
              <a:buChar char="•"/>
            </a:pPr>
            <a:r>
              <a:rPr lang="en-US" sz="1420" b="0" u="none" strike="noStrike">
                <a:solidFill>
                  <a:srgbClr val="F5F5F0"/>
                </a:solidFill>
                <a:effectLst/>
                <a:uFillTx/>
                <a:latin typeface="Calibri"/>
              </a:rPr>
              <a:t>Runners, private networks, and toolchains</a:t>
            </a:r>
            <a:endParaRPr lang="en-US" sz="1420" b="0" u="none" strike="noStrike">
              <a:solidFill>
                <a:srgbClr val="000000"/>
              </a:solidFill>
              <a:effectLst/>
              <a:uFillTx/>
              <a:latin typeface="Arial"/>
            </a:endParaRPr>
          </a:p>
          <a:p>
            <a:pPr marL="285840" indent="-285840" defTabSz="914400">
              <a:lnSpc>
                <a:spcPct val="100000"/>
              </a:lnSpc>
              <a:spcAft>
                <a:spcPts val="799"/>
              </a:spcAft>
              <a:buClr>
                <a:srgbClr val="F5F5F0"/>
              </a:buClr>
              <a:buFont typeface="Arial"/>
              <a:buChar char="•"/>
            </a:pPr>
            <a:r>
              <a:rPr lang="en-US" sz="1420" b="0" u="none" strike="noStrike">
                <a:solidFill>
                  <a:srgbClr val="F5F5F0"/>
                </a:solidFill>
                <a:effectLst/>
                <a:uFillTx/>
                <a:latin typeface="Calibri"/>
              </a:rPr>
              <a:t>Environments, approvals, gates, custom/unsupported tasks, and unsupported triggers</a:t>
            </a:r>
            <a:endParaRPr lang="en-US" sz="1420" b="0" u="none" strike="noStrike">
              <a:solidFill>
                <a:srgbClr val="000000"/>
              </a:solidFill>
              <a:effectLst/>
              <a:uFillTx/>
              <a:latin typeface="Arial"/>
            </a:endParaRPr>
          </a:p>
        </p:txBody>
      </p:sp>
      <p:sp>
        <p:nvSpPr>
          <p:cNvPr id="256" name="Shape 9"/>
          <p:cNvSpPr/>
          <p:nvPr/>
        </p:nvSpPr>
        <p:spPr>
          <a:xfrm>
            <a:off x="548640" y="5257800"/>
            <a:ext cx="11063880" cy="1234080"/>
          </a:xfrm>
          <a:prstGeom prst="roundRect">
            <a:avLst>
              <a:gd name="adj" fmla="val 12632"/>
            </a:avLst>
          </a:prstGeom>
          <a:solidFill>
            <a:srgbClr val="F7F6F2"/>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57" name="Text 10"/>
          <p:cNvSpPr/>
          <p:nvPr/>
        </p:nvSpPr>
        <p:spPr>
          <a:xfrm>
            <a:off x="548640" y="5257800"/>
            <a:ext cx="11063880" cy="123408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0000"/>
              </a:lnSpc>
              <a:tabLst>
                <a:tab pos="0" algn="l"/>
              </a:tabLst>
            </a:pPr>
            <a:r>
              <a:rPr lang="en-US" sz="1250" b="1" u="none" strike="noStrike" spc="119">
                <a:solidFill>
                  <a:srgbClr val="C1440E"/>
                </a:solidFill>
                <a:effectLst/>
                <a:uFillTx/>
                <a:latin typeface="Calibri"/>
              </a:rPr>
              <a:t>DO THIS </a:t>
            </a:r>
            <a:r>
              <a:rPr lang="en-US" sz="1500" b="0" u="none" strike="noStrike">
                <a:solidFill>
                  <a:srgbClr val="2B2B2B"/>
                </a:solidFill>
                <a:effectLst/>
                <a:uFillTx/>
                <a:latin typeface="Calibri"/>
              </a:rPr>
              <a:t>Use the audit output to build the migration backlog and recalibrate the planning estimate with evidence.</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EB4C12C9-9EBB-425C-BF52-A1EEA1F272FA}" type="slidenum">
              <a:rPr/>
              <a:t>23</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256"/>
                                  </p:tgtEl>
                                  <p:attrNameLst>
                                    <p:attrName>style.visibility</p:attrName>
                                  </p:attrNameLst>
                                </p:cBhvr>
                                <p:to>
                                  <p:strVal val="visible"/>
                                </p:to>
                              </p:set>
                              <p:animEffect transition="in" filter="fade">
                                <p:cBhvr additive="repl">
                                  <p:cTn id="6" dur="500"/>
                                  <p:tgtEl>
                                    <p:spTgt spid="256"/>
                                  </p:tgtEl>
                                </p:cBhvr>
                              </p:animEffect>
                            </p:childTnLst>
                          </p:cTn>
                        </p:par>
                        <p:par>
                          <p:cTn id="7" presetID="10" presetClass="entr" fill="hold" nodeType="clickEffect">
                            <p:stCondLst>
                              <p:cond delay="0"/>
                            </p:stCondLst>
                            <p:childTnLst>
                              <p:set>
                                <p:cBhvr>
                                  <p:cTn id="8" dur="1" fill="hold">
                                    <p:stCondLst>
                                      <p:cond delay="0"/>
                                    </p:stCondLst>
                                  </p:cTn>
                                  <p:tgtEl>
                                    <p:spTgt spid="257"/>
                                  </p:tgtEl>
                                  <p:attrNameLst>
                                    <p:attrName>style.visibility</p:attrName>
                                  </p:attrNameLst>
                                </p:cBhvr>
                                <p:to>
                                  <p:strVal val="visible"/>
                                </p:to>
                              </p:set>
                              <p:animEffect transition="in" filter="fade">
                                <p:cBhvr additive="repl">
                                  <p:cTn id="9" dur="500"/>
                                  <p:tgtEl>
                                    <p:spTgt spid="257"/>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8"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59" name="Image 0" descr="/home/claude/pptx-build/assets/icons/FaHandPaper-FFFFFF-200.png"/>
          <p:cNvPicPr/>
          <p:nvPr/>
        </p:nvPicPr>
        <p:blipFill>
          <a:blip r:embed="rId3"/>
          <a:stretch/>
        </p:blipFill>
        <p:spPr>
          <a:xfrm>
            <a:off x="685800" y="594360"/>
            <a:ext cx="292320" cy="292320"/>
          </a:xfrm>
          <a:prstGeom prst="rect">
            <a:avLst/>
          </a:prstGeom>
          <a:noFill/>
          <a:ln w="0">
            <a:noFill/>
          </a:ln>
        </p:spPr>
      </p:pic>
      <p:sp>
        <p:nvSpPr>
          <p:cNvPr id="260"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261"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rPr>
              <a:t>Manual Mapping Exposes the Semantic Gaps</a:t>
            </a:r>
            <a:endParaRPr lang="en-US" sz="3200" b="0" u="none" strike="noStrike">
              <a:solidFill>
                <a:srgbClr val="000000"/>
              </a:solidFill>
              <a:effectLst/>
              <a:uFillTx/>
              <a:latin typeface="Arial"/>
            </a:endParaRPr>
          </a:p>
        </p:txBody>
      </p:sp>
      <p:graphicFrame>
        <p:nvGraphicFramePr>
          <p:cNvPr id="262" name="Table 0"/>
          <p:cNvGraphicFramePr/>
          <p:nvPr/>
        </p:nvGraphicFramePr>
        <p:xfrm>
          <a:off x="548640" y="1508760"/>
          <a:ext cx="11064240" cy="393120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00">
                <a:tc>
                  <a:txBody>
                    <a:bodyPr/>
                    <a:lstStyle/>
                    <a:p>
                      <a:pPr defTabSz="914400">
                        <a:lnSpc>
                          <a:spcPct val="100000"/>
                        </a:lnSpc>
                        <a:tabLst>
                          <a:tab pos="0" algn="l"/>
                        </a:tabLst>
                      </a:pPr>
                      <a:r>
                        <a:rPr lang="en-US" sz="1500" b="1" u="none" strike="noStrike">
                          <a:solidFill>
                            <a:srgbClr val="F5F5F0"/>
                          </a:solidFill>
                          <a:effectLst/>
                          <a:uFillTx/>
                          <a:latin typeface="Calibri"/>
                          <a:ea typeface="Calibri"/>
                        </a:rPr>
                        <a:t>Azure Pipelines</a:t>
                      </a:r>
                      <a:endParaRPr lang="en-US" sz="150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tc>
                  <a:txBody>
                    <a:bodyPr/>
                    <a:lstStyle/>
                    <a:p>
                      <a:pPr defTabSz="914400">
                        <a:lnSpc>
                          <a:spcPct val="100000"/>
                        </a:lnSpc>
                        <a:tabLst>
                          <a:tab pos="0" algn="l"/>
                        </a:tabLst>
                      </a:pPr>
                      <a:r>
                        <a:rPr lang="en-US" sz="1500" b="1" u="none" strike="noStrike">
                          <a:solidFill>
                            <a:srgbClr val="F5F5F0"/>
                          </a:solidFill>
                          <a:effectLst/>
                          <a:uFillTx/>
                          <a:latin typeface="Calibri"/>
                          <a:ea typeface="Calibri"/>
                        </a:rPr>
                        <a:t>GitHub Actions</a:t>
                      </a:r>
                      <a:endParaRPr lang="en-US" sz="1500" b="0" u="none" strike="noStrike">
                        <a:solidFill>
                          <a:srgbClr val="FFFFFF"/>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1F3D2C"/>
                    </a:solidFill>
                  </a:tcPr>
                </a:tc>
                <a:extLst>
                  <a:ext uri="{0D108BD9-81ED-4DB2-BD59-A6C34878D82A}">
                    <a16:rowId xmlns:a16="http://schemas.microsoft.com/office/drawing/2014/main" val="10000"/>
                  </a:ext>
                </a:extLst>
              </a:tr>
              <a:tr h="491400">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Pipeline</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Workflow</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1"/>
                  </a:ext>
                </a:extLst>
              </a:tr>
              <a:tr h="491400">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Agents / Agent Pools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Runners / Runner Groups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2"/>
                  </a:ext>
                </a:extLst>
              </a:tr>
              <a:tr h="491400">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Service Connection</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OIDC / secrets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3"/>
                  </a:ext>
                </a:extLst>
              </a:tr>
              <a:tr h="491400">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Variable Group</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Secrets &amp; variables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4"/>
                  </a:ext>
                </a:extLst>
              </a:tr>
              <a:tr h="491400">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Task</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Action</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5"/>
                  </a:ext>
                </a:extLst>
              </a:tr>
              <a:tr h="491400">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condition</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if</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FFFFF"/>
                    </a:solidFill>
                  </a:tcPr>
                </a:tc>
                <a:extLst>
                  <a:ext uri="{0D108BD9-81ED-4DB2-BD59-A6C34878D82A}">
                    <a16:rowId xmlns:a16="http://schemas.microsoft.com/office/drawing/2014/main" val="10006"/>
                  </a:ext>
                </a:extLst>
              </a:tr>
              <a:tr h="491400">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dependsOn</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tc>
                  <a:txBody>
                    <a:bodyPr/>
                    <a:lstStyle/>
                    <a:p>
                      <a:pPr defTabSz="914400">
                        <a:lnSpc>
                          <a:spcPct val="100000"/>
                        </a:lnSpc>
                        <a:tabLst>
                          <a:tab pos="0" algn="l"/>
                        </a:tabLst>
                      </a:pPr>
                      <a:r>
                        <a:rPr lang="en-US" sz="1500" b="1" u="none" strike="noStrike">
                          <a:solidFill>
                            <a:srgbClr val="1F3D2C"/>
                          </a:solidFill>
                          <a:effectLst/>
                          <a:uFillTx/>
                          <a:latin typeface="Calibri"/>
                          <a:ea typeface="Cambria"/>
                        </a:rPr>
                        <a:t>needs</a:t>
                      </a:r>
                      <a:endParaRPr lang="en-US" sz="1500" b="0" u="none" strike="noStrike">
                        <a:solidFill>
                          <a:srgbClr val="000000"/>
                        </a:solidFill>
                        <a:effectLst/>
                        <a:uFillTx/>
                        <a:latin typeface="Arial"/>
                      </a:endParaRPr>
                    </a:p>
                  </a:txBody>
                  <a:tcPr marL="126720" marR="126720" marT="75960" marB="75960" anchor="ctr">
                    <a:lnL w="6480">
                      <a:solidFill>
                        <a:srgbClr val="DDD8CC"/>
                      </a:solidFill>
                      <a:prstDash val="solid"/>
                    </a:lnL>
                    <a:lnR w="6480">
                      <a:solidFill>
                        <a:srgbClr val="DDD8CC"/>
                      </a:solidFill>
                      <a:prstDash val="solid"/>
                    </a:lnR>
                    <a:lnT w="6480">
                      <a:solidFill>
                        <a:srgbClr val="DDD8CC"/>
                      </a:solidFill>
                      <a:prstDash val="solid"/>
                    </a:lnT>
                    <a:lnB w="6480">
                      <a:solidFill>
                        <a:srgbClr val="DDD8CC"/>
                      </a:solidFill>
                      <a:prstDash val="solid"/>
                    </a:lnB>
                    <a:solidFill>
                      <a:srgbClr val="F7F6F2"/>
                    </a:solidFill>
                  </a:tcPr>
                </a:tc>
                <a:extLst>
                  <a:ext uri="{0D108BD9-81ED-4DB2-BD59-A6C34878D82A}">
                    <a16:rowId xmlns:a16="http://schemas.microsoft.com/office/drawing/2014/main" val="10007"/>
                  </a:ext>
                </a:extLst>
              </a:tr>
            </a:tbl>
          </a:graphicData>
        </a:graphic>
      </p:graphicFrame>
      <p:sp>
        <p:nvSpPr>
          <p:cNvPr id="263" name="Shape 3"/>
          <p:cNvSpPr/>
          <p:nvPr/>
        </p:nvSpPr>
        <p:spPr>
          <a:xfrm>
            <a:off x="548640" y="5577840"/>
            <a:ext cx="11063880" cy="95976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64" name="Text 4"/>
          <p:cNvSpPr/>
          <p:nvPr/>
        </p:nvSpPr>
        <p:spPr>
          <a:xfrm>
            <a:off x="548640" y="5577840"/>
            <a:ext cx="11063880" cy="95976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Translation is a design exercise: preserve the original security and lifecycle intent, then validate conditions, needs, shell and error handling, approvals, runners and environment behavior.</a:t>
            </a:r>
            <a:endParaRPr lang="en-US" sz="1500" b="0" u="none" strike="noStrike">
              <a:solidFill>
                <a:srgbClr val="000000"/>
              </a:solidFill>
              <a:effectLst/>
              <a:uFillTx/>
              <a:latin typeface="Arial"/>
            </a:endParaRPr>
          </a:p>
        </p:txBody>
      </p:sp>
      <p:sp>
        <p:nvSpPr>
          <p:cNvPr id="265" name="VocabMaskRow1"/>
          <p:cNvSpPr/>
          <p:nvPr/>
        </p:nvSpPr>
        <p:spPr>
          <a:xfrm>
            <a:off x="548640" y="2000160"/>
            <a:ext cx="11063880" cy="491040"/>
          </a:xfrm>
          <a:prstGeom prst="rect">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66" name="VocabMaskRow2"/>
          <p:cNvSpPr/>
          <p:nvPr/>
        </p:nvSpPr>
        <p:spPr>
          <a:xfrm>
            <a:off x="548640" y="2491920"/>
            <a:ext cx="11063880" cy="491040"/>
          </a:xfrm>
          <a:prstGeom prst="rect">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67" name="VocabMaskRow3"/>
          <p:cNvSpPr/>
          <p:nvPr/>
        </p:nvSpPr>
        <p:spPr>
          <a:xfrm>
            <a:off x="548640" y="2983320"/>
            <a:ext cx="11063880" cy="491040"/>
          </a:xfrm>
          <a:prstGeom prst="rect">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68" name="VocabMaskRow4"/>
          <p:cNvSpPr/>
          <p:nvPr/>
        </p:nvSpPr>
        <p:spPr>
          <a:xfrm>
            <a:off x="548640" y="3474720"/>
            <a:ext cx="11063880" cy="491040"/>
          </a:xfrm>
          <a:prstGeom prst="rect">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69" name="VocabMaskRow5"/>
          <p:cNvSpPr/>
          <p:nvPr/>
        </p:nvSpPr>
        <p:spPr>
          <a:xfrm>
            <a:off x="548640" y="3966120"/>
            <a:ext cx="11063880" cy="491040"/>
          </a:xfrm>
          <a:prstGeom prst="rect">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70" name="VocabMaskRow6"/>
          <p:cNvSpPr/>
          <p:nvPr/>
        </p:nvSpPr>
        <p:spPr>
          <a:xfrm>
            <a:off x="548640" y="4457880"/>
            <a:ext cx="11063880" cy="491040"/>
          </a:xfrm>
          <a:prstGeom prst="rect">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71" name="VocabMaskRow7"/>
          <p:cNvSpPr/>
          <p:nvPr/>
        </p:nvSpPr>
        <p:spPr>
          <a:xfrm>
            <a:off x="548640" y="4949280"/>
            <a:ext cx="11063880" cy="491040"/>
          </a:xfrm>
          <a:prstGeom prst="rect">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 name="PlaceHolder 1"/>
          <p:cNvSpPr>
            <a:spLocks noGrp="1"/>
          </p:cNvSpPr>
          <p:nvPr>
            <p:ph type="sldNum" idx="1"/>
          </p:nvPr>
        </p:nvSpPr>
        <p:spPr/>
        <p:txBody>
          <a:bodyPr/>
          <a:lstStyle/>
          <a:p>
            <a:fld id="{48163E3D-0F8B-4B6C-9C48-6D623B055662}" type="slidenum">
              <a:rPr/>
              <a:t>24</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xit" fill="hold" nodeType="clickEffect">
                            <p:stCondLst>
                              <p:cond delay="0"/>
                            </p:stCondLst>
                            <p:childTnLst>
                              <p:animEffect transition="out" filter="fade">
                                <p:cBhvr additive="repl">
                                  <p:cTn id="5" dur="500"/>
                                  <p:tgtEl>
                                    <p:spTgt spid="265"/>
                                  </p:tgtEl>
                                </p:cBhvr>
                              </p:animEffect>
                              <p:set>
                                <p:cBhvr>
                                  <p:cTn id="6" dur="1" fill="hold">
                                    <p:stCondLst>
                                      <p:cond delay="500"/>
                                    </p:stCondLst>
                                  </p:cTn>
                                  <p:tgtEl>
                                    <p:spTgt spid="265"/>
                                  </p:tgtEl>
                                  <p:attrNameLst>
                                    <p:attrName>style.visibility</p:attrName>
                                  </p:attrNameLst>
                                </p:cBhvr>
                                <p:to>
                                  <p:strVal val="hidden"/>
                                </p:to>
                              </p:set>
                            </p:childTnLst>
                          </p:cTn>
                        </p:par>
                      </p:childTnLst>
                    </p:cTn>
                  </p:par>
                  <p:par>
                    <p:cTn id="7" fill="hold">
                      <p:stCondLst>
                        <p:cond delay="indefinite"/>
                      </p:stCondLst>
                      <p:childTnLst>
                        <p:par>
                          <p:cTn id="8" presetID="10" presetClass="exit" fill="hold" nodeType="clickEffect">
                            <p:stCondLst>
                              <p:cond delay="0"/>
                            </p:stCondLst>
                            <p:childTnLst>
                              <p:animEffect transition="out" filter="fade">
                                <p:cBhvr additive="repl">
                                  <p:cTn id="9" dur="500"/>
                                  <p:tgtEl>
                                    <p:spTgt spid="266"/>
                                  </p:tgtEl>
                                </p:cBhvr>
                              </p:animEffect>
                              <p:set>
                                <p:cBhvr>
                                  <p:cTn id="10" dur="1" fill="hold">
                                    <p:stCondLst>
                                      <p:cond delay="500"/>
                                    </p:stCondLst>
                                  </p:cTn>
                                  <p:tgtEl>
                                    <p:spTgt spid="266"/>
                                  </p:tgtEl>
                                  <p:attrNameLst>
                                    <p:attrName>style.visibility</p:attrName>
                                  </p:attrNameLst>
                                </p:cBhvr>
                                <p:to>
                                  <p:strVal val="hidden"/>
                                </p:to>
                              </p:set>
                            </p:childTnLst>
                          </p:cTn>
                        </p:par>
                      </p:childTnLst>
                    </p:cTn>
                  </p:par>
                  <p:par>
                    <p:cTn id="11" fill="hold">
                      <p:stCondLst>
                        <p:cond delay="indefinite"/>
                      </p:stCondLst>
                      <p:childTnLst>
                        <p:par>
                          <p:cTn id="12" presetID="10" presetClass="exit" fill="hold" nodeType="clickEffect">
                            <p:stCondLst>
                              <p:cond delay="0"/>
                            </p:stCondLst>
                            <p:childTnLst>
                              <p:animEffect transition="out" filter="fade">
                                <p:cBhvr additive="repl">
                                  <p:cTn id="13" dur="500"/>
                                  <p:tgtEl>
                                    <p:spTgt spid="267"/>
                                  </p:tgtEl>
                                </p:cBhvr>
                              </p:animEffect>
                              <p:set>
                                <p:cBhvr>
                                  <p:cTn id="14" dur="1" fill="hold">
                                    <p:stCondLst>
                                      <p:cond delay="500"/>
                                    </p:stCondLst>
                                  </p:cTn>
                                  <p:tgtEl>
                                    <p:spTgt spid="267"/>
                                  </p:tgtEl>
                                  <p:attrNameLst>
                                    <p:attrName>style.visibility</p:attrName>
                                  </p:attrNameLst>
                                </p:cBhvr>
                                <p:to>
                                  <p:strVal val="hidden"/>
                                </p:to>
                              </p:set>
                            </p:childTnLst>
                          </p:cTn>
                        </p:par>
                      </p:childTnLst>
                    </p:cTn>
                  </p:par>
                  <p:par>
                    <p:cTn id="15" fill="hold">
                      <p:stCondLst>
                        <p:cond delay="indefinite"/>
                      </p:stCondLst>
                      <p:childTnLst>
                        <p:par>
                          <p:cTn id="16" presetID="10" presetClass="exit" fill="hold" nodeType="clickEffect">
                            <p:stCondLst>
                              <p:cond delay="0"/>
                            </p:stCondLst>
                            <p:childTnLst>
                              <p:animEffect transition="out" filter="fade">
                                <p:cBhvr additive="repl">
                                  <p:cTn id="17" dur="500"/>
                                  <p:tgtEl>
                                    <p:spTgt spid="268"/>
                                  </p:tgtEl>
                                </p:cBhvr>
                              </p:animEffect>
                              <p:set>
                                <p:cBhvr>
                                  <p:cTn id="18" dur="1" fill="hold">
                                    <p:stCondLst>
                                      <p:cond delay="500"/>
                                    </p:stCondLst>
                                  </p:cTn>
                                  <p:tgtEl>
                                    <p:spTgt spid="268"/>
                                  </p:tgtEl>
                                  <p:attrNameLst>
                                    <p:attrName>style.visibility</p:attrName>
                                  </p:attrNameLst>
                                </p:cBhvr>
                                <p:to>
                                  <p:strVal val="hidden"/>
                                </p:to>
                              </p:set>
                            </p:childTnLst>
                          </p:cTn>
                        </p:par>
                      </p:childTnLst>
                    </p:cTn>
                  </p:par>
                  <p:par>
                    <p:cTn id="19" fill="hold">
                      <p:stCondLst>
                        <p:cond delay="indefinite"/>
                      </p:stCondLst>
                      <p:childTnLst>
                        <p:par>
                          <p:cTn id="20" presetID="10" presetClass="exit" fill="hold" nodeType="clickEffect">
                            <p:stCondLst>
                              <p:cond delay="0"/>
                            </p:stCondLst>
                            <p:childTnLst>
                              <p:animEffect transition="out" filter="fade">
                                <p:cBhvr additive="repl">
                                  <p:cTn id="21" dur="500"/>
                                  <p:tgtEl>
                                    <p:spTgt spid="269"/>
                                  </p:tgtEl>
                                </p:cBhvr>
                              </p:animEffect>
                              <p:set>
                                <p:cBhvr>
                                  <p:cTn id="22" dur="1" fill="hold">
                                    <p:stCondLst>
                                      <p:cond delay="500"/>
                                    </p:stCondLst>
                                  </p:cTn>
                                  <p:tgtEl>
                                    <p:spTgt spid="269"/>
                                  </p:tgtEl>
                                  <p:attrNameLst>
                                    <p:attrName>style.visibility</p:attrName>
                                  </p:attrNameLst>
                                </p:cBhvr>
                                <p:to>
                                  <p:strVal val="hidden"/>
                                </p:to>
                              </p:set>
                            </p:childTnLst>
                          </p:cTn>
                        </p:par>
                      </p:childTnLst>
                    </p:cTn>
                  </p:par>
                  <p:par>
                    <p:cTn id="23" fill="hold">
                      <p:stCondLst>
                        <p:cond delay="indefinite"/>
                      </p:stCondLst>
                      <p:childTnLst>
                        <p:par>
                          <p:cTn id="24" presetID="10" presetClass="exit" fill="hold" nodeType="clickEffect">
                            <p:stCondLst>
                              <p:cond delay="0"/>
                            </p:stCondLst>
                            <p:childTnLst>
                              <p:animEffect transition="out" filter="fade">
                                <p:cBhvr additive="repl">
                                  <p:cTn id="25" dur="500"/>
                                  <p:tgtEl>
                                    <p:spTgt spid="270"/>
                                  </p:tgtEl>
                                </p:cBhvr>
                              </p:animEffect>
                              <p:set>
                                <p:cBhvr>
                                  <p:cTn id="26" dur="1" fill="hold">
                                    <p:stCondLst>
                                      <p:cond delay="500"/>
                                    </p:stCondLst>
                                  </p:cTn>
                                  <p:tgtEl>
                                    <p:spTgt spid="270"/>
                                  </p:tgtEl>
                                  <p:attrNameLst>
                                    <p:attrName>style.visibility</p:attrName>
                                  </p:attrNameLst>
                                </p:cBhvr>
                                <p:to>
                                  <p:strVal val="hidden"/>
                                </p:to>
                              </p:set>
                            </p:childTnLst>
                          </p:cTn>
                        </p:par>
                      </p:childTnLst>
                    </p:cTn>
                  </p:par>
                  <p:par>
                    <p:cTn id="27" fill="hold">
                      <p:stCondLst>
                        <p:cond delay="indefinite"/>
                      </p:stCondLst>
                      <p:childTnLst>
                        <p:par>
                          <p:cTn id="28" presetID="10" presetClass="exit" fill="hold" nodeType="clickEffect">
                            <p:stCondLst>
                              <p:cond delay="0"/>
                            </p:stCondLst>
                            <p:childTnLst>
                              <p:animEffect transition="out" filter="fade">
                                <p:cBhvr additive="repl">
                                  <p:cTn id="29" dur="500"/>
                                  <p:tgtEl>
                                    <p:spTgt spid="271"/>
                                  </p:tgtEl>
                                </p:cBhvr>
                              </p:animEffect>
                              <p:set>
                                <p:cBhvr>
                                  <p:cTn id="30" dur="1" fill="hold">
                                    <p:stCondLst>
                                      <p:cond delay="500"/>
                                    </p:stCondLst>
                                  </p:cTn>
                                  <p:tgtEl>
                                    <p:spTgt spid="271"/>
                                  </p:tgtEl>
                                  <p:attrNameLst>
                                    <p:attrName>style.visibility</p:attrName>
                                  </p:attrNameLst>
                                </p:cBhvr>
                                <p:to>
                                  <p:strVal val="hidden"/>
                                </p:to>
                              </p:set>
                            </p:childTnLst>
                          </p:cTn>
                        </p:par>
                      </p:childTnLst>
                    </p:cTn>
                  </p:par>
                  <p:par>
                    <p:cTn id="31" fill="hold">
                      <p:stCondLst>
                        <p:cond delay="indefinite"/>
                      </p:stCondLst>
                      <p:childTnLst>
                        <p:par>
                          <p:cTn id="32" presetID="10" presetClass="entr" fill="hold" nodeType="clickEffect">
                            <p:stCondLst>
                              <p:cond delay="0"/>
                            </p:stCondLst>
                            <p:childTnLst>
                              <p:set>
                                <p:cBhvr>
                                  <p:cTn id="33" dur="1" fill="hold">
                                    <p:stCondLst>
                                      <p:cond delay="0"/>
                                    </p:stCondLst>
                                  </p:cTn>
                                  <p:tgtEl>
                                    <p:spTgt spid="263"/>
                                  </p:tgtEl>
                                  <p:attrNameLst>
                                    <p:attrName>style.visibility</p:attrName>
                                  </p:attrNameLst>
                                </p:cBhvr>
                                <p:to>
                                  <p:strVal val="visible"/>
                                </p:to>
                              </p:set>
                              <p:animEffect transition="in" filter="fade">
                                <p:cBhvr additive="repl">
                                  <p:cTn id="34" dur="500"/>
                                  <p:tgtEl>
                                    <p:spTgt spid="263"/>
                                  </p:tgtEl>
                                </p:cBhvr>
                              </p:animEffect>
                            </p:childTnLst>
                          </p:cTn>
                        </p:par>
                        <p:par>
                          <p:cTn id="35" presetID="10" presetClass="entr" fill="hold" nodeType="clickEffect">
                            <p:stCondLst>
                              <p:cond delay="0"/>
                            </p:stCondLst>
                            <p:childTnLst>
                              <p:set>
                                <p:cBhvr>
                                  <p:cTn id="36" dur="1" fill="hold">
                                    <p:stCondLst>
                                      <p:cond delay="0"/>
                                    </p:stCondLst>
                                  </p:cTn>
                                  <p:tgtEl>
                                    <p:spTgt spid="264"/>
                                  </p:tgtEl>
                                  <p:attrNameLst>
                                    <p:attrName>style.visibility</p:attrName>
                                  </p:attrNameLst>
                                </p:cBhvr>
                                <p:to>
                                  <p:strVal val="visible"/>
                                </p:to>
                              </p:set>
                              <p:animEffect transition="in" filter="fade">
                                <p:cBhvr additive="repl">
                                  <p:cTn id="37" dur="500"/>
                                  <p:tgtEl>
                                    <p:spTgt spid="26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2" name="Oval 1"/>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chemeClr val="dk1"/>
              </a:solidFill>
              <a:effectLst/>
              <a:uFillTx/>
              <a:latin typeface="Calibri"/>
            </a:endParaRPr>
          </a:p>
        </p:txBody>
      </p:sp>
      <p:pic>
        <p:nvPicPr>
          <p:cNvPr id="273" name="Picture 2" descr="image.png"/>
          <p:cNvPicPr/>
          <p:nvPr/>
        </p:nvPicPr>
        <p:blipFill>
          <a:blip r:embed="rId3"/>
          <a:stretch/>
        </p:blipFill>
        <p:spPr>
          <a:xfrm>
            <a:off x="685800" y="594360"/>
            <a:ext cx="292320" cy="292320"/>
          </a:xfrm>
          <a:prstGeom prst="rect">
            <a:avLst/>
          </a:prstGeom>
          <a:noFill/>
          <a:ln w="0">
            <a:noFill/>
          </a:ln>
        </p:spPr>
      </p:pic>
      <p:sp>
        <p:nvSpPr>
          <p:cNvPr id="274" name="TextBox 3"/>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500" b="1" u="none" strike="noStrike">
                <a:solidFill>
                  <a:srgbClr val="C1440E"/>
                </a:solidFill>
                <a:effectLst/>
                <a:uFillTx/>
                <a:latin typeface="Calibri"/>
              </a:rPr>
              <a:t>CROSSING THE RIVER</a:t>
            </a:r>
            <a:endParaRPr lang="en-US" sz="1500" b="0" u="none" strike="noStrike">
              <a:solidFill>
                <a:srgbClr val="000000"/>
              </a:solidFill>
              <a:effectLst/>
              <a:uFillTx/>
              <a:latin typeface="Arial"/>
            </a:endParaRPr>
          </a:p>
        </p:txBody>
      </p:sp>
      <p:sp>
        <p:nvSpPr>
          <p:cNvPr id="275" name="TextBox 4"/>
          <p:cNvSpPr/>
          <p:nvPr/>
        </p:nvSpPr>
        <p:spPr>
          <a:xfrm>
            <a:off x="1234440" y="749880"/>
            <a:ext cx="10743840" cy="594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200" b="1" u="none" strike="noStrike">
                <a:solidFill>
                  <a:srgbClr val="1F3D2C"/>
                </a:solidFill>
                <a:effectLst/>
                <a:uFillTx/>
                <a:latin typeface="Cambria"/>
              </a:rPr>
              <a:t>Automation Plane — Runners, Networks, Secrets</a:t>
            </a:r>
            <a:endParaRPr lang="en-US" sz="3200" b="0" u="none" strike="noStrike">
              <a:solidFill>
                <a:srgbClr val="000000"/>
              </a:solidFill>
              <a:effectLst/>
              <a:uFillTx/>
              <a:latin typeface="Arial"/>
            </a:endParaRPr>
          </a:p>
        </p:txBody>
      </p:sp>
      <p:sp>
        <p:nvSpPr>
          <p:cNvPr id="276" name="TextBox 5"/>
          <p:cNvSpPr/>
          <p:nvPr/>
        </p:nvSpPr>
        <p:spPr>
          <a:xfrm>
            <a:off x="548640" y="1481400"/>
            <a:ext cx="1106388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800" b="0" u="none" strike="noStrike">
                <a:solidFill>
                  <a:srgbClr val="2B2B2B"/>
                </a:solidFill>
                <a:effectLst/>
                <a:uFillTx/>
                <a:latin typeface="Calibri"/>
              </a:rPr>
              <a:t>The YAML converts. The execution environment usually doesn’t — and that is where enterprise migrations stall.</a:t>
            </a:r>
            <a:endParaRPr lang="en-US" sz="1800" b="0" u="none" strike="noStrike">
              <a:solidFill>
                <a:srgbClr val="000000"/>
              </a:solidFill>
              <a:effectLst/>
              <a:uFillTx/>
              <a:latin typeface="Arial"/>
            </a:endParaRPr>
          </a:p>
        </p:txBody>
      </p:sp>
      <p:sp>
        <p:nvSpPr>
          <p:cNvPr id="277" name="Rounded Rectangle 6"/>
          <p:cNvSpPr/>
          <p:nvPr/>
        </p:nvSpPr>
        <p:spPr>
          <a:xfrm>
            <a:off x="548640" y="2030040"/>
            <a:ext cx="5348880" cy="3474360"/>
          </a:xfrm>
          <a:prstGeom prst="roundRect">
            <a:avLst>
              <a:gd name="adj" fmla="val 4000"/>
            </a:avLst>
          </a:prstGeom>
          <a:solidFill>
            <a:srgbClr val="F7F6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78" name="TextBox 7"/>
          <p:cNvSpPr/>
          <p:nvPr/>
        </p:nvSpPr>
        <p:spPr>
          <a:xfrm>
            <a:off x="822960" y="2231280"/>
            <a:ext cx="480024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900" b="1" u="none" strike="noStrike">
                <a:solidFill>
                  <a:srgbClr val="1F3D2C"/>
                </a:solidFill>
                <a:effectLst/>
                <a:uFillTx/>
                <a:latin typeface="Cambria"/>
              </a:rPr>
              <a:t>Decide</a:t>
            </a:r>
            <a:endParaRPr lang="en-US" sz="1900" b="0" u="none" strike="noStrike">
              <a:solidFill>
                <a:srgbClr val="000000"/>
              </a:solidFill>
              <a:effectLst/>
              <a:uFillTx/>
              <a:latin typeface="Arial"/>
            </a:endParaRPr>
          </a:p>
        </p:txBody>
      </p:sp>
      <p:sp>
        <p:nvSpPr>
          <p:cNvPr id="279" name="TextBox 8"/>
          <p:cNvSpPr/>
          <p:nvPr/>
        </p:nvSpPr>
        <p:spPr>
          <a:xfrm>
            <a:off x="822960" y="2743200"/>
            <a:ext cx="4800240" cy="26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50" b="0" u="none" strike="noStrike">
                <a:solidFill>
                  <a:srgbClr val="2B2B2B"/>
                </a:solidFill>
                <a:effectLst/>
                <a:uFillTx/>
                <a:latin typeface="Calibri"/>
              </a:rPr>
              <a:t>•  Hosted vs self-hosted — and who operates them</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Network path to private endpoints and internal feeds</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Toolchain and cache parity with today’s agents</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Ephemeral vs persistent, and the autoscaling policy</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Runner groups, and which repositories may use them</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Minute consumption and larger-runner cost</a:t>
            </a:r>
            <a:endParaRPr lang="en-US" sz="1450" b="0" u="none" strike="noStrike">
              <a:solidFill>
                <a:srgbClr val="000000"/>
              </a:solidFill>
              <a:effectLst/>
              <a:uFillTx/>
              <a:latin typeface="Arial"/>
            </a:endParaRPr>
          </a:p>
        </p:txBody>
      </p:sp>
      <p:sp>
        <p:nvSpPr>
          <p:cNvPr id="280" name="Rounded Rectangle 9"/>
          <p:cNvSpPr/>
          <p:nvPr/>
        </p:nvSpPr>
        <p:spPr>
          <a:xfrm>
            <a:off x="6263640" y="2030040"/>
            <a:ext cx="5348880" cy="3474360"/>
          </a:xfrm>
          <a:prstGeom prst="roundRect">
            <a:avLst>
              <a:gd name="adj" fmla="val 4000"/>
            </a:avLst>
          </a:prstGeom>
          <a:solidFill>
            <a:srgbClr val="F7F6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81" name="TextBox 10"/>
          <p:cNvSpPr/>
          <p:nvPr/>
        </p:nvSpPr>
        <p:spPr>
          <a:xfrm>
            <a:off x="6537960" y="2231280"/>
            <a:ext cx="480024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900" b="1" u="none" strike="noStrike">
                <a:solidFill>
                  <a:srgbClr val="1F3D2C"/>
                </a:solidFill>
                <a:effectLst/>
                <a:uFillTx/>
                <a:latin typeface="Cambria"/>
              </a:rPr>
              <a:t>Prove</a:t>
            </a:r>
            <a:endParaRPr lang="en-US" sz="1900" b="0" u="none" strike="noStrike">
              <a:solidFill>
                <a:srgbClr val="000000"/>
              </a:solidFill>
              <a:effectLst/>
              <a:uFillTx/>
              <a:latin typeface="Arial"/>
            </a:endParaRPr>
          </a:p>
        </p:txBody>
      </p:sp>
      <p:sp>
        <p:nvSpPr>
          <p:cNvPr id="282" name="TextBox 11"/>
          <p:cNvSpPr/>
          <p:nvPr/>
        </p:nvSpPr>
        <p:spPr>
          <a:xfrm>
            <a:off x="6537960" y="2743200"/>
            <a:ext cx="4800240" cy="265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50" b="0" u="none" strike="noStrike">
                <a:solidFill>
                  <a:srgbClr val="2B2B2B"/>
                </a:solidFill>
                <a:effectLst/>
                <a:uFillTx/>
                <a:latin typeface="Calibri"/>
              </a:rPr>
              <a:t>•  Internal package feeds resolve from the runner</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Signing infrastructure and deployment targets reachable</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Firewall, proxy and IP-allowlist rules</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OIDC federation actually issues a usable token</a:t>
            </a:r>
            <a:endParaRPr lang="en-US" sz="1450" b="0" u="none" strike="noStrike">
              <a:solidFill>
                <a:srgbClr val="000000"/>
              </a:solidFill>
              <a:effectLst/>
              <a:uFillTx/>
              <a:latin typeface="Arial"/>
            </a:endParaRPr>
          </a:p>
          <a:p>
            <a:pPr defTabSz="914400">
              <a:lnSpc>
                <a:spcPct val="100000"/>
              </a:lnSpc>
              <a:spcBef>
                <a:spcPts val="700"/>
              </a:spcBef>
            </a:pPr>
            <a:r>
              <a:rPr lang="en-US" sz="1450" b="0" u="none" strike="noStrike">
                <a:solidFill>
                  <a:srgbClr val="2B2B2B"/>
                </a:solidFill>
                <a:effectLst/>
                <a:uFillTx/>
                <a:latin typeface="Calibri"/>
              </a:rPr>
              <a:t>•  Artifact throughput at real sizes, not sample sizes</a:t>
            </a:r>
            <a:endParaRPr lang="en-US" sz="1450" b="0" u="none" strike="noStrike">
              <a:solidFill>
                <a:srgbClr val="000000"/>
              </a:solidFill>
              <a:effectLst/>
              <a:uFillTx/>
              <a:latin typeface="Arial"/>
            </a:endParaRPr>
          </a:p>
        </p:txBody>
      </p:sp>
      <p:sp>
        <p:nvSpPr>
          <p:cNvPr id="283" name="Rounded Rectangle 12"/>
          <p:cNvSpPr/>
          <p:nvPr/>
        </p:nvSpPr>
        <p:spPr>
          <a:xfrm>
            <a:off x="548640" y="5760720"/>
            <a:ext cx="11063880" cy="78588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 workflow converted successfully. It merely has no credentials, no network route, and nowhere to deploy.</a:t>
            </a:r>
            <a:endParaRPr lang="en-US" sz="1500" b="0" u="none" strike="noStrike">
              <a:solidFill>
                <a:srgbClr val="FFFFFF"/>
              </a:solidFill>
              <a:effectLst/>
              <a:uFillTx/>
              <a:latin typeface="Arial"/>
            </a:endParaRPr>
          </a:p>
        </p:txBody>
      </p:sp>
      <p:sp>
        <p:nvSpPr>
          <p:cNvPr id="2" name="PlaceHolder 1"/>
          <p:cNvSpPr>
            <a:spLocks noGrp="1"/>
          </p:cNvSpPr>
          <p:nvPr>
            <p:ph type="sldNum" idx="1"/>
          </p:nvPr>
        </p:nvSpPr>
        <p:spPr/>
        <p:txBody>
          <a:bodyPr/>
          <a:lstStyle/>
          <a:p>
            <a:fld id="{A12EB8FC-153E-431F-845E-B4A3B8189DB7}" type="slidenum">
              <a:rPr/>
              <a:t>25</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277"/>
                                  </p:tgtEl>
                                  <p:attrNameLst>
                                    <p:attrName>style.visibility</p:attrName>
                                  </p:attrNameLst>
                                </p:cBhvr>
                                <p:to>
                                  <p:strVal val="visible"/>
                                </p:to>
                              </p:set>
                              <p:animEffect transition="in" filter="fade">
                                <p:cBhvr additive="repl">
                                  <p:cTn id="6" dur="500"/>
                                  <p:tgtEl>
                                    <p:spTgt spid="277"/>
                                  </p:tgtEl>
                                </p:cBhvr>
                              </p:animEffect>
                            </p:childTnLst>
                          </p:cTn>
                        </p:par>
                        <p:par>
                          <p:cTn id="7" presetID="10" presetClass="entr" fill="hold" nodeType="clickEffect">
                            <p:stCondLst>
                              <p:cond delay="0"/>
                            </p:stCondLst>
                            <p:childTnLst>
                              <p:set>
                                <p:cBhvr>
                                  <p:cTn id="8" dur="1" fill="hold">
                                    <p:stCondLst>
                                      <p:cond delay="0"/>
                                    </p:stCondLst>
                                  </p:cTn>
                                  <p:tgtEl>
                                    <p:spTgt spid="278"/>
                                  </p:tgtEl>
                                  <p:attrNameLst>
                                    <p:attrName>style.visibility</p:attrName>
                                  </p:attrNameLst>
                                </p:cBhvr>
                                <p:to>
                                  <p:strVal val="visible"/>
                                </p:to>
                              </p:set>
                              <p:animEffect transition="in" filter="fade">
                                <p:cBhvr additive="repl">
                                  <p:cTn id="9" dur="500"/>
                                  <p:tgtEl>
                                    <p:spTgt spid="278"/>
                                  </p:tgtEl>
                                </p:cBhvr>
                              </p:animEffect>
                            </p:childTnLst>
                          </p:cTn>
                        </p:par>
                        <p:par>
                          <p:cTn id="10" presetID="10" presetClass="entr" fill="hold" nodeType="clickEffect">
                            <p:stCondLst>
                              <p:cond delay="0"/>
                            </p:stCondLst>
                            <p:childTnLst>
                              <p:set>
                                <p:cBhvr>
                                  <p:cTn id="11" dur="1" fill="hold">
                                    <p:stCondLst>
                                      <p:cond delay="0"/>
                                    </p:stCondLst>
                                  </p:cTn>
                                  <p:tgtEl>
                                    <p:spTgt spid="279"/>
                                  </p:tgtEl>
                                  <p:attrNameLst>
                                    <p:attrName>style.visibility</p:attrName>
                                  </p:attrNameLst>
                                </p:cBhvr>
                                <p:to>
                                  <p:strVal val="visible"/>
                                </p:to>
                              </p:set>
                              <p:animEffect transition="in" filter="fade">
                                <p:cBhvr additive="repl">
                                  <p:cTn id="12" dur="500"/>
                                  <p:tgtEl>
                                    <p:spTgt spid="279"/>
                                  </p:tgtEl>
                                </p:cBhvr>
                              </p:animEffect>
                            </p:childTnLst>
                          </p:cTn>
                        </p:par>
                      </p:childTnLst>
                    </p:cTn>
                  </p:par>
                  <p:par>
                    <p:cTn id="13" fill="hold">
                      <p:stCondLst>
                        <p:cond delay="indefinite"/>
                      </p:stCondLst>
                      <p:childTnLst>
                        <p:par>
                          <p:cTn id="14" presetID="10" presetClass="entr" fill="hold" nodeType="clickEffect">
                            <p:stCondLst>
                              <p:cond delay="0"/>
                            </p:stCondLst>
                            <p:childTnLst>
                              <p:set>
                                <p:cBhvr>
                                  <p:cTn id="15" dur="1" fill="hold">
                                    <p:stCondLst>
                                      <p:cond delay="0"/>
                                    </p:stCondLst>
                                  </p:cTn>
                                  <p:tgtEl>
                                    <p:spTgt spid="280"/>
                                  </p:tgtEl>
                                  <p:attrNameLst>
                                    <p:attrName>style.visibility</p:attrName>
                                  </p:attrNameLst>
                                </p:cBhvr>
                                <p:to>
                                  <p:strVal val="visible"/>
                                </p:to>
                              </p:set>
                              <p:animEffect transition="in" filter="fade">
                                <p:cBhvr additive="repl">
                                  <p:cTn id="16" dur="500"/>
                                  <p:tgtEl>
                                    <p:spTgt spid="280"/>
                                  </p:tgtEl>
                                </p:cBhvr>
                              </p:animEffect>
                            </p:childTnLst>
                          </p:cTn>
                        </p:par>
                        <p:par>
                          <p:cTn id="17" presetID="10" presetClass="entr" fill="hold" nodeType="click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fade">
                                <p:cBhvr additive="repl">
                                  <p:cTn id="19" dur="500"/>
                                  <p:tgtEl>
                                    <p:spTgt spid="281"/>
                                  </p:tgtEl>
                                </p:cBhvr>
                              </p:animEffect>
                            </p:childTnLst>
                          </p:cTn>
                        </p:par>
                        <p:par>
                          <p:cTn id="20" presetID="10" presetClass="entr" fill="hold" nodeType="clickEffect">
                            <p:stCondLst>
                              <p:cond delay="0"/>
                            </p:stCondLst>
                            <p:childTnLst>
                              <p:set>
                                <p:cBhvr>
                                  <p:cTn id="21" dur="1" fill="hold">
                                    <p:stCondLst>
                                      <p:cond delay="0"/>
                                    </p:stCondLst>
                                  </p:cTn>
                                  <p:tgtEl>
                                    <p:spTgt spid="282"/>
                                  </p:tgtEl>
                                  <p:attrNameLst>
                                    <p:attrName>style.visibility</p:attrName>
                                  </p:attrNameLst>
                                </p:cBhvr>
                                <p:to>
                                  <p:strVal val="visible"/>
                                </p:to>
                              </p:set>
                              <p:animEffect transition="in" filter="fade">
                                <p:cBhvr additive="repl">
                                  <p:cTn id="22" dur="500"/>
                                  <p:tgtEl>
                                    <p:spTgt spid="282"/>
                                  </p:tgtEl>
                                </p:cBhvr>
                              </p:animEffect>
                            </p:childTnLst>
                          </p:cTn>
                        </p:par>
                      </p:childTnLst>
                    </p:cTn>
                  </p:par>
                  <p:par>
                    <p:cTn id="23" fill="hold">
                      <p:stCondLst>
                        <p:cond delay="indefinite"/>
                      </p:stCondLst>
                      <p:childTnLst>
                        <p:par>
                          <p:cTn id="24" presetID="10" presetClass="entr" fill="hold" nodeType="clickEffect">
                            <p:stCondLst>
                              <p:cond delay="0"/>
                            </p:stCondLst>
                            <p:childTnLst>
                              <p:set>
                                <p:cBhvr>
                                  <p:cTn id="25" dur="1" fill="hold">
                                    <p:stCondLst>
                                      <p:cond delay="0"/>
                                    </p:stCondLst>
                                  </p:cTn>
                                  <p:tgtEl>
                                    <p:spTgt spid="283"/>
                                  </p:tgtEl>
                                  <p:attrNameLst>
                                    <p:attrName>style.visibility</p:attrName>
                                  </p:attrNameLst>
                                </p:cBhvr>
                                <p:to>
                                  <p:strVal val="visible"/>
                                </p:to>
                              </p:set>
                              <p:animEffect transition="in" filter="fade">
                                <p:cBhvr additive="repl">
                                  <p:cTn id="26" dur="500"/>
                                  <p:tgtEl>
                                    <p:spTgt spid="283"/>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4"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85" name="Image 0" descr="/home/claude/pptx-build/assets/icons/FaBrain-FFFFFF-200.png"/>
          <p:cNvPicPr/>
          <p:nvPr/>
        </p:nvPicPr>
        <p:blipFill>
          <a:blip r:embed="rId3"/>
          <a:stretch/>
        </p:blipFill>
        <p:spPr>
          <a:xfrm>
            <a:off x="685800" y="594360"/>
            <a:ext cx="292320" cy="292320"/>
          </a:xfrm>
          <a:prstGeom prst="rect">
            <a:avLst/>
          </a:prstGeom>
          <a:noFill/>
          <a:ln w="0">
            <a:noFill/>
          </a:ln>
        </p:spPr>
      </p:pic>
      <p:sp>
        <p:nvSpPr>
          <p:cNvPr id="286"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287"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rPr>
              <a:t>AI Assistance — Reason About Pipeline Semantics</a:t>
            </a:r>
            <a:endParaRPr lang="en-US" sz="3200" b="0" u="none" strike="noStrike">
              <a:solidFill>
                <a:srgbClr val="000000"/>
              </a:solidFill>
              <a:effectLst/>
              <a:uFillTx/>
              <a:latin typeface="Arial"/>
            </a:endParaRPr>
          </a:p>
        </p:txBody>
      </p:sp>
      <p:sp>
        <p:nvSpPr>
          <p:cNvPr id="288" name="Shape 3"/>
          <p:cNvSpPr/>
          <p:nvPr/>
        </p:nvSpPr>
        <p:spPr>
          <a:xfrm>
            <a:off x="548640" y="1691640"/>
            <a:ext cx="3428640" cy="3200040"/>
          </a:xfrm>
          <a:prstGeom prst="roundRect">
            <a:avLst>
              <a:gd name="adj" fmla="val 3429"/>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89" name="Shape 4"/>
          <p:cNvSpPr/>
          <p:nvPr/>
        </p:nvSpPr>
        <p:spPr>
          <a:xfrm>
            <a:off x="822960" y="1920240"/>
            <a:ext cx="603000" cy="603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90" name="Image 1" descr="/home/claude/pptx-build/assets/icons/FaSearch-FFFFFF-200.png"/>
          <p:cNvPicPr/>
          <p:nvPr/>
        </p:nvPicPr>
        <p:blipFill>
          <a:blip r:embed="rId4"/>
          <a:stretch/>
        </p:blipFill>
        <p:spPr>
          <a:xfrm>
            <a:off x="969120" y="2066400"/>
            <a:ext cx="310680" cy="310680"/>
          </a:xfrm>
          <a:prstGeom prst="rect">
            <a:avLst/>
          </a:prstGeom>
          <a:noFill/>
          <a:ln w="0">
            <a:noFill/>
          </a:ln>
        </p:spPr>
      </p:pic>
      <p:sp>
        <p:nvSpPr>
          <p:cNvPr id="291" name="Text 5"/>
          <p:cNvSpPr/>
          <p:nvPr/>
        </p:nvSpPr>
        <p:spPr>
          <a:xfrm>
            <a:off x="822960" y="2670120"/>
            <a:ext cx="28800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F3D2C"/>
                </a:solidFill>
                <a:effectLst/>
                <a:uFillTx/>
                <a:latin typeface="Cambria"/>
                <a:ea typeface="Cambria"/>
              </a:rPr>
              <a:t>Analyze</a:t>
            </a:r>
            <a:endParaRPr lang="en-US" sz="1800" b="0" u="none" strike="noStrike">
              <a:solidFill>
                <a:srgbClr val="000000"/>
              </a:solidFill>
              <a:effectLst/>
              <a:uFillTx/>
              <a:latin typeface="Arial"/>
            </a:endParaRPr>
          </a:p>
        </p:txBody>
      </p:sp>
      <p:sp>
        <p:nvSpPr>
          <p:cNvPr id="292" name="Text 6"/>
          <p:cNvSpPr/>
          <p:nvPr/>
        </p:nvSpPr>
        <p:spPr>
          <a:xfrm>
            <a:off x="822960" y="3182040"/>
            <a:ext cx="2880000" cy="1599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rPr>
              <a:t>Inventory structure, constructs, risk, and open questions before conversion.</a:t>
            </a:r>
            <a:endParaRPr lang="en-US" sz="1400" b="0" u="none" strike="noStrike">
              <a:solidFill>
                <a:srgbClr val="000000"/>
              </a:solidFill>
              <a:effectLst/>
              <a:uFillTx/>
              <a:latin typeface="Arial"/>
            </a:endParaRPr>
          </a:p>
        </p:txBody>
      </p:sp>
      <p:sp>
        <p:nvSpPr>
          <p:cNvPr id="293" name="Shape 7"/>
          <p:cNvSpPr/>
          <p:nvPr/>
        </p:nvSpPr>
        <p:spPr>
          <a:xfrm>
            <a:off x="4251960" y="1691640"/>
            <a:ext cx="3428640" cy="3200040"/>
          </a:xfrm>
          <a:prstGeom prst="roundRect">
            <a:avLst>
              <a:gd name="adj" fmla="val 3429"/>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94" name="Shape 8"/>
          <p:cNvSpPr/>
          <p:nvPr/>
        </p:nvSpPr>
        <p:spPr>
          <a:xfrm>
            <a:off x="4526280" y="1920240"/>
            <a:ext cx="603000" cy="603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295" name="Image 2" descr="/home/claude/pptx-build/assets/icons/FaExchangeAlt-FFFFFF-200.png"/>
          <p:cNvPicPr/>
          <p:nvPr/>
        </p:nvPicPr>
        <p:blipFill>
          <a:blip r:embed="rId5"/>
          <a:stretch/>
        </p:blipFill>
        <p:spPr>
          <a:xfrm>
            <a:off x="4672440" y="2066400"/>
            <a:ext cx="310680" cy="310680"/>
          </a:xfrm>
          <a:prstGeom prst="rect">
            <a:avLst/>
          </a:prstGeom>
          <a:noFill/>
          <a:ln w="0">
            <a:noFill/>
          </a:ln>
        </p:spPr>
      </p:pic>
      <p:sp>
        <p:nvSpPr>
          <p:cNvPr id="296" name="Text 9"/>
          <p:cNvSpPr/>
          <p:nvPr/>
        </p:nvSpPr>
        <p:spPr>
          <a:xfrm>
            <a:off x="4526280" y="2670120"/>
            <a:ext cx="28800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F3D2C"/>
                </a:solidFill>
                <a:effectLst/>
                <a:uFillTx/>
                <a:latin typeface="Cambria"/>
                <a:ea typeface="Cambria"/>
              </a:rPr>
              <a:t>Convert</a:t>
            </a:r>
            <a:endParaRPr lang="en-US" sz="1800" b="0" u="none" strike="noStrike">
              <a:solidFill>
                <a:srgbClr val="000000"/>
              </a:solidFill>
              <a:effectLst/>
              <a:uFillTx/>
              <a:latin typeface="Arial"/>
            </a:endParaRPr>
          </a:p>
        </p:txBody>
      </p:sp>
      <p:sp>
        <p:nvSpPr>
          <p:cNvPr id="297" name="Text 10"/>
          <p:cNvSpPr/>
          <p:nvPr/>
        </p:nvSpPr>
        <p:spPr>
          <a:xfrm>
            <a:off x="4526280" y="3182040"/>
            <a:ext cx="2880000" cy="1599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rPr>
              <a:t>Draft the Actions workflow and record every judgment call and confidence level.</a:t>
            </a:r>
            <a:endParaRPr lang="en-US" sz="1400" b="0" u="none" strike="noStrike">
              <a:solidFill>
                <a:srgbClr val="000000"/>
              </a:solidFill>
              <a:effectLst/>
              <a:uFillTx/>
              <a:latin typeface="Arial"/>
            </a:endParaRPr>
          </a:p>
        </p:txBody>
      </p:sp>
      <p:sp>
        <p:nvSpPr>
          <p:cNvPr id="298" name="Shape 11"/>
          <p:cNvSpPr/>
          <p:nvPr/>
        </p:nvSpPr>
        <p:spPr>
          <a:xfrm>
            <a:off x="7955280" y="1691640"/>
            <a:ext cx="3428640" cy="3200040"/>
          </a:xfrm>
          <a:prstGeom prst="roundRect">
            <a:avLst>
              <a:gd name="adj" fmla="val 3429"/>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299" name="Shape 12"/>
          <p:cNvSpPr/>
          <p:nvPr/>
        </p:nvSpPr>
        <p:spPr>
          <a:xfrm>
            <a:off x="8229600" y="1920240"/>
            <a:ext cx="603000" cy="603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300" name="Image 3" descr="/home/claude/pptx-build/assets/icons/FaCheckCircle-FFFFFF-200.png"/>
          <p:cNvPicPr/>
          <p:nvPr/>
        </p:nvPicPr>
        <p:blipFill>
          <a:blip r:embed="rId6"/>
          <a:stretch/>
        </p:blipFill>
        <p:spPr>
          <a:xfrm>
            <a:off x="8375760" y="2066400"/>
            <a:ext cx="310680" cy="310680"/>
          </a:xfrm>
          <a:prstGeom prst="rect">
            <a:avLst/>
          </a:prstGeom>
          <a:noFill/>
          <a:ln w="0">
            <a:noFill/>
          </a:ln>
        </p:spPr>
      </p:pic>
      <p:sp>
        <p:nvSpPr>
          <p:cNvPr id="301" name="Text 13"/>
          <p:cNvSpPr/>
          <p:nvPr/>
        </p:nvSpPr>
        <p:spPr>
          <a:xfrm>
            <a:off x="8229600" y="2670120"/>
            <a:ext cx="28800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F3D2C"/>
                </a:solidFill>
                <a:effectLst/>
                <a:uFillTx/>
                <a:latin typeface="Cambria"/>
                <a:ea typeface="Cambria"/>
              </a:rPr>
              <a:t>Validate</a:t>
            </a:r>
            <a:endParaRPr lang="en-US" sz="1800" b="0" u="none" strike="noStrike">
              <a:solidFill>
                <a:srgbClr val="000000"/>
              </a:solidFill>
              <a:effectLst/>
              <a:uFillTx/>
              <a:latin typeface="Arial"/>
            </a:endParaRPr>
          </a:p>
        </p:txBody>
      </p:sp>
      <p:sp>
        <p:nvSpPr>
          <p:cNvPr id="302" name="Text 14"/>
          <p:cNvSpPr/>
          <p:nvPr/>
        </p:nvSpPr>
        <p:spPr>
          <a:xfrm>
            <a:off x="8229600" y="3182040"/>
            <a:ext cx="2880000" cy="1599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rPr>
              <a:t>Run a fresh checklist with another reviewer or model where possible, then prove it with deterministic tests.</a:t>
            </a:r>
            <a:endParaRPr lang="en-US" sz="1400" b="0" u="none" strike="noStrike">
              <a:solidFill>
                <a:srgbClr val="000000"/>
              </a:solidFill>
              <a:effectLst/>
              <a:uFillTx/>
              <a:latin typeface="Arial"/>
            </a:endParaRPr>
          </a:p>
        </p:txBody>
      </p:sp>
      <p:sp>
        <p:nvSpPr>
          <p:cNvPr id="303" name="Shape 15"/>
          <p:cNvSpPr/>
          <p:nvPr/>
        </p:nvSpPr>
        <p:spPr>
          <a:xfrm>
            <a:off x="548640" y="5120640"/>
            <a:ext cx="11063880" cy="1416960"/>
          </a:xfrm>
          <a:prstGeom prst="roundRect">
            <a:avLst>
              <a:gd name="adj" fmla="val 12632"/>
            </a:avLst>
          </a:prstGeom>
          <a:solidFill>
            <a:srgbClr val="F7F6F2"/>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04" name="Text 16"/>
          <p:cNvSpPr/>
          <p:nvPr/>
        </p:nvSpPr>
        <p:spPr>
          <a:xfrm>
            <a:off x="548640" y="5120640"/>
            <a:ext cx="11094480" cy="141696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0000"/>
              </a:lnSpc>
              <a:tabLst>
                <a:tab pos="0" algn="l"/>
              </a:tabLst>
            </a:pPr>
            <a:r>
              <a:rPr lang="en-US" sz="1250" b="1" u="none" strike="noStrike" spc="119">
                <a:solidFill>
                  <a:srgbClr val="C1440E"/>
                </a:solidFill>
                <a:effectLst/>
                <a:uFillTx/>
                <a:latin typeface="Calibri"/>
              </a:rPr>
              <a:t>DO THIS </a:t>
            </a:r>
            <a:r>
              <a:rPr lang="en-US" sz="1500" b="0" u="none" strike="noStrike">
                <a:solidFill>
                  <a:srgbClr val="2B2B2B"/>
                </a:solidFill>
                <a:effectLst/>
                <a:uFillTx/>
                <a:latin typeface="Calibri"/>
              </a:rPr>
              <a:t>Use AI where the importer reports partially successful or unsupported work: explain intent, draft conversions, and generate test hypotheses. It accelerates judgment; it does not own acceptance.</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7FB0ED39-D929-4B58-A643-2F8872E562FE}" type="slidenum">
              <a:rPr/>
              <a:t>26</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303"/>
                                  </p:tgtEl>
                                  <p:attrNameLst>
                                    <p:attrName>style.visibility</p:attrName>
                                  </p:attrNameLst>
                                </p:cBhvr>
                                <p:to>
                                  <p:strVal val="visible"/>
                                </p:to>
                              </p:set>
                              <p:animEffect transition="in" filter="fade">
                                <p:cBhvr additive="repl">
                                  <p:cTn id="6" dur="500"/>
                                  <p:tgtEl>
                                    <p:spTgt spid="303"/>
                                  </p:tgtEl>
                                </p:cBhvr>
                              </p:animEffect>
                            </p:childTnLst>
                          </p:cTn>
                        </p:par>
                        <p:par>
                          <p:cTn id="7" presetID="10" presetClass="entr" fill="hold" nodeType="clickEffect">
                            <p:stCondLst>
                              <p:cond delay="0"/>
                            </p:stCondLst>
                            <p:childTnLst>
                              <p:set>
                                <p:cBhvr>
                                  <p:cTn id="8" dur="1" fill="hold">
                                    <p:stCondLst>
                                      <p:cond delay="0"/>
                                    </p:stCondLst>
                                  </p:cTn>
                                  <p:tgtEl>
                                    <p:spTgt spid="304"/>
                                  </p:tgtEl>
                                  <p:attrNameLst>
                                    <p:attrName>style.visibility</p:attrName>
                                  </p:attrNameLst>
                                </p:cBhvr>
                                <p:to>
                                  <p:strVal val="visible"/>
                                </p:to>
                              </p:set>
                              <p:animEffect transition="in" filter="fade">
                                <p:cBhvr additive="repl">
                                  <p:cTn id="9" dur="500"/>
                                  <p:tgtEl>
                                    <p:spTgt spid="30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5"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306" name="Image 0" descr="/home/claude/pptx-build/assets/icons/FaMapMarkedAlt-FFFFFF-200.png"/>
          <p:cNvPicPr/>
          <p:nvPr/>
        </p:nvPicPr>
        <p:blipFill>
          <a:blip r:embed="rId3"/>
          <a:stretch/>
        </p:blipFill>
        <p:spPr>
          <a:xfrm>
            <a:off x="685800" y="594360"/>
            <a:ext cx="292320" cy="292320"/>
          </a:xfrm>
          <a:prstGeom prst="rect">
            <a:avLst/>
          </a:prstGeom>
          <a:noFill/>
          <a:ln w="0">
            <a:noFill/>
          </a:ln>
        </p:spPr>
      </p:pic>
      <p:sp>
        <p:nvSpPr>
          <p:cNvPr id="307"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308"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rPr>
              <a:t>The Crossing, Mapped Across the Planes</a:t>
            </a:r>
            <a:endParaRPr lang="en-US" sz="3200" b="0" u="none" strike="noStrike">
              <a:solidFill>
                <a:srgbClr val="000000"/>
              </a:solidFill>
              <a:effectLst/>
              <a:uFillTx/>
              <a:latin typeface="Arial"/>
            </a:endParaRPr>
          </a:p>
        </p:txBody>
      </p:sp>
      <p:sp>
        <p:nvSpPr>
          <p:cNvPr id="309" name="Rectangle 5"/>
          <p:cNvSpPr/>
          <p:nvPr/>
        </p:nvSpPr>
        <p:spPr>
          <a:xfrm>
            <a:off x="1375560" y="2698200"/>
            <a:ext cx="9116280" cy="18720"/>
          </a:xfrm>
          <a:prstGeom prst="rect">
            <a:avLst/>
          </a:prstGeom>
          <a:solidFill>
            <a:srgbClr val="DDD8CC"/>
          </a:solidFill>
          <a:ln w="0">
            <a:noFill/>
          </a:ln>
        </p:spPr>
        <p:style>
          <a:lnRef idx="0">
            <a:scrgbClr r="0" g="0" b="0"/>
          </a:lnRef>
          <a:fillRef idx="0">
            <a:scrgbClr r="0" g="0" b="0"/>
          </a:fillRef>
          <a:effectRef idx="0">
            <a:scrgbClr r="0" g="0" b="0"/>
          </a:effectRef>
          <a:fontRef idx="minor"/>
        </p:style>
        <p:txBody>
          <a:bodyPr lIns="90000" tIns="-25920" rIns="90000" bIns="-25920" anchor="ctr">
            <a:noAutofit/>
          </a:bodyPr>
          <a:lstStyle/>
          <a:p>
            <a:endParaRPr lang="en-US" sz="1800" b="0" u="none" strike="noStrike">
              <a:solidFill>
                <a:schemeClr val="dk1"/>
              </a:solidFill>
              <a:effectLst/>
              <a:uFillTx/>
              <a:latin typeface="Calibri"/>
            </a:endParaRPr>
          </a:p>
        </p:txBody>
      </p:sp>
      <p:sp>
        <p:nvSpPr>
          <p:cNvPr id="310" name="TextBox 6"/>
          <p:cNvSpPr/>
          <p:nvPr/>
        </p:nvSpPr>
        <p:spPr>
          <a:xfrm>
            <a:off x="296640" y="1691640"/>
            <a:ext cx="2011320" cy="25560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1" u="none" strike="noStrike">
                <a:solidFill>
                  <a:srgbClr val="C1440E"/>
                </a:solidFill>
                <a:effectLst/>
                <a:uFillTx/>
                <a:latin typeface="Calibri"/>
              </a:rPr>
              <a:t>STEP 1</a:t>
            </a:r>
            <a:endParaRPr lang="en-US" sz="1400" b="0" u="none" strike="noStrike">
              <a:solidFill>
                <a:srgbClr val="000000"/>
              </a:solidFill>
              <a:effectLst/>
              <a:uFillTx/>
              <a:latin typeface="Arial"/>
            </a:endParaRPr>
          </a:p>
        </p:txBody>
      </p:sp>
      <p:sp>
        <p:nvSpPr>
          <p:cNvPr id="311" name="TextBox 7"/>
          <p:cNvSpPr/>
          <p:nvPr/>
        </p:nvSpPr>
        <p:spPr>
          <a:xfrm>
            <a:off x="296640" y="1938600"/>
            <a:ext cx="2011320" cy="50256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algn="ctr" defTabSz="914400">
              <a:lnSpc>
                <a:spcPct val="100000"/>
              </a:lnSpc>
            </a:pPr>
            <a:r>
              <a:rPr lang="en-US" sz="1550" b="1" u="none" strike="noStrike">
                <a:solidFill>
                  <a:srgbClr val="1F3D2C"/>
                </a:solidFill>
                <a:effectLst/>
                <a:uFillTx/>
                <a:latin typeface="Cambria"/>
              </a:rPr>
              <a:t>Inventory &amp; classify</a:t>
            </a:r>
            <a:endParaRPr lang="en-US" sz="1550" b="0" u="none" strike="noStrike">
              <a:solidFill>
                <a:srgbClr val="000000"/>
              </a:solidFill>
              <a:effectLst/>
              <a:uFillTx/>
              <a:latin typeface="Arial"/>
            </a:endParaRPr>
          </a:p>
        </p:txBody>
      </p:sp>
      <p:sp>
        <p:nvSpPr>
          <p:cNvPr id="312" name="Oval 8"/>
          <p:cNvSpPr/>
          <p:nvPr/>
        </p:nvSpPr>
        <p:spPr>
          <a:xfrm>
            <a:off x="1192680" y="2570040"/>
            <a:ext cx="219240" cy="2192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313" name="TextBox 9"/>
          <p:cNvSpPr/>
          <p:nvPr/>
        </p:nvSpPr>
        <p:spPr>
          <a:xfrm>
            <a:off x="315000" y="3045600"/>
            <a:ext cx="1974600" cy="15998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0" u="none" strike="noStrike">
                <a:solidFill>
                  <a:srgbClr val="2B2B2B"/>
                </a:solidFill>
                <a:effectLst/>
                <a:uFillTx/>
                <a:latin typeface="Calibri"/>
              </a:rPr>
              <a:t>Repository inventory, PR volume, pipeline audit, and dependency map.</a:t>
            </a:r>
            <a:endParaRPr lang="en-US" sz="1400" b="0" u="none" strike="noStrike">
              <a:solidFill>
                <a:srgbClr val="000000"/>
              </a:solidFill>
              <a:effectLst/>
              <a:uFillTx/>
              <a:latin typeface="Arial"/>
            </a:endParaRPr>
          </a:p>
        </p:txBody>
      </p:sp>
      <p:sp>
        <p:nvSpPr>
          <p:cNvPr id="314" name="TextBox 10"/>
          <p:cNvSpPr/>
          <p:nvPr/>
        </p:nvSpPr>
        <p:spPr>
          <a:xfrm>
            <a:off x="2573280" y="1691640"/>
            <a:ext cx="2011320" cy="25560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1" u="none" strike="noStrike">
                <a:solidFill>
                  <a:srgbClr val="C1440E"/>
                </a:solidFill>
                <a:effectLst/>
                <a:uFillTx/>
                <a:latin typeface="Calibri"/>
              </a:rPr>
              <a:t>STEP 2</a:t>
            </a:r>
            <a:endParaRPr lang="en-US" sz="1400" b="0" u="none" strike="noStrike">
              <a:solidFill>
                <a:srgbClr val="000000"/>
              </a:solidFill>
              <a:effectLst/>
              <a:uFillTx/>
              <a:latin typeface="Arial"/>
            </a:endParaRPr>
          </a:p>
        </p:txBody>
      </p:sp>
      <p:sp>
        <p:nvSpPr>
          <p:cNvPr id="315" name="TextBox 11"/>
          <p:cNvSpPr/>
          <p:nvPr/>
        </p:nvSpPr>
        <p:spPr>
          <a:xfrm>
            <a:off x="2573280" y="1938600"/>
            <a:ext cx="2011320" cy="50256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algn="ctr" defTabSz="914400">
              <a:lnSpc>
                <a:spcPct val="100000"/>
              </a:lnSpc>
            </a:pPr>
            <a:r>
              <a:rPr lang="en-US" sz="1550" b="1" u="none" strike="noStrike">
                <a:solidFill>
                  <a:srgbClr val="1F3D2C"/>
                </a:solidFill>
                <a:effectLst/>
                <a:uFillTx/>
                <a:latin typeface="Cambria"/>
              </a:rPr>
              <a:t>Move repository data</a:t>
            </a:r>
            <a:endParaRPr lang="en-US" sz="1550" b="0" u="none" strike="noStrike">
              <a:solidFill>
                <a:srgbClr val="000000"/>
              </a:solidFill>
              <a:effectLst/>
              <a:uFillTx/>
              <a:latin typeface="Arial"/>
            </a:endParaRPr>
          </a:p>
        </p:txBody>
      </p:sp>
      <p:sp>
        <p:nvSpPr>
          <p:cNvPr id="316" name="Oval 12"/>
          <p:cNvSpPr/>
          <p:nvPr/>
        </p:nvSpPr>
        <p:spPr>
          <a:xfrm>
            <a:off x="3469680" y="2570040"/>
            <a:ext cx="219240" cy="2192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317" name="TextBox 13"/>
          <p:cNvSpPr/>
          <p:nvPr/>
        </p:nvSpPr>
        <p:spPr>
          <a:xfrm>
            <a:off x="2591640" y="3045600"/>
            <a:ext cx="1974600" cy="15998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0" u="none" strike="noStrike">
                <a:solidFill>
                  <a:srgbClr val="2B2B2B"/>
                </a:solidFill>
                <a:effectLst/>
                <a:uFillTx/>
                <a:latin typeface="Calibri"/>
              </a:rPr>
              <a:t>Trial migration, identity mapping, policies, visibility, and metadata.</a:t>
            </a:r>
            <a:endParaRPr lang="en-US" sz="1400" b="0" u="none" strike="noStrike">
              <a:solidFill>
                <a:srgbClr val="000000"/>
              </a:solidFill>
              <a:effectLst/>
              <a:uFillTx/>
              <a:latin typeface="Arial"/>
            </a:endParaRPr>
          </a:p>
        </p:txBody>
      </p:sp>
      <p:sp>
        <p:nvSpPr>
          <p:cNvPr id="318" name="TextBox 14"/>
          <p:cNvSpPr/>
          <p:nvPr/>
        </p:nvSpPr>
        <p:spPr>
          <a:xfrm>
            <a:off x="4850280" y="1691640"/>
            <a:ext cx="2011320" cy="25560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1" u="none" strike="noStrike">
                <a:solidFill>
                  <a:srgbClr val="C1440E"/>
                </a:solidFill>
                <a:effectLst/>
                <a:uFillTx/>
                <a:latin typeface="Calibri"/>
              </a:rPr>
              <a:t>STEP 3</a:t>
            </a:r>
            <a:endParaRPr lang="en-US" sz="1400" b="0" u="none" strike="noStrike">
              <a:solidFill>
                <a:srgbClr val="000000"/>
              </a:solidFill>
              <a:effectLst/>
              <a:uFillTx/>
              <a:latin typeface="Arial"/>
            </a:endParaRPr>
          </a:p>
        </p:txBody>
      </p:sp>
      <p:sp>
        <p:nvSpPr>
          <p:cNvPr id="319" name="TextBox 15"/>
          <p:cNvSpPr/>
          <p:nvPr/>
        </p:nvSpPr>
        <p:spPr>
          <a:xfrm>
            <a:off x="4850280" y="1938600"/>
            <a:ext cx="2011320" cy="50256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algn="ctr" defTabSz="914400">
              <a:lnSpc>
                <a:spcPct val="100000"/>
              </a:lnSpc>
            </a:pPr>
            <a:r>
              <a:rPr lang="en-US" sz="1550" b="1" u="none" strike="noStrike">
                <a:solidFill>
                  <a:srgbClr val="1F3D2C"/>
                </a:solidFill>
                <a:effectLst/>
                <a:uFillTx/>
                <a:latin typeface="Cambria"/>
              </a:rPr>
              <a:t>Rebuild automation</a:t>
            </a:r>
            <a:endParaRPr lang="en-US" sz="1550" b="0" u="none" strike="noStrike">
              <a:solidFill>
                <a:srgbClr val="000000"/>
              </a:solidFill>
              <a:effectLst/>
              <a:uFillTx/>
              <a:latin typeface="Arial"/>
            </a:endParaRPr>
          </a:p>
        </p:txBody>
      </p:sp>
      <p:sp>
        <p:nvSpPr>
          <p:cNvPr id="320" name="Oval 16"/>
          <p:cNvSpPr/>
          <p:nvPr/>
        </p:nvSpPr>
        <p:spPr>
          <a:xfrm>
            <a:off x="5746320" y="2570040"/>
            <a:ext cx="219240" cy="2192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321" name="TextBox 17"/>
          <p:cNvSpPr/>
          <p:nvPr/>
        </p:nvSpPr>
        <p:spPr>
          <a:xfrm>
            <a:off x="4868640" y="3045600"/>
            <a:ext cx="1974600" cy="15998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0" u="none" strike="noStrike">
                <a:solidFill>
                  <a:srgbClr val="2B2B2B"/>
                </a:solidFill>
                <a:effectLst/>
                <a:uFillTx/>
                <a:latin typeface="Calibri"/>
              </a:rPr>
              <a:t>Translate semantics; establish runners, secrets, environments, and approvals.</a:t>
            </a:r>
            <a:endParaRPr lang="en-US" sz="1400" b="0" u="none" strike="noStrike">
              <a:solidFill>
                <a:srgbClr val="000000"/>
              </a:solidFill>
              <a:effectLst/>
              <a:uFillTx/>
              <a:latin typeface="Arial"/>
            </a:endParaRPr>
          </a:p>
        </p:txBody>
      </p:sp>
      <p:sp>
        <p:nvSpPr>
          <p:cNvPr id="322" name="TextBox 18"/>
          <p:cNvSpPr/>
          <p:nvPr/>
        </p:nvSpPr>
        <p:spPr>
          <a:xfrm>
            <a:off x="7127280" y="1691640"/>
            <a:ext cx="2011320" cy="25560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1" u="none" strike="noStrike">
                <a:solidFill>
                  <a:srgbClr val="C1440E"/>
                </a:solidFill>
                <a:effectLst/>
                <a:uFillTx/>
                <a:latin typeface="Calibri"/>
              </a:rPr>
              <a:t>STEP 4</a:t>
            </a:r>
            <a:endParaRPr lang="en-US" sz="1400" b="0" u="none" strike="noStrike">
              <a:solidFill>
                <a:srgbClr val="000000"/>
              </a:solidFill>
              <a:effectLst/>
              <a:uFillTx/>
              <a:latin typeface="Arial"/>
            </a:endParaRPr>
          </a:p>
        </p:txBody>
      </p:sp>
      <p:sp>
        <p:nvSpPr>
          <p:cNvPr id="323" name="TextBox 19"/>
          <p:cNvSpPr/>
          <p:nvPr/>
        </p:nvSpPr>
        <p:spPr>
          <a:xfrm>
            <a:off x="7127280" y="1938600"/>
            <a:ext cx="2011320" cy="50256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algn="ctr" defTabSz="914400">
              <a:lnSpc>
                <a:spcPct val="100000"/>
              </a:lnSpc>
            </a:pPr>
            <a:r>
              <a:rPr lang="en-US" sz="1550" b="1" u="none" strike="noStrike">
                <a:solidFill>
                  <a:srgbClr val="1F3D2C"/>
                </a:solidFill>
                <a:effectLst/>
                <a:uFillTx/>
                <a:latin typeface="Cambria"/>
              </a:rPr>
              <a:t>Prove equivalence</a:t>
            </a:r>
            <a:endParaRPr lang="en-US" sz="1550" b="0" u="none" strike="noStrike">
              <a:solidFill>
                <a:srgbClr val="000000"/>
              </a:solidFill>
              <a:effectLst/>
              <a:uFillTx/>
              <a:latin typeface="Arial"/>
            </a:endParaRPr>
          </a:p>
        </p:txBody>
      </p:sp>
      <p:sp>
        <p:nvSpPr>
          <p:cNvPr id="324" name="Oval 20"/>
          <p:cNvSpPr/>
          <p:nvPr/>
        </p:nvSpPr>
        <p:spPr>
          <a:xfrm>
            <a:off x="8023320" y="2570040"/>
            <a:ext cx="219240" cy="2192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325" name="TextBox 21"/>
          <p:cNvSpPr/>
          <p:nvPr/>
        </p:nvSpPr>
        <p:spPr>
          <a:xfrm>
            <a:off x="7145280" y="3045600"/>
            <a:ext cx="1974600" cy="15998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0" u="none" strike="noStrike">
                <a:solidFill>
                  <a:srgbClr val="2B2B2B"/>
                </a:solidFill>
                <a:effectLst/>
                <a:uFillTx/>
                <a:latin typeface="Calibri"/>
              </a:rPr>
              <a:t>Compare artifacts and behavior; test security, deployability, and operability.</a:t>
            </a:r>
            <a:endParaRPr lang="en-US" sz="1400" b="0" u="none" strike="noStrike">
              <a:solidFill>
                <a:srgbClr val="000000"/>
              </a:solidFill>
              <a:effectLst/>
              <a:uFillTx/>
              <a:latin typeface="Arial"/>
            </a:endParaRPr>
          </a:p>
        </p:txBody>
      </p:sp>
      <p:sp>
        <p:nvSpPr>
          <p:cNvPr id="326" name="TextBox 22"/>
          <p:cNvSpPr/>
          <p:nvPr/>
        </p:nvSpPr>
        <p:spPr>
          <a:xfrm>
            <a:off x="9403920" y="1691640"/>
            <a:ext cx="2011320" cy="25560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1" u="none" strike="noStrike">
                <a:solidFill>
                  <a:srgbClr val="C1440E"/>
                </a:solidFill>
                <a:effectLst/>
                <a:uFillTx/>
                <a:latin typeface="Calibri"/>
              </a:rPr>
              <a:t>STEP 5</a:t>
            </a:r>
            <a:endParaRPr lang="en-US" sz="1400" b="0" u="none" strike="noStrike">
              <a:solidFill>
                <a:srgbClr val="000000"/>
              </a:solidFill>
              <a:effectLst/>
              <a:uFillTx/>
              <a:latin typeface="Arial"/>
            </a:endParaRPr>
          </a:p>
        </p:txBody>
      </p:sp>
      <p:sp>
        <p:nvSpPr>
          <p:cNvPr id="327" name="TextBox 23"/>
          <p:cNvSpPr/>
          <p:nvPr/>
        </p:nvSpPr>
        <p:spPr>
          <a:xfrm>
            <a:off x="9403920" y="1938600"/>
            <a:ext cx="2011320" cy="50256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ctr">
            <a:spAutoFit/>
          </a:bodyPr>
          <a:lstStyle/>
          <a:p>
            <a:pPr algn="ctr" defTabSz="914400">
              <a:lnSpc>
                <a:spcPct val="100000"/>
              </a:lnSpc>
            </a:pPr>
            <a:r>
              <a:rPr lang="en-US" sz="1550" b="1" u="none" strike="noStrike">
                <a:solidFill>
                  <a:srgbClr val="1F3D2C"/>
                </a:solidFill>
                <a:effectLst/>
                <a:uFillTx/>
                <a:latin typeface="Cambria"/>
              </a:rPr>
              <a:t>Cut over reversibly</a:t>
            </a:r>
            <a:endParaRPr lang="en-US" sz="1550" b="0" u="none" strike="noStrike">
              <a:solidFill>
                <a:srgbClr val="000000"/>
              </a:solidFill>
              <a:effectLst/>
              <a:uFillTx/>
              <a:latin typeface="Arial"/>
            </a:endParaRPr>
          </a:p>
        </p:txBody>
      </p:sp>
      <p:sp>
        <p:nvSpPr>
          <p:cNvPr id="328" name="Oval 24"/>
          <p:cNvSpPr/>
          <p:nvPr/>
        </p:nvSpPr>
        <p:spPr>
          <a:xfrm>
            <a:off x="10299960" y="2570040"/>
            <a:ext cx="219240" cy="2192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329" name="TextBox 25"/>
          <p:cNvSpPr/>
          <p:nvPr/>
        </p:nvSpPr>
        <p:spPr>
          <a:xfrm>
            <a:off x="9422280" y="3045600"/>
            <a:ext cx="1974600" cy="15998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00" b="0" u="none" strike="noStrike">
                <a:solidFill>
                  <a:srgbClr val="2B2B2B"/>
                </a:solidFill>
                <a:effectLst/>
                <a:uFillTx/>
                <a:latin typeface="Calibri"/>
              </a:rPr>
              <a:t>Schedule cutover, monitor, keep rollback ready, then decommission deliberately.</a:t>
            </a:r>
            <a:endParaRPr lang="en-US" sz="1400" b="0" u="none" strike="noStrike">
              <a:solidFill>
                <a:srgbClr val="000000"/>
              </a:solidFill>
              <a:effectLst/>
              <a:uFillTx/>
              <a:latin typeface="Arial"/>
            </a:endParaRPr>
          </a:p>
        </p:txBody>
      </p:sp>
      <p:sp>
        <p:nvSpPr>
          <p:cNvPr id="330" name="TextBox 26"/>
          <p:cNvSpPr/>
          <p:nvPr/>
        </p:nvSpPr>
        <p:spPr>
          <a:xfrm>
            <a:off x="525240" y="4681800"/>
            <a:ext cx="11091240" cy="36540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800" b="1" i="1" u="none" strike="noStrike">
                <a:solidFill>
                  <a:srgbClr val="1F3D2C"/>
                </a:solidFill>
                <a:effectLst/>
                <a:uFillTx/>
                <a:latin typeface="Cambria"/>
              </a:rPr>
              <a:t>A green build is evidence—not acceptance.</a:t>
            </a:r>
            <a:endParaRPr lang="en-US" sz="1800" b="0" u="none" strike="noStrike">
              <a:solidFill>
                <a:srgbClr val="000000"/>
              </a:solidFill>
              <a:effectLst/>
              <a:uFillTx/>
              <a:latin typeface="Arial"/>
            </a:endParaRPr>
          </a:p>
        </p:txBody>
      </p:sp>
      <p:sp>
        <p:nvSpPr>
          <p:cNvPr id="331" name="Rectangle 27"/>
          <p:cNvSpPr/>
          <p:nvPr/>
        </p:nvSpPr>
        <p:spPr>
          <a:xfrm>
            <a:off x="548640" y="5257800"/>
            <a:ext cx="11063880" cy="914040"/>
          </a:xfrm>
          <a:prstGeom prst="roundRect">
            <a:avLst>
              <a:gd name="adj" fmla="val 12632"/>
            </a:avLst>
          </a:prstGeom>
          <a:solidFill>
            <a:srgbClr val="1F3D2C"/>
          </a:solidFill>
          <a:ln w="1270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332" name="TextBox 28"/>
          <p:cNvSpPr/>
          <p:nvPr/>
        </p:nvSpPr>
        <p:spPr>
          <a:xfrm>
            <a:off x="548640" y="5257800"/>
            <a:ext cx="11063880" cy="91404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spAutoFit/>
          </a:bodyPr>
          <a:lstStyle/>
          <a:p>
            <a:pPr defTabSz="914400">
              <a:lnSpc>
                <a:spcPct val="100000"/>
              </a:lnSpc>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Finish line: first verified delivery — equivalent artifact + controlled deployment + traceability + rollback.</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D8514358-737F-4E97-B5C5-B07E10D400AB}" type="slidenum">
              <a:rPr/>
              <a:t>27</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22" presetClass="entr" presetSubtype="2" fill="hold" nodeType="clickEffect">
                            <p:stCondLst>
                              <p:cond delay="0"/>
                            </p:stCondLst>
                            <p:childTnLst>
                              <p:set>
                                <p:cBhvr>
                                  <p:cTn id="5" dur="1" fill="hold">
                                    <p:stCondLst>
                                      <p:cond delay="0"/>
                                    </p:stCondLst>
                                  </p:cTn>
                                  <p:tgtEl>
                                    <p:spTgt spid="310"/>
                                  </p:tgtEl>
                                  <p:attrNameLst>
                                    <p:attrName>style.visibility</p:attrName>
                                  </p:attrNameLst>
                                </p:cBhvr>
                                <p:to>
                                  <p:strVal val="visible"/>
                                </p:to>
                              </p:set>
                              <p:animEffect transition="in" filter="wipe(right)">
                                <p:cBhvr additive="repl">
                                  <p:cTn id="6" dur="500"/>
                                  <p:tgtEl>
                                    <p:spTgt spid="310"/>
                                  </p:tgtEl>
                                </p:cBhvr>
                              </p:animEffect>
                            </p:childTnLst>
                          </p:cTn>
                        </p:par>
                        <p:par>
                          <p:cTn id="7" presetID="22" presetClass="entr" presetSubtype="2" fill="hold" nodeType="clickEffect">
                            <p:stCondLst>
                              <p:cond delay="0"/>
                            </p:stCondLst>
                            <p:childTnLst>
                              <p:set>
                                <p:cBhvr>
                                  <p:cTn id="8" dur="1" fill="hold">
                                    <p:stCondLst>
                                      <p:cond delay="0"/>
                                    </p:stCondLst>
                                  </p:cTn>
                                  <p:tgtEl>
                                    <p:spTgt spid="311"/>
                                  </p:tgtEl>
                                  <p:attrNameLst>
                                    <p:attrName>style.visibility</p:attrName>
                                  </p:attrNameLst>
                                </p:cBhvr>
                                <p:to>
                                  <p:strVal val="visible"/>
                                </p:to>
                              </p:set>
                              <p:animEffect transition="in" filter="wipe(right)">
                                <p:cBhvr additive="repl">
                                  <p:cTn id="9" dur="500"/>
                                  <p:tgtEl>
                                    <p:spTgt spid="311"/>
                                  </p:tgtEl>
                                </p:cBhvr>
                              </p:animEffect>
                            </p:childTnLst>
                          </p:cTn>
                        </p:par>
                        <p:par>
                          <p:cTn id="10" presetID="22" presetClass="entr" presetSubtype="2" fill="hold" nodeType="clickEffect">
                            <p:stCondLst>
                              <p:cond delay="0"/>
                            </p:stCondLst>
                            <p:childTnLst>
                              <p:set>
                                <p:cBhvr>
                                  <p:cTn id="11" dur="1" fill="hold">
                                    <p:stCondLst>
                                      <p:cond delay="0"/>
                                    </p:stCondLst>
                                  </p:cTn>
                                  <p:tgtEl>
                                    <p:spTgt spid="312"/>
                                  </p:tgtEl>
                                  <p:attrNameLst>
                                    <p:attrName>style.visibility</p:attrName>
                                  </p:attrNameLst>
                                </p:cBhvr>
                                <p:to>
                                  <p:strVal val="visible"/>
                                </p:to>
                              </p:set>
                              <p:animEffect transition="in" filter="wipe(right)">
                                <p:cBhvr additive="repl">
                                  <p:cTn id="12" dur="500"/>
                                  <p:tgtEl>
                                    <p:spTgt spid="312"/>
                                  </p:tgtEl>
                                </p:cBhvr>
                              </p:animEffect>
                            </p:childTnLst>
                          </p:cTn>
                        </p:par>
                        <p:par>
                          <p:cTn id="13" presetID="22" presetClass="entr" presetSubtype="2" fill="hold" nodeType="clickEffect">
                            <p:stCondLst>
                              <p:cond delay="0"/>
                            </p:stCondLst>
                            <p:childTnLst>
                              <p:set>
                                <p:cBhvr>
                                  <p:cTn id="14" dur="1" fill="hold">
                                    <p:stCondLst>
                                      <p:cond delay="0"/>
                                    </p:stCondLst>
                                  </p:cTn>
                                  <p:tgtEl>
                                    <p:spTgt spid="313"/>
                                  </p:tgtEl>
                                  <p:attrNameLst>
                                    <p:attrName>style.visibility</p:attrName>
                                  </p:attrNameLst>
                                </p:cBhvr>
                                <p:to>
                                  <p:strVal val="visible"/>
                                </p:to>
                              </p:set>
                              <p:animEffect transition="in" filter="wipe(right)">
                                <p:cBhvr additive="repl">
                                  <p:cTn id="15" dur="500"/>
                                  <p:tgtEl>
                                    <p:spTgt spid="313"/>
                                  </p:tgtEl>
                                </p:cBhvr>
                              </p:animEffect>
                            </p:childTnLst>
                          </p:cTn>
                        </p:par>
                      </p:childTnLst>
                    </p:cTn>
                  </p:par>
                  <p:par>
                    <p:cTn id="16" fill="hold">
                      <p:stCondLst>
                        <p:cond delay="indefinite"/>
                      </p:stCondLst>
                      <p:childTnLst>
                        <p:par>
                          <p:cTn id="17" presetID="22" presetClass="entr" presetSubtype="2" fill="hold" nodeType="clickEffect">
                            <p:stCondLst>
                              <p:cond delay="0"/>
                            </p:stCondLst>
                            <p:childTnLst>
                              <p:set>
                                <p:cBhvr>
                                  <p:cTn id="18" dur="1" fill="hold">
                                    <p:stCondLst>
                                      <p:cond delay="0"/>
                                    </p:stCondLst>
                                  </p:cTn>
                                  <p:tgtEl>
                                    <p:spTgt spid="314"/>
                                  </p:tgtEl>
                                  <p:attrNameLst>
                                    <p:attrName>style.visibility</p:attrName>
                                  </p:attrNameLst>
                                </p:cBhvr>
                                <p:to>
                                  <p:strVal val="visible"/>
                                </p:to>
                              </p:set>
                              <p:animEffect transition="in" filter="wipe(right)">
                                <p:cBhvr additive="repl">
                                  <p:cTn id="19" dur="500"/>
                                  <p:tgtEl>
                                    <p:spTgt spid="314"/>
                                  </p:tgtEl>
                                </p:cBhvr>
                              </p:animEffect>
                            </p:childTnLst>
                          </p:cTn>
                        </p:par>
                        <p:par>
                          <p:cTn id="20" presetID="22" presetClass="entr" presetSubtype="2" fill="hold" nodeType="clickEffect">
                            <p:stCondLst>
                              <p:cond delay="0"/>
                            </p:stCondLst>
                            <p:childTnLst>
                              <p:set>
                                <p:cBhvr>
                                  <p:cTn id="21" dur="1" fill="hold">
                                    <p:stCondLst>
                                      <p:cond delay="0"/>
                                    </p:stCondLst>
                                  </p:cTn>
                                  <p:tgtEl>
                                    <p:spTgt spid="315"/>
                                  </p:tgtEl>
                                  <p:attrNameLst>
                                    <p:attrName>style.visibility</p:attrName>
                                  </p:attrNameLst>
                                </p:cBhvr>
                                <p:to>
                                  <p:strVal val="visible"/>
                                </p:to>
                              </p:set>
                              <p:animEffect transition="in" filter="wipe(right)">
                                <p:cBhvr additive="repl">
                                  <p:cTn id="22" dur="500"/>
                                  <p:tgtEl>
                                    <p:spTgt spid="315"/>
                                  </p:tgtEl>
                                </p:cBhvr>
                              </p:animEffect>
                            </p:childTnLst>
                          </p:cTn>
                        </p:par>
                        <p:par>
                          <p:cTn id="23" presetID="22" presetClass="entr" presetSubtype="2" fill="hold" nodeType="clickEffect">
                            <p:stCondLst>
                              <p:cond delay="0"/>
                            </p:stCondLst>
                            <p:childTnLst>
                              <p:set>
                                <p:cBhvr>
                                  <p:cTn id="24" dur="1" fill="hold">
                                    <p:stCondLst>
                                      <p:cond delay="0"/>
                                    </p:stCondLst>
                                  </p:cTn>
                                  <p:tgtEl>
                                    <p:spTgt spid="316"/>
                                  </p:tgtEl>
                                  <p:attrNameLst>
                                    <p:attrName>style.visibility</p:attrName>
                                  </p:attrNameLst>
                                </p:cBhvr>
                                <p:to>
                                  <p:strVal val="visible"/>
                                </p:to>
                              </p:set>
                              <p:animEffect transition="in" filter="wipe(right)">
                                <p:cBhvr additive="repl">
                                  <p:cTn id="25" dur="500"/>
                                  <p:tgtEl>
                                    <p:spTgt spid="316"/>
                                  </p:tgtEl>
                                </p:cBhvr>
                              </p:animEffect>
                            </p:childTnLst>
                          </p:cTn>
                        </p:par>
                        <p:par>
                          <p:cTn id="26" presetID="22" presetClass="entr" presetSubtype="2" fill="hold" nodeType="clickEffect">
                            <p:stCondLst>
                              <p:cond delay="0"/>
                            </p:stCondLst>
                            <p:childTnLst>
                              <p:set>
                                <p:cBhvr>
                                  <p:cTn id="27" dur="1" fill="hold">
                                    <p:stCondLst>
                                      <p:cond delay="0"/>
                                    </p:stCondLst>
                                  </p:cTn>
                                  <p:tgtEl>
                                    <p:spTgt spid="317"/>
                                  </p:tgtEl>
                                  <p:attrNameLst>
                                    <p:attrName>style.visibility</p:attrName>
                                  </p:attrNameLst>
                                </p:cBhvr>
                                <p:to>
                                  <p:strVal val="visible"/>
                                </p:to>
                              </p:set>
                              <p:animEffect transition="in" filter="wipe(right)">
                                <p:cBhvr additive="repl">
                                  <p:cTn id="28" dur="500"/>
                                  <p:tgtEl>
                                    <p:spTgt spid="317"/>
                                  </p:tgtEl>
                                </p:cBhvr>
                              </p:animEffect>
                            </p:childTnLst>
                          </p:cTn>
                        </p:par>
                      </p:childTnLst>
                    </p:cTn>
                  </p:par>
                  <p:par>
                    <p:cTn id="29" fill="hold">
                      <p:stCondLst>
                        <p:cond delay="indefinite"/>
                      </p:stCondLst>
                      <p:childTnLst>
                        <p:par>
                          <p:cTn id="30" presetID="22" presetClass="entr" presetSubtype="2" fill="hold" nodeType="clickEffect">
                            <p:stCondLst>
                              <p:cond delay="0"/>
                            </p:stCondLst>
                            <p:childTnLst>
                              <p:set>
                                <p:cBhvr>
                                  <p:cTn id="31" dur="1" fill="hold">
                                    <p:stCondLst>
                                      <p:cond delay="0"/>
                                    </p:stCondLst>
                                  </p:cTn>
                                  <p:tgtEl>
                                    <p:spTgt spid="318"/>
                                  </p:tgtEl>
                                  <p:attrNameLst>
                                    <p:attrName>style.visibility</p:attrName>
                                  </p:attrNameLst>
                                </p:cBhvr>
                                <p:to>
                                  <p:strVal val="visible"/>
                                </p:to>
                              </p:set>
                              <p:animEffect transition="in" filter="wipe(right)">
                                <p:cBhvr additive="repl">
                                  <p:cTn id="32" dur="500"/>
                                  <p:tgtEl>
                                    <p:spTgt spid="318"/>
                                  </p:tgtEl>
                                </p:cBhvr>
                              </p:animEffect>
                            </p:childTnLst>
                          </p:cTn>
                        </p:par>
                        <p:par>
                          <p:cTn id="33" presetID="22" presetClass="entr" presetSubtype="2" fill="hold" nodeType="clickEffect">
                            <p:stCondLst>
                              <p:cond delay="0"/>
                            </p:stCondLst>
                            <p:childTnLst>
                              <p:set>
                                <p:cBhvr>
                                  <p:cTn id="34" dur="1" fill="hold">
                                    <p:stCondLst>
                                      <p:cond delay="0"/>
                                    </p:stCondLst>
                                  </p:cTn>
                                  <p:tgtEl>
                                    <p:spTgt spid="319"/>
                                  </p:tgtEl>
                                  <p:attrNameLst>
                                    <p:attrName>style.visibility</p:attrName>
                                  </p:attrNameLst>
                                </p:cBhvr>
                                <p:to>
                                  <p:strVal val="visible"/>
                                </p:to>
                              </p:set>
                              <p:animEffect transition="in" filter="wipe(right)">
                                <p:cBhvr additive="repl">
                                  <p:cTn id="35" dur="500"/>
                                  <p:tgtEl>
                                    <p:spTgt spid="319"/>
                                  </p:tgtEl>
                                </p:cBhvr>
                              </p:animEffect>
                            </p:childTnLst>
                          </p:cTn>
                        </p:par>
                        <p:par>
                          <p:cTn id="36" presetID="22" presetClass="entr" presetSubtype="2" fill="hold" nodeType="clickEffect">
                            <p:stCondLst>
                              <p:cond delay="0"/>
                            </p:stCondLst>
                            <p:childTnLst>
                              <p:set>
                                <p:cBhvr>
                                  <p:cTn id="37" dur="1" fill="hold">
                                    <p:stCondLst>
                                      <p:cond delay="0"/>
                                    </p:stCondLst>
                                  </p:cTn>
                                  <p:tgtEl>
                                    <p:spTgt spid="320"/>
                                  </p:tgtEl>
                                  <p:attrNameLst>
                                    <p:attrName>style.visibility</p:attrName>
                                  </p:attrNameLst>
                                </p:cBhvr>
                                <p:to>
                                  <p:strVal val="visible"/>
                                </p:to>
                              </p:set>
                              <p:animEffect transition="in" filter="wipe(right)">
                                <p:cBhvr additive="repl">
                                  <p:cTn id="38" dur="500"/>
                                  <p:tgtEl>
                                    <p:spTgt spid="320"/>
                                  </p:tgtEl>
                                </p:cBhvr>
                              </p:animEffect>
                            </p:childTnLst>
                          </p:cTn>
                        </p:par>
                        <p:par>
                          <p:cTn id="39" presetID="22" presetClass="entr" presetSubtype="2" fill="hold" nodeType="clickEffect">
                            <p:stCondLst>
                              <p:cond delay="0"/>
                            </p:stCondLst>
                            <p:childTnLst>
                              <p:set>
                                <p:cBhvr>
                                  <p:cTn id="40" dur="1" fill="hold">
                                    <p:stCondLst>
                                      <p:cond delay="0"/>
                                    </p:stCondLst>
                                  </p:cTn>
                                  <p:tgtEl>
                                    <p:spTgt spid="321"/>
                                  </p:tgtEl>
                                  <p:attrNameLst>
                                    <p:attrName>style.visibility</p:attrName>
                                  </p:attrNameLst>
                                </p:cBhvr>
                                <p:to>
                                  <p:strVal val="visible"/>
                                </p:to>
                              </p:set>
                              <p:animEffect transition="in" filter="wipe(right)">
                                <p:cBhvr additive="repl">
                                  <p:cTn id="41" dur="500"/>
                                  <p:tgtEl>
                                    <p:spTgt spid="321"/>
                                  </p:tgtEl>
                                </p:cBhvr>
                              </p:animEffect>
                            </p:childTnLst>
                          </p:cTn>
                        </p:par>
                      </p:childTnLst>
                    </p:cTn>
                  </p:par>
                  <p:par>
                    <p:cTn id="42" fill="hold">
                      <p:stCondLst>
                        <p:cond delay="indefinite"/>
                      </p:stCondLst>
                      <p:childTnLst>
                        <p:par>
                          <p:cTn id="43" presetID="22" presetClass="entr" presetSubtype="2" fill="hold" nodeType="clickEffect">
                            <p:stCondLst>
                              <p:cond delay="0"/>
                            </p:stCondLst>
                            <p:childTnLst>
                              <p:set>
                                <p:cBhvr>
                                  <p:cTn id="44" dur="1" fill="hold">
                                    <p:stCondLst>
                                      <p:cond delay="0"/>
                                    </p:stCondLst>
                                  </p:cTn>
                                  <p:tgtEl>
                                    <p:spTgt spid="322"/>
                                  </p:tgtEl>
                                  <p:attrNameLst>
                                    <p:attrName>style.visibility</p:attrName>
                                  </p:attrNameLst>
                                </p:cBhvr>
                                <p:to>
                                  <p:strVal val="visible"/>
                                </p:to>
                              </p:set>
                              <p:animEffect transition="in" filter="wipe(right)">
                                <p:cBhvr additive="repl">
                                  <p:cTn id="45" dur="500"/>
                                  <p:tgtEl>
                                    <p:spTgt spid="322"/>
                                  </p:tgtEl>
                                </p:cBhvr>
                              </p:animEffect>
                            </p:childTnLst>
                          </p:cTn>
                        </p:par>
                        <p:par>
                          <p:cTn id="46" presetID="22" presetClass="entr" presetSubtype="2" fill="hold" nodeType="clickEffect">
                            <p:stCondLst>
                              <p:cond delay="0"/>
                            </p:stCondLst>
                            <p:childTnLst>
                              <p:set>
                                <p:cBhvr>
                                  <p:cTn id="47" dur="1" fill="hold">
                                    <p:stCondLst>
                                      <p:cond delay="0"/>
                                    </p:stCondLst>
                                  </p:cTn>
                                  <p:tgtEl>
                                    <p:spTgt spid="323"/>
                                  </p:tgtEl>
                                  <p:attrNameLst>
                                    <p:attrName>style.visibility</p:attrName>
                                  </p:attrNameLst>
                                </p:cBhvr>
                                <p:to>
                                  <p:strVal val="visible"/>
                                </p:to>
                              </p:set>
                              <p:animEffect transition="in" filter="wipe(right)">
                                <p:cBhvr additive="repl">
                                  <p:cTn id="48" dur="500"/>
                                  <p:tgtEl>
                                    <p:spTgt spid="323"/>
                                  </p:tgtEl>
                                </p:cBhvr>
                              </p:animEffect>
                            </p:childTnLst>
                          </p:cTn>
                        </p:par>
                        <p:par>
                          <p:cTn id="49" presetID="22" presetClass="entr" presetSubtype="2" fill="hold" nodeType="clickEffect">
                            <p:stCondLst>
                              <p:cond delay="0"/>
                            </p:stCondLst>
                            <p:childTnLst>
                              <p:set>
                                <p:cBhvr>
                                  <p:cTn id="50" dur="1" fill="hold">
                                    <p:stCondLst>
                                      <p:cond delay="0"/>
                                    </p:stCondLst>
                                  </p:cTn>
                                  <p:tgtEl>
                                    <p:spTgt spid="324"/>
                                  </p:tgtEl>
                                  <p:attrNameLst>
                                    <p:attrName>style.visibility</p:attrName>
                                  </p:attrNameLst>
                                </p:cBhvr>
                                <p:to>
                                  <p:strVal val="visible"/>
                                </p:to>
                              </p:set>
                              <p:animEffect transition="in" filter="wipe(right)">
                                <p:cBhvr additive="repl">
                                  <p:cTn id="51" dur="500"/>
                                  <p:tgtEl>
                                    <p:spTgt spid="324"/>
                                  </p:tgtEl>
                                </p:cBhvr>
                              </p:animEffect>
                            </p:childTnLst>
                          </p:cTn>
                        </p:par>
                        <p:par>
                          <p:cTn id="52" presetID="22" presetClass="entr" presetSubtype="2" fill="hold" nodeType="clickEffect">
                            <p:stCondLst>
                              <p:cond delay="0"/>
                            </p:stCondLst>
                            <p:childTnLst>
                              <p:set>
                                <p:cBhvr>
                                  <p:cTn id="53" dur="1" fill="hold">
                                    <p:stCondLst>
                                      <p:cond delay="0"/>
                                    </p:stCondLst>
                                  </p:cTn>
                                  <p:tgtEl>
                                    <p:spTgt spid="325"/>
                                  </p:tgtEl>
                                  <p:attrNameLst>
                                    <p:attrName>style.visibility</p:attrName>
                                  </p:attrNameLst>
                                </p:cBhvr>
                                <p:to>
                                  <p:strVal val="visible"/>
                                </p:to>
                              </p:set>
                              <p:animEffect transition="in" filter="wipe(right)">
                                <p:cBhvr additive="repl">
                                  <p:cTn id="54" dur="500"/>
                                  <p:tgtEl>
                                    <p:spTgt spid="325"/>
                                  </p:tgtEl>
                                </p:cBhvr>
                              </p:animEffect>
                            </p:childTnLst>
                          </p:cTn>
                        </p:par>
                      </p:childTnLst>
                    </p:cTn>
                  </p:par>
                  <p:par>
                    <p:cTn id="55" fill="hold">
                      <p:stCondLst>
                        <p:cond delay="indefinite"/>
                      </p:stCondLst>
                      <p:childTnLst>
                        <p:par>
                          <p:cTn id="56" presetID="22" presetClass="entr" presetSubtype="2" fill="hold" nodeType="clickEffect">
                            <p:stCondLst>
                              <p:cond delay="0"/>
                            </p:stCondLst>
                            <p:childTnLst>
                              <p:set>
                                <p:cBhvr>
                                  <p:cTn id="57" dur="1" fill="hold">
                                    <p:stCondLst>
                                      <p:cond delay="0"/>
                                    </p:stCondLst>
                                  </p:cTn>
                                  <p:tgtEl>
                                    <p:spTgt spid="326"/>
                                  </p:tgtEl>
                                  <p:attrNameLst>
                                    <p:attrName>style.visibility</p:attrName>
                                  </p:attrNameLst>
                                </p:cBhvr>
                                <p:to>
                                  <p:strVal val="visible"/>
                                </p:to>
                              </p:set>
                              <p:animEffect transition="in" filter="wipe(right)">
                                <p:cBhvr additive="repl">
                                  <p:cTn id="58" dur="500"/>
                                  <p:tgtEl>
                                    <p:spTgt spid="326"/>
                                  </p:tgtEl>
                                </p:cBhvr>
                              </p:animEffect>
                            </p:childTnLst>
                          </p:cTn>
                        </p:par>
                        <p:par>
                          <p:cTn id="59" presetID="22" presetClass="entr" presetSubtype="2" fill="hold" nodeType="clickEffect">
                            <p:stCondLst>
                              <p:cond delay="0"/>
                            </p:stCondLst>
                            <p:childTnLst>
                              <p:set>
                                <p:cBhvr>
                                  <p:cTn id="60" dur="1" fill="hold">
                                    <p:stCondLst>
                                      <p:cond delay="0"/>
                                    </p:stCondLst>
                                  </p:cTn>
                                  <p:tgtEl>
                                    <p:spTgt spid="327"/>
                                  </p:tgtEl>
                                  <p:attrNameLst>
                                    <p:attrName>style.visibility</p:attrName>
                                  </p:attrNameLst>
                                </p:cBhvr>
                                <p:to>
                                  <p:strVal val="visible"/>
                                </p:to>
                              </p:set>
                              <p:animEffect transition="in" filter="wipe(right)">
                                <p:cBhvr additive="repl">
                                  <p:cTn id="61" dur="500"/>
                                  <p:tgtEl>
                                    <p:spTgt spid="327"/>
                                  </p:tgtEl>
                                </p:cBhvr>
                              </p:animEffect>
                            </p:childTnLst>
                          </p:cTn>
                        </p:par>
                        <p:par>
                          <p:cTn id="62" presetID="22" presetClass="entr" presetSubtype="2" fill="hold" nodeType="clickEffect">
                            <p:stCondLst>
                              <p:cond delay="0"/>
                            </p:stCondLst>
                            <p:childTnLst>
                              <p:set>
                                <p:cBhvr>
                                  <p:cTn id="63" dur="1" fill="hold">
                                    <p:stCondLst>
                                      <p:cond delay="0"/>
                                    </p:stCondLst>
                                  </p:cTn>
                                  <p:tgtEl>
                                    <p:spTgt spid="328"/>
                                  </p:tgtEl>
                                  <p:attrNameLst>
                                    <p:attrName>style.visibility</p:attrName>
                                  </p:attrNameLst>
                                </p:cBhvr>
                                <p:to>
                                  <p:strVal val="visible"/>
                                </p:to>
                              </p:set>
                              <p:animEffect transition="in" filter="wipe(right)">
                                <p:cBhvr additive="repl">
                                  <p:cTn id="64" dur="500"/>
                                  <p:tgtEl>
                                    <p:spTgt spid="328"/>
                                  </p:tgtEl>
                                </p:cBhvr>
                              </p:animEffect>
                            </p:childTnLst>
                          </p:cTn>
                        </p:par>
                        <p:par>
                          <p:cTn id="65" presetID="22" presetClass="entr" presetSubtype="2" fill="hold" nodeType="clickEffect">
                            <p:stCondLst>
                              <p:cond delay="0"/>
                            </p:stCondLst>
                            <p:childTnLst>
                              <p:set>
                                <p:cBhvr>
                                  <p:cTn id="66" dur="1" fill="hold">
                                    <p:stCondLst>
                                      <p:cond delay="0"/>
                                    </p:stCondLst>
                                  </p:cTn>
                                  <p:tgtEl>
                                    <p:spTgt spid="329"/>
                                  </p:tgtEl>
                                  <p:attrNameLst>
                                    <p:attrName>style.visibility</p:attrName>
                                  </p:attrNameLst>
                                </p:cBhvr>
                                <p:to>
                                  <p:strVal val="visible"/>
                                </p:to>
                              </p:set>
                              <p:animEffect transition="in" filter="wipe(right)">
                                <p:cBhvr additive="repl">
                                  <p:cTn id="67" dur="500"/>
                                  <p:tgtEl>
                                    <p:spTgt spid="329"/>
                                  </p:tgtEl>
                                </p:cBhvr>
                              </p:animEffect>
                            </p:childTnLst>
                          </p:cTn>
                        </p:par>
                      </p:childTnLst>
                    </p:cTn>
                  </p:par>
                  <p:par>
                    <p:cTn id="68" fill="hold">
                      <p:stCondLst>
                        <p:cond delay="indefinite"/>
                      </p:stCondLst>
                      <p:childTnLst>
                        <p:par>
                          <p:cTn id="69" presetID="10" presetClass="entr" fill="hold" nodeType="clickEffect">
                            <p:stCondLst>
                              <p:cond delay="0"/>
                            </p:stCondLst>
                            <p:childTnLst>
                              <p:set>
                                <p:cBhvr>
                                  <p:cTn id="70" dur="1" fill="hold">
                                    <p:stCondLst>
                                      <p:cond delay="0"/>
                                    </p:stCondLst>
                                  </p:cTn>
                                  <p:tgtEl>
                                    <p:spTgt spid="330"/>
                                  </p:tgtEl>
                                  <p:attrNameLst>
                                    <p:attrName>style.visibility</p:attrName>
                                  </p:attrNameLst>
                                </p:cBhvr>
                                <p:to>
                                  <p:strVal val="visible"/>
                                </p:to>
                              </p:set>
                              <p:animEffect transition="in" filter="fade">
                                <p:cBhvr additive="repl">
                                  <p:cTn id="71" dur="500"/>
                                  <p:tgtEl>
                                    <p:spTgt spid="330"/>
                                  </p:tgtEl>
                                </p:cBhvr>
                              </p:animEffect>
                            </p:childTnLst>
                          </p:cTn>
                        </p:par>
                      </p:childTnLst>
                    </p:cTn>
                  </p:par>
                  <p:par>
                    <p:cTn id="72" fill="hold">
                      <p:stCondLst>
                        <p:cond delay="indefinite"/>
                      </p:stCondLst>
                      <p:childTnLst>
                        <p:par>
                          <p:cTn id="73" presetID="10" presetClass="entr" fill="hold" nodeType="clickEffect">
                            <p:stCondLst>
                              <p:cond delay="0"/>
                            </p:stCondLst>
                            <p:childTnLst>
                              <p:set>
                                <p:cBhvr>
                                  <p:cTn id="74" dur="1" fill="hold">
                                    <p:stCondLst>
                                      <p:cond delay="0"/>
                                    </p:stCondLst>
                                  </p:cTn>
                                  <p:tgtEl>
                                    <p:spTgt spid="331"/>
                                  </p:tgtEl>
                                  <p:attrNameLst>
                                    <p:attrName>style.visibility</p:attrName>
                                  </p:attrNameLst>
                                </p:cBhvr>
                                <p:to>
                                  <p:strVal val="visible"/>
                                </p:to>
                              </p:set>
                              <p:animEffect transition="in" filter="fade">
                                <p:cBhvr additive="repl">
                                  <p:cTn id="75" dur="500"/>
                                  <p:tgtEl>
                                    <p:spTgt spid="331"/>
                                  </p:tgtEl>
                                </p:cBhvr>
                              </p:animEffect>
                            </p:childTnLst>
                          </p:cTn>
                        </p:par>
                        <p:par>
                          <p:cTn id="76" presetID="10" presetClass="entr" fill="hold" nodeType="clickEffect">
                            <p:stCondLst>
                              <p:cond delay="0"/>
                            </p:stCondLst>
                            <p:childTnLst>
                              <p:set>
                                <p:cBhvr>
                                  <p:cTn id="77" dur="1" fill="hold">
                                    <p:stCondLst>
                                      <p:cond delay="0"/>
                                    </p:stCondLst>
                                  </p:cTn>
                                  <p:tgtEl>
                                    <p:spTgt spid="332"/>
                                  </p:tgtEl>
                                  <p:attrNameLst>
                                    <p:attrName>style.visibility</p:attrName>
                                  </p:attrNameLst>
                                </p:cBhvr>
                                <p:to>
                                  <p:strVal val="visible"/>
                                </p:to>
                              </p:set>
                              <p:animEffect transition="in" filter="fade">
                                <p:cBhvr additive="repl">
                                  <p:cTn id="78" dur="500"/>
                                  <p:tgtEl>
                                    <p:spTgt spid="332"/>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3"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334" name="Image 0" descr="/home/claude/pptx-build/assets/icons/FaLightbulb-FFFFFF-200.png"/>
          <p:cNvPicPr/>
          <p:nvPr/>
        </p:nvPicPr>
        <p:blipFill>
          <a:blip r:embed="rId3"/>
          <a:stretch/>
        </p:blipFill>
        <p:spPr>
          <a:xfrm>
            <a:off x="685800" y="594360"/>
            <a:ext cx="292320" cy="292320"/>
          </a:xfrm>
          <a:prstGeom prst="rect">
            <a:avLst/>
          </a:prstGeom>
          <a:noFill/>
          <a:ln w="0">
            <a:noFill/>
          </a:ln>
        </p:spPr>
      </p:pic>
      <p:sp>
        <p:nvSpPr>
          <p:cNvPr id="335"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CROSSING THE RIVER</a:t>
            </a:r>
            <a:endParaRPr lang="en-US" sz="1500" b="0" u="none" strike="noStrike">
              <a:solidFill>
                <a:srgbClr val="000000"/>
              </a:solidFill>
              <a:effectLst/>
              <a:uFillTx/>
              <a:latin typeface="Arial"/>
            </a:endParaRPr>
          </a:p>
        </p:txBody>
      </p:sp>
      <p:sp>
        <p:nvSpPr>
          <p:cNvPr id="336"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rPr>
              <a:t>“Migrated” Is a Checklist, Not a Repository URL</a:t>
            </a:r>
            <a:endParaRPr lang="en-US" sz="3200" b="0" u="none" strike="noStrike">
              <a:solidFill>
                <a:srgbClr val="000000"/>
              </a:solidFill>
              <a:effectLst/>
              <a:uFillTx/>
              <a:latin typeface="Arial"/>
            </a:endParaRPr>
          </a:p>
        </p:txBody>
      </p:sp>
      <p:sp>
        <p:nvSpPr>
          <p:cNvPr id="337" name="Rectangle 5"/>
          <p:cNvSpPr/>
          <p:nvPr/>
        </p:nvSpPr>
        <p:spPr>
          <a:xfrm>
            <a:off x="548640" y="1508760"/>
            <a:ext cx="3492720" cy="3885840"/>
          </a:xfrm>
          <a:prstGeom prst="roundRect">
            <a:avLst>
              <a:gd name="adj" fmla="val 3141"/>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38" name="TextBox 6"/>
          <p:cNvSpPr/>
          <p:nvPr/>
        </p:nvSpPr>
        <p:spPr>
          <a:xfrm>
            <a:off x="749880" y="1737360"/>
            <a:ext cx="3090240" cy="3470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50" b="1" u="none" strike="noStrike">
                <a:solidFill>
                  <a:srgbClr val="C1440E"/>
                </a:solidFill>
                <a:effectLst/>
                <a:uFillTx/>
                <a:latin typeface="Calibri"/>
              </a:rPr>
              <a:t>REPOSITORY DATA</a:t>
            </a:r>
            <a:endParaRPr lang="en-US" sz="1450" b="0" u="none" strike="noStrike">
              <a:solidFill>
                <a:srgbClr val="000000"/>
              </a:solidFill>
              <a:effectLst/>
              <a:uFillTx/>
              <a:latin typeface="Arial"/>
            </a:endParaRPr>
          </a:p>
        </p:txBody>
      </p:sp>
      <p:sp>
        <p:nvSpPr>
          <p:cNvPr id="339" name="TextBox 7"/>
          <p:cNvSpPr/>
          <p:nvPr/>
        </p:nvSpPr>
        <p:spPr>
          <a:xfrm>
            <a:off x="768240" y="2304360"/>
            <a:ext cx="3053880" cy="2697120"/>
          </a:xfrm>
          <a:prstGeom prst="rect">
            <a:avLst/>
          </a:prstGeom>
          <a:noFill/>
          <a:ln w="0">
            <a:noFill/>
          </a:ln>
        </p:spPr>
        <p:style>
          <a:lnRef idx="0">
            <a:scrgbClr r="0" g="0" b="0"/>
          </a:lnRef>
          <a:fillRef idx="0">
            <a:scrgbClr r="0" g="0" b="0"/>
          </a:fillRef>
          <a:effectRef idx="0">
            <a:scrgbClr r="0" g="0" b="0"/>
          </a:effectRef>
          <a:fontRef idx="minor"/>
        </p:style>
        <p:txBody>
          <a:bodyPr lIns="36720" tIns="27360" rIns="36720" bIns="27360" anchor="t">
            <a:spAutoFit/>
          </a:bodyPr>
          <a:lstStyle/>
          <a:p>
            <a:pPr defTabSz="914400">
              <a:lnSpc>
                <a:spcPct val="100000"/>
              </a:lnSpc>
              <a:spcAft>
                <a:spcPts val="499"/>
              </a:spcAft>
            </a:pPr>
            <a:r>
              <a:rPr lang="en-US" sz="1400" b="0" u="none" strike="noStrike">
                <a:solidFill>
                  <a:srgbClr val="2B2B2B"/>
                </a:solidFill>
                <a:effectLst/>
                <a:uFillTx/>
                <a:latin typeface="Calibri"/>
              </a:rPr>
              <a:t>•  Branches, tags, and sampled commits reconciled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rgbClr val="2B2B2B"/>
                </a:solidFill>
                <a:effectLst/>
                <a:uFillTx/>
                <a:latin typeface="Calibri"/>
              </a:rPr>
              <a:t>•  PR history and attachments sampled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rgbClr val="2B2B2B"/>
                </a:solidFill>
                <a:effectLst/>
                <a:uFillTx/>
                <a:latin typeface="Calibri"/>
              </a:rPr>
              <a:t>•  Identity, teams, permissions, and visibility verified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rgbClr val="2B2B2B"/>
                </a:solidFill>
                <a:effectLst/>
                <a:uFillTx/>
                <a:latin typeface="Calibri"/>
              </a:rPr>
              <a:t>•  Policies, LFS, and large-file behavior checked</a:t>
            </a:r>
            <a:endParaRPr lang="en-US" sz="1400" b="0" u="none" strike="noStrike">
              <a:solidFill>
                <a:srgbClr val="000000"/>
              </a:solidFill>
              <a:effectLst/>
              <a:uFillTx/>
              <a:latin typeface="Arial"/>
            </a:endParaRPr>
          </a:p>
        </p:txBody>
      </p:sp>
      <p:sp>
        <p:nvSpPr>
          <p:cNvPr id="340" name="Rectangle 8"/>
          <p:cNvSpPr/>
          <p:nvPr/>
        </p:nvSpPr>
        <p:spPr>
          <a:xfrm>
            <a:off x="4279320" y="1508760"/>
            <a:ext cx="3492720" cy="3885840"/>
          </a:xfrm>
          <a:prstGeom prst="roundRect">
            <a:avLst>
              <a:gd name="adj" fmla="val 3141"/>
            </a:avLst>
          </a:prstGeom>
          <a:solidFill>
            <a:srgbClr val="F7F6F2"/>
          </a:solidFill>
          <a:ln w="12700">
            <a:solidFill>
              <a:srgbClr val="DDD8CC"/>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chemeClr val="dk1"/>
              </a:solidFill>
              <a:effectLst/>
              <a:uFillTx/>
              <a:latin typeface="Calibri"/>
            </a:endParaRPr>
          </a:p>
        </p:txBody>
      </p:sp>
      <p:sp>
        <p:nvSpPr>
          <p:cNvPr id="341" name="TextBox 9"/>
          <p:cNvSpPr/>
          <p:nvPr/>
        </p:nvSpPr>
        <p:spPr>
          <a:xfrm>
            <a:off x="4480560" y="1737360"/>
            <a:ext cx="3090240" cy="3470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50" b="1" u="none" strike="noStrike">
                <a:solidFill>
                  <a:srgbClr val="C1440E"/>
                </a:solidFill>
                <a:effectLst/>
                <a:uFillTx/>
                <a:latin typeface="Calibri"/>
              </a:rPr>
              <a:t>AUTOMATION</a:t>
            </a:r>
            <a:endParaRPr lang="en-US" sz="1450" b="0" u="none" strike="noStrike">
              <a:solidFill>
                <a:srgbClr val="000000"/>
              </a:solidFill>
              <a:effectLst/>
              <a:uFillTx/>
              <a:latin typeface="Arial"/>
            </a:endParaRPr>
          </a:p>
        </p:txBody>
      </p:sp>
      <p:sp>
        <p:nvSpPr>
          <p:cNvPr id="342" name="TextBox 10"/>
          <p:cNvSpPr/>
          <p:nvPr/>
        </p:nvSpPr>
        <p:spPr>
          <a:xfrm>
            <a:off x="4498920" y="2304360"/>
            <a:ext cx="3053880" cy="1540080"/>
          </a:xfrm>
          <a:prstGeom prst="rect">
            <a:avLst/>
          </a:prstGeom>
          <a:noFill/>
          <a:ln w="0">
            <a:noFill/>
          </a:ln>
        </p:spPr>
        <p:style>
          <a:lnRef idx="0">
            <a:scrgbClr r="0" g="0" b="0"/>
          </a:lnRef>
          <a:fillRef idx="0">
            <a:scrgbClr r="0" g="0" b="0"/>
          </a:fillRef>
          <a:effectRef idx="0">
            <a:scrgbClr r="0" g="0" b="0"/>
          </a:effectRef>
          <a:fontRef idx="minor"/>
        </p:style>
        <p:txBody>
          <a:bodyPr lIns="36720" tIns="27360" rIns="36720" bIns="27360" anchor="t">
            <a:spAutoFit/>
          </a:bodyPr>
          <a:lstStyle/>
          <a:p>
            <a:pPr defTabSz="914400">
              <a:lnSpc>
                <a:spcPct val="100000"/>
              </a:lnSpc>
              <a:spcAft>
                <a:spcPts val="499"/>
              </a:spcAft>
            </a:pPr>
            <a:r>
              <a:rPr lang="en-US" sz="1400" b="0" u="none" strike="noStrike">
                <a:solidFill>
                  <a:schemeClr val="dk1"/>
                </a:solidFill>
                <a:effectLst/>
                <a:uFillTx/>
                <a:latin typeface="Calibri"/>
              </a:rPr>
              <a:t>•  Equivalent build artifact produced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chemeClr val="dk1"/>
                </a:solidFill>
                <a:effectLst/>
                <a:uFillTx/>
                <a:latin typeface="Calibri"/>
              </a:rPr>
              <a:t>•  Secrets, OIDC, and permissions reviewed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chemeClr val="dk1"/>
                </a:solidFill>
                <a:effectLst/>
                <a:uFillTx/>
                <a:latin typeface="Calibri"/>
              </a:rPr>
              <a:t>•  Runner and network path proven</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chemeClr val="dk1"/>
                </a:solidFill>
                <a:effectLst/>
                <a:uFillTx/>
                <a:latin typeface="Calibri"/>
              </a:rPr>
              <a:t>•  Environments, approvals, and deployment exercised</a:t>
            </a:r>
            <a:endParaRPr lang="en-US" sz="1400" b="0" u="none" strike="noStrike">
              <a:solidFill>
                <a:srgbClr val="000000"/>
              </a:solidFill>
              <a:effectLst/>
              <a:uFillTx/>
              <a:latin typeface="Arial"/>
            </a:endParaRPr>
          </a:p>
        </p:txBody>
      </p:sp>
      <p:sp>
        <p:nvSpPr>
          <p:cNvPr id="343" name="Rectangle 11"/>
          <p:cNvSpPr/>
          <p:nvPr/>
        </p:nvSpPr>
        <p:spPr>
          <a:xfrm>
            <a:off x="8010000" y="1508760"/>
            <a:ext cx="3492720" cy="3885840"/>
          </a:xfrm>
          <a:prstGeom prst="roundRect">
            <a:avLst>
              <a:gd name="adj" fmla="val 3141"/>
            </a:avLst>
          </a:prstGeom>
          <a:solidFill>
            <a:srgbClr val="F7F6F2"/>
          </a:solidFill>
          <a:ln w="12700">
            <a:solidFill>
              <a:srgbClr val="DDD8CC"/>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chemeClr val="dk1"/>
              </a:solidFill>
              <a:effectLst/>
              <a:uFillTx/>
              <a:latin typeface="Calibri"/>
            </a:endParaRPr>
          </a:p>
        </p:txBody>
      </p:sp>
      <p:sp>
        <p:nvSpPr>
          <p:cNvPr id="344" name="TextBox 12"/>
          <p:cNvSpPr/>
          <p:nvPr/>
        </p:nvSpPr>
        <p:spPr>
          <a:xfrm>
            <a:off x="8211240" y="1737360"/>
            <a:ext cx="3090240" cy="347040"/>
          </a:xfrm>
          <a:prstGeom prst="rect">
            <a:avLst/>
          </a:prstGeom>
          <a:noFill/>
          <a:ln w="0">
            <a:noFill/>
          </a:ln>
        </p:spPr>
        <p:style>
          <a:lnRef idx="0">
            <a:scrgbClr r="0" g="0" b="0"/>
          </a:lnRef>
          <a:fillRef idx="0">
            <a:scrgbClr r="0" g="0" b="0"/>
          </a:fillRef>
          <a:effectRef idx="0">
            <a:scrgbClr r="0" g="0" b="0"/>
          </a:effectRef>
          <a:fontRef idx="minor"/>
        </p:style>
        <p:txBody>
          <a:bodyPr lIns="73080" tIns="73080" rIns="73080" bIns="73080" anchor="t">
            <a:spAutoFit/>
          </a:bodyPr>
          <a:lstStyle/>
          <a:p>
            <a:pPr algn="ctr" defTabSz="914400">
              <a:lnSpc>
                <a:spcPct val="100000"/>
              </a:lnSpc>
            </a:pPr>
            <a:r>
              <a:rPr lang="en-US" sz="1450" b="1" u="none" strike="noStrike">
                <a:solidFill>
                  <a:srgbClr val="C1440E"/>
                </a:solidFill>
                <a:effectLst/>
                <a:uFillTx/>
                <a:latin typeface="Calibri"/>
              </a:rPr>
              <a:t>VALIDATION &amp; CUTOVER</a:t>
            </a:r>
            <a:endParaRPr lang="en-US" sz="1450" b="0" u="none" strike="noStrike">
              <a:solidFill>
                <a:srgbClr val="000000"/>
              </a:solidFill>
              <a:effectLst/>
              <a:uFillTx/>
              <a:latin typeface="Arial"/>
            </a:endParaRPr>
          </a:p>
        </p:txBody>
      </p:sp>
      <p:sp>
        <p:nvSpPr>
          <p:cNvPr id="345" name="TextBox 13"/>
          <p:cNvSpPr/>
          <p:nvPr/>
        </p:nvSpPr>
        <p:spPr>
          <a:xfrm>
            <a:off x="8229600" y="2304360"/>
            <a:ext cx="3053880" cy="2697120"/>
          </a:xfrm>
          <a:prstGeom prst="rect">
            <a:avLst/>
          </a:prstGeom>
          <a:noFill/>
          <a:ln w="0">
            <a:noFill/>
          </a:ln>
        </p:spPr>
        <p:style>
          <a:lnRef idx="0">
            <a:scrgbClr r="0" g="0" b="0"/>
          </a:lnRef>
          <a:fillRef idx="0">
            <a:scrgbClr r="0" g="0" b="0"/>
          </a:fillRef>
          <a:effectRef idx="0">
            <a:scrgbClr r="0" g="0" b="0"/>
          </a:effectRef>
          <a:fontRef idx="minor"/>
        </p:style>
        <p:txBody>
          <a:bodyPr lIns="36720" tIns="27360" rIns="36720" bIns="27360" anchor="t">
            <a:spAutoFit/>
          </a:bodyPr>
          <a:lstStyle/>
          <a:p>
            <a:pPr defTabSz="914400">
              <a:lnSpc>
                <a:spcPct val="100000"/>
              </a:lnSpc>
              <a:spcAft>
                <a:spcPts val="499"/>
              </a:spcAft>
            </a:pPr>
            <a:r>
              <a:rPr lang="en-US" sz="1400" b="0" u="none" strike="noStrike">
                <a:solidFill>
                  <a:srgbClr val="2B2B2B"/>
                </a:solidFill>
                <a:effectLst/>
                <a:uFillTx/>
                <a:latin typeface="Calibri"/>
              </a:rPr>
              <a:t>•  Behavior, security, and performance accepted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rgbClr val="2B2B2B"/>
                </a:solidFill>
                <a:effectLst/>
                <a:uFillTx/>
                <a:latin typeface="Calibri"/>
              </a:rPr>
              <a:t>•  Observability and notifications confirmed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rgbClr val="2B2B2B"/>
                </a:solidFill>
                <a:effectLst/>
                <a:uFillTx/>
                <a:latin typeface="Calibri"/>
              </a:rPr>
              <a:t>•  Rollback owner and procedure documented</a:t>
            </a:r>
            <a:endParaRPr lang="en-US" sz="1400" b="0" u="none" strike="noStrike">
              <a:solidFill>
                <a:srgbClr val="000000"/>
              </a:solidFill>
              <a:effectLst/>
              <a:uFillTx/>
              <a:latin typeface="Arial"/>
            </a:endParaRPr>
          </a:p>
          <a:p>
            <a:pPr defTabSz="914400">
              <a:lnSpc>
                <a:spcPct val="100000"/>
              </a:lnSpc>
              <a:spcAft>
                <a:spcPts val="499"/>
              </a:spcAft>
            </a:pPr>
            <a:r>
              <a:rPr lang="en-US" sz="1400" b="0" u="none" strike="noStrike">
                <a:solidFill>
                  <a:srgbClr val="2B2B2B"/>
                </a:solidFill>
                <a:effectLst/>
                <a:uFillTx/>
                <a:latin typeface="Calibri"/>
              </a:rPr>
              <a:t>•  Legacy repo read-only; decommission date defined</a:t>
            </a:r>
            <a:endParaRPr lang="en-US" sz="1400" b="0" u="none" strike="noStrike">
              <a:solidFill>
                <a:srgbClr val="000000"/>
              </a:solidFill>
              <a:effectLst/>
              <a:uFillTx/>
              <a:latin typeface="Arial"/>
            </a:endParaRPr>
          </a:p>
        </p:txBody>
      </p:sp>
      <p:sp>
        <p:nvSpPr>
          <p:cNvPr id="346" name="Rounded Rectangle 15"/>
          <p:cNvSpPr/>
          <p:nvPr/>
        </p:nvSpPr>
        <p:spPr>
          <a:xfrm>
            <a:off x="548640" y="5593619"/>
            <a:ext cx="10954080" cy="73116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347" name="TextBox 14"/>
          <p:cNvSpPr/>
          <p:nvPr/>
        </p:nvSpPr>
        <p:spPr>
          <a:xfrm>
            <a:off x="548640" y="5593619"/>
            <a:ext cx="11063880" cy="73116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spAutoFit/>
          </a:bodyPr>
          <a:lstStyle/>
          <a:p>
            <a:pPr defTabSz="914400">
              <a:lnSpc>
                <a:spcPct val="100000"/>
              </a:lnSpc>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Definition of done: verified delivery, traceability, operational ownership, and reversibility.</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CADA5E15-EC4E-4B25-9DAB-F0C8CD5AF57C}" type="slidenum">
              <a:rPr/>
              <a:t>28</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347"/>
                                  </p:tgtEl>
                                  <p:attrNameLst>
                                    <p:attrName>style.visibility</p:attrName>
                                  </p:attrNameLst>
                                </p:cBhvr>
                                <p:to>
                                  <p:strVal val="visible"/>
                                </p:to>
                              </p:set>
                              <p:animEffect transition="in" filter="fade">
                                <p:cBhvr additive="repl">
                                  <p:cTn id="6" dur="500"/>
                                  <p:tgtEl>
                                    <p:spTgt spid="347"/>
                                  </p:tgtEl>
                                </p:cBhvr>
                              </p:animEffect>
                            </p:childTnLst>
                          </p:cTn>
                        </p:par>
                        <p:par>
                          <p:cTn id="7" presetID="10" presetClass="entr" fill="hold" nodeType="clickEffect">
                            <p:stCondLst>
                              <p:cond delay="0"/>
                            </p:stCondLst>
                            <p:childTnLst>
                              <p:set>
                                <p:cBhvr>
                                  <p:cTn id="8" dur="1" fill="hold">
                                    <p:stCondLst>
                                      <p:cond delay="0"/>
                                    </p:stCondLst>
                                  </p:cTn>
                                  <p:tgtEl>
                                    <p:spTgt spid="346"/>
                                  </p:tgtEl>
                                  <p:attrNameLst>
                                    <p:attrName>style.visibility</p:attrName>
                                  </p:attrNameLst>
                                </p:cBhvr>
                                <p:to>
                                  <p:strVal val="visible"/>
                                </p:to>
                              </p:set>
                              <p:animEffect transition="in" filter="fade">
                                <p:cBhvr additive="repl">
                                  <p:cTn id="9" dur="500"/>
                                  <p:tgtEl>
                                    <p:spTgt spid="346"/>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348" name="Text 0"/>
          <p:cNvSpPr/>
          <p:nvPr/>
        </p:nvSpPr>
        <p:spPr>
          <a:xfrm>
            <a:off x="548640" y="2651760"/>
            <a:ext cx="1106388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200" b="1" u="none" strike="noStrike">
                <a:solidFill>
                  <a:srgbClr val="F5F5F0"/>
                </a:solidFill>
                <a:effectLst/>
                <a:uFillTx/>
                <a:latin typeface="Cambria"/>
                <a:ea typeface="Cambria"/>
              </a:rPr>
              <a:t>Q&amp;A POCKET</a:t>
            </a:r>
            <a:endParaRPr lang="en-US" sz="4200" b="0" u="none" strike="noStrike">
              <a:solidFill>
                <a:srgbClr val="FFFFFF"/>
              </a:solidFill>
              <a:effectLst/>
              <a:uFillTx/>
              <a:latin typeface="Arial"/>
            </a:endParaRPr>
          </a:p>
        </p:txBody>
      </p:sp>
      <p:sp>
        <p:nvSpPr>
          <p:cNvPr id="349" name="Text 1"/>
          <p:cNvSpPr/>
          <p:nvPr/>
        </p:nvSpPr>
        <p:spPr>
          <a:xfrm>
            <a:off x="548640" y="3703320"/>
            <a:ext cx="1106388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0" i="1" u="none" strike="noStrike">
                <a:solidFill>
                  <a:srgbClr val="E0B85C"/>
                </a:solidFill>
                <a:effectLst/>
                <a:uFillTx/>
                <a:latin typeface="Calibri"/>
                <a:ea typeface="Calibri"/>
              </a:rPr>
              <a:t>One quick question before we leave Section 3 — Crossing the River</a:t>
            </a:r>
            <a:endParaRPr lang="en-US" sz="1900" b="0" u="none" strike="noStrike">
              <a:solidFill>
                <a:srgbClr val="FFFFFF"/>
              </a:solidFill>
              <a:effectLst/>
              <a:uFillTx/>
              <a:latin typeface="Arial"/>
            </a:endParaRPr>
          </a:p>
        </p:txBody>
      </p:sp>
      <p:sp>
        <p:nvSpPr>
          <p:cNvPr id="350" name="PlaceHolder 1"/>
          <p:cNvSpPr>
            <a:spLocks noGrp="1"/>
          </p:cNvSpPr>
          <p:nvPr>
            <p:ph type="sldNum" idx="10"/>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903B2800-EE9B-4E87-AC7A-EA3BB0EC942E}" type="slidenum">
              <a:rPr lang="en-US" sz="1000" b="0" u="none" strike="noStrike">
                <a:solidFill>
                  <a:srgbClr val="E0B85C"/>
                </a:solidFill>
                <a:effectLst/>
                <a:uFillTx/>
                <a:latin typeface="Calibri"/>
              </a:rPr>
              <a:t>29</a:t>
            </a:fld>
            <a:endParaRPr lang="en-US" sz="1000" b="0" u="none" strike="noStrike">
              <a:solidFill>
                <a:srgbClr val="FFFFFF"/>
              </a:solidFill>
              <a:effectLst/>
              <a:uFillTx/>
              <a:latin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351" name="Shape 0"/>
          <p:cNvSpPr/>
          <p:nvPr/>
        </p:nvSpPr>
        <p:spPr>
          <a:xfrm>
            <a:off x="0" y="0"/>
            <a:ext cx="12191400" cy="1234080"/>
          </a:xfrm>
          <a:prstGeom prst="rect">
            <a:avLst/>
          </a:prstGeom>
          <a:solidFill>
            <a:srgbClr val="142A1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52" name="Text 1"/>
          <p:cNvSpPr/>
          <p:nvPr/>
        </p:nvSpPr>
        <p:spPr>
          <a:xfrm>
            <a:off x="548640" y="365760"/>
            <a:ext cx="91436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spc="300">
                <a:solidFill>
                  <a:srgbClr val="E0B85C"/>
                </a:solidFill>
                <a:effectLst/>
                <a:uFillTx/>
                <a:latin typeface="Calibri"/>
                <a:ea typeface="Calibri"/>
              </a:rPr>
              <a:t>SECTION 4</a:t>
            </a:r>
            <a:endParaRPr lang="en-US" sz="1700" b="0" u="none" strike="noStrike">
              <a:solidFill>
                <a:srgbClr val="FFFFFF"/>
              </a:solidFill>
              <a:effectLst/>
              <a:uFillTx/>
              <a:latin typeface="Arial"/>
            </a:endParaRPr>
          </a:p>
        </p:txBody>
      </p:sp>
      <p:pic>
        <p:nvPicPr>
          <p:cNvPr id="353" name="Image 0" descr="/home/claude/pptx-build/assets/icons/FaPaw-8C6A3F-300.png"/>
          <p:cNvPicPr/>
          <p:nvPr/>
        </p:nvPicPr>
        <p:blipFill>
          <a:blip r:embed="rId3">
            <a:alphaModFix amt="85000"/>
          </a:blip>
          <a:stretch/>
        </p:blipFill>
        <p:spPr>
          <a:xfrm>
            <a:off x="9692640" y="2194560"/>
            <a:ext cx="1462680" cy="1462680"/>
          </a:xfrm>
          <a:prstGeom prst="rect">
            <a:avLst/>
          </a:prstGeom>
          <a:noFill/>
          <a:ln w="0">
            <a:noFill/>
          </a:ln>
        </p:spPr>
      </p:pic>
      <p:sp>
        <p:nvSpPr>
          <p:cNvPr id="354" name="Text 2"/>
          <p:cNvSpPr/>
          <p:nvPr/>
        </p:nvSpPr>
        <p:spPr>
          <a:xfrm>
            <a:off x="548640" y="2331720"/>
            <a:ext cx="877788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4400" b="1" u="none" strike="noStrike">
                <a:solidFill>
                  <a:srgbClr val="F5F5F0"/>
                </a:solidFill>
                <a:effectLst/>
                <a:uFillTx/>
                <a:latin typeface="Cambria"/>
                <a:ea typeface="Cambria"/>
              </a:rPr>
              <a:t>Watch as the Scrum Master Approaches Carefully</a:t>
            </a:r>
            <a:endParaRPr lang="en-US" sz="4400" b="0" u="none" strike="noStrike">
              <a:solidFill>
                <a:srgbClr val="FFFFFF"/>
              </a:solidFill>
              <a:effectLst/>
              <a:uFillTx/>
              <a:latin typeface="Arial"/>
            </a:endParaRPr>
          </a:p>
        </p:txBody>
      </p:sp>
      <p:sp>
        <p:nvSpPr>
          <p:cNvPr id="355" name="Text 3"/>
          <p:cNvSpPr/>
          <p:nvPr/>
        </p:nvSpPr>
        <p:spPr>
          <a:xfrm>
            <a:off x="548640" y="4160520"/>
            <a:ext cx="8777880" cy="123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0" i="1" u="none" strike="noStrike">
                <a:solidFill>
                  <a:srgbClr val="E0B85C"/>
                </a:solidFill>
                <a:effectLst/>
                <a:uFillTx/>
                <a:latin typeface="Calibri"/>
                <a:ea typeface="Calibri"/>
              </a:rPr>
              <a:t>Sprint planning is a creature of habit, most comfortable in the enclosure it was raised in. Moving it means understanding exactly what it needs to survive the move.</a:t>
            </a:r>
            <a:endParaRPr lang="en-US" sz="2000" b="0" u="none" strike="noStrike">
              <a:solidFill>
                <a:srgbClr val="FFFFFF"/>
              </a:solidFill>
              <a:effectLst/>
              <a:uFillTx/>
              <a:latin typeface="Arial"/>
            </a:endParaRPr>
          </a:p>
        </p:txBody>
      </p:sp>
      <p:sp>
        <p:nvSpPr>
          <p:cNvPr id="356" name="Shape 4"/>
          <p:cNvSpPr/>
          <p:nvPr/>
        </p:nvSpPr>
        <p:spPr>
          <a:xfrm>
            <a:off x="548640" y="6217920"/>
            <a:ext cx="11064240" cy="360"/>
          </a:xfrm>
          <a:prstGeom prst="line">
            <a:avLst/>
          </a:prstGeom>
          <a:ln w="9525">
            <a:solidFill>
              <a:srgbClr val="8C6A3F"/>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357" name="PlaceHolder 1"/>
          <p:cNvSpPr>
            <a:spLocks noGrp="1"/>
          </p:cNvSpPr>
          <p:nvPr>
            <p:ph type="sldNum" idx="11"/>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C8D3B8DD-6DB4-460B-BAFF-E2390402FE9F}" type="slidenum">
              <a:rPr lang="en-US" sz="1000" b="0" u="none" strike="noStrike">
                <a:solidFill>
                  <a:srgbClr val="E0B85C"/>
                </a:solidFill>
                <a:effectLst/>
                <a:uFillTx/>
                <a:latin typeface="Calibri"/>
              </a:rPr>
              <a:t>30</a:t>
            </a:fld>
            <a:endParaRPr lang="en-US" sz="1000" b="0" u="none" strike="noStrike">
              <a:solidFill>
                <a:srgbClr val="FFFFFF"/>
              </a:solidFill>
              <a:effectLst/>
              <a:uFillTx/>
              <a:latin typeface="Times New Roman"/>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8"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359" name="Image 0" descr="/home/claude/pptx-build/assets/icons/FaProjectDiagram-FFFFFF-200.png"/>
          <p:cNvPicPr/>
          <p:nvPr/>
        </p:nvPicPr>
        <p:blipFill>
          <a:blip r:embed="rId3"/>
          <a:stretch/>
        </p:blipFill>
        <p:spPr>
          <a:xfrm>
            <a:off x="685800" y="594360"/>
            <a:ext cx="292320" cy="292320"/>
          </a:xfrm>
          <a:prstGeom prst="rect">
            <a:avLst/>
          </a:prstGeom>
          <a:noFill/>
          <a:ln w="0">
            <a:noFill/>
          </a:ln>
        </p:spPr>
      </p:pic>
      <p:sp>
        <p:nvSpPr>
          <p:cNvPr id="360"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WATCH AS THE SCRUM MASTER APPROACHES CAREFULLY</a:t>
            </a:r>
            <a:endParaRPr lang="en-US" sz="1500" b="0" u="none" strike="noStrike">
              <a:solidFill>
                <a:srgbClr val="000000"/>
              </a:solidFill>
              <a:effectLst/>
              <a:uFillTx/>
              <a:latin typeface="Arial"/>
            </a:endParaRPr>
          </a:p>
        </p:txBody>
      </p:sp>
      <p:sp>
        <p:nvSpPr>
          <p:cNvPr id="361"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Boards and Projects Are Two Different Models</a:t>
            </a:r>
            <a:endParaRPr lang="en-US" sz="3200" b="0" u="none" strike="noStrike">
              <a:solidFill>
                <a:srgbClr val="000000"/>
              </a:solidFill>
              <a:effectLst/>
              <a:uFillTx/>
              <a:latin typeface="Arial"/>
            </a:endParaRPr>
          </a:p>
        </p:txBody>
      </p:sp>
      <p:sp>
        <p:nvSpPr>
          <p:cNvPr id="362" name="Shape 3"/>
          <p:cNvSpPr/>
          <p:nvPr/>
        </p:nvSpPr>
        <p:spPr>
          <a:xfrm>
            <a:off x="548640" y="1645920"/>
            <a:ext cx="11063880" cy="2011320"/>
          </a:xfrm>
          <a:prstGeom prst="roundRect">
            <a:avLst>
              <a:gd name="adj" fmla="val 5455"/>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63" name="Text 4"/>
          <p:cNvSpPr/>
          <p:nvPr/>
        </p:nvSpPr>
        <p:spPr>
          <a:xfrm>
            <a:off x="914400" y="1828800"/>
            <a:ext cx="10332360" cy="164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5000"/>
              </a:lnSpc>
              <a:tabLst>
                <a:tab pos="0" algn="l"/>
              </a:tabLst>
            </a:pPr>
            <a:r>
              <a:rPr lang="en-US" sz="1900" b="0" u="none" strike="noStrike">
                <a:solidFill>
                  <a:srgbClr val="2B2B2B"/>
                </a:solidFill>
                <a:effectLst/>
                <a:uFillTx/>
                <a:latin typeface="Calibri"/>
                <a:ea typeface="Calibri"/>
              </a:rPr>
              <a:t>Azure Boards is a work-tracking system built around a process template. GitHub Projects is a planning layer built around custom fields and views.</a:t>
            </a:r>
            <a:endParaRPr lang="en-US" sz="1900" b="0" u="none" strike="noStrike">
              <a:solidFill>
                <a:srgbClr val="000000"/>
              </a:solidFill>
              <a:effectLst/>
              <a:uFillTx/>
              <a:latin typeface="Arial"/>
            </a:endParaRPr>
          </a:p>
        </p:txBody>
      </p:sp>
      <p:sp>
        <p:nvSpPr>
          <p:cNvPr id="364" name="Shape 5"/>
          <p:cNvSpPr/>
          <p:nvPr/>
        </p:nvSpPr>
        <p:spPr>
          <a:xfrm>
            <a:off x="548640" y="3977640"/>
            <a:ext cx="5348880" cy="1462680"/>
          </a:xfrm>
          <a:prstGeom prst="roundRect">
            <a:avLst>
              <a:gd name="adj" fmla="val 7500"/>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65" name="Text 6"/>
          <p:cNvSpPr/>
          <p:nvPr/>
        </p:nvSpPr>
        <p:spPr>
          <a:xfrm>
            <a:off x="822960" y="413316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F5F5F0"/>
                </a:solidFill>
                <a:effectLst/>
                <a:uFillTx/>
                <a:latin typeface="Cambria"/>
                <a:ea typeface="Cambria"/>
              </a:rPr>
              <a:t>Azure Boards</a:t>
            </a:r>
            <a:endParaRPr lang="en-US" sz="2000" b="0" u="none" strike="noStrike">
              <a:solidFill>
                <a:srgbClr val="000000"/>
              </a:solidFill>
              <a:effectLst/>
              <a:uFillTx/>
              <a:latin typeface="Arial"/>
            </a:endParaRPr>
          </a:p>
        </p:txBody>
      </p:sp>
      <p:sp>
        <p:nvSpPr>
          <p:cNvPr id="366" name="Text 7"/>
          <p:cNvSpPr/>
          <p:nvPr/>
        </p:nvSpPr>
        <p:spPr>
          <a:xfrm>
            <a:off x="822960" y="4645080"/>
            <a:ext cx="48002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F5F5F0"/>
                </a:solidFill>
                <a:effectLst/>
                <a:uFillTx/>
                <a:latin typeface="Calibri"/>
                <a:ea typeface="Calibri"/>
              </a:rPr>
              <a:t>Enterprise work-tracking system</a:t>
            </a:r>
            <a:endParaRPr lang="en-US" sz="1600" b="0" u="none" strike="noStrike">
              <a:solidFill>
                <a:srgbClr val="000000"/>
              </a:solidFill>
              <a:effectLst/>
              <a:uFillTx/>
              <a:latin typeface="Arial"/>
            </a:endParaRPr>
          </a:p>
        </p:txBody>
      </p:sp>
      <p:sp>
        <p:nvSpPr>
          <p:cNvPr id="367" name="Shape 8"/>
          <p:cNvSpPr/>
          <p:nvPr/>
        </p:nvSpPr>
        <p:spPr>
          <a:xfrm>
            <a:off x="6172200" y="3977640"/>
            <a:ext cx="5348880" cy="1462680"/>
          </a:xfrm>
          <a:prstGeom prst="roundRect">
            <a:avLst>
              <a:gd name="adj" fmla="val 75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68" name="Text 9"/>
          <p:cNvSpPr/>
          <p:nvPr/>
        </p:nvSpPr>
        <p:spPr>
          <a:xfrm>
            <a:off x="6446520" y="4133160"/>
            <a:ext cx="4800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F3D2C"/>
                </a:solidFill>
                <a:effectLst/>
                <a:uFillTx/>
                <a:latin typeface="Cambria"/>
                <a:ea typeface="Cambria"/>
              </a:rPr>
              <a:t>GitHub Projects</a:t>
            </a:r>
            <a:endParaRPr lang="en-US" sz="2000" b="0" u="none" strike="noStrike">
              <a:solidFill>
                <a:srgbClr val="000000"/>
              </a:solidFill>
              <a:effectLst/>
              <a:uFillTx/>
              <a:latin typeface="Arial"/>
            </a:endParaRPr>
          </a:p>
        </p:txBody>
      </p:sp>
      <p:sp>
        <p:nvSpPr>
          <p:cNvPr id="369" name="Text 10"/>
          <p:cNvSpPr/>
          <p:nvPr/>
        </p:nvSpPr>
        <p:spPr>
          <a:xfrm>
            <a:off x="6446520" y="4645080"/>
            <a:ext cx="48002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2B2B2B"/>
                </a:solidFill>
                <a:effectLst/>
                <a:uFillTx/>
                <a:latin typeface="Calibri"/>
                <a:ea typeface="Calibri"/>
              </a:rPr>
              <a:t>Field-driven planning layer on Issues</a:t>
            </a:r>
            <a:endParaRPr lang="en-US" sz="16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78DFF575-CC51-41D7-8E37-9EA0F1E1B462}" type="slidenum">
              <a:rPr/>
              <a:t>31</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0"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371" name="Image 0" descr="/home/claude/pptx-build/assets/icons/FaSitemap-FFFFFF-200.png"/>
          <p:cNvPicPr/>
          <p:nvPr/>
        </p:nvPicPr>
        <p:blipFill>
          <a:blip r:embed="rId3"/>
          <a:stretch/>
        </p:blipFill>
        <p:spPr>
          <a:xfrm>
            <a:off x="685800" y="594360"/>
            <a:ext cx="292320" cy="292320"/>
          </a:xfrm>
          <a:prstGeom prst="rect">
            <a:avLst/>
          </a:prstGeom>
          <a:noFill/>
          <a:ln w="0">
            <a:noFill/>
          </a:ln>
        </p:spPr>
      </p:pic>
      <p:sp>
        <p:nvSpPr>
          <p:cNvPr id="372"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WATCH AS THE SCRUM MASTER APPROACHES CAREFULLY</a:t>
            </a:r>
            <a:endParaRPr lang="en-US" sz="1500" b="0" u="none" strike="noStrike">
              <a:solidFill>
                <a:srgbClr val="000000"/>
              </a:solidFill>
              <a:effectLst/>
              <a:uFillTx/>
              <a:latin typeface="Arial"/>
            </a:endParaRPr>
          </a:p>
        </p:txBody>
      </p:sp>
      <p:sp>
        <p:nvSpPr>
          <p:cNvPr id="373"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Each Tool on Its Own Terms</a:t>
            </a:r>
            <a:endParaRPr lang="en-US" sz="3200" b="0" u="none" strike="noStrike">
              <a:solidFill>
                <a:srgbClr val="000000"/>
              </a:solidFill>
              <a:effectLst/>
              <a:uFillTx/>
              <a:latin typeface="Arial"/>
            </a:endParaRPr>
          </a:p>
        </p:txBody>
      </p:sp>
      <p:sp>
        <p:nvSpPr>
          <p:cNvPr id="374" name="Shape 3"/>
          <p:cNvSpPr/>
          <p:nvPr/>
        </p:nvSpPr>
        <p:spPr>
          <a:xfrm>
            <a:off x="548640" y="1645920"/>
            <a:ext cx="5440320" cy="3565800"/>
          </a:xfrm>
          <a:prstGeom prst="roundRect">
            <a:avLst>
              <a:gd name="adj" fmla="val 3077"/>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5" name="Shape 3 right"/>
          <p:cNvSpPr/>
          <p:nvPr/>
        </p:nvSpPr>
        <p:spPr>
          <a:xfrm>
            <a:off x="6172200" y="1645920"/>
            <a:ext cx="5440320" cy="3565800"/>
          </a:xfrm>
          <a:prstGeom prst="roundRect">
            <a:avLst>
              <a:gd name="adj" fmla="val 3077"/>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6" name="Text 4"/>
          <p:cNvSpPr/>
          <p:nvPr/>
        </p:nvSpPr>
        <p:spPr>
          <a:xfrm>
            <a:off x="868680" y="2395800"/>
            <a:ext cx="4845960" cy="265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15000"/>
              </a:lnSpc>
              <a:spcAft>
                <a:spcPts val="1400"/>
              </a:spcAft>
              <a:buClr>
                <a:srgbClr val="2B2B2B"/>
              </a:buClr>
              <a:buFont typeface="Symbol" charset="2"/>
              <a:buChar char=""/>
            </a:pPr>
            <a:r>
              <a:rPr lang="en-US" sz="1550" b="0" u="none" strike="noStrike">
                <a:solidFill>
                  <a:srgbClr val="2B2B2B"/>
                </a:solidFill>
                <a:effectLst/>
                <a:uFillTx/>
                <a:latin typeface="Calibri"/>
                <a:ea typeface="Calibri"/>
              </a:rPr>
              <a:t>Hierarchical work items — Epics → Features → Stories → Tasks</a:t>
            </a:r>
            <a:endParaRPr lang="en-US" sz="1550" b="0" u="none" strike="noStrike">
              <a:solidFill>
                <a:srgbClr val="000000"/>
              </a:solidFill>
              <a:effectLst/>
              <a:uFillTx/>
              <a:latin typeface="Arial"/>
            </a:endParaRPr>
          </a:p>
          <a:p>
            <a:pPr marL="343080" indent="-343080" defTabSz="914400">
              <a:lnSpc>
                <a:spcPct val="115000"/>
              </a:lnSpc>
              <a:spcAft>
                <a:spcPts val="1400"/>
              </a:spcAft>
              <a:buClr>
                <a:srgbClr val="2B2B2B"/>
              </a:buClr>
              <a:buFont typeface="Symbol" charset="2"/>
              <a:buChar char=""/>
            </a:pPr>
            <a:r>
              <a:rPr lang="en-US" sz="1550" b="0" u="none" strike="noStrike">
                <a:solidFill>
                  <a:srgbClr val="2B2B2B"/>
                </a:solidFill>
                <a:effectLst/>
                <a:uFillTx/>
                <a:latin typeface="Calibri"/>
                <a:ea typeface="Calibri"/>
              </a:rPr>
              <a:t>Sprint planning and capacity management, built in</a:t>
            </a:r>
            <a:endParaRPr lang="en-US" sz="1550" b="0" u="none" strike="noStrike">
              <a:solidFill>
                <a:srgbClr val="000000"/>
              </a:solidFill>
              <a:effectLst/>
              <a:uFillTx/>
              <a:latin typeface="Arial"/>
            </a:endParaRPr>
          </a:p>
          <a:p>
            <a:pPr marL="343080" indent="-343080" defTabSz="914400">
              <a:lnSpc>
                <a:spcPct val="115000"/>
              </a:lnSpc>
              <a:spcAft>
                <a:spcPts val="1400"/>
              </a:spcAft>
              <a:buClr>
                <a:srgbClr val="2B2B2B"/>
              </a:buClr>
              <a:buFont typeface="Symbol" charset="2"/>
              <a:buChar char=""/>
            </a:pPr>
            <a:r>
              <a:rPr lang="en-US" sz="1550" b="0" u="none" strike="noStrike">
                <a:solidFill>
                  <a:srgbClr val="2B2B2B"/>
                </a:solidFill>
                <a:effectLst/>
                <a:uFillTx/>
                <a:latin typeface="Calibri"/>
                <a:ea typeface="Calibri"/>
              </a:rPr>
              <a:t>Delivery Plans for cross-team dependencies</a:t>
            </a:r>
            <a:endParaRPr lang="en-US" sz="1550" b="0" u="none" strike="noStrike">
              <a:solidFill>
                <a:srgbClr val="000000"/>
              </a:solidFill>
              <a:effectLst/>
              <a:uFillTx/>
              <a:latin typeface="Arial"/>
            </a:endParaRPr>
          </a:p>
          <a:p>
            <a:pPr marL="343080" indent="-343080" defTabSz="914400">
              <a:lnSpc>
                <a:spcPct val="115000"/>
              </a:lnSpc>
              <a:buClr>
                <a:srgbClr val="2B2B2B"/>
              </a:buClr>
              <a:buFont typeface="Symbol" charset="2"/>
              <a:buChar char=""/>
            </a:pPr>
            <a:r>
              <a:rPr lang="en-US" sz="1550" b="0" u="none" strike="noStrike">
                <a:solidFill>
                  <a:srgbClr val="2B2B2B"/>
                </a:solidFill>
                <a:effectLst/>
                <a:uFillTx/>
                <a:latin typeface="Calibri"/>
                <a:ea typeface="Calibri"/>
              </a:rPr>
              <a:t>Boards Analytics plus Power BI reporting</a:t>
            </a:r>
            <a:endParaRPr lang="en-US" sz="1550" b="0" u="none" strike="noStrike">
              <a:solidFill>
                <a:srgbClr val="000000"/>
              </a:solidFill>
              <a:effectLst/>
              <a:uFillTx/>
              <a:latin typeface="Arial"/>
            </a:endParaRPr>
          </a:p>
        </p:txBody>
      </p:sp>
      <p:sp>
        <p:nvSpPr>
          <p:cNvPr id="377" name="Shape 5"/>
          <p:cNvSpPr/>
          <p:nvPr/>
        </p:nvSpPr>
        <p:spPr>
          <a:xfrm>
            <a:off x="548640" y="5440680"/>
            <a:ext cx="11063880" cy="86832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8" name="Text 6"/>
          <p:cNvSpPr/>
          <p:nvPr/>
        </p:nvSpPr>
        <p:spPr>
          <a:xfrm>
            <a:off x="548640" y="5440680"/>
            <a:ext cx="11063880" cy="868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ORGANIZES BY </a:t>
            </a:r>
            <a:r>
              <a:rPr lang="en-US" sz="1500" b="0" u="none" strike="noStrike">
                <a:solidFill>
                  <a:srgbClr val="F5F5F0"/>
                </a:solidFill>
                <a:effectLst/>
                <a:uFillTx/>
                <a:latin typeface="Calibri"/>
              </a:rPr>
              <a:t>Boards: Project → Team → Area Path.   Projects: custom fields and iterations, org-wide across repositories.</a:t>
            </a:r>
            <a:endParaRPr lang="en-US" sz="1500" b="0" u="none" strike="noStrike">
              <a:solidFill>
                <a:srgbClr val="000000"/>
              </a:solidFill>
              <a:effectLst/>
              <a:uFillTx/>
              <a:latin typeface="Arial"/>
            </a:endParaRPr>
          </a:p>
        </p:txBody>
      </p:sp>
      <p:sp>
        <p:nvSpPr>
          <p:cNvPr id="379" name="Header left"/>
          <p:cNvSpPr/>
          <p:nvPr/>
        </p:nvSpPr>
        <p:spPr>
          <a:xfrm>
            <a:off x="868680" y="1828800"/>
            <a:ext cx="4845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F3D2C"/>
                </a:solidFill>
                <a:effectLst/>
                <a:uFillTx/>
                <a:latin typeface="Cambria"/>
                <a:ea typeface="Cambria"/>
              </a:rPr>
              <a:t>Azure Boards</a:t>
            </a:r>
            <a:endParaRPr lang="en-US" sz="2000" b="0" u="none" strike="noStrike">
              <a:solidFill>
                <a:srgbClr val="000000"/>
              </a:solidFill>
              <a:effectLst/>
              <a:uFillTx/>
              <a:latin typeface="Arial"/>
            </a:endParaRPr>
          </a:p>
        </p:txBody>
      </p:sp>
      <p:sp>
        <p:nvSpPr>
          <p:cNvPr id="380" name="Header right"/>
          <p:cNvSpPr/>
          <p:nvPr/>
        </p:nvSpPr>
        <p:spPr>
          <a:xfrm>
            <a:off x="6492240" y="1828800"/>
            <a:ext cx="4845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F3D2C"/>
                </a:solidFill>
                <a:effectLst/>
                <a:uFillTx/>
                <a:latin typeface="Cambria"/>
                <a:ea typeface="Cambria"/>
              </a:rPr>
              <a:t>GitHub Projects</a:t>
            </a:r>
            <a:endParaRPr lang="en-US" sz="2000" b="0" u="none" strike="noStrike">
              <a:solidFill>
                <a:srgbClr val="000000"/>
              </a:solidFill>
              <a:effectLst/>
              <a:uFillTx/>
              <a:latin typeface="Arial"/>
            </a:endParaRPr>
          </a:p>
        </p:txBody>
      </p:sp>
      <p:sp>
        <p:nvSpPr>
          <p:cNvPr id="381" name="Text 4 right"/>
          <p:cNvSpPr/>
          <p:nvPr/>
        </p:nvSpPr>
        <p:spPr>
          <a:xfrm>
            <a:off x="6492240" y="2395800"/>
            <a:ext cx="4845960" cy="265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defTabSz="914400">
              <a:lnSpc>
                <a:spcPct val="115000"/>
              </a:lnSpc>
              <a:spcAft>
                <a:spcPts val="1400"/>
              </a:spcAft>
              <a:buClr>
                <a:srgbClr val="2B2B2B"/>
              </a:buClr>
              <a:buFont typeface="Symbol" charset="2"/>
              <a:buChar char=""/>
            </a:pPr>
            <a:r>
              <a:rPr lang="en-US" sz="1550" b="0" u="none" strike="noStrike">
                <a:solidFill>
                  <a:srgbClr val="2B2B2B"/>
                </a:solidFill>
                <a:effectLst/>
                <a:uFillTx/>
                <a:latin typeface="Calibri"/>
                <a:ea typeface="Calibri"/>
              </a:rPr>
              <a:t>Custom fields instead of a fixed process: iteration, single-select, date, number</a:t>
            </a:r>
            <a:endParaRPr lang="en-US" sz="1550" b="0" u="none" strike="noStrike">
              <a:solidFill>
                <a:srgbClr val="000000"/>
              </a:solidFill>
              <a:effectLst/>
              <a:uFillTx/>
              <a:latin typeface="Arial"/>
            </a:endParaRPr>
          </a:p>
          <a:p>
            <a:pPr marL="343080" indent="-343080" defTabSz="914400">
              <a:lnSpc>
                <a:spcPct val="115000"/>
              </a:lnSpc>
              <a:spcAft>
                <a:spcPts val="1400"/>
              </a:spcAft>
              <a:buClr>
                <a:srgbClr val="2B2B2B"/>
              </a:buClr>
              <a:buFont typeface="Symbol" charset="2"/>
              <a:buChar char=""/>
            </a:pPr>
            <a:r>
              <a:rPr lang="en-US" sz="1550" b="0" u="none" strike="noStrike">
                <a:solidFill>
                  <a:srgbClr val="2B2B2B"/>
                </a:solidFill>
                <a:effectLst/>
                <a:uFillTx/>
                <a:latin typeface="Calibri"/>
                <a:ea typeface="Calibri"/>
              </a:rPr>
              <a:t>Lives next to the issues and PRs it tracks</a:t>
            </a:r>
            <a:endParaRPr lang="en-US" sz="1550" b="0" u="none" strike="noStrike">
              <a:solidFill>
                <a:srgbClr val="000000"/>
              </a:solidFill>
              <a:effectLst/>
              <a:uFillTx/>
              <a:latin typeface="Arial"/>
            </a:endParaRPr>
          </a:p>
          <a:p>
            <a:pPr marL="343080" indent="-343080" defTabSz="914400">
              <a:lnSpc>
                <a:spcPct val="115000"/>
              </a:lnSpc>
              <a:spcAft>
                <a:spcPts val="1400"/>
              </a:spcAft>
              <a:buClr>
                <a:srgbClr val="2B2B2B"/>
              </a:buClr>
              <a:buFont typeface="Symbol" charset="2"/>
              <a:buChar char=""/>
            </a:pPr>
            <a:r>
              <a:rPr lang="en-US" sz="1550" b="0" u="none" strike="noStrike">
                <a:solidFill>
                  <a:srgbClr val="2B2B2B"/>
                </a:solidFill>
                <a:effectLst/>
                <a:uFillTx/>
                <a:latin typeface="Calibri"/>
                <a:ea typeface="Calibri"/>
              </a:rPr>
              <a:t>Fast daily triage, with no context switch to a separate system</a:t>
            </a:r>
            <a:endParaRPr lang="en-US" sz="1550" b="0" u="none" strike="noStrike">
              <a:solidFill>
                <a:srgbClr val="000000"/>
              </a:solidFill>
              <a:effectLst/>
              <a:uFillTx/>
              <a:latin typeface="Arial"/>
            </a:endParaRPr>
          </a:p>
          <a:p>
            <a:pPr marL="343080" indent="-343080" defTabSz="914400">
              <a:lnSpc>
                <a:spcPct val="115000"/>
              </a:lnSpc>
              <a:spcAft>
                <a:spcPts val="1400"/>
              </a:spcAft>
              <a:buClr>
                <a:srgbClr val="2B2B2B"/>
              </a:buClr>
              <a:buFont typeface="Symbol" charset="2"/>
              <a:buChar char=""/>
            </a:pPr>
            <a:r>
              <a:rPr lang="en-US" sz="1550" b="0" u="none" strike="noStrike">
                <a:solidFill>
                  <a:srgbClr val="2B2B2B"/>
                </a:solidFill>
                <a:effectLst/>
                <a:uFillTx/>
                <a:latin typeface="Calibri"/>
                <a:ea typeface="Calibri"/>
              </a:rPr>
              <a:t>Sub-issues, issue types and dependencies (all GA); roadmap layout; built-in or Actions automation</a:t>
            </a:r>
            <a:endParaRPr lang="en-US" sz="155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597A1495-71B1-4432-BE47-92A8E47ABC5D}" type="slidenum">
              <a:rPr/>
              <a:t>32</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374"/>
                                  </p:tgtEl>
                                  <p:attrNameLst>
                                    <p:attrName>style.visibility</p:attrName>
                                  </p:attrNameLst>
                                </p:cBhvr>
                                <p:to>
                                  <p:strVal val="visible"/>
                                </p:to>
                              </p:set>
                              <p:animEffect transition="in" filter="fade">
                                <p:cBhvr additive="repl">
                                  <p:cTn id="6" dur="500"/>
                                  <p:tgtEl>
                                    <p:spTgt spid="374"/>
                                  </p:tgtEl>
                                </p:cBhvr>
                              </p:animEffect>
                            </p:childTnLst>
                          </p:cTn>
                        </p:par>
                        <p:par>
                          <p:cTn id="7" presetID="10" presetClass="entr" fill="hold" nodeType="clickEffect">
                            <p:stCondLst>
                              <p:cond delay="0"/>
                            </p:stCondLst>
                            <p:childTnLst>
                              <p:set>
                                <p:cBhvr>
                                  <p:cTn id="8" dur="1" fill="hold">
                                    <p:stCondLst>
                                      <p:cond delay="0"/>
                                    </p:stCondLst>
                                  </p:cTn>
                                  <p:tgtEl>
                                    <p:spTgt spid="379"/>
                                  </p:tgtEl>
                                  <p:attrNameLst>
                                    <p:attrName>style.visibility</p:attrName>
                                  </p:attrNameLst>
                                </p:cBhvr>
                                <p:to>
                                  <p:strVal val="visible"/>
                                </p:to>
                              </p:set>
                              <p:animEffect transition="in" filter="fade">
                                <p:cBhvr additive="repl">
                                  <p:cTn id="9" dur="500"/>
                                  <p:tgtEl>
                                    <p:spTgt spid="379"/>
                                  </p:tgtEl>
                                </p:cBhvr>
                              </p:animEffect>
                            </p:childTnLst>
                          </p:cTn>
                        </p:par>
                        <p:par>
                          <p:cTn id="10" presetID="10" presetClass="entr" fill="hold" nodeType="clickEffect">
                            <p:stCondLst>
                              <p:cond delay="0"/>
                            </p:stCondLst>
                            <p:childTnLst>
                              <p:set>
                                <p:cBhvr>
                                  <p:cTn id="11" dur="1" fill="hold">
                                    <p:stCondLst>
                                      <p:cond delay="0"/>
                                    </p:stCondLst>
                                  </p:cTn>
                                  <p:tgtEl>
                                    <p:spTgt spid="376"/>
                                  </p:tgtEl>
                                  <p:attrNameLst>
                                    <p:attrName>style.visibility</p:attrName>
                                  </p:attrNameLst>
                                </p:cBhvr>
                                <p:to>
                                  <p:strVal val="visible"/>
                                </p:to>
                              </p:set>
                              <p:animEffect transition="in" filter="fade">
                                <p:cBhvr additive="repl">
                                  <p:cTn id="12" dur="500"/>
                                  <p:tgtEl>
                                    <p:spTgt spid="376"/>
                                  </p:tgtEl>
                                </p:cBhvr>
                              </p:animEffect>
                            </p:childTnLst>
                          </p:cTn>
                        </p:par>
                      </p:childTnLst>
                    </p:cTn>
                  </p:par>
                  <p:par>
                    <p:cTn id="13" fill="hold">
                      <p:stCondLst>
                        <p:cond delay="indefinite"/>
                      </p:stCondLst>
                      <p:childTnLst>
                        <p:par>
                          <p:cTn id="14" presetID="10" presetClass="entr" fill="hold" nodeType="clickEffect">
                            <p:stCondLst>
                              <p:cond delay="0"/>
                            </p:stCondLst>
                            <p:childTnLst>
                              <p:set>
                                <p:cBhvr>
                                  <p:cTn id="15" dur="1" fill="hold">
                                    <p:stCondLst>
                                      <p:cond delay="0"/>
                                    </p:stCondLst>
                                  </p:cTn>
                                  <p:tgtEl>
                                    <p:spTgt spid="375"/>
                                  </p:tgtEl>
                                  <p:attrNameLst>
                                    <p:attrName>style.visibility</p:attrName>
                                  </p:attrNameLst>
                                </p:cBhvr>
                                <p:to>
                                  <p:strVal val="visible"/>
                                </p:to>
                              </p:set>
                              <p:animEffect transition="in" filter="fade">
                                <p:cBhvr additive="repl">
                                  <p:cTn id="16" dur="500"/>
                                  <p:tgtEl>
                                    <p:spTgt spid="375"/>
                                  </p:tgtEl>
                                </p:cBhvr>
                              </p:animEffect>
                            </p:childTnLst>
                          </p:cTn>
                        </p:par>
                        <p:par>
                          <p:cTn id="17" presetID="10" presetClass="entr" fill="hold" nodeType="clickEffect">
                            <p:stCondLst>
                              <p:cond delay="0"/>
                            </p:stCondLst>
                            <p:childTnLst>
                              <p:set>
                                <p:cBhvr>
                                  <p:cTn id="18" dur="1" fill="hold">
                                    <p:stCondLst>
                                      <p:cond delay="0"/>
                                    </p:stCondLst>
                                  </p:cTn>
                                  <p:tgtEl>
                                    <p:spTgt spid="380"/>
                                  </p:tgtEl>
                                  <p:attrNameLst>
                                    <p:attrName>style.visibility</p:attrName>
                                  </p:attrNameLst>
                                </p:cBhvr>
                                <p:to>
                                  <p:strVal val="visible"/>
                                </p:to>
                              </p:set>
                              <p:animEffect transition="in" filter="fade">
                                <p:cBhvr additive="repl">
                                  <p:cTn id="19" dur="500"/>
                                  <p:tgtEl>
                                    <p:spTgt spid="380"/>
                                  </p:tgtEl>
                                </p:cBhvr>
                              </p:animEffect>
                            </p:childTnLst>
                          </p:cTn>
                        </p:par>
                        <p:par>
                          <p:cTn id="20" presetID="10" presetClass="entr" fill="hold" nodeType="clickEffect">
                            <p:stCondLst>
                              <p:cond delay="0"/>
                            </p:stCondLst>
                            <p:childTnLst>
                              <p:set>
                                <p:cBhvr>
                                  <p:cTn id="21" dur="1" fill="hold">
                                    <p:stCondLst>
                                      <p:cond delay="0"/>
                                    </p:stCondLst>
                                  </p:cTn>
                                  <p:tgtEl>
                                    <p:spTgt spid="381"/>
                                  </p:tgtEl>
                                  <p:attrNameLst>
                                    <p:attrName>style.visibility</p:attrName>
                                  </p:attrNameLst>
                                </p:cBhvr>
                                <p:to>
                                  <p:strVal val="visible"/>
                                </p:to>
                              </p:set>
                              <p:animEffect transition="in" filter="fade">
                                <p:cBhvr additive="repl">
                                  <p:cTn id="22" dur="500"/>
                                  <p:tgtEl>
                                    <p:spTgt spid="381"/>
                                  </p:tgtEl>
                                </p:cBhvr>
                              </p:animEffect>
                            </p:childTnLst>
                          </p:cTn>
                        </p:par>
                      </p:childTnLst>
                    </p:cTn>
                  </p:par>
                  <p:par>
                    <p:cTn id="23" fill="hold">
                      <p:stCondLst>
                        <p:cond delay="indefinite"/>
                      </p:stCondLst>
                      <p:childTnLst>
                        <p:par>
                          <p:cTn id="24" presetID="10" presetClass="entr" fill="hold" nodeType="clickEffect">
                            <p:stCondLst>
                              <p:cond delay="0"/>
                            </p:stCondLst>
                            <p:childTnLst>
                              <p:set>
                                <p:cBhvr>
                                  <p:cTn id="25" dur="1" fill="hold">
                                    <p:stCondLst>
                                      <p:cond delay="0"/>
                                    </p:stCondLst>
                                  </p:cTn>
                                  <p:tgtEl>
                                    <p:spTgt spid="377"/>
                                  </p:tgtEl>
                                  <p:attrNameLst>
                                    <p:attrName>style.visibility</p:attrName>
                                  </p:attrNameLst>
                                </p:cBhvr>
                                <p:to>
                                  <p:strVal val="visible"/>
                                </p:to>
                              </p:set>
                              <p:animEffect transition="in" filter="fade">
                                <p:cBhvr additive="repl">
                                  <p:cTn id="26" dur="500"/>
                                  <p:tgtEl>
                                    <p:spTgt spid="377"/>
                                  </p:tgtEl>
                                </p:cBhvr>
                              </p:animEffect>
                            </p:childTnLst>
                          </p:cTn>
                        </p:par>
                        <p:par>
                          <p:cTn id="27" presetID="10" presetClass="entr" fill="hold" nodeType="clickEffect">
                            <p:stCondLst>
                              <p:cond delay="0"/>
                            </p:stCondLst>
                            <p:childTnLst>
                              <p:set>
                                <p:cBhvr>
                                  <p:cTn id="28" dur="1" fill="hold">
                                    <p:stCondLst>
                                      <p:cond delay="0"/>
                                    </p:stCondLst>
                                  </p:cTn>
                                  <p:tgtEl>
                                    <p:spTgt spid="378"/>
                                  </p:tgtEl>
                                  <p:attrNameLst>
                                    <p:attrName>style.visibility</p:attrName>
                                  </p:attrNameLst>
                                </p:cBhvr>
                                <p:to>
                                  <p:strVal val="visible"/>
                                </p:to>
                              </p:set>
                              <p:animEffect transition="in" filter="fade">
                                <p:cBhvr additive="repl">
                                  <p:cTn id="29" dur="500"/>
                                  <p:tgtEl>
                                    <p:spTgt spid="378"/>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2"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383" name="Image 0" descr="/home/claude/pptx-build/assets/icons/FaUnlink-FFFFFF-200.png"/>
          <p:cNvPicPr/>
          <p:nvPr/>
        </p:nvPicPr>
        <p:blipFill>
          <a:blip r:embed="rId3"/>
          <a:stretch/>
        </p:blipFill>
        <p:spPr>
          <a:xfrm>
            <a:off x="685800" y="594360"/>
            <a:ext cx="292320" cy="292320"/>
          </a:xfrm>
          <a:prstGeom prst="rect">
            <a:avLst/>
          </a:prstGeom>
          <a:noFill/>
          <a:ln w="0">
            <a:noFill/>
          </a:ln>
        </p:spPr>
      </p:pic>
      <p:sp>
        <p:nvSpPr>
          <p:cNvPr id="384"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WATCH AS THE SCRUM MASTER APPROACHES CAREFULLY</a:t>
            </a:r>
            <a:endParaRPr lang="en-US" sz="1500" b="0" u="none" strike="noStrike">
              <a:solidFill>
                <a:srgbClr val="000000"/>
              </a:solidFill>
              <a:effectLst/>
              <a:uFillTx/>
              <a:latin typeface="Arial"/>
            </a:endParaRPr>
          </a:p>
        </p:txBody>
      </p:sp>
      <p:sp>
        <p:nvSpPr>
          <p:cNvPr id="385"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What You Lose Migrating Work Items</a:t>
            </a:r>
            <a:endParaRPr lang="en-US" sz="3200" b="0" u="none" strike="noStrike">
              <a:solidFill>
                <a:srgbClr val="000000"/>
              </a:solidFill>
              <a:effectLst/>
              <a:uFillTx/>
              <a:latin typeface="Arial"/>
            </a:endParaRPr>
          </a:p>
        </p:txBody>
      </p:sp>
      <p:sp>
        <p:nvSpPr>
          <p:cNvPr id="386" name="Shape 3"/>
          <p:cNvSpPr/>
          <p:nvPr/>
        </p:nvSpPr>
        <p:spPr>
          <a:xfrm>
            <a:off x="548640" y="1645920"/>
            <a:ext cx="11063880" cy="2925720"/>
          </a:xfrm>
          <a:prstGeom prst="roundRect">
            <a:avLst>
              <a:gd name="adj" fmla="val 375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87" name="Text 4"/>
          <p:cNvSpPr/>
          <p:nvPr/>
        </p:nvSpPr>
        <p:spPr>
          <a:xfrm>
            <a:off x="914400" y="1874520"/>
            <a:ext cx="10332360" cy="2559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343080" indent="-343080" defTabSz="914400">
              <a:lnSpc>
                <a:spcPct val="120000"/>
              </a:lnSpc>
              <a:spcAft>
                <a:spcPts val="1199"/>
              </a:spcAft>
              <a:buClr>
                <a:srgbClr val="2B2B2B"/>
              </a:buClr>
              <a:buFont typeface="Symbol" charset="2"/>
              <a:buChar char=""/>
            </a:pPr>
            <a:r>
              <a:rPr lang="en-US" sz="1800" b="0" u="none" strike="noStrike">
                <a:solidFill>
                  <a:srgbClr val="2B2B2B"/>
                </a:solidFill>
                <a:effectLst/>
                <a:uFillTx/>
                <a:latin typeface="Calibri"/>
                <a:ea typeface="Calibri"/>
              </a:rPr>
              <a:t>Sprint history and capacity data</a:t>
            </a:r>
            <a:endParaRPr lang="en-US" sz="1800" b="0" u="none" strike="noStrike">
              <a:solidFill>
                <a:srgbClr val="000000"/>
              </a:solidFill>
              <a:effectLst/>
              <a:uFillTx/>
              <a:latin typeface="Arial"/>
            </a:endParaRPr>
          </a:p>
          <a:p>
            <a:pPr marL="343080" indent="-343080" defTabSz="914400">
              <a:lnSpc>
                <a:spcPct val="120000"/>
              </a:lnSpc>
              <a:spcAft>
                <a:spcPts val="1199"/>
              </a:spcAft>
              <a:buClr>
                <a:srgbClr val="2B2B2B"/>
              </a:buClr>
              <a:buFont typeface="Symbol" charset="2"/>
              <a:buChar char=""/>
            </a:pPr>
            <a:r>
              <a:rPr lang="en-US" sz="1800" b="0" u="none" strike="noStrike">
                <a:solidFill>
                  <a:srgbClr val="2B2B2B"/>
                </a:solidFill>
                <a:effectLst/>
                <a:uFillTx/>
                <a:latin typeface="Calibri"/>
                <a:ea typeface="Calibri"/>
              </a:rPr>
              <a:t>Custom process fields and work-item rules</a:t>
            </a:r>
            <a:endParaRPr lang="en-US" sz="1800" b="0" u="none" strike="noStrike">
              <a:solidFill>
                <a:srgbClr val="000000"/>
              </a:solidFill>
              <a:effectLst/>
              <a:uFillTx/>
              <a:latin typeface="Arial"/>
            </a:endParaRPr>
          </a:p>
          <a:p>
            <a:pPr marL="343080" indent="-343080" defTabSz="914400">
              <a:lnSpc>
                <a:spcPct val="120000"/>
              </a:lnSpc>
              <a:spcAft>
                <a:spcPts val="1199"/>
              </a:spcAft>
              <a:buClr>
                <a:srgbClr val="2B2B2B"/>
              </a:buClr>
              <a:buFont typeface="Symbol" charset="2"/>
              <a:buChar char=""/>
            </a:pPr>
            <a:r>
              <a:rPr lang="en-US" sz="1800" b="0" u="none" strike="noStrike">
                <a:solidFill>
                  <a:srgbClr val="2B2B2B"/>
                </a:solidFill>
                <a:effectLst/>
                <a:uFillTx/>
                <a:latin typeface="Calibri"/>
                <a:ea typeface="Calibri"/>
              </a:rPr>
              <a:t>The process template itself: no Agile/Scrum/CMMI equivalent, no built-in capacity or burndown</a:t>
            </a:r>
            <a:endParaRPr lang="en-US" sz="1800" b="0" u="none" strike="noStrike">
              <a:solidFill>
                <a:srgbClr val="000000"/>
              </a:solidFill>
              <a:effectLst/>
              <a:uFillTx/>
              <a:latin typeface="Arial"/>
            </a:endParaRPr>
          </a:p>
          <a:p>
            <a:pPr marL="343080" indent="-343080" defTabSz="914400">
              <a:lnSpc>
                <a:spcPct val="120000"/>
              </a:lnSpc>
              <a:spcAft>
                <a:spcPts val="1199"/>
              </a:spcAft>
              <a:buClr>
                <a:srgbClr val="2B2B2B"/>
              </a:buClr>
              <a:buFont typeface="Symbol" charset="2"/>
              <a:buChar char=""/>
            </a:pPr>
            <a:r>
              <a:rPr lang="en-US" sz="1800" b="0" u="none" strike="noStrike">
                <a:solidFill>
                  <a:srgbClr val="2B2B2B"/>
                </a:solidFill>
                <a:effectLst/>
                <a:uFillTx/>
                <a:latin typeface="Calibri"/>
                <a:ea typeface="Calibri"/>
              </a:rPr>
              <a:t>The Project → Team → Area Path structure (parent–child links can map to sub-issues)</a:t>
            </a:r>
            <a:endParaRPr lang="en-US" sz="1800" b="0" u="none" strike="noStrike">
              <a:solidFill>
                <a:srgbClr val="000000"/>
              </a:solidFill>
              <a:effectLst/>
              <a:uFillTx/>
              <a:latin typeface="Arial"/>
            </a:endParaRPr>
          </a:p>
        </p:txBody>
      </p:sp>
      <p:sp>
        <p:nvSpPr>
          <p:cNvPr id="388" name="Shape 5"/>
          <p:cNvSpPr/>
          <p:nvPr/>
        </p:nvSpPr>
        <p:spPr>
          <a:xfrm>
            <a:off x="548640" y="4800600"/>
            <a:ext cx="11063880" cy="1508400"/>
          </a:xfrm>
          <a:prstGeom prst="roundRect">
            <a:avLst>
              <a:gd name="adj" fmla="val 12632"/>
            </a:avLst>
          </a:prstGeom>
          <a:solidFill>
            <a:srgbClr val="F7F6F2"/>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89" name="Text 6"/>
          <p:cNvSpPr/>
          <p:nvPr/>
        </p:nvSpPr>
        <p:spPr>
          <a:xfrm>
            <a:off x="548640" y="4800600"/>
            <a:ext cx="11063880" cy="150840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5000"/>
              </a:lnSpc>
              <a:tabLst>
                <a:tab pos="0" algn="l"/>
              </a:tabLst>
            </a:pPr>
            <a:r>
              <a:rPr lang="en-US" sz="1250" b="1" u="none" strike="noStrike" spc="119">
                <a:solidFill>
                  <a:srgbClr val="C1440E"/>
                </a:solidFill>
                <a:effectLst/>
                <a:uFillTx/>
                <a:latin typeface="Calibri"/>
              </a:rPr>
              <a:t>CAVEAT </a:t>
            </a:r>
            <a:r>
              <a:rPr lang="en-US" sz="1500" b="0" u="none" strike="noStrike">
                <a:solidFill>
                  <a:srgbClr val="2B2B2B"/>
                </a:solidFill>
                <a:effectLst/>
                <a:uFillTx/>
                <a:latin typeface="Calibri"/>
              </a:rPr>
              <a:t>There’s no first-party tool that moves Azure Boards work items into GitHub Issues, and the data models don’t line up. Budget real manual mapping: this is a project, not a script you run once.</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F26BFEEB-D18B-4BCD-ADDA-A94EE774AD48}" type="slidenum">
              <a:rPr/>
              <a:t>33</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388"/>
                                  </p:tgtEl>
                                  <p:attrNameLst>
                                    <p:attrName>style.visibility</p:attrName>
                                  </p:attrNameLst>
                                </p:cBhvr>
                                <p:to>
                                  <p:strVal val="visible"/>
                                </p:to>
                              </p:set>
                              <p:animEffect transition="in" filter="fade">
                                <p:cBhvr additive="repl">
                                  <p:cTn id="6" dur="500"/>
                                  <p:tgtEl>
                                    <p:spTgt spid="388"/>
                                  </p:tgtEl>
                                </p:cBhvr>
                              </p:animEffect>
                            </p:childTnLst>
                          </p:cTn>
                        </p:par>
                        <p:par>
                          <p:cTn id="7" presetID="10" presetClass="entr" fill="hold" nodeType="clickEffect">
                            <p:stCondLst>
                              <p:cond delay="0"/>
                            </p:stCondLst>
                            <p:childTnLst>
                              <p:set>
                                <p:cBhvr>
                                  <p:cTn id="8" dur="1" fill="hold">
                                    <p:stCondLst>
                                      <p:cond delay="0"/>
                                    </p:stCondLst>
                                  </p:cTn>
                                  <p:tgtEl>
                                    <p:spTgt spid="389"/>
                                  </p:tgtEl>
                                  <p:attrNameLst>
                                    <p:attrName>style.visibility</p:attrName>
                                  </p:attrNameLst>
                                </p:cBhvr>
                                <p:to>
                                  <p:strVal val="visible"/>
                                </p:to>
                              </p:set>
                              <p:animEffect transition="in" filter="fade">
                                <p:cBhvr additive="repl">
                                  <p:cTn id="9" dur="500"/>
                                  <p:tgtEl>
                                    <p:spTgt spid="38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0"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391" name="Image 0" descr="/home/claude/pptx-build/assets/icons/FaBan-FFFFFF-200.png"/>
          <p:cNvPicPr/>
          <p:nvPr/>
        </p:nvPicPr>
        <p:blipFill>
          <a:blip r:embed="rId3"/>
          <a:stretch/>
        </p:blipFill>
        <p:spPr>
          <a:xfrm>
            <a:off x="685800" y="594360"/>
            <a:ext cx="292320" cy="292320"/>
          </a:xfrm>
          <a:prstGeom prst="rect">
            <a:avLst/>
          </a:prstGeom>
          <a:noFill/>
          <a:ln w="0">
            <a:noFill/>
          </a:ln>
        </p:spPr>
      </p:pic>
      <p:sp>
        <p:nvSpPr>
          <p:cNvPr id="392"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WATCH AS THE SCRUM MASTER APPROACHES CAREFULLY</a:t>
            </a:r>
            <a:endParaRPr lang="en-US" sz="1500" b="0" u="none" strike="noStrike">
              <a:solidFill>
                <a:srgbClr val="000000"/>
              </a:solidFill>
              <a:effectLst/>
              <a:uFillTx/>
              <a:latin typeface="Arial"/>
            </a:endParaRPr>
          </a:p>
        </p:txBody>
      </p:sp>
      <p:sp>
        <p:nvSpPr>
          <p:cNvPr id="393"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Test Plans: Stays Behind</a:t>
            </a:r>
            <a:endParaRPr lang="en-US" sz="3200" b="0" u="none" strike="noStrike">
              <a:solidFill>
                <a:srgbClr val="000000"/>
              </a:solidFill>
              <a:effectLst/>
              <a:uFillTx/>
              <a:latin typeface="Arial"/>
            </a:endParaRPr>
          </a:p>
        </p:txBody>
      </p:sp>
      <p:sp>
        <p:nvSpPr>
          <p:cNvPr id="394" name="Shape 3"/>
          <p:cNvSpPr/>
          <p:nvPr/>
        </p:nvSpPr>
        <p:spPr>
          <a:xfrm>
            <a:off x="548640" y="1691640"/>
            <a:ext cx="11063880" cy="2011320"/>
          </a:xfrm>
          <a:prstGeom prst="roundRect">
            <a:avLst>
              <a:gd name="adj" fmla="val 5455"/>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95" name="Text 4"/>
          <p:cNvSpPr/>
          <p:nvPr/>
        </p:nvSpPr>
        <p:spPr>
          <a:xfrm>
            <a:off x="822960" y="1965960"/>
            <a:ext cx="1051524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F5F5F0"/>
                </a:solidFill>
                <a:effectLst/>
                <a:uFillTx/>
                <a:latin typeface="Cambria"/>
                <a:ea typeface="Cambria"/>
              </a:rPr>
              <a:t>No GitHub equivalent. Full stop.</a:t>
            </a:r>
            <a:endParaRPr lang="en-US" sz="3000" b="0" u="none" strike="noStrike">
              <a:solidFill>
                <a:srgbClr val="000000"/>
              </a:solidFill>
              <a:effectLst/>
              <a:uFillTx/>
              <a:latin typeface="Arial"/>
            </a:endParaRPr>
          </a:p>
        </p:txBody>
      </p:sp>
      <p:sp>
        <p:nvSpPr>
          <p:cNvPr id="396" name="Text 5"/>
          <p:cNvSpPr/>
          <p:nvPr/>
        </p:nvSpPr>
        <p:spPr>
          <a:xfrm>
            <a:off x="822960" y="2788920"/>
            <a:ext cx="1051524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0" u="none" strike="noStrike">
                <a:solidFill>
                  <a:srgbClr val="E0B85C"/>
                </a:solidFill>
                <a:effectLst/>
                <a:uFillTx/>
                <a:latin typeface="Calibri"/>
                <a:ea typeface="Calibri"/>
              </a:rPr>
              <a:t>No native GitHub Projects or Issues equivalent for structured manual and exploratory testing.</a:t>
            </a:r>
            <a:endParaRPr lang="en-US" sz="1600" b="0" u="none" strike="noStrike">
              <a:solidFill>
                <a:srgbClr val="000000"/>
              </a:solidFill>
              <a:effectLst/>
              <a:uFillTx/>
              <a:latin typeface="Arial"/>
            </a:endParaRPr>
          </a:p>
        </p:txBody>
      </p:sp>
      <p:sp>
        <p:nvSpPr>
          <p:cNvPr id="397" name="Shape 6"/>
          <p:cNvSpPr/>
          <p:nvPr/>
        </p:nvSpPr>
        <p:spPr>
          <a:xfrm>
            <a:off x="548640" y="4069080"/>
            <a:ext cx="11063880" cy="1371240"/>
          </a:xfrm>
          <a:prstGeom prst="roundRect">
            <a:avLst>
              <a:gd name="adj" fmla="val 80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398" name="Text 7"/>
          <p:cNvSpPr/>
          <p:nvPr/>
        </p:nvSpPr>
        <p:spPr>
          <a:xfrm>
            <a:off x="822960" y="4206240"/>
            <a:ext cx="10515240" cy="1096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0" u="none" strike="noStrike">
                <a:solidFill>
                  <a:srgbClr val="2B2B2B"/>
                </a:solidFill>
                <a:effectLst/>
                <a:uFillTx/>
                <a:latin typeface="Calibri"/>
                <a:ea typeface="Calibri"/>
              </a:rPr>
              <a:t>In a regulated environment, this alone can be a reason to keep Azure DevOps in the picture.</a:t>
            </a:r>
            <a:endParaRPr lang="en-US" sz="1800" b="0" u="none" strike="noStrike">
              <a:solidFill>
                <a:srgbClr val="000000"/>
              </a:solidFill>
              <a:effectLst/>
              <a:uFillTx/>
              <a:latin typeface="Arial"/>
            </a:endParaRPr>
          </a:p>
        </p:txBody>
      </p:sp>
      <p:sp>
        <p:nvSpPr>
          <p:cNvPr id="399" name="Rounded Rectangle 11"/>
          <p:cNvSpPr/>
          <p:nvPr/>
        </p:nvSpPr>
        <p:spPr>
          <a:xfrm>
            <a:off x="548640" y="5568840"/>
            <a:ext cx="11063880" cy="85932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400" name="Text 8"/>
          <p:cNvSpPr/>
          <p:nvPr/>
        </p:nvSpPr>
        <p:spPr>
          <a:xfrm>
            <a:off x="548640" y="5568840"/>
            <a:ext cx="11063880" cy="859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Sometimes “it doesn’t move, and that’s fine” is the honest answer.</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DF148B03-2D7E-42D6-BBF5-E8476C057DCE}" type="slidenum">
              <a:rPr/>
              <a:t>34</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400"/>
                                  </p:tgtEl>
                                  <p:attrNameLst>
                                    <p:attrName>style.visibility</p:attrName>
                                  </p:attrNameLst>
                                </p:cBhvr>
                                <p:to>
                                  <p:strVal val="visible"/>
                                </p:to>
                              </p:set>
                              <p:animEffect transition="in" filter="fade">
                                <p:cBhvr additive="repl">
                                  <p:cTn id="6" dur="500"/>
                                  <p:tgtEl>
                                    <p:spTgt spid="400"/>
                                  </p:tgtEl>
                                </p:cBhvr>
                              </p:animEffect>
                            </p:childTnLst>
                          </p:cTn>
                        </p:par>
                        <p:par>
                          <p:cTn id="7" presetID="10" presetClass="entr" fill="hold" nodeType="clickEffect">
                            <p:stCondLst>
                              <p:cond delay="0"/>
                            </p:stCondLst>
                            <p:childTnLst>
                              <p:set>
                                <p:cBhvr>
                                  <p:cTn id="8" dur="1" fill="hold">
                                    <p:stCondLst>
                                      <p:cond delay="0"/>
                                    </p:stCondLst>
                                  </p:cTn>
                                  <p:tgtEl>
                                    <p:spTgt spid="399"/>
                                  </p:tgtEl>
                                  <p:attrNameLst>
                                    <p:attrName>style.visibility</p:attrName>
                                  </p:attrNameLst>
                                </p:cBhvr>
                                <p:to>
                                  <p:strVal val="visible"/>
                                </p:to>
                              </p:set>
                              <p:animEffect transition="in" filter="fade">
                                <p:cBhvr additive="repl">
                                  <p:cTn id="9" dur="500"/>
                                  <p:tgtEl>
                                    <p:spTgt spid="39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1"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402" name="Image 0" descr="/home/claude/pptx-build/assets/icons/FaLink-FFFFFF-200.png"/>
          <p:cNvPicPr/>
          <p:nvPr/>
        </p:nvPicPr>
        <p:blipFill>
          <a:blip r:embed="rId3"/>
          <a:stretch/>
        </p:blipFill>
        <p:spPr>
          <a:xfrm>
            <a:off x="685800" y="594360"/>
            <a:ext cx="292320" cy="292320"/>
          </a:xfrm>
          <a:prstGeom prst="rect">
            <a:avLst/>
          </a:prstGeom>
          <a:noFill/>
          <a:ln w="0">
            <a:noFill/>
          </a:ln>
        </p:spPr>
      </p:pic>
      <p:sp>
        <p:nvSpPr>
          <p:cNvPr id="403"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WATCH AS THE SCRUM MASTER APPROACHES CAREFULLY</a:t>
            </a:r>
            <a:endParaRPr lang="en-US" sz="1500" b="0" u="none" strike="noStrike">
              <a:solidFill>
                <a:srgbClr val="000000"/>
              </a:solidFill>
              <a:effectLst/>
              <a:uFillTx/>
              <a:latin typeface="Arial"/>
            </a:endParaRPr>
          </a:p>
        </p:txBody>
      </p:sp>
      <p:sp>
        <p:nvSpPr>
          <p:cNvPr id="404" name="Text 2"/>
          <p:cNvSpPr/>
          <p:nvPr/>
        </p:nvSpPr>
        <p:spPr>
          <a:xfrm>
            <a:off x="1234440" y="804600"/>
            <a:ext cx="1051524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800" b="1" u="none" strike="noStrike">
                <a:solidFill>
                  <a:srgbClr val="1F3D2C"/>
                </a:solidFill>
                <a:effectLst/>
                <a:uFillTx/>
                <a:latin typeface="Cambria"/>
                <a:ea typeface="Cambria"/>
              </a:rPr>
              <a:t>Recommendation: Connect Boards, Don’t Migrate Work Items</a:t>
            </a:r>
            <a:endParaRPr lang="en-US" sz="2800" b="0" u="none" strike="noStrike">
              <a:solidFill>
                <a:srgbClr val="000000"/>
              </a:solidFill>
              <a:effectLst/>
              <a:uFillTx/>
              <a:latin typeface="Arial"/>
            </a:endParaRPr>
          </a:p>
        </p:txBody>
      </p:sp>
      <p:sp>
        <p:nvSpPr>
          <p:cNvPr id="405" name="Text 3"/>
          <p:cNvSpPr/>
          <p:nvPr/>
        </p:nvSpPr>
        <p:spPr>
          <a:xfrm>
            <a:off x="548640" y="1600200"/>
            <a:ext cx="1106388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1F3D2C"/>
                </a:solidFill>
                <a:effectLst/>
                <a:uFillTx/>
                <a:latin typeface="Cambria"/>
                <a:ea typeface="Cambria"/>
              </a:rPr>
              <a:t>Connect Boards to GitHub; migrate work items only if planning is simple.</a:t>
            </a:r>
            <a:endParaRPr lang="en-US" sz="2100" b="0" u="none" strike="noStrike">
              <a:solidFill>
                <a:srgbClr val="000000"/>
              </a:solidFill>
              <a:effectLst/>
              <a:uFillTx/>
              <a:latin typeface="Arial"/>
            </a:endParaRPr>
          </a:p>
        </p:txBody>
      </p:sp>
      <p:sp>
        <p:nvSpPr>
          <p:cNvPr id="406" name="Shape 4"/>
          <p:cNvSpPr/>
          <p:nvPr/>
        </p:nvSpPr>
        <p:spPr>
          <a:xfrm>
            <a:off x="548640" y="2377440"/>
            <a:ext cx="5348880" cy="2605680"/>
          </a:xfrm>
          <a:prstGeom prst="roundRect">
            <a:avLst>
              <a:gd name="adj" fmla="val 4211"/>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07" name="Text 5"/>
          <p:cNvSpPr/>
          <p:nvPr/>
        </p:nvSpPr>
        <p:spPr>
          <a:xfrm>
            <a:off x="822960" y="2560320"/>
            <a:ext cx="48002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F5F5F0"/>
                </a:solidFill>
                <a:effectLst/>
                <a:uFillTx/>
                <a:latin typeface="Cambria"/>
                <a:ea typeface="Cambria"/>
              </a:rPr>
              <a:t>Developers</a:t>
            </a:r>
            <a:endParaRPr lang="en-US" sz="2100" b="0" u="none" strike="noStrike">
              <a:solidFill>
                <a:srgbClr val="000000"/>
              </a:solidFill>
              <a:effectLst/>
              <a:uFillTx/>
              <a:latin typeface="Arial"/>
            </a:endParaRPr>
          </a:p>
        </p:txBody>
      </p:sp>
      <p:sp>
        <p:nvSpPr>
          <p:cNvPr id="408" name="Text 6"/>
          <p:cNvSpPr/>
          <p:nvPr/>
        </p:nvSpPr>
        <p:spPr>
          <a:xfrm>
            <a:off x="822960" y="3127320"/>
            <a:ext cx="480024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tabLst>
                <a:tab pos="0" algn="l"/>
              </a:tabLst>
            </a:pPr>
            <a:r>
              <a:rPr lang="en-US" sz="1700" b="0" u="none" strike="noStrike">
                <a:solidFill>
                  <a:srgbClr val="F5F5F0"/>
                </a:solidFill>
                <a:effectLst/>
                <a:uFillTx/>
                <a:latin typeface="Calibri"/>
                <a:ea typeface="Calibri"/>
              </a:rPr>
              <a:t>Work in GitHub — code, PRs, and Copilot, right next to the issues that matter to them.</a:t>
            </a:r>
            <a:endParaRPr lang="en-US" sz="1700" b="0" u="none" strike="noStrike">
              <a:solidFill>
                <a:srgbClr val="000000"/>
              </a:solidFill>
              <a:effectLst/>
              <a:uFillTx/>
              <a:latin typeface="Arial"/>
            </a:endParaRPr>
          </a:p>
        </p:txBody>
      </p:sp>
      <p:sp>
        <p:nvSpPr>
          <p:cNvPr id="409" name="Shape 7"/>
          <p:cNvSpPr/>
          <p:nvPr/>
        </p:nvSpPr>
        <p:spPr>
          <a:xfrm>
            <a:off x="6172200" y="2377440"/>
            <a:ext cx="5348880" cy="2605680"/>
          </a:xfrm>
          <a:prstGeom prst="roundRect">
            <a:avLst>
              <a:gd name="adj" fmla="val 4211"/>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10" name="Text 8"/>
          <p:cNvSpPr/>
          <p:nvPr/>
        </p:nvSpPr>
        <p:spPr>
          <a:xfrm>
            <a:off x="6446520" y="2560320"/>
            <a:ext cx="48002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1F3D2C"/>
                </a:solidFill>
                <a:effectLst/>
                <a:uFillTx/>
                <a:latin typeface="Cambria"/>
                <a:ea typeface="Cambria"/>
              </a:rPr>
              <a:t>Managers</a:t>
            </a:r>
            <a:endParaRPr lang="en-US" sz="2100" b="0" u="none" strike="noStrike">
              <a:solidFill>
                <a:srgbClr val="000000"/>
              </a:solidFill>
              <a:effectLst/>
              <a:uFillTx/>
              <a:latin typeface="Arial"/>
            </a:endParaRPr>
          </a:p>
        </p:txBody>
      </p:sp>
      <p:sp>
        <p:nvSpPr>
          <p:cNvPr id="411" name="Text 9"/>
          <p:cNvSpPr/>
          <p:nvPr/>
        </p:nvSpPr>
        <p:spPr>
          <a:xfrm>
            <a:off x="6446520" y="3127320"/>
            <a:ext cx="480024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tabLst>
                <a:tab pos="0" algn="l"/>
              </a:tabLst>
            </a:pPr>
            <a:r>
              <a:rPr lang="en-US" sz="1700" b="0" u="none" strike="noStrike">
                <a:solidFill>
                  <a:srgbClr val="2B2B2B"/>
                </a:solidFill>
                <a:effectLst/>
                <a:uFillTx/>
                <a:latin typeface="Calibri"/>
                <a:ea typeface="Calibri"/>
              </a:rPr>
              <a:t>Keep the sprint hub, capacity charts, and Power BI reporting exactly where they already are.</a:t>
            </a:r>
            <a:endParaRPr lang="en-US" sz="1700" b="0" u="none" strike="noStrike">
              <a:solidFill>
                <a:srgbClr val="000000"/>
              </a:solidFill>
              <a:effectLst/>
              <a:uFillTx/>
              <a:latin typeface="Arial"/>
            </a:endParaRPr>
          </a:p>
        </p:txBody>
      </p:sp>
      <p:sp>
        <p:nvSpPr>
          <p:cNvPr id="412" name="Rounded Rectangle 13"/>
          <p:cNvSpPr/>
          <p:nvPr/>
        </p:nvSpPr>
        <p:spPr>
          <a:xfrm>
            <a:off x="548640" y="5111640"/>
            <a:ext cx="11063880" cy="90504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413" name="Text 10"/>
          <p:cNvSpPr/>
          <p:nvPr/>
        </p:nvSpPr>
        <p:spPr>
          <a:xfrm>
            <a:off x="548640" y="5111640"/>
            <a:ext cx="11063880" cy="90504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Not “Azure Boards forever”: just don’t default to GitHub Issues because the code moved. Where you plan work is a separate decision from where the code lives.</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7E00179F-217E-471C-AC71-A7790DD8B839}" type="slidenum">
              <a:rPr/>
              <a:t>35</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413"/>
                                  </p:tgtEl>
                                  <p:attrNameLst>
                                    <p:attrName>style.visibility</p:attrName>
                                  </p:attrNameLst>
                                </p:cBhvr>
                                <p:to>
                                  <p:strVal val="visible"/>
                                </p:to>
                              </p:set>
                              <p:animEffect transition="in" filter="fade">
                                <p:cBhvr additive="repl">
                                  <p:cTn id="6" dur="500"/>
                                  <p:tgtEl>
                                    <p:spTgt spid="413"/>
                                  </p:tgtEl>
                                </p:cBhvr>
                              </p:animEffect>
                            </p:childTnLst>
                          </p:cTn>
                        </p:par>
                        <p:par>
                          <p:cTn id="7" presetID="10" presetClass="entr" fill="hold" nodeType="clickEffect">
                            <p:stCondLst>
                              <p:cond delay="0"/>
                            </p:stCondLst>
                            <p:childTnLst>
                              <p:set>
                                <p:cBhvr>
                                  <p:cTn id="8" dur="1" fill="hold">
                                    <p:stCondLst>
                                      <p:cond delay="0"/>
                                    </p:stCondLst>
                                  </p:cTn>
                                  <p:tgtEl>
                                    <p:spTgt spid="412"/>
                                  </p:tgtEl>
                                  <p:attrNameLst>
                                    <p:attrName>style.visibility</p:attrName>
                                  </p:attrNameLst>
                                </p:cBhvr>
                                <p:to>
                                  <p:strVal val="visible"/>
                                </p:to>
                              </p:set>
                              <p:animEffect transition="in" filter="fade">
                                <p:cBhvr additive="repl">
                                  <p:cTn id="9" dur="500"/>
                                  <p:tgtEl>
                                    <p:spTgt spid="412"/>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414" name="Text 0"/>
          <p:cNvSpPr/>
          <p:nvPr/>
        </p:nvSpPr>
        <p:spPr>
          <a:xfrm>
            <a:off x="548640" y="2651760"/>
            <a:ext cx="1106388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200" b="1" u="none" strike="noStrike">
                <a:solidFill>
                  <a:srgbClr val="F5F5F0"/>
                </a:solidFill>
                <a:effectLst/>
                <a:uFillTx/>
                <a:latin typeface="Cambria"/>
                <a:ea typeface="Cambria"/>
              </a:rPr>
              <a:t>Q&amp;A POCKET</a:t>
            </a:r>
            <a:endParaRPr lang="en-US" sz="4200" b="0" u="none" strike="noStrike">
              <a:solidFill>
                <a:srgbClr val="FFFFFF"/>
              </a:solidFill>
              <a:effectLst/>
              <a:uFillTx/>
              <a:latin typeface="Arial"/>
            </a:endParaRPr>
          </a:p>
        </p:txBody>
      </p:sp>
      <p:sp>
        <p:nvSpPr>
          <p:cNvPr id="415" name="Text 1"/>
          <p:cNvSpPr/>
          <p:nvPr/>
        </p:nvSpPr>
        <p:spPr>
          <a:xfrm>
            <a:off x="548640" y="3703320"/>
            <a:ext cx="1106388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0" i="1" u="none" strike="noStrike">
                <a:solidFill>
                  <a:srgbClr val="E0B85C"/>
                </a:solidFill>
                <a:effectLst/>
                <a:uFillTx/>
                <a:latin typeface="Calibri"/>
                <a:ea typeface="Calibri"/>
              </a:rPr>
              <a:t>One quick question before we leave Section 4 — Watch as the Scrum Master Approaches Carefully</a:t>
            </a:r>
            <a:endParaRPr lang="en-US" sz="1900" b="0" u="none" strike="noStrike">
              <a:solidFill>
                <a:srgbClr val="FFFFFF"/>
              </a:solidFill>
              <a:effectLst/>
              <a:uFillTx/>
              <a:latin typeface="Arial"/>
            </a:endParaRPr>
          </a:p>
        </p:txBody>
      </p:sp>
      <p:sp>
        <p:nvSpPr>
          <p:cNvPr id="416" name="PlaceHolder 1"/>
          <p:cNvSpPr>
            <a:spLocks noGrp="1"/>
          </p:cNvSpPr>
          <p:nvPr>
            <p:ph type="sldNum" idx="12"/>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5EAC22EA-5EF3-421C-8727-CD201A5CC37B}" type="slidenum">
              <a:rPr lang="en-US" sz="1000" b="0" u="none" strike="noStrike">
                <a:solidFill>
                  <a:srgbClr val="E0B85C"/>
                </a:solidFill>
                <a:effectLst/>
                <a:uFillTx/>
                <a:latin typeface="Calibri"/>
              </a:rPr>
              <a:t>36</a:t>
            </a:fld>
            <a:endParaRPr lang="en-US" sz="1000" b="0" u="none" strike="noStrike">
              <a:solidFill>
                <a:srgbClr val="FFFFFF"/>
              </a:solidFill>
              <a:effectLst/>
              <a:uFillTx/>
              <a:latin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417" name="Shape 0"/>
          <p:cNvSpPr/>
          <p:nvPr/>
        </p:nvSpPr>
        <p:spPr>
          <a:xfrm>
            <a:off x="0" y="0"/>
            <a:ext cx="12191400" cy="1234080"/>
          </a:xfrm>
          <a:prstGeom prst="rect">
            <a:avLst/>
          </a:prstGeom>
          <a:solidFill>
            <a:srgbClr val="142A1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18" name="Text 1"/>
          <p:cNvSpPr/>
          <p:nvPr/>
        </p:nvSpPr>
        <p:spPr>
          <a:xfrm>
            <a:off x="548640" y="365760"/>
            <a:ext cx="91436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spc="300">
                <a:solidFill>
                  <a:srgbClr val="E0B85C"/>
                </a:solidFill>
                <a:effectLst/>
                <a:uFillTx/>
                <a:latin typeface="Calibri"/>
                <a:ea typeface="Calibri"/>
              </a:rPr>
              <a:t>SECTION 5</a:t>
            </a:r>
            <a:endParaRPr lang="en-US" sz="1700" b="0" u="none" strike="noStrike">
              <a:solidFill>
                <a:srgbClr val="FFFFFF"/>
              </a:solidFill>
              <a:effectLst/>
              <a:uFillTx/>
              <a:latin typeface="Arial"/>
            </a:endParaRPr>
          </a:p>
        </p:txBody>
      </p:sp>
      <p:pic>
        <p:nvPicPr>
          <p:cNvPr id="419" name="Image 0" descr="/home/claude/pptx-build/assets/icons/FaShieldAlt-8C6A3F-300.png"/>
          <p:cNvPicPr/>
          <p:nvPr/>
        </p:nvPicPr>
        <p:blipFill>
          <a:blip r:embed="rId3">
            <a:alphaModFix amt="85000"/>
          </a:blip>
          <a:stretch/>
        </p:blipFill>
        <p:spPr>
          <a:xfrm>
            <a:off x="9692640" y="2194560"/>
            <a:ext cx="1462680" cy="1462680"/>
          </a:xfrm>
          <a:prstGeom prst="rect">
            <a:avLst/>
          </a:prstGeom>
          <a:noFill/>
          <a:ln w="0">
            <a:noFill/>
          </a:ln>
        </p:spPr>
      </p:pic>
      <p:sp>
        <p:nvSpPr>
          <p:cNvPr id="420" name="Text 2"/>
          <p:cNvSpPr/>
          <p:nvPr/>
        </p:nvSpPr>
        <p:spPr>
          <a:xfrm>
            <a:off x="548640" y="2331720"/>
            <a:ext cx="877788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4400" b="1" u="none" strike="noStrike">
                <a:solidFill>
                  <a:srgbClr val="F5F5F0"/>
                </a:solidFill>
                <a:effectLst/>
                <a:uFillTx/>
                <a:latin typeface="Cambria"/>
                <a:ea typeface="Cambria"/>
              </a:rPr>
              <a:t>The Senior Engineer Defends an Ancient Pipeline</a:t>
            </a:r>
            <a:endParaRPr lang="en-US" sz="4400" b="0" u="none" strike="noStrike">
              <a:solidFill>
                <a:srgbClr val="FFFFFF"/>
              </a:solidFill>
              <a:effectLst/>
              <a:uFillTx/>
              <a:latin typeface="Arial"/>
            </a:endParaRPr>
          </a:p>
        </p:txBody>
      </p:sp>
      <p:sp>
        <p:nvSpPr>
          <p:cNvPr id="421" name="Text 3"/>
          <p:cNvSpPr/>
          <p:nvPr/>
        </p:nvSpPr>
        <p:spPr>
          <a:xfrm>
            <a:off x="548640" y="4160520"/>
            <a:ext cx="8777880" cy="123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0" i="1" u="none" strike="noStrike">
                <a:solidFill>
                  <a:srgbClr val="E0B85C"/>
                </a:solidFill>
                <a:effectLst/>
                <a:uFillTx/>
                <a:latin typeface="Calibri"/>
                <a:ea typeface="Calibri"/>
              </a:rPr>
              <a:t>It has survived three reorgs, two failed migrations, and one engineer who swore they’d rewrite it “this quarter.” It is loved. It is also the reason nothing else can change.</a:t>
            </a:r>
            <a:endParaRPr lang="en-US" sz="2000" b="0" u="none" strike="noStrike">
              <a:solidFill>
                <a:srgbClr val="FFFFFF"/>
              </a:solidFill>
              <a:effectLst/>
              <a:uFillTx/>
              <a:latin typeface="Arial"/>
            </a:endParaRPr>
          </a:p>
        </p:txBody>
      </p:sp>
      <p:sp>
        <p:nvSpPr>
          <p:cNvPr id="422" name="Shape 4"/>
          <p:cNvSpPr/>
          <p:nvPr/>
        </p:nvSpPr>
        <p:spPr>
          <a:xfrm>
            <a:off x="548640" y="6217920"/>
            <a:ext cx="11064240" cy="360"/>
          </a:xfrm>
          <a:prstGeom prst="line">
            <a:avLst/>
          </a:prstGeom>
          <a:ln w="9525">
            <a:solidFill>
              <a:srgbClr val="8C6A3F"/>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423" name="PlaceHolder 1"/>
          <p:cNvSpPr>
            <a:spLocks noGrp="1"/>
          </p:cNvSpPr>
          <p:nvPr>
            <p:ph type="sldNum" idx="13"/>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A5D7E9E2-D7F9-4FB9-93B2-BD82A2315F1A}" type="slidenum">
              <a:rPr lang="en-US" sz="1000" b="0" u="none" strike="noStrike">
                <a:solidFill>
                  <a:srgbClr val="E0B85C"/>
                </a:solidFill>
                <a:effectLst/>
                <a:uFillTx/>
                <a:latin typeface="Calibri"/>
              </a:rPr>
              <a:t>37</a:t>
            </a:fld>
            <a:endParaRPr lang="en-US" sz="1000" b="0" u="none" strike="noStrike">
              <a:solidFill>
                <a:srgbClr val="FFFFFF"/>
              </a:solidFill>
              <a:effectLst/>
              <a:uFillTx/>
              <a:latin typeface="Times New Roman"/>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4"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425" name="Image 0" descr="/home/claude/pptx-build/assets/icons/FaTheaterMasks-FFFFFF-200.png"/>
          <p:cNvPicPr/>
          <p:nvPr/>
        </p:nvPicPr>
        <p:blipFill>
          <a:blip r:embed="rId3"/>
          <a:stretch/>
        </p:blipFill>
        <p:spPr>
          <a:xfrm>
            <a:off x="685800" y="594360"/>
            <a:ext cx="292320" cy="292320"/>
          </a:xfrm>
          <a:prstGeom prst="rect">
            <a:avLst/>
          </a:prstGeom>
          <a:noFill/>
          <a:ln w="0">
            <a:noFill/>
          </a:ln>
        </p:spPr>
      </p:pic>
      <p:sp>
        <p:nvSpPr>
          <p:cNvPr id="426"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SENIOR ENGINEER DEFENDS AN ANCIENT PIPELINE</a:t>
            </a:r>
            <a:endParaRPr lang="en-US" sz="1500" b="0" u="none" strike="noStrike">
              <a:solidFill>
                <a:srgbClr val="000000"/>
              </a:solidFill>
              <a:effectLst/>
              <a:uFillTx/>
              <a:latin typeface="Arial"/>
            </a:endParaRPr>
          </a:p>
        </p:txBody>
      </p:sp>
      <p:sp>
        <p:nvSpPr>
          <p:cNvPr id="427" name="Text 2"/>
          <p:cNvSpPr/>
          <p:nvPr/>
        </p:nvSpPr>
        <p:spPr>
          <a:xfrm>
            <a:off x="1234440" y="804600"/>
            <a:ext cx="1051524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800" b="1" u="none" strike="noStrike">
                <a:solidFill>
                  <a:srgbClr val="1F3D2C"/>
                </a:solidFill>
                <a:effectLst/>
                <a:uFillTx/>
                <a:latin typeface="Cambria"/>
                <a:ea typeface="Cambria"/>
              </a:rPr>
              <a:t>This Is Change Management Wearing an Engineering Costume</a:t>
            </a:r>
            <a:endParaRPr lang="en-US" sz="2800" b="0" u="none" strike="noStrike">
              <a:solidFill>
                <a:srgbClr val="000000"/>
              </a:solidFill>
              <a:effectLst/>
              <a:uFillTx/>
              <a:latin typeface="Arial"/>
            </a:endParaRPr>
          </a:p>
        </p:txBody>
      </p:sp>
      <p:sp>
        <p:nvSpPr>
          <p:cNvPr id="428" name="Shape 3"/>
          <p:cNvSpPr/>
          <p:nvPr/>
        </p:nvSpPr>
        <p:spPr>
          <a:xfrm>
            <a:off x="548640" y="1691640"/>
            <a:ext cx="11063880" cy="1919880"/>
          </a:xfrm>
          <a:prstGeom prst="roundRect">
            <a:avLst>
              <a:gd name="adj" fmla="val 5714"/>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29" name="Text 4"/>
          <p:cNvSpPr/>
          <p:nvPr/>
        </p:nvSpPr>
        <p:spPr>
          <a:xfrm>
            <a:off x="822960" y="1874520"/>
            <a:ext cx="10515240" cy="155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5000"/>
              </a:lnSpc>
              <a:tabLst>
                <a:tab pos="0" algn="l"/>
              </a:tabLst>
            </a:pPr>
            <a:r>
              <a:rPr lang="en-US" sz="2000" b="1" u="none" strike="noStrike">
                <a:solidFill>
                  <a:srgbClr val="2B2B2B"/>
                </a:solidFill>
                <a:effectLst/>
                <a:uFillTx/>
                <a:latin typeface="Calibri"/>
                <a:ea typeface="Calibri"/>
              </a:rPr>
              <a:t>Most migrations that fail don’t fail in the converter. </a:t>
            </a:r>
            <a:r>
              <a:rPr lang="en-US" sz="2000" b="0" u="none" strike="noStrike">
                <a:solidFill>
                  <a:srgbClr val="2B2B2B"/>
                </a:solidFill>
                <a:effectLst/>
                <a:uFillTx/>
                <a:latin typeface="Calibri"/>
                <a:ea typeface="Calibri"/>
              </a:rPr>
              <a:t>The tooling almost always works. What breaks is everything around it, starting with the people.</a:t>
            </a:r>
            <a:endParaRPr lang="en-US" sz="2000" b="0" u="none" strike="noStrike">
              <a:solidFill>
                <a:srgbClr val="000000"/>
              </a:solidFill>
              <a:effectLst/>
              <a:uFillTx/>
              <a:latin typeface="Arial"/>
            </a:endParaRPr>
          </a:p>
        </p:txBody>
      </p:sp>
      <p:sp>
        <p:nvSpPr>
          <p:cNvPr id="430" name="Shape 5"/>
          <p:cNvSpPr/>
          <p:nvPr/>
        </p:nvSpPr>
        <p:spPr>
          <a:xfrm>
            <a:off x="548640" y="3886200"/>
            <a:ext cx="11063880" cy="776880"/>
          </a:xfrm>
          <a:prstGeom prst="roundRect">
            <a:avLst>
              <a:gd name="adj" fmla="val 14118"/>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31" name="Text 6"/>
          <p:cNvSpPr/>
          <p:nvPr/>
        </p:nvSpPr>
        <p:spPr>
          <a:xfrm>
            <a:off x="822960" y="4005000"/>
            <a:ext cx="1051524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F5F5F0"/>
                </a:solidFill>
                <a:effectLst/>
                <a:uFillTx/>
                <a:latin typeface="Calibri"/>
                <a:ea typeface="Calibri"/>
              </a:rPr>
              <a:t>No real selection process — the tool got picked, not evaluated</a:t>
            </a:r>
            <a:endParaRPr lang="en-US" sz="1700" b="0" u="none" strike="noStrike">
              <a:solidFill>
                <a:srgbClr val="000000"/>
              </a:solidFill>
              <a:effectLst/>
              <a:uFillTx/>
              <a:latin typeface="Arial"/>
            </a:endParaRPr>
          </a:p>
        </p:txBody>
      </p:sp>
      <p:sp>
        <p:nvSpPr>
          <p:cNvPr id="432" name="Shape 7"/>
          <p:cNvSpPr/>
          <p:nvPr/>
        </p:nvSpPr>
        <p:spPr>
          <a:xfrm>
            <a:off x="548640" y="4846320"/>
            <a:ext cx="11063880" cy="776880"/>
          </a:xfrm>
          <a:prstGeom prst="roundRect">
            <a:avLst>
              <a:gd name="adj" fmla="val 14118"/>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33" name="Text 8"/>
          <p:cNvSpPr/>
          <p:nvPr/>
        </p:nvSpPr>
        <p:spPr>
          <a:xfrm>
            <a:off x="822960" y="4965120"/>
            <a:ext cx="1051524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F5F5F0"/>
                </a:solidFill>
                <a:effectLst/>
                <a:uFillTx/>
                <a:latin typeface="Calibri"/>
                <a:ea typeface="Calibri"/>
              </a:rPr>
              <a:t>Customization started before anyone understood the new tool</a:t>
            </a:r>
            <a:endParaRPr lang="en-US" sz="1700" b="0" u="none" strike="noStrike">
              <a:solidFill>
                <a:srgbClr val="000000"/>
              </a:solidFill>
              <a:effectLst/>
              <a:uFillTx/>
              <a:latin typeface="Arial"/>
            </a:endParaRPr>
          </a:p>
        </p:txBody>
      </p:sp>
      <p:sp>
        <p:nvSpPr>
          <p:cNvPr id="434" name="Shape 9"/>
          <p:cNvSpPr/>
          <p:nvPr/>
        </p:nvSpPr>
        <p:spPr>
          <a:xfrm>
            <a:off x="548640" y="5806440"/>
            <a:ext cx="11063880" cy="776880"/>
          </a:xfrm>
          <a:prstGeom prst="roundRect">
            <a:avLst>
              <a:gd name="adj" fmla="val 14118"/>
            </a:avLst>
          </a:prstGeom>
          <a:solidFill>
            <a:srgbClr val="1F3D2C"/>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35" name="Text 10"/>
          <p:cNvSpPr/>
          <p:nvPr/>
        </p:nvSpPr>
        <p:spPr>
          <a:xfrm>
            <a:off x="822960" y="5925240"/>
            <a:ext cx="1051524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F5F5F0"/>
                </a:solidFill>
                <a:effectLst/>
                <a:uFillTx/>
                <a:latin typeface="Calibri"/>
                <a:ea typeface="Calibri"/>
              </a:rPr>
              <a:t>The rollout felt done to people, not with them</a:t>
            </a:r>
            <a:endParaRPr lang="en-US" sz="17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A2B4117D-5940-41C1-9DF4-E421B270D416}" type="slidenum">
              <a:rPr/>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6"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437" name="Image 0" descr="/home/claude/pptx-build/assets/icons/FaTasks-FFFFFF-200.png"/>
          <p:cNvPicPr/>
          <p:nvPr/>
        </p:nvPicPr>
        <p:blipFill>
          <a:blip r:embed="rId3"/>
          <a:stretch/>
        </p:blipFill>
        <p:spPr>
          <a:xfrm>
            <a:off x="685800" y="594360"/>
            <a:ext cx="292320" cy="292320"/>
          </a:xfrm>
          <a:prstGeom prst="rect">
            <a:avLst/>
          </a:prstGeom>
          <a:noFill/>
          <a:ln w="0">
            <a:noFill/>
          </a:ln>
        </p:spPr>
      </p:pic>
      <p:sp>
        <p:nvSpPr>
          <p:cNvPr id="438"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SENIOR ENGINEER DEFENDS AN ANCIENT PIPELINE</a:t>
            </a:r>
            <a:endParaRPr lang="en-US" sz="1500" b="0" u="none" strike="noStrike">
              <a:solidFill>
                <a:srgbClr val="000000"/>
              </a:solidFill>
              <a:effectLst/>
              <a:uFillTx/>
              <a:latin typeface="Arial"/>
            </a:endParaRPr>
          </a:p>
        </p:txBody>
      </p:sp>
      <p:sp>
        <p:nvSpPr>
          <p:cNvPr id="439"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Choose With Evidence, Then Pilot on Defaults</a:t>
            </a:r>
            <a:endParaRPr lang="en-US" sz="3200" b="0" u="none" strike="noStrike">
              <a:solidFill>
                <a:srgbClr val="000000"/>
              </a:solidFill>
              <a:effectLst/>
              <a:uFillTx/>
              <a:latin typeface="Arial"/>
            </a:endParaRPr>
          </a:p>
        </p:txBody>
      </p:sp>
      <p:sp>
        <p:nvSpPr>
          <p:cNvPr id="440" name="Shape 3"/>
          <p:cNvSpPr/>
          <p:nvPr/>
        </p:nvSpPr>
        <p:spPr>
          <a:xfrm>
            <a:off x="548640" y="1554480"/>
            <a:ext cx="11063880" cy="712800"/>
          </a:xfrm>
          <a:prstGeom prst="roundRect">
            <a:avLst>
              <a:gd name="adj" fmla="val 1395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41" name="Shape 4"/>
          <p:cNvSpPr/>
          <p:nvPr/>
        </p:nvSpPr>
        <p:spPr>
          <a:xfrm>
            <a:off x="777240" y="1618560"/>
            <a:ext cx="585000" cy="585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42" name="Text 5"/>
          <p:cNvSpPr/>
          <p:nvPr/>
        </p:nvSpPr>
        <p:spPr>
          <a:xfrm>
            <a:off x="777240" y="1618560"/>
            <a:ext cx="58500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5F5F0"/>
                </a:solidFill>
                <a:effectLst/>
                <a:uFillTx/>
                <a:latin typeface="Cambria"/>
                <a:ea typeface="Cambria"/>
              </a:rPr>
              <a:t>1</a:t>
            </a:r>
            <a:endParaRPr lang="en-US" sz="2000" b="0" u="none" strike="noStrike">
              <a:solidFill>
                <a:srgbClr val="000000"/>
              </a:solidFill>
              <a:effectLst/>
              <a:uFillTx/>
              <a:latin typeface="Arial"/>
            </a:endParaRPr>
          </a:p>
        </p:txBody>
      </p:sp>
      <p:sp>
        <p:nvSpPr>
          <p:cNvPr id="443" name="Text 6"/>
          <p:cNvSpPr/>
          <p:nvPr/>
        </p:nvSpPr>
        <p:spPr>
          <a:xfrm>
            <a:off x="1554480" y="1591200"/>
            <a:ext cx="32000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F3D2C"/>
                </a:solidFill>
                <a:effectLst/>
                <a:uFillTx/>
                <a:latin typeface="Cambria"/>
                <a:ea typeface="Cambria"/>
              </a:rPr>
              <a:t>Define must-haves</a:t>
            </a:r>
            <a:endParaRPr lang="en-US" sz="1600" b="0" u="none" strike="noStrike">
              <a:solidFill>
                <a:srgbClr val="000000"/>
              </a:solidFill>
              <a:effectLst/>
              <a:uFillTx/>
              <a:latin typeface="Arial"/>
            </a:endParaRPr>
          </a:p>
        </p:txBody>
      </p:sp>
      <p:sp>
        <p:nvSpPr>
          <p:cNvPr id="444" name="Text 7"/>
          <p:cNvSpPr/>
          <p:nvPr/>
        </p:nvSpPr>
        <p:spPr>
          <a:xfrm>
            <a:off x="4892040" y="1591200"/>
            <a:ext cx="6491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What each option has to do, not what would be nice.</a:t>
            </a:r>
            <a:endParaRPr lang="en-US" sz="1350" b="0" u="none" strike="noStrike">
              <a:solidFill>
                <a:srgbClr val="000000"/>
              </a:solidFill>
              <a:effectLst/>
              <a:uFillTx/>
              <a:latin typeface="Arial"/>
            </a:endParaRPr>
          </a:p>
        </p:txBody>
      </p:sp>
      <p:sp>
        <p:nvSpPr>
          <p:cNvPr id="445" name="Shape 8"/>
          <p:cNvSpPr/>
          <p:nvPr/>
        </p:nvSpPr>
        <p:spPr>
          <a:xfrm>
            <a:off x="548640" y="2359080"/>
            <a:ext cx="11063880" cy="712800"/>
          </a:xfrm>
          <a:prstGeom prst="roundRect">
            <a:avLst>
              <a:gd name="adj" fmla="val 1395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46" name="Shape 9"/>
          <p:cNvSpPr/>
          <p:nvPr/>
        </p:nvSpPr>
        <p:spPr>
          <a:xfrm>
            <a:off x="777240" y="2423160"/>
            <a:ext cx="585000" cy="585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47" name="Text 10"/>
          <p:cNvSpPr/>
          <p:nvPr/>
        </p:nvSpPr>
        <p:spPr>
          <a:xfrm>
            <a:off x="777240" y="2423160"/>
            <a:ext cx="58500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5F5F0"/>
                </a:solidFill>
                <a:effectLst/>
                <a:uFillTx/>
                <a:latin typeface="Cambria"/>
                <a:ea typeface="Cambria"/>
              </a:rPr>
              <a:t>2</a:t>
            </a:r>
            <a:endParaRPr lang="en-US" sz="2000" b="0" u="none" strike="noStrike">
              <a:solidFill>
                <a:srgbClr val="000000"/>
              </a:solidFill>
              <a:effectLst/>
              <a:uFillTx/>
              <a:latin typeface="Arial"/>
            </a:endParaRPr>
          </a:p>
        </p:txBody>
      </p:sp>
      <p:sp>
        <p:nvSpPr>
          <p:cNvPr id="448" name="Text 11"/>
          <p:cNvSpPr/>
          <p:nvPr/>
        </p:nvSpPr>
        <p:spPr>
          <a:xfrm>
            <a:off x="1554480" y="2395800"/>
            <a:ext cx="32000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F3D2C"/>
                </a:solidFill>
                <a:effectLst/>
                <a:uFillTx/>
                <a:latin typeface="Cambria"/>
                <a:ea typeface="Cambria"/>
              </a:rPr>
              <a:t>Assess constraints</a:t>
            </a:r>
            <a:endParaRPr lang="en-US" sz="1600" b="0" u="none" strike="noStrike">
              <a:solidFill>
                <a:srgbClr val="000000"/>
              </a:solidFill>
              <a:effectLst/>
              <a:uFillTx/>
              <a:latin typeface="Arial"/>
            </a:endParaRPr>
          </a:p>
        </p:txBody>
      </p:sp>
      <p:sp>
        <p:nvSpPr>
          <p:cNvPr id="449" name="Text 12"/>
          <p:cNvSpPr/>
          <p:nvPr/>
        </p:nvSpPr>
        <p:spPr>
          <a:xfrm>
            <a:off x="4892040" y="2395800"/>
            <a:ext cx="6491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Current toolchain, data-residency needs, compliance requirements.</a:t>
            </a:r>
            <a:endParaRPr lang="en-US" sz="1350" b="0" u="none" strike="noStrike">
              <a:solidFill>
                <a:srgbClr val="000000"/>
              </a:solidFill>
              <a:effectLst/>
              <a:uFillTx/>
              <a:latin typeface="Arial"/>
            </a:endParaRPr>
          </a:p>
        </p:txBody>
      </p:sp>
      <p:sp>
        <p:nvSpPr>
          <p:cNvPr id="450" name="Shape 13"/>
          <p:cNvSpPr/>
          <p:nvPr/>
        </p:nvSpPr>
        <p:spPr>
          <a:xfrm>
            <a:off x="548640" y="3163680"/>
            <a:ext cx="11063880" cy="712800"/>
          </a:xfrm>
          <a:prstGeom prst="roundRect">
            <a:avLst>
              <a:gd name="adj" fmla="val 1395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51" name="Shape 14"/>
          <p:cNvSpPr/>
          <p:nvPr/>
        </p:nvSpPr>
        <p:spPr>
          <a:xfrm>
            <a:off x="777240" y="3227760"/>
            <a:ext cx="585000" cy="585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52" name="Text 15"/>
          <p:cNvSpPr/>
          <p:nvPr/>
        </p:nvSpPr>
        <p:spPr>
          <a:xfrm>
            <a:off x="777240" y="3227760"/>
            <a:ext cx="58500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5F5F0"/>
                </a:solidFill>
                <a:effectLst/>
                <a:uFillTx/>
                <a:latin typeface="Cambria"/>
                <a:ea typeface="Cambria"/>
              </a:rPr>
              <a:t>3</a:t>
            </a:r>
            <a:endParaRPr lang="en-US" sz="2000" b="0" u="none" strike="noStrike">
              <a:solidFill>
                <a:srgbClr val="000000"/>
              </a:solidFill>
              <a:effectLst/>
              <a:uFillTx/>
              <a:latin typeface="Arial"/>
            </a:endParaRPr>
          </a:p>
        </p:txBody>
      </p:sp>
      <p:sp>
        <p:nvSpPr>
          <p:cNvPr id="453" name="Text 16"/>
          <p:cNvSpPr/>
          <p:nvPr/>
        </p:nvSpPr>
        <p:spPr>
          <a:xfrm>
            <a:off x="1554480" y="3200400"/>
            <a:ext cx="32000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F3D2C"/>
                </a:solidFill>
                <a:effectLst/>
                <a:uFillTx/>
                <a:latin typeface="Cambria"/>
                <a:ea typeface="Cambria"/>
              </a:rPr>
              <a:t>Model one real increment</a:t>
            </a:r>
            <a:endParaRPr lang="en-US" sz="1600" b="0" u="none" strike="noStrike">
              <a:solidFill>
                <a:srgbClr val="000000"/>
              </a:solidFill>
              <a:effectLst/>
              <a:uFillTx/>
              <a:latin typeface="Arial"/>
            </a:endParaRPr>
          </a:p>
        </p:txBody>
      </p:sp>
      <p:sp>
        <p:nvSpPr>
          <p:cNvPr id="454" name="Text 17"/>
          <p:cNvSpPr/>
          <p:nvPr/>
        </p:nvSpPr>
        <p:spPr>
          <a:xfrm>
            <a:off x="4892040" y="3200400"/>
            <a:ext cx="6491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In each candidate option: a real slice of real work, not a vendor demo.</a:t>
            </a:r>
            <a:endParaRPr lang="en-US" sz="1350" b="0" u="none" strike="noStrike">
              <a:solidFill>
                <a:srgbClr val="000000"/>
              </a:solidFill>
              <a:effectLst/>
              <a:uFillTx/>
              <a:latin typeface="Arial"/>
            </a:endParaRPr>
          </a:p>
        </p:txBody>
      </p:sp>
      <p:sp>
        <p:nvSpPr>
          <p:cNvPr id="455" name="Shape 18"/>
          <p:cNvSpPr/>
          <p:nvPr/>
        </p:nvSpPr>
        <p:spPr>
          <a:xfrm>
            <a:off x="548640" y="3968640"/>
            <a:ext cx="11063880" cy="712800"/>
          </a:xfrm>
          <a:prstGeom prst="roundRect">
            <a:avLst>
              <a:gd name="adj" fmla="val 1395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56" name="Shape 19"/>
          <p:cNvSpPr/>
          <p:nvPr/>
        </p:nvSpPr>
        <p:spPr>
          <a:xfrm>
            <a:off x="777240" y="4032360"/>
            <a:ext cx="585000" cy="585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57" name="Text 20"/>
          <p:cNvSpPr/>
          <p:nvPr/>
        </p:nvSpPr>
        <p:spPr>
          <a:xfrm>
            <a:off x="777240" y="4032360"/>
            <a:ext cx="58500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5F5F0"/>
                </a:solidFill>
                <a:effectLst/>
                <a:uFillTx/>
                <a:latin typeface="Cambria"/>
                <a:ea typeface="Cambria"/>
              </a:rPr>
              <a:t>4</a:t>
            </a:r>
            <a:endParaRPr lang="en-US" sz="2000" b="0" u="none" strike="noStrike">
              <a:solidFill>
                <a:srgbClr val="000000"/>
              </a:solidFill>
              <a:effectLst/>
              <a:uFillTx/>
              <a:latin typeface="Arial"/>
            </a:endParaRPr>
          </a:p>
        </p:txBody>
      </p:sp>
      <p:sp>
        <p:nvSpPr>
          <p:cNvPr id="458" name="Text 21"/>
          <p:cNvSpPr/>
          <p:nvPr/>
        </p:nvSpPr>
        <p:spPr>
          <a:xfrm>
            <a:off x="1554480" y="4005000"/>
            <a:ext cx="32000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F3D2C"/>
                </a:solidFill>
                <a:effectLst/>
                <a:uFillTx/>
                <a:latin typeface="Cambria"/>
                <a:ea typeface="Cambria"/>
              </a:rPr>
              <a:t>Score with a weighted rubric</a:t>
            </a:r>
            <a:endParaRPr lang="en-US" sz="1600" b="0" u="none" strike="noStrike">
              <a:solidFill>
                <a:srgbClr val="000000"/>
              </a:solidFill>
              <a:effectLst/>
              <a:uFillTx/>
              <a:latin typeface="Arial"/>
            </a:endParaRPr>
          </a:p>
        </p:txBody>
      </p:sp>
      <p:sp>
        <p:nvSpPr>
          <p:cNvPr id="459" name="Text 22"/>
          <p:cNvSpPr/>
          <p:nvPr/>
        </p:nvSpPr>
        <p:spPr>
          <a:xfrm>
            <a:off x="4892040" y="4005000"/>
            <a:ext cx="6491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Turns gut feel into something you can defend in a room.</a:t>
            </a:r>
            <a:endParaRPr lang="en-US" sz="1350" b="0" u="none" strike="noStrike">
              <a:solidFill>
                <a:srgbClr val="000000"/>
              </a:solidFill>
              <a:effectLst/>
              <a:uFillTx/>
              <a:latin typeface="Arial"/>
            </a:endParaRPr>
          </a:p>
        </p:txBody>
      </p:sp>
      <p:sp>
        <p:nvSpPr>
          <p:cNvPr id="460" name="Shape 23"/>
          <p:cNvSpPr/>
          <p:nvPr/>
        </p:nvSpPr>
        <p:spPr>
          <a:xfrm>
            <a:off x="548640" y="4773240"/>
            <a:ext cx="11063880" cy="712800"/>
          </a:xfrm>
          <a:prstGeom prst="roundRect">
            <a:avLst>
              <a:gd name="adj" fmla="val 13953"/>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61" name="Shape 24"/>
          <p:cNvSpPr/>
          <p:nvPr/>
        </p:nvSpPr>
        <p:spPr>
          <a:xfrm>
            <a:off x="777240" y="4837320"/>
            <a:ext cx="585000" cy="58500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62" name="Text 25"/>
          <p:cNvSpPr/>
          <p:nvPr/>
        </p:nvSpPr>
        <p:spPr>
          <a:xfrm>
            <a:off x="777240" y="4837320"/>
            <a:ext cx="58500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F5F5F0"/>
                </a:solidFill>
                <a:effectLst/>
                <a:uFillTx/>
                <a:latin typeface="Cambria"/>
                <a:ea typeface="Cambria"/>
              </a:rPr>
              <a:t>5</a:t>
            </a:r>
            <a:endParaRPr lang="en-US" sz="2000" b="0" u="none" strike="noStrike">
              <a:solidFill>
                <a:srgbClr val="000000"/>
              </a:solidFill>
              <a:effectLst/>
              <a:uFillTx/>
              <a:latin typeface="Arial"/>
            </a:endParaRPr>
          </a:p>
        </p:txBody>
      </p:sp>
      <p:sp>
        <p:nvSpPr>
          <p:cNvPr id="463" name="Text 26"/>
          <p:cNvSpPr/>
          <p:nvPr/>
        </p:nvSpPr>
        <p:spPr>
          <a:xfrm>
            <a:off x="1554480" y="4809600"/>
            <a:ext cx="32000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F3D2C"/>
                </a:solidFill>
                <a:effectLst/>
                <a:uFillTx/>
                <a:latin typeface="Cambria"/>
                <a:ea typeface="Cambria"/>
              </a:rPr>
              <a:t>Pilot on defaults</a:t>
            </a:r>
            <a:endParaRPr lang="en-US" sz="1600" b="0" u="none" strike="noStrike">
              <a:solidFill>
                <a:srgbClr val="000000"/>
              </a:solidFill>
              <a:effectLst/>
              <a:uFillTx/>
              <a:latin typeface="Arial"/>
            </a:endParaRPr>
          </a:p>
        </p:txBody>
      </p:sp>
      <p:sp>
        <p:nvSpPr>
          <p:cNvPr id="464" name="Text 27"/>
          <p:cNvSpPr/>
          <p:nvPr/>
        </p:nvSpPr>
        <p:spPr>
          <a:xfrm>
            <a:off x="4892040" y="4809600"/>
            <a:ext cx="6491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4–6 weeks, outcomes decided in advance. Customize only after, with real usage data.</a:t>
            </a:r>
            <a:endParaRPr lang="en-US" sz="1350" b="0" u="none" strike="noStrike">
              <a:solidFill>
                <a:srgbClr val="000000"/>
              </a:solidFill>
              <a:effectLst/>
              <a:uFillTx/>
              <a:latin typeface="Arial"/>
            </a:endParaRPr>
          </a:p>
        </p:txBody>
      </p:sp>
      <p:sp>
        <p:nvSpPr>
          <p:cNvPr id="465" name="Takeaway bar"/>
          <p:cNvSpPr/>
          <p:nvPr/>
        </p:nvSpPr>
        <p:spPr>
          <a:xfrm>
            <a:off x="548640" y="5669280"/>
            <a:ext cx="11063880" cy="77688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66" name="Takeaway text"/>
          <p:cNvSpPr/>
          <p:nvPr/>
        </p:nvSpPr>
        <p:spPr>
          <a:xfrm>
            <a:off x="548640" y="5669280"/>
            <a:ext cx="11063880" cy="77688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Every customization made before the pilot is a bet placed with the least information you’ll ever have.</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35B0E312-5EA0-4024-A852-6726F85D3663}" type="slidenum">
              <a:rPr/>
              <a:t>39</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465"/>
                                  </p:tgtEl>
                                  <p:attrNameLst>
                                    <p:attrName>style.visibility</p:attrName>
                                  </p:attrNameLst>
                                </p:cBhvr>
                                <p:to>
                                  <p:strVal val="visible"/>
                                </p:to>
                              </p:set>
                              <p:animEffect transition="in" filter="fade">
                                <p:cBhvr additive="repl">
                                  <p:cTn id="6" dur="500"/>
                                  <p:tgtEl>
                                    <p:spTgt spid="465"/>
                                  </p:tgtEl>
                                </p:cBhvr>
                              </p:animEffect>
                            </p:childTnLst>
                          </p:cTn>
                        </p:par>
                        <p:par>
                          <p:cTn id="7" presetID="10" presetClass="entr" fill="hold" nodeType="clickEffect">
                            <p:stCondLst>
                              <p:cond delay="0"/>
                            </p:stCondLst>
                            <p:childTnLst>
                              <p:set>
                                <p:cBhvr>
                                  <p:cTn id="8" dur="1" fill="hold">
                                    <p:stCondLst>
                                      <p:cond delay="0"/>
                                    </p:stCondLst>
                                  </p:cTn>
                                  <p:tgtEl>
                                    <p:spTgt spid="466"/>
                                  </p:tgtEl>
                                  <p:attrNameLst>
                                    <p:attrName>style.visibility</p:attrName>
                                  </p:attrNameLst>
                                </p:cBhvr>
                                <p:to>
                                  <p:strVal val="visible"/>
                                </p:to>
                              </p:set>
                              <p:animEffect transition="in" filter="fade">
                                <p:cBhvr additive="repl">
                                  <p:cTn id="9" dur="500"/>
                                  <p:tgtEl>
                                    <p:spTgt spid="466"/>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7"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468" name="Image 0" descr="/home/claude/pptx-build/assets/icons/FaRoute-FFFFFF-200.png"/>
          <p:cNvPicPr/>
          <p:nvPr/>
        </p:nvPicPr>
        <p:blipFill>
          <a:blip r:embed="rId3"/>
          <a:stretch/>
        </p:blipFill>
        <p:spPr>
          <a:xfrm>
            <a:off x="685800" y="594360"/>
            <a:ext cx="292320" cy="292320"/>
          </a:xfrm>
          <a:prstGeom prst="rect">
            <a:avLst/>
          </a:prstGeom>
          <a:noFill/>
          <a:ln w="0">
            <a:noFill/>
          </a:ln>
        </p:spPr>
      </p:pic>
      <p:sp>
        <p:nvSpPr>
          <p:cNvPr id="469"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SENIOR ENGINEER DEFENDS AN ANCIENT PIPELINE</a:t>
            </a:r>
            <a:endParaRPr lang="en-US" sz="1500" b="0" u="none" strike="noStrike">
              <a:solidFill>
                <a:srgbClr val="000000"/>
              </a:solidFill>
              <a:effectLst/>
              <a:uFillTx/>
              <a:latin typeface="Arial"/>
            </a:endParaRPr>
          </a:p>
        </p:txBody>
      </p:sp>
      <p:sp>
        <p:nvSpPr>
          <p:cNvPr id="470" name="Text 2"/>
          <p:cNvSpPr/>
          <p:nvPr/>
        </p:nvSpPr>
        <p:spPr>
          <a:xfrm>
            <a:off x="1234440" y="804600"/>
            <a:ext cx="1051524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800" b="1" u="none" strike="noStrike">
                <a:solidFill>
                  <a:srgbClr val="1F3D2C"/>
                </a:solidFill>
                <a:effectLst/>
                <a:uFillTx/>
                <a:latin typeface="Cambria"/>
                <a:ea typeface="Cambria"/>
              </a:rPr>
              <a:t>The Migration Sequence Is the Change-Management Plan</a:t>
            </a:r>
            <a:endParaRPr lang="en-US" sz="2800" b="0" u="none" strike="noStrike">
              <a:solidFill>
                <a:srgbClr val="000000"/>
              </a:solidFill>
              <a:effectLst/>
              <a:uFillTx/>
              <a:latin typeface="Arial"/>
            </a:endParaRPr>
          </a:p>
        </p:txBody>
      </p:sp>
      <p:sp>
        <p:nvSpPr>
          <p:cNvPr id="471" name="Shape 3"/>
          <p:cNvSpPr/>
          <p:nvPr/>
        </p:nvSpPr>
        <p:spPr>
          <a:xfrm>
            <a:off x="548640" y="1691640"/>
            <a:ext cx="2559960" cy="3547440"/>
          </a:xfrm>
          <a:prstGeom prst="roundRect">
            <a:avLst>
              <a:gd name="adj" fmla="val 428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2" name="Shape 4"/>
          <p:cNvSpPr/>
          <p:nvPr/>
        </p:nvSpPr>
        <p:spPr>
          <a:xfrm>
            <a:off x="777240" y="1920240"/>
            <a:ext cx="456840" cy="4568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3" name="Text 5"/>
          <p:cNvSpPr/>
          <p:nvPr/>
        </p:nvSpPr>
        <p:spPr>
          <a:xfrm>
            <a:off x="777240" y="1920240"/>
            <a:ext cx="4568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F5F5F0"/>
                </a:solidFill>
                <a:effectLst/>
                <a:uFillTx/>
                <a:latin typeface="Cambria"/>
                <a:ea typeface="Cambria"/>
              </a:rPr>
              <a:t>1</a:t>
            </a:r>
            <a:endParaRPr lang="en-US" sz="1700" b="0" u="none" strike="noStrike">
              <a:solidFill>
                <a:srgbClr val="000000"/>
              </a:solidFill>
              <a:effectLst/>
              <a:uFillTx/>
              <a:latin typeface="Arial"/>
            </a:endParaRPr>
          </a:p>
        </p:txBody>
      </p:sp>
      <p:sp>
        <p:nvSpPr>
          <p:cNvPr id="474" name="Text 6"/>
          <p:cNvSpPr/>
          <p:nvPr/>
        </p:nvSpPr>
        <p:spPr>
          <a:xfrm>
            <a:off x="731520" y="2514600"/>
            <a:ext cx="219420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70" b="1" u="none" strike="noStrike">
                <a:solidFill>
                  <a:srgbClr val="1F3D2C"/>
                </a:solidFill>
                <a:effectLst/>
                <a:uFillTx/>
                <a:latin typeface="Cambria"/>
              </a:rPr>
              <a:t>Define authority &amp; traceability</a:t>
            </a:r>
            <a:endParaRPr lang="en-US" sz="1470" b="0" u="none" strike="noStrike">
              <a:solidFill>
                <a:srgbClr val="000000"/>
              </a:solidFill>
              <a:effectLst/>
              <a:uFillTx/>
              <a:latin typeface="Arial"/>
            </a:endParaRPr>
          </a:p>
        </p:txBody>
      </p:sp>
      <p:sp>
        <p:nvSpPr>
          <p:cNvPr id="475" name="Text 7"/>
          <p:cNvSpPr/>
          <p:nvPr/>
        </p:nvSpPr>
        <p:spPr>
          <a:xfrm>
            <a:off x="731520" y="3337560"/>
            <a:ext cx="2194200" cy="201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400" b="0" u="none" strike="noStrike">
                <a:solidFill>
                  <a:srgbClr val="2B2B2B"/>
                </a:solidFill>
                <a:effectLst/>
                <a:uFillTx/>
                <a:latin typeface="Calibri"/>
              </a:rPr>
              <a:t>Connect Boards, name the source of truth, owners, and rollback authority.</a:t>
            </a:r>
            <a:endParaRPr lang="en-US" sz="1400" b="0" u="none" strike="noStrike">
              <a:solidFill>
                <a:srgbClr val="000000"/>
              </a:solidFill>
              <a:effectLst/>
              <a:uFillTx/>
              <a:latin typeface="Arial"/>
            </a:endParaRPr>
          </a:p>
        </p:txBody>
      </p:sp>
      <p:sp>
        <p:nvSpPr>
          <p:cNvPr id="476" name="Shape 8"/>
          <p:cNvSpPr/>
          <p:nvPr/>
        </p:nvSpPr>
        <p:spPr>
          <a:xfrm>
            <a:off x="3337560" y="1691640"/>
            <a:ext cx="2559960" cy="3547440"/>
          </a:xfrm>
          <a:prstGeom prst="roundRect">
            <a:avLst>
              <a:gd name="adj" fmla="val 428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7" name="Shape 9"/>
          <p:cNvSpPr/>
          <p:nvPr/>
        </p:nvSpPr>
        <p:spPr>
          <a:xfrm>
            <a:off x="3566160" y="1920240"/>
            <a:ext cx="456840" cy="4568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8" name="Text 10"/>
          <p:cNvSpPr/>
          <p:nvPr/>
        </p:nvSpPr>
        <p:spPr>
          <a:xfrm>
            <a:off x="3566160" y="1920240"/>
            <a:ext cx="4568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F5F5F0"/>
                </a:solidFill>
                <a:effectLst/>
                <a:uFillTx/>
                <a:latin typeface="Cambria"/>
                <a:ea typeface="Cambria"/>
              </a:rPr>
              <a:t>2</a:t>
            </a:r>
            <a:endParaRPr lang="en-US" sz="1700" b="0" u="none" strike="noStrike">
              <a:solidFill>
                <a:srgbClr val="000000"/>
              </a:solidFill>
              <a:effectLst/>
              <a:uFillTx/>
              <a:latin typeface="Arial"/>
            </a:endParaRPr>
          </a:p>
        </p:txBody>
      </p:sp>
      <p:sp>
        <p:nvSpPr>
          <p:cNvPr id="479" name="Text 11"/>
          <p:cNvSpPr/>
          <p:nvPr/>
        </p:nvSpPr>
        <p:spPr>
          <a:xfrm>
            <a:off x="3520440" y="2514600"/>
            <a:ext cx="219420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70" b="1" u="none" strike="noStrike">
                <a:solidFill>
                  <a:srgbClr val="1F3D2C"/>
                </a:solidFill>
                <a:effectLst/>
                <a:uFillTx/>
                <a:latin typeface="Cambria"/>
              </a:rPr>
              <a:t>Trial one repo end-to-end</a:t>
            </a:r>
            <a:endParaRPr lang="en-US" sz="1470" b="0" u="none" strike="noStrike">
              <a:solidFill>
                <a:srgbClr val="000000"/>
              </a:solidFill>
              <a:effectLst/>
              <a:uFillTx/>
              <a:latin typeface="Arial"/>
            </a:endParaRPr>
          </a:p>
        </p:txBody>
      </p:sp>
      <p:sp>
        <p:nvSpPr>
          <p:cNvPr id="480" name="Text 12"/>
          <p:cNvSpPr/>
          <p:nvPr/>
        </p:nvSpPr>
        <p:spPr>
          <a:xfrm>
            <a:off x="3520440" y="3337560"/>
            <a:ext cx="2194200" cy="201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400" b="0" u="none" strike="noStrike">
                <a:solidFill>
                  <a:srgbClr val="2B2B2B"/>
                </a:solidFill>
                <a:effectLst/>
                <a:uFillTx/>
                <a:latin typeface="Calibri"/>
              </a:rPr>
              <a:t>Exercise repository data, automation, and validation before scaling.</a:t>
            </a:r>
            <a:endParaRPr lang="en-US" sz="1400" b="0" u="none" strike="noStrike">
              <a:solidFill>
                <a:srgbClr val="000000"/>
              </a:solidFill>
              <a:effectLst/>
              <a:uFillTx/>
              <a:latin typeface="Arial"/>
            </a:endParaRPr>
          </a:p>
        </p:txBody>
      </p:sp>
      <p:sp>
        <p:nvSpPr>
          <p:cNvPr id="481" name="Shape 13"/>
          <p:cNvSpPr/>
          <p:nvPr/>
        </p:nvSpPr>
        <p:spPr>
          <a:xfrm>
            <a:off x="6126480" y="1691640"/>
            <a:ext cx="2559960" cy="3547440"/>
          </a:xfrm>
          <a:prstGeom prst="roundRect">
            <a:avLst>
              <a:gd name="adj" fmla="val 428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2" name="Shape 14"/>
          <p:cNvSpPr/>
          <p:nvPr/>
        </p:nvSpPr>
        <p:spPr>
          <a:xfrm>
            <a:off x="6355080" y="1920240"/>
            <a:ext cx="456840" cy="4568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3" name="Text 15"/>
          <p:cNvSpPr/>
          <p:nvPr/>
        </p:nvSpPr>
        <p:spPr>
          <a:xfrm>
            <a:off x="6355080" y="1920240"/>
            <a:ext cx="4568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F5F5F0"/>
                </a:solidFill>
                <a:effectLst/>
                <a:uFillTx/>
                <a:latin typeface="Cambria"/>
                <a:ea typeface="Cambria"/>
              </a:rPr>
              <a:t>3</a:t>
            </a:r>
            <a:endParaRPr lang="en-US" sz="1700" b="0" u="none" strike="noStrike">
              <a:solidFill>
                <a:srgbClr val="000000"/>
              </a:solidFill>
              <a:effectLst/>
              <a:uFillTx/>
              <a:latin typeface="Arial"/>
            </a:endParaRPr>
          </a:p>
        </p:txBody>
      </p:sp>
      <p:sp>
        <p:nvSpPr>
          <p:cNvPr id="484" name="Text 16"/>
          <p:cNvSpPr/>
          <p:nvPr/>
        </p:nvSpPr>
        <p:spPr>
          <a:xfrm>
            <a:off x="6309360" y="2514600"/>
            <a:ext cx="219420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70" b="1" u="none" strike="noStrike">
                <a:solidFill>
                  <a:srgbClr val="1F3D2C"/>
                </a:solidFill>
                <a:effectLst/>
                <a:uFillTx/>
                <a:latin typeface="Cambria"/>
              </a:rPr>
              <a:t>Migrate in evidence-based waves</a:t>
            </a:r>
            <a:endParaRPr lang="en-US" sz="1470" b="0" u="none" strike="noStrike">
              <a:solidFill>
                <a:srgbClr val="000000"/>
              </a:solidFill>
              <a:effectLst/>
              <a:uFillTx/>
              <a:latin typeface="Arial"/>
            </a:endParaRPr>
          </a:p>
        </p:txBody>
      </p:sp>
      <p:sp>
        <p:nvSpPr>
          <p:cNvPr id="485" name="Text 17"/>
          <p:cNvSpPr/>
          <p:nvPr/>
        </p:nvSpPr>
        <p:spPr>
          <a:xfrm>
            <a:off x="6309360" y="3337560"/>
            <a:ext cx="2194200" cy="201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400" b="0" u="none" strike="noStrike">
                <a:solidFill>
                  <a:srgbClr val="2B2B2B"/>
                </a:solidFill>
                <a:effectLst/>
                <a:uFillTx/>
                <a:latin typeface="Calibri"/>
              </a:rPr>
              <a:t>Entry criteria: identity ready, pipeline classified, runner path and rollback defined.</a:t>
            </a:r>
            <a:endParaRPr lang="en-US" sz="1400" b="0" u="none" strike="noStrike">
              <a:solidFill>
                <a:srgbClr val="000000"/>
              </a:solidFill>
              <a:effectLst/>
              <a:uFillTx/>
              <a:latin typeface="Arial"/>
            </a:endParaRPr>
          </a:p>
        </p:txBody>
      </p:sp>
      <p:sp>
        <p:nvSpPr>
          <p:cNvPr id="486" name="Shape 18"/>
          <p:cNvSpPr/>
          <p:nvPr/>
        </p:nvSpPr>
        <p:spPr>
          <a:xfrm>
            <a:off x="8915400" y="1691640"/>
            <a:ext cx="2559960" cy="3547440"/>
          </a:xfrm>
          <a:prstGeom prst="roundRect">
            <a:avLst>
              <a:gd name="adj" fmla="val 4286"/>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7" name="Shape 19"/>
          <p:cNvSpPr/>
          <p:nvPr/>
        </p:nvSpPr>
        <p:spPr>
          <a:xfrm>
            <a:off x="9144000" y="1920240"/>
            <a:ext cx="456840" cy="4568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8" name="Text 20"/>
          <p:cNvSpPr/>
          <p:nvPr/>
        </p:nvSpPr>
        <p:spPr>
          <a:xfrm>
            <a:off x="9144000" y="1920240"/>
            <a:ext cx="4568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F5F5F0"/>
                </a:solidFill>
                <a:effectLst/>
                <a:uFillTx/>
                <a:latin typeface="Cambria"/>
                <a:ea typeface="Cambria"/>
              </a:rPr>
              <a:t>4</a:t>
            </a:r>
            <a:endParaRPr lang="en-US" sz="1700" b="0" u="none" strike="noStrike">
              <a:solidFill>
                <a:srgbClr val="000000"/>
              </a:solidFill>
              <a:effectLst/>
              <a:uFillTx/>
              <a:latin typeface="Arial"/>
            </a:endParaRPr>
          </a:p>
        </p:txBody>
      </p:sp>
      <p:sp>
        <p:nvSpPr>
          <p:cNvPr id="489" name="Text 21"/>
          <p:cNvSpPr/>
          <p:nvPr/>
        </p:nvSpPr>
        <p:spPr>
          <a:xfrm>
            <a:off x="9098280" y="2514600"/>
            <a:ext cx="219420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70" b="1" u="none" strike="noStrike">
                <a:solidFill>
                  <a:srgbClr val="1F3D2C"/>
                </a:solidFill>
                <a:effectLst/>
                <a:uFillTx/>
                <a:latin typeface="Cambria"/>
              </a:rPr>
              <a:t>Cut over, monitor, decommission</a:t>
            </a:r>
            <a:endParaRPr lang="en-US" sz="1470" b="0" u="none" strike="noStrike">
              <a:solidFill>
                <a:srgbClr val="000000"/>
              </a:solidFill>
              <a:effectLst/>
              <a:uFillTx/>
              <a:latin typeface="Arial"/>
            </a:endParaRPr>
          </a:p>
        </p:txBody>
      </p:sp>
      <p:sp>
        <p:nvSpPr>
          <p:cNvPr id="490" name="Text 22"/>
          <p:cNvSpPr/>
          <p:nvPr/>
        </p:nvSpPr>
        <p:spPr>
          <a:xfrm>
            <a:off x="9098280" y="3337560"/>
            <a:ext cx="2194200" cy="201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400" b="0" u="none" strike="noStrike">
                <a:solidFill>
                  <a:srgbClr val="2B2B2B"/>
                </a:solidFill>
                <a:effectLst/>
                <a:uFillTx/>
                <a:latin typeface="Calibri"/>
              </a:rPr>
              <a:t>Make the old repo read-only; retire it only after long-tail checks pass.</a:t>
            </a:r>
            <a:endParaRPr lang="en-US" sz="1400" b="0" u="none" strike="noStrike">
              <a:solidFill>
                <a:srgbClr val="000000"/>
              </a:solidFill>
              <a:effectLst/>
              <a:uFillTx/>
              <a:latin typeface="Arial"/>
            </a:endParaRPr>
          </a:p>
        </p:txBody>
      </p:sp>
      <p:sp>
        <p:nvSpPr>
          <p:cNvPr id="491" name="Rounded Rectangle 26"/>
          <p:cNvSpPr/>
          <p:nvPr/>
        </p:nvSpPr>
        <p:spPr>
          <a:xfrm>
            <a:off x="548640" y="5523120"/>
            <a:ext cx="11063880" cy="81360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492" name="Text 23"/>
          <p:cNvSpPr/>
          <p:nvPr/>
        </p:nvSpPr>
        <p:spPr>
          <a:xfrm>
            <a:off x="548640" y="5523120"/>
            <a:ext cx="11063880" cy="81360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Sequencing, entry criteria, evidence, and ownership are the change-management plan.</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A4F33B0B-368B-480A-8ECD-E85CD8FFD3D0}" type="slidenum">
              <a:rPr/>
              <a:t>40</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22" presetClass="entr" presetSubtype="2" fill="hold" nodeType="clickEffect">
                            <p:stCondLst>
                              <p:cond delay="0"/>
                            </p:stCondLst>
                            <p:childTnLst>
                              <p:set>
                                <p:cBhvr>
                                  <p:cTn id="5" dur="1" fill="hold">
                                    <p:stCondLst>
                                      <p:cond delay="0"/>
                                    </p:stCondLst>
                                  </p:cTn>
                                  <p:tgtEl>
                                    <p:spTgt spid="471"/>
                                  </p:tgtEl>
                                  <p:attrNameLst>
                                    <p:attrName>style.visibility</p:attrName>
                                  </p:attrNameLst>
                                </p:cBhvr>
                                <p:to>
                                  <p:strVal val="visible"/>
                                </p:to>
                              </p:set>
                              <p:animEffect transition="in" filter="wipe(right)">
                                <p:cBhvr additive="repl">
                                  <p:cTn id="6" dur="500"/>
                                  <p:tgtEl>
                                    <p:spTgt spid="471"/>
                                  </p:tgtEl>
                                </p:cBhvr>
                              </p:animEffect>
                            </p:childTnLst>
                          </p:cTn>
                        </p:par>
                        <p:par>
                          <p:cTn id="7" presetID="22" presetClass="entr" presetSubtype="2" fill="hold" nodeType="clickEffect">
                            <p:stCondLst>
                              <p:cond delay="0"/>
                            </p:stCondLst>
                            <p:childTnLst>
                              <p:set>
                                <p:cBhvr>
                                  <p:cTn id="8" dur="1" fill="hold">
                                    <p:stCondLst>
                                      <p:cond delay="0"/>
                                    </p:stCondLst>
                                  </p:cTn>
                                  <p:tgtEl>
                                    <p:spTgt spid="472"/>
                                  </p:tgtEl>
                                  <p:attrNameLst>
                                    <p:attrName>style.visibility</p:attrName>
                                  </p:attrNameLst>
                                </p:cBhvr>
                                <p:to>
                                  <p:strVal val="visible"/>
                                </p:to>
                              </p:set>
                              <p:animEffect transition="in" filter="wipe(right)">
                                <p:cBhvr additive="repl">
                                  <p:cTn id="9" dur="500"/>
                                  <p:tgtEl>
                                    <p:spTgt spid="472"/>
                                  </p:tgtEl>
                                </p:cBhvr>
                              </p:animEffect>
                            </p:childTnLst>
                          </p:cTn>
                        </p:par>
                        <p:par>
                          <p:cTn id="10" presetID="22" presetClass="entr" presetSubtype="2" fill="hold" nodeType="clickEffect">
                            <p:stCondLst>
                              <p:cond delay="0"/>
                            </p:stCondLst>
                            <p:childTnLst>
                              <p:set>
                                <p:cBhvr>
                                  <p:cTn id="11" dur="1" fill="hold">
                                    <p:stCondLst>
                                      <p:cond delay="0"/>
                                    </p:stCondLst>
                                  </p:cTn>
                                  <p:tgtEl>
                                    <p:spTgt spid="473"/>
                                  </p:tgtEl>
                                  <p:attrNameLst>
                                    <p:attrName>style.visibility</p:attrName>
                                  </p:attrNameLst>
                                </p:cBhvr>
                                <p:to>
                                  <p:strVal val="visible"/>
                                </p:to>
                              </p:set>
                              <p:animEffect transition="in" filter="wipe(right)">
                                <p:cBhvr additive="repl">
                                  <p:cTn id="12" dur="500"/>
                                  <p:tgtEl>
                                    <p:spTgt spid="473"/>
                                  </p:tgtEl>
                                </p:cBhvr>
                              </p:animEffect>
                            </p:childTnLst>
                          </p:cTn>
                        </p:par>
                        <p:par>
                          <p:cTn id="13" presetID="22" presetClass="entr" presetSubtype="2" fill="hold" nodeType="clickEffect">
                            <p:stCondLst>
                              <p:cond delay="0"/>
                            </p:stCondLst>
                            <p:childTnLst>
                              <p:set>
                                <p:cBhvr>
                                  <p:cTn id="14" dur="1" fill="hold">
                                    <p:stCondLst>
                                      <p:cond delay="0"/>
                                    </p:stCondLst>
                                  </p:cTn>
                                  <p:tgtEl>
                                    <p:spTgt spid="474"/>
                                  </p:tgtEl>
                                  <p:attrNameLst>
                                    <p:attrName>style.visibility</p:attrName>
                                  </p:attrNameLst>
                                </p:cBhvr>
                                <p:to>
                                  <p:strVal val="visible"/>
                                </p:to>
                              </p:set>
                              <p:animEffect transition="in" filter="wipe(right)">
                                <p:cBhvr additive="repl">
                                  <p:cTn id="15" dur="500"/>
                                  <p:tgtEl>
                                    <p:spTgt spid="474"/>
                                  </p:tgtEl>
                                </p:cBhvr>
                              </p:animEffect>
                            </p:childTnLst>
                          </p:cTn>
                        </p:par>
                        <p:par>
                          <p:cTn id="16" presetID="22" presetClass="entr" presetSubtype="2" fill="hold" nodeType="clickEffect">
                            <p:stCondLst>
                              <p:cond delay="0"/>
                            </p:stCondLst>
                            <p:childTnLst>
                              <p:set>
                                <p:cBhvr>
                                  <p:cTn id="17" dur="1" fill="hold">
                                    <p:stCondLst>
                                      <p:cond delay="0"/>
                                    </p:stCondLst>
                                  </p:cTn>
                                  <p:tgtEl>
                                    <p:spTgt spid="475"/>
                                  </p:tgtEl>
                                  <p:attrNameLst>
                                    <p:attrName>style.visibility</p:attrName>
                                  </p:attrNameLst>
                                </p:cBhvr>
                                <p:to>
                                  <p:strVal val="visible"/>
                                </p:to>
                              </p:set>
                              <p:animEffect transition="in" filter="wipe(right)">
                                <p:cBhvr additive="repl">
                                  <p:cTn id="18" dur="500"/>
                                  <p:tgtEl>
                                    <p:spTgt spid="475"/>
                                  </p:tgtEl>
                                </p:cBhvr>
                              </p:animEffect>
                            </p:childTnLst>
                          </p:cTn>
                        </p:par>
                      </p:childTnLst>
                    </p:cTn>
                  </p:par>
                  <p:par>
                    <p:cTn id="19" fill="hold">
                      <p:stCondLst>
                        <p:cond delay="indefinite"/>
                      </p:stCondLst>
                      <p:childTnLst>
                        <p:par>
                          <p:cTn id="20" presetID="22" presetClass="entr" presetSubtype="2" fill="hold" nodeType="clickEffect">
                            <p:stCondLst>
                              <p:cond delay="0"/>
                            </p:stCondLst>
                            <p:childTnLst>
                              <p:set>
                                <p:cBhvr>
                                  <p:cTn id="21" dur="1" fill="hold">
                                    <p:stCondLst>
                                      <p:cond delay="0"/>
                                    </p:stCondLst>
                                  </p:cTn>
                                  <p:tgtEl>
                                    <p:spTgt spid="476"/>
                                  </p:tgtEl>
                                  <p:attrNameLst>
                                    <p:attrName>style.visibility</p:attrName>
                                  </p:attrNameLst>
                                </p:cBhvr>
                                <p:to>
                                  <p:strVal val="visible"/>
                                </p:to>
                              </p:set>
                              <p:animEffect transition="in" filter="wipe(right)">
                                <p:cBhvr additive="repl">
                                  <p:cTn id="22" dur="500"/>
                                  <p:tgtEl>
                                    <p:spTgt spid="476"/>
                                  </p:tgtEl>
                                </p:cBhvr>
                              </p:animEffect>
                            </p:childTnLst>
                          </p:cTn>
                        </p:par>
                        <p:par>
                          <p:cTn id="23" presetID="22" presetClass="entr" presetSubtype="2" fill="hold" nodeType="clickEffect">
                            <p:stCondLst>
                              <p:cond delay="0"/>
                            </p:stCondLst>
                            <p:childTnLst>
                              <p:set>
                                <p:cBhvr>
                                  <p:cTn id="24" dur="1" fill="hold">
                                    <p:stCondLst>
                                      <p:cond delay="0"/>
                                    </p:stCondLst>
                                  </p:cTn>
                                  <p:tgtEl>
                                    <p:spTgt spid="477"/>
                                  </p:tgtEl>
                                  <p:attrNameLst>
                                    <p:attrName>style.visibility</p:attrName>
                                  </p:attrNameLst>
                                </p:cBhvr>
                                <p:to>
                                  <p:strVal val="visible"/>
                                </p:to>
                              </p:set>
                              <p:animEffect transition="in" filter="wipe(right)">
                                <p:cBhvr additive="repl">
                                  <p:cTn id="25" dur="500"/>
                                  <p:tgtEl>
                                    <p:spTgt spid="477"/>
                                  </p:tgtEl>
                                </p:cBhvr>
                              </p:animEffect>
                            </p:childTnLst>
                          </p:cTn>
                        </p:par>
                        <p:par>
                          <p:cTn id="26" presetID="22" presetClass="entr" presetSubtype="2" fill="hold" nodeType="clickEffect">
                            <p:stCondLst>
                              <p:cond delay="0"/>
                            </p:stCondLst>
                            <p:childTnLst>
                              <p:set>
                                <p:cBhvr>
                                  <p:cTn id="27" dur="1" fill="hold">
                                    <p:stCondLst>
                                      <p:cond delay="0"/>
                                    </p:stCondLst>
                                  </p:cTn>
                                  <p:tgtEl>
                                    <p:spTgt spid="478"/>
                                  </p:tgtEl>
                                  <p:attrNameLst>
                                    <p:attrName>style.visibility</p:attrName>
                                  </p:attrNameLst>
                                </p:cBhvr>
                                <p:to>
                                  <p:strVal val="visible"/>
                                </p:to>
                              </p:set>
                              <p:animEffect transition="in" filter="wipe(right)">
                                <p:cBhvr additive="repl">
                                  <p:cTn id="28" dur="500"/>
                                  <p:tgtEl>
                                    <p:spTgt spid="478"/>
                                  </p:tgtEl>
                                </p:cBhvr>
                              </p:animEffect>
                            </p:childTnLst>
                          </p:cTn>
                        </p:par>
                        <p:par>
                          <p:cTn id="29" presetID="22" presetClass="entr" presetSubtype="2" fill="hold" nodeType="clickEffect">
                            <p:stCondLst>
                              <p:cond delay="0"/>
                            </p:stCondLst>
                            <p:childTnLst>
                              <p:set>
                                <p:cBhvr>
                                  <p:cTn id="30" dur="1" fill="hold">
                                    <p:stCondLst>
                                      <p:cond delay="0"/>
                                    </p:stCondLst>
                                  </p:cTn>
                                  <p:tgtEl>
                                    <p:spTgt spid="479"/>
                                  </p:tgtEl>
                                  <p:attrNameLst>
                                    <p:attrName>style.visibility</p:attrName>
                                  </p:attrNameLst>
                                </p:cBhvr>
                                <p:to>
                                  <p:strVal val="visible"/>
                                </p:to>
                              </p:set>
                              <p:animEffect transition="in" filter="wipe(right)">
                                <p:cBhvr additive="repl">
                                  <p:cTn id="31" dur="500"/>
                                  <p:tgtEl>
                                    <p:spTgt spid="479"/>
                                  </p:tgtEl>
                                </p:cBhvr>
                              </p:animEffect>
                            </p:childTnLst>
                          </p:cTn>
                        </p:par>
                        <p:par>
                          <p:cTn id="32" presetID="22" presetClass="entr" presetSubtype="2" fill="hold" nodeType="clickEffect">
                            <p:stCondLst>
                              <p:cond delay="0"/>
                            </p:stCondLst>
                            <p:childTnLst>
                              <p:set>
                                <p:cBhvr>
                                  <p:cTn id="33" dur="1" fill="hold">
                                    <p:stCondLst>
                                      <p:cond delay="0"/>
                                    </p:stCondLst>
                                  </p:cTn>
                                  <p:tgtEl>
                                    <p:spTgt spid="480"/>
                                  </p:tgtEl>
                                  <p:attrNameLst>
                                    <p:attrName>style.visibility</p:attrName>
                                  </p:attrNameLst>
                                </p:cBhvr>
                                <p:to>
                                  <p:strVal val="visible"/>
                                </p:to>
                              </p:set>
                              <p:animEffect transition="in" filter="wipe(right)">
                                <p:cBhvr additive="repl">
                                  <p:cTn id="34" dur="500"/>
                                  <p:tgtEl>
                                    <p:spTgt spid="480"/>
                                  </p:tgtEl>
                                </p:cBhvr>
                              </p:animEffect>
                            </p:childTnLst>
                          </p:cTn>
                        </p:par>
                      </p:childTnLst>
                    </p:cTn>
                  </p:par>
                  <p:par>
                    <p:cTn id="35" fill="hold">
                      <p:stCondLst>
                        <p:cond delay="indefinite"/>
                      </p:stCondLst>
                      <p:childTnLst>
                        <p:par>
                          <p:cTn id="36" presetID="22" presetClass="entr" presetSubtype="2" fill="hold" nodeType="clickEffect">
                            <p:stCondLst>
                              <p:cond delay="0"/>
                            </p:stCondLst>
                            <p:childTnLst>
                              <p:set>
                                <p:cBhvr>
                                  <p:cTn id="37" dur="1" fill="hold">
                                    <p:stCondLst>
                                      <p:cond delay="0"/>
                                    </p:stCondLst>
                                  </p:cTn>
                                  <p:tgtEl>
                                    <p:spTgt spid="481"/>
                                  </p:tgtEl>
                                  <p:attrNameLst>
                                    <p:attrName>style.visibility</p:attrName>
                                  </p:attrNameLst>
                                </p:cBhvr>
                                <p:to>
                                  <p:strVal val="visible"/>
                                </p:to>
                              </p:set>
                              <p:animEffect transition="in" filter="wipe(right)">
                                <p:cBhvr additive="repl">
                                  <p:cTn id="38" dur="500"/>
                                  <p:tgtEl>
                                    <p:spTgt spid="481"/>
                                  </p:tgtEl>
                                </p:cBhvr>
                              </p:animEffect>
                            </p:childTnLst>
                          </p:cTn>
                        </p:par>
                        <p:par>
                          <p:cTn id="39" presetID="22" presetClass="entr" presetSubtype="2" fill="hold" nodeType="clickEffect">
                            <p:stCondLst>
                              <p:cond delay="0"/>
                            </p:stCondLst>
                            <p:childTnLst>
                              <p:set>
                                <p:cBhvr>
                                  <p:cTn id="40" dur="1" fill="hold">
                                    <p:stCondLst>
                                      <p:cond delay="0"/>
                                    </p:stCondLst>
                                  </p:cTn>
                                  <p:tgtEl>
                                    <p:spTgt spid="482"/>
                                  </p:tgtEl>
                                  <p:attrNameLst>
                                    <p:attrName>style.visibility</p:attrName>
                                  </p:attrNameLst>
                                </p:cBhvr>
                                <p:to>
                                  <p:strVal val="visible"/>
                                </p:to>
                              </p:set>
                              <p:animEffect transition="in" filter="wipe(right)">
                                <p:cBhvr additive="repl">
                                  <p:cTn id="41" dur="500"/>
                                  <p:tgtEl>
                                    <p:spTgt spid="482"/>
                                  </p:tgtEl>
                                </p:cBhvr>
                              </p:animEffect>
                            </p:childTnLst>
                          </p:cTn>
                        </p:par>
                        <p:par>
                          <p:cTn id="42" presetID="22" presetClass="entr" presetSubtype="2" fill="hold" nodeType="clickEffect">
                            <p:stCondLst>
                              <p:cond delay="0"/>
                            </p:stCondLst>
                            <p:childTnLst>
                              <p:set>
                                <p:cBhvr>
                                  <p:cTn id="43" dur="1" fill="hold">
                                    <p:stCondLst>
                                      <p:cond delay="0"/>
                                    </p:stCondLst>
                                  </p:cTn>
                                  <p:tgtEl>
                                    <p:spTgt spid="483"/>
                                  </p:tgtEl>
                                  <p:attrNameLst>
                                    <p:attrName>style.visibility</p:attrName>
                                  </p:attrNameLst>
                                </p:cBhvr>
                                <p:to>
                                  <p:strVal val="visible"/>
                                </p:to>
                              </p:set>
                              <p:animEffect transition="in" filter="wipe(right)">
                                <p:cBhvr additive="repl">
                                  <p:cTn id="44" dur="500"/>
                                  <p:tgtEl>
                                    <p:spTgt spid="483"/>
                                  </p:tgtEl>
                                </p:cBhvr>
                              </p:animEffect>
                            </p:childTnLst>
                          </p:cTn>
                        </p:par>
                        <p:par>
                          <p:cTn id="45" presetID="22" presetClass="entr" presetSubtype="2" fill="hold" nodeType="clickEffect">
                            <p:stCondLst>
                              <p:cond delay="0"/>
                            </p:stCondLst>
                            <p:childTnLst>
                              <p:set>
                                <p:cBhvr>
                                  <p:cTn id="46" dur="1" fill="hold">
                                    <p:stCondLst>
                                      <p:cond delay="0"/>
                                    </p:stCondLst>
                                  </p:cTn>
                                  <p:tgtEl>
                                    <p:spTgt spid="484"/>
                                  </p:tgtEl>
                                  <p:attrNameLst>
                                    <p:attrName>style.visibility</p:attrName>
                                  </p:attrNameLst>
                                </p:cBhvr>
                                <p:to>
                                  <p:strVal val="visible"/>
                                </p:to>
                              </p:set>
                              <p:animEffect transition="in" filter="wipe(right)">
                                <p:cBhvr additive="repl">
                                  <p:cTn id="47" dur="500"/>
                                  <p:tgtEl>
                                    <p:spTgt spid="484"/>
                                  </p:tgtEl>
                                </p:cBhvr>
                              </p:animEffect>
                            </p:childTnLst>
                          </p:cTn>
                        </p:par>
                        <p:par>
                          <p:cTn id="48" presetID="22" presetClass="entr" presetSubtype="2" fill="hold" nodeType="clickEffect">
                            <p:stCondLst>
                              <p:cond delay="0"/>
                            </p:stCondLst>
                            <p:childTnLst>
                              <p:set>
                                <p:cBhvr>
                                  <p:cTn id="49" dur="1" fill="hold">
                                    <p:stCondLst>
                                      <p:cond delay="0"/>
                                    </p:stCondLst>
                                  </p:cTn>
                                  <p:tgtEl>
                                    <p:spTgt spid="485"/>
                                  </p:tgtEl>
                                  <p:attrNameLst>
                                    <p:attrName>style.visibility</p:attrName>
                                  </p:attrNameLst>
                                </p:cBhvr>
                                <p:to>
                                  <p:strVal val="visible"/>
                                </p:to>
                              </p:set>
                              <p:animEffect transition="in" filter="wipe(right)">
                                <p:cBhvr additive="repl">
                                  <p:cTn id="50" dur="500"/>
                                  <p:tgtEl>
                                    <p:spTgt spid="485"/>
                                  </p:tgtEl>
                                </p:cBhvr>
                              </p:animEffect>
                            </p:childTnLst>
                          </p:cTn>
                        </p:par>
                      </p:childTnLst>
                    </p:cTn>
                  </p:par>
                  <p:par>
                    <p:cTn id="51" fill="hold">
                      <p:stCondLst>
                        <p:cond delay="indefinite"/>
                      </p:stCondLst>
                      <p:childTnLst>
                        <p:par>
                          <p:cTn id="52" presetID="22" presetClass="entr" presetSubtype="2" fill="hold" nodeType="clickEffect">
                            <p:stCondLst>
                              <p:cond delay="0"/>
                            </p:stCondLst>
                            <p:childTnLst>
                              <p:set>
                                <p:cBhvr>
                                  <p:cTn id="53" dur="1" fill="hold">
                                    <p:stCondLst>
                                      <p:cond delay="0"/>
                                    </p:stCondLst>
                                  </p:cTn>
                                  <p:tgtEl>
                                    <p:spTgt spid="486"/>
                                  </p:tgtEl>
                                  <p:attrNameLst>
                                    <p:attrName>style.visibility</p:attrName>
                                  </p:attrNameLst>
                                </p:cBhvr>
                                <p:to>
                                  <p:strVal val="visible"/>
                                </p:to>
                              </p:set>
                              <p:animEffect transition="in" filter="wipe(right)">
                                <p:cBhvr additive="repl">
                                  <p:cTn id="54" dur="500"/>
                                  <p:tgtEl>
                                    <p:spTgt spid="486"/>
                                  </p:tgtEl>
                                </p:cBhvr>
                              </p:animEffect>
                            </p:childTnLst>
                          </p:cTn>
                        </p:par>
                        <p:par>
                          <p:cTn id="55" presetID="22" presetClass="entr" presetSubtype="2" fill="hold" nodeType="clickEffect">
                            <p:stCondLst>
                              <p:cond delay="0"/>
                            </p:stCondLst>
                            <p:childTnLst>
                              <p:set>
                                <p:cBhvr>
                                  <p:cTn id="56" dur="1" fill="hold">
                                    <p:stCondLst>
                                      <p:cond delay="0"/>
                                    </p:stCondLst>
                                  </p:cTn>
                                  <p:tgtEl>
                                    <p:spTgt spid="487"/>
                                  </p:tgtEl>
                                  <p:attrNameLst>
                                    <p:attrName>style.visibility</p:attrName>
                                  </p:attrNameLst>
                                </p:cBhvr>
                                <p:to>
                                  <p:strVal val="visible"/>
                                </p:to>
                              </p:set>
                              <p:animEffect transition="in" filter="wipe(right)">
                                <p:cBhvr additive="repl">
                                  <p:cTn id="57" dur="500"/>
                                  <p:tgtEl>
                                    <p:spTgt spid="487"/>
                                  </p:tgtEl>
                                </p:cBhvr>
                              </p:animEffect>
                            </p:childTnLst>
                          </p:cTn>
                        </p:par>
                        <p:par>
                          <p:cTn id="58" presetID="22" presetClass="entr" presetSubtype="2" fill="hold" nodeType="clickEffect">
                            <p:stCondLst>
                              <p:cond delay="0"/>
                            </p:stCondLst>
                            <p:childTnLst>
                              <p:set>
                                <p:cBhvr>
                                  <p:cTn id="59" dur="1" fill="hold">
                                    <p:stCondLst>
                                      <p:cond delay="0"/>
                                    </p:stCondLst>
                                  </p:cTn>
                                  <p:tgtEl>
                                    <p:spTgt spid="488"/>
                                  </p:tgtEl>
                                  <p:attrNameLst>
                                    <p:attrName>style.visibility</p:attrName>
                                  </p:attrNameLst>
                                </p:cBhvr>
                                <p:to>
                                  <p:strVal val="visible"/>
                                </p:to>
                              </p:set>
                              <p:animEffect transition="in" filter="wipe(right)">
                                <p:cBhvr additive="repl">
                                  <p:cTn id="60" dur="500"/>
                                  <p:tgtEl>
                                    <p:spTgt spid="488"/>
                                  </p:tgtEl>
                                </p:cBhvr>
                              </p:animEffect>
                            </p:childTnLst>
                          </p:cTn>
                        </p:par>
                        <p:par>
                          <p:cTn id="61" presetID="22" presetClass="entr" presetSubtype="2" fill="hold" nodeType="clickEffect">
                            <p:stCondLst>
                              <p:cond delay="0"/>
                            </p:stCondLst>
                            <p:childTnLst>
                              <p:set>
                                <p:cBhvr>
                                  <p:cTn id="62" dur="1" fill="hold">
                                    <p:stCondLst>
                                      <p:cond delay="0"/>
                                    </p:stCondLst>
                                  </p:cTn>
                                  <p:tgtEl>
                                    <p:spTgt spid="489"/>
                                  </p:tgtEl>
                                  <p:attrNameLst>
                                    <p:attrName>style.visibility</p:attrName>
                                  </p:attrNameLst>
                                </p:cBhvr>
                                <p:to>
                                  <p:strVal val="visible"/>
                                </p:to>
                              </p:set>
                              <p:animEffect transition="in" filter="wipe(right)">
                                <p:cBhvr additive="repl">
                                  <p:cTn id="63" dur="500"/>
                                  <p:tgtEl>
                                    <p:spTgt spid="489"/>
                                  </p:tgtEl>
                                </p:cBhvr>
                              </p:animEffect>
                            </p:childTnLst>
                          </p:cTn>
                        </p:par>
                        <p:par>
                          <p:cTn id="64" presetID="22" presetClass="entr" presetSubtype="2" fill="hold" nodeType="clickEffect">
                            <p:stCondLst>
                              <p:cond delay="0"/>
                            </p:stCondLst>
                            <p:childTnLst>
                              <p:set>
                                <p:cBhvr>
                                  <p:cTn id="65" dur="1" fill="hold">
                                    <p:stCondLst>
                                      <p:cond delay="0"/>
                                    </p:stCondLst>
                                  </p:cTn>
                                  <p:tgtEl>
                                    <p:spTgt spid="490"/>
                                  </p:tgtEl>
                                  <p:attrNameLst>
                                    <p:attrName>style.visibility</p:attrName>
                                  </p:attrNameLst>
                                </p:cBhvr>
                                <p:to>
                                  <p:strVal val="visible"/>
                                </p:to>
                              </p:set>
                              <p:animEffect transition="in" filter="wipe(right)">
                                <p:cBhvr additive="repl">
                                  <p:cTn id="66" dur="500"/>
                                  <p:tgtEl>
                                    <p:spTgt spid="490"/>
                                  </p:tgtEl>
                                </p:cBhvr>
                              </p:animEffect>
                            </p:childTnLst>
                          </p:cTn>
                        </p:par>
                      </p:childTnLst>
                    </p:cTn>
                  </p:par>
                  <p:par>
                    <p:cTn id="67" fill="hold">
                      <p:stCondLst>
                        <p:cond delay="indefinite"/>
                      </p:stCondLst>
                      <p:childTnLst>
                        <p:par>
                          <p:cTn id="68" presetID="10" presetClass="entr" fill="hold" nodeType="clickEffect">
                            <p:stCondLst>
                              <p:cond delay="0"/>
                            </p:stCondLst>
                            <p:childTnLst>
                              <p:set>
                                <p:cBhvr>
                                  <p:cTn id="69" dur="1" fill="hold">
                                    <p:stCondLst>
                                      <p:cond delay="0"/>
                                    </p:stCondLst>
                                  </p:cTn>
                                  <p:tgtEl>
                                    <p:spTgt spid="492"/>
                                  </p:tgtEl>
                                  <p:attrNameLst>
                                    <p:attrName>style.visibility</p:attrName>
                                  </p:attrNameLst>
                                </p:cBhvr>
                                <p:to>
                                  <p:strVal val="visible"/>
                                </p:to>
                              </p:set>
                              <p:animEffect transition="in" filter="fade">
                                <p:cBhvr additive="repl">
                                  <p:cTn id="70" dur="500"/>
                                  <p:tgtEl>
                                    <p:spTgt spid="492"/>
                                  </p:tgtEl>
                                </p:cBhvr>
                              </p:animEffect>
                            </p:childTnLst>
                          </p:cTn>
                        </p:par>
                        <p:par>
                          <p:cTn id="71" presetID="10" presetClass="entr" fill="hold" nodeType="clickEffect">
                            <p:stCondLst>
                              <p:cond delay="0"/>
                            </p:stCondLst>
                            <p:childTnLst>
                              <p:set>
                                <p:cBhvr>
                                  <p:cTn id="72" dur="1" fill="hold">
                                    <p:stCondLst>
                                      <p:cond delay="0"/>
                                    </p:stCondLst>
                                  </p:cTn>
                                  <p:tgtEl>
                                    <p:spTgt spid="491"/>
                                  </p:tgtEl>
                                  <p:attrNameLst>
                                    <p:attrName>style.visibility</p:attrName>
                                  </p:attrNameLst>
                                </p:cBhvr>
                                <p:to>
                                  <p:strVal val="visible"/>
                                </p:to>
                              </p:set>
                              <p:animEffect transition="in" filter="fade">
                                <p:cBhvr additive="repl">
                                  <p:cTn id="73" dur="500"/>
                                  <p:tgtEl>
                                    <p:spTgt spid="491"/>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3"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494" name="Image 0" descr="/home/claude/pptx-build/assets/icons/FaTag-FFFFFF-200.png"/>
          <p:cNvPicPr/>
          <p:nvPr/>
        </p:nvPicPr>
        <p:blipFill>
          <a:blip r:embed="rId3"/>
          <a:stretch/>
        </p:blipFill>
        <p:spPr>
          <a:xfrm>
            <a:off x="685800" y="594360"/>
            <a:ext cx="292320" cy="292320"/>
          </a:xfrm>
          <a:prstGeom prst="rect">
            <a:avLst/>
          </a:prstGeom>
          <a:noFill/>
          <a:ln w="0">
            <a:noFill/>
          </a:ln>
        </p:spPr>
      </p:pic>
      <p:sp>
        <p:nvSpPr>
          <p:cNvPr id="495"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SENIOR ENGINEER DEFENDS AN ANCIENT PIPELINE</a:t>
            </a:r>
            <a:endParaRPr lang="en-US" sz="1500" b="0" u="none" strike="noStrike">
              <a:solidFill>
                <a:srgbClr val="000000"/>
              </a:solidFill>
              <a:effectLst/>
              <a:uFillTx/>
              <a:latin typeface="Arial"/>
            </a:endParaRPr>
          </a:p>
        </p:txBody>
      </p:sp>
      <p:sp>
        <p:nvSpPr>
          <p:cNvPr id="496"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Don’t Judge on Sticker Price Alone</a:t>
            </a:r>
            <a:endParaRPr lang="en-US" sz="3200" b="0" u="none" strike="noStrike">
              <a:solidFill>
                <a:srgbClr val="000000"/>
              </a:solidFill>
              <a:effectLst/>
              <a:uFillTx/>
              <a:latin typeface="Arial"/>
            </a:endParaRPr>
          </a:p>
        </p:txBody>
      </p:sp>
      <p:sp>
        <p:nvSpPr>
          <p:cNvPr id="497" name="Shape 3"/>
          <p:cNvSpPr/>
          <p:nvPr/>
        </p:nvSpPr>
        <p:spPr>
          <a:xfrm>
            <a:off x="548640" y="1645920"/>
            <a:ext cx="11063880" cy="2742840"/>
          </a:xfrm>
          <a:prstGeom prst="roundRect">
            <a:avLst>
              <a:gd name="adj" fmla="val 40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498" name="Text 4"/>
          <p:cNvSpPr/>
          <p:nvPr/>
        </p:nvSpPr>
        <p:spPr>
          <a:xfrm>
            <a:off x="822960" y="1828800"/>
            <a:ext cx="10515240" cy="2377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5000"/>
              </a:lnSpc>
              <a:tabLst>
                <a:tab pos="0" algn="l"/>
              </a:tabLst>
            </a:pPr>
            <a:r>
              <a:rPr lang="en-US" sz="1900" b="1" u="none" strike="noStrike" dirty="0">
                <a:solidFill>
                  <a:srgbClr val="2B2B2B"/>
                </a:solidFill>
                <a:effectLst/>
                <a:uFillTx/>
                <a:latin typeface="Calibri"/>
                <a:ea typeface="Calibri"/>
              </a:rPr>
              <a:t>Compare the whole bill, not the license line: </a:t>
            </a:r>
            <a:r>
              <a:rPr lang="en-US" sz="1900" b="0" u="none" strike="noStrike" dirty="0">
                <a:solidFill>
                  <a:srgbClr val="2B2B2B"/>
                </a:solidFill>
                <a:effectLst/>
                <a:uFillTx/>
                <a:latin typeface="Calibri"/>
                <a:ea typeface="Calibri"/>
              </a:rPr>
              <a:t>licensing tiers, GitHub Secret Protection and Code Security as add-ons, runner and compute minutes, and the admin and migration effort it actually takes to get there.</a:t>
            </a:r>
            <a:endParaRPr lang="en-US" sz="1900" b="0" u="none" strike="noStrike" dirty="0">
              <a:solidFill>
                <a:srgbClr val="000000"/>
              </a:solidFill>
              <a:effectLst/>
              <a:uFillTx/>
              <a:latin typeface="Arial"/>
            </a:endParaRPr>
          </a:p>
        </p:txBody>
      </p:sp>
      <p:sp>
        <p:nvSpPr>
          <p:cNvPr id="499" name="Shape 5"/>
          <p:cNvSpPr/>
          <p:nvPr/>
        </p:nvSpPr>
        <p:spPr>
          <a:xfrm>
            <a:off x="548640" y="4526280"/>
            <a:ext cx="11063880" cy="868320"/>
          </a:xfrm>
          <a:prstGeom prst="roundRect">
            <a:avLst>
              <a:gd name="adj" fmla="val 12632"/>
            </a:avLst>
          </a:prstGeom>
          <a:solidFill>
            <a:srgbClr val="F7F6F2"/>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00" name="Text 6"/>
          <p:cNvSpPr/>
          <p:nvPr/>
        </p:nvSpPr>
        <p:spPr>
          <a:xfrm>
            <a:off x="548640" y="4526280"/>
            <a:ext cx="11063880" cy="868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5000"/>
              </a:lnSpc>
              <a:tabLst>
                <a:tab pos="0" algn="l"/>
              </a:tabLst>
            </a:pPr>
            <a:r>
              <a:rPr lang="en-US" sz="1250" b="1" u="none" strike="noStrike" spc="119">
                <a:solidFill>
                  <a:srgbClr val="C1440E"/>
                </a:solidFill>
                <a:effectLst/>
                <a:uFillTx/>
                <a:latin typeface="Calibri"/>
              </a:rPr>
              <a:t>CAVEAT </a:t>
            </a:r>
            <a:r>
              <a:rPr lang="en-US" sz="1500" b="0" u="none" strike="noStrike">
                <a:solidFill>
                  <a:srgbClr val="2B2B2B"/>
                </a:solidFill>
                <a:effectLst/>
                <a:uFillTx/>
                <a:latin typeface="Calibri"/>
              </a:rPr>
              <a:t>Price the migration and the steady state separately, and count the months when both platforms are billing at once.</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19744A36-AE8C-4546-9FC1-0E7471DCD44A}" type="slidenum">
              <a:rPr/>
              <a:t>41</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499"/>
                                  </p:tgtEl>
                                  <p:attrNameLst>
                                    <p:attrName>style.visibility</p:attrName>
                                  </p:attrNameLst>
                                </p:cBhvr>
                                <p:to>
                                  <p:strVal val="visible"/>
                                </p:to>
                              </p:set>
                              <p:animEffect transition="in" filter="fade">
                                <p:cBhvr additive="repl">
                                  <p:cTn id="6" dur="500"/>
                                  <p:tgtEl>
                                    <p:spTgt spid="499"/>
                                  </p:tgtEl>
                                </p:cBhvr>
                              </p:animEffect>
                            </p:childTnLst>
                          </p:cTn>
                        </p:par>
                        <p:par>
                          <p:cTn id="7" presetID="10" presetClass="entr" fill="hold" nodeType="clickEffect">
                            <p:stCondLst>
                              <p:cond delay="0"/>
                            </p:stCondLst>
                            <p:childTnLst>
                              <p:set>
                                <p:cBhvr>
                                  <p:cTn id="8" dur="1" fill="hold">
                                    <p:stCondLst>
                                      <p:cond delay="0"/>
                                    </p:stCondLst>
                                  </p:cTn>
                                  <p:tgtEl>
                                    <p:spTgt spid="500"/>
                                  </p:tgtEl>
                                  <p:attrNameLst>
                                    <p:attrName>style.visibility</p:attrName>
                                  </p:attrNameLst>
                                </p:cBhvr>
                                <p:to>
                                  <p:strVal val="visible"/>
                                </p:to>
                              </p:set>
                              <p:animEffect transition="in" filter="fade">
                                <p:cBhvr additive="repl">
                                  <p:cTn id="9" dur="500"/>
                                  <p:tgtEl>
                                    <p:spTgt spid="500"/>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1"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502" name="Image 0" descr="/home/claude/pptx-build/assets/icons/FaRobot-FFFFFF-200.png"/>
          <p:cNvPicPr/>
          <p:nvPr/>
        </p:nvPicPr>
        <p:blipFill>
          <a:blip r:embed="rId3"/>
          <a:stretch/>
        </p:blipFill>
        <p:spPr>
          <a:xfrm>
            <a:off x="685800" y="594360"/>
            <a:ext cx="292320" cy="292320"/>
          </a:xfrm>
          <a:prstGeom prst="rect">
            <a:avLst/>
          </a:prstGeom>
          <a:noFill/>
          <a:ln w="0">
            <a:noFill/>
          </a:ln>
        </p:spPr>
      </p:pic>
      <p:sp>
        <p:nvSpPr>
          <p:cNvPr id="503"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SENIOR ENGINEER DEFENDS AN ANCIENT PIPELINE</a:t>
            </a:r>
            <a:endParaRPr lang="en-US" sz="1500" b="0" u="none" strike="noStrike">
              <a:solidFill>
                <a:srgbClr val="000000"/>
              </a:solidFill>
              <a:effectLst/>
              <a:uFillTx/>
              <a:latin typeface="Arial"/>
            </a:endParaRPr>
          </a:p>
        </p:txBody>
      </p:sp>
      <p:sp>
        <p:nvSpPr>
          <p:cNvPr id="504"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What Actually Gates the AI Payoff</a:t>
            </a:r>
            <a:endParaRPr lang="en-US" sz="3200" b="0" u="none" strike="noStrike">
              <a:solidFill>
                <a:srgbClr val="000000"/>
              </a:solidFill>
              <a:effectLst/>
              <a:uFillTx/>
              <a:latin typeface="Arial"/>
            </a:endParaRPr>
          </a:p>
        </p:txBody>
      </p:sp>
      <p:sp>
        <p:nvSpPr>
          <p:cNvPr id="505" name="Shape 3"/>
          <p:cNvSpPr/>
          <p:nvPr/>
        </p:nvSpPr>
        <p:spPr>
          <a:xfrm>
            <a:off x="548640" y="1737360"/>
            <a:ext cx="11063880" cy="2742840"/>
          </a:xfrm>
          <a:prstGeom prst="roundRect">
            <a:avLst>
              <a:gd name="adj" fmla="val 4000"/>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06" name="Text 4"/>
          <p:cNvSpPr/>
          <p:nvPr/>
        </p:nvSpPr>
        <p:spPr>
          <a:xfrm>
            <a:off x="822960" y="1920240"/>
            <a:ext cx="10515240" cy="2377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0000"/>
              </a:lnSpc>
              <a:tabLst>
                <a:tab pos="0" algn="l"/>
              </a:tabLst>
            </a:pPr>
            <a:r>
              <a:rPr lang="en-US" sz="1800" b="1" u="none" strike="noStrike">
                <a:solidFill>
                  <a:srgbClr val="2B2B2B"/>
                </a:solidFill>
                <a:effectLst/>
                <a:uFillTx/>
                <a:latin typeface="Calibri"/>
              </a:rPr>
              <a:t>Moving the code unlocks the tooling. Four other things decide whether it pays off:</a:t>
            </a:r>
            <a:endParaRPr lang="en-US" sz="1800" b="0" u="none" strike="noStrike">
              <a:solidFill>
                <a:srgbClr val="000000"/>
              </a:solidFill>
              <a:effectLst/>
              <a:uFillTx/>
              <a:latin typeface="Arial"/>
            </a:endParaRPr>
          </a:p>
          <a:p>
            <a:pPr marL="285840" indent="-285840" defTabSz="914400">
              <a:lnSpc>
                <a:spcPct val="100000"/>
              </a:lnSpc>
              <a:spcBef>
                <a:spcPts val="901"/>
              </a:spcBef>
              <a:spcAft>
                <a:spcPts val="799"/>
              </a:spcAft>
              <a:buClr>
                <a:srgbClr val="2B2B2B"/>
              </a:buClr>
              <a:buFont typeface="Arial"/>
              <a:buChar char="•"/>
              <a:tabLst>
                <a:tab pos="0" algn="l"/>
              </a:tabLst>
            </a:pPr>
            <a:r>
              <a:rPr lang="en-US" sz="1550" b="0" u="none" strike="noStrike">
                <a:solidFill>
                  <a:srgbClr val="2B2B2B"/>
                </a:solidFill>
                <a:effectLst/>
                <a:uFillTx/>
                <a:latin typeface="Calibri"/>
              </a:rPr>
              <a:t>Work items worth reading — from Azure Boards the agent captures the description, repro steps and last 50 comments. The work item is the prompt.</a:t>
            </a:r>
            <a:endParaRPr lang="en-US" sz="1550" b="0" u="none" strike="noStrike">
              <a:solidFill>
                <a:srgbClr val="000000"/>
              </a:solidFill>
              <a:effectLst/>
              <a:uFillTx/>
              <a:latin typeface="Arial"/>
            </a:endParaRPr>
          </a:p>
          <a:p>
            <a:pPr marL="285840" indent="-285840" defTabSz="914400">
              <a:lnSpc>
                <a:spcPct val="100000"/>
              </a:lnSpc>
              <a:spcBef>
                <a:spcPts val="499"/>
              </a:spcBef>
              <a:spcAft>
                <a:spcPts val="799"/>
              </a:spcAft>
              <a:buClr>
                <a:srgbClr val="2B2B2B"/>
              </a:buClr>
              <a:buFont typeface="Arial"/>
              <a:buChar char="•"/>
              <a:tabLst>
                <a:tab pos="0" algn="l"/>
              </a:tabLst>
            </a:pPr>
            <a:r>
              <a:rPr lang="en-US" sz="1550" b="0" u="none" strike="noStrike">
                <a:solidFill>
                  <a:srgbClr val="2B2B2B"/>
                </a:solidFill>
                <a:effectLst/>
                <a:uFillTx/>
                <a:latin typeface="Calibri"/>
              </a:rPr>
              <a:t>Conventions written down — copilot-instructions.md or AGENTS.md, or the agent guesses your house style.</a:t>
            </a:r>
            <a:endParaRPr lang="en-US" sz="1550" b="0" u="none" strike="noStrike">
              <a:solidFill>
                <a:srgbClr val="000000"/>
              </a:solidFill>
              <a:effectLst/>
              <a:uFillTx/>
              <a:latin typeface="Arial"/>
            </a:endParaRPr>
          </a:p>
          <a:p>
            <a:pPr marL="285840" indent="-285840" defTabSz="914400">
              <a:lnSpc>
                <a:spcPct val="100000"/>
              </a:lnSpc>
              <a:spcBef>
                <a:spcPts val="499"/>
              </a:spcBef>
              <a:spcAft>
                <a:spcPts val="799"/>
              </a:spcAft>
              <a:buClr>
                <a:srgbClr val="2B2B2B"/>
              </a:buClr>
              <a:buFont typeface="Arial"/>
              <a:buChar char="•"/>
              <a:tabLst>
                <a:tab pos="0" algn="l"/>
              </a:tabLst>
            </a:pPr>
            <a:r>
              <a:rPr lang="en-US" sz="1550" b="0" u="none" strike="noStrike">
                <a:solidFill>
                  <a:srgbClr val="2B2B2B"/>
                </a:solidFill>
                <a:effectLst/>
                <a:uFillTx/>
                <a:latin typeface="Calibri"/>
              </a:rPr>
              <a:t>Tests you would trust to gate a merge — otherwise agent output is capped by human review capacity.</a:t>
            </a:r>
            <a:endParaRPr lang="en-US" sz="1550" b="0" u="none" strike="noStrike">
              <a:solidFill>
                <a:srgbClr val="000000"/>
              </a:solidFill>
              <a:effectLst/>
              <a:uFillTx/>
              <a:latin typeface="Arial"/>
            </a:endParaRPr>
          </a:p>
          <a:p>
            <a:pPr marL="285840" indent="-285840" defTabSz="914400">
              <a:lnSpc>
                <a:spcPct val="100000"/>
              </a:lnSpc>
              <a:spcBef>
                <a:spcPts val="499"/>
              </a:spcBef>
              <a:spcAft>
                <a:spcPts val="799"/>
              </a:spcAft>
              <a:buClr>
                <a:srgbClr val="2B2B2B"/>
              </a:buClr>
              <a:buFont typeface="Arial"/>
              <a:buChar char="•"/>
              <a:tabLst>
                <a:tab pos="0" algn="l"/>
              </a:tabLst>
            </a:pPr>
            <a:r>
              <a:rPr lang="en-US" sz="1550" b="0" u="none" strike="noStrike">
                <a:solidFill>
                  <a:srgbClr val="2B2B2B"/>
                </a:solidFill>
                <a:effectLst/>
                <a:uFillTx/>
                <a:latin typeface="Calibri"/>
              </a:rPr>
              <a:t>Licenses and enablement — a paid Copilot plan, cloud agent enabled per repository, Boards app installed by an org owner.</a:t>
            </a:r>
            <a:endParaRPr lang="en-US" sz="1550" b="0" u="none" strike="noStrike">
              <a:solidFill>
                <a:srgbClr val="000000"/>
              </a:solidFill>
              <a:effectLst/>
              <a:uFillTx/>
              <a:latin typeface="Arial"/>
            </a:endParaRPr>
          </a:p>
        </p:txBody>
      </p:sp>
      <p:sp>
        <p:nvSpPr>
          <p:cNvPr id="507" name="Shape 5"/>
          <p:cNvSpPr/>
          <p:nvPr/>
        </p:nvSpPr>
        <p:spPr>
          <a:xfrm>
            <a:off x="548640" y="5212080"/>
            <a:ext cx="11063880" cy="822600"/>
          </a:xfrm>
          <a:prstGeom prst="roundRect">
            <a:avLst>
              <a:gd name="adj" fmla="val 12632"/>
            </a:avLst>
          </a:prstGeom>
          <a:solidFill>
            <a:srgbClr val="1F3D2C"/>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08" name="Text 6"/>
          <p:cNvSpPr/>
          <p:nvPr/>
        </p:nvSpPr>
        <p:spPr>
          <a:xfrm>
            <a:off x="548640" y="5212080"/>
            <a:ext cx="11063880" cy="82260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5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These are preconditions, not nice-to-haves. Budget for them before you promise anyone the AI payoff.</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7D61F659-293F-407C-8954-3792235BA93E}" type="slidenum">
              <a:rPr/>
              <a:t>42</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507"/>
                                  </p:tgtEl>
                                  <p:attrNameLst>
                                    <p:attrName>style.visibility</p:attrName>
                                  </p:attrNameLst>
                                </p:cBhvr>
                                <p:to>
                                  <p:strVal val="visible"/>
                                </p:to>
                              </p:set>
                              <p:animEffect transition="in" filter="fade">
                                <p:cBhvr additive="repl">
                                  <p:cTn id="6" dur="500"/>
                                  <p:tgtEl>
                                    <p:spTgt spid="507"/>
                                  </p:tgtEl>
                                </p:cBhvr>
                              </p:animEffect>
                            </p:childTnLst>
                          </p:cTn>
                        </p:par>
                        <p:par>
                          <p:cTn id="7" presetID="10" presetClass="entr" fill="hold" nodeType="clickEffect">
                            <p:stCondLst>
                              <p:cond delay="0"/>
                            </p:stCondLst>
                            <p:childTnLst>
                              <p:set>
                                <p:cBhvr>
                                  <p:cTn id="8" dur="1" fill="hold">
                                    <p:stCondLst>
                                      <p:cond delay="0"/>
                                    </p:stCondLst>
                                  </p:cTn>
                                  <p:tgtEl>
                                    <p:spTgt spid="508"/>
                                  </p:tgtEl>
                                  <p:attrNameLst>
                                    <p:attrName>style.visibility</p:attrName>
                                  </p:attrNameLst>
                                </p:cBhvr>
                                <p:to>
                                  <p:strVal val="visible"/>
                                </p:to>
                              </p:set>
                              <p:animEffect transition="in" filter="fade">
                                <p:cBhvr additive="repl">
                                  <p:cTn id="9" dur="500"/>
                                  <p:tgtEl>
                                    <p:spTgt spid="508"/>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9"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510" name="Image 0" descr="/home/claude/pptx-build/assets/icons/FaBalanceScale-FFFFFF-200.png"/>
          <p:cNvPicPr/>
          <p:nvPr/>
        </p:nvPicPr>
        <p:blipFill>
          <a:blip r:embed="rId3"/>
          <a:stretch/>
        </p:blipFill>
        <p:spPr>
          <a:xfrm>
            <a:off x="685800" y="594360"/>
            <a:ext cx="292320" cy="292320"/>
          </a:xfrm>
          <a:prstGeom prst="rect">
            <a:avLst/>
          </a:prstGeom>
          <a:noFill/>
          <a:ln w="0">
            <a:noFill/>
          </a:ln>
        </p:spPr>
      </p:pic>
      <p:sp>
        <p:nvSpPr>
          <p:cNvPr id="511"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SENIOR ENGINEER DEFENDS AN ANCIENT PIPELINE</a:t>
            </a:r>
            <a:endParaRPr lang="en-US" sz="1500" b="0" u="none" strike="noStrike">
              <a:solidFill>
                <a:srgbClr val="000000"/>
              </a:solidFill>
              <a:effectLst/>
              <a:uFillTx/>
              <a:latin typeface="Arial"/>
            </a:endParaRPr>
          </a:p>
        </p:txBody>
      </p:sp>
      <p:sp>
        <p:nvSpPr>
          <p:cNvPr id="512"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Match the Tool to Context, Not the Trend</a:t>
            </a:r>
            <a:endParaRPr lang="en-US" sz="3200" b="0" u="none" strike="noStrike">
              <a:solidFill>
                <a:srgbClr val="000000"/>
              </a:solidFill>
              <a:effectLst/>
              <a:uFillTx/>
              <a:latin typeface="Arial"/>
            </a:endParaRPr>
          </a:p>
        </p:txBody>
      </p:sp>
      <p:sp>
        <p:nvSpPr>
          <p:cNvPr id="513" name="Shape 3"/>
          <p:cNvSpPr/>
          <p:nvPr/>
        </p:nvSpPr>
        <p:spPr>
          <a:xfrm>
            <a:off x="548640" y="1691640"/>
            <a:ext cx="3428640" cy="2651400"/>
          </a:xfrm>
          <a:prstGeom prst="roundRect">
            <a:avLst>
              <a:gd name="adj" fmla="val 4138"/>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14" name="Text 4"/>
          <p:cNvSpPr/>
          <p:nvPr/>
        </p:nvSpPr>
        <p:spPr>
          <a:xfrm>
            <a:off x="777240" y="1874520"/>
            <a:ext cx="2971440" cy="77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solidFill>
                  <a:srgbClr val="1F3D2C"/>
                </a:solidFill>
                <a:effectLst/>
                <a:uFillTx/>
                <a:latin typeface="Cambria"/>
                <a:ea typeface="Cambria"/>
              </a:rPr>
              <a:t>Startups &amp; 1–3 teams</a:t>
            </a:r>
            <a:endParaRPr lang="en-US" sz="1600" b="0" u="none" strike="noStrike" dirty="0">
              <a:solidFill>
                <a:srgbClr val="000000"/>
              </a:solidFill>
              <a:effectLst/>
              <a:uFillTx/>
              <a:latin typeface="Arial"/>
            </a:endParaRPr>
          </a:p>
        </p:txBody>
      </p:sp>
      <p:sp>
        <p:nvSpPr>
          <p:cNvPr id="515" name="Text 5"/>
          <p:cNvSpPr/>
          <p:nvPr/>
        </p:nvSpPr>
        <p:spPr>
          <a:xfrm>
            <a:off x="777240" y="2697480"/>
            <a:ext cx="2971440" cy="150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350" b="0" u="none" strike="noStrike">
                <a:solidFill>
                  <a:srgbClr val="2B2B2B"/>
                </a:solidFill>
                <a:effectLst/>
                <a:uFillTx/>
                <a:latin typeface="Calibri"/>
                <a:ea typeface="Calibri"/>
              </a:rPr>
              <a:t>GitHub Projects’ lightweight fit wins — no reason to carry enterprise overhead.</a:t>
            </a:r>
            <a:endParaRPr lang="en-US" sz="1350" b="0" u="none" strike="noStrike">
              <a:solidFill>
                <a:srgbClr val="000000"/>
              </a:solidFill>
              <a:effectLst/>
              <a:uFillTx/>
              <a:latin typeface="Arial"/>
            </a:endParaRPr>
          </a:p>
        </p:txBody>
      </p:sp>
      <p:sp>
        <p:nvSpPr>
          <p:cNvPr id="516" name="Shape 6"/>
          <p:cNvSpPr/>
          <p:nvPr/>
        </p:nvSpPr>
        <p:spPr>
          <a:xfrm>
            <a:off x="4251960" y="1691640"/>
            <a:ext cx="3428640" cy="2651400"/>
          </a:xfrm>
          <a:prstGeom prst="roundRect">
            <a:avLst>
              <a:gd name="adj" fmla="val 4138"/>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17" name="Text 7"/>
          <p:cNvSpPr/>
          <p:nvPr/>
        </p:nvSpPr>
        <p:spPr>
          <a:xfrm>
            <a:off x="4480560" y="1874520"/>
            <a:ext cx="2971440" cy="77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solidFill>
                  <a:srgbClr val="1F3D2C"/>
                </a:solidFill>
                <a:effectLst/>
                <a:uFillTx/>
                <a:latin typeface="Cambria"/>
                <a:ea typeface="Cambria"/>
              </a:rPr>
              <a:t>Scaled agile, regulated, multi-team</a:t>
            </a:r>
            <a:endParaRPr lang="en-US" sz="1600" b="0" u="none" strike="noStrike" dirty="0">
              <a:solidFill>
                <a:srgbClr val="000000"/>
              </a:solidFill>
              <a:effectLst/>
              <a:uFillTx/>
              <a:latin typeface="Arial"/>
            </a:endParaRPr>
          </a:p>
        </p:txBody>
      </p:sp>
      <p:sp>
        <p:nvSpPr>
          <p:cNvPr id="518" name="Text 8"/>
          <p:cNvSpPr/>
          <p:nvPr/>
        </p:nvSpPr>
        <p:spPr>
          <a:xfrm>
            <a:off x="4480560" y="2697480"/>
            <a:ext cx="2971440" cy="150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350" b="0" u="none" strike="noStrike">
                <a:solidFill>
                  <a:srgbClr val="373636"/>
                </a:solidFill>
                <a:effectLst/>
                <a:uFillTx/>
                <a:latin typeface="Calibri"/>
                <a:ea typeface="Calibri"/>
              </a:rPr>
              <a:t>Azure Boards’ hierarchy and reporting earn their keep here.</a:t>
            </a:r>
            <a:endParaRPr lang="en-US" sz="1350" b="0" u="none" strike="noStrike">
              <a:solidFill>
                <a:srgbClr val="000000"/>
              </a:solidFill>
              <a:effectLst/>
              <a:uFillTx/>
              <a:latin typeface="Arial"/>
            </a:endParaRPr>
          </a:p>
        </p:txBody>
      </p:sp>
      <p:sp>
        <p:nvSpPr>
          <p:cNvPr id="519" name="Shape 9"/>
          <p:cNvSpPr/>
          <p:nvPr/>
        </p:nvSpPr>
        <p:spPr>
          <a:xfrm>
            <a:off x="7955280" y="1691640"/>
            <a:ext cx="3428640" cy="2651400"/>
          </a:xfrm>
          <a:prstGeom prst="roundRect">
            <a:avLst>
              <a:gd name="adj" fmla="val 4138"/>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20" name="Text 10"/>
          <p:cNvSpPr/>
          <p:nvPr/>
        </p:nvSpPr>
        <p:spPr>
          <a:xfrm>
            <a:off x="8183880" y="1874520"/>
            <a:ext cx="2971440" cy="77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solidFill>
                  <a:srgbClr val="1F3D2C"/>
                </a:solidFill>
                <a:effectLst/>
                <a:uFillTx/>
                <a:latin typeface="Cambria"/>
                <a:ea typeface="Cambria"/>
              </a:rPr>
              <a:t>Mixed estates</a:t>
            </a:r>
            <a:endParaRPr lang="en-US" sz="1600" b="0" u="none" strike="noStrike" dirty="0">
              <a:solidFill>
                <a:srgbClr val="000000"/>
              </a:solidFill>
              <a:effectLst/>
              <a:uFillTx/>
              <a:latin typeface="Arial"/>
            </a:endParaRPr>
          </a:p>
        </p:txBody>
      </p:sp>
      <p:sp>
        <p:nvSpPr>
          <p:cNvPr id="521" name="Text 11"/>
          <p:cNvSpPr/>
          <p:nvPr/>
        </p:nvSpPr>
        <p:spPr>
          <a:xfrm>
            <a:off x="8183880" y="2697480"/>
            <a:ext cx="2971440" cy="150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350" b="0" u="none" strike="noStrike">
                <a:solidFill>
                  <a:srgbClr val="2B2B2B"/>
                </a:solidFill>
                <a:effectLst/>
                <a:uFillTx/>
                <a:latin typeface="Calibri"/>
                <a:ea typeface="Calibri"/>
              </a:rPr>
              <a:t>Hybrid, deliberately — a fit, not a compromise.</a:t>
            </a:r>
            <a:endParaRPr lang="en-US" sz="1350" b="0" u="none" strike="noStrike">
              <a:solidFill>
                <a:srgbClr val="000000"/>
              </a:solidFill>
              <a:effectLst/>
              <a:uFillTx/>
              <a:latin typeface="Arial"/>
            </a:endParaRPr>
          </a:p>
        </p:txBody>
      </p:sp>
      <p:sp>
        <p:nvSpPr>
          <p:cNvPr id="522" name="Shape 12"/>
          <p:cNvSpPr/>
          <p:nvPr/>
        </p:nvSpPr>
        <p:spPr>
          <a:xfrm>
            <a:off x="548640" y="4952160"/>
            <a:ext cx="11063880" cy="894960"/>
          </a:xfrm>
          <a:prstGeom prst="roundRect">
            <a:avLst>
              <a:gd name="adj" fmla="val 12632"/>
            </a:avLst>
          </a:prstGeom>
          <a:solidFill>
            <a:srgbClr val="F7F6F2"/>
          </a:solidFill>
          <a:ln w="12700">
            <a:noFill/>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23" name="Text 13"/>
          <p:cNvSpPr/>
          <p:nvPr/>
        </p:nvSpPr>
        <p:spPr>
          <a:xfrm>
            <a:off x="548640" y="4901760"/>
            <a:ext cx="11063880" cy="10321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15000"/>
              </a:lnSpc>
              <a:tabLst>
                <a:tab pos="0" algn="l"/>
              </a:tabLst>
            </a:pPr>
            <a:r>
              <a:rPr lang="en-US" sz="1250" b="1" u="none" strike="noStrike" spc="119">
                <a:solidFill>
                  <a:srgbClr val="C1440E"/>
                </a:solidFill>
                <a:effectLst/>
                <a:uFillTx/>
                <a:latin typeface="Calibri"/>
              </a:rPr>
              <a:t>ASIDE </a:t>
            </a:r>
            <a:r>
              <a:rPr lang="en-US" sz="1500" b="0" u="none" strike="noStrike">
                <a:solidFill>
                  <a:srgbClr val="2B2B2B"/>
                </a:solidFill>
                <a:effectLst/>
                <a:uFillTx/>
                <a:latin typeface="Calibri"/>
              </a:rPr>
              <a:t>The Senior Engineer guarding that ancient pipeline isn’t wrong to be cautious — they’re defending it with the wrong argument (“it’s always worked”) instead of the right one (“here’s what the audit says”).</a:t>
            </a:r>
            <a:endParaRPr lang="en-US" sz="15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3FF86177-2CD6-4E63-8F8D-3F264A92A5EB}" type="slidenum">
              <a:rPr/>
              <a:t>43</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522"/>
                                  </p:tgtEl>
                                  <p:attrNameLst>
                                    <p:attrName>style.visibility</p:attrName>
                                  </p:attrNameLst>
                                </p:cBhvr>
                                <p:to>
                                  <p:strVal val="visible"/>
                                </p:to>
                              </p:set>
                              <p:animEffect transition="in" filter="fade">
                                <p:cBhvr additive="repl">
                                  <p:cTn id="6" dur="500"/>
                                  <p:tgtEl>
                                    <p:spTgt spid="522"/>
                                  </p:tgtEl>
                                </p:cBhvr>
                              </p:animEffect>
                            </p:childTnLst>
                          </p:cTn>
                        </p:par>
                        <p:par>
                          <p:cTn id="7" presetID="10" presetClass="entr" fill="hold" nodeType="clickEffect">
                            <p:stCondLst>
                              <p:cond delay="0"/>
                            </p:stCondLst>
                            <p:childTnLst>
                              <p:set>
                                <p:cBhvr>
                                  <p:cTn id="8" dur="1" fill="hold">
                                    <p:stCondLst>
                                      <p:cond delay="0"/>
                                    </p:stCondLst>
                                  </p:cTn>
                                  <p:tgtEl>
                                    <p:spTgt spid="523"/>
                                  </p:tgtEl>
                                  <p:attrNameLst>
                                    <p:attrName>style.visibility</p:attrName>
                                  </p:attrNameLst>
                                </p:cBhvr>
                                <p:to>
                                  <p:strVal val="visible"/>
                                </p:to>
                              </p:set>
                              <p:animEffect transition="in" filter="fade">
                                <p:cBhvr additive="repl">
                                  <p:cTn id="9" dur="500"/>
                                  <p:tgtEl>
                                    <p:spTgt spid="523"/>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524" name="Text 0"/>
          <p:cNvSpPr/>
          <p:nvPr/>
        </p:nvSpPr>
        <p:spPr>
          <a:xfrm>
            <a:off x="548640" y="2651760"/>
            <a:ext cx="1106388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200" b="1" u="none" strike="noStrike">
                <a:solidFill>
                  <a:srgbClr val="F5F5F0"/>
                </a:solidFill>
                <a:effectLst/>
                <a:uFillTx/>
                <a:latin typeface="Cambria"/>
                <a:ea typeface="Cambria"/>
              </a:rPr>
              <a:t>Q&amp;A POCKET</a:t>
            </a:r>
            <a:endParaRPr lang="en-US" sz="4200" b="0" u="none" strike="noStrike">
              <a:solidFill>
                <a:srgbClr val="FFFFFF"/>
              </a:solidFill>
              <a:effectLst/>
              <a:uFillTx/>
              <a:latin typeface="Arial"/>
            </a:endParaRPr>
          </a:p>
        </p:txBody>
      </p:sp>
      <p:sp>
        <p:nvSpPr>
          <p:cNvPr id="525" name="Text 1"/>
          <p:cNvSpPr/>
          <p:nvPr/>
        </p:nvSpPr>
        <p:spPr>
          <a:xfrm>
            <a:off x="548640" y="3703320"/>
            <a:ext cx="1106388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0" i="1" u="none" strike="noStrike">
                <a:solidFill>
                  <a:srgbClr val="E0B85C"/>
                </a:solidFill>
                <a:effectLst/>
                <a:uFillTx/>
                <a:latin typeface="Calibri"/>
                <a:ea typeface="Calibri"/>
              </a:rPr>
              <a:t>One quick question before we leave Section 5 — The Senior Engineer Defends an Ancient Pipeline</a:t>
            </a:r>
            <a:endParaRPr lang="en-US" sz="1900" b="0" u="none" strike="noStrike">
              <a:solidFill>
                <a:srgbClr val="FFFFFF"/>
              </a:solidFill>
              <a:effectLst/>
              <a:uFillTx/>
              <a:latin typeface="Arial"/>
            </a:endParaRPr>
          </a:p>
        </p:txBody>
      </p:sp>
      <p:sp>
        <p:nvSpPr>
          <p:cNvPr id="526" name="PlaceHolder 1"/>
          <p:cNvSpPr>
            <a:spLocks noGrp="1"/>
          </p:cNvSpPr>
          <p:nvPr>
            <p:ph type="sldNum" idx="14"/>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F3007DF6-179D-4ECC-B6A3-E007639C1982}" type="slidenum">
              <a:rPr lang="en-US" sz="1000" b="0" u="none" strike="noStrike">
                <a:solidFill>
                  <a:srgbClr val="E0B85C"/>
                </a:solidFill>
                <a:effectLst/>
                <a:uFillTx/>
                <a:latin typeface="Calibri"/>
              </a:rPr>
              <a:t>44</a:t>
            </a:fld>
            <a:endParaRPr lang="en-US" sz="1000" b="0" u="none" strike="noStrike">
              <a:solidFill>
                <a:srgbClr val="FFFFFF"/>
              </a:solidFill>
              <a:effectLst/>
              <a:uFillTx/>
              <a:latin typeface="Times New Roman"/>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F3D2C"/>
        </a:solidFill>
        <a:effectLst/>
      </p:bgPr>
    </p:bg>
    <p:spTree>
      <p:nvGrpSpPr>
        <p:cNvPr id="1" name=""/>
        <p:cNvGrpSpPr/>
        <p:nvPr/>
      </p:nvGrpSpPr>
      <p:grpSpPr>
        <a:xfrm>
          <a:off x="0" y="0"/>
          <a:ext cx="0" cy="0"/>
          <a:chOff x="0" y="0"/>
          <a:chExt cx="0" cy="0"/>
        </a:xfrm>
      </p:grpSpPr>
      <p:sp>
        <p:nvSpPr>
          <p:cNvPr id="527" name="Shape 0"/>
          <p:cNvSpPr/>
          <p:nvPr/>
        </p:nvSpPr>
        <p:spPr>
          <a:xfrm>
            <a:off x="0" y="0"/>
            <a:ext cx="12191400" cy="1234080"/>
          </a:xfrm>
          <a:prstGeom prst="rect">
            <a:avLst/>
          </a:prstGeom>
          <a:solidFill>
            <a:srgbClr val="142A1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28" name="Text 1"/>
          <p:cNvSpPr/>
          <p:nvPr/>
        </p:nvSpPr>
        <p:spPr>
          <a:xfrm>
            <a:off x="548640" y="365760"/>
            <a:ext cx="91436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spc="300">
                <a:solidFill>
                  <a:srgbClr val="E0B85C"/>
                </a:solidFill>
                <a:effectLst/>
                <a:uFillTx/>
                <a:latin typeface="Calibri"/>
                <a:ea typeface="Calibri"/>
              </a:rPr>
              <a:t>SECTION 6</a:t>
            </a:r>
            <a:endParaRPr lang="en-US" sz="1700" b="0" u="none" strike="noStrike">
              <a:solidFill>
                <a:srgbClr val="FFFFFF"/>
              </a:solidFill>
              <a:effectLst/>
              <a:uFillTx/>
              <a:latin typeface="Arial"/>
            </a:endParaRPr>
          </a:p>
        </p:txBody>
      </p:sp>
      <p:pic>
        <p:nvPicPr>
          <p:cNvPr id="529" name="Image 0" descr="/home/claude/pptx-build/assets/icons/FaWater-8C6A3F-300.png"/>
          <p:cNvPicPr/>
          <p:nvPr/>
        </p:nvPicPr>
        <p:blipFill>
          <a:blip r:embed="rId3">
            <a:alphaModFix amt="85000"/>
          </a:blip>
          <a:stretch/>
        </p:blipFill>
        <p:spPr>
          <a:xfrm>
            <a:off x="10154520" y="2194560"/>
            <a:ext cx="1462680" cy="1462680"/>
          </a:xfrm>
          <a:prstGeom prst="rect">
            <a:avLst/>
          </a:prstGeom>
          <a:noFill/>
          <a:ln w="0">
            <a:noFill/>
          </a:ln>
        </p:spPr>
      </p:pic>
      <p:sp>
        <p:nvSpPr>
          <p:cNvPr id="530" name="Text 2"/>
          <p:cNvSpPr/>
          <p:nvPr/>
        </p:nvSpPr>
        <p:spPr>
          <a:xfrm>
            <a:off x="548640" y="2331720"/>
            <a:ext cx="8777880" cy="173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4400" b="1" u="none" strike="noStrike">
                <a:solidFill>
                  <a:srgbClr val="F5F5F0"/>
                </a:solidFill>
                <a:effectLst/>
                <a:uFillTx/>
                <a:latin typeface="Cambria"/>
                <a:ea typeface="Cambria"/>
              </a:rPr>
              <a:t>The Watering Hole Nobody Told to Move</a:t>
            </a:r>
            <a:endParaRPr lang="en-US" sz="4400" b="0" u="none" strike="noStrike">
              <a:solidFill>
                <a:srgbClr val="FFFFFF"/>
              </a:solidFill>
              <a:effectLst/>
              <a:uFillTx/>
              <a:latin typeface="Arial"/>
            </a:endParaRPr>
          </a:p>
        </p:txBody>
      </p:sp>
      <p:sp>
        <p:nvSpPr>
          <p:cNvPr id="531" name="Text 3"/>
          <p:cNvSpPr/>
          <p:nvPr/>
        </p:nvSpPr>
        <p:spPr>
          <a:xfrm>
            <a:off x="548640" y="4160520"/>
            <a:ext cx="8777880" cy="123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2000" b="0" i="1" u="none" strike="noStrike">
                <a:solidFill>
                  <a:srgbClr val="E0B85C"/>
                </a:solidFill>
                <a:effectLst/>
                <a:uFillTx/>
                <a:latin typeface="Calibri"/>
                <a:ea typeface="Calibri"/>
              </a:rPr>
              <a:t>Every migration leaves a watering hole behind — the place everything used to gather. Some animals find the new one. Some keep showing up at the old one out of habit, confused it went dry.</a:t>
            </a:r>
            <a:endParaRPr lang="en-US" sz="2000" b="0" u="none" strike="noStrike">
              <a:solidFill>
                <a:srgbClr val="FFFFFF"/>
              </a:solidFill>
              <a:effectLst/>
              <a:uFillTx/>
              <a:latin typeface="Arial"/>
            </a:endParaRPr>
          </a:p>
        </p:txBody>
      </p:sp>
      <p:sp>
        <p:nvSpPr>
          <p:cNvPr id="532" name="Shape 4"/>
          <p:cNvSpPr/>
          <p:nvPr/>
        </p:nvSpPr>
        <p:spPr>
          <a:xfrm>
            <a:off x="548640" y="6217920"/>
            <a:ext cx="11064240" cy="360"/>
          </a:xfrm>
          <a:prstGeom prst="line">
            <a:avLst/>
          </a:prstGeom>
          <a:ln w="9525">
            <a:solidFill>
              <a:srgbClr val="8C6A3F"/>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533" name="PlaceHolder 1"/>
          <p:cNvSpPr>
            <a:spLocks noGrp="1"/>
          </p:cNvSpPr>
          <p:nvPr>
            <p:ph type="sldNum" idx="15"/>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24272950-8E7A-4AE1-903B-3B77002C59FE}" type="slidenum">
              <a:rPr lang="en-US" sz="1000" b="0" u="none" strike="noStrike">
                <a:solidFill>
                  <a:srgbClr val="E0B85C"/>
                </a:solidFill>
                <a:effectLst/>
                <a:uFillTx/>
                <a:latin typeface="Calibri"/>
              </a:rPr>
              <a:t>45</a:t>
            </a:fld>
            <a:endParaRPr lang="en-US" sz="1000" b="0" u="none" strike="noStrike">
              <a:solidFill>
                <a:srgbClr val="FFFFFF"/>
              </a:solidFill>
              <a:effectLst/>
              <a:uFillTx/>
              <a:latin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34"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535" name="Image 0" descr="/home/claude/pptx-build/assets/icons/FaLink-FFFFFF-200.png"/>
          <p:cNvPicPr/>
          <p:nvPr/>
        </p:nvPicPr>
        <p:blipFill>
          <a:blip r:embed="rId3"/>
          <a:stretch/>
        </p:blipFill>
        <p:spPr>
          <a:xfrm>
            <a:off x="685800" y="594360"/>
            <a:ext cx="292320" cy="292320"/>
          </a:xfrm>
          <a:prstGeom prst="rect">
            <a:avLst/>
          </a:prstGeom>
          <a:noFill/>
          <a:ln w="0">
            <a:noFill/>
          </a:ln>
        </p:spPr>
      </p:pic>
      <p:sp>
        <p:nvSpPr>
          <p:cNvPr id="536"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WATERING HOLE NOBODY TOLD TO MOVE</a:t>
            </a:r>
            <a:endParaRPr lang="en-US" sz="1500" b="0" u="none" strike="noStrike">
              <a:solidFill>
                <a:srgbClr val="000000"/>
              </a:solidFill>
              <a:effectLst/>
              <a:uFillTx/>
              <a:latin typeface="Arial"/>
            </a:endParaRPr>
          </a:p>
        </p:txBody>
      </p:sp>
      <p:sp>
        <p:nvSpPr>
          <p:cNvPr id="537"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The Long Tail: Hardcoded Azure DevOps URLs</a:t>
            </a:r>
            <a:endParaRPr lang="en-US" sz="3200" b="0" u="none" strike="noStrike">
              <a:solidFill>
                <a:srgbClr val="000000"/>
              </a:solidFill>
              <a:effectLst/>
              <a:uFillTx/>
              <a:latin typeface="Arial"/>
            </a:endParaRPr>
          </a:p>
        </p:txBody>
      </p:sp>
      <p:sp>
        <p:nvSpPr>
          <p:cNvPr id="538" name="Shape 3"/>
          <p:cNvSpPr/>
          <p:nvPr/>
        </p:nvSpPr>
        <p:spPr>
          <a:xfrm>
            <a:off x="548640" y="1417320"/>
            <a:ext cx="11063880" cy="996480"/>
          </a:xfrm>
          <a:prstGeom prst="roundRect">
            <a:avLst>
              <a:gd name="adj" fmla="val 7742"/>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39" name="Text 4"/>
          <p:cNvSpPr/>
          <p:nvPr/>
        </p:nvSpPr>
        <p:spPr>
          <a:xfrm>
            <a:off x="868680" y="1600200"/>
            <a:ext cx="1042380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800" b="1" u="none" strike="noStrike">
                <a:solidFill>
                  <a:srgbClr val="2B2B2B"/>
                </a:solidFill>
                <a:effectLst/>
                <a:uFillTx/>
                <a:latin typeface="Calibri"/>
                <a:ea typeface="Calibri"/>
              </a:rPr>
              <a:t>The single most reliable source of post-migration tickets. </a:t>
            </a:r>
            <a:r>
              <a:rPr lang="en-US" sz="1800" b="0" u="none" strike="noStrike">
                <a:solidFill>
                  <a:srgbClr val="2B2B2B"/>
                </a:solidFill>
                <a:effectLst/>
                <a:uFillTx/>
                <a:latin typeface="Calibri"/>
                <a:ea typeface="Calibri"/>
              </a:rPr>
              <a:t>Not the migration itself — the references to it, buried everywhere nobody thought to look.</a:t>
            </a:r>
            <a:endParaRPr lang="en-US" sz="1800" b="0" u="none" strike="noStrike">
              <a:solidFill>
                <a:srgbClr val="000000"/>
              </a:solidFill>
              <a:effectLst/>
              <a:uFillTx/>
              <a:latin typeface="Arial"/>
            </a:endParaRPr>
          </a:p>
        </p:txBody>
      </p:sp>
      <p:sp>
        <p:nvSpPr>
          <p:cNvPr id="540" name="Shape 5"/>
          <p:cNvSpPr/>
          <p:nvPr/>
        </p:nvSpPr>
        <p:spPr>
          <a:xfrm>
            <a:off x="548640" y="2595600"/>
            <a:ext cx="11063880" cy="621360"/>
          </a:xfrm>
          <a:prstGeom prst="roundRect">
            <a:avLst>
              <a:gd name="adj" fmla="val 14706"/>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41" name="Text 6"/>
          <p:cNvSpPr/>
          <p:nvPr/>
        </p:nvSpPr>
        <p:spPr>
          <a:xfrm>
            <a:off x="868680" y="2595600"/>
            <a:ext cx="10423800" cy="621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F5F5F0"/>
                </a:solidFill>
                <a:effectLst/>
                <a:uFillTx/>
                <a:latin typeface="Calibri"/>
                <a:ea typeface="Calibri"/>
              </a:rPr>
              <a:t>Build &amp; release pipeline YAML — service connections, task inputs, artifact feed URLs</a:t>
            </a:r>
            <a:endParaRPr lang="en-US" sz="1600" b="0" u="none" strike="noStrike">
              <a:solidFill>
                <a:srgbClr val="000000"/>
              </a:solidFill>
              <a:effectLst/>
              <a:uFillTx/>
              <a:latin typeface="Arial"/>
            </a:endParaRPr>
          </a:p>
        </p:txBody>
      </p:sp>
      <p:sp>
        <p:nvSpPr>
          <p:cNvPr id="542" name="Shape 7"/>
          <p:cNvSpPr/>
          <p:nvPr/>
        </p:nvSpPr>
        <p:spPr>
          <a:xfrm>
            <a:off x="548640" y="3327120"/>
            <a:ext cx="11063880" cy="621360"/>
          </a:xfrm>
          <a:prstGeom prst="roundRect">
            <a:avLst>
              <a:gd name="adj" fmla="val 14706"/>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43" name="Text 8"/>
          <p:cNvSpPr/>
          <p:nvPr/>
        </p:nvSpPr>
        <p:spPr>
          <a:xfrm>
            <a:off x="868680" y="3327120"/>
            <a:ext cx="10423800" cy="621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F5F5F0"/>
                </a:solidFill>
                <a:effectLst/>
                <a:uFillTx/>
                <a:latin typeface="Calibri"/>
                <a:ea typeface="Calibri"/>
              </a:rPr>
              <a:t>Infrastructure-as-code — Terraform/Bicep referencing an Azure DevOps repo or feed</a:t>
            </a:r>
            <a:endParaRPr lang="en-US" sz="1600" b="0" u="none" strike="noStrike">
              <a:solidFill>
                <a:srgbClr val="000000"/>
              </a:solidFill>
              <a:effectLst/>
              <a:uFillTx/>
              <a:latin typeface="Arial"/>
            </a:endParaRPr>
          </a:p>
        </p:txBody>
      </p:sp>
      <p:sp>
        <p:nvSpPr>
          <p:cNvPr id="544" name="Shape 9"/>
          <p:cNvSpPr/>
          <p:nvPr/>
        </p:nvSpPr>
        <p:spPr>
          <a:xfrm>
            <a:off x="548640" y="4058640"/>
            <a:ext cx="11063880" cy="621360"/>
          </a:xfrm>
          <a:prstGeom prst="roundRect">
            <a:avLst>
              <a:gd name="adj" fmla="val 14706"/>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45" name="Text 10"/>
          <p:cNvSpPr/>
          <p:nvPr/>
        </p:nvSpPr>
        <p:spPr>
          <a:xfrm>
            <a:off x="868680" y="4058640"/>
            <a:ext cx="10423800" cy="621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F5F5F0"/>
                </a:solidFill>
                <a:effectLst/>
                <a:uFillTx/>
                <a:latin typeface="Calibri"/>
                <a:ea typeface="Calibri"/>
              </a:rPr>
              <a:t>READMEs, bookmarks, wikis, onboarding docs — "clone from dev.azure.com/..."</a:t>
            </a:r>
            <a:endParaRPr lang="en-US" sz="1600" b="0" u="none" strike="noStrike">
              <a:solidFill>
                <a:srgbClr val="000000"/>
              </a:solidFill>
              <a:effectLst/>
              <a:uFillTx/>
              <a:latin typeface="Arial"/>
            </a:endParaRPr>
          </a:p>
        </p:txBody>
      </p:sp>
      <p:sp>
        <p:nvSpPr>
          <p:cNvPr id="546" name="Shape 11"/>
          <p:cNvSpPr/>
          <p:nvPr/>
        </p:nvSpPr>
        <p:spPr>
          <a:xfrm>
            <a:off x="548640" y="4790160"/>
            <a:ext cx="11063880" cy="621360"/>
          </a:xfrm>
          <a:prstGeom prst="roundRect">
            <a:avLst>
              <a:gd name="adj" fmla="val 14706"/>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47" name="Text 12"/>
          <p:cNvSpPr/>
          <p:nvPr/>
        </p:nvSpPr>
        <p:spPr>
          <a:xfrm>
            <a:off x="868680" y="4790160"/>
            <a:ext cx="10423800" cy="621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F5F5F0"/>
                </a:solidFill>
                <a:effectLst/>
                <a:uFillTx/>
                <a:latin typeface="Calibri"/>
                <a:ea typeface="Calibri"/>
              </a:rPr>
              <a:t>Forgotten internal tools — the one script three people know exists</a:t>
            </a:r>
            <a:endParaRPr lang="en-US" sz="1600" b="0" u="none" strike="noStrike">
              <a:solidFill>
                <a:srgbClr val="000000"/>
              </a:solidFill>
              <a:effectLst/>
              <a:uFillTx/>
              <a:latin typeface="Arial"/>
            </a:endParaRPr>
          </a:p>
        </p:txBody>
      </p:sp>
      <p:sp>
        <p:nvSpPr>
          <p:cNvPr id="548" name="Text 13"/>
          <p:cNvSpPr/>
          <p:nvPr/>
        </p:nvSpPr>
        <p:spPr>
          <a:xfrm>
            <a:off x="548640" y="6172200"/>
            <a:ext cx="1106388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spc="119">
                <a:solidFill>
                  <a:srgbClr val="C1440E"/>
                </a:solidFill>
                <a:effectLst/>
                <a:uFillTx/>
                <a:latin typeface="Calibri"/>
              </a:rPr>
              <a:t>DO THIS </a:t>
            </a:r>
            <a:r>
              <a:rPr lang="en-US" sz="1300" b="0" u="none" strike="noStrike">
                <a:solidFill>
                  <a:srgbClr val="2B2B2B"/>
                </a:solidFill>
                <a:effectLst/>
                <a:uFillTx/>
                <a:latin typeface="Calibri"/>
              </a:rPr>
              <a:t>Budget a real sweep before cutover — then a second one a month later, once the things that only run monthly have had a chance to fail.</a:t>
            </a:r>
            <a:endParaRPr lang="en-US" sz="1300" b="0" u="none" strike="noStrike">
              <a:solidFill>
                <a:srgbClr val="000000"/>
              </a:solidFill>
              <a:effectLst/>
              <a:uFillTx/>
              <a:latin typeface="Arial"/>
            </a:endParaRPr>
          </a:p>
        </p:txBody>
      </p:sp>
      <p:sp>
        <p:nvSpPr>
          <p:cNvPr id="549" name="Shape 11"/>
          <p:cNvSpPr/>
          <p:nvPr/>
        </p:nvSpPr>
        <p:spPr>
          <a:xfrm>
            <a:off x="548640" y="5521680"/>
            <a:ext cx="11063880" cy="621360"/>
          </a:xfrm>
          <a:prstGeom prst="roundRect">
            <a:avLst>
              <a:gd name="adj" fmla="val 14706"/>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50" name="Text 12"/>
          <p:cNvSpPr/>
          <p:nvPr/>
        </p:nvSpPr>
        <p:spPr>
          <a:xfrm>
            <a:off x="868680" y="5521680"/>
            <a:ext cx="10423800" cy="621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u="none" strike="noStrike">
                <a:solidFill>
                  <a:srgbClr val="F5F5F0"/>
                </a:solidFill>
                <a:effectLst/>
                <a:uFillTx/>
                <a:latin typeface="Calibri"/>
                <a:ea typeface="Calibri"/>
              </a:rPr>
              <a:t>Local repo remote URLs — everyone’s got a repo copy, someone will forget to update it</a:t>
            </a:r>
            <a:endParaRPr lang="en-US" sz="16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AA9B695A-A5AC-40F5-9C12-C3CBD41DA73F}" type="slidenum">
              <a:rPr/>
              <a:t>46</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548"/>
                                  </p:tgtEl>
                                  <p:attrNameLst>
                                    <p:attrName>style.visibility</p:attrName>
                                  </p:attrNameLst>
                                </p:cBhvr>
                                <p:to>
                                  <p:strVal val="visible"/>
                                </p:to>
                              </p:set>
                              <p:animEffect transition="in" filter="fade">
                                <p:cBhvr additive="repl">
                                  <p:cTn id="6" dur="500"/>
                                  <p:tgtEl>
                                    <p:spTgt spid="548"/>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51"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552" name="Image 0" descr="/home/claude/pptx-build/assets/icons/FaUserSecret-FFFFFF-200.png"/>
          <p:cNvPicPr/>
          <p:nvPr/>
        </p:nvPicPr>
        <p:blipFill>
          <a:blip r:embed="rId3"/>
          <a:stretch/>
        </p:blipFill>
        <p:spPr>
          <a:xfrm>
            <a:off x="685800" y="594360"/>
            <a:ext cx="292320" cy="292320"/>
          </a:xfrm>
          <a:prstGeom prst="rect">
            <a:avLst/>
          </a:prstGeom>
          <a:noFill/>
          <a:ln w="0">
            <a:noFill/>
          </a:ln>
        </p:spPr>
      </p:pic>
      <p:sp>
        <p:nvSpPr>
          <p:cNvPr id="553"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WATERING HOLE NOBODY TOLD TO MOVE</a:t>
            </a:r>
            <a:endParaRPr lang="en-US" sz="1500" b="0" u="none" strike="noStrike">
              <a:solidFill>
                <a:srgbClr val="000000"/>
              </a:solidFill>
              <a:effectLst/>
              <a:uFillTx/>
              <a:latin typeface="Arial"/>
            </a:endParaRPr>
          </a:p>
        </p:txBody>
      </p:sp>
      <p:sp>
        <p:nvSpPr>
          <p:cNvPr id="554"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The Mannequins Nobody Claimed</a:t>
            </a:r>
            <a:endParaRPr lang="en-US" sz="3200" b="0" u="none" strike="noStrike">
              <a:solidFill>
                <a:srgbClr val="000000"/>
              </a:solidFill>
              <a:effectLst/>
              <a:uFillTx/>
              <a:latin typeface="Arial"/>
            </a:endParaRPr>
          </a:p>
        </p:txBody>
      </p:sp>
      <p:sp>
        <p:nvSpPr>
          <p:cNvPr id="555" name="Shape 3"/>
          <p:cNvSpPr/>
          <p:nvPr/>
        </p:nvSpPr>
        <p:spPr>
          <a:xfrm>
            <a:off x="548640" y="1792800"/>
            <a:ext cx="11063880" cy="1096920"/>
          </a:xfrm>
          <a:prstGeom prst="roundRect">
            <a:avLst>
              <a:gd name="adj" fmla="val 6857"/>
            </a:avLst>
          </a:prstGeom>
          <a:solidFill>
            <a:srgbClr val="F7F6F2"/>
          </a:solidFill>
          <a:ln w="12700">
            <a:solidFill>
              <a:srgbClr val="DDD8CC"/>
            </a:solidFill>
            <a:round/>
          </a:ln>
          <a:effectLst>
            <a:outerShdw blurRad="76320" dist="25560" dir="54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56" name="Text 4"/>
          <p:cNvSpPr/>
          <p:nvPr/>
        </p:nvSpPr>
        <p:spPr>
          <a:xfrm>
            <a:off x="868680" y="1948320"/>
            <a:ext cx="1042380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800" b="1" u="none" strike="noStrike">
                <a:solidFill>
                  <a:srgbClr val="2B2B2B"/>
                </a:solidFill>
                <a:effectLst/>
                <a:uFillTx/>
                <a:latin typeface="Calibri"/>
                <a:ea typeface="Calibri"/>
              </a:rPr>
              <a:t>Every Azure DevOps user becomes a mannequin at migration time — </a:t>
            </a:r>
            <a:r>
              <a:rPr lang="en-US" sz="1800" b="0" u="none" strike="noStrike">
                <a:solidFill>
                  <a:srgbClr val="2B2B2B"/>
                </a:solidFill>
                <a:effectLst/>
                <a:uFillTx/>
                <a:latin typeface="Calibri"/>
                <a:ea typeface="Calibri"/>
              </a:rPr>
              <a:t>a placeholder account standing in for a real person until someone claims it.</a:t>
            </a:r>
            <a:endParaRPr lang="en-US" sz="1800" b="0" u="none" strike="noStrike">
              <a:solidFill>
                <a:srgbClr val="000000"/>
              </a:solidFill>
              <a:effectLst/>
              <a:uFillTx/>
              <a:latin typeface="Arial"/>
            </a:endParaRPr>
          </a:p>
        </p:txBody>
      </p:sp>
      <p:sp>
        <p:nvSpPr>
          <p:cNvPr id="557" name="Shape 5"/>
          <p:cNvSpPr/>
          <p:nvPr/>
        </p:nvSpPr>
        <p:spPr>
          <a:xfrm>
            <a:off x="548640" y="3072960"/>
            <a:ext cx="11063880" cy="1279800"/>
          </a:xfrm>
          <a:prstGeom prst="roundRect">
            <a:avLst>
              <a:gd name="adj" fmla="val 6486"/>
            </a:avLst>
          </a:prstGeom>
          <a:solidFill>
            <a:srgbClr val="8C6A3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58" name="Text 6"/>
          <p:cNvSpPr/>
          <p:nvPr/>
        </p:nvSpPr>
        <p:spPr>
          <a:xfrm>
            <a:off x="868680" y="3237480"/>
            <a:ext cx="10423800" cy="959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0" u="none" strike="noStrike">
                <a:solidFill>
                  <a:srgbClr val="FFFFFF"/>
                </a:solidFill>
                <a:effectLst/>
                <a:uFillTx/>
                <a:latin typeface="Calibri"/>
                <a:ea typeface="Calibri"/>
              </a:rPr>
              <a:t>Everything except Git commits — pull-request authorship, comments and reviews — stays on the mannequin until it is reclaimed. An organization owner sends the attribution invitation, but nothing is reattributed until the person accepts it.</a:t>
            </a:r>
            <a:endParaRPr lang="en-US" sz="1700" b="0" u="none" strike="noStrike">
              <a:solidFill>
                <a:srgbClr val="000000"/>
              </a:solidFill>
              <a:effectLst/>
              <a:uFillTx/>
              <a:latin typeface="Arial"/>
            </a:endParaRPr>
          </a:p>
        </p:txBody>
      </p:sp>
      <p:sp>
        <p:nvSpPr>
          <p:cNvPr id="559" name="Rounded Rectangle 12"/>
          <p:cNvSpPr/>
          <p:nvPr/>
        </p:nvSpPr>
        <p:spPr>
          <a:xfrm>
            <a:off x="548640" y="4536000"/>
            <a:ext cx="11063880" cy="859320"/>
          </a:xfrm>
          <a:prstGeom prst="roundRect">
            <a:avLst>
              <a:gd name="adj" fmla="val 12632"/>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560" name="Text 7"/>
          <p:cNvSpPr/>
          <p:nvPr/>
        </p:nvSpPr>
        <p:spPr>
          <a:xfrm>
            <a:off x="548640" y="4536000"/>
            <a:ext cx="11063880" cy="859320"/>
          </a:xfrm>
          <a:prstGeom prst="rect">
            <a:avLst/>
          </a:prstGeom>
          <a:noFill/>
          <a:ln w="0">
            <a:noFill/>
          </a:ln>
        </p:spPr>
        <p:style>
          <a:lnRef idx="0">
            <a:scrgbClr r="0" g="0" b="0"/>
          </a:lnRef>
          <a:fillRef idx="0">
            <a:scrgbClr r="0" g="0" b="0"/>
          </a:fillRef>
          <a:effectRef idx="0">
            <a:scrgbClr r="0" g="0" b="0"/>
          </a:effectRef>
          <a:fontRef idx="minor"/>
        </p:style>
        <p:txBody>
          <a:bodyPr lIns="255960" tIns="54720" rIns="255960" bIns="54720" anchor="ctr">
            <a:noAutofit/>
          </a:bodyPr>
          <a:lstStyle/>
          <a:p>
            <a:pPr defTabSz="914400">
              <a:lnSpc>
                <a:spcPct val="100000"/>
              </a:lnSpc>
              <a:tabLst>
                <a:tab pos="0" algn="l"/>
              </a:tabLst>
            </a:pPr>
            <a:r>
              <a:rPr lang="en-US" sz="1250" b="1" u="none" strike="noStrike" spc="119">
                <a:solidFill>
                  <a:srgbClr val="E0B85C"/>
                </a:solidFill>
                <a:effectLst/>
                <a:uFillTx/>
                <a:latin typeface="Calibri"/>
              </a:rPr>
              <a:t>TAKEAWAY </a:t>
            </a:r>
            <a:r>
              <a:rPr lang="en-US" sz="1500" b="0" u="none" strike="noStrike">
                <a:solidFill>
                  <a:srgbClr val="F5F5F0"/>
                </a:solidFill>
                <a:effectLst/>
                <a:uFillTx/>
                <a:latin typeface="Calibri"/>
              </a:rPr>
              <a:t>The fix isn’t clever: plan the identity mapping before migration, not after. Remapping later is the harder path.</a:t>
            </a:r>
            <a:endParaRPr lang="en-US" sz="1500" b="0" u="none" strike="noStrike">
              <a:solidFill>
                <a:srgbClr val="000000"/>
              </a:solidFill>
              <a:effectLst/>
              <a:uFillTx/>
              <a:latin typeface="Arial"/>
            </a:endParaRPr>
          </a:p>
        </p:txBody>
      </p:sp>
      <p:sp>
        <p:nvSpPr>
          <p:cNvPr id="561" name="Shape 8"/>
          <p:cNvSpPr/>
          <p:nvPr/>
        </p:nvSpPr>
        <p:spPr>
          <a:xfrm>
            <a:off x="563760" y="5897880"/>
            <a:ext cx="11064240" cy="360"/>
          </a:xfrm>
          <a:prstGeom prst="line">
            <a:avLst/>
          </a:prstGeom>
          <a:ln w="9525">
            <a:solidFill>
              <a:srgbClr val="DDD8CC"/>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Calibri"/>
            </a:endParaRPr>
          </a:p>
        </p:txBody>
      </p:sp>
      <p:sp>
        <p:nvSpPr>
          <p:cNvPr id="562" name="Text 9"/>
          <p:cNvSpPr/>
          <p:nvPr/>
        </p:nvSpPr>
        <p:spPr>
          <a:xfrm>
            <a:off x="563760" y="6007680"/>
            <a:ext cx="11063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i="1" u="none" strike="noStrike">
                <a:solidFill>
                  <a:srgbClr val="6B6B63"/>
                </a:solidFill>
                <a:effectLst/>
                <a:uFillTx/>
                <a:latin typeface="Calibri"/>
                <a:ea typeface="Calibri"/>
              </a:rPr>
              <a:t>DOCUMENTARY ASIDE — a herd of placeholder accounts, grazing quietly in the repo’s activity feed at this section’s watering hole, waiting for someone to notice they’re there.</a:t>
            </a:r>
            <a:endParaRPr lang="en-US" sz="13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E00BBEF6-112A-4C70-89AC-F502CB0EFDC1}" type="slidenum">
              <a:rPr/>
              <a:t>47</a:t>
            </a:fld>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presetID="10" presetClass="entr" fill="hold" nodeType="clickEffect">
                            <p:stCondLst>
                              <p:cond delay="0"/>
                            </p:stCondLst>
                            <p:childTnLst>
                              <p:set>
                                <p:cBhvr>
                                  <p:cTn id="5" dur="1" fill="hold">
                                    <p:stCondLst>
                                      <p:cond delay="0"/>
                                    </p:stCondLst>
                                  </p:cTn>
                                  <p:tgtEl>
                                    <p:spTgt spid="560"/>
                                  </p:tgtEl>
                                  <p:attrNameLst>
                                    <p:attrName>style.visibility</p:attrName>
                                  </p:attrNameLst>
                                </p:cBhvr>
                                <p:to>
                                  <p:strVal val="visible"/>
                                </p:to>
                              </p:set>
                              <p:animEffect transition="in" filter="fade">
                                <p:cBhvr additive="repl">
                                  <p:cTn id="6" dur="500"/>
                                  <p:tgtEl>
                                    <p:spTgt spid="560"/>
                                  </p:tgtEl>
                                </p:cBhvr>
                              </p:animEffect>
                            </p:childTnLst>
                          </p:cTn>
                        </p:par>
                        <p:par>
                          <p:cTn id="7" presetID="10" presetClass="entr" fill="hold" nodeType="clickEffect">
                            <p:stCondLst>
                              <p:cond delay="0"/>
                            </p:stCondLst>
                            <p:childTnLst>
                              <p:set>
                                <p:cBhvr>
                                  <p:cTn id="8" dur="1" fill="hold">
                                    <p:stCondLst>
                                      <p:cond delay="0"/>
                                    </p:stCondLst>
                                  </p:cTn>
                                  <p:tgtEl>
                                    <p:spTgt spid="559"/>
                                  </p:tgtEl>
                                  <p:attrNameLst>
                                    <p:attrName>style.visibility</p:attrName>
                                  </p:attrNameLst>
                                </p:cBhvr>
                                <p:to>
                                  <p:strVal val="visible"/>
                                </p:to>
                              </p:set>
                              <p:animEffect transition="in" filter="fade">
                                <p:cBhvr additive="repl">
                                  <p:cTn id="9" dur="500"/>
                                  <p:tgtEl>
                                    <p:spTgt spid="55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63" name="Shape 0"/>
          <p:cNvSpPr/>
          <p:nvPr/>
        </p:nvSpPr>
        <p:spPr>
          <a:xfrm>
            <a:off x="548640" y="457200"/>
            <a:ext cx="566640" cy="56664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pic>
        <p:nvPicPr>
          <p:cNvPr id="564" name="Image 0" descr="/home/claude/pptx-build/assets/icons/FaListAlt-FFFFFF-200.png"/>
          <p:cNvPicPr/>
          <p:nvPr/>
        </p:nvPicPr>
        <p:blipFill>
          <a:blip r:embed="rId3"/>
          <a:stretch/>
        </p:blipFill>
        <p:spPr>
          <a:xfrm>
            <a:off x="685800" y="594360"/>
            <a:ext cx="292320" cy="292320"/>
          </a:xfrm>
          <a:prstGeom prst="rect">
            <a:avLst/>
          </a:prstGeom>
          <a:noFill/>
          <a:ln w="0">
            <a:noFill/>
          </a:ln>
        </p:spPr>
      </p:pic>
      <p:sp>
        <p:nvSpPr>
          <p:cNvPr id="565" name="Text 1"/>
          <p:cNvSpPr/>
          <p:nvPr/>
        </p:nvSpPr>
        <p:spPr>
          <a:xfrm>
            <a:off x="1234440" y="420480"/>
            <a:ext cx="9875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spc="201">
                <a:solidFill>
                  <a:srgbClr val="C1440E"/>
                </a:solidFill>
                <a:effectLst/>
                <a:uFillTx/>
                <a:latin typeface="Calibri"/>
                <a:ea typeface="Calibri"/>
              </a:rPr>
              <a:t>THE WATERING HOLE NOBODY TOLD TO MOVE</a:t>
            </a:r>
            <a:endParaRPr lang="en-US" sz="1500" b="0" u="none" strike="noStrike">
              <a:solidFill>
                <a:srgbClr val="000000"/>
              </a:solidFill>
              <a:effectLst/>
              <a:uFillTx/>
              <a:latin typeface="Arial"/>
            </a:endParaRPr>
          </a:p>
        </p:txBody>
      </p:sp>
      <p:sp>
        <p:nvSpPr>
          <p:cNvPr id="566" name="Text 2"/>
          <p:cNvSpPr/>
          <p:nvPr/>
        </p:nvSpPr>
        <p:spPr>
          <a:xfrm>
            <a:off x="1234440" y="749880"/>
            <a:ext cx="105152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u="none" strike="noStrike">
                <a:solidFill>
                  <a:srgbClr val="1F3D2C"/>
                </a:solidFill>
                <a:effectLst/>
                <a:uFillTx/>
                <a:latin typeface="Cambria"/>
                <a:ea typeface="Cambria"/>
              </a:rPr>
              <a:t>Takeaways Recap</a:t>
            </a:r>
            <a:endParaRPr lang="en-US" sz="3200" b="0" u="none" strike="noStrike">
              <a:solidFill>
                <a:srgbClr val="000000"/>
              </a:solidFill>
              <a:effectLst/>
              <a:uFillTx/>
              <a:latin typeface="Arial"/>
            </a:endParaRPr>
          </a:p>
        </p:txBody>
      </p:sp>
      <p:sp>
        <p:nvSpPr>
          <p:cNvPr id="567" name="Shape 3"/>
          <p:cNvSpPr/>
          <p:nvPr/>
        </p:nvSpPr>
        <p:spPr>
          <a:xfrm>
            <a:off x="548640" y="1417320"/>
            <a:ext cx="11063880" cy="685440"/>
          </a:xfrm>
          <a:prstGeom prst="roundRect">
            <a:avLst>
              <a:gd name="adj" fmla="val 10667"/>
            </a:avLst>
          </a:prstGeom>
          <a:solidFill>
            <a:srgbClr val="F7F6F2"/>
          </a:solidFill>
          <a:ln w="9525">
            <a:solidFill>
              <a:srgbClr val="DD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68" name="Shape 4"/>
          <p:cNvSpPr/>
          <p:nvPr/>
        </p:nvSpPr>
        <p:spPr>
          <a:xfrm>
            <a:off x="777240" y="1559160"/>
            <a:ext cx="402120" cy="40212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69" name="Text 5"/>
          <p:cNvSpPr/>
          <p:nvPr/>
        </p:nvSpPr>
        <p:spPr>
          <a:xfrm>
            <a:off x="777240" y="1559160"/>
            <a:ext cx="40212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Cambria"/>
                <a:ea typeface="Cambria"/>
              </a:rPr>
              <a:t>1</a:t>
            </a:r>
            <a:endParaRPr lang="en-US" sz="1600" b="0" u="none" strike="noStrike">
              <a:solidFill>
                <a:srgbClr val="000000"/>
              </a:solidFill>
              <a:effectLst/>
              <a:uFillTx/>
              <a:latin typeface="Arial"/>
            </a:endParaRPr>
          </a:p>
        </p:txBody>
      </p:sp>
      <p:sp>
        <p:nvSpPr>
          <p:cNvPr id="570" name="Text 6"/>
          <p:cNvSpPr/>
          <p:nvPr/>
        </p:nvSpPr>
        <p:spPr>
          <a:xfrm>
            <a:off x="1417320" y="1417320"/>
            <a:ext cx="3245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50" b="1" u="none" strike="noStrike">
                <a:solidFill>
                  <a:srgbClr val="1F3D2C"/>
                </a:solidFill>
                <a:effectLst/>
                <a:uFillTx/>
                <a:latin typeface="Cambria"/>
                <a:ea typeface="Cambria"/>
              </a:rPr>
              <a:t>Why teams migrate</a:t>
            </a:r>
            <a:endParaRPr lang="en-US" sz="1450" b="0" u="none" strike="noStrike">
              <a:solidFill>
                <a:srgbClr val="000000"/>
              </a:solidFill>
              <a:effectLst/>
              <a:uFillTx/>
              <a:latin typeface="Arial"/>
            </a:endParaRPr>
          </a:p>
        </p:txBody>
      </p:sp>
      <p:sp>
        <p:nvSpPr>
          <p:cNvPr id="571" name="Text 7"/>
          <p:cNvSpPr/>
          <p:nvPr/>
        </p:nvSpPr>
        <p:spPr>
          <a:xfrm>
            <a:off x="4800600" y="1417320"/>
            <a:ext cx="6674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AI is one of the real reasons — but it needs planning to pay off.</a:t>
            </a:r>
            <a:endParaRPr lang="en-US" sz="1350" b="0" u="none" strike="noStrike">
              <a:solidFill>
                <a:srgbClr val="000000"/>
              </a:solidFill>
              <a:effectLst/>
              <a:uFillTx/>
              <a:latin typeface="Arial"/>
            </a:endParaRPr>
          </a:p>
        </p:txBody>
      </p:sp>
      <p:sp>
        <p:nvSpPr>
          <p:cNvPr id="572" name="Shape 8"/>
          <p:cNvSpPr/>
          <p:nvPr/>
        </p:nvSpPr>
        <p:spPr>
          <a:xfrm>
            <a:off x="548640" y="2194560"/>
            <a:ext cx="11063880" cy="685440"/>
          </a:xfrm>
          <a:prstGeom prst="roundRect">
            <a:avLst>
              <a:gd name="adj" fmla="val 10667"/>
            </a:avLst>
          </a:prstGeom>
          <a:solidFill>
            <a:srgbClr val="FFFFFF"/>
          </a:solidFill>
          <a:ln w="9525">
            <a:solidFill>
              <a:srgbClr val="DD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73" name="Shape 9"/>
          <p:cNvSpPr/>
          <p:nvPr/>
        </p:nvSpPr>
        <p:spPr>
          <a:xfrm>
            <a:off x="777240" y="2336400"/>
            <a:ext cx="402120" cy="40212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74" name="Text 10"/>
          <p:cNvSpPr/>
          <p:nvPr/>
        </p:nvSpPr>
        <p:spPr>
          <a:xfrm>
            <a:off x="777240" y="2336400"/>
            <a:ext cx="40212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Cambria"/>
                <a:ea typeface="Cambria"/>
              </a:rPr>
              <a:t>2</a:t>
            </a:r>
            <a:endParaRPr lang="en-US" sz="1600" b="0" u="none" strike="noStrike">
              <a:solidFill>
                <a:srgbClr val="000000"/>
              </a:solidFill>
              <a:effectLst/>
              <a:uFillTx/>
              <a:latin typeface="Arial"/>
            </a:endParaRPr>
          </a:p>
        </p:txBody>
      </p:sp>
      <p:sp>
        <p:nvSpPr>
          <p:cNvPr id="575" name="Text 11"/>
          <p:cNvSpPr/>
          <p:nvPr/>
        </p:nvSpPr>
        <p:spPr>
          <a:xfrm>
            <a:off x="1417320" y="2194560"/>
            <a:ext cx="3245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50" b="1" u="none" strike="noStrike">
                <a:solidFill>
                  <a:srgbClr val="1F3D2C"/>
                </a:solidFill>
                <a:effectLst/>
                <a:uFillTx/>
                <a:latin typeface="Cambria"/>
                <a:ea typeface="Cambria"/>
              </a:rPr>
              <a:t>What travels clean vs. what lingers</a:t>
            </a:r>
            <a:endParaRPr lang="en-US" sz="1450" b="0" u="none" strike="noStrike">
              <a:solidFill>
                <a:srgbClr val="000000"/>
              </a:solidFill>
              <a:effectLst/>
              <a:uFillTx/>
              <a:latin typeface="Arial"/>
            </a:endParaRPr>
          </a:p>
        </p:txBody>
      </p:sp>
      <p:sp>
        <p:nvSpPr>
          <p:cNvPr id="576" name="Text 12"/>
          <p:cNvSpPr/>
          <p:nvPr/>
        </p:nvSpPr>
        <p:spPr>
          <a:xfrm>
            <a:off x="4800600" y="2194560"/>
            <a:ext cx="6674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Repos and Git-backed content travel most cleanly. Pipelines require conversion and validation. Test Plans stays behind.</a:t>
            </a:r>
            <a:endParaRPr lang="en-US" sz="1350" b="0" u="none" strike="noStrike">
              <a:solidFill>
                <a:srgbClr val="000000"/>
              </a:solidFill>
              <a:effectLst/>
              <a:uFillTx/>
              <a:latin typeface="Arial"/>
            </a:endParaRPr>
          </a:p>
        </p:txBody>
      </p:sp>
      <p:sp>
        <p:nvSpPr>
          <p:cNvPr id="577" name="Shape 13"/>
          <p:cNvSpPr/>
          <p:nvPr/>
        </p:nvSpPr>
        <p:spPr>
          <a:xfrm>
            <a:off x="548640" y="2971800"/>
            <a:ext cx="11063880" cy="685440"/>
          </a:xfrm>
          <a:prstGeom prst="roundRect">
            <a:avLst>
              <a:gd name="adj" fmla="val 10667"/>
            </a:avLst>
          </a:prstGeom>
          <a:solidFill>
            <a:srgbClr val="F7F6F2"/>
          </a:solidFill>
          <a:ln w="9525">
            <a:solidFill>
              <a:srgbClr val="DD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78" name="Shape 14"/>
          <p:cNvSpPr/>
          <p:nvPr/>
        </p:nvSpPr>
        <p:spPr>
          <a:xfrm>
            <a:off x="777240" y="3113640"/>
            <a:ext cx="402120" cy="40212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79" name="Text 15"/>
          <p:cNvSpPr/>
          <p:nvPr/>
        </p:nvSpPr>
        <p:spPr>
          <a:xfrm>
            <a:off x="777240" y="3113640"/>
            <a:ext cx="40212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Cambria"/>
                <a:ea typeface="Cambria"/>
              </a:rPr>
              <a:t>3</a:t>
            </a:r>
            <a:endParaRPr lang="en-US" sz="1600" b="0" u="none" strike="noStrike">
              <a:solidFill>
                <a:srgbClr val="000000"/>
              </a:solidFill>
              <a:effectLst/>
              <a:uFillTx/>
              <a:latin typeface="Arial"/>
            </a:endParaRPr>
          </a:p>
        </p:txBody>
      </p:sp>
      <p:sp>
        <p:nvSpPr>
          <p:cNvPr id="580" name="Text 16"/>
          <p:cNvSpPr/>
          <p:nvPr/>
        </p:nvSpPr>
        <p:spPr>
          <a:xfrm>
            <a:off x="1417320" y="2971800"/>
            <a:ext cx="3245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50" b="1" u="none" strike="noStrike">
                <a:solidFill>
                  <a:srgbClr val="1F3D2C"/>
                </a:solidFill>
                <a:effectLst/>
                <a:uFillTx/>
                <a:latin typeface="Cambria"/>
              </a:rPr>
              <a:t>Three migration planes</a:t>
            </a:r>
            <a:endParaRPr lang="en-US" sz="1450" b="0" u="none" strike="noStrike">
              <a:solidFill>
                <a:srgbClr val="000000"/>
              </a:solidFill>
              <a:effectLst/>
              <a:uFillTx/>
              <a:latin typeface="Arial"/>
            </a:endParaRPr>
          </a:p>
        </p:txBody>
      </p:sp>
      <p:sp>
        <p:nvSpPr>
          <p:cNvPr id="581" name="Text 17"/>
          <p:cNvSpPr/>
          <p:nvPr/>
        </p:nvSpPr>
        <p:spPr>
          <a:xfrm>
            <a:off x="4800600" y="2971800"/>
            <a:ext cx="6674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rPr>
              <a:t>Repository data, automation, and validation — each uses manual judgment, official tooling, and AI assistance.</a:t>
            </a:r>
            <a:endParaRPr lang="en-US" sz="1400" b="0" u="none" strike="noStrike">
              <a:solidFill>
                <a:srgbClr val="000000"/>
              </a:solidFill>
              <a:effectLst/>
              <a:uFillTx/>
              <a:latin typeface="Arial"/>
            </a:endParaRPr>
          </a:p>
        </p:txBody>
      </p:sp>
      <p:sp>
        <p:nvSpPr>
          <p:cNvPr id="582" name="Shape 18"/>
          <p:cNvSpPr/>
          <p:nvPr/>
        </p:nvSpPr>
        <p:spPr>
          <a:xfrm>
            <a:off x="548640" y="3749040"/>
            <a:ext cx="11063880" cy="685440"/>
          </a:xfrm>
          <a:prstGeom prst="roundRect">
            <a:avLst>
              <a:gd name="adj" fmla="val 10667"/>
            </a:avLst>
          </a:prstGeom>
          <a:solidFill>
            <a:srgbClr val="FFFFFF"/>
          </a:solidFill>
          <a:ln w="9525">
            <a:solidFill>
              <a:srgbClr val="DD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83" name="Shape 19"/>
          <p:cNvSpPr/>
          <p:nvPr/>
        </p:nvSpPr>
        <p:spPr>
          <a:xfrm>
            <a:off x="777240" y="3890880"/>
            <a:ext cx="402120" cy="40212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84" name="Text 20"/>
          <p:cNvSpPr/>
          <p:nvPr/>
        </p:nvSpPr>
        <p:spPr>
          <a:xfrm>
            <a:off x="777240" y="3890880"/>
            <a:ext cx="40212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Cambria"/>
                <a:ea typeface="Cambria"/>
              </a:rPr>
              <a:t>4</a:t>
            </a:r>
            <a:endParaRPr lang="en-US" sz="1600" b="0" u="none" strike="noStrike">
              <a:solidFill>
                <a:srgbClr val="000000"/>
              </a:solidFill>
              <a:effectLst/>
              <a:uFillTx/>
              <a:latin typeface="Arial"/>
            </a:endParaRPr>
          </a:p>
        </p:txBody>
      </p:sp>
      <p:sp>
        <p:nvSpPr>
          <p:cNvPr id="585" name="Text 21"/>
          <p:cNvSpPr/>
          <p:nvPr/>
        </p:nvSpPr>
        <p:spPr>
          <a:xfrm>
            <a:off x="1417320" y="3749040"/>
            <a:ext cx="3245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50" b="1" u="none" strike="noStrike">
                <a:solidFill>
                  <a:srgbClr val="1F3D2C"/>
                </a:solidFill>
                <a:effectLst/>
                <a:uFillTx/>
                <a:latin typeface="Cambria"/>
                <a:ea typeface="Cambria"/>
              </a:rPr>
              <a:t>Why Boards stays hybrid</a:t>
            </a:r>
            <a:endParaRPr lang="en-US" sz="1450" b="0" u="none" strike="noStrike">
              <a:solidFill>
                <a:srgbClr val="000000"/>
              </a:solidFill>
              <a:effectLst/>
              <a:uFillTx/>
              <a:latin typeface="Arial"/>
            </a:endParaRPr>
          </a:p>
        </p:txBody>
      </p:sp>
      <p:sp>
        <p:nvSpPr>
          <p:cNvPr id="586" name="Text 22"/>
          <p:cNvSpPr/>
          <p:nvPr/>
        </p:nvSpPr>
        <p:spPr>
          <a:xfrm>
            <a:off x="4800600" y="3749040"/>
            <a:ext cx="6674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Connect Azure Boards, don’t migrate work items — the door stays open, it doesn’t force a choice.</a:t>
            </a:r>
            <a:endParaRPr lang="en-US" sz="1350" b="0" u="none" strike="noStrike">
              <a:solidFill>
                <a:srgbClr val="000000"/>
              </a:solidFill>
              <a:effectLst/>
              <a:uFillTx/>
              <a:latin typeface="Arial"/>
            </a:endParaRPr>
          </a:p>
        </p:txBody>
      </p:sp>
      <p:sp>
        <p:nvSpPr>
          <p:cNvPr id="587" name="Shape 23"/>
          <p:cNvSpPr/>
          <p:nvPr/>
        </p:nvSpPr>
        <p:spPr>
          <a:xfrm>
            <a:off x="548640" y="4526280"/>
            <a:ext cx="11063880" cy="685440"/>
          </a:xfrm>
          <a:prstGeom prst="roundRect">
            <a:avLst>
              <a:gd name="adj" fmla="val 10667"/>
            </a:avLst>
          </a:prstGeom>
          <a:solidFill>
            <a:srgbClr val="F7F6F2"/>
          </a:solidFill>
          <a:ln w="9525">
            <a:solidFill>
              <a:srgbClr val="DD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88" name="Shape 24"/>
          <p:cNvSpPr/>
          <p:nvPr/>
        </p:nvSpPr>
        <p:spPr>
          <a:xfrm>
            <a:off x="777240" y="4668120"/>
            <a:ext cx="402120" cy="40212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89" name="Text 25"/>
          <p:cNvSpPr/>
          <p:nvPr/>
        </p:nvSpPr>
        <p:spPr>
          <a:xfrm>
            <a:off x="777240" y="4668120"/>
            <a:ext cx="40212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Cambria"/>
                <a:ea typeface="Cambria"/>
              </a:rPr>
              <a:t>5</a:t>
            </a:r>
            <a:endParaRPr lang="en-US" sz="1600" b="0" u="none" strike="noStrike">
              <a:solidFill>
                <a:srgbClr val="000000"/>
              </a:solidFill>
              <a:effectLst/>
              <a:uFillTx/>
              <a:latin typeface="Arial"/>
            </a:endParaRPr>
          </a:p>
        </p:txBody>
      </p:sp>
      <p:sp>
        <p:nvSpPr>
          <p:cNvPr id="590" name="Text 26"/>
          <p:cNvSpPr/>
          <p:nvPr/>
        </p:nvSpPr>
        <p:spPr>
          <a:xfrm>
            <a:off x="1417320" y="4526280"/>
            <a:ext cx="3245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50" b="1" u="none" strike="noStrike">
                <a:solidFill>
                  <a:srgbClr val="1F3D2C"/>
                </a:solidFill>
                <a:effectLst/>
                <a:uFillTx/>
                <a:latin typeface="Cambria"/>
              </a:rPr>
              <a:t>Migration as an operating model</a:t>
            </a:r>
            <a:endParaRPr lang="en-US" sz="1450" b="0" u="none" strike="noStrike">
              <a:solidFill>
                <a:srgbClr val="000000"/>
              </a:solidFill>
              <a:effectLst/>
              <a:uFillTx/>
              <a:latin typeface="Arial"/>
            </a:endParaRPr>
          </a:p>
        </p:txBody>
      </p:sp>
      <p:sp>
        <p:nvSpPr>
          <p:cNvPr id="591" name="Text 27"/>
          <p:cNvSpPr/>
          <p:nvPr/>
        </p:nvSpPr>
        <p:spPr>
          <a:xfrm>
            <a:off x="4800600" y="4526280"/>
            <a:ext cx="6674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2B2B2B"/>
                </a:solidFill>
                <a:effectLst/>
                <a:uFillTx/>
                <a:latin typeface="Calibri"/>
              </a:rPr>
              <a:t>Ownership, wave criteria, validation, rollback, and decommissioning matter as much as conversion tooling.</a:t>
            </a:r>
            <a:endParaRPr lang="en-US" sz="1400" b="0" u="none" strike="noStrike">
              <a:solidFill>
                <a:srgbClr val="000000"/>
              </a:solidFill>
              <a:effectLst/>
              <a:uFillTx/>
              <a:latin typeface="Arial"/>
            </a:endParaRPr>
          </a:p>
        </p:txBody>
      </p:sp>
      <p:sp>
        <p:nvSpPr>
          <p:cNvPr id="592" name="Shape 28"/>
          <p:cNvSpPr/>
          <p:nvPr/>
        </p:nvSpPr>
        <p:spPr>
          <a:xfrm>
            <a:off x="548640" y="5303520"/>
            <a:ext cx="11063880" cy="685440"/>
          </a:xfrm>
          <a:prstGeom prst="roundRect">
            <a:avLst>
              <a:gd name="adj" fmla="val 10667"/>
            </a:avLst>
          </a:prstGeom>
          <a:solidFill>
            <a:srgbClr val="FFFFFF"/>
          </a:solidFill>
          <a:ln w="9525">
            <a:solidFill>
              <a:srgbClr val="DDD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93" name="Shape 29"/>
          <p:cNvSpPr/>
          <p:nvPr/>
        </p:nvSpPr>
        <p:spPr>
          <a:xfrm>
            <a:off x="777240" y="5445360"/>
            <a:ext cx="402120" cy="402120"/>
          </a:xfrm>
          <a:prstGeom prst="ellipse">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594" name="Text 30"/>
          <p:cNvSpPr/>
          <p:nvPr/>
        </p:nvSpPr>
        <p:spPr>
          <a:xfrm>
            <a:off x="777240" y="5445360"/>
            <a:ext cx="40212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Cambria"/>
                <a:ea typeface="Cambria"/>
              </a:rPr>
              <a:t>6</a:t>
            </a:r>
            <a:endParaRPr lang="en-US" sz="1600" b="0" u="none" strike="noStrike">
              <a:solidFill>
                <a:srgbClr val="000000"/>
              </a:solidFill>
              <a:effectLst/>
              <a:uFillTx/>
              <a:latin typeface="Arial"/>
            </a:endParaRPr>
          </a:p>
        </p:txBody>
      </p:sp>
      <p:sp>
        <p:nvSpPr>
          <p:cNvPr id="595" name="Text 31"/>
          <p:cNvSpPr/>
          <p:nvPr/>
        </p:nvSpPr>
        <p:spPr>
          <a:xfrm>
            <a:off x="1417320" y="5303520"/>
            <a:ext cx="3245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50" b="1" u="none" strike="noStrike">
                <a:solidFill>
                  <a:srgbClr val="1F3D2C"/>
                </a:solidFill>
                <a:effectLst/>
                <a:uFillTx/>
                <a:latin typeface="Cambria"/>
                <a:ea typeface="Cambria"/>
              </a:rPr>
              <a:t>The long tail that outlasts the cutover</a:t>
            </a:r>
            <a:endParaRPr lang="en-US" sz="1450" b="0" u="none" strike="noStrike">
              <a:solidFill>
                <a:srgbClr val="000000"/>
              </a:solidFill>
              <a:effectLst/>
              <a:uFillTx/>
              <a:latin typeface="Arial"/>
            </a:endParaRPr>
          </a:p>
        </p:txBody>
      </p:sp>
      <p:sp>
        <p:nvSpPr>
          <p:cNvPr id="596" name="Text 32"/>
          <p:cNvSpPr/>
          <p:nvPr/>
        </p:nvSpPr>
        <p:spPr>
          <a:xfrm>
            <a:off x="4800600" y="5303520"/>
            <a:ext cx="667476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0" u="none" strike="noStrike">
                <a:solidFill>
                  <a:srgbClr val="2B2B2B"/>
                </a:solidFill>
                <a:effectLst/>
                <a:uFillTx/>
                <a:latin typeface="Calibri"/>
                <a:ea typeface="Calibri"/>
              </a:rPr>
              <a:t>Hardcoded URLs and unreclaimed identities keep surfacing for months. Plan the sweep and the identity mapping up front.</a:t>
            </a:r>
            <a:endParaRPr lang="en-US" sz="135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1CCB78A1-6864-4386-8ED9-5D0452D197D8}" type="slidenum">
              <a:rPr/>
              <a:t>48</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97" name="Text 1"/>
          <p:cNvSpPr/>
          <p:nvPr/>
        </p:nvSpPr>
        <p:spPr>
          <a:xfrm>
            <a:off x="548640" y="502920"/>
            <a:ext cx="1005804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500" b="1" u="none" strike="noStrike">
                <a:solidFill>
                  <a:srgbClr val="C1440E"/>
                </a:solidFill>
                <a:effectLst/>
                <a:uFillTx/>
                <a:latin typeface="Calibri"/>
              </a:rPr>
              <a:t>THE WATERING HOLE NOBODY TOLD TO MOVE</a:t>
            </a:r>
            <a:endParaRPr lang="en-US" sz="1500" b="0" u="none" strike="noStrike">
              <a:solidFill>
                <a:srgbClr val="000000"/>
              </a:solidFill>
              <a:effectLst/>
              <a:uFillTx/>
              <a:latin typeface="Arial"/>
            </a:endParaRPr>
          </a:p>
        </p:txBody>
      </p:sp>
      <p:sp>
        <p:nvSpPr>
          <p:cNvPr id="598" name="Text 3"/>
          <p:cNvSpPr/>
          <p:nvPr/>
        </p:nvSpPr>
        <p:spPr>
          <a:xfrm>
            <a:off x="1069920" y="2395800"/>
            <a:ext cx="10058040" cy="2559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3000" b="1" u="none" strike="noStrike">
                <a:solidFill>
                  <a:srgbClr val="1F3D2C"/>
                </a:solidFill>
                <a:effectLst/>
                <a:uFillTx/>
                <a:latin typeface="Cambria"/>
              </a:rPr>
              <a:t>Most migrations aren’t dramatic. They’re a checklist, run carefully, with a few things that broke in ways nobody predicted,</a:t>
            </a:r>
            <a:endParaRPr lang="en-US" sz="3000" b="0" u="none" strike="noStrike">
              <a:solidFill>
                <a:srgbClr val="000000"/>
              </a:solidFill>
              <a:effectLst/>
              <a:uFillTx/>
              <a:latin typeface="Arial"/>
            </a:endParaRPr>
          </a:p>
          <a:p>
            <a:pPr algn="ctr" defTabSz="914400">
              <a:lnSpc>
                <a:spcPct val="100000"/>
              </a:lnSpc>
              <a:spcBef>
                <a:spcPts val="1599"/>
              </a:spcBef>
              <a:tabLst>
                <a:tab pos="0" algn="l"/>
              </a:tabLst>
            </a:pPr>
            <a:r>
              <a:rPr lang="en-US" sz="3000" b="1" u="none" strike="noStrike">
                <a:solidFill>
                  <a:srgbClr val="C1440E"/>
                </a:solidFill>
                <a:effectLst/>
                <a:uFillTx/>
                <a:latin typeface="Cambria"/>
              </a:rPr>
              <a:t>and got fixed by people in the room.</a:t>
            </a:r>
            <a:endParaRPr lang="en-US" sz="3000" b="0" u="none" strike="noStrike">
              <a:solidFill>
                <a:srgbClr val="000000"/>
              </a:solidFill>
              <a:effectLst/>
              <a:uFillTx/>
              <a:latin typeface="Arial"/>
            </a:endParaRPr>
          </a:p>
        </p:txBody>
      </p:sp>
      <p:sp>
        <p:nvSpPr>
          <p:cNvPr id="2" name="PlaceHolder 1"/>
          <p:cNvSpPr>
            <a:spLocks noGrp="1"/>
          </p:cNvSpPr>
          <p:nvPr>
            <p:ph type="sldNum" idx="1"/>
          </p:nvPr>
        </p:nvSpPr>
        <p:spPr/>
        <p:txBody>
          <a:bodyPr/>
          <a:lstStyle/>
          <a:p>
            <a:fld id="{B5D0EF24-516B-42C5-9AEE-E2F22ADF2366}" type="slidenum">
              <a:rPr/>
              <a:t>49</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42A1D"/>
        </a:solidFill>
        <a:effectLst/>
      </p:bgPr>
    </p:bg>
    <p:spTree>
      <p:nvGrpSpPr>
        <p:cNvPr id="1" name=""/>
        <p:cNvGrpSpPr/>
        <p:nvPr/>
      </p:nvGrpSpPr>
      <p:grpSpPr>
        <a:xfrm>
          <a:off x="0" y="0"/>
          <a:ext cx="0" cy="0"/>
          <a:chOff x="0" y="0"/>
          <a:chExt cx="0" cy="0"/>
        </a:xfrm>
      </p:grpSpPr>
      <p:sp>
        <p:nvSpPr>
          <p:cNvPr id="599" name="Shape 0"/>
          <p:cNvSpPr/>
          <p:nvPr/>
        </p:nvSpPr>
        <p:spPr>
          <a:xfrm>
            <a:off x="0" y="0"/>
            <a:ext cx="12191400" cy="6857640"/>
          </a:xfrm>
          <a:prstGeom prst="rect">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600" name="Shape 1"/>
          <p:cNvSpPr/>
          <p:nvPr/>
        </p:nvSpPr>
        <p:spPr>
          <a:xfrm>
            <a:off x="0" y="0"/>
            <a:ext cx="12191400" cy="127800"/>
          </a:xfrm>
          <a:prstGeom prst="rect">
            <a:avLst/>
          </a:prstGeom>
          <a:solidFill>
            <a:srgbClr val="C1440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601" name="Text 2"/>
          <p:cNvSpPr/>
          <p:nvPr/>
        </p:nvSpPr>
        <p:spPr>
          <a:xfrm>
            <a:off x="1188720" y="2103120"/>
            <a:ext cx="9783720" cy="2925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F5F5F0"/>
                </a:solidFill>
                <a:effectLst/>
                <a:uFillTx/>
                <a:latin typeface="Cambria"/>
              </a:rPr>
              <a:t>The herd has crossed. The builds are green. The watering hole is quiet.</a:t>
            </a:r>
            <a:endParaRPr lang="en-US" sz="2800" b="0" u="none" strike="noStrike">
              <a:solidFill>
                <a:srgbClr val="FFFFFF"/>
              </a:solidFill>
              <a:effectLst/>
              <a:uFillTx/>
              <a:latin typeface="Arial"/>
            </a:endParaRPr>
          </a:p>
          <a:p>
            <a:pPr algn="ctr" defTabSz="914400">
              <a:lnSpc>
                <a:spcPct val="100000"/>
              </a:lnSpc>
              <a:spcBef>
                <a:spcPts val="1400"/>
              </a:spcBef>
              <a:tabLst>
                <a:tab pos="0" algn="l"/>
              </a:tabLst>
            </a:pPr>
            <a:r>
              <a:rPr lang="en-US" sz="2800" b="1" u="none" strike="noStrike">
                <a:solidFill>
                  <a:srgbClr val="F5F5F0"/>
                </a:solidFill>
                <a:effectLst/>
                <a:uFillTx/>
                <a:latin typeface="Cambria"/>
              </a:rPr>
              <a:t>On the far bank, one pipeline still runs every Tuesday at 3 a.m. — triggered by nothing, owned by no one.</a:t>
            </a:r>
            <a:endParaRPr lang="en-US" sz="2800" b="0" u="none" strike="noStrike">
              <a:solidFill>
                <a:srgbClr val="FFFFFF"/>
              </a:solidFill>
              <a:effectLst/>
              <a:uFillTx/>
              <a:latin typeface="Arial"/>
            </a:endParaRPr>
          </a:p>
          <a:p>
            <a:pPr algn="ctr" defTabSz="914400">
              <a:lnSpc>
                <a:spcPct val="100000"/>
              </a:lnSpc>
              <a:spcBef>
                <a:spcPts val="1400"/>
              </a:spcBef>
              <a:tabLst>
                <a:tab pos="0" algn="l"/>
              </a:tabLst>
            </a:pPr>
            <a:r>
              <a:rPr lang="en-US" sz="2800" b="1" u="none" strike="noStrike">
                <a:solidFill>
                  <a:srgbClr val="F5F5F0"/>
                </a:solidFill>
                <a:effectLst/>
                <a:uFillTx/>
                <a:latin typeface="Cambria"/>
              </a:rPr>
              <a:t>Nobody told it the herd had moved.</a:t>
            </a:r>
            <a:endParaRPr lang="en-US" sz="2800" b="0" u="none" strike="noStrike">
              <a:solidFill>
                <a:srgbClr val="FFFFFF"/>
              </a:solidFill>
              <a:effectLst/>
              <a:uFillTx/>
              <a:latin typeface="Arial"/>
            </a:endParaRPr>
          </a:p>
        </p:txBody>
      </p:sp>
      <p:sp>
        <p:nvSpPr>
          <p:cNvPr id="602" name="Text 3"/>
          <p:cNvSpPr/>
          <p:nvPr/>
        </p:nvSpPr>
        <p:spPr>
          <a:xfrm>
            <a:off x="548640" y="5989320"/>
            <a:ext cx="110638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E0B85C"/>
                </a:solidFill>
                <a:effectLst/>
                <a:uFillTx/>
                <a:latin typeface="Calibri"/>
              </a:rPr>
              <a:t>— CLOSING NARRATION, FROM THE FAR BANK</a:t>
            </a:r>
            <a:endParaRPr lang="en-US" sz="1300" b="0" u="none" strike="noStrike">
              <a:solidFill>
                <a:srgbClr val="FFFFFF"/>
              </a:solidFill>
              <a:effectLst/>
              <a:uFillTx/>
              <a:latin typeface="Arial"/>
            </a:endParaRPr>
          </a:p>
        </p:txBody>
      </p:sp>
      <p:sp>
        <p:nvSpPr>
          <p:cNvPr id="603" name="PlaceHolder 1"/>
          <p:cNvSpPr>
            <a:spLocks noGrp="1"/>
          </p:cNvSpPr>
          <p:nvPr>
            <p:ph type="sldNum" idx="16"/>
          </p:nvPr>
        </p:nvSpPr>
        <p:spPr>
          <a:xfrm>
            <a:off x="11612880" y="6492240"/>
            <a:ext cx="411120" cy="255600"/>
          </a:xfrm>
          <a:prstGeom prst="rect">
            <a:avLst/>
          </a:prstGeom>
          <a:noFill/>
          <a:ln w="0">
            <a:noFill/>
          </a:ln>
        </p:spPr>
        <p:txBody>
          <a:bodyPr lIns="0" tIns="0" rIns="0" bIns="0" anchor="ctr">
            <a:noAutofit/>
          </a:bodyPr>
          <a:lstStyle>
            <a:lvl1pPr indent="0" algn="r" defTabSz="914400">
              <a:lnSpc>
                <a:spcPct val="100000"/>
              </a:lnSpc>
              <a:buNone/>
              <a:defRPr lang="en-US" sz="1000" b="0" u="none" strike="noStrike">
                <a:solidFill>
                  <a:srgbClr val="E0B85C"/>
                </a:solidFill>
                <a:effectLst/>
                <a:uFillTx/>
                <a:latin typeface="Calibri"/>
              </a:defRPr>
            </a:lvl1pPr>
          </a:lstStyle>
          <a:p>
            <a:pPr indent="0" algn="r" defTabSz="914400">
              <a:lnSpc>
                <a:spcPct val="100000"/>
              </a:lnSpc>
              <a:buNone/>
            </a:pPr>
            <a:fld id="{D209FD0E-6E34-4E18-811C-3C44715C223A}" type="slidenum">
              <a:rPr lang="en-US" sz="1000" b="0" u="none" strike="noStrike">
                <a:solidFill>
                  <a:srgbClr val="E0B85C"/>
                </a:solidFill>
                <a:effectLst/>
                <a:uFillTx/>
                <a:latin typeface="Calibri"/>
              </a:rPr>
              <a:t>50</a:t>
            </a:fld>
            <a:endParaRPr lang="en-US" sz="1000" b="0" u="none" strike="noStrike">
              <a:solidFill>
                <a:srgbClr val="FFFFFF"/>
              </a:solidFill>
              <a:effectLst/>
              <a:uFillTx/>
              <a:latin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4" name="Shape 0"/>
          <p:cNvSpPr/>
          <p:nvPr/>
        </p:nvSpPr>
        <p:spPr>
          <a:xfrm>
            <a:off x="0" y="0"/>
            <a:ext cx="12191400" cy="1279800"/>
          </a:xfrm>
          <a:prstGeom prst="rect">
            <a:avLst/>
          </a:prstGeom>
          <a:solidFill>
            <a:srgbClr val="1F3D2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Calibri"/>
            </a:endParaRPr>
          </a:p>
        </p:txBody>
      </p:sp>
      <p:sp>
        <p:nvSpPr>
          <p:cNvPr id="605" name="Text 1"/>
          <p:cNvSpPr/>
          <p:nvPr/>
        </p:nvSpPr>
        <p:spPr>
          <a:xfrm>
            <a:off x="777240" y="1783080"/>
            <a:ext cx="603468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400" b="1" u="none" strike="noStrike">
                <a:solidFill>
                  <a:srgbClr val="1F3D2C"/>
                </a:solidFill>
                <a:effectLst/>
                <a:uFillTx/>
                <a:latin typeface="Cambria"/>
              </a:rPr>
              <a:t>Thank You</a:t>
            </a:r>
            <a:endParaRPr lang="en-US" sz="5400" b="0" u="none" strike="noStrike">
              <a:solidFill>
                <a:srgbClr val="000000"/>
              </a:solidFill>
              <a:effectLst/>
              <a:uFillTx/>
              <a:latin typeface="Arial"/>
            </a:endParaRPr>
          </a:p>
        </p:txBody>
      </p:sp>
      <p:sp>
        <p:nvSpPr>
          <p:cNvPr id="606" name="Text 2"/>
          <p:cNvSpPr/>
          <p:nvPr/>
        </p:nvSpPr>
        <p:spPr>
          <a:xfrm>
            <a:off x="777240" y="2766600"/>
            <a:ext cx="60346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0" u="none" strike="noStrike">
                <a:solidFill>
                  <a:srgbClr val="6B6B63"/>
                </a:solidFill>
                <a:effectLst/>
                <a:uFillTx/>
                <a:latin typeface="Calibri"/>
              </a:rPr>
              <a:t>Azure DevOps to GitHub Enterprise: The Great Migration</a:t>
            </a:r>
            <a:endParaRPr lang="en-US" sz="1800" b="0" u="none" strike="noStrike">
              <a:solidFill>
                <a:srgbClr val="000000"/>
              </a:solidFill>
              <a:effectLst/>
              <a:uFillTx/>
              <a:latin typeface="Arial"/>
            </a:endParaRPr>
          </a:p>
        </p:txBody>
      </p:sp>
      <p:sp>
        <p:nvSpPr>
          <p:cNvPr id="607" name="Text 4"/>
          <p:cNvSpPr/>
          <p:nvPr/>
        </p:nvSpPr>
        <p:spPr>
          <a:xfrm>
            <a:off x="777240" y="3656160"/>
            <a:ext cx="60346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F3D2C"/>
                </a:solidFill>
                <a:effectLst/>
                <a:uFillTx/>
                <a:latin typeface="Cambria"/>
              </a:rPr>
              <a:t>Kevin Neumann</a:t>
            </a:r>
            <a:endParaRPr lang="en-US" sz="2000" b="0" u="none" strike="noStrike">
              <a:solidFill>
                <a:srgbClr val="000000"/>
              </a:solidFill>
              <a:effectLst/>
              <a:uFillTx/>
              <a:latin typeface="Arial"/>
            </a:endParaRPr>
          </a:p>
        </p:txBody>
      </p:sp>
      <p:sp>
        <p:nvSpPr>
          <p:cNvPr id="608" name="Text 5"/>
          <p:cNvSpPr/>
          <p:nvPr/>
        </p:nvSpPr>
        <p:spPr>
          <a:xfrm>
            <a:off x="777240" y="4095000"/>
            <a:ext cx="60346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2B2B2B"/>
                </a:solidFill>
                <a:effectLst/>
                <a:uFillTx/>
                <a:latin typeface="Calibri"/>
              </a:rPr>
              <a:t>kneumann@hunter.com</a:t>
            </a:r>
            <a:endParaRPr lang="en-US" sz="1500" b="0" u="none" strike="noStrike">
              <a:solidFill>
                <a:srgbClr val="000000"/>
              </a:solidFill>
              <a:effectLst/>
              <a:uFillTx/>
              <a:latin typeface="Arial"/>
            </a:endParaRPr>
          </a:p>
        </p:txBody>
      </p:sp>
      <p:sp>
        <p:nvSpPr>
          <p:cNvPr id="609" name="Text 7"/>
          <p:cNvSpPr/>
          <p:nvPr/>
        </p:nvSpPr>
        <p:spPr>
          <a:xfrm>
            <a:off x="777240" y="4723920"/>
            <a:ext cx="60346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C1440E"/>
                </a:solidFill>
                <a:effectLst/>
                <a:uFillTx/>
                <a:latin typeface="Calibri"/>
              </a:rPr>
              <a:t>Open floor — questions welcome.</a:t>
            </a:r>
            <a:endParaRPr lang="en-US" sz="1700" b="0" u="none" strike="noStrike">
              <a:solidFill>
                <a:srgbClr val="000000"/>
              </a:solidFill>
              <a:effectLst/>
              <a:uFillTx/>
              <a:latin typeface="Arial"/>
            </a:endParaRPr>
          </a:p>
        </p:txBody>
      </p:sp>
      <p:sp>
        <p:nvSpPr>
          <p:cNvPr id="610" name="Rounded Rectangle 10"/>
          <p:cNvSpPr/>
          <p:nvPr/>
        </p:nvSpPr>
        <p:spPr>
          <a:xfrm>
            <a:off x="7443360" y="1433160"/>
            <a:ext cx="4297320" cy="5058720"/>
          </a:xfrm>
          <a:prstGeom prst="roundRect">
            <a:avLst>
              <a:gd name="adj" fmla="val 4000"/>
            </a:avLst>
          </a:prstGeom>
          <a:solidFill>
            <a:srgbClr val="F7F6F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chemeClr val="dk1"/>
              </a:solidFill>
              <a:effectLst/>
              <a:uFillTx/>
              <a:latin typeface="Calibri"/>
            </a:endParaRPr>
          </a:p>
        </p:txBody>
      </p:sp>
      <p:sp>
        <p:nvSpPr>
          <p:cNvPr id="611" name="TextBox 11"/>
          <p:cNvSpPr/>
          <p:nvPr/>
        </p:nvSpPr>
        <p:spPr>
          <a:xfrm>
            <a:off x="7443360" y="2184120"/>
            <a:ext cx="4297320" cy="292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300" b="1" u="none" strike="noStrike">
                <a:solidFill>
                  <a:srgbClr val="C1440E"/>
                </a:solidFill>
                <a:effectLst/>
                <a:uFillTx/>
                <a:latin typeface="Calibri"/>
              </a:rPr>
              <a:t>EVERYTHING FROM THIS TALK</a:t>
            </a:r>
            <a:endParaRPr lang="en-US" sz="1300" b="0" u="none" strike="noStrike">
              <a:solidFill>
                <a:srgbClr val="000000"/>
              </a:solidFill>
              <a:effectLst/>
              <a:uFillTx/>
              <a:latin typeface="Arial"/>
            </a:endParaRPr>
          </a:p>
        </p:txBody>
      </p:sp>
      <p:pic>
        <p:nvPicPr>
          <p:cNvPr id="612" name="Image 0" descr="/home/claude/pptx-build/assets/qr-section6-thankyou.png"/>
          <p:cNvPicPr/>
          <p:nvPr/>
        </p:nvPicPr>
        <p:blipFill>
          <a:blip r:embed="rId3"/>
          <a:stretch/>
        </p:blipFill>
        <p:spPr>
          <a:xfrm>
            <a:off x="8540640" y="2549880"/>
            <a:ext cx="2102760" cy="2102760"/>
          </a:xfrm>
          <a:prstGeom prst="rect">
            <a:avLst/>
          </a:prstGeom>
          <a:noFill/>
          <a:ln w="0">
            <a:noFill/>
          </a:ln>
        </p:spPr>
      </p:pic>
      <p:sp>
        <p:nvSpPr>
          <p:cNvPr id="613" name="TextBox 12"/>
          <p:cNvSpPr/>
          <p:nvPr/>
        </p:nvSpPr>
        <p:spPr>
          <a:xfrm>
            <a:off x="7443360" y="4771800"/>
            <a:ext cx="4297320" cy="292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6B6B63"/>
                </a:solidFill>
                <a:effectLst/>
                <a:uFillTx/>
                <a:latin typeface="Calibri"/>
              </a:rPr>
              <a:t>neumann1990/Azure_DevOps_To_GitHub</a:t>
            </a:r>
            <a:endParaRPr lang="en-US" sz="1200" b="0" u="none" strike="noStrike">
              <a:solidFill>
                <a:srgbClr val="000000"/>
              </a:solidFill>
              <a:effectLst/>
              <a:uFillTx/>
              <a:latin typeface="Arial"/>
            </a:endParaRPr>
          </a:p>
        </p:txBody>
      </p:sp>
      <p:sp>
        <p:nvSpPr>
          <p:cNvPr id="614" name="TextBox 13"/>
          <p:cNvSpPr/>
          <p:nvPr/>
        </p:nvSpPr>
        <p:spPr>
          <a:xfrm>
            <a:off x="7626240" y="5164920"/>
            <a:ext cx="3931560" cy="915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50" b="0" u="none" strike="noStrike">
                <a:solidFill>
                  <a:srgbClr val="2B2B2B"/>
                </a:solidFill>
                <a:effectLst/>
                <a:uFillTx/>
                <a:latin typeface="Calibri"/>
              </a:rPr>
              <a:t>Azure Pipelines → Actions migration docs</a:t>
            </a:r>
            <a:endParaRPr lang="en-US" sz="1150" b="0" u="none" strike="noStrike">
              <a:solidFill>
                <a:srgbClr val="000000"/>
              </a:solidFill>
              <a:effectLst/>
              <a:uFillTx/>
              <a:latin typeface="Arial"/>
            </a:endParaRPr>
          </a:p>
          <a:p>
            <a:pPr algn="ctr" defTabSz="914400">
              <a:lnSpc>
                <a:spcPct val="100000"/>
              </a:lnSpc>
              <a:spcBef>
                <a:spcPts val="300"/>
              </a:spcBef>
            </a:pPr>
            <a:r>
              <a:rPr lang="en-US" sz="1150" b="0" u="none" strike="noStrike">
                <a:solidFill>
                  <a:srgbClr val="2B2B2B"/>
                </a:solidFill>
                <a:effectLst/>
                <a:uFillTx/>
                <a:latin typeface="Calibri"/>
              </a:rPr>
              <a:t>gh-ado2gh  ·  gh-actions-importer</a:t>
            </a:r>
            <a:endParaRPr lang="en-US" sz="1150" b="0" u="none" strike="noStrike">
              <a:solidFill>
                <a:srgbClr val="000000"/>
              </a:solidFill>
              <a:effectLst/>
              <a:uFillTx/>
              <a:latin typeface="Arial"/>
            </a:endParaRPr>
          </a:p>
          <a:p>
            <a:pPr algn="ctr" defTabSz="914400">
              <a:lnSpc>
                <a:spcPct val="100000"/>
              </a:lnSpc>
              <a:spcBef>
                <a:spcPts val="300"/>
              </a:spcBef>
            </a:pPr>
            <a:r>
              <a:rPr lang="en-US" sz="1150" b="0" u="none" strike="noStrike">
                <a:solidFill>
                  <a:srgbClr val="2B2B2B"/>
                </a:solidFill>
                <a:effectLst/>
                <a:uFillTx/>
                <a:latin typeface="Calibri"/>
              </a:rPr>
              <a:t>Every note behind this talk</a:t>
            </a:r>
            <a:endParaRPr lang="en-US" sz="1150" b="0" u="none" strike="noStrike">
              <a:solidFill>
                <a:srgbClr val="000000"/>
              </a:solidFill>
              <a:effectLst/>
              <a:uFillTx/>
              <a:latin typeface="Arial"/>
            </a:endParaRPr>
          </a:p>
          <a:p>
            <a:pPr algn="ctr" defTabSz="914400">
              <a:lnSpc>
                <a:spcPct val="100000"/>
              </a:lnSpc>
              <a:spcBef>
                <a:spcPts val="300"/>
              </a:spcBef>
            </a:pPr>
            <a:r>
              <a:rPr lang="en-US" sz="1150" b="0" u="none" strike="noStrike">
                <a:solidFill>
                  <a:srgbClr val="2B2B2B"/>
                </a:solidFill>
                <a:effectLst/>
                <a:uFillTx/>
                <a:latin typeface="Calibri"/>
              </a:rPr>
              <a:t>Link to session feedback</a:t>
            </a:r>
            <a:endParaRPr lang="en-US" sz="1150" b="0" u="none" strike="noStrike">
              <a:solidFill>
                <a:srgbClr val="000000"/>
              </a:solidFill>
              <a:effectLst/>
              <a:uFillTx/>
              <a:latin typeface="Arial"/>
            </a:endParaRPr>
          </a:p>
        </p:txBody>
      </p:sp>
      <p:sp>
        <p:nvSpPr>
          <p:cNvPr id="615" name="Text 5"/>
          <p:cNvSpPr/>
          <p:nvPr/>
        </p:nvSpPr>
        <p:spPr>
          <a:xfrm>
            <a:off x="2044800" y="5939640"/>
            <a:ext cx="14428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chemeClr val="dk1"/>
                </a:solidFill>
                <a:effectLst/>
                <a:uFillTx/>
                <a:latin typeface="Calibri"/>
              </a:rPr>
              <a:t>Careers @ Hunter</a:t>
            </a:r>
            <a:endParaRPr lang="en-US" sz="1500" b="0" u="none" strike="noStrike">
              <a:solidFill>
                <a:srgbClr val="000000"/>
              </a:solidFill>
              <a:effectLst/>
              <a:uFillTx/>
              <a:latin typeface="Arial"/>
            </a:endParaRPr>
          </a:p>
        </p:txBody>
      </p:sp>
      <p:pic>
        <p:nvPicPr>
          <p:cNvPr id="616" name="Picture 21"/>
          <p:cNvPicPr/>
          <p:nvPr/>
        </p:nvPicPr>
        <p:blipFill>
          <a:blip r:embed="rId4"/>
          <a:stretch/>
        </p:blipFill>
        <p:spPr>
          <a:xfrm>
            <a:off x="736200" y="5523840"/>
            <a:ext cx="1197360" cy="1197360"/>
          </a:xfrm>
          <a:prstGeom prst="rect">
            <a:avLst/>
          </a:prstGeom>
          <a:noFill/>
          <a:ln w="0">
            <a:noFill/>
          </a:ln>
        </p:spPr>
      </p:pic>
      <p:sp>
        <p:nvSpPr>
          <p:cNvPr id="2" name="PlaceHolder 1"/>
          <p:cNvSpPr>
            <a:spLocks noGrp="1"/>
          </p:cNvSpPr>
          <p:nvPr>
            <p:ph type="sldNum" idx="1"/>
          </p:nvPr>
        </p:nvSpPr>
        <p:spPr/>
        <p:txBody>
          <a:bodyPr/>
          <a:lstStyle/>
          <a:p>
            <a:fld id="{B63A7D21-B666-44E7-9E36-91B47E8FC003}" type="slidenum">
              <a:rPr/>
              <a:t>51</a:t>
            </a:fld>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3516</TotalTime>
  <Words>12031</Words>
  <Application>Microsoft Office PowerPoint</Application>
  <PresentationFormat>Widescreen</PresentationFormat>
  <Paragraphs>913</Paragraphs>
  <Slides>51</Slides>
  <Notes>51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51</vt:i4>
      </vt:variant>
    </vt:vector>
  </HeadingPairs>
  <TitlesOfParts>
    <vt:vector size="59" baseType="lpstr">
      <vt:lpstr>Arial</vt:lpstr>
      <vt:lpstr>Calibri</vt:lpstr>
      <vt:lpstr>Cambria</vt:lpstr>
      <vt:lpstr>Cascadia Code</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dc:description/>
  <cp:lastModifiedBy>Neumann, Kevin</cp:lastModifiedBy>
  <cp:revision>34</cp:revision>
  <dcterms:created xsi:type="dcterms:W3CDTF">2026-09-21T19:07:56Z</dcterms:created>
  <dcterms:modified xsi:type="dcterms:W3CDTF">2026-09-30T22:19:33Z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51</vt:r8>
  </property>
  <property fmtid="{D5CDD505-2E9C-101B-9397-08002B2CF9AE}" pid="3" name="PresentationFormat">
    <vt:lpwstr>Widescreen</vt:lpwstr>
  </property>
  <property fmtid="{D5CDD505-2E9C-101B-9397-08002B2CF9AE}" pid="4" name="Slides">
    <vt:r8>51</vt:r8>
  </property>
</Properties>
</file>