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3"/>
  </p:notesMasterIdLst>
  <p:sldIdLst>
    <p:sldId id="256" r:id="rId2"/>
    <p:sldId id="257" r:id="rId3"/>
    <p:sldId id="258" r:id="rId4"/>
    <p:sldId id="259" r:id="rId5"/>
    <p:sldId id="261" r:id="rId6"/>
    <p:sldId id="262" r:id="rId7"/>
    <p:sldId id="265" r:id="rId8"/>
    <p:sldId id="267" r:id="rId9"/>
    <p:sldId id="268" r:id="rId10"/>
    <p:sldId id="269" r:id="rId11"/>
    <p:sldId id="270" r:id="rId12"/>
    <p:sldId id="271" r:id="rId13"/>
    <p:sldId id="272" r:id="rId14"/>
    <p:sldId id="273" r:id="rId15"/>
    <p:sldId id="264" r:id="rId16"/>
    <p:sldId id="274" r:id="rId17"/>
    <p:sldId id="275" r:id="rId18"/>
    <p:sldId id="276" r:id="rId19"/>
    <p:sldId id="277" r:id="rId20"/>
    <p:sldId id="279" r:id="rId21"/>
    <p:sldId id="282" r:id="rId22"/>
    <p:sldId id="280" r:id="rId23"/>
    <p:sldId id="281" r:id="rId24"/>
    <p:sldId id="278" r:id="rId25"/>
    <p:sldId id="313" r:id="rId26"/>
    <p:sldId id="283" r:id="rId27"/>
    <p:sldId id="284" r:id="rId28"/>
    <p:sldId id="285" r:id="rId29"/>
    <p:sldId id="286" r:id="rId30"/>
    <p:sldId id="287" r:id="rId31"/>
    <p:sldId id="288" r:id="rId32"/>
    <p:sldId id="289" r:id="rId33"/>
    <p:sldId id="291" r:id="rId34"/>
    <p:sldId id="292" r:id="rId35"/>
    <p:sldId id="293" r:id="rId36"/>
    <p:sldId id="295" r:id="rId37"/>
    <p:sldId id="296" r:id="rId38"/>
    <p:sldId id="297" r:id="rId39"/>
    <p:sldId id="298" r:id="rId40"/>
    <p:sldId id="301" r:id="rId41"/>
    <p:sldId id="300" r:id="rId42"/>
    <p:sldId id="302" r:id="rId43"/>
    <p:sldId id="303" r:id="rId44"/>
    <p:sldId id="304" r:id="rId45"/>
    <p:sldId id="305" r:id="rId46"/>
    <p:sldId id="306" r:id="rId47"/>
    <p:sldId id="307" r:id="rId48"/>
    <p:sldId id="309" r:id="rId49"/>
    <p:sldId id="308" r:id="rId50"/>
    <p:sldId id="311" r:id="rId51"/>
    <p:sldId id="312"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2B2B"/>
    <a:srgbClr val="373636"/>
    <a:srgbClr val="1F3D2C"/>
    <a:srgbClr val="1D1610"/>
    <a:srgbClr val="F7F6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883" autoAdjust="0"/>
  </p:normalViewPr>
  <p:slideViewPr>
    <p:cSldViewPr snapToGrid="0" snapToObjects="1">
      <p:cViewPr varScale="1">
        <p:scale>
          <a:sx n="122" d="100"/>
          <a:sy n="122" d="100"/>
        </p:scale>
        <p:origin x="1752"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TIMING: </a:t>
            </a:r>
            <a:r>
              <a:rPr lang="en-US" b="1"/>
              <a:t>budget 0:15 </a:t>
            </a:r>
            <a:r>
              <a:rPr lang="en-US" b="1" dirty="0"/>
              <a:t>for this slide (cum 0:00-0:15 of 90:00).</a:t>
            </a:r>
          </a:p>
          <a:p>
            <a:endParaRPr lang="en-US" b="1" dirty="0"/>
          </a:p>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TIMING: budget 0:30 for this slide (cum 0:15-0:45 of 90:00).</a:t>
            </a:r>
          </a:p>
          <a:p>
            <a:endParaRPr lang="en-US" dirty="0"/>
          </a:p>
          <a:p>
            <a:r>
              <a:rPr lang="en-US" dirty="0"/>
              <a:t>Standard sponsor-thanks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0:50 for this slide (cum 0:45-1:35 of 90:00).</a:t>
            </a:r>
          </a:p>
          <a:p>
            <a:endParaRPr lang="en-US" b="1"/>
          </a:p>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Section 3 includes the ELM slide; give it a few seconds and move on.</a:t>
            </a:r>
          </a:p>
          <a:p>
            <a:endParaRPr/>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0:20 for this slide (cum 1:35-1:55 of 90:00).</a:t>
            </a:r>
          </a:p>
          <a:p>
            <a:endParaRPr lang="en-US" b="1"/>
          </a:p>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2:35 for this slide (cum 1:55-4:30 of 90:00).</a:t>
            </a:r>
          </a:p>
          <a:p>
            <a:endParaRPr lang="en-US" b="1"/>
          </a:p>
          <a:p>
            <a:r>
              <a:rPr dirty="0"/>
              <a:t>Straight delivery. Name the real reason teams migrate before the polite reasons: most of the agentic Copilot work (cloud agent, agentic code review, agentic </a:t>
            </a:r>
            <a:r>
              <a:rPr dirty="0" err="1"/>
              <a:t>Autofix</a:t>
            </a:r>
            <a:r>
              <a:rPr dirty="0"/>
              <a:t>, Agent HQ) ships on GitHub first. Be fair to Microsoft: Azure DevOps is gaining AI features too, and Copilot in the IDE works wherever the repository is hosted. The point is not that Azure DevOps has nothing; it is that the frontier depends on where the repository lives.</a:t>
            </a:r>
          </a:p>
          <a:p>
            <a:endParaRPr dirty="0"/>
          </a:p>
          <a:p>
            <a:r>
              <a:rPr dirty="0"/>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endParaRPr dirty="0"/>
          </a:p>
          <a:p>
            <a:r>
              <a:rPr dirty="0"/>
              <a:t>Do not frame this as “GitHub has AI and Azure DevOps does not.” Frame it as a difference in native depth, integration, and repository dependency.</a:t>
            </a:r>
          </a:p>
          <a:p>
            <a:endParaRPr dirty="0"/>
          </a:p>
          <a:p>
            <a:r>
              <a:rPr dirty="0"/>
              <a:t>CUT FROM THE SLIDE, for Q&amp;A:</a:t>
            </a:r>
          </a:p>
          <a:p>
            <a:r>
              <a:rPr dirty="0"/>
              <a:t>- Repository-aware chat. GitHub: native workspace and repository context. Azure DevOps: local repo context, plus Azure DevOps service context through MCP.</a:t>
            </a:r>
          </a:p>
          <a:p>
            <a:r>
              <a:rPr dirty="0"/>
              <a:t>- Multi-agent orchestration. GitHub: a central hub running Copilot, Claude and Codex sessions in parallel. Azure DevOps: no native equivalent; external agents connect through MCP.</a:t>
            </a:r>
          </a:p>
          <a:p>
            <a:r>
              <a:rPr dirty="0"/>
              <a:t>- Azure DevOps MCP. The Remote MCP Server is GA and the server itself is free; normal Azure DevOps pricing and AI-platform usage charges may still apply. The next slide covers MCP.</a:t>
            </a:r>
          </a:p>
          <a:p>
            <a:r>
              <a:rPr dirty="0"/>
              <a:t>- Licensing. Paid Copilot for agents and review; GitHub Code Security where </a:t>
            </a:r>
            <a:r>
              <a:rPr dirty="0" err="1"/>
              <a:t>Autofix</a:t>
            </a:r>
            <a:r>
              <a:rPr dirty="0"/>
              <a:t> is needed.</a:t>
            </a:r>
          </a:p>
          <a:p>
            <a:endParaRPr dirty="0"/>
          </a:p>
          <a:p>
            <a:r>
              <a:rPr dirty="0"/>
              <a:t>The capability gap is real, but it is neither absolute nor static. As of September 21, 2026: Azure DevOps Remote MCP Server is generally available; Copilot Code Review for Azure Repos is in public preview; Copilot </a:t>
            </a:r>
            <a:r>
              <a:rPr dirty="0" err="1"/>
              <a:t>Autofix</a:t>
            </a:r>
            <a:r>
              <a:rPr dirty="0"/>
              <a:t> for Azure DevOps remains in limited public preview; and GitHub Copilot cloud agent still requires a GitHub-hosted repository even when initiated from Azure Boards.</a:t>
            </a:r>
          </a:p>
          <a:p>
            <a:endParaRPr dirty="0"/>
          </a:p>
          <a:p>
            <a:r>
              <a:rPr dirty="0"/>
              <a:t>Sources (accessed September 21, 2026): GitHub Docs — About GitHub Copilot cloud agent; Integrating Copilot cloud agent with Azure Boards; About agent management; About </a:t>
            </a:r>
            <a:r>
              <a:rPr dirty="0" err="1"/>
              <a:t>autofix</a:t>
            </a:r>
            <a:r>
              <a:rPr dirty="0"/>
              <a:t> for code scanning. Microsoft Learn — Azure DevOps Sprint 278 and Sprint 279 release notes; Azure DevOps MCP Server overview; Copilot code review for Azure Repos; Copilot </a:t>
            </a:r>
            <a:r>
              <a:rPr dirty="0" err="1"/>
              <a:t>Autofix</a:t>
            </a:r>
            <a:r>
              <a:rPr dirty="0"/>
              <a:t> for GitHub Advanced Security for Azure DevOps. GitHub Changelog — Copilot code review now runs on an agentic architecture (March 5, 2026).</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1:15 for this slide (cum 4:30-5:45 of 90:00).</a:t>
            </a:r>
          </a:p>
          <a:p>
            <a:endParaRPr lang="en-US" b="1"/>
          </a:p>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2:15 for this slide (cum 5:45-8:00 of 90:00).</a:t>
            </a:r>
          </a:p>
          <a:p>
            <a:endParaRPr lang="en-US" b="1"/>
          </a:p>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0:20 for this slide (cum 8:00-8:20 of 90:00).</a:t>
            </a:r>
          </a:p>
          <a:p>
            <a:endParaRPr lang="en-US" b="1"/>
          </a:p>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2:05 for this slide (cum 8:20-10:25 of 90:00).</a:t>
            </a:r>
          </a:p>
          <a:p>
            <a:endParaRPr lang="en-US" b="1"/>
          </a:p>
          <a:p>
            <a:r>
              <a:rPr dirty="0"/>
              <a:t>Straight delivery. This is the spoiler slide — the full seven-subsystem scorecard for the whole talk, not just section 2. Two travel clean (Repos, Wiki), four need a decision (Packages/Artifacts, Pipelines, Dashboards, Boards), one stays behind entirely (Test Plans).</a:t>
            </a:r>
          </a:p>
          <a:p>
            <a:endParaRPr dirty="0"/>
          </a:p>
          <a:p>
            <a:r>
              <a:rPr dirty="0"/>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dirty="0"/>
          </a:p>
          <a:p>
            <a:r>
              <a:rPr dirty="0"/>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TIMING: budget 1:45 for this slide (cum 10:25-12:10 of 90:00).</a:t>
            </a:r>
            <a:endParaRPr dirty="0"/>
          </a:p>
          <a:p>
            <a:endParaRPr dirty="0"/>
          </a:p>
          <a:p>
            <a:r>
              <a:rPr dirty="0"/>
              <a:t>Straight delivery. Git is Git, so commit history is easy, and pull requests plus most branch policies migrate without much drama through GitHub Enterprise Importer.</a:t>
            </a:r>
            <a:br>
              <a:rPr lang="en-US" dirty="0"/>
            </a:br>
            <a:br>
              <a:rPr lang="en-US" dirty="0"/>
            </a:br>
            <a:r>
              <a:rPr lang="en-US" dirty="0"/>
              <a:t>Highlight that ADO Repos != GitHub Repos</a:t>
            </a:r>
            <a:endParaRPr dirty="0"/>
          </a:p>
          <a:p>
            <a:endParaRPr dirty="0"/>
          </a:p>
          <a:p>
            <a:r>
              <a:rPr dirty="0"/>
              <a:t>Verify target visibility during the trial migration. Migration scripts can preserve or explicitly set visibility, but enterprise policies and managed-user configurations may constrain the available choices.</a:t>
            </a:r>
          </a:p>
          <a:p>
            <a:endParaRPr dirty="0"/>
          </a:p>
          <a:p>
            <a:r>
              <a:rPr dirty="0"/>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TIMING: budget 1:45 for this slide (cum 12:10-13:55 of 90:00).</a:t>
            </a:r>
          </a:p>
          <a:p>
            <a:endParaRPr lang="en-US" b="1" dirty="0"/>
          </a:p>
          <a:p>
            <a:r>
              <a:rPr dirty="0"/>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a:t>
            </a:r>
            <a:r>
              <a:rPr lang="en-US" dirty="0"/>
              <a:t>.</a:t>
            </a:r>
          </a:p>
          <a:p>
            <a:endParaRPr dirty="0"/>
          </a:p>
          <a:p>
            <a:r>
              <a:rPr dirty="0"/>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1:45 for this slide (cum 13:55-15:40 of 90:00).</a:t>
            </a:r>
          </a:p>
          <a:p>
            <a:endParaRPr lang="en-US" b="1"/>
          </a:p>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endParaRPr/>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2:05 for this slide (cum 15:40-17:45 of 90:00).</a:t>
            </a:r>
          </a:p>
          <a:p>
            <a:endParaRPr lang="en-US" b="1"/>
          </a:p>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1:05 for this slide (cum 17:45-18:50 of 90:00).</a:t>
            </a:r>
          </a:p>
          <a:p>
            <a:endParaRPr lang="en-US" b="1"/>
          </a:p>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2:10 for this slide (cum 18:50-21:00 of 90:00).</a:t>
            </a:r>
          </a:p>
          <a:p>
            <a:endParaRPr lang="en-US" b="1"/>
          </a:p>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endParaRPr/>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endParaRPr/>
          </a:p>
          <a:p>
            <a:r>
              <a:t>What holds the two halves together is the integration layer: work-item traceability, commit and pull-request links, pipeline integration, identity mapping, and cross-platform reporting.</a:t>
            </a:r>
          </a:p>
          <a:p>
            <a:endParaRPr/>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1:00 for this slide (cum 21:00-22:00 of 90:00).</a:t>
            </a:r>
          </a:p>
          <a:p>
            <a:endParaRPr lang="en-US" b="1"/>
          </a:p>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0:25 for this slide (cum 22:00-22:25 of 90:00).</a:t>
            </a:r>
          </a:p>
          <a:p>
            <a:endParaRPr lang="en-US" b="1"/>
          </a:p>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1:35 for this slide (cum 22:25-24:00 of 90:00).</a:t>
            </a:r>
          </a:p>
          <a:p>
            <a:endParaRPr lang="en-US" b="1"/>
          </a:p>
          <a:p>
            <a:r>
              <a:rPr dirty="0"/>
              <a:t>Straight delivery, and take this one slowly — the rest of the section depends on the distinction.</a:t>
            </a:r>
          </a:p>
          <a:p>
            <a:endParaRPr dirty="0"/>
          </a:p>
          <a:p>
            <a:r>
              <a:rPr dirty="0"/>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dirty="0"/>
          </a:p>
          <a:p>
            <a:r>
              <a:rPr dirty="0"/>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1:35 for this slide (cum 24:00-25:35 of 90:00).</a:t>
            </a:r>
          </a:p>
          <a:p>
            <a:endParaRPr lang="en-US" b="1"/>
          </a:p>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1:15 for this slide (cum 25:35-26:50 of 90:00).</a:t>
            </a:r>
          </a:p>
          <a:p>
            <a:endParaRPr lang="en-US" b="1"/>
          </a:p>
          <a:p>
            <a:r>
              <a:rPr dirty="0"/>
              <a:t>Straight delivery. Spend twenty seconds getting the naming right, because the docs don't and everyone who goes looking afterwards hits the same confusion.</a:t>
            </a:r>
          </a:p>
          <a:p>
            <a:endParaRPr dirty="0"/>
          </a:p>
          <a:p>
            <a:r>
              <a:rPr dirty="0"/>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1:35 for this slide (cum 26:50-28:25 of 90:00).</a:t>
            </a:r>
          </a:p>
          <a:p>
            <a:endParaRPr lang="en-US" b="1"/>
          </a:p>
          <a:p>
            <a:r>
              <a:rPr lang="en-US" dirty="0"/>
              <a:t>Straight delivery. Briefly mention it, but don’t spend much time on it. </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endParaRPr dirty="0"/>
          </a:p>
          <a:p>
            <a:r>
              <a:rPr dirty="0"/>
              <a:t>GitHub Enterprise Cloud (GHEC) with Data Residency is a distinct deployment model where:</a:t>
            </a:r>
          </a:p>
          <a:p>
            <a:r>
              <a:rPr dirty="0"/>
              <a:t> - Your enterprise is hosted on a dedicated ghe.com subdomain (instead of github.com&lt;org&gt;).</a:t>
            </a:r>
          </a:p>
          <a:p>
            <a:r>
              <a:rPr dirty="0"/>
              <a:t> - You choose the geographic region where your code and repository data are stored (currently including U.S., EU, Australia, and Japan).</a:t>
            </a:r>
          </a:p>
          <a:p>
            <a:r>
              <a:rPr dirty="0"/>
              <a:t> - The environment is isolated from the broader github.com ecosystem.</a:t>
            </a:r>
          </a:p>
          <a:p>
            <a:r>
              <a:rPr dirty="0"/>
              <a:t> - It requires Enterprise Managed Users (EMU).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1:55 for this slide (cum 28:25-30:20 of 90:00).</a:t>
            </a:r>
          </a:p>
          <a:p>
            <a:endParaRPr lang="en-US" b="1"/>
          </a:p>
          <a:p>
            <a:r>
              <a:rPr dirty="0"/>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dirty="0"/>
          </a:p>
          <a:p>
            <a:r>
              <a:rPr dirty="0"/>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1:55 for this slide (cum 30:20-32:15 of 90:00).</a:t>
            </a:r>
          </a:p>
          <a:p>
            <a:endParaRPr lang="en-US" b="1"/>
          </a:p>
          <a:p>
            <a:r>
              <a:rPr dirty="0"/>
              <a:t>Straight delivery. This is the automation-plane tool. The audit breakdown is the planning artifact: it turns “this looks hard” into a backlog with counts.</a:t>
            </a:r>
          </a:p>
          <a:p>
            <a:endParaRPr dirty="0"/>
          </a:p>
          <a:p>
            <a:r>
              <a:rPr dirty="0"/>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dirty="0"/>
          </a:p>
          <a:p>
            <a:r>
              <a:rPr dirty="0"/>
              <a:t>Conversion still leaves secrets, service connections, runner and network strategy, environments, approvals, custom tasks, and unsupported triggers for engineering judgment and validation.</a:t>
            </a:r>
            <a:endParaRPr lang="en-US" dirty="0"/>
          </a:p>
          <a:p>
            <a:endParaRPr lang="en-US" dirty="0"/>
          </a:p>
          <a:p>
            <a:pPr lvl="0"/>
            <a:r>
              <a:rPr lang="en-US" dirty="0"/>
              <a:t>Supported platforms:</a:t>
            </a:r>
            <a:br>
              <a:rPr lang="en-US" dirty="0"/>
            </a:br>
            <a:r>
              <a:rPr lang="en-US" sz="1200" b="0" i="0" kern="1200" dirty="0">
                <a:solidFill>
                  <a:schemeClr val="tx1"/>
                </a:solidFill>
                <a:effectLst/>
                <a:latin typeface="+mn-lt"/>
                <a:ea typeface="+mn-ea"/>
                <a:cs typeface="+mn-cs"/>
              </a:rPr>
              <a:t>Azure DevOps</a:t>
            </a:r>
          </a:p>
          <a:p>
            <a:pPr lvl="0"/>
            <a:r>
              <a:rPr lang="en-US" sz="1200" b="0" i="0" kern="1200" dirty="0">
                <a:solidFill>
                  <a:schemeClr val="tx1"/>
                </a:solidFill>
                <a:effectLst/>
                <a:latin typeface="+mn-lt"/>
                <a:ea typeface="+mn-ea"/>
                <a:cs typeface="+mn-cs"/>
              </a:rPr>
              <a:t>Bamboo</a:t>
            </a:r>
          </a:p>
          <a:p>
            <a:pPr lvl="0"/>
            <a:r>
              <a:rPr lang="en-US" sz="1200" b="0" i="0" kern="1200" dirty="0">
                <a:solidFill>
                  <a:schemeClr val="tx1"/>
                </a:solidFill>
                <a:effectLst/>
                <a:latin typeface="+mn-lt"/>
                <a:ea typeface="+mn-ea"/>
                <a:cs typeface="+mn-cs"/>
              </a:rPr>
              <a:t>Bitbucket Pipelines</a:t>
            </a:r>
          </a:p>
          <a:p>
            <a:pPr lvl="0"/>
            <a:r>
              <a:rPr lang="en-US" sz="1200" b="0" i="0" kern="1200" dirty="0" err="1">
                <a:solidFill>
                  <a:schemeClr val="tx1"/>
                </a:solidFill>
                <a:effectLst/>
                <a:latin typeface="+mn-lt"/>
                <a:ea typeface="+mn-ea"/>
                <a:cs typeface="+mn-cs"/>
              </a:rPr>
              <a:t>CircleCI</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GitLab (both cloud and self-hosted)</a:t>
            </a:r>
          </a:p>
          <a:p>
            <a:pPr lvl="0"/>
            <a:r>
              <a:rPr lang="en-US" sz="1200" b="0" i="0" kern="1200" dirty="0">
                <a:solidFill>
                  <a:schemeClr val="tx1"/>
                </a:solidFill>
                <a:effectLst/>
                <a:latin typeface="+mn-lt"/>
                <a:ea typeface="+mn-ea"/>
                <a:cs typeface="+mn-cs"/>
              </a:rPr>
              <a:t>Jenkins</a:t>
            </a:r>
          </a:p>
          <a:p>
            <a:pPr lvl="0"/>
            <a:r>
              <a:rPr lang="en-US" sz="1200" b="0" i="0" kern="1200" dirty="0">
                <a:solidFill>
                  <a:schemeClr val="tx1"/>
                </a:solidFill>
                <a:effectLst/>
                <a:latin typeface="+mn-lt"/>
                <a:ea typeface="+mn-ea"/>
                <a:cs typeface="+mn-cs"/>
              </a:rPr>
              <a:t>Travis CI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2:35 for this slide (cum 32:15-34:50 of 90:00).</a:t>
            </a:r>
          </a:p>
          <a:p>
            <a:endParaRPr lang="en-US" b="1"/>
          </a:p>
          <a:p>
            <a:r>
              <a:rPr dirty="0"/>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endParaRPr dirty="0"/>
          </a:p>
          <a:p>
            <a:r>
              <a:rPr dirty="0"/>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endParaRPr dirty="0"/>
          </a:p>
          <a:p>
            <a:r>
              <a:rPr dirty="0"/>
              <a:t>OPTIONAL LAUGH LINE — stop on the Service Connection row: “Two words on the left, </a:t>
            </a:r>
            <a:r>
              <a:rPr lang="en-US" dirty="0"/>
              <a:t>two</a:t>
            </a:r>
            <a:r>
              <a:rPr dirty="0"/>
              <a:t>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b="1"/>
              <a:t>TIMING: budget 3:25 for this slide (cum 34:50-38:15 of 90:00).</a:t>
            </a:r>
          </a:p>
          <a:p>
            <a:endParaRPr lang="en-US" b="1"/>
          </a:p>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1:15 for this slide (cum 38:15-39:30 of 90:00).</a:t>
            </a:r>
          </a:p>
          <a:p>
            <a:endParaRPr lang="en-US" b="1"/>
          </a:p>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1:55 for this slide (cum 39:30-41:25 of 90:00).</a:t>
            </a:r>
          </a:p>
          <a:p>
            <a:endParaRPr lang="en-US" b="1"/>
          </a:p>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1:35 for this slide (cum 41:25-43:00 of 90:00).</a:t>
            </a:r>
          </a:p>
          <a:p>
            <a:endParaRPr lang="en-US" b="1"/>
          </a:p>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1:00 for this slide (cum 43:00-44:00 of 90:00).</a:t>
            </a:r>
          </a:p>
          <a:p>
            <a:endParaRPr lang="en-US" b="1"/>
          </a:p>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0:25 for this slide (cum 44:00-44:25 of 90:00).</a:t>
            </a:r>
          </a:p>
          <a:p>
            <a:endParaRPr lang="en-US" b="1"/>
          </a:p>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2:00 for this slide (cum 44:25-46:25 of 90:00).</a:t>
            </a:r>
          </a:p>
          <a:p>
            <a:endParaRPr lang="en-US" b="1"/>
          </a:p>
          <a:p>
            <a:r>
              <a:rPr dirty="0"/>
              <a:t>Straight delivery. Frame this before comparing feature by feature — Azure Boards and GitHub Projects are not two competitors in one category, they are two different models.</a:t>
            </a:r>
          </a:p>
          <a:p>
            <a:endParaRPr dirty="0"/>
          </a:p>
          <a:p>
            <a:r>
              <a:rPr dirty="0"/>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dirty="0"/>
          </a:p>
          <a:p>
            <a:r>
              <a:rPr dirty="0"/>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endParaRPr dirty="0"/>
          </a:p>
          <a:p>
            <a:r>
              <a:rPr dirty="0"/>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2:25 for this slide (cum 46:25-48:50 of 90:00).</a:t>
            </a:r>
          </a:p>
          <a:p>
            <a:endParaRPr lang="en-US" b="1"/>
          </a:p>
          <a:p>
            <a:r>
              <a:t>Straight delivery. Take each tool on its own terms before comparing what a migration loses.</a:t>
            </a:r>
          </a:p>
          <a:p>
            <a:endParaRPr/>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endParaRPr/>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endParaRPr/>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2:15 for this slide (cum 48:50-51:05 of 90:00).</a:t>
            </a:r>
          </a:p>
          <a:p>
            <a:endParaRPr lang="en-US" b="1"/>
          </a:p>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endParaRPr/>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0:40 for this slide (cum 51:05-51:45 of 90:00).</a:t>
            </a:r>
          </a:p>
          <a:p>
            <a:endParaRPr lang="en-US" b="1"/>
          </a:p>
          <a:p>
            <a:r>
              <a:rPr lang="en-US" dirty="0"/>
              <a:t>Straight delivery, and let this one land plainly — it's probably the best-received slide in the whole deck precisely because it doesn't try to spin anything. </a:t>
            </a:r>
          </a:p>
          <a:p>
            <a:endParaRPr lang="en-US" dirty="0"/>
          </a:p>
          <a:p>
            <a:r>
              <a:rPr lang="en-US" dirty="0"/>
              <a:t>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2:15 for this slide (cum 51:45-54:00 of 90:00).</a:t>
            </a:r>
          </a:p>
          <a:p>
            <a:endParaRPr lang="en-US" b="1"/>
          </a:p>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endParaRPr/>
          </a:p>
          <a:p>
            <a:r>
              <a:t>Say the recommendation plainly: don’t migrate to GitHub Issues unless your planning needs are genuinely simple. For most teams past a handful of people, the hierarchy, capacity planning and reporting Azure Boards already gives you are worth keeping.</a:t>
            </a:r>
          </a:p>
          <a:p>
            <a:endParaRPr/>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1:00 for this slide (cum 54:00-55:00 of 90:00).</a:t>
            </a:r>
          </a:p>
          <a:p>
            <a:endParaRPr lang="en-US" b="1"/>
          </a:p>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0:25 for this slide (cum 55:00-55:25 of 90:00).</a:t>
            </a:r>
          </a:p>
          <a:p>
            <a:endParaRPr lang="en-US" b="1"/>
          </a:p>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1:30 for this slide (cum 55:25-56:55 of 90:00).</a:t>
            </a:r>
          </a:p>
          <a:p>
            <a:endParaRPr lang="en-US" b="1"/>
          </a:p>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2:20 for this slide (cum 56:55-59:15 of 90:00).</a:t>
            </a:r>
          </a:p>
          <a:p>
            <a:endParaRPr lang="en-US" b="1"/>
          </a:p>
          <a:p>
            <a:r>
              <a:t>Before walking the steps: “In most organizations the real selection process is that somebody senior used it at their last job.” OPTIONAL LAUGH LINE, and it is precisely failure mode one from the previous slide.</a:t>
            </a:r>
          </a:p>
          <a:p>
            <a:endParaRPr/>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endParaRPr/>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1:30 for this slide (cum 59:15-60:45 of 90:00).</a:t>
            </a:r>
          </a:p>
          <a:p>
            <a:endParaRPr lang="en-US" b="1"/>
          </a:p>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1:50 for this slide (cum 60:45-62:35 of 90:00).</a:t>
            </a:r>
          </a:p>
          <a:p>
            <a:endParaRPr lang="en-US" b="1"/>
          </a:p>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endParaRPr/>
          </a:p>
          <a:p>
            <a:r>
              <a:t>The bottom bar is the part most business cases skip: price the migration and the steady state as two separate numbers, and count the months when both platforms are billing at once. Dual-running is where the estimate usually goes wrong.</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TIMING: budget 2:35 for this slide (cum 62:35-65:10 of 90:00).</a:t>
            </a:r>
          </a:p>
          <a:p>
            <a:endParaRPr lang="en-US" b="1" dirty="0"/>
          </a:p>
          <a:p>
            <a:r>
              <a:rPr dirty="0"/>
              <a:t>Straight delivery. This is the counterweight to section 1. AI is the honest reason most teams are migrating — this slide is where you pay that argument down so it reads as analysis rather than a pitch. Frame the four as a to-do list, not as reasons to doubt the move.</a:t>
            </a:r>
          </a:p>
          <a:p>
            <a:endParaRPr dirty="0"/>
          </a:p>
          <a:p>
            <a:r>
              <a:rPr dirty="0"/>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endParaRPr dirty="0"/>
          </a:p>
          <a:p>
            <a:r>
              <a:rPr dirty="0"/>
              <a:t>2. CONVENTIONS. Three supported files: .</a:t>
            </a:r>
            <a:r>
              <a:rPr dirty="0" err="1"/>
              <a:t>github</a:t>
            </a:r>
            <a:r>
              <a:rPr dirty="0"/>
              <a:t>/copilot-instructions.md repository-wide, path-specific NAME.instructions.md under .</a:t>
            </a:r>
            <a:r>
              <a:rPr dirty="0" err="1"/>
              <a:t>github</a:t>
            </a:r>
            <a:r>
              <a:rPr dirty="0"/>
              <a:t>/instructions (cloud agent and code review only), and AGENTS.md anywhere in the tree, nearest one winning. Without them the agent infers house style from whatever it can see, which on a large legacy repo is whatever is oldest.</a:t>
            </a:r>
          </a:p>
          <a:p>
            <a:endParaRPr dirty="0"/>
          </a:p>
          <a:p>
            <a:r>
              <a:rPr dirty="0"/>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endParaRPr dirty="0"/>
          </a:p>
          <a:p>
            <a:r>
              <a:rPr dirty="0"/>
              <a:t>4. LICENSING. Moving the repository turns nothing on. The cloud agent needs a paid Copilot plan, it must be enabled on each connected repository, and an organization owner has to install the Azure Boards GitHub app before anyone can use the integration.</a:t>
            </a:r>
          </a:p>
          <a:p>
            <a:endParaRPr dirty="0"/>
          </a:p>
          <a:p>
            <a:r>
              <a:rPr dirty="0"/>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TIMING: budget 2:35 for this slide (cum 65:10-67:00 of 90:00).</a:t>
            </a:r>
            <a:endParaRPr lang="en-US" dirty="0"/>
          </a:p>
          <a:p>
            <a:endParaRPr lang="en-US" dirty="0"/>
          </a:p>
          <a:p>
            <a:r>
              <a:rPr dirty="0"/>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a:t>
            </a:r>
            <a:endParaRPr lang="en-US" dirty="0"/>
          </a:p>
          <a:p>
            <a:endParaRPr lang="en-US" dirty="0"/>
          </a:p>
          <a:p>
            <a:r>
              <a:rPr dirty="0"/>
              <a:t>Then the documentary callback: the Senior Engineer from the opener card isn't wrong to be cautious about change, they're just defending the old pipeline with the wrong argument ('it's always worked') instead of the right one ('here's what the audit </a:t>
            </a:r>
            <a:r>
              <a:rPr dirty="0" err="1"/>
              <a:t>says'</a:t>
            </a:r>
            <a:r>
              <a:rPr dirty="0"/>
              <a:t>).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1:00 for this slide (cum 67:00-68:00 of 90:00).</a:t>
            </a:r>
          </a:p>
          <a:p>
            <a:endParaRPr lang="en-US" b="1"/>
          </a:p>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0:25 for this slide (cum 68:00-68:25 of 90:00).</a:t>
            </a:r>
          </a:p>
          <a:p>
            <a:endParaRPr lang="en-US" b="1"/>
          </a:p>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1:50 for this slide (cum 68:25-70:15 of 90:00).</a:t>
            </a:r>
          </a:p>
          <a:p>
            <a:endParaRPr lang="en-US" b="1"/>
          </a:p>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2:20 for this slide (cum 70:15-72:35 of 90:00).</a:t>
            </a:r>
          </a:p>
          <a:p>
            <a:endParaRPr lang="en-US" b="1"/>
          </a:p>
          <a:p>
            <a:r>
              <a:t>Two registers on this one slide. STRAIGHT for the top two cards — this is real mechanical risk, say it plainly.</a:t>
            </a:r>
          </a:p>
          <a:p>
            <a:endParaRPr/>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endParaRPr/>
          </a:p>
          <a:p>
            <a:r>
              <a:t>Be precise about what sits on a mannequin: pull-request data only — authorship, comments and reviews. Work items don’t migrate at all, so there is no work-item history to reclaim.</a:t>
            </a:r>
          </a:p>
          <a:p>
            <a:endParaRPr/>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1:35 for this slide (cum 72:35-74:10 of 90:00).</a:t>
            </a:r>
          </a:p>
          <a:p>
            <a:endParaRPr lang="en-US" b="1"/>
          </a:p>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1:50 for this slide (cum 74:10-76:00 of 90:00).</a:t>
            </a:r>
          </a:p>
          <a:p>
            <a:endParaRPr lang="en-US" b="1"/>
          </a:p>
          <a:p>
            <a:r>
              <a:rPr dirty="0"/>
              <a:t>STRAIGHT delivery, and let it land quieter than anything around it. This is the deck's thesis in one sentence, and it now sits where it earns the most: the recap just handed them six things to remember, and this is the one thing to feel.</a:t>
            </a:r>
          </a:p>
          <a:p>
            <a:endParaRPr dirty="0"/>
          </a:p>
          <a:p>
            <a:r>
              <a:rPr dirty="0"/>
              <a:t>The slide is built as a statement, not a section card — light ground, no motif, sentence </a:t>
            </a:r>
            <a:r>
              <a:rPr dirty="0" err="1"/>
              <a:t>centred</a:t>
            </a:r>
            <a:r>
              <a:rPr dirty="0"/>
              <a:t>, nothing on it competing with the line. Deliver the first sentence flat, then pause before the last clause. “And got fixed by people in the room” is the payoff and it is set in the accent </a:t>
            </a:r>
            <a:r>
              <a:rPr dirty="0" err="1"/>
              <a:t>colour</a:t>
            </a:r>
            <a:r>
              <a:rPr dirty="0"/>
              <a:t> for exactly that reason: land it on the people, not the checklist.</a:t>
            </a:r>
          </a:p>
          <a:p>
            <a:endParaRPr dirty="0"/>
          </a:p>
          <a:p>
            <a:r>
              <a:rPr dirty="0"/>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1:00 for this slide (cum 76:00-77:00 of 90:00).</a:t>
            </a:r>
          </a:p>
          <a:p>
            <a:endParaRPr lang="en-US" b="1"/>
          </a:p>
          <a:p>
            <a:r>
              <a:rPr dirty="0"/>
              <a:t>DOCUMENTARY VOICE — spoken live, slower than anything else in the deck.</a:t>
            </a:r>
          </a:p>
          <a:p>
            <a:endParaRPr dirty="0"/>
          </a:p>
          <a:p>
            <a:r>
              <a:rPr dirty="0"/>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dirty="0"/>
          </a:p>
          <a:p>
            <a:r>
              <a:rPr dirty="0"/>
              <a:t>That last line is the callback to section 6's title, so it should land as a click rather than a punchline. Let the silence sit for two full seconds before advancing — do not rush into the thank-you slide, and do not add another joke on top of it.</a:t>
            </a:r>
          </a:p>
          <a:p>
            <a:endParaRPr dirty="0"/>
          </a:p>
          <a:p>
            <a:r>
              <a:rPr dirty="0"/>
              <a:t>Note the division of </a:t>
            </a:r>
            <a:r>
              <a:rPr dirty="0" err="1"/>
              <a:t>labour</a:t>
            </a:r>
            <a:r>
              <a:rPr dirty="0"/>
              <a:t> with the Unglamorous Truth slide two back: that one is the sincere version in your own voice, this one is the funny version in the documentary voice. Sincerity first, laugh last.</a:t>
            </a:r>
          </a:p>
          <a:p>
            <a:endParaRPr dirty="0"/>
          </a:p>
          <a:p>
            <a:r>
              <a:rPr dirty="0"/>
              <a:t>---- ALTERNATE CLOSER, if this one doesn't fit on the night ----</a:t>
            </a:r>
          </a:p>
          <a:p>
            <a:endParaRPr dirty="0"/>
          </a:p>
          <a:p>
            <a:r>
              <a:rPr dirty="0"/>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TIMING: budget 1:00 for this slide (cum 77:00-78:00 of 90:00), then open Q&amp;A gets ~12:00 to 90:00.</a:t>
            </a:r>
          </a:p>
          <a:p>
            <a:endParaRPr lang="en-US" b="1"/>
          </a:p>
          <a:p>
            <a:r>
              <a:t>STRAIGHT delivery, warm. This is the handoff into the open Q&amp;A, roughly 14 minutes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FCB2E6C-B1C0-81B8-1A95-7A3B7452C911}"/>
              </a:ext>
            </a:extLst>
          </p:cNvPr>
          <p:cNvSpPr>
            <a:spLocks noGrp="1"/>
          </p:cNvSpPr>
          <p:nvPr>
            <p:ph type="sldNum" sz="quarter" idx="10"/>
          </p:nvPr>
        </p:nvSpPr>
        <p:spPr/>
        <p:txBody>
          <a:bodyPr/>
          <a:lstStyle/>
          <a:p>
            <a:fld id="{BCB632DE-6AD4-40F1-944C-28C0E9BF62DC}" type="slidenum">
              <a:rPr lang="en-US" smtClean="0"/>
              <a:t>‹#›</a:t>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B22153-3E74-9A77-9771-8EE0002F3ED0}"/>
              </a:ext>
            </a:extLst>
          </p:cNvPr>
          <p:cNvSpPr>
            <a:spLocks noGrp="1"/>
          </p:cNvSpPr>
          <p:nvPr>
            <p:ph type="sldNum" sz="quarter" idx="4"/>
          </p:nvPr>
        </p:nvSpPr>
        <p:spPr>
          <a:xfrm>
            <a:off x="11612880" y="6492240"/>
            <a:ext cx="411480" cy="256032"/>
          </a:xfrm>
          <a:prstGeom prst="rect">
            <a:avLst/>
          </a:prstGeom>
        </p:spPr>
        <p:txBody>
          <a:bodyPr vert="horz" wrap="none" lIns="0" tIns="0" rIns="0" bIns="0" anchor="ctr"/>
          <a:lstStyle>
            <a:lvl1pPr algn="r">
              <a:defRPr sz="1000" b="0">
                <a:solidFill>
                  <a:srgbClr val="6B6B63"/>
                </a:solidFill>
                <a:latin typeface="Calibri"/>
              </a:defRPr>
            </a:lvl1pPr>
          </a:lstStyle>
          <a:p>
            <a:fld id="{BCB632DE-6AD4-40F1-944C-28C0E9BF62DC}"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18.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305"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E0B85C"/>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E0B85C"/>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
        <p:nvSpPr>
          <p:cNvPr id="9" name="Slide Number Placeholder"/>
          <p:cNvSpPr>
            <a:spLocks noGrp="1"/>
          </p:cNvSpPr>
          <p:nvPr>
            <p:ph type="sldNum" sz="quarter" idx="10"/>
          </p:nvPr>
        </p:nvSpPr>
        <p:spPr/>
        <p:txBody>
          <a:bodyPr/>
          <a:lstStyle/>
          <a:p>
            <a:fld id="{BCB632DE-6AD4-40F1-944C-28C0E9BF62DC}" type="slidenum">
              <a:rPr lang="en-US">
                <a:solidFill>
                  <a:srgbClr val="E0B85C"/>
                </a:solidFill>
              </a:rPr>
              <a:t>1</a:t>
            </a:fld>
            <a:endParaRPr lang="en-US">
              <a:solidFill>
                <a:srgbClr val="E0B85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5" name="Slide Number Placeholder"/>
          <p:cNvSpPr>
            <a:spLocks noGrp="1"/>
          </p:cNvSpPr>
          <p:nvPr>
            <p:ph type="sldNum" sz="quarter" idx="10"/>
          </p:nvPr>
        </p:nvSpPr>
        <p:spPr/>
        <p:txBody>
          <a:bodyPr/>
          <a:lstStyle/>
          <a:p>
            <a:fld id="{BCB632DE-6AD4-40F1-944C-28C0E9BF62DC}" type="slidenum">
              <a:rPr lang="en-US"/>
              <a:t>2</a:t>
            </a:fld>
            <a:endParaRPr lang="en-US"/>
          </a:p>
        </p:txBody>
      </p:sp>
      <p:pic>
        <p:nvPicPr>
          <p:cNvPr id="7" name="Picture 6">
            <a:extLst>
              <a:ext uri="{FF2B5EF4-FFF2-40B4-BE49-F238E27FC236}">
                <a16:creationId xmlns:a16="http://schemas.microsoft.com/office/drawing/2014/main" id="{62312F7A-D149-7F69-75D6-2B4AA23FC0C3}"/>
              </a:ext>
            </a:extLst>
          </p:cNvPr>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a:t>
            </a:r>
            <a:r>
              <a:rPr lang="en-US" sz="1500" dirty="0">
                <a:solidFill>
                  <a:srgbClr val="F5F5F0"/>
                </a:solidFill>
                <a:latin typeface="Calibri" pitchFamily="34" charset="0"/>
                <a:ea typeface="Calibri" pitchFamily="34" charset="-122"/>
                <a:cs typeface="Calibri" pitchFamily="34" charset="-120"/>
              </a:rPr>
              <a:t>comparing GitHub with every competing platform.</a:t>
            </a:r>
          </a:p>
          <a:p>
            <a:pPr>
              <a:lnSpc>
                <a:spcPct val="115000"/>
              </a:lnSpc>
              <a:buSzPct val="100000"/>
            </a:pPr>
            <a:endParaRPr lang="en-US" sz="1500"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
        <p:nvSpPr>
          <p:cNvPr id="22" name="Slide Number Placeholder"/>
          <p:cNvSpPr>
            <a:spLocks noGrp="1"/>
          </p:cNvSpPr>
          <p:nvPr>
            <p:ph type="sldNum" sz="quarter" idx="10"/>
          </p:nvPr>
        </p:nvSpPr>
        <p:spPr/>
        <p:txBody>
          <a:bodyPr/>
          <a:lstStyle/>
          <a:p>
            <a:fld id="{BCB632DE-6AD4-40F1-944C-28C0E9BF62DC}"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a:t>
            </a:fld>
            <a:endParaRPr lang="en-US">
              <a:solidFill>
                <a:srgbClr val="E0B85C"/>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2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tIns="0" r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
        <p:nvSpPr>
          <p:cNvPr id="14" name="Slide Number Placeholder"/>
          <p:cNvSpPr>
            <a:spLocks noGrp="1"/>
          </p:cNvSpPr>
          <p:nvPr>
            <p:ph type="sldNum" sz="quarter" idx="10"/>
          </p:nvPr>
        </p:nvSpPr>
        <p:spPr/>
        <p:txBody>
          <a:bodyPr/>
          <a:lstStyle/>
          <a:p>
            <a:fld id="{BCB632DE-6AD4-40F1-944C-28C0E9BF62DC}"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platform decision did not disappear. It merely acquired more adapters.</a:t>
            </a:r>
          </a:p>
        </p:txBody>
      </p:sp>
      <p:sp>
        <p:nvSpPr>
          <p:cNvPr id="34" name="Slide Number Placeholder"/>
          <p:cNvSpPr>
            <a:spLocks noGrp="1"/>
          </p:cNvSpPr>
          <p:nvPr>
            <p:ph type="sldNum" sz="quarter" idx="10"/>
          </p:nvPr>
        </p:nvSpPr>
        <p:spPr/>
        <p:txBody>
          <a:bodyPr/>
          <a:lstStyle/>
          <a:p>
            <a:fld id="{BCB632DE-6AD4-40F1-944C-28C0E9BF62DC}"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
        <p:nvSpPr>
          <p:cNvPr id="31" name="Slide Number Placeholder"/>
          <p:cNvSpPr>
            <a:spLocks noGrp="1"/>
          </p:cNvSpPr>
          <p:nvPr>
            <p:ph type="sldNum" sz="quarter" idx="10"/>
          </p:nvPr>
        </p:nvSpPr>
        <p:spPr/>
        <p:txBody>
          <a:bodyPr/>
          <a:lstStyle/>
          <a:p>
            <a:fld id="{BCB632DE-6AD4-40F1-944C-28C0E9BF62DC}"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8</a:t>
            </a:fld>
            <a:endParaRPr lang="en-US">
              <a:solidFill>
                <a:srgbClr val="E0B85C"/>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15" name="Slide Number Placeholder"/>
          <p:cNvSpPr>
            <a:spLocks noGrp="1"/>
          </p:cNvSpPr>
          <p:nvPr>
            <p:ph type="sldNum" sz="quarter" idx="10"/>
          </p:nvPr>
        </p:nvSpPr>
        <p:spPr/>
        <p:txBody>
          <a:bodyPr/>
          <a:lstStyle/>
          <a:p>
            <a:fld id="{BCB632DE-6AD4-40F1-944C-28C0E9BF62DC}"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 (again via GEI)</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
        <p:nvSpPr>
          <p:cNvPr id="13" name="Shape 13"/>
          <p:cNvSpPr/>
          <p:nvPr/>
        </p:nvSpPr>
        <p:spPr>
          <a:xfrm>
            <a:off x="548640" y="585216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4" name="Text 14"/>
          <p:cNvSpPr txBox="1"/>
          <p:nvPr/>
        </p:nvSpPr>
        <p:spPr>
          <a:xfrm>
            <a:off x="548640" y="585216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word “repo” survives the migration. The project-level boundary it used to sit inside — shared config, ownership, access — doesn’t come with it.</a:t>
            </a:r>
          </a:p>
        </p:txBody>
      </p:sp>
      <p:sp>
        <p:nvSpPr>
          <p:cNvPr id="12" name="Slide Number Placeholder"/>
          <p:cNvSpPr>
            <a:spLocks noGrp="1"/>
          </p:cNvSpPr>
          <p:nvPr>
            <p:ph type="sldNum" sz="quarter" idx="10"/>
          </p:nvPr>
        </p:nvSpPr>
        <p:spPr/>
        <p:txBody>
          <a:bodyPr/>
          <a:lstStyle/>
          <a:p>
            <a:fld id="{BCB632DE-6AD4-40F1-944C-28C0E9BF62DC}"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p>
          <a:p>
            <a:pPr marL="0" indent="0">
              <a:lnSpc>
                <a:spcPct val="13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The pages copy in minutes. The structure and the Azure DevOps-only markdown are the real work.</a:t>
            </a:r>
          </a:p>
        </p:txBody>
      </p:sp>
      <p:sp>
        <p:nvSpPr>
          <p:cNvPr id="11" name="Slide Number Placeholder"/>
          <p:cNvSpPr>
            <a:spLocks noGrp="1"/>
          </p:cNvSpPr>
          <p:nvPr>
            <p:ph type="sldNum" sz="quarter" idx="10"/>
          </p:nvPr>
        </p:nvSpPr>
        <p:spPr/>
        <p:txBody>
          <a:bodyPr/>
          <a:lstStyle/>
          <a:p>
            <a:fld id="{BCB632DE-6AD4-40F1-944C-28C0E9BF62D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
        <p:nvSpPr>
          <p:cNvPr id="23" name="Slide Number Placeholder"/>
          <p:cNvSpPr>
            <a:spLocks noGrp="1"/>
          </p:cNvSpPr>
          <p:nvPr>
            <p:ph type="sldNum" sz="quarter" idx="10"/>
          </p:nvPr>
        </p:nvSpPr>
        <p:spPr/>
        <p:txBody>
          <a:bodyPr/>
          <a:lstStyle/>
          <a:p>
            <a:fld id="{BCB632DE-6AD4-40F1-944C-28C0E9BF62D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E0B85C"/>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
        <p:nvSpPr>
          <p:cNvPr id="13" name="Slide Number Placeholder"/>
          <p:cNvSpPr>
            <a:spLocks noGrp="1"/>
          </p:cNvSpPr>
          <p:nvPr>
            <p:ph type="sldNum" sz="quarter" idx="10"/>
          </p:nvPr>
        </p:nvSpPr>
        <p:spPr/>
        <p:txBody>
          <a:bodyPr/>
          <a:lstStyle/>
          <a:p>
            <a:fld id="{BCB632DE-6AD4-40F1-944C-28C0E9BF62DC}"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Hybrid is not a temporary failure to finish the migration. It can be the intended architecture.</a:t>
            </a:r>
          </a:p>
        </p:txBody>
      </p:sp>
      <p:sp>
        <p:nvSpPr>
          <p:cNvPr id="35" name="Slide Number Placeholder"/>
          <p:cNvSpPr>
            <a:spLocks noGrp="1"/>
          </p:cNvSpPr>
          <p:nvPr>
            <p:ph type="sldNum" sz="quarter" idx="10"/>
          </p:nvPr>
        </p:nvSpPr>
        <p:spPr/>
        <p:txBody>
          <a:bodyPr/>
          <a:lstStyle/>
          <a:p>
            <a:fld id="{BCB632DE-6AD4-40F1-944C-28C0E9BF62DC}"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16</a:t>
            </a:fld>
            <a:endParaRPr lang="en-US">
              <a:solidFill>
                <a:srgbClr val="E0B85C"/>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E0B85C"/>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17</a:t>
            </a:fld>
            <a:endParaRPr lang="en-US">
              <a:solidFill>
                <a:srgbClr val="E0B85C"/>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994837"/>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2150284"/>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2177716"/>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3348149"/>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50359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493959"/>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701461"/>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856909"/>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884341"/>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6" name="Slide Number Placeholder"/>
          <p:cNvSpPr>
            <a:spLocks noGrp="1"/>
          </p:cNvSpPr>
          <p:nvPr>
            <p:ph type="sldNum" sz="quarter" idx="10"/>
          </p:nvPr>
        </p:nvSpPr>
        <p:spPr/>
        <p:txBody>
          <a:bodyPr/>
          <a:lstStyle/>
          <a:p>
            <a:fld id="{BCB632DE-6AD4-40F1-944C-28C0E9BF62DC}"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4102190004"/>
              </p:ext>
            </p:extLst>
          </p:nvPr>
        </p:nvGraphicFramePr>
        <p:xfrm>
          <a:off x="548640" y="1508760"/>
          <a:ext cx="11045952" cy="4160520"/>
        </p:xfrm>
        <a:graphic>
          <a:graphicData uri="http://schemas.openxmlformats.org/drawingml/2006/table">
            <a:tbl>
              <a:tblPr firstRow="1" bandRow="1">
                <a:tableStyleId>{5C22544A-7EE6-4342-B048-85BDC9FD1C3A}</a:tableStyleId>
              </a:tblPr>
              <a:tblGrid>
                <a:gridCol w="1449034">
                  <a:extLst>
                    <a:ext uri="{9D8B030D-6E8A-4147-A177-3AD203B41FA5}">
                      <a16:colId xmlns:a16="http://schemas.microsoft.com/office/drawing/2014/main" val="20000"/>
                    </a:ext>
                  </a:extLst>
                </a:gridCol>
                <a:gridCol w="3023688">
                  <a:extLst>
                    <a:ext uri="{9D8B030D-6E8A-4147-A177-3AD203B41FA5}">
                      <a16:colId xmlns:a16="http://schemas.microsoft.com/office/drawing/2014/main" val="3429812597"/>
                    </a:ext>
                  </a:extLst>
                </a:gridCol>
                <a:gridCol w="3312741">
                  <a:extLst>
                    <a:ext uri="{9D8B030D-6E8A-4147-A177-3AD203B41FA5}">
                      <a16:colId xmlns:a16="http://schemas.microsoft.com/office/drawing/2014/main" val="20001"/>
                    </a:ext>
                  </a:extLst>
                </a:gridCol>
                <a:gridCol w="3260489">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dirty="0">
                          <a:solidFill>
                            <a:srgbClr val="F5F5F0"/>
                          </a:solidFill>
                          <a:latin typeface="Calibri"/>
                        </a:rPr>
                        <a:t>OFFICIAL TOOLING</a:t>
                      </a:r>
                    </a:p>
                  </a:txBody>
                  <a:tcPr marT="64008" marB="64008" anchor="ctr">
                    <a:solidFill>
                      <a:srgbClr val="1F3D2C"/>
                    </a:solidFill>
                  </a:tcPr>
                </a:tc>
                <a:tc>
                  <a:txBody>
                    <a:bodyPr/>
                    <a:lstStyle/>
                    <a:p>
                      <a:pPr algn="l"/>
                      <a:r>
                        <a:rPr sz="1400" b="1" dirty="0">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dirty="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78292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782926"/>
            <a:ext cx="11064240" cy="731520"/>
          </a:xfrm>
          <a:prstGeom prst="rect">
            <a:avLst/>
          </a:prstGeom>
          <a:noFill/>
        </p:spPr>
        <p:txBody>
          <a:bodyPr wrap="square" lIns="256032" tIns="54864" rIns="256032" bIns="54864" anchor="ctr">
            <a:spAutoFit/>
          </a:bodyPr>
          <a:lstStyle/>
          <a:p>
            <a:pPr algn="l"/>
            <a:r>
              <a:rPr sz="1250" b="1" spc="120" dirty="0">
                <a:solidFill>
                  <a:srgbClr val="E0B85C"/>
                </a:solidFill>
                <a:latin typeface="Calibri"/>
              </a:rPr>
              <a:t>TAKEAWAY </a:t>
            </a:r>
            <a:r>
              <a:rPr sz="1500" b="0" dirty="0">
                <a:solidFill>
                  <a:srgbClr val="F5F5F0"/>
                </a:solidFill>
                <a:latin typeface="Calibri"/>
              </a:rPr>
              <a:t>The methods are complementary. None is a substitute for evidence in the validation plane.</a:t>
            </a:r>
          </a:p>
        </p:txBody>
      </p:sp>
      <p:sp>
        <p:nvSpPr>
          <p:cNvPr id="9" name="Slide Number Placeholder"/>
          <p:cNvSpPr>
            <a:spLocks noGrp="1"/>
          </p:cNvSpPr>
          <p:nvPr>
            <p:ph type="sldNum" sz="quarter" idx="10"/>
          </p:nvPr>
        </p:nvSpPr>
        <p:spPr/>
        <p:txBody>
          <a:bodyPr/>
          <a:lstStyle/>
          <a:p>
            <a:fld id="{BCB632DE-6AD4-40F1-944C-28C0E9BF62DC}"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rPr>
              <a:t>GitHub Enterprise Importer (GEI) is a set of GitHub CLI extensions (including </a:t>
            </a:r>
            <a:r>
              <a:rPr lang="en-US" sz="1450" dirty="0">
                <a:solidFill>
                  <a:srgbClr val="2B2B2B"/>
                </a:solidFill>
                <a:latin typeface="Cascadia Code" panose="020B0609020000020004" pitchFamily="49" charset="0"/>
                <a:cs typeface="Cascadia Code" panose="020B0609020000020004" pitchFamily="49" charset="0"/>
              </a:rPr>
              <a:t>ado2gh</a:t>
            </a:r>
            <a:r>
              <a:rPr lang="en-US" sz="1450" dirty="0">
                <a:solidFill>
                  <a:srgbClr val="2B2B2B"/>
                </a:solidFill>
              </a:rPr>
              <a:t>)</a:t>
            </a:r>
            <a:endParaRPr lang="en-US" sz="1450" dirty="0">
              <a:solidFill>
                <a:srgbClr val="2B2B2B"/>
              </a:solidFill>
              <a:ea typeface="Cascadia Mono" panose="020B0609020000020004" pitchFamily="49" charset="0"/>
              <a:cs typeface="Cascadia Mono" panose="020B0609020000020004" pitchFamily="49" charset="0"/>
            </a:endParaRP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spcBef>
                <a:spcPts val="800"/>
              </a:spcBef>
              <a:buFont typeface="Arial" panose="020B0604020202020204" pitchFamily="34" charset="0"/>
              <a:buChar char="•"/>
            </a:pPr>
            <a:r>
              <a:rPr sz="1450" dirty="0">
                <a:solidFill>
                  <a:srgbClr val="F5F5F0"/>
                </a:solidFill>
                <a:latin typeface="Calibri"/>
              </a:rPr>
              <a:t>Pipeline-logic conversion belongs to </a:t>
            </a:r>
            <a:r>
              <a:rPr lang="en-US" sz="1450" dirty="0">
                <a:solidFill>
                  <a:srgbClr val="F5F5F0"/>
                </a:solidFill>
                <a:latin typeface="Calibri"/>
              </a:rPr>
              <a:t>elsewhere (</a:t>
            </a:r>
            <a:r>
              <a:rPr sz="1450" dirty="0">
                <a:solidFill>
                  <a:srgbClr val="F5F5F0"/>
                </a:solidFill>
                <a:latin typeface="Calibri"/>
              </a:rPr>
              <a:t>Actions Importer</a:t>
            </a:r>
            <a:r>
              <a:rPr lang="en-US" sz="1450" dirty="0">
                <a:solidFill>
                  <a:srgbClr val="F5F5F0"/>
                </a:solidFill>
                <a:latin typeface="Calibri"/>
              </a:rPr>
              <a:t>)</a:t>
            </a:r>
            <a:endParaRPr sz="1450" dirty="0">
              <a:solidFill>
                <a:srgbClr val="F5F5F0"/>
              </a:solidFill>
              <a:latin typeface="Calibri"/>
            </a:endParaRPr>
          </a:p>
          <a:p>
            <a:pPr marL="285750" indent="-285750">
              <a:spcBef>
                <a:spcPts val="800"/>
              </a:spcBef>
              <a:buFont typeface="Arial" panose="020B0604020202020204" pitchFamily="34" charset="0"/>
              <a:buChar char="•"/>
            </a:pPr>
            <a:r>
              <a:rPr sz="1450" dirty="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6" name="Slide Number Placeholder"/>
          <p:cNvSpPr>
            <a:spLocks noGrp="1"/>
          </p:cNvSpPr>
          <p:nvPr>
            <p:ph type="sldNum" sz="quarter" idx="10"/>
          </p:nvPr>
        </p:nvSpPr>
        <p:spPr/>
        <p:txBody>
          <a:bodyPr/>
          <a:lstStyle/>
          <a:p>
            <a:fld id="{BCB632DE-6AD4-40F1-944C-28C0E9BF62DC}" type="slidenum">
              <a:rPr lang="en-US"/>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63880" y="5628132"/>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
        <p:nvSpPr>
          <p:cNvPr id="19" name="Slide Number Placeholder"/>
          <p:cNvSpPr>
            <a:spLocks noGrp="1"/>
          </p:cNvSpPr>
          <p:nvPr>
            <p:ph type="sldNum" sz="quarter" idx="10"/>
          </p:nvPr>
        </p:nvSpPr>
        <p:spPr/>
        <p:txBody>
          <a:bodyPr/>
          <a:lstStyle/>
          <a:p>
            <a:fld id="{BCB632DE-6AD4-40F1-944C-28C0E9BF62DC}"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dirty="0">
                <a:solidFill>
                  <a:srgbClr val="1F3D2C"/>
                </a:solidFill>
                <a:latin typeface="Cambria"/>
              </a:rPr>
              <a:t>Repository Plane — Decisions</a:t>
            </a:r>
            <a:endParaRPr lang="en-US" sz="3200" dirty="0"/>
          </a:p>
        </p:txBody>
      </p:sp>
      <p:sp>
        <p:nvSpPr>
          <p:cNvPr id="6" name="Shape 3"/>
          <p:cNvSpPr/>
          <p:nvPr/>
        </p:nvSpPr>
        <p:spPr>
          <a:xfrm>
            <a:off x="548640" y="4556259"/>
            <a:ext cx="11064240" cy="1358289"/>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4674899"/>
            <a:ext cx="10332720" cy="1124101"/>
          </a:xfrm>
          <a:prstGeom prst="rect">
            <a:avLst/>
          </a:prstGeom>
          <a:noFill/>
          <a:ln/>
        </p:spPr>
        <p:txBody>
          <a:bodyPr wrap="square" lIns="0" tIns="0" rIns="0" bIns="0" rtlCol="0" anchor="ctr"/>
          <a:lstStyle/>
          <a:p>
            <a:pPr marL="0" indent="0">
              <a:lnSpc>
                <a:spcPct val="130000"/>
              </a:lnSpc>
              <a:buNone/>
            </a:pPr>
            <a:r>
              <a:rPr lang="en-US" sz="1850" b="0" dirty="0">
                <a:solidFill>
                  <a:srgbClr val="2B2B2B"/>
                </a:solidFill>
                <a:latin typeface="Calibri"/>
              </a:rPr>
              <a:t>Install the Azure Pipelines App in your GitHub Org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1549966"/>
            <a:ext cx="11064240" cy="2638449"/>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38200" y="1721272"/>
            <a:ext cx="10515600" cy="2257295"/>
          </a:xfrm>
          <a:prstGeom prst="rect">
            <a:avLst/>
          </a:prstGeom>
          <a:noFill/>
          <a:ln/>
        </p:spPr>
        <p:txBody>
          <a:bodyPr wrap="square" lIns="0" tIns="0" rIns="0" bIns="0" rtlCol="0" anchor="ctr"/>
          <a:lstStyle/>
          <a:p>
            <a:pPr marL="0" indent="0">
              <a:lnSpc>
                <a:spcPct val="115000"/>
              </a:lnSpc>
              <a:buNone/>
            </a:pPr>
            <a:r>
              <a:rPr lang="en-US" sz="1600" b="0" dirty="0">
                <a:solidFill>
                  <a:srgbClr val="F5F5F0"/>
                </a:solidFill>
                <a:latin typeface="Calibri"/>
              </a:rPr>
              <a:t>Decide before the first migration: </a:t>
            </a:r>
          </a:p>
          <a:p>
            <a:pPr marL="285750" indent="-285750">
              <a:lnSpc>
                <a:spcPct val="115000"/>
              </a:lnSpc>
              <a:buFont typeface="Arial" panose="020B0604020202020204" pitchFamily="34" charset="0"/>
              <a:buChar char="•"/>
            </a:pPr>
            <a:r>
              <a:rPr lang="en-US" sz="1600" b="0" dirty="0">
                <a:solidFill>
                  <a:srgbClr val="F5F5F0"/>
                </a:solidFill>
                <a:latin typeface="Calibri"/>
              </a:rPr>
              <a:t>target enterprise and organization model  </a:t>
            </a:r>
          </a:p>
          <a:p>
            <a:pPr marL="285750" indent="-285750">
              <a:lnSpc>
                <a:spcPct val="115000"/>
              </a:lnSpc>
              <a:buFont typeface="Arial" panose="020B0604020202020204" pitchFamily="34" charset="0"/>
              <a:buChar char="•"/>
            </a:pPr>
            <a:r>
              <a:rPr lang="en-US" sz="1600" b="0" dirty="0">
                <a:solidFill>
                  <a:srgbClr val="F5F5F0"/>
                </a:solidFill>
                <a:latin typeface="Calibri"/>
              </a:rPr>
              <a:t>authentication and identity mapping  </a:t>
            </a:r>
          </a:p>
          <a:p>
            <a:pPr marL="285750" indent="-285750">
              <a:lnSpc>
                <a:spcPct val="115000"/>
              </a:lnSpc>
              <a:buFont typeface="Arial" panose="020B0604020202020204" pitchFamily="34" charset="0"/>
              <a:buChar char="•"/>
            </a:pPr>
            <a:r>
              <a:rPr lang="en-US" sz="1600" b="0" dirty="0">
                <a:solidFill>
                  <a:srgbClr val="F5F5F0"/>
                </a:solidFill>
                <a:latin typeface="Calibri"/>
              </a:rPr>
              <a:t>team and visibility policy  </a:t>
            </a:r>
          </a:p>
          <a:p>
            <a:pPr marL="285750" indent="-285750">
              <a:lnSpc>
                <a:spcPct val="115000"/>
              </a:lnSpc>
              <a:buFont typeface="Arial" panose="020B0604020202020204" pitchFamily="34" charset="0"/>
              <a:buChar char="•"/>
            </a:pPr>
            <a:r>
              <a:rPr lang="en-US" sz="1600" b="0" dirty="0">
                <a:solidFill>
                  <a:srgbClr val="F5F5F0"/>
                </a:solidFill>
                <a:latin typeface="Calibri"/>
              </a:rPr>
              <a:t>Boards/Pipelines integration  </a:t>
            </a:r>
          </a:p>
          <a:p>
            <a:pPr marL="285750" indent="-285750">
              <a:lnSpc>
                <a:spcPct val="115000"/>
              </a:lnSpc>
              <a:buFont typeface="Arial" panose="020B0604020202020204" pitchFamily="34" charset="0"/>
              <a:buChar char="•"/>
            </a:pPr>
            <a:r>
              <a:rPr lang="en-US" sz="1600" b="0" dirty="0">
                <a:solidFill>
                  <a:srgbClr val="F5F5F0"/>
                </a:solidFill>
                <a:latin typeface="Calibri"/>
              </a:rPr>
              <a:t>freeze or change-reconciliation approach  </a:t>
            </a:r>
          </a:p>
          <a:p>
            <a:pPr marL="285750" indent="-285750">
              <a:lnSpc>
                <a:spcPct val="115000"/>
              </a:lnSpc>
              <a:buFont typeface="Arial" panose="020B0604020202020204" pitchFamily="34" charset="0"/>
              <a:buChar char="•"/>
            </a:pPr>
            <a:r>
              <a:rPr lang="en-US" sz="1600" b="0" dirty="0">
                <a:solidFill>
                  <a:srgbClr val="F5F5F0"/>
                </a:solidFill>
                <a:latin typeface="Calibri"/>
              </a:rPr>
              <a:t>owner for migration failures</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GitHub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00000"/>
              </a:lnSpc>
              <a:spcAft>
                <a:spcPts val="800"/>
              </a:spcAft>
              <a:buSzPct val="100000"/>
              <a:buFont typeface="Arial" panose="020B0604020202020204" pitchFamily="34" charset="0"/>
              <a:buChar char="•"/>
            </a:pPr>
            <a:r>
              <a:rPr lang="en-US" sz="1450" dirty="0">
                <a:solidFill>
                  <a:srgbClr val="2B2B2B"/>
                </a:solidFill>
                <a:cs typeface="Cascadia Code" panose="020B0609020000020004" pitchFamily="49" charset="0"/>
              </a:rPr>
              <a:t>Actions Importer is a GitHub CLI extension to migrate CI/CD pipelines</a:t>
            </a: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audit</a:t>
            </a:r>
            <a:r>
              <a:rPr lang="en-US" sz="1450" dirty="0">
                <a:solidFill>
                  <a:srgbClr val="2B2B2B"/>
                </a:solidFill>
                <a:latin typeface="Calibri"/>
              </a:rPr>
              <a: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dry-run</a:t>
            </a:r>
            <a:r>
              <a:rPr lang="en-US" sz="1450" dirty="0">
                <a:solidFill>
                  <a:srgbClr val="2B2B2B"/>
                </a:solidFill>
                <a:latin typeface="Calibri"/>
              </a:rPr>
              <a:t>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forecast</a:t>
            </a:r>
            <a:r>
              <a:rPr lang="en-US" sz="1450" dirty="0">
                <a:solidFill>
                  <a:srgbClr val="2B2B2B"/>
                </a:solidFill>
              </a:rPr>
              <a:t> calculates expected Actions usage </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migrate</a:t>
            </a:r>
            <a:r>
              <a:rPr lang="en-US" sz="1450" dirty="0">
                <a:solidFill>
                  <a:srgbClr val="2B2B2B"/>
                </a:solidFill>
              </a:rPr>
              <a:t> converts the pipeline to Actions equivalent and creates PR </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custom/unsupported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the audit output to build the migration backlog and recalibrate the planning estimate with evidence.</a:t>
            </a:r>
            <a:endParaRPr lang="en-US" sz="1450" dirty="0"/>
          </a:p>
        </p:txBody>
      </p:sp>
      <p:sp>
        <p:nvSpPr>
          <p:cNvPr id="16" name="Slide Number Placeholder"/>
          <p:cNvSpPr>
            <a:spLocks noGrp="1"/>
          </p:cNvSpPr>
          <p:nvPr>
            <p:ph type="sldNum" sz="quarter" idx="10"/>
          </p:nvPr>
        </p:nvSpPr>
        <p:spPr/>
        <p:txBody>
          <a:bodyPr/>
          <a:lstStyle/>
          <a:p>
            <a:fld id="{BCB632DE-6AD4-40F1-944C-28C0E9BF62D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559492123"/>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Agents / Agent Pools</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Runners / Runner Groups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
        <p:nvSpPr>
          <p:cNvPr id="25" name="Slide Number Placeholder"/>
          <p:cNvSpPr>
            <a:spLocks noGrp="1"/>
          </p:cNvSpPr>
          <p:nvPr>
            <p:ph type="sldNum" sz="quarter" idx="10"/>
          </p:nvPr>
        </p:nvSpPr>
        <p:spPr/>
        <p:txBody>
          <a:bodyPr/>
          <a:lstStyle/>
          <a:p>
            <a:fld id="{BCB632DE-6AD4-40F1-944C-28C0E9BF62DC}"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250" b="1" spc="120">
                <a:solidFill>
                  <a:srgbClr val="E0B85C"/>
                </a:solidFill>
                <a:latin typeface="Calibri"/>
              </a:rPr>
              <a:t>TAKEAWAY </a:t>
            </a:r>
            <a:r>
              <a:rPr sz="1500">
                <a:solidFill>
                  <a:srgbClr val="F5F5F0"/>
                </a:solidFill>
                <a:latin typeface="Calibri"/>
              </a:rPr>
              <a:t>The workflow converted successfully. It merely has no credentials, no network route, and nowhere to deploy.</a:t>
            </a:r>
          </a:p>
        </p:txBody>
      </p:sp>
      <p:sp>
        <p:nvSpPr>
          <p:cNvPr id="14" name="Slide Number Placeholder"/>
          <p:cNvSpPr>
            <a:spLocks noGrp="1"/>
          </p:cNvSpPr>
          <p:nvPr>
            <p:ph type="sldNum" sz="quarter" idx="10"/>
          </p:nvPr>
        </p:nvSpPr>
        <p:spPr/>
        <p:txBody>
          <a:bodyPr/>
          <a:lstStyle/>
          <a:p>
            <a:fld id="{BCB632DE-6AD4-40F1-944C-28C0E9BF62D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11094720" cy="141732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lide Number Placeholder"/>
          <p:cNvSpPr>
            <a:spLocks noGrp="1"/>
          </p:cNvSpPr>
          <p:nvPr>
            <p:ph type="sldNum" sz="quarter" idx="10"/>
          </p:nvPr>
        </p:nvSpPr>
        <p:spPr/>
        <p:txBody>
          <a:bodyPr/>
          <a:lstStyle/>
          <a:p>
            <a:fld id="{BCB632DE-6AD4-40F1-944C-28C0E9BF62D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Finish line: first verified delivery — equivalent artifact + controlled deployment + traceability + rollback.</a:t>
            </a:r>
          </a:p>
        </p:txBody>
      </p:sp>
      <p:sp>
        <p:nvSpPr>
          <p:cNvPr id="30" name="Slide Number Placeholder"/>
          <p:cNvSpPr>
            <a:spLocks noGrp="1"/>
          </p:cNvSpPr>
          <p:nvPr>
            <p:ph type="sldNum" sz="quarter" idx="10"/>
          </p:nvPr>
        </p:nvSpPr>
        <p:spPr/>
        <p:txBody>
          <a:bodyPr/>
          <a:lstStyle/>
          <a:p>
            <a:fld id="{BCB632DE-6AD4-40F1-944C-28C0E9BF62DC}"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oundRect">
            <a:avLst>
              <a:gd name="adj" fmla="val 314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dirty="0">
                <a:solidFill>
                  <a:srgbClr val="2B2B2B"/>
                </a:solidFill>
                <a:latin typeface="Calibri"/>
              </a:rPr>
              <a:t>•  Branches, tags, and sampled commits reconciled</a:t>
            </a:r>
          </a:p>
          <a:p>
            <a:pPr>
              <a:spcAft>
                <a:spcPts val="500"/>
              </a:spcAft>
            </a:pPr>
            <a:r>
              <a:rPr lang="en-US" sz="1400" dirty="0">
                <a:solidFill>
                  <a:srgbClr val="2B2B2B"/>
                </a:solidFill>
                <a:latin typeface="Calibri"/>
              </a:rPr>
              <a:t>•  PR history and attachments sampled</a:t>
            </a:r>
          </a:p>
          <a:p>
            <a:pPr>
              <a:spcAft>
                <a:spcPts val="500"/>
              </a:spcAft>
            </a:pPr>
            <a:r>
              <a:rPr lang="en-US" sz="1400" dirty="0">
                <a:solidFill>
                  <a:srgbClr val="2B2B2B"/>
                </a:solidFill>
                <a:latin typeface="Calibri"/>
              </a:rPr>
              <a:t>•  Identity, teams, permissions, and visibility verified</a:t>
            </a:r>
          </a:p>
          <a:p>
            <a:pPr>
              <a:spcAft>
                <a:spcPts val="500"/>
              </a:spcAft>
            </a:pPr>
            <a:r>
              <a:rPr lang="en-US" sz="1400" dirty="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1540422"/>
          </a:xfrm>
          <a:prstGeom prst="rect">
            <a:avLst/>
          </a:prstGeom>
          <a:noFill/>
        </p:spPr>
        <p:txBody>
          <a:bodyPr wrap="square" lIns="36576" tIns="27432" rIns="36576" bIns="27432">
            <a:spAutoFit/>
          </a:bodyPr>
          <a:lstStyle/>
          <a:p>
            <a:pPr>
              <a:spcAft>
                <a:spcPts val="500"/>
              </a:spcAft>
            </a:pPr>
            <a:r>
              <a:rPr sz="1400">
                <a:latin typeface="Calibri"/>
              </a:rPr>
              <a:t>•  Equivalent build artifact produced</a:t>
            </a:r>
          </a:p>
          <a:p>
            <a:pPr>
              <a:spcAft>
                <a:spcPts val="500"/>
              </a:spcAft>
            </a:pPr>
            <a:r>
              <a:rPr sz="1400">
                <a:latin typeface="Calibri"/>
              </a:rPr>
              <a:t>•  Secrets, OIDC, and permissions reviewed</a:t>
            </a:r>
          </a:p>
          <a:p>
            <a:pPr>
              <a:spcAft>
                <a:spcPts val="500"/>
              </a:spcAft>
            </a:pPr>
            <a:r>
              <a:rPr sz="1400">
                <a:latin typeface="Calibri"/>
              </a:rPr>
              <a:t>•  Runner and network path proven</a:t>
            </a:r>
          </a:p>
          <a:p>
            <a:pPr>
              <a:spcAft>
                <a:spcPts val="500"/>
              </a:spcAft>
            </a:pPr>
            <a:r>
              <a:rPr sz="1400">
                <a:latin typeface="Calibri"/>
              </a:rPr>
              <a:t>•  Environments, approvals, and deployment exercised</a:t>
            </a:r>
          </a:p>
        </p:txBody>
      </p:sp>
      <p:sp>
        <p:nvSpPr>
          <p:cNvPr id="12" name="Rectangle 11"/>
          <p:cNvSpPr/>
          <p:nvPr/>
        </p:nvSpPr>
        <p:spPr>
          <a:xfrm>
            <a:off x="8010144"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Definition of done: verified delivery, traceability, operational ownership, and reversibility.</a:t>
            </a:r>
          </a:p>
        </p:txBody>
      </p:sp>
      <p:sp>
        <p:nvSpPr>
          <p:cNvPr id="17" name="Slide Number Placeholder"/>
          <p:cNvSpPr>
            <a:spLocks noGrp="1"/>
          </p:cNvSpPr>
          <p:nvPr>
            <p:ph type="sldNum" sz="quarter" idx="10"/>
          </p:nvPr>
        </p:nvSpPr>
        <p:spPr/>
        <p:txBody>
          <a:bodyPr/>
          <a:lstStyle/>
          <a:p>
            <a:fld id="{BCB632DE-6AD4-40F1-944C-28C0E9BF62DC}"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3 — Crossing the River</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29</a:t>
            </a:fld>
            <a:endParaRPr lang="en-US">
              <a:solidFill>
                <a:srgbClr val="E0B85C"/>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30</a:t>
            </a:fld>
            <a:endParaRPr lang="en-US">
              <a:solidFill>
                <a:srgbClr val="E0B85C"/>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
        <p:nvSpPr>
          <p:cNvPr id="14" name="Slide Number Placeholder"/>
          <p:cNvSpPr>
            <a:spLocks noGrp="1"/>
          </p:cNvSpPr>
          <p:nvPr>
            <p:ph type="sldNum" sz="quarter" idx="10"/>
          </p:nvPr>
        </p:nvSpPr>
        <p:spPr/>
        <p:txBody>
          <a:bodyPr/>
          <a:lstStyle/>
          <a:p>
            <a:fld id="{BCB632DE-6AD4-40F1-944C-28C0E9BF62D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
        <p:nvSpPr>
          <p:cNvPr id="14" name="Slide Number Placeholder"/>
          <p:cNvSpPr>
            <a:spLocks noGrp="1"/>
          </p:cNvSpPr>
          <p:nvPr>
            <p:ph type="sldNum" sz="quarter" idx="10"/>
          </p:nvPr>
        </p:nvSpPr>
        <p:spPr/>
        <p:txBody>
          <a:bodyPr/>
          <a:lstStyle/>
          <a:p>
            <a:fld id="{BCB632DE-6AD4-40F1-944C-28C0E9BF62DC}"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E0B85C"/>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Sometimes “it doesn’t move, and that’s fine” is the honest answer.</a:t>
            </a:r>
            <a:endParaRPr lang="en-US" sz="1900" dirty="0"/>
          </a:p>
        </p:txBody>
      </p:sp>
      <p:sp>
        <p:nvSpPr>
          <p:cNvPr id="13" name="Slide Number Placeholder"/>
          <p:cNvSpPr>
            <a:spLocks noGrp="1"/>
          </p:cNvSpPr>
          <p:nvPr>
            <p:ph type="sldNum" sz="quarter" idx="10"/>
          </p:nvPr>
        </p:nvSpPr>
        <p:spPr/>
        <p:txBody>
          <a:bodyPr/>
          <a:lstStyle/>
          <a:p>
            <a:fld id="{BCB632DE-6AD4-40F1-944C-28C0E9BF62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
        <p:nvSpPr>
          <p:cNvPr id="15" name="Slide Number Placeholder"/>
          <p:cNvSpPr>
            <a:spLocks noGrp="1"/>
          </p:cNvSpPr>
          <p:nvPr>
            <p:ph type="sldNum" sz="quarter" idx="10"/>
          </p:nvPr>
        </p:nvSpPr>
        <p:spPr/>
        <p:txBody>
          <a:bodyPr/>
          <a:lstStyle/>
          <a:p>
            <a:fld id="{BCB632DE-6AD4-40F1-944C-28C0E9BF62DC}"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36</a:t>
            </a:fld>
            <a:endParaRPr lang="en-US">
              <a:solidFill>
                <a:srgbClr val="E0B85C"/>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37</a:t>
            </a:fld>
            <a:endParaRPr lang="en-US">
              <a:solidFill>
                <a:srgbClr val="E0B85C"/>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
        <p:nvSpPr>
          <p:cNvPr id="14" name="Slide Number Placeholder"/>
          <p:cNvSpPr>
            <a:spLocks noGrp="1"/>
          </p:cNvSpPr>
          <p:nvPr>
            <p:ph type="sldNum" sz="quarter" idx="10"/>
          </p:nvPr>
        </p:nvSpPr>
        <p:spPr/>
        <p:txBody>
          <a:bodyPr/>
          <a:lstStyle/>
          <a:p>
            <a:fld id="{BCB632DE-6AD4-40F1-944C-28C0E9BF62DC}"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
        <p:nvSpPr>
          <p:cNvPr id="33" name="Slide Number Placeholder"/>
          <p:cNvSpPr>
            <a:spLocks noGrp="1"/>
          </p:cNvSpPr>
          <p:nvPr>
            <p:ph type="sldNum" sz="quarter" idx="10"/>
          </p:nvPr>
        </p:nvSpPr>
        <p:spPr/>
        <p:txBody>
          <a:bodyPr/>
          <a:lstStyle/>
          <a:p>
            <a:fld id="{BCB632DE-6AD4-40F1-944C-28C0E9BF62DC}"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dirty="0">
                <a:solidFill>
                  <a:srgbClr val="2B2B2B"/>
                </a:solidFill>
                <a:latin typeface="Calibri"/>
              </a:rPr>
              <a:t>Connect Boards, name the source of truth, owners, and rollback authority.</a:t>
            </a:r>
            <a:endParaRPr lang="en-US" sz="1250" dirty="0"/>
          </a:p>
        </p:txBody>
      </p:sp>
      <p:sp>
        <p:nvSpPr>
          <p:cNvPr id="11" name="Shape 8"/>
          <p:cNvSpPr/>
          <p:nvPr/>
        </p:nvSpPr>
        <p:spPr>
          <a:xfrm>
            <a:off x="333756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547872"/>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
        <p:nvSpPr>
          <p:cNvPr id="28" name="Slide Number Placeholder"/>
          <p:cNvSpPr>
            <a:spLocks noGrp="1"/>
          </p:cNvSpPr>
          <p:nvPr>
            <p:ph type="sldNum" sz="quarter" idx="10"/>
          </p:nvPr>
        </p:nvSpPr>
        <p:spPr/>
        <p:txBody>
          <a:bodyPr/>
          <a:lstStyle/>
          <a:p>
            <a:fld id="{BCB632DE-6AD4-40F1-944C-28C0E9BF62DC}"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r>
              <a:rPr lang="en-US" sz="1800" b="1" dirty="0">
                <a:solidFill>
                  <a:srgbClr val="2B2B2B"/>
                </a:solidFill>
                <a:latin typeface="Calibri"/>
              </a:rPr>
              <a:t>:</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E0B85C"/>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teams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Scaled agile, regulated, multi-team</a:t>
            </a:r>
            <a:endParaRPr lang="en-US" sz="1600" dirty="0">
              <a:solidFill>
                <a:srgbClr val="1F3D2C"/>
              </a:solidFill>
            </a:endParaRPr>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373636"/>
                </a:solidFill>
                <a:latin typeface="Calibri" pitchFamily="34" charset="0"/>
                <a:ea typeface="Calibri" pitchFamily="34" charset="-122"/>
                <a:cs typeface="Calibri" pitchFamily="34" charset="-120"/>
              </a:rPr>
              <a:t>Azure Boards’ hierarchy and reporting earn their keep here.</a:t>
            </a:r>
            <a:endParaRPr lang="en-US" sz="1350" dirty="0">
              <a:solidFill>
                <a:srgbClr val="373636"/>
              </a:solidFill>
            </a:endParaRPr>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952198"/>
            <a:ext cx="11064240" cy="895149"/>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901665"/>
            <a:ext cx="11064240" cy="1032309"/>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C1440E"/>
                </a:solidFill>
                <a:latin typeface="Calibri"/>
              </a:rPr>
              <a:t>ASIDE </a:t>
            </a:r>
            <a:r>
              <a:rPr sz="1500" b="0" dirty="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
        <p:nvSpPr>
          <p:cNvPr id="17" name="Slide Number Placeholder"/>
          <p:cNvSpPr>
            <a:spLocks noGrp="1"/>
          </p:cNvSpPr>
          <p:nvPr>
            <p:ph type="sldNum" sz="quarter" idx="10"/>
          </p:nvPr>
        </p:nvSpPr>
        <p:spPr/>
        <p:txBody>
          <a:bodyPr/>
          <a:lstStyle/>
          <a:p>
            <a:fld id="{BCB632DE-6AD4-40F1-944C-28C0E9BF62DC}"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44</a:t>
            </a:fld>
            <a:endParaRPr lang="en-US">
              <a:solidFill>
                <a:srgbClr val="E0B85C"/>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10154652"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45</a:t>
            </a:fld>
            <a:endParaRPr lang="en-US">
              <a:solidFill>
                <a:srgbClr val="E0B85C"/>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250" b="1" spc="120" dirty="0">
                <a:solidFill>
                  <a:srgbClr val="C1440E"/>
                </a:solidFill>
                <a:latin typeface="Calibri"/>
              </a:rPr>
              <a:t>DO THIS </a:t>
            </a:r>
            <a:r>
              <a:rPr sz="1300" dirty="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
        <p:nvSpPr>
          <p:cNvPr id="22" name="Slide Number Placeholder"/>
          <p:cNvSpPr>
            <a:spLocks noGrp="1"/>
          </p:cNvSpPr>
          <p:nvPr>
            <p:ph type="sldNum" sz="quarter" idx="10"/>
          </p:nvPr>
        </p:nvSpPr>
        <p:spPr/>
        <p:txBody>
          <a:bodyPr/>
          <a:lstStyle/>
          <a:p>
            <a:fld id="{BCB632DE-6AD4-40F1-944C-28C0E9BF62DC}"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792702"/>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948150"/>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072862"/>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3237454"/>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535902"/>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535902"/>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63880" y="589788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63880" y="600760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
        <p:nvSpPr>
          <p:cNvPr id="14" name="Slide Number Placeholder"/>
          <p:cNvSpPr>
            <a:spLocks noGrp="1"/>
          </p:cNvSpPr>
          <p:nvPr>
            <p:ph type="sldNum" sz="quarter" idx="10"/>
          </p:nvPr>
        </p:nvSpPr>
        <p:spPr/>
        <p:txBody>
          <a:bodyPr/>
          <a:lstStyle/>
          <a:p>
            <a:fld id="{BCB632DE-6AD4-40F1-944C-28C0E9BF62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planning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
        <p:nvSpPr>
          <p:cNvPr id="36" name="Slide Number Placeholder"/>
          <p:cNvSpPr>
            <a:spLocks noGrp="1"/>
          </p:cNvSpPr>
          <p:nvPr>
            <p:ph type="sldNum" sz="quarter" idx="10"/>
          </p:nvPr>
        </p:nvSpPr>
        <p:spPr/>
        <p:txBody>
          <a:bodyPr/>
          <a:lstStyle/>
          <a:p>
            <a:fld id="{BCB632DE-6AD4-40F1-944C-28C0E9BF62DC}" type="slidenum">
              <a:rPr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
        <p:nvSpPr>
          <p:cNvPr id="7" name="Slide Number Placeholder"/>
          <p:cNvSpPr>
            <a:spLocks noGrp="1"/>
          </p:cNvSpPr>
          <p:nvPr>
            <p:ph type="sldNum" sz="quarter" idx="10"/>
          </p:nvPr>
        </p:nvSpPr>
        <p:spPr/>
        <p:txBody>
          <a:bodyPr/>
          <a:lstStyle/>
          <a:p>
            <a:fld id="{BCB632DE-6AD4-40F1-944C-28C0E9BF62DC}"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E0B85C"/>
                </a:solidFill>
                <a:latin typeface="Calibri"/>
              </a:rPr>
              <a:t>— CLOSING NARRATION, FROM THE FAR BANK</a:t>
            </a:r>
            <a:endParaRPr lang="en-US" sz="1300" dirty="0"/>
          </a:p>
        </p:txBody>
      </p:sp>
      <p:sp>
        <p:nvSpPr>
          <p:cNvPr id="6" name="Slide Number Placeholder"/>
          <p:cNvSpPr>
            <a:spLocks noGrp="1"/>
          </p:cNvSpPr>
          <p:nvPr>
            <p:ph type="sldNum" sz="quarter" idx="10"/>
          </p:nvPr>
        </p:nvSpPr>
        <p:spPr/>
        <p:txBody>
          <a:bodyPr/>
          <a:lstStyle/>
          <a:p>
            <a:fld id="{BCB632DE-6AD4-40F1-944C-28C0E9BF62DC}" type="slidenum">
              <a:rPr lang="en-US">
                <a:solidFill>
                  <a:srgbClr val="E0B85C"/>
                </a:solidFill>
              </a:rPr>
              <a:t>50</a:t>
            </a:fld>
            <a:endParaRPr lang="en-US">
              <a:solidFill>
                <a:srgbClr val="E0B85C"/>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766436"/>
            <a:ext cx="6035040" cy="731520"/>
          </a:xfrm>
          <a:prstGeom prst="rect">
            <a:avLst/>
          </a:prstGeom>
          <a:noFill/>
          <a:ln/>
        </p:spPr>
        <p:txBody>
          <a:bodyPr wrap="square" lIns="0" tIns="0" rIns="0" bIns="0" rtlCol="0" anchor="ctr"/>
          <a:lstStyle/>
          <a:p>
            <a:pPr marL="0" indent="0" algn="l">
              <a:buNone/>
            </a:pPr>
            <a:r>
              <a:rPr sz="1800" b="0" dirty="0">
                <a:solidFill>
                  <a:srgbClr val="6B6B63"/>
                </a:solidFill>
                <a:latin typeface="Calibri"/>
              </a:rPr>
              <a:t>Azure DevOps to GitHub Enterprise: The Great Migration</a:t>
            </a:r>
            <a:endParaRPr lang="en-US" sz="1800" dirty="0"/>
          </a:p>
        </p:txBody>
      </p:sp>
      <p:sp>
        <p:nvSpPr>
          <p:cNvPr id="6" name="Text 4"/>
          <p:cNvSpPr txBox="1"/>
          <p:nvPr/>
        </p:nvSpPr>
        <p:spPr>
          <a:xfrm>
            <a:off x="777240" y="3656066"/>
            <a:ext cx="6035040" cy="411480"/>
          </a:xfrm>
          <a:prstGeom prst="rect">
            <a:avLst/>
          </a:prstGeom>
          <a:noFill/>
          <a:ln/>
        </p:spPr>
        <p:txBody>
          <a:bodyPr wrap="square" lIns="0" tIns="0" rIns="0" bIns="0" rtlCol="0" anchor="ctr"/>
          <a:lstStyle/>
          <a:p>
            <a:pPr marL="0" indent="0" algn="l">
              <a:buNone/>
            </a:pPr>
            <a:r>
              <a:rPr sz="2000" b="1" dirty="0">
                <a:solidFill>
                  <a:srgbClr val="1F3D2C"/>
                </a:solidFill>
                <a:latin typeface="Cambria"/>
              </a:rPr>
              <a:t>Kevin Neumann</a:t>
            </a:r>
            <a:endParaRPr lang="en-US" sz="2000" dirty="0"/>
          </a:p>
        </p:txBody>
      </p:sp>
      <p:sp>
        <p:nvSpPr>
          <p:cNvPr id="7" name="Text 5"/>
          <p:cNvSpPr txBox="1"/>
          <p:nvPr/>
        </p:nvSpPr>
        <p:spPr>
          <a:xfrm>
            <a:off x="777240" y="4094978"/>
            <a:ext cx="6035040" cy="365760"/>
          </a:xfrm>
          <a:prstGeom prst="rect">
            <a:avLst/>
          </a:prstGeom>
          <a:noFill/>
          <a:ln/>
        </p:spPr>
        <p:txBody>
          <a:bodyPr wrap="square" lIns="0" tIns="0" rIns="0" bIns="0" rtlCol="0" anchor="ctr"/>
          <a:lstStyle/>
          <a:p>
            <a:pPr marL="0" indent="0" algn="l">
              <a:buNone/>
            </a:pPr>
            <a:r>
              <a:rPr sz="1500" b="0" dirty="0">
                <a:solidFill>
                  <a:srgbClr val="2B2B2B"/>
                </a:solidFill>
                <a:latin typeface="Calibri"/>
              </a:rPr>
              <a:t>kneumann@hunter.com</a:t>
            </a:r>
            <a:endParaRPr lang="en-US" sz="1500" dirty="0"/>
          </a:p>
        </p:txBody>
      </p:sp>
      <p:sp>
        <p:nvSpPr>
          <p:cNvPr id="10" name="Text 7"/>
          <p:cNvSpPr txBox="1"/>
          <p:nvPr/>
        </p:nvSpPr>
        <p:spPr>
          <a:xfrm>
            <a:off x="777240" y="4723765"/>
            <a:ext cx="6035040" cy="411480"/>
          </a:xfrm>
          <a:prstGeom prst="rect">
            <a:avLst/>
          </a:prstGeom>
          <a:noFill/>
          <a:ln/>
        </p:spPr>
        <p:txBody>
          <a:bodyPr wrap="square" lIns="0" tIns="0" rIns="0" bIns="0" rtlCol="0" anchor="ctr"/>
          <a:lstStyle/>
          <a:p>
            <a:pPr marL="0" indent="0" algn="l">
              <a:buNone/>
            </a:pPr>
            <a:r>
              <a:rPr sz="1700" b="0" dirty="0">
                <a:solidFill>
                  <a:srgbClr val="C1440E"/>
                </a:solidFill>
                <a:latin typeface="Calibri"/>
              </a:rPr>
              <a:t>Open floor — questions welcome.</a:t>
            </a:r>
            <a:endParaRPr lang="en-US" sz="1700" dirty="0"/>
          </a:p>
        </p:txBody>
      </p:sp>
      <p:sp>
        <p:nvSpPr>
          <p:cNvPr id="11" name="Rounded Rectangle 10"/>
          <p:cNvSpPr/>
          <p:nvPr/>
        </p:nvSpPr>
        <p:spPr>
          <a:xfrm>
            <a:off x="7443196" y="1433090"/>
            <a:ext cx="4297680" cy="505915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443196" y="2184110"/>
            <a:ext cx="4297680" cy="292608"/>
          </a:xfrm>
          <a:prstGeom prst="rect">
            <a:avLst/>
          </a:prstGeom>
          <a:noFill/>
        </p:spPr>
        <p:txBody>
          <a:bodyPr wrap="square">
            <a:spAutoFit/>
          </a:bodyPr>
          <a:lstStyle/>
          <a:p>
            <a:pPr algn="ctr"/>
            <a:r>
              <a:rPr sz="1300" b="1" dirty="0">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540476" y="2549870"/>
            <a:ext cx="2103120" cy="2103120"/>
          </a:xfrm>
          <a:prstGeom prst="rect">
            <a:avLst/>
          </a:prstGeom>
        </p:spPr>
      </p:pic>
      <p:sp>
        <p:nvSpPr>
          <p:cNvPr id="13" name="TextBox 12"/>
          <p:cNvSpPr txBox="1"/>
          <p:nvPr/>
        </p:nvSpPr>
        <p:spPr>
          <a:xfrm>
            <a:off x="7443196" y="4771862"/>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626076" y="5165054"/>
            <a:ext cx="3931920" cy="915635"/>
          </a:xfrm>
          <a:prstGeom prst="rect">
            <a:avLst/>
          </a:prstGeom>
          <a:noFill/>
        </p:spPr>
        <p:txBody>
          <a:bodyPr wrap="square">
            <a:spAutoFit/>
          </a:bodyPr>
          <a:lstStyle/>
          <a:p>
            <a:pPr algn="ctr"/>
            <a:r>
              <a:rPr sz="1150" b="0" dirty="0">
                <a:solidFill>
                  <a:srgbClr val="2B2B2B"/>
                </a:solidFill>
                <a:latin typeface="Calibri"/>
              </a:rPr>
              <a:t>Azure Pipelines → Actions migration docs</a:t>
            </a:r>
          </a:p>
          <a:p>
            <a:pPr algn="ctr">
              <a:spcBef>
                <a:spcPts val="300"/>
              </a:spcBef>
            </a:pPr>
            <a:r>
              <a:rPr sz="1150" b="0" dirty="0">
                <a:solidFill>
                  <a:srgbClr val="2B2B2B"/>
                </a:solidFill>
                <a:latin typeface="Calibri"/>
              </a:rPr>
              <a:t>gh-ado2gh  ·  </a:t>
            </a:r>
            <a:r>
              <a:rPr sz="1150" b="0" dirty="0" err="1">
                <a:solidFill>
                  <a:srgbClr val="2B2B2B"/>
                </a:solidFill>
                <a:latin typeface="Calibri"/>
              </a:rPr>
              <a:t>gh</a:t>
            </a:r>
            <a:r>
              <a:rPr sz="1150" b="0" dirty="0">
                <a:solidFill>
                  <a:srgbClr val="2B2B2B"/>
                </a:solidFill>
                <a:latin typeface="Calibri"/>
              </a:rPr>
              <a:t>-actions-importer</a:t>
            </a:r>
          </a:p>
          <a:p>
            <a:pPr algn="ctr">
              <a:spcBef>
                <a:spcPts val="300"/>
              </a:spcBef>
            </a:pPr>
            <a:r>
              <a:rPr sz="1150" b="0" dirty="0">
                <a:solidFill>
                  <a:srgbClr val="2B2B2B"/>
                </a:solidFill>
                <a:latin typeface="Calibri"/>
              </a:rPr>
              <a:t>Every note behind this talk</a:t>
            </a:r>
            <a:endParaRPr lang="en-US" sz="1150" b="0" dirty="0">
              <a:solidFill>
                <a:srgbClr val="2B2B2B"/>
              </a:solidFill>
              <a:latin typeface="Calibri"/>
            </a:endParaRPr>
          </a:p>
          <a:p>
            <a:pPr algn="ctr">
              <a:spcBef>
                <a:spcPts val="300"/>
              </a:spcBef>
            </a:pPr>
            <a:r>
              <a:rPr lang="en-US" sz="1150" dirty="0">
                <a:solidFill>
                  <a:srgbClr val="2B2B2B"/>
                </a:solidFill>
                <a:latin typeface="Calibri"/>
              </a:rPr>
              <a:t>Link to session feedback</a:t>
            </a:r>
            <a:endParaRPr sz="1150" b="0" dirty="0">
              <a:solidFill>
                <a:srgbClr val="2B2B2B"/>
              </a:solidFill>
              <a:latin typeface="Calibri"/>
            </a:endParaRPr>
          </a:p>
        </p:txBody>
      </p:sp>
      <p:sp>
        <p:nvSpPr>
          <p:cNvPr id="15" name="Slide Number Placeholder"/>
          <p:cNvSpPr>
            <a:spLocks noGrp="1"/>
          </p:cNvSpPr>
          <p:nvPr>
            <p:ph type="sldNum" sz="quarter" idx="10"/>
          </p:nvPr>
        </p:nvSpPr>
        <p:spPr/>
        <p:txBody>
          <a:bodyPr/>
          <a:lstStyle/>
          <a:p>
            <a:fld id="{BCB632DE-6AD4-40F1-944C-28C0E9BF62DC}" type="slidenum">
              <a:rPr lang="en-US"/>
              <a:t>51</a:t>
            </a:fld>
            <a:endParaRPr lang="en-US"/>
          </a:p>
        </p:txBody>
      </p:sp>
      <p:sp>
        <p:nvSpPr>
          <p:cNvPr id="20" name="Text 5">
            <a:extLst>
              <a:ext uri="{FF2B5EF4-FFF2-40B4-BE49-F238E27FC236}">
                <a16:creationId xmlns:a16="http://schemas.microsoft.com/office/drawing/2014/main" id="{CB8717A8-9D3F-256D-9992-560C6C010532}"/>
              </a:ext>
            </a:extLst>
          </p:cNvPr>
          <p:cNvSpPr txBox="1"/>
          <p:nvPr/>
        </p:nvSpPr>
        <p:spPr>
          <a:xfrm>
            <a:off x="2044969" y="5939697"/>
            <a:ext cx="1443170" cy="365760"/>
          </a:xfrm>
          <a:prstGeom prst="rect">
            <a:avLst/>
          </a:prstGeom>
          <a:noFill/>
          <a:ln/>
        </p:spPr>
        <p:txBody>
          <a:bodyPr wrap="square" lIns="0" tIns="0" rIns="0" bIns="0" rtlCol="0" anchor="ctr"/>
          <a:lstStyle/>
          <a:p>
            <a:pPr marL="0" indent="0" algn="l">
              <a:buNone/>
            </a:pPr>
            <a:r>
              <a:rPr lang="en-US" sz="1500" dirty="0"/>
              <a:t>Careers @ Hunter</a:t>
            </a:r>
          </a:p>
        </p:txBody>
      </p:sp>
      <p:pic>
        <p:nvPicPr>
          <p:cNvPr id="22" name="Picture 21">
            <a:extLst>
              <a:ext uri="{FF2B5EF4-FFF2-40B4-BE49-F238E27FC236}">
                <a16:creationId xmlns:a16="http://schemas.microsoft.com/office/drawing/2014/main" id="{3D11451F-32AE-DE63-753E-822486F5602F}"/>
              </a:ext>
            </a:extLst>
          </p:cNvPr>
          <p:cNvPicPr>
            <a:picLocks noChangeAspect="1"/>
          </p:cNvPicPr>
          <p:nvPr/>
        </p:nvPicPr>
        <p:blipFill>
          <a:blip r:embed="rId4"/>
          <a:stretch>
            <a:fillRect/>
          </a:stretch>
        </p:blipFill>
        <p:spPr>
          <a:xfrm>
            <a:off x="736332" y="5523672"/>
            <a:ext cx="1197811" cy="119781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3508</TotalTime>
  <Words>12031</Words>
  <Application>Microsoft Office PowerPoint</Application>
  <PresentationFormat>Widescreen</PresentationFormat>
  <Paragraphs>913</Paragraphs>
  <Slides>51</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Arial</vt:lpstr>
      <vt:lpstr>Calibri</vt:lpstr>
      <vt:lpstr>Cambria</vt:lpstr>
      <vt:lpstr>Cascadia Code</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33</cp:revision>
  <dcterms:created xsi:type="dcterms:W3CDTF">2026-09-21T19:07:56Z</dcterms:created>
  <dcterms:modified xsi:type="dcterms:W3CDTF">2026-09-29T18:34:07Z</dcterms:modified>
</cp:coreProperties>
</file>