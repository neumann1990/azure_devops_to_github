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53"/>
  </p:notesMasterIdLst>
  <p:sldIdLst>
    <p:sldId id="256" r:id="rId2"/>
    <p:sldId id="257" r:id="rId3"/>
    <p:sldId id="258" r:id="rId4"/>
    <p:sldId id="259" r:id="rId5"/>
    <p:sldId id="261" r:id="rId6"/>
    <p:sldId id="262" r:id="rId7"/>
    <p:sldId id="265" r:id="rId8"/>
    <p:sldId id="267" r:id="rId9"/>
    <p:sldId id="268" r:id="rId10"/>
    <p:sldId id="269" r:id="rId11"/>
    <p:sldId id="270" r:id="rId12"/>
    <p:sldId id="271" r:id="rId13"/>
    <p:sldId id="272" r:id="rId14"/>
    <p:sldId id="273" r:id="rId15"/>
    <p:sldId id="264" r:id="rId16"/>
    <p:sldId id="274" r:id="rId17"/>
    <p:sldId id="275" r:id="rId18"/>
    <p:sldId id="276" r:id="rId19"/>
    <p:sldId id="277" r:id="rId20"/>
    <p:sldId id="278" r:id="rId21"/>
    <p:sldId id="279" r:id="rId22"/>
    <p:sldId id="282" r:id="rId23"/>
    <p:sldId id="280" r:id="rId24"/>
    <p:sldId id="281" r:id="rId25"/>
    <p:sldId id="313" r:id="rId26"/>
    <p:sldId id="283" r:id="rId27"/>
    <p:sldId id="284" r:id="rId28"/>
    <p:sldId id="285" r:id="rId29"/>
    <p:sldId id="286" r:id="rId30"/>
    <p:sldId id="287" r:id="rId31"/>
    <p:sldId id="288" r:id="rId32"/>
    <p:sldId id="289" r:id="rId33"/>
    <p:sldId id="291" r:id="rId34"/>
    <p:sldId id="292" r:id="rId35"/>
    <p:sldId id="293" r:id="rId36"/>
    <p:sldId id="295" r:id="rId37"/>
    <p:sldId id="296" r:id="rId38"/>
    <p:sldId id="297" r:id="rId39"/>
    <p:sldId id="298" r:id="rId40"/>
    <p:sldId id="301" r:id="rId41"/>
    <p:sldId id="300" r:id="rId42"/>
    <p:sldId id="302" r:id="rId43"/>
    <p:sldId id="303" r:id="rId44"/>
    <p:sldId id="304" r:id="rId45"/>
    <p:sldId id="305" r:id="rId46"/>
    <p:sldId id="306" r:id="rId47"/>
    <p:sldId id="307" r:id="rId48"/>
    <p:sldId id="309" r:id="rId49"/>
    <p:sldId id="308" r:id="rId50"/>
    <p:sldId id="311" r:id="rId51"/>
    <p:sldId id="312" r:id="rId5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B2B2B"/>
    <a:srgbClr val="373636"/>
    <a:srgbClr val="1F3D2C"/>
    <a:srgbClr val="1D1610"/>
    <a:srgbClr val="F7F6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1997" autoAdjust="0"/>
  </p:normalViewPr>
  <p:slideViewPr>
    <p:cSldViewPr snapToGrid="0" snapToObjects="1">
      <p:cViewPr varScale="1">
        <p:scale>
          <a:sx n="132" d="100"/>
          <a:sy n="132" d="100"/>
        </p:scale>
        <p:origin x="632"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15112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 no 'hi, I'm Kevin' throat-clearing. Let the title sit for a beat, then deliver the tagline in the documentary voice (calm, declarative, faintly awed — never winking). That's the only line spoken in that register on this slide; the rest of the intro is normal conference delivery. This sets up the conceit for the whole talk: six section-opener cards plus a closer, all in this voice, everything else played straight.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sponsor-thanks slide — event organizer will tell you if this is required and what logos go here. Placeholder only; swap in real sponsor logos once the summit sends them.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Walk the six legs quickly. Budget for the 90-minute slot: section 1 about 8 minutes (including the opening), section 2 about 13, section 3 about 21, section 4 about 10, section 5 about 12, section 6 about 8. That is roughly 72 minutes of content plus four one-minute Q&amp;A pockets, which leaves about 14 minutes of open Q&amp;A on the thank-you slide. Section 3 includes the ELM slide; give it a few seconds and move on.</a:t>
            </a:r>
          </a:p>
          <a:p>
            <a:endParaRPr/>
          </a:p>
          <a:p>
            <a:r>
              <a:t>This is not a GitHub sales pitch. It is a field guide to what transfers cleanly, what must be redesigned, and what should deliberately remain in Azure DevOps.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DOCUMENTARY VOICE — the only register for this slide. Deliver slowly, deadpan, faintly awed. Do not wink at the joke. This is the first of six opener cards plus a closer — it establishes the conceit. Pause after delivering the line before moving on. The next slide goes straight back to normal delivery.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Name the real reason teams migrate before the polite reasons: most of the agentic Copilot work (cloud agent, agentic code review, agentic </a:t>
            </a:r>
            <a:r>
              <a:rPr dirty="0" err="1"/>
              <a:t>Autofix</a:t>
            </a:r>
            <a:r>
              <a:rPr dirty="0"/>
              <a:t>, Agent HQ) ships on GitHub first. Be fair to Microsoft: Azure DevOps is gaining AI features too, and Copilot in the IDE works wherever the repository is hosted. The point is not that Azure DevOps has nothing; it is that the frontier depends on where the repository lives.</a:t>
            </a:r>
          </a:p>
          <a:p>
            <a:endParaRPr dirty="0"/>
          </a:p>
          <a:p>
            <a:r>
              <a:rPr dirty="0"/>
              <a:t>Open the table by getting ahead of the heckle: “Field guides go out of date, and so do capability tables. Everything here has a shelf life measured in sprints.” Then walk the four rows. The last one is the one that matters: the cloud agent needs a GitHub-hosted repository even when it is started from Azure Boards.</a:t>
            </a:r>
          </a:p>
          <a:p>
            <a:endParaRPr dirty="0"/>
          </a:p>
          <a:p>
            <a:r>
              <a:rPr dirty="0"/>
              <a:t>Do not frame this as “GitHub has AI and Azure DevOps does not.” Frame it as a difference in native depth, integration, and repository dependency.</a:t>
            </a:r>
          </a:p>
          <a:p>
            <a:endParaRPr dirty="0"/>
          </a:p>
          <a:p>
            <a:r>
              <a:rPr dirty="0"/>
              <a:t>CUT FROM THE SLIDE, for Q&amp;A:</a:t>
            </a:r>
          </a:p>
          <a:p>
            <a:r>
              <a:rPr dirty="0"/>
              <a:t>- Repository-aware chat. GitHub: native workspace and repository context. Azure DevOps: local repo context, plus Azure DevOps service context through MCP.</a:t>
            </a:r>
          </a:p>
          <a:p>
            <a:r>
              <a:rPr dirty="0"/>
              <a:t>- Multi-agent orchestration. GitHub: a central hub running Copilot, Claude and Codex sessions in parallel. Azure DevOps: no native equivalent; external agents connect through MCP.</a:t>
            </a:r>
          </a:p>
          <a:p>
            <a:r>
              <a:rPr dirty="0"/>
              <a:t>- Azure DevOps MCP. The Remote MCP Server is GA and the server itself is free; normal Azure DevOps pricing and AI-platform usage charges may still apply. The next slide covers MCP.</a:t>
            </a:r>
          </a:p>
          <a:p>
            <a:r>
              <a:rPr dirty="0"/>
              <a:t>- Licensing. Paid Copilot for agents and review; GitHub Code Security where </a:t>
            </a:r>
            <a:r>
              <a:rPr dirty="0" err="1"/>
              <a:t>Autofix</a:t>
            </a:r>
            <a:r>
              <a:rPr dirty="0"/>
              <a:t> is needed.</a:t>
            </a:r>
          </a:p>
          <a:p>
            <a:endParaRPr dirty="0"/>
          </a:p>
          <a:p>
            <a:r>
              <a:rPr dirty="0"/>
              <a:t>The capability gap is real, but it is neither absolute nor static. As of September 21, 2026: Azure DevOps Remote MCP Server is generally available; Copilot Code Review for Azure Repos is in public preview; Copilot </a:t>
            </a:r>
            <a:r>
              <a:rPr dirty="0" err="1"/>
              <a:t>Autofix</a:t>
            </a:r>
            <a:r>
              <a:rPr dirty="0"/>
              <a:t> for Azure DevOps remains in limited public preview; and GitHub Copilot cloud agent still requires a GitHub-hosted repository even when initiated from Azure Boards.</a:t>
            </a:r>
          </a:p>
          <a:p>
            <a:endParaRPr dirty="0"/>
          </a:p>
          <a:p>
            <a:r>
              <a:rPr dirty="0"/>
              <a:t>Sources (accessed September 21, 2026): GitHub Docs — About GitHub Copilot cloud agent; Integrating Copilot cloud agent with Azure Boards; About agent management; About </a:t>
            </a:r>
            <a:r>
              <a:rPr dirty="0" err="1"/>
              <a:t>autofix</a:t>
            </a:r>
            <a:r>
              <a:rPr dirty="0"/>
              <a:t> for code scanning. Microsoft Learn — Azure DevOps Sprint 278 and Sprint 279 release notes; Azure DevOps MCP Server overview; Copilot code review for Azure Repos; Copilot </a:t>
            </a:r>
            <a:r>
              <a:rPr dirty="0" err="1"/>
              <a:t>Autofix</a:t>
            </a:r>
            <a:r>
              <a:rPr dirty="0"/>
              <a:t> for GitHub Advanced Security for Azure DevOps. GitHub Changelog — Copilot code review now runs on an agentic architecture (March 5, 2026).</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keep it brisk — this is a framing slide, not a deep dive.</a:t>
            </a:r>
          </a:p>
          <a:p>
            <a:endParaRPr/>
          </a:p>
          <a:p>
            <a:r>
              <a:t>Somebody in the room is thinking “we added MCP, so the platform question went away.” It didn't. What MCP genuinely changes: agents reach more enterprise systems, cross-tool workflows need less bespoke integration, and platform boundaries are more permeable. Say that plainly and generously — it is real.</a:t>
            </a:r>
          </a:p>
          <a:p>
            <a:endParaRPr/>
          </a:p>
          <a:p>
            <a:r>
              <a:t>What it does not change: where pull-request automation runs, where repository security analysis runs, which policies can be enforced natively, which platform owns repository governance, and where code-centric agent workflows execute. All of those still follow the code.</a:t>
            </a:r>
          </a:p>
          <a:p>
            <a:endParaRPr/>
          </a:p>
          <a:p>
            <a:r>
              <a:t>Land the closing line as written — the platform decision did not disappear, it merely acquired more adapters. If asked: the Azure DevOps Remote MCP Server is GA and the server itself is free, though normal Azure DevOps and AI-platform usage charges still apply.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move quickly — five rows, roughly fifteen seconds each, do not read them verbatim. Frame it up front as “even if you delete the entire AI argument, here is why teams still move.”</a:t>
            </a:r>
          </a:p>
          <a:p>
            <a:endParaRPr/>
          </a:p>
          <a:p>
            <a:r>
              <a:t>The 180M+ figure is GitHub's own Octoverse number and is current. On the marketplace row, the honest comparison is breadth of third-party actions versus the Azure Pipelines task catalogue — claim volume, not quality.</a:t>
            </a:r>
          </a:p>
          <a:p>
            <a:endParaRPr/>
          </a:p>
          <a:p>
            <a:r>
              <a:t>CAVEAT THE LAST ROW before someone in the room does it for you. act runs workflows in containers, not the VMs GitHub uses; Linux runners only; faithful images are 18 GB+; and it ignores or does not support concurrency, GITHUB_STEP_SUMMARY, job-level permissions, timeout-minutes, continue-on-error, environment — and OIDC, which means no cloud-auth workflow actually runs locally. Frame it as fast feedback on syntax and the job graph, never as “if it passes in act it passes in CI.”</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the only register for this slide. Deliver slowly, deadpan, faintly awed, same conceit as section 1's opener. Pause after the line, then go straight back to normal delivery for the scorecard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This is the spoiler slide — the full seven-subsystem scorecard for the whole talk, not just section 2. Two travel clean (Repos, Wiki), four need a decision (Packages/Artifacts, Pipelines, Dashboards, Boards), one stays behind entirely (Test Plans).</a:t>
            </a:r>
          </a:p>
          <a:p>
            <a:endParaRPr dirty="0"/>
          </a:p>
          <a:p>
            <a:r>
              <a:rPr dirty="0"/>
              <a:t>Don't over-explain each row yet. Pipelines gets all of section 3; Boards and Test Plans get all of section 4. This slide's job is just to set the map before the detailed stops. Repos, Wiki, Packages/Artifacts and Dashboards get their own slides in the rest of this section.</a:t>
            </a:r>
          </a:p>
          <a:p>
            <a:endParaRPr dirty="0"/>
          </a:p>
          <a:p>
            <a:r>
              <a:rPr dirty="0"/>
              <a:t>The Boards row is deliberately the only place Boards appears before section 4. Read it, say “we come back to this properly in section 4,” and move on — if you let the room open a Boards-versus-Projects debate here you will spend section 4's time twice.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Git is Git, so commit history is easy, and pull requests plus most branch policies migrate without much drama through GitHub Enterprise Importer.</a:t>
            </a:r>
          </a:p>
          <a:p>
            <a:endParaRPr/>
          </a:p>
          <a:p>
            <a:r>
              <a:t>The asterisk is what doesn’t:</a:t>
            </a:r>
          </a:p>
          <a:p>
            <a:r>
              <a:t>- Repo permissions get rebuilt as two GitHub teams per team project.</a:t>
            </a:r>
          </a:p>
          <a:p>
            <a:r>
              <a:t>- Git LFS objects are not migrated. GEI moves the repository; you push the LFS objects separately.</a:t>
            </a:r>
          </a:p>
          <a:p>
            <a:r>
              <a:t>- User-scoped and cross-repo branch policies need rebuilding by hand.</a:t>
            </a:r>
          </a:p>
          <a:p>
            <a:endParaRPr/>
          </a:p>
          <a:p>
            <a:r>
              <a:t>Verify target visibility during the trial migration. Migration scripts can preserve or explicitly set visibility, but enterprise policies and managed-user configurations may constrain the available choices.</a:t>
            </a:r>
          </a:p>
          <a:p>
            <a:endParaRPr/>
          </a:p>
          <a:p>
            <a:r>
              <a:t>If there’s time, mention the hard limits: during migration, 40 GiB per repository and 400 MiB per file; afterwards, GitHub’s normal 100 MiB per file, 2 GiB per commit and 2 GiB per push. Don’t recite them from the slide.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quick. Both wikis are Git repos, so the pages themselves copy with a clone and a push. The work is everything the Azure DevOps wiki layered on top: .order files and nested folders set page order and hierarchy, and GitHub’s wiki doesn’t read .order and shows a flat page list; Azure DevOps-only markdown ([[_TOC_]], ::: mermaid blocks, #123 work-item links, @mentions) renders as plain text or breaks; attachments live in a .attachments folder that page links point into.</a:t>
            </a:r>
          </a:p>
          <a:p>
            <a:endParaRPr dirty="0"/>
          </a:p>
          <a:p>
            <a:r>
              <a:rPr dirty="0"/>
              <a:t>Two things worth knowing if asked. Azure DevOps wiki permissions apply to the whole wiki, not to individual pages (Microsoft’s docs say so explicitly), so permissions are not the big conversation. And a code wiki, a repo folder published as a wiki, is just Markdown in the repository, so it travels with the repo migration. Many teams use the move to put the project wiki into a docs folder too.</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Unlike Repos or Wiki, this one isn't a clean migration path — it's a genuine three-way decision: keep Azure Artifacts as-is, move fully to GitHub Packages, or dual-publish during a transition window. The realistic PoC target for most enterprises is the first option done well: GitHub Actions publishing to and consuming from an existing Azure Artifacts feed, because repointing every downstream consumer at cutover usually isn't realistic. This is a decision, not a rewrite — say that line plainly, it's the slide's title for a reason.</a:t>
            </a:r>
          </a:p>
          <a:p>
            <a:endParaRPr/>
          </a:p>
          <a:p>
            <a:r>
              <a:t>If you’re weighing option two, check the feed types first. GitHub Packages covers npm, NuGet, Maven, Gradle, RubyGems and containers, but not PyPI or Universal Packages, and it has no equivalent of Azure Artifacts upstream sources (proxying nuget.org or npmjs). Any of those keeps Azure Artifacts in the picture.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lead with the correction rather than burying it: GitHub does not ship a DORA dashboard.</a:t>
            </a:r>
          </a:p>
          <a:p>
            <a:endParaRPr/>
          </a:p>
          <a:p>
            <a:r>
              <a:t>Verified September 2026 — there is no GitHub product reporting deployment frequency, lead time for changes, change failure rate or time to restore. What exists is narrower and differently named: Copilot metrics and the Copilot impact dashboard (PRs merged, median merge velocity — explicitly not DORA), Actions performance metrics, a Code Quality org dashboard in public preview, and Security overview. None of it approaches Boards Analytics plus the Power BI report most enterprises have built up over years.</a:t>
            </a:r>
          </a:p>
          <a:p>
            <a:endParaRPr/>
          </a:p>
          <a:p>
            <a:r>
              <a:t>The reframe is what saves the slide, and it is stronger for the correction: neither platform hands you DORA, so stop comparing widgets, agree on the four metrics as the shared language, and instrument them yourselves — third-party tool or your own pipeline. That work outlives the migration whichever platform you land 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deliberately slow — this line is the whole talk in one sentence, worth letting it land before moving on. Everything that's file-based and version-controlled — repos, wiki — travels cleanly because Git is Git on both sides. Everything backed by a proprietary database with its own data model — dashboards here, and Boards plus Test Plans in the next section — needs either a rewrite, a decision, or in Test Plans' case, doesn't come at all. This sets up sections 3 and 4 directly.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land this one deliberately — it’s the thesis the whole talk hangs on. Three audiences, one pattern: developers move to GitHub and get Copilot and Actions; managers keep Azure Boards, capacity charts and Power BI exactly as they are; and the budget conversation starts easier because GitHub Enterprise Cloud includes Azure DevOps Basic access for users who sign in with Entra ID.</a:t>
            </a:r>
          </a:p>
          <a:p>
            <a:endParaRPr/>
          </a:p>
          <a:p>
            <a:r>
              <a:t>Be precise about that grant: it covers Basic only. Test Plans (which section 4 tells you to keep) is a separate Azure DevOps licence, and Copilot, Secret Protection and Code Security, Actions overages, larger runners and the migration work itself are all separate costs.</a:t>
            </a:r>
          </a:p>
          <a:p>
            <a:endParaRPr/>
          </a:p>
          <a:p>
            <a:r>
              <a:t>What holds the two halves together is the integration layer: work-item traceability, commit and pull-request links, pipeline integration, identity mapping, and cross-platform reporting.</a:t>
            </a:r>
          </a:p>
          <a:p>
            <a:endParaRPr/>
          </a:p>
          <a:p>
            <a:r>
              <a:t>Explicitly reframe: this is the shape the rest of the talk builds toward, not a fallback. Section 4 comes back to this exact point for Boards and Projects.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a minute. Take one quick question if a hand is up, otherwise move straight into section 3.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DOCUMENTARY VOICE — deliver slowly and deadpan. The new metaphor introduces three migration planes: repository data, automation, and validation. Pause, then return to straight technical delivery. This is the heaviest section, so keep the framing concise.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take this one slowly — the rest of the section depends on the distinction.</a:t>
            </a:r>
          </a:p>
          <a:p>
            <a:endParaRPr/>
          </a:p>
          <a:p>
            <a:r>
              <a:t>Repository data, automation, and validation are the architectural planes: the three places migration risk actually lives. Manual judgment, official tooling, and AI assistance are methods, and any of them can operate inside any plane. They are not a fourth plane, and they are not three competing migration strategies — which is how most migration talks get this wrong.</a:t>
            </a:r>
          </a:p>
          <a:p>
            <a:endParaRPr/>
          </a:p>
          <a:p>
            <a:r>
              <a:t>Everything from here follows the planes.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Read by row, not by column. Repository data uses GEI or ELM but still needs human decisions and troubleshooting. Automation uses Actions Importer plus engineering and AI reasoning. Validation uses deterministic evidence and accountable human decisions; AI can assist but cannot declare the migration complete.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Open the slide with the line: “Both platforms use YAML, in the same way that Java and JavaScript both contain the word ‘Java.’” It is also in the session abstract, so deliver it as a callback. It gets the laugh and it is the slide’s entire thesis: same syntax, different language. Say it once and move on.</a:t>
            </a:r>
          </a:p>
          <a:p>
            <a:endParaRPr dirty="0"/>
          </a:p>
          <a:p>
            <a:r>
              <a:rPr dirty="0"/>
              <a:t>Straight delivery after that. Use the table as a vocabulary guide, not a transliteration recipe. Ask what security or lifecycle boundary each stage represented. Manual judgment is needed where service connections, templates, approvals, runners, conditions and failure behavior do not map one to one. Worth saying out loud: Actions has no stages, so a multi-stage pipeline becomes jobs linked by needs, usually with environments carrying the approvals.</a:t>
            </a:r>
          </a:p>
          <a:p>
            <a:endParaRPr dirty="0"/>
          </a:p>
          <a:p>
            <a:r>
              <a:rPr dirty="0"/>
              <a:t>OPTIONAL LAUGH LINE — stop on the Service Connection row: “Two words on the left, </a:t>
            </a:r>
            <a:r>
              <a:rPr lang="en-US" dirty="0"/>
              <a:t>two</a:t>
            </a:r>
            <a:r>
              <a:rPr dirty="0"/>
              <a:t> on the right, and about three weeks in between.” This is the row the whole room has personally lost a sprint to.</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Spend twenty seconds getting the naming right, because the docs don't and everyone who goes looking afterwards hits the same confusion.</a:t>
            </a:r>
          </a:p>
          <a:p>
            <a:endParaRPr dirty="0"/>
          </a:p>
          <a:p>
            <a:r>
              <a:rPr dirty="0"/>
              <a:t>Review the generated PowerShell as migration code, not disposable output — that is the bottom line on the slide.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Briefly mention it, but don’t spend much time on it. </a:t>
            </a:r>
          </a:p>
          <a:p>
            <a:endParaRPr dirty="0"/>
          </a:p>
          <a:p>
            <a:r>
              <a:rPr dirty="0"/>
              <a:t>STATUS, stated precisely, because the two paths differ: GitHub Enterprise Server to GHEC-with-data-residency went GA on 1 September 2026, but the AZURE DEVOPS path — the only one that matters here — is still public preview. Say “public preview for the Azure DevOps path,” not just “preview,” or somebody who read the GA changelog will correct you.</a:t>
            </a:r>
          </a:p>
          <a:p>
            <a:endParaRPr dirty="0"/>
          </a:p>
          <a:p>
            <a:r>
              <a:rPr dirty="0"/>
              <a:t>It is also research-only for us: Hunter's current tenant does not meet the data-residency prerequisite, so we have not run it.</a:t>
            </a:r>
          </a:p>
          <a:p>
            <a:endParaRPr dirty="0"/>
          </a:p>
          <a:p>
            <a:r>
              <a:rPr dirty="0"/>
              <a:t>THE CAPS ARE THE POINT. Thirty repositories total — twenty initial, ten incremental — and the cutover has to complete within twenty-one days of starting. Repositories only: no work items, pipelines, wikis, test plans or artifacts. That reframes ELM from “the better option” to “a pilot mechanism,” which is the more useful thing for this room to hear. If anyone is picturing it as the way to move a thousand repositories, the 30-repo cap answers that before they build a plan around it.</a:t>
            </a:r>
          </a:p>
          <a:p>
            <a:endParaRPr dirty="0"/>
          </a:p>
          <a:p>
            <a:r>
              <a:rPr dirty="0"/>
              <a:t>Keep the GEI comparison honest: gh-ado2gh --all already does the configuration work. What ELM genuinely adds is continuous delta synchronization and a scheduled cutover with a read-only window under thirty minutes. Pipeline logic and non-repository systems still need separate migration and validation — that is the takeaway line.</a:t>
            </a:r>
          </a:p>
          <a:p>
            <a:endParaRPr dirty="0"/>
          </a:p>
          <a:p>
            <a:r>
              <a:rPr dirty="0"/>
              <a:t>GitHub Enterprise Cloud (GHEC) with Data Residency is a distinct deployment model where:</a:t>
            </a:r>
          </a:p>
          <a:p>
            <a:r>
              <a:rPr dirty="0"/>
              <a:t> - Your enterprise is hosted on a dedicated ghe.com subdomain (instead of github.com&lt;org&gt;).</a:t>
            </a:r>
          </a:p>
          <a:p>
            <a:r>
              <a:rPr dirty="0"/>
              <a:t> - You choose the geographic region where your code and repository data are stored (currently including U.S., EU, Australia, and Japan).</a:t>
            </a:r>
          </a:p>
          <a:p>
            <a:r>
              <a:rPr dirty="0"/>
              <a:t> - The environment is isolated from the broader github.com ecosystem.</a:t>
            </a:r>
          </a:p>
          <a:p>
            <a:r>
              <a:rPr dirty="0"/>
              <a:t> - It requires Enterprise Managed Users (EMU). </a:t>
            </a:r>
          </a:p>
          <a:p>
            <a:endParaRPr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Keep the non-negotiable order: install the Azure Pipelines GitHub App first and plan identity mapping before mannequins are created. Also decide account model, team structure, repository naming and visibility, system-of-record during transition, change freeze or reconciliation, and failure ownership before the first production run.</a:t>
            </a:r>
          </a:p>
          <a:p>
            <a:endParaRPr/>
          </a:p>
          <a:p>
            <a:r>
              <a:t>OPTIONAL LAUGH LINE — after reading the six decisions: “You are going to make all six of these decisions either way. The only question is whether you make them now, or at two in the morning, under pressure, by accident.”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This is the automation-plane tool. The audit breakdown is the planning artifact: it turns “this looks hard” into a backlog with counts.</a:t>
            </a:r>
          </a:p>
          <a:p>
            <a:endParaRPr dirty="0"/>
          </a:p>
          <a:p>
            <a:r>
              <a:rPr dirty="0"/>
              <a:t>Use the tool's own four buckets — successful, partially successful, unsupported, failed — and make the point that unsupported and failed are different problems. Unsupported means the construct has no Actions equivalent and somebody has to make a design decision. Failed means the importer choked and somebody has to go look. Those land in different columns of the backlog.</a:t>
            </a:r>
          </a:p>
          <a:p>
            <a:endParaRPr dirty="0"/>
          </a:p>
          <a:p>
            <a:r>
              <a:rPr dirty="0"/>
              <a:t>Conversion still leaves secrets, service connections, runner and network strategy, environments, approvals, custom tasks, and unsupported triggers for engineering judgment and validation.</a:t>
            </a:r>
            <a:endParaRPr lang="en-US" dirty="0"/>
          </a:p>
          <a:p>
            <a:endParaRPr lang="en-US" dirty="0"/>
          </a:p>
          <a:p>
            <a:pPr lvl="0"/>
            <a:r>
              <a:rPr lang="en-US" dirty="0"/>
              <a:t>Supported platforms:</a:t>
            </a:r>
            <a:br>
              <a:rPr lang="en-US" dirty="0"/>
            </a:br>
            <a:r>
              <a:rPr lang="en-US" sz="1200" b="0" i="0" kern="1200" dirty="0">
                <a:solidFill>
                  <a:schemeClr val="tx1"/>
                </a:solidFill>
                <a:effectLst/>
                <a:latin typeface="+mn-lt"/>
                <a:ea typeface="+mn-ea"/>
                <a:cs typeface="+mn-cs"/>
              </a:rPr>
              <a:t>Azure DevOps</a:t>
            </a:r>
          </a:p>
          <a:p>
            <a:pPr lvl="0"/>
            <a:r>
              <a:rPr lang="en-US" sz="1200" b="0" i="0" kern="1200" dirty="0">
                <a:solidFill>
                  <a:schemeClr val="tx1"/>
                </a:solidFill>
                <a:effectLst/>
                <a:latin typeface="+mn-lt"/>
                <a:ea typeface="+mn-ea"/>
                <a:cs typeface="+mn-cs"/>
              </a:rPr>
              <a:t>Bamboo</a:t>
            </a:r>
          </a:p>
          <a:p>
            <a:pPr lvl="0"/>
            <a:r>
              <a:rPr lang="en-US" sz="1200" b="0" i="0" kern="1200" dirty="0">
                <a:solidFill>
                  <a:schemeClr val="tx1"/>
                </a:solidFill>
                <a:effectLst/>
                <a:latin typeface="+mn-lt"/>
                <a:ea typeface="+mn-ea"/>
                <a:cs typeface="+mn-cs"/>
              </a:rPr>
              <a:t>Bitbucket Pipelines</a:t>
            </a:r>
          </a:p>
          <a:p>
            <a:pPr lvl="0"/>
            <a:r>
              <a:rPr lang="en-US" sz="1200" b="0" i="0" kern="1200" dirty="0" err="1">
                <a:solidFill>
                  <a:schemeClr val="tx1"/>
                </a:solidFill>
                <a:effectLst/>
                <a:latin typeface="+mn-lt"/>
                <a:ea typeface="+mn-ea"/>
                <a:cs typeface="+mn-cs"/>
              </a:rPr>
              <a:t>CircleCI</a:t>
            </a:r>
            <a:endParaRPr lang="en-US" sz="1200" b="0" i="0" kern="1200" dirty="0">
              <a:solidFill>
                <a:schemeClr val="tx1"/>
              </a:solidFill>
              <a:effectLst/>
              <a:latin typeface="+mn-lt"/>
              <a:ea typeface="+mn-ea"/>
              <a:cs typeface="+mn-cs"/>
            </a:endParaRPr>
          </a:p>
          <a:p>
            <a:pPr lvl="0"/>
            <a:r>
              <a:rPr lang="en-US" sz="1200" b="0" i="0" kern="1200" dirty="0">
                <a:solidFill>
                  <a:schemeClr val="tx1"/>
                </a:solidFill>
                <a:effectLst/>
                <a:latin typeface="+mn-lt"/>
                <a:ea typeface="+mn-ea"/>
                <a:cs typeface="+mn-cs"/>
              </a:rPr>
              <a:t>GitLab (both cloud and self-hosted)</a:t>
            </a:r>
          </a:p>
          <a:p>
            <a:pPr lvl="0"/>
            <a:r>
              <a:rPr lang="en-US" sz="1200" b="0" i="0" kern="1200" dirty="0">
                <a:solidFill>
                  <a:schemeClr val="tx1"/>
                </a:solidFill>
                <a:effectLst/>
                <a:latin typeface="+mn-lt"/>
                <a:ea typeface="+mn-ea"/>
                <a:cs typeface="+mn-cs"/>
              </a:rPr>
              <a:t>Jenkins</a:t>
            </a:r>
          </a:p>
          <a:p>
            <a:pPr lvl="0"/>
            <a:r>
              <a:rPr lang="en-US" sz="1200" b="0" i="0" kern="1200" dirty="0">
                <a:solidFill>
                  <a:schemeClr val="tx1"/>
                </a:solidFill>
                <a:effectLst/>
                <a:latin typeface="+mn-lt"/>
                <a:ea typeface="+mn-ea"/>
                <a:cs typeface="+mn-cs"/>
              </a:rPr>
              <a:t>Travis CI</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dirty="0"/>
              <a:t>Straight delivery, and slow down here — for an enterprise room this is the slide that separates a migration talk from a migration.</a:t>
            </a:r>
          </a:p>
          <a:p>
            <a:endParaRPr dirty="0"/>
          </a:p>
          <a:p>
            <a:r>
              <a:rPr dirty="0"/>
              <a:t>The setup: Actions Importer just told you the YAML converts. That is the easy half. The execution environment is the half that does not travel, and it is where regulated and on-prem estates actually stall.</a:t>
            </a:r>
          </a:p>
          <a:p>
            <a:endParaRPr dirty="0"/>
          </a:p>
          <a:p>
            <a:r>
              <a:rPr dirty="0"/>
              <a:t>Walk the left column as decisions, not tasks — each one has an owner and a cost attached. The two that bite hardest are the network path to private endpoints, and who operates self-hosted runners once the migration team goes away.</a:t>
            </a:r>
          </a:p>
          <a:p>
            <a:endParaRPr dirty="0"/>
          </a:p>
          <a:p>
            <a:r>
              <a:rPr dirty="0"/>
              <a:t>Walk the right column as evidence. Nobody gets to call the automation plane done on a green build; they get to call it done when an internal feed resolved, OIDC issued a real token, and something actually deployed.</a:t>
            </a:r>
          </a:p>
          <a:p>
            <a:endParaRPr dirty="0"/>
          </a:p>
          <a:p>
            <a:r>
              <a:rPr dirty="0"/>
              <a:t>LAND THE BOTTOM LINE AS THE JOKE IT IS — “the workflow converted successfully, it merely has no credentials, no network route, and nowhere to deploy.” Deliver it flat. Everyone who has done this will laugh, because everyone who has done this has shipped exactly that workflow. It is also the only real laugh in this stretch of the deck, so do not rush past it.</a:t>
            </a:r>
          </a:p>
          <a:p>
            <a:endParaRPr dirty="0"/>
          </a:p>
          <a:p>
            <a:r>
              <a:rPr dirty="0"/>
              <a:t>If asked about act: it runs workflows in containers rather than GitHub's VMs, Linux runners only, and it does not support OIDC — so it will never prove any of the right-hand column.</a:t>
            </a:r>
          </a:p>
        </p:txBody>
      </p:sp>
      <p:sp>
        <p:nvSpPr>
          <p:cNvPr id="4" name="Slide Number Placeholder 3"/>
          <p:cNvSpPr>
            <a:spLocks noGrp="1"/>
          </p:cNvSpPr>
          <p:nvPr>
            <p:ph type="sldNum" sz="quarter" idx="10"/>
          </p:nvPr>
        </p:nvSpPr>
        <p:spPr/>
        <p:txBody>
          <a:bodyPr/>
          <a:lstStyle/>
          <a:p>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Straight delivery. AI is assistance inside the automation and validation planes, not a third migration path. Analyze first, convert second, then validate in fresh context with an explicit checklist and—where possible—a different reviewer or model. Deterministic tests and accountable engineering acceptance remain the authority. Preserve the honest status: the prompts have not yet been validated against a production pipeline.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Walk the five steps across all three planes. Inventory before moving; trial-migrate repository data; rebuild automation semantics and the execution environment; prove equivalence and deployability; then cut over with monitoring and rollback ready.</a:t>
            </a:r>
          </a:p>
          <a:p>
            <a:endParaRPr/>
          </a:p>
          <a:p>
            <a:r>
              <a:t>Say the finish-line distinction out loud: first verified delivery, not first green build. A green build proves the workflow ran. It proves nothing about the artifact, the deployment, traceability, or your ability to go back.</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a reusable acceptance checklist — tell the room to photograph it, it is the most portable thing in the talk.</a:t>
            </a:r>
          </a:p>
          <a:p>
            <a:endParaRPr/>
          </a:p>
          <a:p>
            <a:r>
              <a:t>Emphasize that acceptance spans all three planes: repository data, automation, and validation/cutover. A repository URL and a green build do not prove identity, policy, artifact, deployment, observability, traceability, or rollback readiness.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30 seconds given how much ground this section covers. Take one quick question if a hand is up, otherwise move straight into section 4.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DOCUMENTARY VOICE — the only register for this slide. Deliver slowly, deadpan, faintly awed, same conceit as the earlier section openers. Pause after the line, then go straight back to normal delivery for the Boards-vs-Projects framing slide. Keep this section brisk: five slides, and the payoff is the Test Plans slide and the recommendation, not length.</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Frame this before comparing feature by feature — Azure Boards and GitHub Projects are not two competitors in one category, they are two different models.</a:t>
            </a:r>
          </a:p>
          <a:p>
            <a:endParaRPr dirty="0"/>
          </a:p>
          <a:p>
            <a:r>
              <a:rPr dirty="0"/>
              <a:t>Azure Boards is a full enterprise work-tracking system organized around a process template: hierarchy, states, rules, capacity, cross-team reporting. GitHub Projects is a real planning layer organized around custom fields and views — org-level, spanning repositories, with sub-issues, issue types and dependencies all GA.</a:t>
            </a:r>
          </a:p>
          <a:p>
            <a:endParaRPr dirty="0"/>
          </a:p>
          <a:p>
            <a:r>
              <a:rPr dirty="0"/>
              <a:t>Do NOT call Projects a lightweight kanban board. That was fair a few years ago and this room will know it isn't now; understating it makes the Boards recommendation later sound motivated rather than reasoned. Naming the difference as two models rather than a feature gap is what stops the next slide reading as a scored competition.</a:t>
            </a:r>
          </a:p>
          <a:p>
            <a:endParaRPr dirty="0"/>
          </a:p>
          <a:p>
            <a:r>
              <a:rPr dirty="0"/>
              <a:t>The next slide takes each tool on its own terms before comparing what's lost in a migration — say that as a transition, don't put it on the slide.</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Take each tool on its own terms before comparing what a migration loses.</a:t>
            </a:r>
          </a:p>
          <a:p>
            <a:endParaRPr/>
          </a:p>
          <a:p>
            <a:r>
              <a:t>Left card, the enterprise case, stated plainly: hierarchical work items from Epics down to Tasks, built-in sprint planning and capacity management, Delivery Plans for dependencies across teams, and Boards Analytics feeding Power BI. It organizes around Project, Team and Area Path — a structure built for portfolios, not one team’s board.</a:t>
            </a:r>
          </a:p>
          <a:p>
            <a:endParaRPr/>
          </a:p>
          <a:p>
            <a:r>
              <a:t>Right card, and give Projects real credit, because the recommendation at the end of this section only carries weight if this half was honest. Projects is organized around custom fields (iteration, single-select, date, number) rather than a fixed process template. Sub-issues, issue types and dependencies are all GA, there are board, table and roadmap layouts, and automation comes built in or through Actions. It is org-level, not repo-scoped, and it lives next to the issues and PRs it tracks.</a:t>
            </a:r>
          </a:p>
          <a:p>
            <a:endParaRPr/>
          </a:p>
          <a:p>
            <a:r>
              <a:t>The contrast is process template versus fields and views, not enterprise versus toy. If asked about limits: a project holds up to 50 fields, counting the built-in ones.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Be concrete about the loss: sprint history and capacity data, custom process fields and rules, the process template itself, and the Project / Team / Area Path structure have no clean landing spot in GitHub Projects. Parent-child links are the exception; they can map to sub-issues, which go up to eight levels deep.</a:t>
            </a:r>
          </a:p>
          <a:p>
            <a:endParaRPr/>
          </a:p>
          <a:p>
            <a:r>
              <a:t>Set expectations on tooling honestly. There is no first-party tool that moves Azure Boards work items into GitHub Issues. The well-known azure-devops-migration-tools project moves work items between Azure DevOps projects and organizations, not to GitHub. What exists for GitHub is community scripts against the two APIs, and the data models still don’t line up, so this is a mapping project, not a one-command migration. This sets up the Test Plans slide and the recommendation that follows.</a:t>
            </a:r>
          </a:p>
          <a:p>
            <a:endParaRPr/>
          </a:p>
          <a:p>
            <a:r>
              <a:t>OPTIONAL LAUGH LINE — on losing sprint history and capacity data: “Nobody has ever asked to see sprint history from three years ago. They will ask exactly once, about six weeks after you delete it.”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and let this one land plainly — it's probably the best-received slide in the whole deck precisely because it doesn't try to spin anything. </a:t>
            </a:r>
          </a:p>
          <a:p>
            <a:endParaRPr lang="en-US" dirty="0"/>
          </a:p>
          <a:p>
            <a:r>
              <a:rPr lang="en-US" dirty="0"/>
              <a:t>This is the shortest slide in the section on purpose — sometimes the honest answer is just 'it doesn't move, and that's fine,' and saying it plainly builds more credibility than manufacturing a workaround.</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explicit takeaway for the section, and it is section 2’s hybrid pattern applied to planning: connect Azure Boards to your GitHub repos before touching anything else. Developers work in GitHub, next to Copilot and their pull requests; managers keep the sprint hub, capacity charts and Power BI reporting exactly where they are. The Azure Boards app for GitHub links commits and PRs back to work items with AB# mentions, and the Copilot cloud agent can be started from a Boards item.</a:t>
            </a:r>
          </a:p>
          <a:p>
            <a:endParaRPr/>
          </a:p>
          <a:p>
            <a:r>
              <a:t>Say the recommendation plainly: don’t migrate to GitHub Issues unless your planning needs are genuinely simple. For most teams past a handful of people, the hierarchy, capacity planning and reporting Azure Boards already gives you are worth keeping.</a:t>
            </a:r>
          </a:p>
          <a:p>
            <a:endParaRPr/>
          </a:p>
          <a:p>
            <a:r>
              <a:t>Then the nuance, which is the bottom bar: this isn’t an argument for Azure Boards forever. It’s an argument against defaulting to GitHub Issues just because the code moved. Where you plan work is a separate decision from where the code lives, so leave that door open.</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a minute. Take one quick question if a hand is up, otherwise move straight into section 5.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the only register for this slide. Deliver slowly, deadpan, faintly awed, same conceit as the earlier section openers. Pause after the line, then go straight back to normal delivery for the thesis slide. This section's closing slide comes back to this exact character — plant it here without over-explaining, the payoff lands later.</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section’s thesis — land it early and come back to it. Most migrations that fail don’t fail in the converter; gh-ado2gh and Actions Importer do what they say. The execution-environment work from section 3 is real, but it is engineering you can plan. What sinks migrations is three predictable human failures: no real selection process (a choice made by momentum rather than evaluated on merit), customization starting before anyone understood the new tool, and a rollout that felt done TO people rather than WITH them. The rest of this section is about avoiding those three.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walking the steps: “In most organizations the real selection process is that somebody senior used it at their last job.” OPTIONAL LAUGH LINE, and it is precisely failure mode one from the previous slide.</a:t>
            </a:r>
          </a:p>
          <a:p>
            <a:endParaRPr/>
          </a:p>
          <a:p>
            <a:r>
              <a:t>Straight delivery, walk this quickly. Frame it for this room: you have already chosen GitHub, so this is for the choices inside the migration — Boards or Projects, hosted or self-hosted runners, Azure Artifacts or GitHub Packages. Define must-haves, assess real constraints like data residency and compliance, model one real increment of actual work in each option rather than watching a demo, score it with a weighted rubric so the decision is defensible later, then pilot.</a:t>
            </a:r>
          </a:p>
          <a:p>
            <a:endParaRPr/>
          </a:p>
          <a:p>
            <a:r>
              <a:t>Step five carries the second failure mode: customizing on day one locks in decisions made by people who didn’t understand the tool yet. Every custom field, automation rule or process tweak added before the pilot is a bet placed with the least information you’ll ever have — that’s the bottom bar. Run the pilot on defaults, then customize with real usage data instead of guesses.</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Straight delivery. Align the rollout with the three-plane model. Define authority and traceability first, prove one repository end-to-end, then scale in waves with explicit entry criteria. Cut over only with validation and rollback ready; decommission after long-tail checks, not immediately after migration.</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Sticker-price comparisons are the easiest way to make a bad decision look rigorous. Compare the whole bill: licensing tiers; GitHub Secret Protection and GitHub Code Security, which since April 2025 are sold as two separate add-ons rather than one Advanced Security bundle (Azure DevOps sells the same two products, so security alone doesn’t tip the decision); runner and compute minutes; and the real admin and migration effort, which is easy to leave off a spreadsheet entirely.</a:t>
            </a:r>
          </a:p>
          <a:p>
            <a:endParaRPr/>
          </a:p>
          <a:p>
            <a:r>
              <a:t>The bottom bar is the part most business cases skip: price the migration and the steady state as two separate numbers, and count the months when both platforms are billing at once. Dual-running is where the estimate usually goes wrong.</a:t>
            </a:r>
          </a:p>
          <a:p>
            <a:endParaRPr/>
          </a:p>
          <a:p>
            <a:r>
              <a:t>OPTIONAL LAUGH LINE — on the last item of the cost model: “Every migration business case has a line called *migration effort*, and it is always the number nobody wanted to be the person to estimate.”</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counterweight to section 1. AI is the honest reason most teams are migrating — this slide is where you pay that argument down so it reads as analysis rather than a pitch. Frame the four as a to-do list, not as reasons to doubt the move.</a:t>
            </a:r>
          </a:p>
          <a:p>
            <a:endParaRPr/>
          </a:p>
          <a:p>
            <a:r>
              <a:t>1. WORK ITEMS. Verified behavior, and it closes the loop with the Boards recommendation in section 4: when the Copilot cloud agent is triggered from an Azure Boards work item it captures the text fields — description, repro steps — plus the last 50 comments. So keeping Boards does not cost you the AI payoff; it just means the Boards item literally is the prompt.</a:t>
            </a:r>
          </a:p>
          <a:p>
            <a:endParaRPr/>
          </a:p>
          <a:p>
            <a:r>
              <a:t>   WORTH SAYING FOR A REGULATED ROOM: that captured context is stored in the pull request and is visible to anyone with access to the repository. A work item that was private in Azure DevOps becomes readable in GitHub the moment an agent picks it up. Most people have not thought about that, and for anyone with compliance obligations it is the most useful thirty seconds on the slide.</a:t>
            </a:r>
          </a:p>
          <a:p>
            <a:endParaRPr/>
          </a:p>
          <a:p>
            <a:r>
              <a:t>2. CONVENTIONS. Three supported files: .github/copilot-instructions.md repository-wide, path-specific NAME.instructions.md under .github/instructions (cloud agent and code review only), and AGENTS.md anywhere in the tree, nearest one winning. Without them the agent infers house style from whatever it can see, which on a large legacy repo is whatever is oldest.</a:t>
            </a:r>
          </a:p>
          <a:p>
            <a:endParaRPr/>
          </a:p>
          <a:p>
            <a:r>
              <a:t>3. TESTS. Tie this back to the crossing section — a green build is evidence, not acceptance. Agent throughput is capped by human review capacity until CI carries real weight, so teams with thin or flaky suites do not get faster, they just move the bottleneck onto reviewers.</a:t>
            </a:r>
          </a:p>
          <a:p>
            <a:endParaRPr/>
          </a:p>
          <a:p>
            <a:r>
              <a:t>4. LICENSING. Moving the repository turns nothing on. The cloud agent needs a paid Copilot plan, it must be enabled on each connected repository, and an organization owner has to install the Azure Boards GitHub app before anyone can use the integration.</a:t>
            </a:r>
          </a:p>
          <a:p>
            <a:endParaRPr/>
          </a:p>
          <a:p>
            <a:r>
              <a:t>OPTIONAL LAUGH LINE — after “The work item is the prompt”: “Garbage in, garbage out — except now the garbage arrives with unit tests and a confident summary.”</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Documentary aside — same voice as the opener cards, played for a beat, then straight delivery resumes. This is the section's closing synthesis: startups and one-to-three-squad teams should just take GitHub Projects' lightweight fit, no enterprise overhead needed. Scaled agile, regulated industries, and multi-team portfolios are exactly where Azure Boards' hierarchy and reporting earn their keep. Mixed estates get the hybrid pattern, deliberately — a fit, not a compromise. Then the documentary callback: the Senior Engineer from the opener card isn't wrong to be cautious about change, they're just defending the old pipeline with the wrong argument ('it's always worked') instead of the right one ('here's what the audit says'). Land this warmly, not as a dunk — the point is to hear the objection out and then hand them the Actions Importer audit from section 3. The bucket their pipeline landed in is the conversation.</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a minute. Take one quick question if a hand is up, otherwise move straight into section 6, the final section.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spoken live, not read. This is the section opener: slow down, let the metaphor land. We are closing the loop on the "field guide to a new habitat" framing from the whole talk — this section is about what still limps back to the old watering hole after everyone else has moved on.</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practical, checklist-voiced part of the section. The five rows are meant to be read as "here is where these hide" — invite the room to mentally add their own sixth row, because every org has one nobody else would guess.</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registers on this one slide. STRAIGHT for the top two cards — this is real mechanical risk, say it plainly.</a:t>
            </a:r>
          </a:p>
          <a:p>
            <a:endParaRPr/>
          </a:p>
          <a:p>
            <a:r>
              <a:t>The precision that matters: an org owner sends the attribution invitation, but nothing is reattributed until the person accepts it. Which means your reclaim rate depends on people reading email — that is its own migration risk, and it usually gets a laugh because everyone knows it is true. Enterprise Managed Users are the exception, where the reclaim completes immediately without an invitation. Git commits are attributed by email and are unaffected either way. The EMU exception is no longer on the slide, so say it here.</a:t>
            </a:r>
          </a:p>
          <a:p>
            <a:endParaRPr/>
          </a:p>
          <a:p>
            <a:r>
              <a:t>Be precise about what sits on a mannequin: pull-request data only — authorship, comments and reviews. Work items don’t migrate at all, so there is no work-item history to reclaim.</a:t>
            </a:r>
          </a:p>
          <a:p>
            <a:endParaRPr/>
          </a:p>
          <a:p>
            <a:r>
              <a:t>Then shift into DOCUMENTARY VOICE for the on-slide aside at the bottom, read as written, then straight back to conference delivery. The mannequin framing is the callback that ties this section's watering-hole metaphor to identity specifically.</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briskly. For item three, recap the three planes and the cross-plane methods. For item five, reinforce that migration is an operating model: ownership, entry criteria, evidence, rollback, and decommissioning—not merely a tooling sequence.</a:t>
            </a:r>
          </a:p>
          <a:p>
            <a:endParaRPr/>
          </a:p>
          <a:p>
            <a:r>
              <a:t>Then hand straight off to the Unglamorous Truth slide. The recap is the list; that slide is the point. Do not editorialise between the two — just turn the page.</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let it land quieter than anything around it. This is the deck's thesis in one sentence, and it now sits where it earns the most: the recap just handed them six things to remember, and this is the one thing to feel.</a:t>
            </a:r>
          </a:p>
          <a:p>
            <a:endParaRPr/>
          </a:p>
          <a:p>
            <a:r>
              <a:t>The slide is built as a statement, not a section card — light ground, no motif, sentence centred, nothing on it competing with the line. Deliver the first sentence flat, then pause before the last clause. “And got fixed by people in the room” is the payoff and it is set in the accent colour for exactly that reason: land it on the people, not the checklist.</a:t>
            </a:r>
          </a:p>
          <a:p>
            <a:endParaRPr/>
          </a:p>
          <a:p>
            <a:r>
              <a:t>Then go straight into the documentary closer. These two are twins — the same thought in two registers, plain-spoken in light, documentary in dark — so do not take a long pause here and another one there. This slide sets the closer up; the closer gets the silence.</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DOCUMENTARY VOICE — spoken live, slower than anything else in the deck.</a:t>
            </a:r>
          </a:p>
          <a:p>
            <a:endParaRPr/>
          </a:p>
          <a:p>
            <a:r>
              <a:t>Three beats, and they are paced differently. The first line is calm and satisfied: everything worked. The second is where the joke builds — take your time on “every Tuesday at 3 a.m., triggered by nothing, owned by no one,” because the specificity is what makes it funny. Then a real pause, and the last line flat: “Nobody told it the herd had moved.”</a:t>
            </a:r>
          </a:p>
          <a:p>
            <a:endParaRPr/>
          </a:p>
          <a:p>
            <a:r>
              <a:t>That last line is the callback to section 6's title, so it should land as a click rather than a punchline. Let the silence sit for two full seconds before advancing — do not rush into the thank-you slide, and do not add another joke on top of it.</a:t>
            </a:r>
          </a:p>
          <a:p>
            <a:endParaRPr/>
          </a:p>
          <a:p>
            <a:r>
              <a:t>Note the division of labour with the Unglamorous Truth slide two back: that one is the sincere version in your own voice, this one is the funny version in the documentary voice. Sincerity first, laugh last.</a:t>
            </a:r>
          </a:p>
          <a:p>
            <a:endParaRPr/>
          </a:p>
          <a:p>
            <a:r>
              <a:t>---- ALTERNATE CLOSER, if this one doesn't fit on the night ----</a:t>
            </a:r>
          </a:p>
          <a:p>
            <a:endParaRPr/>
          </a:p>
          <a:p>
            <a:r>
              <a:t>WARMER: “The herd has crossed. They pause on the far bank, survey the new territory — and immediately begin recreating the folder structure they left behind. They will learn. They always do.”  (Use if you want to end on warmth rather than a laugh. Overlaps slightly with the Unglamorous Truth slide.)</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warm. This is the handoff into the open Q&amp;A, roughly 14 minutes — there has been no interim pocket since section 5, so the room has been banking questions. Invite them explicitly rather than just stopping talking.</a:t>
            </a:r>
          </a:p>
          <a:p>
            <a:endParaRPr/>
          </a:p>
          <a:p>
            <a:r>
              <a:t>The QR now lives here instead of on its own slide, which means it stays on screen for the whole Q&amp;A instead of flashing past. Say once what is behind it — GitHub's official Azure Pipelines to Actions guide, gh-ado2gh, gh-actions-importer, the AI analyze / convert / validate prompts, and every note behind this talk, all public — then stop talking about it and take questions. People will scan while somebody else is asking.</a:t>
            </a:r>
          </a:p>
          <a:p>
            <a:endParaRPr/>
          </a:p>
          <a:p>
            <a:r>
              <a:t>If a question needs more than the time you have, point at the code: the long answer is almost certainly already in the repo.</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FCB2E6C-B1C0-81B8-1A95-7A3B7452C911}"/>
              </a:ext>
            </a:extLst>
          </p:cNvPr>
          <p:cNvSpPr>
            <a:spLocks noGrp="1"/>
          </p:cNvSpPr>
          <p:nvPr>
            <p:ph type="sldNum" sz="quarter" idx="10"/>
          </p:nvPr>
        </p:nvSpPr>
        <p:spPr/>
        <p:txBody>
          <a:bodyPr/>
          <a:lstStyle/>
          <a:p>
            <a:fld id="{BCB632DE-6AD4-40F1-944C-28C0E9BF62DC}" type="slidenum">
              <a:rPr lang="en-US" smtClean="0"/>
              <a:t>‹#›</a:t>
            </a:fld>
            <a:endParaRPr lang="en-US"/>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0B22153-3E74-9A77-9771-8EE0002F3ED0}"/>
              </a:ext>
            </a:extLst>
          </p:cNvPr>
          <p:cNvSpPr>
            <a:spLocks noGrp="1"/>
          </p:cNvSpPr>
          <p:nvPr>
            <p:ph type="sldNum" sz="quarter" idx="4"/>
          </p:nvPr>
        </p:nvSpPr>
        <p:spPr>
          <a:xfrm>
            <a:off x="11612880" y="6492240"/>
            <a:ext cx="411480" cy="256032"/>
          </a:xfrm>
          <a:prstGeom prst="rect">
            <a:avLst/>
          </a:prstGeom>
        </p:spPr>
        <p:txBody>
          <a:bodyPr vert="horz" wrap="none" lIns="0" tIns="0" rIns="0" bIns="0" anchor="ctr"/>
          <a:lstStyle>
            <a:lvl1pPr algn="r">
              <a:defRPr sz="1000" b="0">
                <a:solidFill>
                  <a:srgbClr val="6B6B63"/>
                </a:solidFill>
                <a:latin typeface="Calibri"/>
              </a:defRPr>
            </a:lvl1pPr>
          </a:lstStyle>
          <a:p>
            <a:fld id="{BCB632DE-6AD4-40F1-944C-28C0E9BF62DC}"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2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17.png"/><Relationship Id="rId4" Type="http://schemas.openxmlformats.org/officeDocument/2006/relationships/image" Target="../media/image31.png"/></Relationships>
</file>

<file path=ppt/slides/_rels/slide2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49.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305" y="0"/>
            <a:ext cx="12191695" cy="6858000"/>
          </a:xfrm>
          <a:prstGeom prst="rect">
            <a:avLst/>
          </a:prstGeom>
          <a:solidFill>
            <a:srgbClr val="1F3D2C"/>
          </a:solidFill>
          <a:ln/>
        </p:spPr>
        <p:txBody>
          <a:bodyPr/>
          <a:lstStyle/>
          <a:p>
            <a:endParaRPr lang="en-US"/>
          </a:p>
        </p:txBody>
      </p:sp>
      <p:sp>
        <p:nvSpPr>
          <p:cNvPr id="3" name="Shape 1"/>
          <p:cNvSpPr/>
          <p:nvPr/>
        </p:nvSpPr>
        <p:spPr>
          <a:xfrm>
            <a:off x="0" y="5120640"/>
            <a:ext cx="12191695" cy="1737360"/>
          </a:xfrm>
          <a:prstGeom prst="rect">
            <a:avLst/>
          </a:prstGeom>
          <a:solidFill>
            <a:srgbClr val="142A1D"/>
          </a:solidFill>
          <a:ln/>
        </p:spPr>
        <p:txBody>
          <a:bodyPr/>
          <a:lstStyle/>
          <a:p>
            <a:endParaRPr lang="en-US"/>
          </a:p>
        </p:txBody>
      </p:sp>
      <p:pic>
        <p:nvPicPr>
          <p:cNvPr id="4" name="Image 0" descr="/home/claude/pptx-build/assets/icons/FaCompass-8C6A3F-400.png"/>
          <p:cNvPicPr>
            <a:picLocks noChangeAspect="1"/>
          </p:cNvPicPr>
          <p:nvPr/>
        </p:nvPicPr>
        <p:blipFill>
          <a:blip r:embed="rId3">
            <a:alphaModFix amt="80000"/>
          </a:blip>
          <a:stretch>
            <a:fillRect/>
          </a:stretch>
        </p:blipFill>
        <p:spPr>
          <a:xfrm>
            <a:off x="9601200" y="640080"/>
            <a:ext cx="1920240" cy="1920240"/>
          </a:xfrm>
          <a:prstGeom prst="rect">
            <a:avLst/>
          </a:prstGeom>
        </p:spPr>
      </p:pic>
      <p:sp>
        <p:nvSpPr>
          <p:cNvPr id="5" name="Text 2"/>
          <p:cNvSpPr txBox="1"/>
          <p:nvPr/>
        </p:nvSpPr>
        <p:spPr>
          <a:xfrm>
            <a:off x="640080" y="1828800"/>
            <a:ext cx="10058400" cy="457200"/>
          </a:xfrm>
          <a:prstGeom prst="rect">
            <a:avLst/>
          </a:prstGeom>
          <a:noFill/>
          <a:ln/>
        </p:spPr>
        <p:txBody>
          <a:bodyPr wrap="square" lIns="0" tIns="0" rIns="0" bIns="0" rtlCol="0" anchor="ctr"/>
          <a:lstStyle/>
          <a:p>
            <a:pPr marL="0" indent="0">
              <a:buNone/>
            </a:pPr>
            <a:r>
              <a:rPr lang="en-US" sz="1800" b="1" kern="0" spc="300" dirty="0">
                <a:solidFill>
                  <a:srgbClr val="E0B85C"/>
                </a:solidFill>
                <a:latin typeface="Calibri" pitchFamily="34" charset="0"/>
                <a:ea typeface="Calibri" pitchFamily="34" charset="-122"/>
                <a:cs typeface="Calibri" pitchFamily="34" charset="-120"/>
              </a:rPr>
              <a:t>AZURE DEVOPS → GITHUB ENTERPRISE</a:t>
            </a:r>
            <a:endParaRPr lang="en-US" sz="1800" dirty="0"/>
          </a:p>
        </p:txBody>
      </p:sp>
      <p:sp>
        <p:nvSpPr>
          <p:cNvPr id="6" name="Text 3"/>
          <p:cNvSpPr txBox="1"/>
          <p:nvPr/>
        </p:nvSpPr>
        <p:spPr>
          <a:xfrm>
            <a:off x="640080" y="2286000"/>
            <a:ext cx="10515600" cy="1463040"/>
          </a:xfrm>
          <a:prstGeom prst="rect">
            <a:avLst/>
          </a:prstGeom>
          <a:noFill/>
          <a:ln/>
        </p:spPr>
        <p:txBody>
          <a:bodyPr wrap="square" lIns="0" tIns="0" rIns="0" bIns="0" rtlCol="0" anchor="ctr"/>
          <a:lstStyle/>
          <a:p>
            <a:pPr marL="0" indent="0">
              <a:buNone/>
            </a:pPr>
            <a:r>
              <a:rPr lang="en-US" sz="5600" b="1" dirty="0">
                <a:solidFill>
                  <a:srgbClr val="F5F5F0"/>
                </a:solidFill>
                <a:latin typeface="Cambria" pitchFamily="34" charset="0"/>
                <a:ea typeface="Cambria" pitchFamily="34" charset="-122"/>
                <a:cs typeface="Cambria" pitchFamily="34" charset="-120"/>
              </a:rPr>
              <a:t>The Great Migration</a:t>
            </a:r>
            <a:endParaRPr lang="en-US" sz="5600" dirty="0"/>
          </a:p>
        </p:txBody>
      </p:sp>
      <p:sp>
        <p:nvSpPr>
          <p:cNvPr id="7" name="Text 4"/>
          <p:cNvSpPr txBox="1"/>
          <p:nvPr/>
        </p:nvSpPr>
        <p:spPr>
          <a:xfrm>
            <a:off x="640080" y="5349240"/>
            <a:ext cx="10058400" cy="822960"/>
          </a:xfrm>
          <a:prstGeom prst="rect">
            <a:avLst/>
          </a:prstGeom>
          <a:noFill/>
          <a:ln/>
        </p:spPr>
        <p:txBody>
          <a:bodyPr wrap="square" lIns="0" tIns="0" rIns="0" bIns="0" rtlCol="0" anchor="ctr"/>
          <a:lstStyle/>
          <a:p>
            <a:pPr marL="0" indent="0">
              <a:buNone/>
            </a:pPr>
            <a:r>
              <a:rPr lang="en-US" sz="2400" i="1" dirty="0">
                <a:solidFill>
                  <a:srgbClr val="E0B85C"/>
                </a:solidFill>
                <a:latin typeface="Cambria" pitchFamily="34" charset="0"/>
                <a:ea typeface="Cambria" pitchFamily="34" charset="-122"/>
                <a:cs typeface="Cambria" pitchFamily="34" charset="-120"/>
              </a:rPr>
              <a:t>“Observe the DevOps Engineer in their natural habitat.”</a:t>
            </a:r>
            <a:endParaRPr lang="en-US" sz="2400" dirty="0"/>
          </a:p>
        </p:txBody>
      </p:sp>
      <p:sp>
        <p:nvSpPr>
          <p:cNvPr id="8" name="Text 5"/>
          <p:cNvSpPr txBox="1"/>
          <p:nvPr/>
        </p:nvSpPr>
        <p:spPr>
          <a:xfrm>
            <a:off x="640080" y="6172200"/>
            <a:ext cx="10058400" cy="365760"/>
          </a:xfrm>
          <a:prstGeom prst="rect">
            <a:avLst/>
          </a:prstGeom>
          <a:noFill/>
          <a:ln/>
        </p:spPr>
        <p:txBody>
          <a:bodyPr wrap="square" lIns="0" tIns="0" rIns="0" bIns="0" rtlCol="0" anchor="ctr"/>
          <a:lstStyle/>
          <a:p>
            <a:pPr marL="0" indent="0">
              <a:buNone/>
            </a:pPr>
            <a:r>
              <a:rPr lang="en-US" sz="1500" dirty="0">
                <a:solidFill>
                  <a:srgbClr val="F5F5F0"/>
                </a:solidFill>
                <a:latin typeface="Calibri" pitchFamily="34" charset="0"/>
                <a:ea typeface="Calibri" pitchFamily="34" charset="-122"/>
                <a:cs typeface="Calibri" pitchFamily="34" charset="-120"/>
              </a:rPr>
              <a:t>Kevin Neumann  •  Cloud &amp; AI Summit  •  September 30, 2026</a:t>
            </a:r>
            <a:endParaRPr lang="en-US" sz="1500" dirty="0"/>
          </a:p>
        </p:txBody>
      </p:sp>
      <p:sp>
        <p:nvSpPr>
          <p:cNvPr id="9" name="Slide Number Placeholder"/>
          <p:cNvSpPr>
            <a:spLocks noGrp="1"/>
          </p:cNvSpPr>
          <p:nvPr>
            <p:ph type="sldNum" sz="quarter" idx="10"/>
          </p:nvPr>
        </p:nvSpPr>
        <p:spPr/>
        <p:txBody>
          <a:bodyPr/>
          <a:lstStyle/>
          <a:p>
            <a:fld id="{BCB632DE-6AD4-40F1-944C-28C0E9BF62DC}" type="slidenum">
              <a:rPr lang="en-US">
                <a:solidFill>
                  <a:srgbClr val="E0B85C"/>
                </a:solidFill>
              </a:rPr>
              <a:t>1</a:t>
            </a:fld>
            <a:endParaRPr lang="en-US">
              <a:solidFill>
                <a:srgbClr val="E0B85C"/>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10515600" cy="68580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Thank You to Our Sponsors</a:t>
            </a:r>
            <a:endParaRPr lang="en-US" sz="3200" dirty="0"/>
          </a:p>
        </p:txBody>
      </p:sp>
      <p:sp>
        <p:nvSpPr>
          <p:cNvPr id="3" name="Shape 1"/>
          <p:cNvSpPr/>
          <p:nvPr/>
        </p:nvSpPr>
        <p:spPr>
          <a:xfrm>
            <a:off x="548640" y="1645920"/>
            <a:ext cx="11064240" cy="3931920"/>
          </a:xfrm>
          <a:prstGeom prst="roundRect">
            <a:avLst>
              <a:gd name="adj" fmla="val 279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4" name="Text 2"/>
          <p:cNvSpPr txBox="1"/>
          <p:nvPr/>
        </p:nvSpPr>
        <p:spPr>
          <a:xfrm>
            <a:off x="914400" y="3200400"/>
            <a:ext cx="10332720" cy="640080"/>
          </a:xfrm>
          <a:prstGeom prst="rect">
            <a:avLst/>
          </a:prstGeom>
          <a:noFill/>
          <a:ln/>
        </p:spPr>
        <p:txBody>
          <a:bodyPr wrap="square" lIns="0" tIns="0" rIns="0" bIns="0" rtlCol="0" anchor="ctr"/>
          <a:lstStyle/>
          <a:p>
            <a:pPr marL="0" indent="0" algn="ctr">
              <a:buNone/>
            </a:pPr>
            <a:r>
              <a:rPr lang="en-US" sz="2000" i="1" dirty="0">
                <a:solidFill>
                  <a:srgbClr val="6B6B63"/>
                </a:solidFill>
                <a:latin typeface="Calibri" pitchFamily="34" charset="0"/>
                <a:ea typeface="Calibri" pitchFamily="34" charset="-122"/>
                <a:cs typeface="Calibri" pitchFamily="34" charset="-120"/>
              </a:rPr>
              <a:t>[PLACEHOLDER — drop in actual sponsor logos before the talk]</a:t>
            </a:r>
            <a:endParaRPr lang="en-US" sz="2000" dirty="0"/>
          </a:p>
        </p:txBody>
      </p:sp>
      <p:sp>
        <p:nvSpPr>
          <p:cNvPr id="5" name="Slide Number Placeholder"/>
          <p:cNvSpPr>
            <a:spLocks noGrp="1"/>
          </p:cNvSpPr>
          <p:nvPr>
            <p:ph type="sldNum" sz="quarter" idx="10"/>
          </p:nvPr>
        </p:nvSpPr>
        <p:spPr/>
        <p:txBody>
          <a:bodyPr/>
          <a:lstStyle/>
          <a:p>
            <a:fld id="{BCB632DE-6AD4-40F1-944C-28C0E9BF62DC}" type="slidenum">
              <a:rPr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Ma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AGENDA</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Six Legs of the Expedition</a:t>
            </a:r>
            <a:endParaRPr lang="en-US" sz="3200" dirty="0"/>
          </a:p>
        </p:txBody>
      </p:sp>
      <p:sp>
        <p:nvSpPr>
          <p:cNvPr id="6" name="Shape 3"/>
          <p:cNvSpPr/>
          <p:nvPr/>
        </p:nvSpPr>
        <p:spPr>
          <a:xfrm>
            <a:off x="548640" y="1554480"/>
            <a:ext cx="7068312" cy="4434840"/>
          </a:xfrm>
          <a:prstGeom prst="roundRect">
            <a:avLst>
              <a:gd name="adj" fmla="val 2474"/>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777240" y="1783080"/>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1</a:t>
            </a:r>
            <a:endParaRPr lang="en-US" sz="2400" dirty="0"/>
          </a:p>
        </p:txBody>
      </p:sp>
      <p:sp>
        <p:nvSpPr>
          <p:cNvPr id="8" name="Text 5"/>
          <p:cNvSpPr txBox="1"/>
          <p:nvPr/>
        </p:nvSpPr>
        <p:spPr>
          <a:xfrm>
            <a:off x="1371600" y="1783080"/>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Why Leave the Herd — the case for migrating</a:t>
            </a:r>
            <a:endParaRPr lang="en-US" sz="1700" dirty="0"/>
          </a:p>
        </p:txBody>
      </p:sp>
      <p:sp>
        <p:nvSpPr>
          <p:cNvPr id="9" name="Text 6"/>
          <p:cNvSpPr txBox="1"/>
          <p:nvPr/>
        </p:nvSpPr>
        <p:spPr>
          <a:xfrm>
            <a:off x="777240" y="2496312"/>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2</a:t>
            </a:r>
            <a:endParaRPr lang="en-US" sz="2400" dirty="0"/>
          </a:p>
        </p:txBody>
      </p:sp>
      <p:sp>
        <p:nvSpPr>
          <p:cNvPr id="10" name="Text 7"/>
          <p:cNvSpPr txBox="1"/>
          <p:nvPr/>
        </p:nvSpPr>
        <p:spPr>
          <a:xfrm>
            <a:off x="1371600" y="2496312"/>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A Field Guide to the Local Species — what concepts natively thrive</a:t>
            </a:r>
            <a:endParaRPr lang="en-US" sz="1700" dirty="0"/>
          </a:p>
        </p:txBody>
      </p:sp>
      <p:sp>
        <p:nvSpPr>
          <p:cNvPr id="11" name="Text 8"/>
          <p:cNvSpPr txBox="1"/>
          <p:nvPr/>
        </p:nvSpPr>
        <p:spPr>
          <a:xfrm>
            <a:off x="777240" y="3209544"/>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3</a:t>
            </a:r>
            <a:endParaRPr lang="en-US" sz="2400" dirty="0"/>
          </a:p>
        </p:txBody>
      </p:sp>
      <p:sp>
        <p:nvSpPr>
          <p:cNvPr id="12" name="Text 9"/>
          <p:cNvSpPr txBox="1"/>
          <p:nvPr/>
        </p:nvSpPr>
        <p:spPr>
          <a:xfrm>
            <a:off x="1371600" y="3209544"/>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Crossing the River — </a:t>
            </a:r>
            <a:r>
              <a:rPr lang="en-US" sz="1600">
                <a:solidFill>
                  <a:srgbClr val="2B2B2B"/>
                </a:solidFill>
                <a:latin typeface="Calibri" pitchFamily="34" charset="0"/>
                <a:ea typeface="Calibri" pitchFamily="34" charset="-122"/>
                <a:cs typeface="Calibri" pitchFamily="34" charset="-120"/>
              </a:rPr>
              <a:t>repository data, automation, validation</a:t>
            </a:r>
            <a:endParaRPr lang="en-US" sz="1700" dirty="0"/>
          </a:p>
        </p:txBody>
      </p:sp>
      <p:sp>
        <p:nvSpPr>
          <p:cNvPr id="13" name="Text 10"/>
          <p:cNvSpPr txBox="1"/>
          <p:nvPr/>
        </p:nvSpPr>
        <p:spPr>
          <a:xfrm>
            <a:off x="777240" y="3922776"/>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4</a:t>
            </a:r>
            <a:endParaRPr lang="en-US" sz="2400" dirty="0"/>
          </a:p>
        </p:txBody>
      </p:sp>
      <p:sp>
        <p:nvSpPr>
          <p:cNvPr id="14" name="Text 11"/>
          <p:cNvSpPr txBox="1"/>
          <p:nvPr/>
        </p:nvSpPr>
        <p:spPr>
          <a:xfrm>
            <a:off x="1371600" y="3922776"/>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Watch as the Scrum Master Approaches Carefully — Boards vs. Projects</a:t>
            </a:r>
            <a:endParaRPr lang="en-US" sz="1700" dirty="0"/>
          </a:p>
        </p:txBody>
      </p:sp>
      <p:sp>
        <p:nvSpPr>
          <p:cNvPr id="15" name="Text 12"/>
          <p:cNvSpPr txBox="1"/>
          <p:nvPr/>
        </p:nvSpPr>
        <p:spPr>
          <a:xfrm>
            <a:off x="777240" y="4636008"/>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5</a:t>
            </a:r>
            <a:endParaRPr lang="en-US" sz="2400" dirty="0"/>
          </a:p>
        </p:txBody>
      </p:sp>
      <p:sp>
        <p:nvSpPr>
          <p:cNvPr id="16" name="Text 13"/>
          <p:cNvSpPr txBox="1"/>
          <p:nvPr/>
        </p:nvSpPr>
        <p:spPr>
          <a:xfrm>
            <a:off x="1371600" y="4636008"/>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The Senior Engineer Defends an Ancient Pipeline — change management</a:t>
            </a:r>
            <a:endParaRPr lang="en-US" sz="1700" dirty="0"/>
          </a:p>
        </p:txBody>
      </p:sp>
      <p:sp>
        <p:nvSpPr>
          <p:cNvPr id="17" name="Text 14"/>
          <p:cNvSpPr txBox="1"/>
          <p:nvPr/>
        </p:nvSpPr>
        <p:spPr>
          <a:xfrm>
            <a:off x="777240" y="5349240"/>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6</a:t>
            </a:r>
            <a:endParaRPr lang="en-US" sz="2400" dirty="0"/>
          </a:p>
        </p:txBody>
      </p:sp>
      <p:sp>
        <p:nvSpPr>
          <p:cNvPr id="18" name="Text 15"/>
          <p:cNvSpPr txBox="1"/>
          <p:nvPr/>
        </p:nvSpPr>
        <p:spPr>
          <a:xfrm>
            <a:off x="1371600" y="5349240"/>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The Watering Hole Nobody Told to Move — the long tail</a:t>
            </a:r>
            <a:endParaRPr lang="en-US" sz="1700" dirty="0"/>
          </a:p>
        </p:txBody>
      </p:sp>
      <p:sp>
        <p:nvSpPr>
          <p:cNvPr id="19" name="Shape 16"/>
          <p:cNvSpPr/>
          <p:nvPr/>
        </p:nvSpPr>
        <p:spPr>
          <a:xfrm>
            <a:off x="7754112" y="1554480"/>
            <a:ext cx="3858768" cy="4434840"/>
          </a:xfrm>
          <a:prstGeom prst="roundRect">
            <a:avLst>
              <a:gd name="adj" fmla="val 2637"/>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0" name="Text 17"/>
          <p:cNvSpPr txBox="1"/>
          <p:nvPr/>
        </p:nvSpPr>
        <p:spPr>
          <a:xfrm>
            <a:off x="8010144" y="1737360"/>
            <a:ext cx="3383280" cy="502920"/>
          </a:xfrm>
          <a:prstGeom prst="rect">
            <a:avLst/>
          </a:prstGeom>
          <a:noFill/>
          <a:ln/>
        </p:spPr>
        <p:txBody>
          <a:bodyPr wrap="square" lIns="0" tIns="0" rIns="0" bIns="0" rtlCol="0" anchor="ctr"/>
          <a:lstStyle/>
          <a:p>
            <a:pPr marL="0" indent="0">
              <a:buNone/>
            </a:pPr>
            <a:r>
              <a:rPr lang="en-US" sz="1900" b="1" dirty="0">
                <a:solidFill>
                  <a:srgbClr val="F5F5F0"/>
                </a:solidFill>
                <a:latin typeface="Cambria" pitchFamily="34" charset="0"/>
                <a:ea typeface="Cambria" pitchFamily="34" charset="-122"/>
                <a:cs typeface="Cambria" pitchFamily="34" charset="-120"/>
              </a:rPr>
              <a:t>Trails We’re Not Hiking</a:t>
            </a:r>
            <a:endParaRPr lang="en-US" sz="1900" dirty="0"/>
          </a:p>
        </p:txBody>
      </p:sp>
      <p:sp>
        <p:nvSpPr>
          <p:cNvPr id="21" name="Text 18"/>
          <p:cNvSpPr txBox="1"/>
          <p:nvPr/>
        </p:nvSpPr>
        <p:spPr>
          <a:xfrm>
            <a:off x="8010144" y="2331720"/>
            <a:ext cx="3383280" cy="3520440"/>
          </a:xfrm>
          <a:prstGeom prst="rect">
            <a:avLst/>
          </a:prstGeom>
          <a:noFill/>
          <a:ln/>
        </p:spPr>
        <p:txBody>
          <a:bodyPr wrap="square" lIns="0" tIns="0" rIns="0" bIns="0" rtlCol="0" anchor="ctr"/>
          <a:lstStyle/>
          <a:p>
            <a:pPr>
              <a:lnSpc>
                <a:spcPct val="115000"/>
              </a:lnSpc>
              <a:buSzPct val="100000"/>
            </a:pPr>
            <a:r>
              <a:rPr lang="en-US" sz="1500" b="1" dirty="0">
                <a:solidFill>
                  <a:srgbClr val="F5F5F0"/>
                </a:solidFill>
                <a:latin typeface="Calibri" pitchFamily="34" charset="0"/>
                <a:ea typeface="Calibri" pitchFamily="34" charset="-122"/>
                <a:cs typeface="Calibri" pitchFamily="34" charset="-120"/>
              </a:rPr>
              <a:t>Non-goal: comparing GitHub with every competing platform.</a:t>
            </a:r>
          </a:p>
          <a:p>
            <a:pPr>
              <a:lnSpc>
                <a:spcPct val="115000"/>
              </a:lnSpc>
              <a:buSzPct val="100000"/>
            </a:pPr>
            <a:endParaRPr lang="en-US" sz="1500" b="1" i="1" dirty="0">
              <a:solidFill>
                <a:srgbClr val="F5F5F0"/>
              </a:solidFill>
              <a:latin typeface="Calibri" pitchFamily="34" charset="0"/>
              <a:ea typeface="Calibri" pitchFamily="34" charset="-122"/>
              <a:cs typeface="Calibri" pitchFamily="34" charset="-120"/>
            </a:endParaRPr>
          </a:p>
          <a:p>
            <a:pPr>
              <a:lnSpc>
                <a:spcPct val="115000"/>
              </a:lnSpc>
              <a:buSzPct val="100000"/>
            </a:pPr>
            <a:endParaRPr lang="en-US" sz="1500" b="1" i="1" dirty="0">
              <a:solidFill>
                <a:srgbClr val="F5F5F0"/>
              </a:solidFill>
              <a:latin typeface="Calibri" pitchFamily="34" charset="0"/>
              <a:ea typeface="Calibri" pitchFamily="34" charset="-122"/>
              <a:cs typeface="Calibri" pitchFamily="34" charset="-120"/>
            </a:endParaRPr>
          </a:p>
          <a:p>
            <a:pPr>
              <a:lnSpc>
                <a:spcPct val="115000"/>
              </a:lnSpc>
              <a:buSzPct val="100000"/>
            </a:pPr>
            <a:r>
              <a:rPr lang="en-US" sz="1500" i="1" dirty="0">
                <a:solidFill>
                  <a:srgbClr val="F5F5F0"/>
                </a:solidFill>
                <a:latin typeface="Calibri" pitchFamily="34" charset="0"/>
                <a:ea typeface="Calibri" pitchFamily="34" charset="-122"/>
                <a:cs typeface="Calibri" pitchFamily="34" charset="-120"/>
              </a:rPr>
              <a:t>Good news for fellow travelers: much of this trail works no matter which CI/CD platform you’re hiking toward.</a:t>
            </a:r>
            <a:endParaRPr lang="en-US" sz="1500" dirty="0"/>
          </a:p>
        </p:txBody>
      </p:sp>
      <p:sp>
        <p:nvSpPr>
          <p:cNvPr id="22" name="Slide Number Placeholder"/>
          <p:cNvSpPr>
            <a:spLocks noGrp="1"/>
          </p:cNvSpPr>
          <p:nvPr>
            <p:ph type="sldNum" sz="quarter" idx="10"/>
          </p:nvPr>
        </p:nvSpPr>
        <p:spPr/>
        <p:txBody>
          <a:bodyPr/>
          <a:lstStyle/>
          <a:p>
            <a:fld id="{BCB632DE-6AD4-40F1-944C-28C0E9BF62DC}" type="slidenum">
              <a:rPr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1</a:t>
            </a:r>
            <a:endParaRPr lang="en-US" sz="1700" dirty="0"/>
          </a:p>
        </p:txBody>
      </p:sp>
      <p:pic>
        <p:nvPicPr>
          <p:cNvPr id="4" name="Image 0" descr="/home/claude/pptx-build/assets/icons/FaFeatherAlt-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Why Leave the Herd</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E0B85C"/>
                </a:solidFill>
                <a:latin typeface="Calibri" pitchFamily="34" charset="0"/>
                <a:ea typeface="Calibri" pitchFamily="34" charset="-122"/>
                <a:cs typeface="Calibri" pitchFamily="34" charset="-120"/>
              </a:rPr>
              <a:t>Across the enterprise, teams gather at the edge of a familiar ecosystem and prepare to move toward a repository that has learned to act on its own.</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4</a:t>
            </a:fld>
            <a:endParaRPr lang="en-US">
              <a:solidFill>
                <a:srgbClr val="E0B85C"/>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sp>
        <p:nvSpPr>
          <p:cNvPr id="4" name="Text 1"/>
          <p:cNvSpPr txBox="1"/>
          <p:nvPr/>
        </p:nvSpPr>
        <p:spPr>
          <a:xfrm>
            <a:off x="1234440" y="420624"/>
            <a:ext cx="9875520" cy="320040"/>
          </a:xfrm>
          <a:prstGeom prst="rect">
            <a:avLst/>
          </a:prstGeom>
          <a:noFill/>
          <a:ln/>
        </p:spPr>
        <p:txBody>
          <a:bodyPr wrap="square" lIns="0" tIns="0" rIns="0" bIns="0" rtlCol="0" anchor="ctr"/>
          <a:lstStyle/>
          <a:p>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31520"/>
            <a:ext cx="10469880" cy="566928"/>
          </a:xfrm>
          <a:prstGeom prst="rect">
            <a:avLst/>
          </a:prstGeom>
          <a:noFill/>
          <a:ln/>
        </p:spPr>
        <p:txBody>
          <a:bodyPr wrap="square" lIns="0" tIns="0" rIns="0" bIns="0" rtlCol="0" anchor="ctr"/>
          <a:lstStyle/>
          <a:p>
            <a:r>
              <a:rPr lang="en-US" sz="3200" b="1" dirty="0">
                <a:solidFill>
                  <a:srgbClr val="1F3D2C"/>
                </a:solidFill>
                <a:latin typeface="Cambria" pitchFamily="34" charset="0"/>
                <a:ea typeface="Cambria" pitchFamily="34" charset="-122"/>
                <a:cs typeface="Cambria" pitchFamily="34" charset="-120"/>
              </a:rPr>
              <a:t>Why Repository Location Matters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807384260"/>
              </p:ext>
            </p:extLst>
          </p:nvPr>
        </p:nvGraphicFramePr>
        <p:xfrm>
          <a:off x="548640" y="2331720"/>
          <a:ext cx="11064240" cy="3108960"/>
        </p:xfrm>
        <a:graphic>
          <a:graphicData uri="http://schemas.openxmlformats.org/drawingml/2006/table">
            <a:tbl>
              <a:tblPr/>
              <a:tblGrid>
                <a:gridCol w="233172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621792">
                <a:tc>
                  <a:txBody>
                    <a:bodyPr/>
                    <a:lstStyle/>
                    <a:p>
                      <a:pPr marL="0" indent="0">
                        <a:lnSpc>
                          <a:spcPct val="92000"/>
                        </a:lnSpc>
                        <a:buNone/>
                      </a:pPr>
                      <a:r>
                        <a:rPr lang="en-US" sz="1400" b="1">
                          <a:solidFill>
                            <a:srgbClr val="F5F5F0"/>
                          </a:solidFill>
                          <a:latin typeface="Calibri"/>
                        </a:rPr>
                        <a:t>Capability</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lnSpc>
                          <a:spcPct val="92000"/>
                        </a:lnSpc>
                        <a:buNone/>
                      </a:pPr>
                      <a:r>
                        <a:rPr lang="en-US" sz="1400" b="1" dirty="0">
                          <a:solidFill>
                            <a:srgbClr val="F5F5F0"/>
                          </a:solidFill>
                          <a:latin typeface="Calibri"/>
                        </a:rPr>
                        <a:t>GitHub </a:t>
                      </a:r>
                      <a:endParaRPr lang="en-US" sz="1400" dirty="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lnSpc>
                          <a:spcPct val="92000"/>
                        </a:lnSpc>
                        <a:buNone/>
                      </a:pPr>
                      <a:r>
                        <a:rPr lang="en-US" sz="1400" b="1" dirty="0">
                          <a:solidFill>
                            <a:srgbClr val="F5F5F0"/>
                          </a:solidFill>
                          <a:latin typeface="Calibri"/>
                        </a:rPr>
                        <a:t>Azure DevOps</a:t>
                      </a:r>
                      <a:endParaRPr lang="en-US" sz="1400" dirty="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extLst>
                  <a:ext uri="{0D108BD9-81ED-4DB2-BD59-A6C34878D82A}">
                    <a16:rowId xmlns:a16="http://schemas.microsoft.com/office/drawing/2014/main" val="10000"/>
                  </a:ext>
                </a:extLst>
              </a:tr>
              <a:tr h="621792">
                <a:tc>
                  <a:txBody>
                    <a:bodyPr/>
                    <a:lstStyle/>
                    <a:p>
                      <a:pPr marL="0" indent="0">
                        <a:lnSpc>
                          <a:spcPct val="92000"/>
                        </a:lnSpc>
                        <a:buNone/>
                      </a:pPr>
                      <a:r>
                        <a:rPr lang="en-US" sz="1400" b="1">
                          <a:solidFill>
                            <a:srgbClr val="1F3D2C"/>
                          </a:solidFill>
                          <a:latin typeface="Cambria"/>
                        </a:rPr>
                        <a:t>Autonomous coding agents</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Cloud agent changes code and opens pull requests</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Azure Boards can trigger it, but output must be GitHub-hosted</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21792">
                <a:tc>
                  <a:txBody>
                    <a:bodyPr/>
                    <a:lstStyle/>
                    <a:p>
                      <a:pPr marL="0" indent="0">
                        <a:lnSpc>
                          <a:spcPct val="92000"/>
                        </a:lnSpc>
                        <a:buNone/>
                      </a:pPr>
                      <a:r>
                        <a:rPr lang="en-US" sz="1400" b="1">
                          <a:solidFill>
                            <a:srgbClr val="1F3D2C"/>
                          </a:solidFill>
                          <a:latin typeface="Cambria"/>
                        </a:rPr>
                        <a:t>Security remediation</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lang="en-US" sz="1400" b="0">
                          <a:solidFill>
                            <a:srgbClr val="2B2B2B"/>
                          </a:solidFill>
                          <a:latin typeface="Calibri"/>
                        </a:rPr>
                        <a:t>Autofix GA; agentic Autofix in public preview</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lang="en-US" sz="1400" b="0">
                          <a:solidFill>
                            <a:srgbClr val="2B2B2B"/>
                          </a:solidFill>
                          <a:latin typeface="Calibri"/>
                        </a:rPr>
                        <a:t>Autofix in limited preview through GitHub Code Security</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3"/>
                  </a:ext>
                </a:extLst>
              </a:tr>
              <a:tr h="621792">
                <a:tc>
                  <a:txBody>
                    <a:bodyPr/>
                    <a:lstStyle/>
                    <a:p>
                      <a:pPr marL="0" indent="0">
                        <a:lnSpc>
                          <a:spcPct val="92000"/>
                        </a:lnSpc>
                        <a:buNone/>
                      </a:pPr>
                      <a:r>
                        <a:rPr lang="en-US" sz="1400" b="1">
                          <a:solidFill>
                            <a:srgbClr val="1F3D2C"/>
                          </a:solidFill>
                          <a:latin typeface="Cambria"/>
                        </a:rPr>
                        <a:t>Agentic code review</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Agentic Copilot code review is GA</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Copilot Code Review for Azure Repos is in public preview</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21792">
                <a:tc>
                  <a:txBody>
                    <a:bodyPr/>
                    <a:lstStyle/>
                    <a:p>
                      <a:pPr marL="0" indent="0">
                        <a:lnSpc>
                          <a:spcPct val="92000"/>
                        </a:lnSpc>
                        <a:buNone/>
                      </a:pPr>
                      <a:r>
                        <a:rPr sz="1400" b="1">
                          <a:solidFill>
                            <a:srgbClr val="1F3D2C"/>
                          </a:solidFill>
                          <a:latin typeface="Cambria"/>
                        </a:rPr>
                        <a:t>Repository hosting requirement</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sz="1400" b="0">
                          <a:solidFill>
                            <a:srgbClr val="2B2B2B"/>
                          </a:solidFill>
                          <a:latin typeface="Calibri"/>
                        </a:rPr>
                        <a:t>Copilot cloud agent requires a GitHub-hosted repository</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sz="1400" b="0">
                          <a:solidFill>
                            <a:srgbClr val="2B2B2B"/>
                          </a:solidFill>
                          <a:latin typeface="Calibri"/>
                        </a:rPr>
                        <a:t>Review, Autofix, and MCP support Azure Repos; cloud agent does not</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55000397"/>
                  </a:ext>
                </a:extLst>
              </a:tr>
            </a:tbl>
          </a:graphicData>
        </a:graphic>
      </p:graphicFrame>
      <p:sp>
        <p:nvSpPr>
          <p:cNvPr id="6" name="Shape 3"/>
          <p:cNvSpPr/>
          <p:nvPr/>
        </p:nvSpPr>
        <p:spPr>
          <a:xfrm>
            <a:off x="548640" y="5943600"/>
            <a:ext cx="11064240" cy="64008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wrap="square" lIns="256032" tIns="54864" rIns="256032" bIns="54864" anchor="ctr"/>
          <a:lstStyle/>
          <a:p>
            <a:pPr algn="l"/>
            <a:r>
              <a:rPr sz="1250" b="1" spc="120">
                <a:solidFill>
                  <a:srgbClr val="C1440E"/>
                </a:solidFill>
                <a:latin typeface="Calibri"/>
              </a:rPr>
              <a:t>VERIFY </a:t>
            </a:r>
            <a:r>
              <a:rPr sz="1500" b="0">
                <a:solidFill>
                  <a:srgbClr val="2B2B2B"/>
                </a:solidFill>
                <a:latin typeface="Calibri"/>
              </a:rPr>
              <a:t>Capability status, licensing and repository requirements change quickly — verify against the target tenant before planning around any single feature.</a:t>
            </a:r>
          </a:p>
        </p:txBody>
      </p:sp>
      <p:pic>
        <p:nvPicPr>
          <p:cNvPr id="12" name="Image 0" descr="/home/claude/pptx-build/assets/icons/FaRobot-FFFFFF-200.png">
            <a:extLst>
              <a:ext uri="{FF2B5EF4-FFF2-40B4-BE49-F238E27FC236}">
                <a16:creationId xmlns:a16="http://schemas.microsoft.com/office/drawing/2014/main" id="{C7D30FB2-0922-A6D6-BCA5-6BA66AED0F45}"/>
              </a:ext>
            </a:extLst>
          </p:cNvPr>
          <p:cNvPicPr>
            <a:picLocks noChangeAspect="1"/>
          </p:cNvPicPr>
          <p:nvPr/>
        </p:nvPicPr>
        <p:blipFill>
          <a:blip r:embed="rId3"/>
          <a:stretch>
            <a:fillRect/>
          </a:stretch>
        </p:blipFill>
        <p:spPr>
          <a:xfrm>
            <a:off x="685800" y="594360"/>
            <a:ext cx="292608" cy="292608"/>
          </a:xfrm>
          <a:prstGeom prst="rect">
            <a:avLst/>
          </a:prstGeom>
        </p:spPr>
      </p:pic>
      <p:sp>
        <p:nvSpPr>
          <p:cNvPr id="13" name="Lead"/>
          <p:cNvSpPr txBox="1"/>
          <p:nvPr/>
        </p:nvSpPr>
        <p:spPr>
          <a:xfrm>
            <a:off x="548640" y="1444752"/>
            <a:ext cx="11064240" cy="731520"/>
          </a:xfrm>
          <a:prstGeom prst="rect">
            <a:avLst/>
          </a:prstGeom>
          <a:noFill/>
        </p:spPr>
        <p:txBody>
          <a:bodyPr wrap="square" lIns="0" tIns="0" rIns="0" bIns="0">
            <a:spAutoFit/>
          </a:bodyPr>
          <a:lstStyle/>
          <a:p>
            <a:r>
              <a:rPr sz="1800" b="1">
                <a:solidFill>
                  <a:srgbClr val="2B2B2B"/>
                </a:solidFill>
                <a:latin typeface="Calibri"/>
              </a:rPr>
              <a:t>Most agentic Copilot features ship on GitHub first. </a:t>
            </a:r>
            <a:r>
              <a:rPr sz="1800" b="0">
                <a:solidFill>
                  <a:srgbClr val="2B2B2B"/>
                </a:solidFill>
                <a:latin typeface="Calibri"/>
              </a:rPr>
              <a:t>Azure DevOps keeps gaining AI features, but where the repository lives still decides which workflows run natively.</a:t>
            </a:r>
          </a:p>
        </p:txBody>
      </p:sp>
      <p:sp>
        <p:nvSpPr>
          <p:cNvPr id="14" name="Slide Number Placeholder"/>
          <p:cNvSpPr>
            <a:spLocks noGrp="1"/>
          </p:cNvSpPr>
          <p:nvPr>
            <p:ph type="sldNum" sz="quarter" idx="10"/>
          </p:nvPr>
        </p:nvSpPr>
        <p:spPr/>
        <p:txBody>
          <a:bodyPr/>
          <a:lstStyle/>
          <a:p>
            <a:fld id="{BCB632DE-6AD4-40F1-944C-28C0E9BF62DC}" type="slidenum">
              <a:rPr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MapSign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MCP Changed the Boundary, Not the Decision</a:t>
            </a:r>
            <a:endParaRPr lang="en-US" sz="3200" dirty="0"/>
          </a:p>
        </p:txBody>
      </p:sp>
      <p:sp>
        <p:nvSpPr>
          <p:cNvPr id="6" name="Shape 3"/>
          <p:cNvSpPr/>
          <p:nvPr/>
        </p:nvSpPr>
        <p:spPr>
          <a:xfrm>
            <a:off x="822960" y="5504688"/>
            <a:ext cx="10561320" cy="0"/>
          </a:xfrm>
          <a:prstGeom prst="line">
            <a:avLst/>
          </a:prstGeom>
          <a:noFill/>
          <a:ln w="19050">
            <a:solidFill>
              <a:srgbClr val="DDD8CC"/>
            </a:solidFill>
            <a:prstDash val="solid"/>
          </a:ln>
        </p:spPr>
        <p:txBody>
          <a:bodyPr/>
          <a:lstStyle/>
          <a:p>
            <a:endParaRPr lang="en-US"/>
          </a:p>
        </p:txBody>
      </p:sp>
      <p:sp>
        <p:nvSpPr>
          <p:cNvPr id="22" name="Text 19"/>
          <p:cNvSpPr txBox="1"/>
          <p:nvPr/>
        </p:nvSpPr>
        <p:spPr>
          <a:xfrm>
            <a:off x="822960" y="1325880"/>
            <a:ext cx="10561320" cy="566928"/>
          </a:xfrm>
          <a:prstGeom prst="rect">
            <a:avLst/>
          </a:prstGeom>
          <a:noFill/>
          <a:ln/>
        </p:spPr>
        <p:txBody>
          <a:bodyPr wrap="square" lIns="0" tIns="0" rIns="0" bIns="0" rtlCol="0" anchor="ctr"/>
          <a:lstStyle/>
          <a:p>
            <a:pPr marL="0" indent="0" algn="ctr">
              <a:buNone/>
            </a:pPr>
            <a:r>
              <a:rPr lang="en-US" sz="1800" i="0" dirty="0">
                <a:solidFill>
                  <a:srgbClr val="1F3D2C"/>
                </a:solidFill>
              </a:rPr>
              <a:t>MCP reduces the need for custom point-to-point integrations, but repository-native development and governance capabilities still depend on where the code resides.</a:t>
            </a:r>
            <a:endParaRPr lang="en-US" sz="1900" dirty="0"/>
          </a:p>
        </p:txBody>
      </p:sp>
      <p:sp>
        <p:nvSpPr>
          <p:cNvPr id="23" name="Shape 20"/>
          <p:cNvSpPr/>
          <p:nvPr/>
        </p:nvSpPr>
        <p:spPr>
          <a:xfrm>
            <a:off x="548640" y="2103120"/>
            <a:ext cx="5440680" cy="3200400"/>
          </a:xfrm>
          <a:prstGeom prst="roundRect">
            <a:avLst>
              <a:gd name="adj" fmla="val 4615"/>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4" name="Text 21"/>
          <p:cNvSpPr txBox="1"/>
          <p:nvPr/>
        </p:nvSpPr>
        <p:spPr>
          <a:xfrm>
            <a:off x="822960" y="2313432"/>
            <a:ext cx="4892040" cy="384048"/>
          </a:xfrm>
          <a:prstGeom prst="rect">
            <a:avLst/>
          </a:prstGeom>
          <a:noFill/>
          <a:ln/>
        </p:spPr>
        <p:txBody>
          <a:bodyPr wrap="square" lIns="0" tIns="0" rIns="0" bIns="0" rtlCol="0" anchor="ctr"/>
          <a:lstStyle/>
          <a:p>
            <a:pPr marL="0" indent="0">
              <a:buNone/>
            </a:pPr>
            <a:r>
              <a:rPr lang="en-US" sz="2000" b="1">
                <a:solidFill>
                  <a:srgbClr val="1F3D2C"/>
                </a:solidFill>
                <a:latin typeface="Cambria"/>
              </a:rPr>
              <a:t>What MCP changes</a:t>
            </a:r>
            <a:endParaRPr lang="en-US" sz="1600" dirty="0"/>
          </a:p>
        </p:txBody>
      </p:sp>
      <p:sp>
        <p:nvSpPr>
          <p:cNvPr id="25" name="Text 22"/>
          <p:cNvSpPr txBox="1"/>
          <p:nvPr/>
        </p:nvSpPr>
        <p:spPr>
          <a:xfrm>
            <a:off x="822960" y="2816352"/>
            <a:ext cx="4892040" cy="2148840"/>
          </a:xfrm>
          <a:prstGeom prst="rect">
            <a:avLst/>
          </a:prstGeom>
          <a:noFill/>
          <a:ln/>
        </p:spPr>
        <p:txBody>
          <a:bodyPr wrap="square" lIns="0" tIns="0" rIns="0" bIns="0" rtlCol="0" anchor="t"/>
          <a:lstStyle/>
          <a:p>
            <a:pPr marL="342900" indent="-342900">
              <a:lnSpc>
                <a:spcPct val="108000"/>
              </a:lnSpc>
              <a:spcAft>
                <a:spcPts val="1000"/>
              </a:spcAft>
              <a:buSzPct val="100000"/>
            </a:pPr>
            <a:r>
              <a:rPr lang="en-US" sz="1700" dirty="0">
                <a:solidFill>
                  <a:srgbClr val="2B2B2B"/>
                </a:solidFill>
                <a:latin typeface="Calibri"/>
              </a:rPr>
              <a:t>•  Agents can reach more enterprise systems.</a:t>
            </a:r>
            <a:endParaRPr lang="en-US" sz="1350" dirty="0"/>
          </a:p>
          <a:p>
            <a:pPr>
              <a:lnSpc>
                <a:spcPct val="108000"/>
              </a:lnSpc>
              <a:spcAft>
                <a:spcPts val="1000"/>
              </a:spcAft>
            </a:pPr>
            <a:r>
              <a:rPr lang="en-US" sz="1700" dirty="0">
                <a:solidFill>
                  <a:srgbClr val="2B2B2B"/>
                </a:solidFill>
                <a:latin typeface="Calibri"/>
              </a:rPr>
              <a:t>•  Cross-tool workflows require less bespoke integration.</a:t>
            </a:r>
          </a:p>
          <a:p>
            <a:pPr>
              <a:lnSpc>
                <a:spcPct val="108000"/>
              </a:lnSpc>
              <a:spcAft>
                <a:spcPts val="1000"/>
              </a:spcAft>
            </a:pPr>
            <a:r>
              <a:rPr lang="en-US" sz="1700" dirty="0">
                <a:solidFill>
                  <a:srgbClr val="2B2B2B"/>
                </a:solidFill>
                <a:latin typeface="Calibri"/>
              </a:rPr>
              <a:t>•  Platform boundaries are more permeable.</a:t>
            </a:r>
          </a:p>
        </p:txBody>
      </p:sp>
      <p:sp>
        <p:nvSpPr>
          <p:cNvPr id="26" name="Shape 23"/>
          <p:cNvSpPr/>
          <p:nvPr/>
        </p:nvSpPr>
        <p:spPr>
          <a:xfrm>
            <a:off x="6199632" y="2103120"/>
            <a:ext cx="5440680" cy="3200400"/>
          </a:xfrm>
          <a:prstGeom prst="roundRect">
            <a:avLst>
              <a:gd name="adj" fmla="val 4615"/>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7" name="Text 24"/>
          <p:cNvSpPr txBox="1"/>
          <p:nvPr/>
        </p:nvSpPr>
        <p:spPr>
          <a:xfrm>
            <a:off x="6473952" y="2313432"/>
            <a:ext cx="4892040" cy="384048"/>
          </a:xfrm>
          <a:prstGeom prst="rect">
            <a:avLst/>
          </a:prstGeom>
          <a:noFill/>
          <a:ln/>
        </p:spPr>
        <p:txBody>
          <a:bodyPr wrap="square" lIns="0" tIns="0" rIns="0" bIns="0" rtlCol="0" anchor="ctr"/>
          <a:lstStyle/>
          <a:p>
            <a:pPr marL="0" indent="0">
              <a:buNone/>
            </a:pPr>
            <a:r>
              <a:rPr lang="en-US" sz="2000" b="1">
                <a:solidFill>
                  <a:srgbClr val="F5F5F0"/>
                </a:solidFill>
                <a:latin typeface="Cambria"/>
              </a:rPr>
              <a:t>What MCP does not change</a:t>
            </a:r>
            <a:endParaRPr lang="en-US" sz="1600" dirty="0"/>
          </a:p>
        </p:txBody>
      </p:sp>
      <p:sp>
        <p:nvSpPr>
          <p:cNvPr id="28" name="Text 25"/>
          <p:cNvSpPr txBox="1"/>
          <p:nvPr/>
        </p:nvSpPr>
        <p:spPr>
          <a:xfrm>
            <a:off x="6473952" y="2816352"/>
            <a:ext cx="4892040" cy="2148840"/>
          </a:xfrm>
          <a:prstGeom prst="rect">
            <a:avLst/>
          </a:prstGeom>
          <a:noFill/>
          <a:ln/>
        </p:spPr>
        <p:txBody>
          <a:bodyPr wrap="square" lIns="0" tIns="0" rIns="0" bIns="0" rtlCol="0" anchor="t"/>
          <a:lstStyle/>
          <a:p>
            <a:pPr marL="0" indent="0">
              <a:lnSpc>
                <a:spcPct val="108000"/>
              </a:lnSpc>
              <a:spcAft>
                <a:spcPts val="600"/>
              </a:spcAft>
              <a:buNone/>
            </a:pPr>
            <a:r>
              <a:rPr lang="en-US" sz="1600" dirty="0">
                <a:solidFill>
                  <a:srgbClr val="F5F5F0"/>
                </a:solidFill>
                <a:latin typeface="Calibri"/>
              </a:rPr>
              <a:t>•  Where pull-request automation runs.</a:t>
            </a:r>
            <a:endParaRPr lang="en-US" sz="1300" dirty="0"/>
          </a:p>
          <a:p>
            <a:pPr>
              <a:lnSpc>
                <a:spcPct val="108000"/>
              </a:lnSpc>
              <a:spcAft>
                <a:spcPts val="600"/>
              </a:spcAft>
            </a:pPr>
            <a:r>
              <a:rPr lang="en-US" sz="1600" dirty="0">
                <a:solidFill>
                  <a:srgbClr val="F5F5F0"/>
                </a:solidFill>
                <a:latin typeface="Calibri"/>
              </a:rPr>
              <a:t>•  Where repository security analysis runs.</a:t>
            </a:r>
          </a:p>
          <a:p>
            <a:pPr>
              <a:lnSpc>
                <a:spcPct val="108000"/>
              </a:lnSpc>
              <a:spcAft>
                <a:spcPts val="600"/>
              </a:spcAft>
            </a:pPr>
            <a:r>
              <a:rPr lang="en-US" sz="1600" dirty="0">
                <a:solidFill>
                  <a:srgbClr val="F5F5F0"/>
                </a:solidFill>
                <a:latin typeface="Calibri"/>
              </a:rPr>
              <a:t>•  Which policies can be enforced natively.</a:t>
            </a:r>
          </a:p>
          <a:p>
            <a:pPr>
              <a:lnSpc>
                <a:spcPct val="108000"/>
              </a:lnSpc>
              <a:spcAft>
                <a:spcPts val="600"/>
              </a:spcAft>
            </a:pPr>
            <a:r>
              <a:rPr lang="en-US" sz="1600" dirty="0">
                <a:solidFill>
                  <a:srgbClr val="F5F5F0"/>
                </a:solidFill>
                <a:latin typeface="Calibri"/>
              </a:rPr>
              <a:t>•  Which platform owns repository governance.</a:t>
            </a:r>
          </a:p>
          <a:p>
            <a:pPr>
              <a:lnSpc>
                <a:spcPct val="108000"/>
              </a:lnSpc>
              <a:spcAft>
                <a:spcPts val="600"/>
              </a:spcAft>
            </a:pPr>
            <a:r>
              <a:rPr lang="en-US" sz="1600" dirty="0">
                <a:solidFill>
                  <a:srgbClr val="F5F5F0"/>
                </a:solidFill>
                <a:latin typeface="Calibri"/>
              </a:rPr>
              <a:t>•  Where code-centric agent workflows execute.</a:t>
            </a:r>
          </a:p>
        </p:txBody>
      </p:sp>
      <p:sp>
        <p:nvSpPr>
          <p:cNvPr id="31" name="Shape 15">
            <a:extLst>
              <a:ext uri="{FF2B5EF4-FFF2-40B4-BE49-F238E27FC236}">
                <a16:creationId xmlns:a16="http://schemas.microsoft.com/office/drawing/2014/main" id="{401AB940-2564-8BDF-3229-16D3A54BCA41}"/>
              </a:ext>
            </a:extLst>
          </p:cNvPr>
          <p:cNvSpPr/>
          <p:nvPr/>
        </p:nvSpPr>
        <p:spPr>
          <a:xfrm>
            <a:off x="548640" y="5756147"/>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33" name="Text 16">
            <a:extLst>
              <a:ext uri="{FF2B5EF4-FFF2-40B4-BE49-F238E27FC236}">
                <a16:creationId xmlns:a16="http://schemas.microsoft.com/office/drawing/2014/main" id="{9A7AECBA-1DA9-B352-68CE-3A2D1E3E15FE}"/>
              </a:ext>
            </a:extLst>
          </p:cNvPr>
          <p:cNvSpPr txBox="1"/>
          <p:nvPr/>
        </p:nvSpPr>
        <p:spPr>
          <a:xfrm>
            <a:off x="548640" y="5756147"/>
            <a:ext cx="11064240" cy="86868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The platform decision did not disappear. It merely acquired more adapters.</a:t>
            </a:r>
          </a:p>
        </p:txBody>
      </p:sp>
      <p:sp>
        <p:nvSpPr>
          <p:cNvPr id="34" name="Slide Number Placeholder"/>
          <p:cNvSpPr>
            <a:spLocks noGrp="1"/>
          </p:cNvSpPr>
          <p:nvPr>
            <p:ph type="sldNum" sz="quarter" idx="10"/>
          </p:nvPr>
        </p:nvSpPr>
        <p:spPr/>
        <p:txBody>
          <a:bodyPr/>
          <a:lstStyle/>
          <a:p>
            <a:fld id="{BCB632DE-6AD4-40F1-944C-28C0E9BF62DC}" type="slidenum">
              <a:rPr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User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Non-AI Reasons for GitHub</a:t>
            </a:r>
            <a:endParaRPr lang="en-US" sz="3200" dirty="0"/>
          </a:p>
        </p:txBody>
      </p:sp>
      <p:sp>
        <p:nvSpPr>
          <p:cNvPr id="6" name="Shape 3"/>
          <p:cNvSpPr/>
          <p:nvPr/>
        </p:nvSpPr>
        <p:spPr>
          <a:xfrm>
            <a:off x="548640" y="1600200"/>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822960" y="1746504"/>
            <a:ext cx="566928" cy="566928"/>
          </a:xfrm>
          <a:prstGeom prst="ellipse">
            <a:avLst/>
          </a:prstGeom>
          <a:solidFill>
            <a:srgbClr val="C1440E"/>
          </a:solidFill>
          <a:ln/>
        </p:spPr>
        <p:txBody>
          <a:bodyPr/>
          <a:lstStyle/>
          <a:p>
            <a:endParaRPr lang="en-US"/>
          </a:p>
        </p:txBody>
      </p:sp>
      <p:pic>
        <p:nvPicPr>
          <p:cNvPr id="8" name="Image 1" descr="/home/claude/pptx-build/assets/icons/FaUsers-FFFFFF-200.png"/>
          <p:cNvPicPr>
            <a:picLocks noChangeAspect="1"/>
          </p:cNvPicPr>
          <p:nvPr/>
        </p:nvPicPr>
        <p:blipFill>
          <a:blip r:embed="rId3"/>
          <a:stretch>
            <a:fillRect/>
          </a:stretch>
        </p:blipFill>
        <p:spPr>
          <a:xfrm>
            <a:off x="960120" y="1883664"/>
            <a:ext cx="292608" cy="292608"/>
          </a:xfrm>
          <a:prstGeom prst="rect">
            <a:avLst/>
          </a:prstGeom>
        </p:spPr>
      </p:pic>
      <p:sp>
        <p:nvSpPr>
          <p:cNvPr id="9" name="Text 5"/>
          <p:cNvSpPr txBox="1"/>
          <p:nvPr/>
        </p:nvSpPr>
        <p:spPr>
          <a:xfrm>
            <a:off x="1600200" y="1673352"/>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180M+ developers already on GitHub</a:t>
            </a:r>
            <a:endParaRPr lang="en-US" sz="1650" dirty="0"/>
          </a:p>
        </p:txBody>
      </p:sp>
      <p:sp>
        <p:nvSpPr>
          <p:cNvPr id="10" name="Text 6"/>
          <p:cNvSpPr txBox="1"/>
          <p:nvPr/>
        </p:nvSpPr>
        <p:spPr>
          <a:xfrm>
            <a:off x="5029200" y="1673352"/>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The ecosystem is already there.</a:t>
            </a:r>
            <a:endParaRPr lang="en-US" sz="1400" dirty="0"/>
          </a:p>
        </p:txBody>
      </p:sp>
      <p:sp>
        <p:nvSpPr>
          <p:cNvPr id="11" name="Shape 7"/>
          <p:cNvSpPr/>
          <p:nvPr/>
        </p:nvSpPr>
        <p:spPr>
          <a:xfrm>
            <a:off x="548640" y="2532888"/>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8"/>
          <p:cNvSpPr/>
          <p:nvPr/>
        </p:nvSpPr>
        <p:spPr>
          <a:xfrm>
            <a:off x="822960" y="2679192"/>
            <a:ext cx="566928" cy="566928"/>
          </a:xfrm>
          <a:prstGeom prst="ellipse">
            <a:avLst/>
          </a:prstGeom>
          <a:solidFill>
            <a:srgbClr val="C1440E"/>
          </a:solidFill>
          <a:ln/>
        </p:spPr>
        <p:txBody>
          <a:bodyPr/>
          <a:lstStyle/>
          <a:p>
            <a:endParaRPr lang="en-US"/>
          </a:p>
        </p:txBody>
      </p:sp>
      <p:pic>
        <p:nvPicPr>
          <p:cNvPr id="13" name="Image 2" descr="/home/claude/pptx-build/assets/icons/FaCubes-FFFFFF-200.png"/>
          <p:cNvPicPr>
            <a:picLocks noChangeAspect="1"/>
          </p:cNvPicPr>
          <p:nvPr/>
        </p:nvPicPr>
        <p:blipFill>
          <a:blip r:embed="rId4"/>
          <a:stretch>
            <a:fillRect/>
          </a:stretch>
        </p:blipFill>
        <p:spPr>
          <a:xfrm>
            <a:off x="960120" y="2816352"/>
            <a:ext cx="292608" cy="292608"/>
          </a:xfrm>
          <a:prstGeom prst="rect">
            <a:avLst/>
          </a:prstGeom>
        </p:spPr>
      </p:pic>
      <p:sp>
        <p:nvSpPr>
          <p:cNvPr id="14" name="Text 9"/>
          <p:cNvSpPr txBox="1"/>
          <p:nvPr/>
        </p:nvSpPr>
        <p:spPr>
          <a:xfrm>
            <a:off x="1600200" y="2606040"/>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Large public Actions ecosystem and marketplace</a:t>
            </a:r>
            <a:endParaRPr lang="en-US" sz="1650" dirty="0"/>
          </a:p>
        </p:txBody>
      </p:sp>
      <p:sp>
        <p:nvSpPr>
          <p:cNvPr id="15" name="Text 10"/>
          <p:cNvSpPr txBox="1"/>
          <p:nvPr/>
        </p:nvSpPr>
        <p:spPr>
          <a:xfrm>
            <a:off x="5029200" y="2606040"/>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A far bigger marketplace than Azure Pipelines’ task catalogue.</a:t>
            </a:r>
            <a:endParaRPr lang="en-US" sz="1400" dirty="0"/>
          </a:p>
        </p:txBody>
      </p:sp>
      <p:sp>
        <p:nvSpPr>
          <p:cNvPr id="16" name="Shape 11"/>
          <p:cNvSpPr/>
          <p:nvPr/>
        </p:nvSpPr>
        <p:spPr>
          <a:xfrm>
            <a:off x="548640" y="3465576"/>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2"/>
          <p:cNvSpPr/>
          <p:nvPr/>
        </p:nvSpPr>
        <p:spPr>
          <a:xfrm>
            <a:off x="822960" y="3611880"/>
            <a:ext cx="566928" cy="566928"/>
          </a:xfrm>
          <a:prstGeom prst="ellipse">
            <a:avLst/>
          </a:prstGeom>
          <a:solidFill>
            <a:srgbClr val="C1440E"/>
          </a:solidFill>
          <a:ln/>
        </p:spPr>
        <p:txBody>
          <a:bodyPr/>
          <a:lstStyle/>
          <a:p>
            <a:endParaRPr lang="en-US"/>
          </a:p>
        </p:txBody>
      </p:sp>
      <p:pic>
        <p:nvPicPr>
          <p:cNvPr id="18" name="Image 3" descr="/home/claude/pptx-build/assets/icons/FaHandshake-FFFFFF-200.png"/>
          <p:cNvPicPr>
            <a:picLocks noChangeAspect="1"/>
          </p:cNvPicPr>
          <p:nvPr/>
        </p:nvPicPr>
        <p:blipFill>
          <a:blip r:embed="rId5"/>
          <a:stretch>
            <a:fillRect/>
          </a:stretch>
        </p:blipFill>
        <p:spPr>
          <a:xfrm>
            <a:off x="960120" y="3749040"/>
            <a:ext cx="292608" cy="292608"/>
          </a:xfrm>
          <a:prstGeom prst="rect">
            <a:avLst/>
          </a:prstGeom>
        </p:spPr>
      </p:pic>
      <p:sp>
        <p:nvSpPr>
          <p:cNvPr id="19" name="Text 13"/>
          <p:cNvSpPr txBox="1"/>
          <p:nvPr/>
        </p:nvSpPr>
        <p:spPr>
          <a:xfrm>
            <a:off x="1600200" y="3538728"/>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Open-source &amp; external contributors</a:t>
            </a:r>
            <a:endParaRPr lang="en-US" sz="1650" dirty="0"/>
          </a:p>
        </p:txBody>
      </p:sp>
      <p:sp>
        <p:nvSpPr>
          <p:cNvPr id="20" name="Text 14"/>
          <p:cNvSpPr txBox="1"/>
          <p:nvPr/>
        </p:nvSpPr>
        <p:spPr>
          <a:xfrm>
            <a:off x="5029200" y="3538728"/>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Already default to GitHub — no extra onboarding friction.</a:t>
            </a:r>
            <a:endParaRPr lang="en-US" sz="1400" dirty="0"/>
          </a:p>
        </p:txBody>
      </p:sp>
      <p:sp>
        <p:nvSpPr>
          <p:cNvPr id="21" name="Shape 15"/>
          <p:cNvSpPr/>
          <p:nvPr/>
        </p:nvSpPr>
        <p:spPr>
          <a:xfrm>
            <a:off x="548640" y="4398264"/>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2" name="Shape 16"/>
          <p:cNvSpPr/>
          <p:nvPr/>
        </p:nvSpPr>
        <p:spPr>
          <a:xfrm>
            <a:off x="822960" y="4544568"/>
            <a:ext cx="566928" cy="566928"/>
          </a:xfrm>
          <a:prstGeom prst="ellipse">
            <a:avLst/>
          </a:prstGeom>
          <a:solidFill>
            <a:srgbClr val="C1440E"/>
          </a:solidFill>
          <a:ln/>
        </p:spPr>
        <p:txBody>
          <a:bodyPr/>
          <a:lstStyle/>
          <a:p>
            <a:endParaRPr lang="en-US"/>
          </a:p>
        </p:txBody>
      </p:sp>
      <p:pic>
        <p:nvPicPr>
          <p:cNvPr id="23" name="Image 4" descr="/home/claude/pptx-build/assets/icons/FaSlidersH-FFFFFF-200.png"/>
          <p:cNvPicPr>
            <a:picLocks noChangeAspect="1"/>
          </p:cNvPicPr>
          <p:nvPr/>
        </p:nvPicPr>
        <p:blipFill>
          <a:blip r:embed="rId6"/>
          <a:stretch>
            <a:fillRect/>
          </a:stretch>
        </p:blipFill>
        <p:spPr>
          <a:xfrm>
            <a:off x="960120" y="4681728"/>
            <a:ext cx="292608" cy="292608"/>
          </a:xfrm>
          <a:prstGeom prst="rect">
            <a:avLst/>
          </a:prstGeom>
        </p:spPr>
      </p:pic>
      <p:sp>
        <p:nvSpPr>
          <p:cNvPr id="24" name="Text 17"/>
          <p:cNvSpPr txBox="1"/>
          <p:nvPr/>
        </p:nvSpPr>
        <p:spPr>
          <a:xfrm>
            <a:off x="1600200" y="4471416"/>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GitHub Actions flexibility</a:t>
            </a:r>
            <a:endParaRPr lang="en-US" sz="1650" dirty="0"/>
          </a:p>
        </p:txBody>
      </p:sp>
      <p:sp>
        <p:nvSpPr>
          <p:cNvPr id="25" name="Text 18"/>
          <p:cNvSpPr txBox="1"/>
          <p:nvPr/>
        </p:nvSpPr>
        <p:spPr>
          <a:xfrm>
            <a:off x="5029200" y="4471416"/>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Reusable workflows, matrix builds, a huge marketplace of pre-built steps, and self-hosted runners when you need them.</a:t>
            </a:r>
            <a:endParaRPr lang="en-US" sz="1400" dirty="0"/>
          </a:p>
        </p:txBody>
      </p:sp>
      <p:sp>
        <p:nvSpPr>
          <p:cNvPr id="26" name="Shape 19"/>
          <p:cNvSpPr/>
          <p:nvPr/>
        </p:nvSpPr>
        <p:spPr>
          <a:xfrm>
            <a:off x="548640" y="5330952"/>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7" name="Shape 20"/>
          <p:cNvSpPr/>
          <p:nvPr/>
        </p:nvSpPr>
        <p:spPr>
          <a:xfrm>
            <a:off x="822960" y="5477256"/>
            <a:ext cx="566928" cy="566928"/>
          </a:xfrm>
          <a:prstGeom prst="ellipse">
            <a:avLst/>
          </a:prstGeom>
          <a:solidFill>
            <a:srgbClr val="C1440E"/>
          </a:solidFill>
          <a:ln/>
        </p:spPr>
        <p:txBody>
          <a:bodyPr/>
          <a:lstStyle/>
          <a:p>
            <a:endParaRPr lang="en-US"/>
          </a:p>
        </p:txBody>
      </p:sp>
      <p:pic>
        <p:nvPicPr>
          <p:cNvPr id="28" name="Image 5" descr="/home/claude/pptx-build/assets/icons/FaTerminal-FFFFFF-200.png"/>
          <p:cNvPicPr>
            <a:picLocks noChangeAspect="1"/>
          </p:cNvPicPr>
          <p:nvPr/>
        </p:nvPicPr>
        <p:blipFill>
          <a:blip r:embed="rId7"/>
          <a:stretch>
            <a:fillRect/>
          </a:stretch>
        </p:blipFill>
        <p:spPr>
          <a:xfrm>
            <a:off x="960120" y="5614416"/>
            <a:ext cx="292608" cy="292608"/>
          </a:xfrm>
          <a:prstGeom prst="rect">
            <a:avLst/>
          </a:prstGeom>
        </p:spPr>
      </p:pic>
      <p:sp>
        <p:nvSpPr>
          <p:cNvPr id="29" name="Text 21"/>
          <p:cNvSpPr txBox="1"/>
          <p:nvPr/>
        </p:nvSpPr>
        <p:spPr>
          <a:xfrm>
            <a:off x="1600200" y="5404104"/>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Run a workflow locally to troubleshoot</a:t>
            </a:r>
            <a:endParaRPr lang="en-US" sz="1650" dirty="0"/>
          </a:p>
        </p:txBody>
      </p:sp>
      <p:sp>
        <p:nvSpPr>
          <p:cNvPr id="30" name="Text 22"/>
          <p:cNvSpPr txBox="1"/>
          <p:nvPr/>
        </p:nvSpPr>
        <p:spPr>
          <a:xfrm>
            <a:off x="5029200" y="5404104"/>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Tools like act run a workflow in a local container: fast feedback on syntax and job order, not a stand-in for CI.</a:t>
            </a:r>
            <a:endParaRPr lang="en-US" sz="1400" dirty="0"/>
          </a:p>
        </p:txBody>
      </p:sp>
      <p:sp>
        <p:nvSpPr>
          <p:cNvPr id="31" name="Slide Number Placeholder"/>
          <p:cNvSpPr>
            <a:spLocks noGrp="1"/>
          </p:cNvSpPr>
          <p:nvPr>
            <p:ph type="sldNum" sz="quarter" idx="10"/>
          </p:nvPr>
        </p:nvSpPr>
        <p:spPr/>
        <p:txBody>
          <a:bodyPr/>
          <a:lstStyle/>
          <a:p>
            <a:fld id="{BCB632DE-6AD4-40F1-944C-28C0E9BF62DC}" type="slidenum">
              <a:rPr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2">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2</a:t>
            </a:r>
            <a:endParaRPr lang="en-US" sz="1700" dirty="0"/>
          </a:p>
        </p:txBody>
      </p:sp>
      <p:pic>
        <p:nvPicPr>
          <p:cNvPr id="4" name="Image 0" descr="/home/claude/pptx-build/assets/icons/FaBinoculars-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A Field Guide to the Local Species</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E0B85C"/>
                </a:solidFill>
                <a:latin typeface="Calibri" pitchFamily="34" charset="0"/>
                <a:ea typeface="Calibri" pitchFamily="34" charset="-122"/>
                <a:cs typeface="Calibri" pitchFamily="34" charset="-120"/>
              </a:rPr>
              <a:t>Before the crossing, a survey of the terrain: which subsystems travel clean, which need a second look, and which never leave the old ground at all.</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8</a:t>
            </a:fld>
            <a:endParaRPr lang="en-US">
              <a:solidFill>
                <a:srgbClr val="E0B85C"/>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lipboardLis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Scorecard — Full Reveal</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2784227124"/>
              </p:ext>
            </p:extLst>
          </p:nvPr>
        </p:nvGraphicFramePr>
        <p:xfrm>
          <a:off x="548640" y="1554480"/>
          <a:ext cx="11064240" cy="4404360"/>
        </p:xfrm>
        <a:graphic>
          <a:graphicData uri="http://schemas.openxmlformats.org/drawingml/2006/table">
            <a:tbl>
              <a:tblPr/>
              <a:tblGrid>
                <a:gridCol w="233172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6217920">
                  <a:extLst>
                    <a:ext uri="{9D8B030D-6E8A-4147-A177-3AD203B41FA5}">
                      <a16:colId xmlns:a16="http://schemas.microsoft.com/office/drawing/2014/main" val="20002"/>
                    </a:ext>
                  </a:extLst>
                </a:gridCol>
              </a:tblGrid>
              <a:tr h="537210">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Subsystem</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lgn="ctr">
                        <a:buNone/>
                      </a:pPr>
                      <a:r>
                        <a:rPr lang="en-US" sz="1500" b="1" dirty="0">
                          <a:solidFill>
                            <a:srgbClr val="F5F5F0"/>
                          </a:solidFill>
                          <a:latin typeface="Calibri" pitchFamily="34" charset="0"/>
                          <a:ea typeface="Calibri" pitchFamily="34" charset="-122"/>
                          <a:cs typeface="Calibri" pitchFamily="34" charset="-120"/>
                        </a:rPr>
                        <a:t>Verdict</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Why</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extLst>
                  <a:ext uri="{0D108BD9-81ED-4DB2-BD59-A6C34878D82A}">
                    <a16:rowId xmlns:a16="http://schemas.microsoft.com/office/drawing/2014/main" val="10000"/>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Repos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PORTABLE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Git history moves natively; supported PR metadata and repository-scoped policies move through GitHub Enterprise Importer (GEI).</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1"/>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Wiki</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PORTABLE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Content travels; behavior needs review</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Packages / Artifacts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Keep Azure Artifacts, move to GitHub Packages, or both during transition</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3"/>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Pipelines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Same YAML shell, different concepts underneath — budget real rewrite time</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Dashboards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No native DORA dashboard; GitHub's built-ins are narrower than Boards Analytics + Power BI</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5"/>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Boards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Both are enterprise-capable, but the data models don’t line up — no clean migration path, so replaced history stays in the legacy system</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Test Plans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NO NATIVE DESTINATION</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C1440E"/>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No native GitHub equivalent for structured manual and exploratory test management.</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7"/>
                  </a:ext>
                </a:extLst>
              </a:tr>
            </a:tbl>
          </a:graphicData>
        </a:graphic>
      </p:graphicFrame>
      <p:sp>
        <p:nvSpPr>
          <p:cNvPr id="15" name="Slide Number Placeholder"/>
          <p:cNvSpPr>
            <a:spLocks noGrp="1"/>
          </p:cNvSpPr>
          <p:nvPr>
            <p:ph type="sldNum" sz="quarter" idx="10"/>
          </p:nvPr>
        </p:nvSpPr>
        <p:spPr/>
        <p:txBody>
          <a:bodyPr/>
          <a:lstStyle/>
          <a:p>
            <a:fld id="{BCB632DE-6AD4-40F1-944C-28C0E9BF62DC}" type="slidenum">
              <a:rPr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odeBranch-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Repos: The Asterisk</a:t>
            </a:r>
            <a:endParaRPr lang="en-US" sz="3200" dirty="0"/>
          </a:p>
        </p:txBody>
      </p:sp>
      <p:sp>
        <p:nvSpPr>
          <p:cNvPr id="6" name="Shape 3"/>
          <p:cNvSpPr/>
          <p:nvPr/>
        </p:nvSpPr>
        <p:spPr>
          <a:xfrm>
            <a:off x="548640" y="1645920"/>
            <a:ext cx="5349240" cy="4114800"/>
          </a:xfrm>
          <a:prstGeom prst="roundRect">
            <a:avLst>
              <a:gd name="adj" fmla="val 266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4800600" cy="457200"/>
          </a:xfrm>
          <a:prstGeom prst="rect">
            <a:avLst/>
          </a:prstGeom>
          <a:noFill/>
          <a:ln/>
        </p:spPr>
        <p:txBody>
          <a:bodyPr wrap="square" lIns="0" tIns="0" rIns="0" bIns="0" rtlCol="0" anchor="ctr"/>
          <a:lstStyle/>
          <a:p>
            <a:pPr marL="0" indent="0">
              <a:buNone/>
            </a:pPr>
            <a:r>
              <a:rPr lang="en-US" sz="2100" b="1" dirty="0">
                <a:solidFill>
                  <a:srgbClr val="1F3D2C"/>
                </a:solidFill>
                <a:latin typeface="Cambria" pitchFamily="34" charset="0"/>
                <a:ea typeface="Cambria" pitchFamily="34" charset="-122"/>
                <a:cs typeface="Cambria" pitchFamily="34" charset="-120"/>
              </a:rPr>
              <a:t>What Travels Clean</a:t>
            </a:r>
            <a:endParaRPr lang="en-US" sz="2100" dirty="0"/>
          </a:p>
        </p:txBody>
      </p:sp>
      <p:sp>
        <p:nvSpPr>
          <p:cNvPr id="8" name="Text 5"/>
          <p:cNvSpPr txBox="1"/>
          <p:nvPr/>
        </p:nvSpPr>
        <p:spPr>
          <a:xfrm>
            <a:off x="822960" y="2423160"/>
            <a:ext cx="4800600" cy="3200400"/>
          </a:xfrm>
          <a:prstGeom prst="rect">
            <a:avLst/>
          </a:prstGeom>
          <a:noFill/>
          <a:ln/>
        </p:spPr>
        <p:txBody>
          <a:bodyPr wrap="square" lIns="0" tIns="0" rIns="0" bIns="0" rtlCol="0" anchor="ctr"/>
          <a:lstStyle/>
          <a:p>
            <a:pPr marL="342900" indent="-342900">
              <a:lnSpc>
                <a:spcPct val="115000"/>
              </a:lnSpc>
              <a:spcAft>
                <a:spcPts val="1200"/>
              </a:spcAft>
              <a:buSzPct val="100000"/>
              <a:buChar char="•"/>
            </a:pPr>
            <a:r>
              <a:rPr lang="en-US" sz="1600" dirty="0">
                <a:solidFill>
                  <a:srgbClr val="2B2B2B"/>
                </a:solidFill>
                <a:latin typeface="Calibri" pitchFamily="34" charset="0"/>
                <a:ea typeface="Calibri" pitchFamily="34" charset="-122"/>
                <a:cs typeface="Calibri" pitchFamily="34" charset="-120"/>
              </a:rPr>
              <a:t>Full commit history, branches, and tags come natively</a:t>
            </a:r>
            <a:endParaRPr lang="en-US" sz="1600" dirty="0"/>
          </a:p>
          <a:p>
            <a:pPr marL="342900" indent="-342900">
              <a:lnSpc>
                <a:spcPct val="115000"/>
              </a:lnSpc>
              <a:spcAft>
                <a:spcPts val="1200"/>
              </a:spcAft>
              <a:buSzPct val="100000"/>
              <a:buChar char="•"/>
            </a:pPr>
            <a:r>
              <a:rPr lang="en-US" sz="1600" dirty="0">
                <a:solidFill>
                  <a:srgbClr val="2B2B2B"/>
                </a:solidFill>
                <a:latin typeface="Calibri" pitchFamily="34" charset="0"/>
                <a:ea typeface="Calibri" pitchFamily="34" charset="-122"/>
                <a:cs typeface="Calibri" pitchFamily="34" charset="-120"/>
              </a:rPr>
              <a:t>Pull requests, with their comments, attachments, and review history (via GitHub Enterprise Importer)</a:t>
            </a:r>
            <a:endParaRPr lang="en-US" sz="1600" dirty="0"/>
          </a:p>
          <a:p>
            <a:pPr marL="342900" indent="-342900">
              <a:lnSpc>
                <a:spcPct val="115000"/>
              </a:lnSpc>
              <a:buSzPct val="100000"/>
              <a:buChar char="•"/>
            </a:pPr>
            <a:r>
              <a:rPr lang="en-US" sz="1600" dirty="0">
                <a:solidFill>
                  <a:srgbClr val="2B2B2B"/>
                </a:solidFill>
                <a:latin typeface="Calibri" pitchFamily="34" charset="0"/>
                <a:ea typeface="Calibri" pitchFamily="34" charset="-122"/>
                <a:cs typeface="Calibri" pitchFamily="34" charset="-120"/>
              </a:rPr>
              <a:t>Most branch policies — the ones scoped to a single repo</a:t>
            </a:r>
            <a:endParaRPr lang="en-US" sz="1600" dirty="0"/>
          </a:p>
        </p:txBody>
      </p:sp>
      <p:sp>
        <p:nvSpPr>
          <p:cNvPr id="9" name="Shape 6"/>
          <p:cNvSpPr/>
          <p:nvPr/>
        </p:nvSpPr>
        <p:spPr>
          <a:xfrm>
            <a:off x="6263640" y="1645920"/>
            <a:ext cx="5349240" cy="4114800"/>
          </a:xfrm>
          <a:prstGeom prst="roundRect">
            <a:avLst>
              <a:gd name="adj" fmla="val 2667"/>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6537960" y="1828800"/>
            <a:ext cx="4800600" cy="457200"/>
          </a:xfrm>
          <a:prstGeom prst="rect">
            <a:avLst/>
          </a:prstGeom>
          <a:noFill/>
          <a:ln/>
        </p:spPr>
        <p:txBody>
          <a:bodyPr wrap="square" lIns="0" tIns="0" rIns="0" bIns="0" rtlCol="0" anchor="ctr"/>
          <a:lstStyle/>
          <a:p>
            <a:pPr marL="0" indent="0">
              <a:buNone/>
            </a:pPr>
            <a:r>
              <a:rPr lang="en-US" sz="2100" b="1" dirty="0">
                <a:solidFill>
                  <a:srgbClr val="F5F5F0"/>
                </a:solidFill>
                <a:latin typeface="Cambria" pitchFamily="34" charset="0"/>
                <a:ea typeface="Cambria" pitchFamily="34" charset="-122"/>
                <a:cs typeface="Cambria" pitchFamily="34" charset="-120"/>
              </a:rPr>
              <a:t>The Asterisk</a:t>
            </a:r>
            <a:endParaRPr lang="en-US" sz="2100" dirty="0"/>
          </a:p>
        </p:txBody>
      </p:sp>
      <p:sp>
        <p:nvSpPr>
          <p:cNvPr id="11" name="Text 8"/>
          <p:cNvSpPr txBox="1"/>
          <p:nvPr/>
        </p:nvSpPr>
        <p:spPr>
          <a:xfrm>
            <a:off x="6537960" y="2423160"/>
            <a:ext cx="4800600" cy="3200400"/>
          </a:xfrm>
          <a:prstGeom prst="rect">
            <a:avLst/>
          </a:prstGeom>
          <a:noFill/>
          <a:ln/>
        </p:spPr>
        <p:txBody>
          <a:bodyPr wrap="square" lIns="0" tIns="0" rIns="0" bIns="0" rtlCol="0" anchor="ctr"/>
          <a:lstStyle/>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Repo permissions rebuilt as two GitHub teams per team project</a:t>
            </a:r>
            <a:endParaRPr lang="en-US" sz="1600" dirty="0"/>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Git LFS objects don’t migrate — push them separately</a:t>
            </a:r>
            <a:endParaRPr lang="en-US" sz="1600" dirty="0"/>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User-scoped and cross-repo branch policies need to be rebuilt by hand</a:t>
            </a:r>
            <a:endParaRPr lang="en-US" sz="1600" dirty="0"/>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TFVC repos need converting to Git first — no direct path</a:t>
            </a:r>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Identities carried over as mannequins</a:t>
            </a:r>
            <a:endParaRPr lang="en-US" sz="1600" dirty="0"/>
          </a:p>
        </p:txBody>
      </p:sp>
      <p:sp>
        <p:nvSpPr>
          <p:cNvPr id="13" name="Shape 13"/>
          <p:cNvSpPr/>
          <p:nvPr/>
        </p:nvSpPr>
        <p:spPr>
          <a:xfrm>
            <a:off x="548640" y="585216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4" name="Text 14"/>
          <p:cNvSpPr txBox="1"/>
          <p:nvPr/>
        </p:nvSpPr>
        <p:spPr>
          <a:xfrm>
            <a:off x="548640" y="5852160"/>
            <a:ext cx="11064240" cy="86868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The word “repo” survives the migration. The project-level boundary it used to sit inside — shared config, ownership, access — doesn’t come with it.</a:t>
            </a:r>
          </a:p>
        </p:txBody>
      </p:sp>
      <p:sp>
        <p:nvSpPr>
          <p:cNvPr id="12" name="Slide Number Placeholder"/>
          <p:cNvSpPr>
            <a:spLocks noGrp="1"/>
          </p:cNvSpPr>
          <p:nvPr>
            <p:ph type="sldNum" sz="quarter" idx="10"/>
          </p:nvPr>
        </p:nvSpPr>
        <p:spPr/>
        <p:txBody>
          <a:bodyPr/>
          <a:lstStyle/>
          <a:p>
            <a:fld id="{BCB632DE-6AD4-40F1-944C-28C0E9BF62DC}" type="slidenum">
              <a:rPr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oo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Wiki: The Pages Travel, the Structure Doesn’t</a:t>
            </a:r>
            <a:endParaRPr lang="en-US" sz="3200" dirty="0"/>
          </a:p>
        </p:txBody>
      </p:sp>
      <p:sp>
        <p:nvSpPr>
          <p:cNvPr id="6" name="Shape 3"/>
          <p:cNvSpPr/>
          <p:nvPr/>
        </p:nvSpPr>
        <p:spPr>
          <a:xfrm>
            <a:off x="548640" y="1737360"/>
            <a:ext cx="11064240" cy="2834640"/>
          </a:xfrm>
          <a:prstGeom prst="roundRect">
            <a:avLst>
              <a:gd name="adj" fmla="val 387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965960"/>
            <a:ext cx="10332720" cy="2377440"/>
          </a:xfrm>
          <a:prstGeom prst="rect">
            <a:avLst/>
          </a:prstGeom>
          <a:noFill/>
          <a:ln/>
        </p:spPr>
        <p:txBody>
          <a:bodyPr wrap="square" lIns="0" tIns="0" rIns="0" bIns="0" rtlCol="0" anchor="ctr"/>
          <a:lstStyle/>
          <a:p>
            <a:pPr marL="0" indent="0">
              <a:lnSpc>
                <a:spcPct val="130000"/>
              </a:lnSpc>
              <a:buNone/>
            </a:pPr>
            <a:r>
              <a:rPr lang="en-US" sz="2000" dirty="0">
                <a:solidFill>
                  <a:srgbClr val="2B2B2B"/>
                </a:solidFill>
                <a:latin typeface="Calibri" pitchFamily="34" charset="0"/>
                <a:ea typeface="Calibri" pitchFamily="34" charset="-122"/>
                <a:cs typeface="Calibri" pitchFamily="34" charset="-120"/>
              </a:rPr>
              <a:t>Both wikis are Git repos under the hood, so the pages copy with a clone and a push. </a:t>
            </a:r>
          </a:p>
          <a:p>
            <a:pPr marL="0" indent="0">
              <a:lnSpc>
                <a:spcPct val="130000"/>
              </a:lnSpc>
              <a:buNone/>
            </a:pPr>
            <a:endParaRPr lang="en-US" sz="2000" b="1" dirty="0">
              <a:solidFill>
                <a:srgbClr val="2B2B2B"/>
              </a:solidFill>
              <a:latin typeface="Calibri" pitchFamily="34" charset="0"/>
              <a:ea typeface="Calibri" pitchFamily="34" charset="-122"/>
              <a:cs typeface="Calibri" pitchFamily="34" charset="-120"/>
            </a:endParaRPr>
          </a:p>
          <a:p>
            <a:pPr marL="0" indent="0">
              <a:lnSpc>
                <a:spcPct val="130000"/>
              </a:lnSpc>
              <a:buNone/>
            </a:pPr>
            <a:r>
              <a:rPr lang="en-US" sz="2000" b="1" dirty="0">
                <a:solidFill>
                  <a:srgbClr val="2B2B2B"/>
                </a:solidFill>
                <a:latin typeface="Calibri" pitchFamily="34" charset="0"/>
                <a:ea typeface="Calibri" pitchFamily="34" charset="-122"/>
                <a:cs typeface="Calibri" pitchFamily="34" charset="-120"/>
              </a:rPr>
              <a:t>What doesn’t copy cleanly: </a:t>
            </a:r>
            <a:r>
              <a:rPr lang="en-US" sz="2000" dirty="0">
                <a:solidFill>
                  <a:srgbClr val="2B2B2B"/>
                </a:solidFill>
                <a:latin typeface="Calibri" pitchFamily="34" charset="0"/>
                <a:ea typeface="Calibri" pitchFamily="34" charset="-122"/>
                <a:cs typeface="Calibri" pitchFamily="34" charset="-120"/>
              </a:rPr>
              <a:t>page order and nesting (Azure DevOps’ .order files and folders; GitHub’s wiki page list is flat), and Azure DevOps-only markdown such as [[_TOC_]], ::: mermaid blocks and #123 work-item links.</a:t>
            </a:r>
            <a:endParaRPr lang="en-US" sz="2000" dirty="0"/>
          </a:p>
        </p:txBody>
      </p:sp>
      <p:sp>
        <p:nvSpPr>
          <p:cNvPr id="10" name="Rounded Rectangle 30">
            <a:extLst>
              <a:ext uri="{FF2B5EF4-FFF2-40B4-BE49-F238E27FC236}">
                <a16:creationId xmlns:a16="http://schemas.microsoft.com/office/drawing/2014/main" id="{4C79931A-18FB-2E06-7724-BDDB838DEA87}"/>
              </a:ext>
            </a:extLst>
          </p:cNvPr>
          <p:cNvSpPr/>
          <p:nvPr/>
        </p:nvSpPr>
        <p:spPr>
          <a:xfrm>
            <a:off x="548640" y="4965192"/>
            <a:ext cx="11064240" cy="713232"/>
          </a:xfrm>
          <a:prstGeom prst="roundRect">
            <a:avLst>
              <a:gd name="adj" fmla="val 12632"/>
            </a:avLst>
          </a:prstGeom>
          <a:solidFill>
            <a:srgbClr val="1F3D2C"/>
          </a:solidFill>
          <a:ln>
            <a:noFill/>
          </a:ln>
          <a:effectLst/>
        </p:spPr>
        <p:txBody>
          <a:bodyPr wrap="square" lIns="256032" tIns="54864" rIns="256032" bIns="54864" rtlCol="0" anchor="ctr"/>
          <a:lstStyle/>
          <a:p>
            <a:pPr algn="l">
              <a:spcBef>
                <a:spcPts val="0"/>
              </a:spcBef>
              <a:spcAft>
                <a:spcPts val="0"/>
              </a:spcAft>
            </a:pPr>
            <a:r>
              <a:rPr sz="1250" b="1" spc="120">
                <a:solidFill>
                  <a:srgbClr val="E0B85C"/>
                </a:solidFill>
                <a:latin typeface="Calibri"/>
              </a:rPr>
              <a:t>TAKEAWAY </a:t>
            </a:r>
            <a:r>
              <a:rPr sz="1500" b="0">
                <a:solidFill>
                  <a:srgbClr val="F5F5F0"/>
                </a:solidFill>
                <a:latin typeface="Calibri"/>
              </a:rPr>
              <a:t>The pages copy in minutes. The structure and the Azure DevOps-only markdown are the real work.</a:t>
            </a:r>
          </a:p>
        </p:txBody>
      </p:sp>
      <p:sp>
        <p:nvSpPr>
          <p:cNvPr id="11" name="Slide Number Placeholder"/>
          <p:cNvSpPr>
            <a:spLocks noGrp="1"/>
          </p:cNvSpPr>
          <p:nvPr>
            <p:ph type="sldNum" sz="quarter" idx="10"/>
          </p:nvPr>
        </p:nvSpPr>
        <p:spPr/>
        <p:txBody>
          <a:bodyPr/>
          <a:lstStyle/>
          <a:p>
            <a:fld id="{BCB632DE-6AD4-40F1-944C-28C0E9BF62DC}" type="slidenum">
              <a:rPr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oxOpen-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Packages &amp; Artifacts: A Decision, Not a Rewrite</a:t>
            </a:r>
            <a:endParaRPr lang="en-US" sz="3200" dirty="0"/>
          </a:p>
        </p:txBody>
      </p:sp>
      <p:sp>
        <p:nvSpPr>
          <p:cNvPr id="6" name="Shape 3"/>
          <p:cNvSpPr/>
          <p:nvPr/>
        </p:nvSpPr>
        <p:spPr>
          <a:xfrm>
            <a:off x="548640" y="1691640"/>
            <a:ext cx="3429000" cy="3383280"/>
          </a:xfrm>
          <a:prstGeom prst="roundRect">
            <a:avLst>
              <a:gd name="adj" fmla="val 324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822960" y="1920240"/>
            <a:ext cx="603504" cy="603504"/>
          </a:xfrm>
          <a:prstGeom prst="ellipse">
            <a:avLst/>
          </a:prstGeom>
          <a:solidFill>
            <a:srgbClr val="C1440E"/>
          </a:solidFill>
          <a:ln/>
        </p:spPr>
        <p:txBody>
          <a:bodyPr/>
          <a:lstStyle/>
          <a:p>
            <a:endParaRPr lang="en-US"/>
          </a:p>
        </p:txBody>
      </p:sp>
      <p:pic>
        <p:nvPicPr>
          <p:cNvPr id="8" name="Image 1" descr="/home/claude/pptx-build/assets/icons/FaBoxOpen-FFFFFF-200.png"/>
          <p:cNvPicPr>
            <a:picLocks noChangeAspect="1"/>
          </p:cNvPicPr>
          <p:nvPr/>
        </p:nvPicPr>
        <p:blipFill>
          <a:blip r:embed="rId3"/>
          <a:stretch>
            <a:fillRect/>
          </a:stretch>
        </p:blipFill>
        <p:spPr>
          <a:xfrm>
            <a:off x="969264" y="2066544"/>
            <a:ext cx="310896" cy="310896"/>
          </a:xfrm>
          <a:prstGeom prst="rect">
            <a:avLst/>
          </a:prstGeom>
        </p:spPr>
      </p:pic>
      <p:sp>
        <p:nvSpPr>
          <p:cNvPr id="9" name="Text 5"/>
          <p:cNvSpPr txBox="1"/>
          <p:nvPr/>
        </p:nvSpPr>
        <p:spPr>
          <a:xfrm>
            <a:off x="822960" y="2670048"/>
            <a:ext cx="2880360" cy="685800"/>
          </a:xfrm>
          <a:prstGeom prst="rect">
            <a:avLst/>
          </a:prstGeom>
          <a:noFill/>
          <a:ln/>
        </p:spPr>
        <p:txBody>
          <a:bodyPr wrap="square" lIns="0" tIns="0" rIns="0" bIns="0" rtlCol="0" anchor="ctr"/>
          <a:lstStyle/>
          <a:p>
            <a:pPr marL="0" indent="0">
              <a:buNone/>
            </a:pPr>
            <a:r>
              <a:rPr lang="en-US" sz="1700" b="1" dirty="0">
                <a:solidFill>
                  <a:srgbClr val="1F3D2C"/>
                </a:solidFill>
                <a:latin typeface="Cambria" pitchFamily="34" charset="0"/>
                <a:ea typeface="Cambria" pitchFamily="34" charset="-122"/>
                <a:cs typeface="Cambria" pitchFamily="34" charset="-120"/>
              </a:rPr>
              <a:t>Keep Azure Artifacts</a:t>
            </a:r>
            <a:endParaRPr lang="en-US" sz="1700" dirty="0"/>
          </a:p>
        </p:txBody>
      </p:sp>
      <p:sp>
        <p:nvSpPr>
          <p:cNvPr id="10" name="Text 6"/>
          <p:cNvSpPr txBox="1"/>
          <p:nvPr/>
        </p:nvSpPr>
        <p:spPr>
          <a:xfrm>
            <a:off x="822960" y="3364992"/>
            <a:ext cx="2880360" cy="160020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Change nothing. GitHub Actions can publish to and consume from an existing Azure Artifacts feed.</a:t>
            </a:r>
            <a:endParaRPr lang="en-US" sz="1400" dirty="0"/>
          </a:p>
        </p:txBody>
      </p:sp>
      <p:sp>
        <p:nvSpPr>
          <p:cNvPr id="11" name="Shape 7"/>
          <p:cNvSpPr/>
          <p:nvPr/>
        </p:nvSpPr>
        <p:spPr>
          <a:xfrm>
            <a:off x="4251960" y="1691640"/>
            <a:ext cx="3429000" cy="3383280"/>
          </a:xfrm>
          <a:prstGeom prst="roundRect">
            <a:avLst>
              <a:gd name="adj" fmla="val 324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8"/>
          <p:cNvSpPr/>
          <p:nvPr/>
        </p:nvSpPr>
        <p:spPr>
          <a:xfrm>
            <a:off x="4526280" y="1920240"/>
            <a:ext cx="603504" cy="603504"/>
          </a:xfrm>
          <a:prstGeom prst="ellipse">
            <a:avLst/>
          </a:prstGeom>
          <a:solidFill>
            <a:srgbClr val="C1440E"/>
          </a:solidFill>
          <a:ln/>
        </p:spPr>
        <p:txBody>
          <a:bodyPr/>
          <a:lstStyle/>
          <a:p>
            <a:endParaRPr lang="en-US"/>
          </a:p>
        </p:txBody>
      </p:sp>
      <p:pic>
        <p:nvPicPr>
          <p:cNvPr id="13" name="Image 2" descr="/home/claude/pptx-build/assets/icons/FaGithub-FFFFFF-200.png"/>
          <p:cNvPicPr>
            <a:picLocks noChangeAspect="1"/>
          </p:cNvPicPr>
          <p:nvPr/>
        </p:nvPicPr>
        <p:blipFill>
          <a:blip r:embed="rId4"/>
          <a:stretch>
            <a:fillRect/>
          </a:stretch>
        </p:blipFill>
        <p:spPr>
          <a:xfrm>
            <a:off x="4672584" y="2066544"/>
            <a:ext cx="310896" cy="310896"/>
          </a:xfrm>
          <a:prstGeom prst="rect">
            <a:avLst/>
          </a:prstGeom>
        </p:spPr>
      </p:pic>
      <p:sp>
        <p:nvSpPr>
          <p:cNvPr id="14" name="Text 9"/>
          <p:cNvSpPr txBox="1"/>
          <p:nvPr/>
        </p:nvSpPr>
        <p:spPr>
          <a:xfrm>
            <a:off x="4526280" y="2670048"/>
            <a:ext cx="2880360" cy="685800"/>
          </a:xfrm>
          <a:prstGeom prst="rect">
            <a:avLst/>
          </a:prstGeom>
          <a:noFill/>
          <a:ln/>
        </p:spPr>
        <p:txBody>
          <a:bodyPr wrap="square" lIns="0" tIns="0" rIns="0" bIns="0" rtlCol="0" anchor="ctr"/>
          <a:lstStyle/>
          <a:p>
            <a:pPr marL="0" indent="0">
              <a:buNone/>
            </a:pPr>
            <a:r>
              <a:rPr lang="en-US" sz="1700" b="1" dirty="0">
                <a:solidFill>
                  <a:srgbClr val="1F3D2C"/>
                </a:solidFill>
                <a:latin typeface="Cambria" pitchFamily="34" charset="0"/>
                <a:ea typeface="Cambria" pitchFamily="34" charset="-122"/>
                <a:cs typeface="Cambria" pitchFamily="34" charset="-120"/>
              </a:rPr>
              <a:t>Move to GitHub Packages</a:t>
            </a:r>
            <a:endParaRPr lang="en-US" sz="1700" dirty="0"/>
          </a:p>
        </p:txBody>
      </p:sp>
      <p:sp>
        <p:nvSpPr>
          <p:cNvPr id="15" name="Text 10"/>
          <p:cNvSpPr txBox="1"/>
          <p:nvPr/>
        </p:nvSpPr>
        <p:spPr>
          <a:xfrm>
            <a:off x="4526280" y="3364992"/>
            <a:ext cx="2880360" cy="160020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Consolidate onto one platform, if your feeds fit: no PyPI, Universal Packages or upstream sources.</a:t>
            </a:r>
            <a:endParaRPr lang="en-US" sz="1400" dirty="0"/>
          </a:p>
        </p:txBody>
      </p:sp>
      <p:sp>
        <p:nvSpPr>
          <p:cNvPr id="16" name="Shape 11"/>
          <p:cNvSpPr/>
          <p:nvPr/>
        </p:nvSpPr>
        <p:spPr>
          <a:xfrm>
            <a:off x="7955280" y="1691640"/>
            <a:ext cx="3429000" cy="3383280"/>
          </a:xfrm>
          <a:prstGeom prst="roundRect">
            <a:avLst>
              <a:gd name="adj" fmla="val 324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2"/>
          <p:cNvSpPr/>
          <p:nvPr/>
        </p:nvSpPr>
        <p:spPr>
          <a:xfrm>
            <a:off x="8229600" y="1920240"/>
            <a:ext cx="603504" cy="603504"/>
          </a:xfrm>
          <a:prstGeom prst="ellipse">
            <a:avLst/>
          </a:prstGeom>
          <a:solidFill>
            <a:srgbClr val="C1440E"/>
          </a:solidFill>
          <a:ln/>
        </p:spPr>
        <p:txBody>
          <a:bodyPr/>
          <a:lstStyle/>
          <a:p>
            <a:endParaRPr lang="en-US"/>
          </a:p>
        </p:txBody>
      </p:sp>
      <p:pic>
        <p:nvPicPr>
          <p:cNvPr id="18" name="Image 3" descr="/home/claude/pptx-build/assets/icons/FaExchangeAlt-FFFFFF-200.png"/>
          <p:cNvPicPr>
            <a:picLocks noChangeAspect="1"/>
          </p:cNvPicPr>
          <p:nvPr/>
        </p:nvPicPr>
        <p:blipFill>
          <a:blip r:embed="rId5"/>
          <a:stretch>
            <a:fillRect/>
          </a:stretch>
        </p:blipFill>
        <p:spPr>
          <a:xfrm>
            <a:off x="8375904" y="2066544"/>
            <a:ext cx="310896" cy="310896"/>
          </a:xfrm>
          <a:prstGeom prst="rect">
            <a:avLst/>
          </a:prstGeom>
        </p:spPr>
      </p:pic>
      <p:sp>
        <p:nvSpPr>
          <p:cNvPr id="19" name="Text 13"/>
          <p:cNvSpPr txBox="1"/>
          <p:nvPr/>
        </p:nvSpPr>
        <p:spPr>
          <a:xfrm>
            <a:off x="8229600" y="2670048"/>
            <a:ext cx="2880360" cy="685800"/>
          </a:xfrm>
          <a:prstGeom prst="rect">
            <a:avLst/>
          </a:prstGeom>
          <a:noFill/>
          <a:ln/>
        </p:spPr>
        <p:txBody>
          <a:bodyPr wrap="square" lIns="0" tIns="0" rIns="0" bIns="0" rtlCol="0" anchor="ctr"/>
          <a:lstStyle/>
          <a:p>
            <a:pPr marL="0" indent="0">
              <a:buNone/>
            </a:pPr>
            <a:r>
              <a:rPr lang="en-US" sz="1700" b="1" dirty="0">
                <a:solidFill>
                  <a:srgbClr val="1F3D2C"/>
                </a:solidFill>
                <a:latin typeface="Cambria" pitchFamily="34" charset="0"/>
                <a:ea typeface="Cambria" pitchFamily="34" charset="-122"/>
                <a:cs typeface="Cambria" pitchFamily="34" charset="-120"/>
              </a:rPr>
              <a:t>Both, during transition</a:t>
            </a:r>
            <a:endParaRPr lang="en-US" sz="1700" dirty="0"/>
          </a:p>
        </p:txBody>
      </p:sp>
      <p:sp>
        <p:nvSpPr>
          <p:cNvPr id="20" name="Text 14"/>
          <p:cNvSpPr txBox="1"/>
          <p:nvPr/>
        </p:nvSpPr>
        <p:spPr>
          <a:xfrm>
            <a:off x="8229600" y="3364992"/>
            <a:ext cx="2880360" cy="160020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Dual-publish while consumers migrate at their own pace. Buys time, costs a little duplication.</a:t>
            </a:r>
            <a:endParaRPr lang="en-US" sz="1400" dirty="0"/>
          </a:p>
        </p:txBody>
      </p:sp>
      <p:sp>
        <p:nvSpPr>
          <p:cNvPr id="21" name="Shape 15"/>
          <p:cNvSpPr/>
          <p:nvPr/>
        </p:nvSpPr>
        <p:spPr>
          <a:xfrm>
            <a:off x="548640" y="525780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22" name="Text 16"/>
          <p:cNvSpPr txBox="1"/>
          <p:nvPr/>
        </p:nvSpPr>
        <p:spPr>
          <a:xfrm>
            <a:off x="548640" y="5257800"/>
            <a:ext cx="11064240" cy="86868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The realistic target: GitHub Actions publishing to an existing Azure Artifacts feed — the answer for teams that can’t repoint every consumer at cutover.</a:t>
            </a:r>
            <a:endParaRPr lang="en-US" sz="1450" dirty="0"/>
          </a:p>
        </p:txBody>
      </p:sp>
      <p:sp>
        <p:nvSpPr>
          <p:cNvPr id="23" name="Slide Number Placeholder"/>
          <p:cNvSpPr>
            <a:spLocks noGrp="1"/>
          </p:cNvSpPr>
          <p:nvPr>
            <p:ph type="sldNum" sz="quarter" idx="10"/>
          </p:nvPr>
        </p:nvSpPr>
        <p:spPr/>
        <p:txBody>
          <a:bodyPr/>
          <a:lstStyle/>
          <a:p>
            <a:fld id="{BCB632DE-6AD4-40F1-944C-28C0E9BF62DC}" type="slidenum">
              <a:rPr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hartBar-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Dashboards: A Partial Equivalent</a:t>
            </a:r>
            <a:endParaRPr lang="en-US" sz="3200" dirty="0"/>
          </a:p>
        </p:txBody>
      </p:sp>
      <p:sp>
        <p:nvSpPr>
          <p:cNvPr id="6" name="Shape 3"/>
          <p:cNvSpPr/>
          <p:nvPr/>
        </p:nvSpPr>
        <p:spPr>
          <a:xfrm>
            <a:off x="548640" y="1691640"/>
            <a:ext cx="1106424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920240"/>
            <a:ext cx="10332720" cy="2194560"/>
          </a:xfrm>
          <a:prstGeom prst="rect">
            <a:avLst/>
          </a:prstGeom>
          <a:noFill/>
          <a:ln/>
        </p:spPr>
        <p:txBody>
          <a:bodyPr wrap="square" lIns="0" tIns="0" rIns="0" bIns="0" rtlCol="0" anchor="ctr"/>
          <a:lstStyle/>
          <a:p>
            <a:pPr marL="0" indent="0">
              <a:lnSpc>
                <a:spcPct val="125000"/>
              </a:lnSpc>
              <a:buNone/>
            </a:pPr>
            <a:r>
              <a:rPr lang="en-US" sz="1900" dirty="0">
                <a:solidFill>
                  <a:srgbClr val="2B2B2B"/>
                </a:solidFill>
                <a:latin typeface="Calibri" pitchFamily="34" charset="0"/>
                <a:ea typeface="Calibri" pitchFamily="34" charset="-122"/>
                <a:cs typeface="Calibri" pitchFamily="34" charset="-120"/>
              </a:rPr>
              <a:t>GitHub ships no DORA dashboard. What exists is narrower and differently named: Copilot metrics and the Copilot impact dashboard, Actions performance metrics, a Code Quality dashboard in public preview, and Security overview. None of it matches Boards Analytics plus a dedicated Power BI report.</a:t>
            </a:r>
            <a:endParaRPr lang="en-US" sz="1900" dirty="0"/>
          </a:p>
        </p:txBody>
      </p:sp>
      <p:sp>
        <p:nvSpPr>
          <p:cNvPr id="8" name="Shape 5"/>
          <p:cNvSpPr/>
          <p:nvPr/>
        </p:nvSpPr>
        <p:spPr>
          <a:xfrm>
            <a:off x="548640" y="457200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572000"/>
            <a:ext cx="11064240" cy="868680"/>
          </a:xfrm>
          <a:prstGeom prst="rect">
            <a:avLst/>
          </a:prstGeom>
          <a:noFill/>
          <a:ln/>
        </p:spPr>
        <p:txBody>
          <a:bodyPr wrap="square" lIns="256032" tIns="54864" rIns="256032" bIns="54864" rtlCol="0" anchor="ctr"/>
          <a:lstStyle/>
          <a:p>
            <a:pPr marL="0" indent="0" algn="l">
              <a:lnSpc>
                <a:spcPct val="115000"/>
              </a:lnSpc>
              <a:buNone/>
            </a:pPr>
            <a:r>
              <a:rPr sz="1250" b="1" spc="120">
                <a:solidFill>
                  <a:srgbClr val="E0B85C"/>
                </a:solidFill>
                <a:latin typeface="Calibri"/>
              </a:rPr>
              <a:t>TAKEAWAY </a:t>
            </a:r>
            <a:r>
              <a:rPr sz="1500" b="0">
                <a:solidFill>
                  <a:srgbClr val="F5F5F0"/>
                </a:solidFill>
                <a:latin typeface="Calibri"/>
              </a:rPr>
              <a:t>Neither platform hands you DORA. Agree on the four metrics first, then instrument them yourselves. That baseline outlives the migration.</a:t>
            </a:r>
            <a:endParaRPr lang="en-US" sz="1600" dirty="0"/>
          </a:p>
        </p:txBody>
      </p:sp>
      <p:sp>
        <p:nvSpPr>
          <p:cNvPr id="10" name="Slide Number Placeholder"/>
          <p:cNvSpPr>
            <a:spLocks noGrp="1"/>
          </p:cNvSpPr>
          <p:nvPr>
            <p:ph type="sldNum" sz="quarter" idx="10"/>
          </p:nvPr>
        </p:nvSpPr>
        <p:spPr/>
        <p:txBody>
          <a:bodyPr/>
          <a:lstStyle/>
          <a:p>
            <a:fld id="{BCB632DE-6AD4-40F1-944C-28C0E9BF62DC}" type="slidenum">
              <a:rPr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ayerGrou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Pattern</a:t>
            </a:r>
            <a:endParaRPr lang="en-US" sz="3200" dirty="0"/>
          </a:p>
        </p:txBody>
      </p:sp>
      <p:sp>
        <p:nvSpPr>
          <p:cNvPr id="6" name="Text 3"/>
          <p:cNvSpPr txBox="1"/>
          <p:nvPr/>
        </p:nvSpPr>
        <p:spPr>
          <a:xfrm>
            <a:off x="548640" y="1691640"/>
            <a:ext cx="11064240" cy="1005840"/>
          </a:xfrm>
          <a:prstGeom prst="rect">
            <a:avLst/>
          </a:prstGeom>
          <a:noFill/>
          <a:ln/>
        </p:spPr>
        <p:txBody>
          <a:bodyPr wrap="square" lIns="0" tIns="0" rIns="0" bIns="0" rtlCol="0" anchor="ctr"/>
          <a:lstStyle/>
          <a:p>
            <a:pPr marL="0" indent="0" algn="ctr">
              <a:buNone/>
            </a:pPr>
            <a:r>
              <a:rPr lang="en-US" sz="2000" dirty="0">
                <a:solidFill>
                  <a:srgbClr val="1F3D2C"/>
                </a:solidFill>
                <a:ea typeface="Cambria" pitchFamily="34" charset="-122"/>
                <a:cs typeface="Cambria" pitchFamily="34" charset="-120"/>
              </a:rPr>
              <a:t>Portable, standards-based artifacts usually travel best. Platform-specific behavior and data models create the real migration work.</a:t>
            </a:r>
            <a:endParaRPr lang="en-US" sz="2000" dirty="0"/>
          </a:p>
        </p:txBody>
      </p:sp>
      <p:sp>
        <p:nvSpPr>
          <p:cNvPr id="7" name="Shape 4"/>
          <p:cNvSpPr/>
          <p:nvPr/>
        </p:nvSpPr>
        <p:spPr>
          <a:xfrm>
            <a:off x="548640" y="2971800"/>
            <a:ext cx="5349240" cy="2880360"/>
          </a:xfrm>
          <a:prstGeom prst="roundRect">
            <a:avLst>
              <a:gd name="adj" fmla="val 381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8" name="Text 5"/>
          <p:cNvSpPr txBox="1"/>
          <p:nvPr/>
        </p:nvSpPr>
        <p:spPr>
          <a:xfrm>
            <a:off x="822960" y="3154680"/>
            <a:ext cx="4800600" cy="457200"/>
          </a:xfrm>
          <a:prstGeom prst="rect">
            <a:avLst/>
          </a:prstGeom>
          <a:noFill/>
          <a:ln/>
        </p:spPr>
        <p:txBody>
          <a:bodyPr wrap="square" lIns="0" tIns="0" rIns="0" bIns="0" rtlCol="0" anchor="ctr"/>
          <a:lstStyle/>
          <a:p>
            <a:pPr marL="0" indent="0">
              <a:buNone/>
            </a:pPr>
            <a:r>
              <a:rPr lang="en-US" sz="1900" b="1" dirty="0">
                <a:solidFill>
                  <a:srgbClr val="1F3D2C"/>
                </a:solidFill>
                <a:latin typeface="Cambria" pitchFamily="34" charset="0"/>
                <a:ea typeface="Cambria" pitchFamily="34" charset="-122"/>
              </a:rPr>
              <a:t>Portable</a:t>
            </a:r>
            <a:endParaRPr lang="en-US" sz="1900" dirty="0"/>
          </a:p>
        </p:txBody>
      </p:sp>
      <p:sp>
        <p:nvSpPr>
          <p:cNvPr id="9" name="Text 6"/>
          <p:cNvSpPr txBox="1"/>
          <p:nvPr/>
        </p:nvSpPr>
        <p:spPr>
          <a:xfrm>
            <a:off x="822960" y="3703320"/>
            <a:ext cx="4800600" cy="2011680"/>
          </a:xfrm>
          <a:prstGeom prst="rect">
            <a:avLst/>
          </a:prstGeom>
          <a:noFill/>
          <a:ln/>
        </p:spPr>
        <p:txBody>
          <a:bodyPr wrap="square" lIns="0" tIns="0" rIns="0" bIns="0" rtlCol="0" anchor="ctr"/>
          <a:lstStyle/>
          <a:p>
            <a:pPr marL="342900" indent="-342900">
              <a:spcAft>
                <a:spcPts val="1000"/>
              </a:spcAft>
              <a:buSzPct val="100000"/>
              <a:buChar char="•"/>
            </a:pPr>
            <a:r>
              <a:rPr lang="en-US" sz="1650" dirty="0">
                <a:solidFill>
                  <a:srgbClr val="2B2B2B"/>
                </a:solidFill>
                <a:latin typeface="Calibri" pitchFamily="34" charset="0"/>
                <a:ea typeface="Calibri" pitchFamily="34" charset="-122"/>
                <a:cs typeface="Calibri" pitchFamily="34" charset="-120"/>
              </a:rPr>
              <a:t>Repos — it’s Git on both sides</a:t>
            </a:r>
            <a:endParaRPr lang="en-US" sz="1650" dirty="0"/>
          </a:p>
          <a:p>
            <a:pPr marL="342900" indent="-342900">
              <a:buSzPct val="100000"/>
              <a:buChar char="•"/>
            </a:pPr>
            <a:r>
              <a:rPr lang="en-US" sz="1650" dirty="0">
                <a:solidFill>
                  <a:srgbClr val="2B2B2B"/>
                </a:solidFill>
                <a:latin typeface="Calibri" pitchFamily="34" charset="0"/>
                <a:ea typeface="Calibri" pitchFamily="34" charset="-122"/>
                <a:cs typeface="Calibri" pitchFamily="34" charset="-120"/>
              </a:rPr>
              <a:t>Wiki — also Git on both sides</a:t>
            </a:r>
            <a:endParaRPr lang="en-US" sz="1650" dirty="0"/>
          </a:p>
        </p:txBody>
      </p:sp>
      <p:sp>
        <p:nvSpPr>
          <p:cNvPr id="10" name="Shape 7"/>
          <p:cNvSpPr/>
          <p:nvPr/>
        </p:nvSpPr>
        <p:spPr>
          <a:xfrm>
            <a:off x="6263640" y="2971800"/>
            <a:ext cx="5349240" cy="2880360"/>
          </a:xfrm>
          <a:prstGeom prst="roundRect">
            <a:avLst>
              <a:gd name="adj" fmla="val 381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1" name="Text 8"/>
          <p:cNvSpPr txBox="1"/>
          <p:nvPr/>
        </p:nvSpPr>
        <p:spPr>
          <a:xfrm>
            <a:off x="6537960" y="3154680"/>
            <a:ext cx="4800600" cy="457200"/>
          </a:xfrm>
          <a:prstGeom prst="rect">
            <a:avLst/>
          </a:prstGeom>
          <a:noFill/>
          <a:ln/>
        </p:spPr>
        <p:txBody>
          <a:bodyPr wrap="square" lIns="0" tIns="0" rIns="0" bIns="0" rtlCol="0" anchor="ctr"/>
          <a:lstStyle/>
          <a:p>
            <a:pPr marL="0" indent="0">
              <a:buNone/>
            </a:pPr>
            <a:r>
              <a:rPr lang="en-US" sz="1900" b="1" dirty="0">
                <a:solidFill>
                  <a:srgbClr val="F5F5F0"/>
                </a:solidFill>
                <a:latin typeface="Cambria" pitchFamily="34" charset="0"/>
                <a:ea typeface="Cambria" pitchFamily="34" charset="-122"/>
                <a:cs typeface="Cambria" pitchFamily="34" charset="-120"/>
              </a:rPr>
              <a:t>Platform-specific</a:t>
            </a:r>
            <a:endParaRPr lang="en-US" sz="1900" dirty="0"/>
          </a:p>
        </p:txBody>
      </p:sp>
      <p:sp>
        <p:nvSpPr>
          <p:cNvPr id="12" name="Text 9"/>
          <p:cNvSpPr txBox="1"/>
          <p:nvPr/>
        </p:nvSpPr>
        <p:spPr>
          <a:xfrm>
            <a:off x="6537960" y="3703320"/>
            <a:ext cx="4800600" cy="2011680"/>
          </a:xfrm>
          <a:prstGeom prst="rect">
            <a:avLst/>
          </a:prstGeom>
          <a:noFill/>
          <a:ln/>
        </p:spPr>
        <p:txBody>
          <a:bodyPr wrap="square" lIns="0" tIns="0" rIns="0" bIns="0" rtlCol="0" anchor="ctr"/>
          <a:lstStyle/>
          <a:p>
            <a:pPr marL="342900" indent="-342900">
              <a:spcAft>
                <a:spcPts val="1000"/>
              </a:spcAft>
              <a:buSzPct val="100000"/>
              <a:buChar char="•"/>
            </a:pPr>
            <a:r>
              <a:rPr lang="en-US" sz="1650" dirty="0">
                <a:solidFill>
                  <a:srgbClr val="F5F5F0"/>
                </a:solidFill>
                <a:latin typeface="Calibri" pitchFamily="34" charset="0"/>
                <a:ea typeface="Calibri" pitchFamily="34" charset="-122"/>
                <a:cs typeface="Calibri" pitchFamily="34" charset="-120"/>
              </a:rPr>
              <a:t>Dashboards — partial equivalent, this section</a:t>
            </a:r>
            <a:endParaRPr lang="en-US" sz="1650" dirty="0"/>
          </a:p>
          <a:p>
            <a:pPr marL="342900" indent="-342900">
              <a:buSzPct val="100000"/>
              <a:buChar char="•"/>
            </a:pPr>
            <a:r>
              <a:rPr lang="en-US" sz="1650" dirty="0">
                <a:solidFill>
                  <a:srgbClr val="F5F5F0"/>
                </a:solidFill>
                <a:latin typeface="Calibri" pitchFamily="34" charset="0"/>
                <a:ea typeface="Calibri" pitchFamily="34" charset="-122"/>
                <a:cs typeface="Calibri" pitchFamily="34" charset="-120"/>
              </a:rPr>
              <a:t>Boards &amp; Test Plans — the whole next section</a:t>
            </a:r>
            <a:endParaRPr lang="en-US" sz="1650" dirty="0"/>
          </a:p>
        </p:txBody>
      </p:sp>
      <p:sp>
        <p:nvSpPr>
          <p:cNvPr id="13" name="Slide Number Placeholder"/>
          <p:cNvSpPr>
            <a:spLocks noGrp="1"/>
          </p:cNvSpPr>
          <p:nvPr>
            <p:ph type="sldNum" sz="quarter" idx="10"/>
          </p:nvPr>
        </p:nvSpPr>
        <p:spPr/>
        <p:txBody>
          <a:bodyPr/>
          <a:lstStyle/>
          <a:p>
            <a:fld id="{BCB632DE-6AD4-40F1-944C-28C0E9BF62DC}" type="slidenum">
              <a:rPr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39" y="749808"/>
            <a:ext cx="10746545"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Hybrid: Leave What Makes Sense</a:t>
            </a:r>
            <a:endParaRPr lang="en-US" sz="3200" dirty="0"/>
          </a:p>
        </p:txBody>
      </p:sp>
      <p:sp>
        <p:nvSpPr>
          <p:cNvPr id="6" name="TextBox 5"/>
          <p:cNvSpPr txBox="1"/>
          <p:nvPr/>
        </p:nvSpPr>
        <p:spPr>
          <a:xfrm>
            <a:off x="548640" y="1525708"/>
            <a:ext cx="11064240" cy="276999"/>
          </a:xfrm>
          <a:prstGeom prst="rect">
            <a:avLst/>
          </a:prstGeom>
          <a:noFill/>
        </p:spPr>
        <p:txBody>
          <a:bodyPr wrap="square" lIns="0" tIns="0" rIns="0" bIns="0" anchor="ctr">
            <a:spAutoFit/>
          </a:bodyPr>
          <a:lstStyle/>
          <a:p>
            <a:pPr algn="l"/>
            <a:r>
              <a:rPr lang="en-US" sz="1800" b="1" i="0" dirty="0">
                <a:solidFill>
                  <a:srgbClr val="1F3D2C"/>
                </a:solidFill>
              </a:rPr>
              <a:t>Move repository-centric workflows to GitHub—retain Azure DevOps where it still provides material value.</a:t>
            </a:r>
          </a:p>
        </p:txBody>
      </p:sp>
      <p:sp>
        <p:nvSpPr>
          <p:cNvPr id="7" name="Rounded Rectangle 6"/>
          <p:cNvSpPr/>
          <p:nvPr/>
        </p:nvSpPr>
        <p:spPr>
          <a:xfrm>
            <a:off x="548640" y="2011680"/>
            <a:ext cx="5349240" cy="3017520"/>
          </a:xfrm>
          <a:prstGeom prst="roundRect">
            <a:avLst>
              <a:gd name="adj" fmla="val 8000"/>
            </a:avLst>
          </a:prstGeom>
          <a:solidFill>
            <a:srgbClr val="F7F6F2"/>
          </a:solidFill>
          <a:ln w="12700">
            <a:solidFill>
              <a:srgbClr val="DDD8CC"/>
            </a:solidFill>
          </a:ln>
        </p:spPr>
        <p:txBody>
          <a:bodyPr rtlCol="0" anchor="ctr"/>
          <a:lstStyle/>
          <a:p>
            <a:pPr algn="ctr"/>
            <a:endParaRPr lang="en-US"/>
          </a:p>
        </p:txBody>
      </p:sp>
      <p:sp>
        <p:nvSpPr>
          <p:cNvPr id="8" name="Rounded Rectangle 7"/>
          <p:cNvSpPr/>
          <p:nvPr/>
        </p:nvSpPr>
        <p:spPr>
          <a:xfrm>
            <a:off x="6263640" y="2011680"/>
            <a:ext cx="5349240" cy="3017520"/>
          </a:xfrm>
          <a:prstGeom prst="roundRect">
            <a:avLst>
              <a:gd name="adj" fmla="val 8000"/>
            </a:avLst>
          </a:prstGeom>
          <a:solidFill>
            <a:srgbClr val="F7F6F2"/>
          </a:solidFill>
          <a:ln w="12700">
            <a:solidFill>
              <a:srgbClr val="DDD8CC"/>
            </a:solidFill>
          </a:ln>
        </p:spPr>
        <p:txBody>
          <a:bodyPr rtlCol="0" anchor="ctr"/>
          <a:lstStyle/>
          <a:p>
            <a:pPr algn="ctr"/>
            <a:endParaRPr lang="en-US"/>
          </a:p>
        </p:txBody>
      </p:sp>
      <p:sp>
        <p:nvSpPr>
          <p:cNvPr id="9" name="TextBox 8"/>
          <p:cNvSpPr txBox="1"/>
          <p:nvPr/>
        </p:nvSpPr>
        <p:spPr>
          <a:xfrm>
            <a:off x="822960" y="2212848"/>
            <a:ext cx="4754880" cy="347472"/>
          </a:xfrm>
          <a:prstGeom prst="rect">
            <a:avLst/>
          </a:prstGeom>
          <a:noFill/>
        </p:spPr>
        <p:txBody>
          <a:bodyPr wrap="square" lIns="0" tIns="0" rIns="0" bIns="0" anchor="t">
            <a:spAutoFit/>
          </a:bodyPr>
          <a:lstStyle/>
          <a:p>
            <a:pPr algn="l"/>
            <a:r>
              <a:rPr sz="2200" b="1" i="0">
                <a:solidFill>
                  <a:srgbClr val="1F3D2C"/>
                </a:solidFill>
                <a:latin typeface="Cambria"/>
              </a:rPr>
              <a:t>GitHub</a:t>
            </a:r>
          </a:p>
        </p:txBody>
      </p:sp>
      <p:sp>
        <p:nvSpPr>
          <p:cNvPr id="10" name="TextBox 9"/>
          <p:cNvSpPr txBox="1"/>
          <p:nvPr/>
        </p:nvSpPr>
        <p:spPr>
          <a:xfrm>
            <a:off x="822960" y="2560320"/>
            <a:ext cx="4754880" cy="274320"/>
          </a:xfrm>
          <a:prstGeom prst="rect">
            <a:avLst/>
          </a:prstGeom>
          <a:noFill/>
        </p:spPr>
        <p:txBody>
          <a:bodyPr wrap="square" lIns="0" tIns="0" rIns="0" bIns="0" anchor="t">
            <a:spAutoFit/>
          </a:bodyPr>
          <a:lstStyle/>
          <a:p>
            <a:pPr algn="l"/>
            <a:r>
              <a:rPr lang="en-US" sz="1450" b="1" i="1">
                <a:solidFill>
                  <a:srgbClr val="C1440E"/>
                </a:solidFill>
                <a:latin typeface="Calibri"/>
              </a:rPr>
              <a:t>Repository + code workflows</a:t>
            </a:r>
          </a:p>
        </p:txBody>
      </p:sp>
      <p:sp>
        <p:nvSpPr>
          <p:cNvPr id="11" name="TextBox 10"/>
          <p:cNvSpPr txBox="1"/>
          <p:nvPr/>
        </p:nvSpPr>
        <p:spPr>
          <a:xfrm>
            <a:off x="822960" y="2971800"/>
            <a:ext cx="4709160" cy="1874519"/>
          </a:xfrm>
          <a:prstGeom prst="rect">
            <a:avLst/>
          </a:prstGeom>
          <a:noFill/>
        </p:spPr>
        <p:txBody>
          <a:bodyPr wrap="square" lIns="0" tIns="0" rIns="0" bIns="0" anchor="t">
            <a:spAutoFit/>
          </a:bodyPr>
          <a:lstStyle/>
          <a:p>
            <a:pPr algn="l">
              <a:lnSpc>
                <a:spcPts val="2100"/>
              </a:lnSpc>
              <a:spcAft>
                <a:spcPts val="700"/>
              </a:spcAft>
            </a:pPr>
            <a:r>
              <a:rPr lang="en-US" sz="1600">
                <a:solidFill>
                  <a:srgbClr val="2B2B2B"/>
                </a:solidFill>
                <a:latin typeface="Calibri"/>
              </a:rPr>
              <a:t>•  GitHub repositories</a:t>
            </a:r>
          </a:p>
          <a:p>
            <a:pPr algn="l">
              <a:lnSpc>
                <a:spcPts val="2100"/>
              </a:lnSpc>
              <a:spcAft>
                <a:spcPts val="700"/>
              </a:spcAft>
            </a:pPr>
            <a:r>
              <a:rPr lang="en-US" sz="1600">
                <a:solidFill>
                  <a:srgbClr val="2B2B2B"/>
                </a:solidFill>
                <a:latin typeface="Calibri"/>
              </a:rPr>
              <a:t>•  Pull requests and code review</a:t>
            </a:r>
          </a:p>
          <a:p>
            <a:pPr algn="l">
              <a:lnSpc>
                <a:spcPts val="2100"/>
              </a:lnSpc>
              <a:spcAft>
                <a:spcPts val="700"/>
              </a:spcAft>
            </a:pPr>
            <a:r>
              <a:rPr lang="en-US" sz="1600">
                <a:solidFill>
                  <a:srgbClr val="2B2B2B"/>
                </a:solidFill>
                <a:latin typeface="Calibri"/>
              </a:rPr>
              <a:t>•  Repository-native Copilot capabilities</a:t>
            </a:r>
          </a:p>
          <a:p>
            <a:pPr algn="l">
              <a:lnSpc>
                <a:spcPts val="2100"/>
              </a:lnSpc>
              <a:spcAft>
                <a:spcPts val="700"/>
              </a:spcAft>
            </a:pPr>
            <a:r>
              <a:rPr lang="en-US" sz="1600">
                <a:solidFill>
                  <a:srgbClr val="2B2B2B"/>
                </a:solidFill>
                <a:latin typeface="Calibri"/>
              </a:rPr>
              <a:t>•  GitHub Actions, where appropriate</a:t>
            </a:r>
          </a:p>
          <a:p>
            <a:pPr algn="l">
              <a:lnSpc>
                <a:spcPts val="2100"/>
              </a:lnSpc>
              <a:spcAft>
                <a:spcPts val="700"/>
              </a:spcAft>
            </a:pPr>
            <a:r>
              <a:rPr lang="en-US" sz="1600">
                <a:solidFill>
                  <a:srgbClr val="2B2B2B"/>
                </a:solidFill>
                <a:latin typeface="Calibri"/>
              </a:rPr>
              <a:t>•  Repository security and policy controls</a:t>
            </a:r>
          </a:p>
        </p:txBody>
      </p:sp>
      <p:sp>
        <p:nvSpPr>
          <p:cNvPr id="12" name="TextBox 11"/>
          <p:cNvSpPr txBox="1">
            <a:spLocks/>
          </p:cNvSpPr>
          <p:nvPr/>
        </p:nvSpPr>
        <p:spPr>
          <a:xfrm>
            <a:off x="6537960" y="2212848"/>
            <a:ext cx="4754880" cy="347472"/>
          </a:xfrm>
          <a:prstGeom prst="rect">
            <a:avLst/>
          </a:prstGeom>
          <a:noFill/>
        </p:spPr>
        <p:txBody>
          <a:bodyPr wrap="square" lIns="0" tIns="0" rIns="0" bIns="0" anchor="t">
            <a:spAutoFit/>
          </a:bodyPr>
          <a:lstStyle/>
          <a:p>
            <a:pPr algn="l"/>
            <a:r>
              <a:rPr lang="en-US" sz="2200" b="1" i="0">
                <a:solidFill>
                  <a:srgbClr val="1F3D2C"/>
                </a:solidFill>
                <a:latin typeface="Cambria"/>
              </a:rPr>
              <a:t>Azure DevOps</a:t>
            </a:r>
          </a:p>
        </p:txBody>
      </p:sp>
      <p:sp>
        <p:nvSpPr>
          <p:cNvPr id="13" name="TextBox 12"/>
          <p:cNvSpPr txBox="1">
            <a:spLocks/>
          </p:cNvSpPr>
          <p:nvPr/>
        </p:nvSpPr>
        <p:spPr>
          <a:xfrm>
            <a:off x="6537960" y="2560320"/>
            <a:ext cx="4754880" cy="274320"/>
          </a:xfrm>
          <a:prstGeom prst="rect">
            <a:avLst/>
          </a:prstGeom>
          <a:noFill/>
        </p:spPr>
        <p:txBody>
          <a:bodyPr wrap="square" lIns="0" tIns="0" rIns="0" bIns="0" anchor="t">
            <a:spAutoFit/>
          </a:bodyPr>
          <a:lstStyle/>
          <a:p>
            <a:pPr algn="l"/>
            <a:r>
              <a:rPr lang="en-US" sz="1450" b="1" i="1">
                <a:solidFill>
                  <a:srgbClr val="C1440E"/>
                </a:solidFill>
                <a:latin typeface="Calibri"/>
              </a:rPr>
              <a:t>Planning, portfolio + testing workflows</a:t>
            </a:r>
          </a:p>
        </p:txBody>
      </p:sp>
      <p:sp>
        <p:nvSpPr>
          <p:cNvPr id="14" name="TextBox 13"/>
          <p:cNvSpPr txBox="1"/>
          <p:nvPr/>
        </p:nvSpPr>
        <p:spPr>
          <a:xfrm>
            <a:off x="6537960" y="2971800"/>
            <a:ext cx="4709160" cy="1874519"/>
          </a:xfrm>
          <a:prstGeom prst="rect">
            <a:avLst/>
          </a:prstGeom>
          <a:noFill/>
        </p:spPr>
        <p:txBody>
          <a:bodyPr wrap="square" lIns="0" tIns="0" rIns="0" bIns="0" anchor="t">
            <a:spAutoFit/>
          </a:bodyPr>
          <a:lstStyle/>
          <a:p>
            <a:pPr algn="l">
              <a:lnSpc>
                <a:spcPts val="2100"/>
              </a:lnSpc>
              <a:spcAft>
                <a:spcPts val="700"/>
              </a:spcAft>
            </a:pPr>
            <a:r>
              <a:rPr sz="1600">
                <a:solidFill>
                  <a:srgbClr val="2B2B2B"/>
                </a:solidFill>
                <a:latin typeface="Calibri"/>
              </a:rPr>
              <a:t>•  Azure Boards—formal planning and reporting</a:t>
            </a:r>
          </a:p>
          <a:p>
            <a:pPr algn="l">
              <a:lnSpc>
                <a:spcPts val="2100"/>
              </a:lnSpc>
              <a:spcAft>
                <a:spcPts val="700"/>
              </a:spcAft>
            </a:pPr>
            <a:r>
              <a:rPr sz="1600">
                <a:solidFill>
                  <a:srgbClr val="2B2B2B"/>
                </a:solidFill>
                <a:latin typeface="Calibri"/>
              </a:rPr>
              <a:t>•  Azure Test Plans—structured manual testing</a:t>
            </a:r>
          </a:p>
          <a:p>
            <a:pPr algn="l">
              <a:lnSpc>
                <a:spcPts val="2100"/>
              </a:lnSpc>
              <a:spcAft>
                <a:spcPts val="700"/>
              </a:spcAft>
            </a:pPr>
            <a:r>
              <a:rPr sz="1600">
                <a:solidFill>
                  <a:srgbClr val="2B2B2B"/>
                </a:solidFill>
                <a:latin typeface="Calibri"/>
              </a:rPr>
              <a:t>•  Azure Pipelines—retained temporarily or deliberately</a:t>
            </a:r>
          </a:p>
        </p:txBody>
      </p:sp>
      <p:sp>
        <p:nvSpPr>
          <p:cNvPr id="34" name="Rounded Rectangle 30">
            <a:extLst>
              <a:ext uri="{FF2B5EF4-FFF2-40B4-BE49-F238E27FC236}">
                <a16:creationId xmlns:a16="http://schemas.microsoft.com/office/drawing/2014/main" id="{D1646937-CBCF-B3A5-B8E6-40CE73EF90E5}"/>
              </a:ext>
            </a:extLst>
          </p:cNvPr>
          <p:cNvSpPr/>
          <p:nvPr/>
        </p:nvSpPr>
        <p:spPr>
          <a:xfrm>
            <a:off x="548640" y="5349240"/>
            <a:ext cx="11064240" cy="713232"/>
          </a:xfrm>
          <a:prstGeom prst="roundRect">
            <a:avLst>
              <a:gd name="adj" fmla="val 12632"/>
            </a:avLst>
          </a:prstGeom>
          <a:solidFill>
            <a:srgbClr val="1F3D2C"/>
          </a:solidFill>
          <a:ln>
            <a:noFill/>
          </a:ln>
          <a:effectLst/>
        </p:spPr>
        <p:txBody>
          <a:bodyPr wrap="square" lIns="256032" tIns="54864" rIns="256032" bIns="54864" rtlCol="0" anchor="ctr"/>
          <a:lstStyle/>
          <a:p>
            <a:pPr algn="l">
              <a:spcBef>
                <a:spcPts val="0"/>
              </a:spcBef>
              <a:spcAft>
                <a:spcPts val="0"/>
              </a:spcAft>
            </a:pPr>
            <a:r>
              <a:rPr sz="1250" b="1" spc="120">
                <a:solidFill>
                  <a:srgbClr val="E0B85C"/>
                </a:solidFill>
                <a:latin typeface="Calibri"/>
              </a:rPr>
              <a:t>TAKEAWAY </a:t>
            </a:r>
            <a:r>
              <a:rPr sz="1500" b="0">
                <a:solidFill>
                  <a:srgbClr val="F5F5F0"/>
                </a:solidFill>
                <a:latin typeface="Calibri"/>
              </a:rPr>
              <a:t>Hybrid is not a temporary failure to finish the migration. It can be the intended architecture.</a:t>
            </a:r>
          </a:p>
        </p:txBody>
      </p:sp>
      <p:sp>
        <p:nvSpPr>
          <p:cNvPr id="35" name="Slide Number Placeholder"/>
          <p:cNvSpPr>
            <a:spLocks noGrp="1"/>
          </p:cNvSpPr>
          <p:nvPr>
            <p:ph type="sldNum" sz="quarter" idx="10"/>
          </p:nvPr>
        </p:nvSpPr>
        <p:spPr/>
        <p:txBody>
          <a:bodyPr/>
          <a:lstStyle/>
          <a:p>
            <a:fld id="{BCB632DE-6AD4-40F1-944C-28C0E9BF62DC}" type="slidenum">
              <a:rPr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9">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E0B85C"/>
                </a:solidFill>
                <a:latin typeface="Calibri" pitchFamily="34" charset="0"/>
                <a:ea typeface="Calibri" pitchFamily="34" charset="-122"/>
                <a:cs typeface="Calibri" pitchFamily="34" charset="-120"/>
              </a:rPr>
              <a:t>One quick question before we leave Section 2 — A Field Guide to the Local Species</a:t>
            </a:r>
            <a:endParaRPr lang="en-US" sz="1900" dirty="0"/>
          </a:p>
        </p:txBody>
      </p:sp>
      <p:sp>
        <p:nvSpPr>
          <p:cNvPr id="4" name="Slide Number Placeholder"/>
          <p:cNvSpPr>
            <a:spLocks noGrp="1"/>
          </p:cNvSpPr>
          <p:nvPr>
            <p:ph type="sldNum" sz="quarter" idx="10"/>
          </p:nvPr>
        </p:nvSpPr>
        <p:spPr/>
        <p:txBody>
          <a:bodyPr/>
          <a:lstStyle/>
          <a:p>
            <a:fld id="{BCB632DE-6AD4-40F1-944C-28C0E9BF62DC}" type="slidenum">
              <a:rPr lang="en-US">
                <a:solidFill>
                  <a:srgbClr val="E0B85C"/>
                </a:solidFill>
              </a:rPr>
              <a:t>16</a:t>
            </a:fld>
            <a:endParaRPr lang="en-US">
              <a:solidFill>
                <a:srgbClr val="E0B85C"/>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0">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3</a:t>
            </a:r>
            <a:endParaRPr lang="en-US" sz="1700" dirty="0"/>
          </a:p>
        </p:txBody>
      </p:sp>
      <p:pic>
        <p:nvPicPr>
          <p:cNvPr id="4" name="Image 0" descr="/home/claude/pptx-build/assets/icons/FaShip-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Crossing the River</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a:solidFill>
                  <a:srgbClr val="E0B85C"/>
                </a:solidFill>
                <a:latin typeface="Calibri"/>
              </a:rPr>
              <a:t>The river is crossed in layers: first the cargo, then the machinery that moves it, then the proof that it still works on the far bank.</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17</a:t>
            </a:fld>
            <a:endParaRPr lang="en-US">
              <a:solidFill>
                <a:srgbClr val="E0B85C"/>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ExclamationTriangl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Migration Risk Lives in Three Planes</a:t>
            </a:r>
            <a:endParaRPr lang="en-US" sz="3200" dirty="0"/>
          </a:p>
        </p:txBody>
      </p:sp>
      <p:sp>
        <p:nvSpPr>
          <p:cNvPr id="6" name="Rectangle 5"/>
          <p:cNvSpPr/>
          <p:nvPr/>
        </p:nvSpPr>
        <p:spPr>
          <a:xfrm>
            <a:off x="548640" y="1994837"/>
            <a:ext cx="11091672" cy="1143000"/>
          </a:xfrm>
          <a:prstGeom prst="roundRect">
            <a:avLst>
              <a:gd name="adj" fmla="val 9600"/>
            </a:avLst>
          </a:prstGeom>
          <a:solidFill>
            <a:srgbClr val="F7F6F2"/>
          </a:solidFill>
          <a:ln w="12700">
            <a:solidFill>
              <a:srgbClr val="DDD8CC"/>
            </a:solidFill>
          </a:ln>
        </p:spPr>
        <p:txBody>
          <a:bodyPr rtlCol="0" anchor="ctr"/>
          <a:lstStyle/>
          <a:p>
            <a:pPr algn="ctr"/>
            <a:endParaRPr lang="en-US"/>
          </a:p>
        </p:txBody>
      </p:sp>
      <p:sp>
        <p:nvSpPr>
          <p:cNvPr id="7" name="TextBox 6"/>
          <p:cNvSpPr txBox="1"/>
          <p:nvPr/>
        </p:nvSpPr>
        <p:spPr>
          <a:xfrm>
            <a:off x="777240" y="2150284"/>
            <a:ext cx="2743200" cy="329184"/>
          </a:xfrm>
          <a:prstGeom prst="rect">
            <a:avLst/>
          </a:prstGeom>
          <a:noFill/>
        </p:spPr>
        <p:txBody>
          <a:bodyPr wrap="square" lIns="73152" tIns="73152" rIns="73152" bIns="73152" anchor="t">
            <a:spAutoFit/>
          </a:bodyPr>
          <a:lstStyle/>
          <a:p>
            <a:pPr algn="l"/>
            <a:r>
              <a:rPr lang="en-US" sz="1500" b="1" i="0">
                <a:solidFill>
                  <a:srgbClr val="C1440E"/>
                </a:solidFill>
                <a:latin typeface="Calibri"/>
              </a:rPr>
              <a:t>01  REPOSITORY DATA PLANE</a:t>
            </a:r>
          </a:p>
        </p:txBody>
      </p:sp>
      <p:sp>
        <p:nvSpPr>
          <p:cNvPr id="8" name="TextBox 7"/>
          <p:cNvSpPr txBox="1">
            <a:spLocks/>
          </p:cNvSpPr>
          <p:nvPr/>
        </p:nvSpPr>
        <p:spPr>
          <a:xfrm>
            <a:off x="3337560" y="2177716"/>
            <a:ext cx="7955279" cy="658368"/>
          </a:xfrm>
          <a:prstGeom prst="rect">
            <a:avLst/>
          </a:prstGeom>
          <a:noFill/>
        </p:spPr>
        <p:txBody>
          <a:bodyPr wrap="square" lIns="73152" tIns="73152" rIns="73152" bIns="73152" anchor="ctr">
            <a:spAutoFit/>
          </a:bodyPr>
          <a:lstStyle/>
          <a:p>
            <a:pPr algn="l"/>
            <a:r>
              <a:rPr lang="en-US" sz="1900" b="1" i="0">
                <a:solidFill>
                  <a:srgbClr val="2B2B2B"/>
                </a:solidFill>
                <a:latin typeface="Cambria"/>
              </a:rPr>
              <a:t>Git history  •  PR metadata  •  branch policies  •  identity attribution</a:t>
            </a:r>
          </a:p>
        </p:txBody>
      </p:sp>
      <p:sp>
        <p:nvSpPr>
          <p:cNvPr id="9" name="Rectangle 8"/>
          <p:cNvSpPr>
            <a:spLocks/>
          </p:cNvSpPr>
          <p:nvPr/>
        </p:nvSpPr>
        <p:spPr>
          <a:xfrm>
            <a:off x="548640" y="3348149"/>
            <a:ext cx="11091672" cy="1143000"/>
          </a:xfrm>
          <a:prstGeom prst="roundRect">
            <a:avLst>
              <a:gd name="adj" fmla="val 9600"/>
            </a:avLst>
          </a:prstGeom>
          <a:solidFill>
            <a:srgbClr val="F7F6F2"/>
          </a:solidFill>
          <a:ln w="12700">
            <a:solidFill>
              <a:srgbClr val="DDD8CC"/>
            </a:solidFill>
          </a:ln>
        </p:spPr>
        <p:txBody>
          <a:bodyPr rtlCol="0" anchor="ctr"/>
          <a:lstStyle/>
          <a:p>
            <a:pPr algn="ctr"/>
            <a:endParaRPr lang="en-US"/>
          </a:p>
        </p:txBody>
      </p:sp>
      <p:sp>
        <p:nvSpPr>
          <p:cNvPr id="10" name="TextBox 9"/>
          <p:cNvSpPr txBox="1"/>
          <p:nvPr/>
        </p:nvSpPr>
        <p:spPr>
          <a:xfrm>
            <a:off x="777240" y="3503597"/>
            <a:ext cx="2743200" cy="329184"/>
          </a:xfrm>
          <a:prstGeom prst="rect">
            <a:avLst/>
          </a:prstGeom>
          <a:noFill/>
        </p:spPr>
        <p:txBody>
          <a:bodyPr wrap="square" lIns="73152" tIns="73152" rIns="73152" bIns="73152" anchor="t">
            <a:spAutoFit/>
          </a:bodyPr>
          <a:lstStyle/>
          <a:p>
            <a:pPr algn="l"/>
            <a:r>
              <a:rPr lang="en-US" sz="1500" b="1" i="0">
                <a:solidFill>
                  <a:srgbClr val="C1440E"/>
                </a:solidFill>
                <a:latin typeface="Calibri"/>
              </a:rPr>
              <a:t>02  AUTOMATION PLANE</a:t>
            </a:r>
          </a:p>
        </p:txBody>
      </p:sp>
      <p:sp>
        <p:nvSpPr>
          <p:cNvPr id="11" name="TextBox 10"/>
          <p:cNvSpPr txBox="1">
            <a:spLocks/>
          </p:cNvSpPr>
          <p:nvPr/>
        </p:nvSpPr>
        <p:spPr>
          <a:xfrm>
            <a:off x="3337560" y="3493959"/>
            <a:ext cx="7955279" cy="732508"/>
          </a:xfrm>
          <a:prstGeom prst="rect">
            <a:avLst/>
          </a:prstGeom>
          <a:noFill/>
        </p:spPr>
        <p:txBody>
          <a:bodyPr wrap="square" lIns="73152" tIns="73152" rIns="73152" bIns="73152" anchor="ctr">
            <a:spAutoFit/>
          </a:bodyPr>
          <a:lstStyle/>
          <a:p>
            <a:r>
              <a:rPr lang="en-US" sz="1900" b="1" dirty="0">
                <a:solidFill>
                  <a:srgbClr val="2B2B2B"/>
                </a:solidFill>
                <a:latin typeface="Cambria"/>
              </a:rPr>
              <a:t>Builds  •  deployments  •  approvals  •  secrets  •  runners  •  environments</a:t>
            </a:r>
          </a:p>
        </p:txBody>
      </p:sp>
      <p:sp>
        <p:nvSpPr>
          <p:cNvPr id="12" name="Rectangle 11"/>
          <p:cNvSpPr>
            <a:spLocks/>
          </p:cNvSpPr>
          <p:nvPr/>
        </p:nvSpPr>
        <p:spPr>
          <a:xfrm>
            <a:off x="548640" y="4701461"/>
            <a:ext cx="11091672" cy="1143000"/>
          </a:xfrm>
          <a:prstGeom prst="roundRect">
            <a:avLst>
              <a:gd name="adj" fmla="val 9600"/>
            </a:avLst>
          </a:prstGeom>
          <a:solidFill>
            <a:srgbClr val="F7F6F2"/>
          </a:solidFill>
          <a:ln w="12700">
            <a:solidFill>
              <a:srgbClr val="DDD8CC"/>
            </a:solidFill>
          </a:ln>
        </p:spPr>
        <p:txBody>
          <a:bodyPr rtlCol="0" anchor="ctr"/>
          <a:lstStyle/>
          <a:p>
            <a:pPr algn="ctr"/>
            <a:endParaRPr lang="en-US"/>
          </a:p>
        </p:txBody>
      </p:sp>
      <p:sp>
        <p:nvSpPr>
          <p:cNvPr id="13" name="TextBox 12"/>
          <p:cNvSpPr txBox="1"/>
          <p:nvPr/>
        </p:nvSpPr>
        <p:spPr>
          <a:xfrm>
            <a:off x="777240" y="4856909"/>
            <a:ext cx="2743200" cy="329184"/>
          </a:xfrm>
          <a:prstGeom prst="rect">
            <a:avLst/>
          </a:prstGeom>
          <a:noFill/>
        </p:spPr>
        <p:txBody>
          <a:bodyPr wrap="square" lIns="73152" tIns="73152" rIns="73152" bIns="73152" anchor="t">
            <a:spAutoFit/>
          </a:bodyPr>
          <a:lstStyle/>
          <a:p>
            <a:pPr algn="l"/>
            <a:r>
              <a:rPr lang="en-US" sz="1500" b="1" i="0">
                <a:solidFill>
                  <a:srgbClr val="C1440E"/>
                </a:solidFill>
                <a:latin typeface="Calibri"/>
              </a:rPr>
              <a:t>03  VALIDATION PLANE</a:t>
            </a:r>
          </a:p>
        </p:txBody>
      </p:sp>
      <p:sp>
        <p:nvSpPr>
          <p:cNvPr id="14" name="TextBox 13"/>
          <p:cNvSpPr txBox="1"/>
          <p:nvPr/>
        </p:nvSpPr>
        <p:spPr>
          <a:xfrm>
            <a:off x="3337560" y="4884341"/>
            <a:ext cx="7955279" cy="658368"/>
          </a:xfrm>
          <a:prstGeom prst="rect">
            <a:avLst/>
          </a:prstGeom>
          <a:noFill/>
        </p:spPr>
        <p:txBody>
          <a:bodyPr wrap="square" lIns="73152" tIns="73152" rIns="73152" bIns="73152" anchor="ctr">
            <a:spAutoFit/>
          </a:bodyPr>
          <a:lstStyle/>
          <a:p>
            <a:pPr algn="l"/>
            <a:r>
              <a:rPr lang="en-US" sz="1900" b="1" i="0" dirty="0">
                <a:solidFill>
                  <a:srgbClr val="2B2B2B"/>
                </a:solidFill>
                <a:latin typeface="Cambria"/>
              </a:rPr>
              <a:t>Behavioral equivalence  •  security  •  performance  •  rollback  •  operability</a:t>
            </a:r>
          </a:p>
        </p:txBody>
      </p:sp>
      <p:sp>
        <p:nvSpPr>
          <p:cNvPr id="16" name="Slide Number Placeholder"/>
          <p:cNvSpPr>
            <a:spLocks noGrp="1"/>
          </p:cNvSpPr>
          <p:nvPr>
            <p:ph type="sldNum" sz="quarter" idx="10"/>
          </p:nvPr>
        </p:nvSpPr>
        <p:spPr/>
        <p:txBody>
          <a:bodyPr/>
          <a:lstStyle/>
          <a:p>
            <a:fld id="{BCB632DE-6AD4-40F1-944C-28C0E9BF62DC}" type="slidenum">
              <a:rPr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ut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a:rPr>
              <a:t>Migration Methods</a:t>
            </a:r>
            <a:endParaRPr lang="en-US" sz="3200" dirty="0"/>
          </a:p>
        </p:txBody>
      </p:sp>
      <p:graphicFrame>
        <p:nvGraphicFramePr>
          <p:cNvPr id="6" name="Table 5"/>
          <p:cNvGraphicFramePr>
            <a:graphicFrameLocks noGrp="1"/>
          </p:cNvGraphicFramePr>
          <p:nvPr>
            <p:extLst>
              <p:ext uri="{D42A27DB-BD31-4B8C-83A1-F6EECF244321}">
                <p14:modId xmlns:p14="http://schemas.microsoft.com/office/powerpoint/2010/main" val="3373412851"/>
              </p:ext>
            </p:extLst>
          </p:nvPr>
        </p:nvGraphicFramePr>
        <p:xfrm>
          <a:off x="548640" y="1508760"/>
          <a:ext cx="11091672" cy="4160520"/>
        </p:xfrm>
        <a:graphic>
          <a:graphicData uri="http://schemas.openxmlformats.org/drawingml/2006/table">
            <a:tbl>
              <a:tblPr firstRow="1" bandRow="1">
                <a:tableStyleId>{5C22544A-7EE6-4342-B048-85BDC9FD1C3A}</a:tableStyleId>
              </a:tblPr>
              <a:tblGrid>
                <a:gridCol w="1965960">
                  <a:extLst>
                    <a:ext uri="{9D8B030D-6E8A-4147-A177-3AD203B41FA5}">
                      <a16:colId xmlns:a16="http://schemas.microsoft.com/office/drawing/2014/main" val="20000"/>
                    </a:ext>
                  </a:extLst>
                </a:gridCol>
                <a:gridCol w="288036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227832">
                  <a:extLst>
                    <a:ext uri="{9D8B030D-6E8A-4147-A177-3AD203B41FA5}">
                      <a16:colId xmlns:a16="http://schemas.microsoft.com/office/drawing/2014/main" val="20003"/>
                    </a:ext>
                  </a:extLst>
                </a:gridCol>
              </a:tblGrid>
              <a:tr h="576072">
                <a:tc>
                  <a:txBody>
                    <a:bodyPr/>
                    <a:lstStyle/>
                    <a:p>
                      <a:pPr algn="l"/>
                      <a:r>
                        <a:rPr sz="1400" b="1">
                          <a:solidFill>
                            <a:srgbClr val="F5F5F0"/>
                          </a:solidFill>
                          <a:latin typeface="Calibri"/>
                        </a:rPr>
                        <a:t>MIGRATION PLANE</a:t>
                      </a:r>
                    </a:p>
                  </a:txBody>
                  <a:tcPr marT="64008" marB="64008" anchor="ctr">
                    <a:solidFill>
                      <a:srgbClr val="1F3D2C"/>
                    </a:solidFill>
                  </a:tcPr>
                </a:tc>
                <a:tc>
                  <a:txBody>
                    <a:bodyPr/>
                    <a:lstStyle/>
                    <a:p>
                      <a:pPr algn="l"/>
                      <a:r>
                        <a:rPr sz="1400" b="1">
                          <a:solidFill>
                            <a:srgbClr val="F5F5F0"/>
                          </a:solidFill>
                          <a:latin typeface="Calibri"/>
                        </a:rPr>
                        <a:t>MANUAL JUDGMENT</a:t>
                      </a:r>
                    </a:p>
                  </a:txBody>
                  <a:tcPr marT="64008" marB="64008" anchor="ctr">
                    <a:solidFill>
                      <a:srgbClr val="1F3D2C"/>
                    </a:solidFill>
                  </a:tcPr>
                </a:tc>
                <a:tc>
                  <a:txBody>
                    <a:bodyPr/>
                    <a:lstStyle/>
                    <a:p>
                      <a:pPr algn="l"/>
                      <a:r>
                        <a:rPr sz="1400" b="1">
                          <a:solidFill>
                            <a:srgbClr val="F5F5F0"/>
                          </a:solidFill>
                          <a:latin typeface="Calibri"/>
                        </a:rPr>
                        <a:t>OFFICIAL TOOLING</a:t>
                      </a:r>
                    </a:p>
                  </a:txBody>
                  <a:tcPr marT="64008" marB="64008" anchor="ctr">
                    <a:solidFill>
                      <a:srgbClr val="1F3D2C"/>
                    </a:solidFill>
                  </a:tcPr>
                </a:tc>
                <a:tc>
                  <a:txBody>
                    <a:bodyPr/>
                    <a:lstStyle/>
                    <a:p>
                      <a:pPr algn="l"/>
                      <a:r>
                        <a:rPr sz="1400" b="1">
                          <a:solidFill>
                            <a:srgbClr val="F5F5F0"/>
                          </a:solidFill>
                          <a:latin typeface="Calibri"/>
                        </a:rPr>
                        <a:t>AI ASSISTANCE</a:t>
                      </a:r>
                    </a:p>
                  </a:txBody>
                  <a:tcPr marT="64008" marB="64008" anchor="ctr">
                    <a:solidFill>
                      <a:srgbClr val="1F3D2C"/>
                    </a:solidFill>
                  </a:tcPr>
                </a:tc>
                <a:extLst>
                  <a:ext uri="{0D108BD9-81ED-4DB2-BD59-A6C34878D82A}">
                    <a16:rowId xmlns:a16="http://schemas.microsoft.com/office/drawing/2014/main" val="10000"/>
                  </a:ext>
                </a:extLst>
              </a:tr>
              <a:tr h="1188720">
                <a:tc>
                  <a:txBody>
                    <a:bodyPr/>
                    <a:lstStyle/>
                    <a:p>
                      <a:pPr algn="l"/>
                      <a:r>
                        <a:rPr sz="1400" b="1">
                          <a:solidFill>
                            <a:srgbClr val="C1440E"/>
                          </a:solidFill>
                          <a:latin typeface="Calibri"/>
                        </a:rPr>
                        <a:t>Repository data</a:t>
                      </a:r>
                    </a:p>
                  </a:txBody>
                  <a:tcPr marT="64008" marB="64008" anchor="ctr">
                    <a:solidFill>
                      <a:srgbClr val="F7F6F2"/>
                    </a:solidFill>
                  </a:tcPr>
                </a:tc>
                <a:tc>
                  <a:txBody>
                    <a:bodyPr/>
                    <a:lstStyle/>
                    <a:p>
                      <a:pPr algn="l"/>
                      <a:r>
                        <a:rPr sz="1400" b="0">
                          <a:solidFill>
                            <a:srgbClr val="2B2B2B"/>
                          </a:solidFill>
                          <a:latin typeface="Calibri"/>
                        </a:rPr>
                        <a:t>Resolve identity, permissions, visibility, and policy exceptions.</a:t>
                      </a:r>
                    </a:p>
                  </a:txBody>
                  <a:tcPr marT="64008" marB="64008" anchor="ctr">
                    <a:solidFill>
                      <a:srgbClr val="F7F6F2"/>
                    </a:solidFill>
                  </a:tcPr>
                </a:tc>
                <a:tc>
                  <a:txBody>
                    <a:bodyPr/>
                    <a:lstStyle/>
                    <a:p>
                      <a:pPr algn="l"/>
                      <a:r>
                        <a:rPr sz="1400" b="0">
                          <a:solidFill>
                            <a:srgbClr val="2B2B2B"/>
                          </a:solidFill>
                          <a:latin typeface="Calibri"/>
                        </a:rPr>
                        <a:t>GEI / gh-ado2gh; Enterprise Live Migrations (ELM) where eligible.</a:t>
                      </a:r>
                    </a:p>
                  </a:txBody>
                  <a:tcPr marT="64008" marB="64008" anchor="ctr">
                    <a:solidFill>
                      <a:srgbClr val="F7F6F2"/>
                    </a:solidFill>
                  </a:tcPr>
                </a:tc>
                <a:tc>
                  <a:txBody>
                    <a:bodyPr/>
                    <a:lstStyle/>
                    <a:p>
                      <a:pPr algn="l"/>
                      <a:r>
                        <a:rPr sz="1400" b="0">
                          <a:solidFill>
                            <a:srgbClr val="2B2B2B"/>
                          </a:solidFill>
                          <a:latin typeface="Calibri"/>
                        </a:rPr>
                        <a:t>Triage inventory and explain migration-log failures.</a:t>
                      </a:r>
                    </a:p>
                  </a:txBody>
                  <a:tcPr marT="64008" marB="64008" anchor="ctr">
                    <a:solidFill>
                      <a:srgbClr val="F7F6F2"/>
                    </a:solidFill>
                  </a:tcPr>
                </a:tc>
                <a:extLst>
                  <a:ext uri="{0D108BD9-81ED-4DB2-BD59-A6C34878D82A}">
                    <a16:rowId xmlns:a16="http://schemas.microsoft.com/office/drawing/2014/main" val="10001"/>
                  </a:ext>
                </a:extLst>
              </a:tr>
              <a:tr h="1188720">
                <a:tc>
                  <a:txBody>
                    <a:bodyPr/>
                    <a:lstStyle/>
                    <a:p>
                      <a:pPr algn="l"/>
                      <a:r>
                        <a:rPr sz="1400" b="1" dirty="0">
                          <a:solidFill>
                            <a:srgbClr val="C1440E"/>
                          </a:solidFill>
                          <a:latin typeface="Calibri"/>
                        </a:rPr>
                        <a:t>Automation</a:t>
                      </a:r>
                    </a:p>
                  </a:txBody>
                  <a:tcPr marT="64008" marB="64008" anchor="ctr">
                    <a:solidFill>
                      <a:srgbClr val="FFFFFF"/>
                    </a:solidFill>
                  </a:tcPr>
                </a:tc>
                <a:tc>
                  <a:txBody>
                    <a:bodyPr/>
                    <a:lstStyle/>
                    <a:p>
                      <a:pPr algn="l"/>
                      <a:r>
                        <a:rPr sz="1400" b="0">
                          <a:solidFill>
                            <a:srgbClr val="2B2B2B"/>
                          </a:solidFill>
                          <a:latin typeface="Calibri"/>
                        </a:rPr>
                        <a:t>Redesign approvals, secrets, runners, environments, and lifecycle boundaries.</a:t>
                      </a:r>
                    </a:p>
                  </a:txBody>
                  <a:tcPr marT="64008" marB="64008" anchor="ctr">
                    <a:solidFill>
                      <a:srgbClr val="FFFFFF"/>
                    </a:solidFill>
                  </a:tcPr>
                </a:tc>
                <a:tc>
                  <a:txBody>
                    <a:bodyPr/>
                    <a:lstStyle/>
                    <a:p>
                      <a:pPr algn="l"/>
                      <a:r>
                        <a:rPr sz="1400" b="0" dirty="0">
                          <a:solidFill>
                            <a:srgbClr val="2B2B2B"/>
                          </a:solidFill>
                          <a:latin typeface="Calibri"/>
                        </a:rPr>
                        <a:t>Actions Importer audits and converts supported constructs.</a:t>
                      </a:r>
                    </a:p>
                  </a:txBody>
                  <a:tcPr marT="64008" marB="64008" anchor="ctr">
                    <a:solidFill>
                      <a:srgbClr val="FFFFFF"/>
                    </a:solidFill>
                  </a:tcPr>
                </a:tc>
                <a:tc>
                  <a:txBody>
                    <a:bodyPr/>
                    <a:lstStyle/>
                    <a:p>
                      <a:pPr algn="l"/>
                      <a:r>
                        <a:rPr sz="1400" b="0" dirty="0">
                          <a:solidFill>
                            <a:srgbClr val="2B2B2B"/>
                          </a:solidFill>
                          <a:latin typeface="Calibri"/>
                        </a:rPr>
                        <a:t>Analyze intent, draft semantic conversions, and explain deltas.</a:t>
                      </a:r>
                    </a:p>
                  </a:txBody>
                  <a:tcPr marT="64008" marB="64008" anchor="ctr">
                    <a:solidFill>
                      <a:srgbClr val="FFFFFF"/>
                    </a:solidFill>
                  </a:tcPr>
                </a:tc>
                <a:extLst>
                  <a:ext uri="{0D108BD9-81ED-4DB2-BD59-A6C34878D82A}">
                    <a16:rowId xmlns:a16="http://schemas.microsoft.com/office/drawing/2014/main" val="10002"/>
                  </a:ext>
                </a:extLst>
              </a:tr>
              <a:tr h="1207008">
                <a:tc>
                  <a:txBody>
                    <a:bodyPr/>
                    <a:lstStyle/>
                    <a:p>
                      <a:pPr algn="l"/>
                      <a:r>
                        <a:rPr sz="1400" b="1">
                          <a:solidFill>
                            <a:srgbClr val="C1440E"/>
                          </a:solidFill>
                          <a:latin typeface="Calibri"/>
                        </a:rPr>
                        <a:t>Validation</a:t>
                      </a:r>
                    </a:p>
                  </a:txBody>
                  <a:tcPr marT="64008" marB="64008" anchor="ctr">
                    <a:solidFill>
                      <a:srgbClr val="F7F6F2"/>
                    </a:solidFill>
                  </a:tcPr>
                </a:tc>
                <a:tc>
                  <a:txBody>
                    <a:bodyPr/>
                    <a:lstStyle/>
                    <a:p>
                      <a:pPr algn="l"/>
                      <a:r>
                        <a:rPr sz="1400" b="0" dirty="0">
                          <a:solidFill>
                            <a:srgbClr val="2B2B2B"/>
                          </a:solidFill>
                          <a:latin typeface="Calibri"/>
                        </a:rPr>
                        <a:t>Own acceptance criteria, risk decisions, cutover, and rollback.</a:t>
                      </a:r>
                    </a:p>
                  </a:txBody>
                  <a:tcPr marT="64008" marB="64008" anchor="ctr">
                    <a:solidFill>
                      <a:srgbClr val="F7F6F2"/>
                    </a:solidFill>
                  </a:tcPr>
                </a:tc>
                <a:tc>
                  <a:txBody>
                    <a:bodyPr/>
                    <a:lstStyle/>
                    <a:p>
                      <a:pPr algn="l"/>
                      <a:r>
                        <a:rPr sz="1400" b="0" dirty="0">
                          <a:solidFill>
                            <a:srgbClr val="2B2B2B"/>
                          </a:solidFill>
                          <a:latin typeface="Calibri"/>
                        </a:rPr>
                        <a:t>Tests, scanners, deployment gates, and observability.</a:t>
                      </a:r>
                    </a:p>
                  </a:txBody>
                  <a:tcPr marT="64008" marB="64008" anchor="ctr">
                    <a:solidFill>
                      <a:srgbClr val="F7F6F2"/>
                    </a:solidFill>
                  </a:tcPr>
                </a:tc>
                <a:tc>
                  <a:txBody>
                    <a:bodyPr/>
                    <a:lstStyle/>
                    <a:p>
                      <a:pPr algn="l"/>
                      <a:r>
                        <a:rPr sz="1400" b="0" dirty="0">
                          <a:solidFill>
                            <a:srgbClr val="2B2B2B"/>
                          </a:solidFill>
                          <a:latin typeface="Calibri"/>
                        </a:rPr>
                        <a:t>Generate test hypotheses, compare behavior, and triage failures.</a:t>
                      </a:r>
                    </a:p>
                  </a:txBody>
                  <a:tcPr marT="64008" marB="64008" anchor="ctr">
                    <a:solidFill>
                      <a:srgbClr val="F7F6F2"/>
                    </a:solidFill>
                  </a:tcPr>
                </a:tc>
                <a:extLst>
                  <a:ext uri="{0D108BD9-81ED-4DB2-BD59-A6C34878D82A}">
                    <a16:rowId xmlns:a16="http://schemas.microsoft.com/office/drawing/2014/main" val="10003"/>
                  </a:ext>
                </a:extLst>
              </a:tr>
            </a:tbl>
          </a:graphicData>
        </a:graphic>
      </p:graphicFrame>
      <p:sp>
        <p:nvSpPr>
          <p:cNvPr id="8" name="Rounded Rectangle 7"/>
          <p:cNvSpPr/>
          <p:nvPr/>
        </p:nvSpPr>
        <p:spPr>
          <a:xfrm>
            <a:off x="548640" y="5568696"/>
            <a:ext cx="11064240" cy="731520"/>
          </a:xfrm>
          <a:prstGeom prst="roundRect">
            <a:avLst>
              <a:gd name="adj" fmla="val 12632"/>
            </a:avLst>
          </a:prstGeom>
          <a:solidFill>
            <a:srgbClr val="1F3D2C"/>
          </a:solidFill>
          <a:ln>
            <a:noFill/>
          </a:ln>
          <a:effectLst/>
        </p:spPr>
        <p:txBody>
          <a:bodyPr rtlCol="0" anchor="ctr"/>
          <a:lstStyle/>
          <a:p>
            <a:pPr algn="ctr"/>
            <a:endParaRPr/>
          </a:p>
        </p:txBody>
      </p:sp>
      <p:sp>
        <p:nvSpPr>
          <p:cNvPr id="7" name="TextBox 6"/>
          <p:cNvSpPr txBox="1">
            <a:spLocks/>
          </p:cNvSpPr>
          <p:nvPr/>
        </p:nvSpPr>
        <p:spPr>
          <a:xfrm>
            <a:off x="548640" y="5568696"/>
            <a:ext cx="11064240" cy="731520"/>
          </a:xfrm>
          <a:prstGeom prst="rect">
            <a:avLst/>
          </a:prstGeom>
          <a:noFill/>
        </p:spPr>
        <p:txBody>
          <a:bodyPr wrap="square" lIns="256032" tIns="54864" rIns="256032" bIns="54864" anchor="ctr">
            <a:spAutoFit/>
          </a:bodyPr>
          <a:lstStyle/>
          <a:p>
            <a:pPr algn="l"/>
            <a:r>
              <a:rPr sz="1250" b="1" spc="120">
                <a:solidFill>
                  <a:srgbClr val="E0B85C"/>
                </a:solidFill>
                <a:latin typeface="Calibri"/>
              </a:rPr>
              <a:t>TAKEAWAY </a:t>
            </a:r>
            <a:r>
              <a:rPr sz="1500" b="0">
                <a:solidFill>
                  <a:srgbClr val="F5F5F0"/>
                </a:solidFill>
                <a:latin typeface="Calibri"/>
              </a:rPr>
              <a:t>The methods are complementary. None is a substitute for evidence in the validation plane.</a:t>
            </a:r>
          </a:p>
        </p:txBody>
      </p:sp>
      <p:sp>
        <p:nvSpPr>
          <p:cNvPr id="9" name="Slide Number Placeholder"/>
          <p:cNvSpPr>
            <a:spLocks noGrp="1"/>
          </p:cNvSpPr>
          <p:nvPr>
            <p:ph type="sldNum" sz="quarter" idx="10"/>
          </p:nvPr>
        </p:nvSpPr>
        <p:spPr/>
        <p:txBody>
          <a:bodyPr/>
          <a:lstStyle/>
          <a:p>
            <a:fld id="{BCB632DE-6AD4-40F1-944C-28C0E9BF62DC}" type="slidenum">
              <a:rPr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HandPaper-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Manual Mapping Exposes the Semantic Gaps</a:t>
            </a:r>
            <a:endParaRPr lang="en-US" sz="3200" dirty="0"/>
          </a:p>
        </p:txBody>
      </p:sp>
      <p:graphicFrame>
        <p:nvGraphicFramePr>
          <p:cNvPr id="24" name="Table 0"/>
          <p:cNvGraphicFramePr>
            <a:graphicFrameLocks noGrp="1"/>
          </p:cNvGraphicFramePr>
          <p:nvPr>
            <p:extLst>
              <p:ext uri="{D42A27DB-BD31-4B8C-83A1-F6EECF244321}">
                <p14:modId xmlns:p14="http://schemas.microsoft.com/office/powerpoint/2010/main" val="2559492123"/>
              </p:ext>
            </p:extLst>
          </p:nvPr>
        </p:nvGraphicFramePr>
        <p:xfrm>
          <a:off x="548640" y="1508760"/>
          <a:ext cx="11064240" cy="3931920"/>
        </p:xfrm>
        <a:graphic>
          <a:graphicData uri="http://schemas.openxmlformats.org/drawingml/2006/table">
            <a:tbl>
              <a:tblPr/>
              <a:tblGrid>
                <a:gridCol w="5532120">
                  <a:extLst>
                    <a:ext uri="{9D8B030D-6E8A-4147-A177-3AD203B41FA5}">
                      <a16:colId xmlns:a16="http://schemas.microsoft.com/office/drawing/2014/main" val="20000"/>
                    </a:ext>
                  </a:extLst>
                </a:gridCol>
                <a:gridCol w="5532120">
                  <a:extLst>
                    <a:ext uri="{9D8B030D-6E8A-4147-A177-3AD203B41FA5}">
                      <a16:colId xmlns:a16="http://schemas.microsoft.com/office/drawing/2014/main" val="20001"/>
                    </a:ext>
                  </a:extLst>
                </a:gridCol>
              </a:tblGrid>
              <a:tr h="491490">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Azure Pipelines</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GitHub Actions</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extLst>
                  <a:ext uri="{0D108BD9-81ED-4DB2-BD59-A6C34878D82A}">
                    <a16:rowId xmlns:a16="http://schemas.microsoft.com/office/drawing/2014/main" val="10000"/>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Pipeline</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Workflow</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1"/>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Agents / Agent Pools</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Runners / Runner Groups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Service Connection</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OIDC / secrets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3"/>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Variable Group</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Secrets &amp; variables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Task</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Action</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5"/>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condition</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if</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dependsOn</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needs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7"/>
                  </a:ext>
                </a:extLst>
              </a:tr>
            </a:tbl>
          </a:graphicData>
        </a:graphic>
      </p:graphicFrame>
      <p:sp>
        <p:nvSpPr>
          <p:cNvPr id="7" name="Shape 3"/>
          <p:cNvSpPr/>
          <p:nvPr/>
        </p:nvSpPr>
        <p:spPr>
          <a:xfrm>
            <a:off x="548640" y="5577840"/>
            <a:ext cx="11064240" cy="96012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8" name="Text 4"/>
          <p:cNvSpPr txBox="1"/>
          <p:nvPr/>
        </p:nvSpPr>
        <p:spPr>
          <a:xfrm>
            <a:off x="548640" y="5577840"/>
            <a:ext cx="11064240" cy="96012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Translation is a design exercise: preserve the original security and lifecycle intent, then validate conditions, needs, shell and error handling, approvals, runners and environment behavior.</a:t>
            </a:r>
            <a:endParaRPr lang="en-US" sz="1350" dirty="0"/>
          </a:p>
        </p:txBody>
      </p:sp>
      <p:sp>
        <p:nvSpPr>
          <p:cNvPr id="25" name="Slide Number Placeholder"/>
          <p:cNvSpPr>
            <a:spLocks noGrp="1"/>
          </p:cNvSpPr>
          <p:nvPr>
            <p:ph type="sldNum" sz="quarter" idx="10"/>
          </p:nvPr>
        </p:nvSpPr>
        <p:spPr/>
        <p:txBody>
          <a:bodyPr/>
          <a:lstStyle/>
          <a:p>
            <a:fld id="{BCB632DE-6AD4-40F1-944C-28C0E9BF62DC}" type="slidenum">
              <a:rPr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Databas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a:solidFill>
                  <a:srgbClr val="1F3D2C"/>
                </a:solidFill>
                <a:latin typeface="Cambria"/>
              </a:rPr>
              <a:t>Repository Plane — gh-ado2gh Orchestrates the Move</a:t>
            </a:r>
            <a:endParaRPr lang="en-US" sz="3200" dirty="0"/>
          </a:p>
        </p:txBody>
      </p:sp>
      <p:sp>
        <p:nvSpPr>
          <p:cNvPr id="6" name="Shape 3"/>
          <p:cNvSpPr/>
          <p:nvPr/>
        </p:nvSpPr>
        <p:spPr>
          <a:xfrm>
            <a:off x="548640" y="1645920"/>
            <a:ext cx="5349240" cy="3429000"/>
          </a:xfrm>
          <a:prstGeom prst="roundRect">
            <a:avLst>
              <a:gd name="adj" fmla="val 32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4800600" cy="457200"/>
          </a:xfrm>
          <a:prstGeom prst="rect">
            <a:avLst/>
          </a:prstGeom>
          <a:noFill/>
          <a:ln/>
        </p:spPr>
        <p:txBody>
          <a:bodyPr wrap="square" lIns="0" tIns="0" rIns="0" bIns="0" rtlCol="0" anchor="ctr"/>
          <a:lstStyle/>
          <a:p>
            <a:pPr marL="0" indent="0">
              <a:buNone/>
            </a:pPr>
            <a:r>
              <a:rPr lang="en-US" sz="1900" b="1">
                <a:solidFill>
                  <a:srgbClr val="1F3D2C"/>
                </a:solidFill>
                <a:latin typeface="Cambria"/>
              </a:rPr>
              <a:t>What It Does</a:t>
            </a:r>
            <a:endParaRPr lang="en-US" sz="1900" dirty="0"/>
          </a:p>
        </p:txBody>
      </p:sp>
      <p:sp>
        <p:nvSpPr>
          <p:cNvPr id="8" name="Text 5"/>
          <p:cNvSpPr txBox="1"/>
          <p:nvPr/>
        </p:nvSpPr>
        <p:spPr>
          <a:xfrm>
            <a:off x="822960" y="2331720"/>
            <a:ext cx="4800600" cy="2651760"/>
          </a:xfrm>
          <a:prstGeom prst="rect">
            <a:avLst/>
          </a:prstGeom>
          <a:noFill/>
          <a:ln/>
        </p:spPr>
        <p:txBody>
          <a:bodyPr wrap="square" lIns="0" tIns="0" rIns="0" bIns="0" rtlCol="0" anchor="ctr"/>
          <a:lstStyle/>
          <a:p>
            <a:pPr marL="285750" indent="-285750">
              <a:lnSpc>
                <a:spcPct val="110000"/>
              </a:lnSpc>
              <a:spcAft>
                <a:spcPts val="800"/>
              </a:spcAft>
              <a:buSzPct val="100000"/>
              <a:buFont typeface="Arial" panose="020B0604020202020204" pitchFamily="34" charset="0"/>
              <a:buChar char="•"/>
            </a:pPr>
            <a:r>
              <a:rPr lang="en-US" sz="1450" dirty="0">
                <a:solidFill>
                  <a:srgbClr val="2B2B2B"/>
                </a:solidFill>
              </a:rPr>
              <a:t>GitHub Enterprise Importer (GEI) is a set of GitHub CLI extensions (including </a:t>
            </a:r>
            <a:r>
              <a:rPr lang="en-US" sz="1450" dirty="0">
                <a:solidFill>
                  <a:srgbClr val="2B2B2B"/>
                </a:solidFill>
                <a:latin typeface="Cascadia Code" panose="020B0609020000020004" pitchFamily="49" charset="0"/>
                <a:cs typeface="Cascadia Code" panose="020B0609020000020004" pitchFamily="49" charset="0"/>
              </a:rPr>
              <a:t>ado2gh</a:t>
            </a:r>
            <a:r>
              <a:rPr lang="en-US" sz="1450" dirty="0">
                <a:solidFill>
                  <a:srgbClr val="2B2B2B"/>
                </a:solidFill>
              </a:rPr>
              <a:t>)</a:t>
            </a:r>
            <a:endParaRPr lang="en-US" sz="1450" dirty="0">
              <a:solidFill>
                <a:srgbClr val="2B2B2B"/>
              </a:solidFill>
              <a:ea typeface="Cascadia Mono" panose="020B0609020000020004" pitchFamily="49" charset="0"/>
              <a:cs typeface="Cascadia Mono" panose="020B0609020000020004" pitchFamily="49" charset="0"/>
            </a:endParaRPr>
          </a:p>
          <a:p>
            <a:pPr marL="285750" indent="-285750">
              <a:lnSpc>
                <a:spcPct val="110000"/>
              </a:lnSpc>
              <a:spcAft>
                <a:spcPts val="800"/>
              </a:spcAft>
              <a:buSzPct val="100000"/>
              <a:buFont typeface="Arial" panose="020B0604020202020204" pitchFamily="34" charset="0"/>
              <a:buChar char="•"/>
            </a:pPr>
            <a:r>
              <a:rPr lang="en-US" sz="1450" dirty="0">
                <a:solidFill>
                  <a:srgbClr val="2B2B2B"/>
                </a:solidFill>
                <a:latin typeface="Cascadia Code" panose="020B0609020000020004" pitchFamily="49" charset="0"/>
                <a:ea typeface="Cascadia Mono" panose="020B0609020000020004" pitchFamily="49" charset="0"/>
                <a:cs typeface="Cascadia Code" panose="020B0609020000020004" pitchFamily="49" charset="0"/>
              </a:rPr>
              <a:t>inventory-report</a:t>
            </a:r>
            <a:r>
              <a:rPr lang="en-US" sz="1450" dirty="0">
                <a:solidFill>
                  <a:srgbClr val="2B2B2B"/>
                </a:solidFill>
                <a:latin typeface="Calibri"/>
              </a:rPr>
              <a:t> profiles repositories and PR volume</a:t>
            </a:r>
            <a:endParaRPr lang="en-US" sz="1450" dirty="0"/>
          </a:p>
          <a:p>
            <a:pPr marL="285750" indent="-285750">
              <a:spcAft>
                <a:spcPts val="800"/>
              </a:spcAft>
              <a:buFont typeface="Arial" panose="020B0604020202020204" pitchFamily="34" charset="0"/>
              <a:buChar char="•"/>
            </a:pPr>
            <a:r>
              <a:rPr lang="en-US" sz="1450" dirty="0">
                <a:solidFill>
                  <a:srgbClr val="2B2B2B"/>
                </a:solidFill>
                <a:latin typeface="Cascadia Code" panose="020B0609020000020004" pitchFamily="49" charset="0"/>
                <a:ea typeface="Cascadia Mono" panose="020B0609020000020004" pitchFamily="49" charset="0"/>
                <a:cs typeface="Cascadia Code" panose="020B0609020000020004" pitchFamily="49" charset="0"/>
              </a:rPr>
              <a:t>generate-script</a:t>
            </a:r>
            <a:r>
              <a:rPr lang="en-US" sz="1450" dirty="0">
                <a:solidFill>
                  <a:srgbClr val="2B2B2B"/>
                </a:solidFill>
                <a:latin typeface="Calibri"/>
              </a:rPr>
              <a:t> creates reviewable migration code</a:t>
            </a:r>
          </a:p>
          <a:p>
            <a:pPr marL="285750" indent="-285750">
              <a:spcAft>
                <a:spcPts val="800"/>
              </a:spcAft>
              <a:buFont typeface="Arial" panose="020B0604020202020204" pitchFamily="34" charset="0"/>
              <a:buChar char="•"/>
            </a:pPr>
            <a:r>
              <a:rPr lang="en-US" sz="1450" dirty="0">
                <a:solidFill>
                  <a:srgbClr val="2B2B2B"/>
                </a:solidFill>
                <a:latin typeface="Cascadia Code" panose="020B0609020000020004" pitchFamily="49" charset="0"/>
                <a:ea typeface="Cascadia Mono" panose="020B0609020000020004" pitchFamily="49" charset="0"/>
                <a:cs typeface="Cascadia Code" panose="020B0609020000020004" pitchFamily="49" charset="0"/>
              </a:rPr>
              <a:t>--all </a:t>
            </a:r>
            <a:r>
              <a:rPr lang="en-US" sz="1450" dirty="0">
                <a:solidFill>
                  <a:srgbClr val="2B2B2B"/>
                </a:solidFill>
                <a:latin typeface="Calibri"/>
              </a:rPr>
              <a:t>adds team creation, Boards integration, and pipeline rewiring</a:t>
            </a:r>
          </a:p>
        </p:txBody>
      </p:sp>
      <p:sp>
        <p:nvSpPr>
          <p:cNvPr id="9" name="Shape 6"/>
          <p:cNvSpPr/>
          <p:nvPr/>
        </p:nvSpPr>
        <p:spPr>
          <a:xfrm>
            <a:off x="6263640" y="1645920"/>
            <a:ext cx="5349240" cy="3429000"/>
          </a:xfrm>
          <a:prstGeom prst="roundRect">
            <a:avLst>
              <a:gd name="adj" fmla="val 32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6537960" y="1828800"/>
            <a:ext cx="4800600" cy="457200"/>
          </a:xfrm>
          <a:prstGeom prst="rect">
            <a:avLst/>
          </a:prstGeom>
          <a:noFill/>
          <a:ln/>
        </p:spPr>
        <p:txBody>
          <a:bodyPr wrap="square" lIns="0" tIns="0" rIns="0" bIns="0" rtlCol="0" anchor="ctr"/>
          <a:lstStyle/>
          <a:p>
            <a:pPr marL="0" indent="0">
              <a:buNone/>
            </a:pPr>
            <a:r>
              <a:rPr lang="en-US" sz="1900" b="1" dirty="0">
                <a:solidFill>
                  <a:srgbClr val="F5F5F0"/>
                </a:solidFill>
                <a:latin typeface="Cambria"/>
              </a:rPr>
              <a:t>Where the Boundary Is</a:t>
            </a:r>
            <a:endParaRPr lang="en-US" sz="1900" dirty="0"/>
          </a:p>
        </p:txBody>
      </p:sp>
      <p:sp>
        <p:nvSpPr>
          <p:cNvPr id="11" name="Text 8"/>
          <p:cNvSpPr txBox="1"/>
          <p:nvPr/>
        </p:nvSpPr>
        <p:spPr>
          <a:xfrm>
            <a:off x="6537960" y="2331720"/>
            <a:ext cx="4800600" cy="2651760"/>
          </a:xfrm>
          <a:prstGeom prst="rect">
            <a:avLst/>
          </a:prstGeom>
          <a:noFill/>
          <a:ln/>
        </p:spPr>
        <p:txBody>
          <a:bodyPr wrap="square" lIns="0" tIns="0" rIns="0" bIns="0" rtlCol="0" anchor="ctr"/>
          <a:lstStyle/>
          <a:p>
            <a:pPr marL="285750" indent="-285750">
              <a:spcBef>
                <a:spcPts val="800"/>
              </a:spcBef>
              <a:buFont typeface="Arial" panose="020B0604020202020204" pitchFamily="34" charset="0"/>
              <a:buChar char="•"/>
            </a:pPr>
            <a:r>
              <a:rPr sz="1450" dirty="0">
                <a:solidFill>
                  <a:srgbClr val="F5F5F0"/>
                </a:solidFill>
                <a:latin typeface="Calibri"/>
              </a:rPr>
              <a:t>Pipeline-logic conversion belongs to </a:t>
            </a:r>
            <a:r>
              <a:rPr lang="en-US" sz="1450" dirty="0">
                <a:solidFill>
                  <a:srgbClr val="F5F5F0"/>
                </a:solidFill>
                <a:latin typeface="Calibri"/>
              </a:rPr>
              <a:t>elsewhere (</a:t>
            </a:r>
            <a:r>
              <a:rPr sz="1450" dirty="0">
                <a:solidFill>
                  <a:srgbClr val="F5F5F0"/>
                </a:solidFill>
                <a:latin typeface="Calibri"/>
              </a:rPr>
              <a:t>Actions Importer</a:t>
            </a:r>
            <a:r>
              <a:rPr lang="en-US" sz="1450" dirty="0">
                <a:solidFill>
                  <a:srgbClr val="F5F5F0"/>
                </a:solidFill>
                <a:latin typeface="Calibri"/>
              </a:rPr>
              <a:t>)</a:t>
            </a:r>
            <a:endParaRPr sz="1450" dirty="0">
              <a:solidFill>
                <a:srgbClr val="F5F5F0"/>
              </a:solidFill>
              <a:latin typeface="Calibri"/>
            </a:endParaRPr>
          </a:p>
          <a:p>
            <a:pPr marL="285750" indent="-285750">
              <a:spcBef>
                <a:spcPts val="800"/>
              </a:spcBef>
              <a:buFont typeface="Arial" panose="020B0604020202020204" pitchFamily="34" charset="0"/>
              <a:buChar char="•"/>
            </a:pPr>
            <a:r>
              <a:rPr sz="1450" dirty="0">
                <a:solidFill>
                  <a:srgbClr val="F5F5F0"/>
                </a:solidFill>
                <a:latin typeface="Calibri"/>
              </a:rPr>
              <a:t>LFS transfer and identity decisions remain separate work</a:t>
            </a:r>
          </a:p>
        </p:txBody>
      </p:sp>
      <p:sp>
        <p:nvSpPr>
          <p:cNvPr id="12" name="Shape 9"/>
          <p:cNvSpPr/>
          <p:nvPr/>
        </p:nvSpPr>
        <p:spPr>
          <a:xfrm>
            <a:off x="548640" y="5257800"/>
            <a:ext cx="11064240" cy="123444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548640" y="5257800"/>
            <a:ext cx="11064240" cy="1234440"/>
          </a:xfrm>
          <a:prstGeom prst="rect">
            <a:avLst/>
          </a:prstGeom>
          <a:noFill/>
          <a:ln/>
        </p:spPr>
        <p:txBody>
          <a:bodyPr wrap="square" lIns="256032" tIns="54864" rIns="256032" bIns="54864" rtlCol="0" anchor="ctr"/>
          <a:lstStyle/>
          <a:p>
            <a:pPr marL="0" indent="0" algn="l">
              <a:lnSpc>
                <a:spcPct val="110000"/>
              </a:lnSpc>
              <a:buNone/>
            </a:pPr>
            <a:r>
              <a:rPr sz="1250" b="1" spc="120">
                <a:solidFill>
                  <a:srgbClr val="C1440E"/>
                </a:solidFill>
                <a:latin typeface="Calibri"/>
              </a:rPr>
              <a:t>DO THIS </a:t>
            </a:r>
            <a:r>
              <a:rPr sz="1500" b="0">
                <a:solidFill>
                  <a:srgbClr val="2B2B2B"/>
                </a:solidFill>
                <a:latin typeface="Calibri"/>
              </a:rPr>
              <a:t>Treat the generated script as production migration code: review it, version it, and make ownership explicit.</a:t>
            </a:r>
            <a:endParaRPr lang="en-US" sz="1450" dirty="0"/>
          </a:p>
        </p:txBody>
      </p:sp>
      <p:sp>
        <p:nvSpPr>
          <p:cNvPr id="16" name="Slide Number Placeholder"/>
          <p:cNvSpPr>
            <a:spLocks noGrp="1"/>
          </p:cNvSpPr>
          <p:nvPr>
            <p:ph type="sldNum" sz="quarter" idx="10"/>
          </p:nvPr>
        </p:nvSpPr>
        <p:spPr/>
        <p:txBody>
          <a:bodyPr/>
          <a:lstStyle/>
          <a:p>
            <a:fld id="{BCB632DE-6AD4-40F1-944C-28C0E9BF62DC}" type="slidenum">
              <a:rPr lang="en-US"/>
              <a:t>21</a:t>
            </a:fld>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Flas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a:solidFill>
                  <a:srgbClr val="1F3D2C"/>
                </a:solidFill>
                <a:latin typeface="Cambria"/>
              </a:rPr>
              <a:t>Repository Plane — ELM Reduces Cutover Disruption</a:t>
            </a:r>
            <a:endParaRPr lang="en-US" sz="3200" dirty="0"/>
          </a:p>
        </p:txBody>
      </p:sp>
      <p:sp>
        <p:nvSpPr>
          <p:cNvPr id="6" name="Shape 3"/>
          <p:cNvSpPr/>
          <p:nvPr/>
        </p:nvSpPr>
        <p:spPr>
          <a:xfrm>
            <a:off x="548640" y="1531034"/>
            <a:ext cx="11064240" cy="813816"/>
          </a:xfrm>
          <a:prstGeom prst="roundRect">
            <a:avLst>
              <a:gd name="adj" fmla="val 8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430450"/>
            <a:ext cx="10515600" cy="1097280"/>
          </a:xfrm>
          <a:prstGeom prst="rect">
            <a:avLst/>
          </a:prstGeom>
          <a:noFill/>
          <a:ln/>
        </p:spPr>
        <p:txBody>
          <a:bodyPr wrap="square" lIns="0" tIns="0" rIns="0" bIns="0" rtlCol="0" anchor="ctr"/>
          <a:lstStyle/>
          <a:p>
            <a:pPr marL="0" indent="0">
              <a:lnSpc>
                <a:spcPct val="115000"/>
              </a:lnSpc>
              <a:buNone/>
            </a:pPr>
            <a:r>
              <a:rPr lang="en-US" sz="1650" b="0" dirty="0">
                <a:solidFill>
                  <a:srgbClr val="2B2B2B"/>
                </a:solidFill>
                <a:latin typeface="Calibri"/>
              </a:rPr>
              <a:t>Enterprise Live Migrations (ELM) is in public preview for the Azure DevOps path, targeting GitHub Enterprise Cloud with data residency. Its differentiator is continuous sync plus a customer-scheduled cutover.</a:t>
            </a:r>
            <a:endParaRPr lang="en-US" sz="1700" dirty="0"/>
          </a:p>
        </p:txBody>
      </p:sp>
      <p:sp>
        <p:nvSpPr>
          <p:cNvPr id="8" name="Shape 5"/>
          <p:cNvSpPr/>
          <p:nvPr/>
        </p:nvSpPr>
        <p:spPr>
          <a:xfrm>
            <a:off x="548640" y="2527730"/>
            <a:ext cx="5349240" cy="2912950"/>
          </a:xfrm>
          <a:prstGeom prst="roundRect">
            <a:avLst>
              <a:gd name="adj" fmla="val 48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99160" y="2749765"/>
            <a:ext cx="4800600" cy="411480"/>
          </a:xfrm>
          <a:prstGeom prst="rect">
            <a:avLst/>
          </a:prstGeom>
          <a:noFill/>
          <a:ln/>
        </p:spPr>
        <p:txBody>
          <a:bodyPr wrap="square" lIns="0" tIns="0" rIns="0" bIns="0" rtlCol="0" anchor="ctr"/>
          <a:lstStyle/>
          <a:p>
            <a:pPr marL="0" indent="0">
              <a:buNone/>
            </a:pPr>
            <a:r>
              <a:rPr lang="en-US" sz="1700" b="1" dirty="0">
                <a:solidFill>
                  <a:srgbClr val="1F3D2C"/>
                </a:solidFill>
                <a:latin typeface="Cambria"/>
              </a:rPr>
              <a:t>What It Adds</a:t>
            </a:r>
            <a:endParaRPr lang="en-US" sz="1700" dirty="0"/>
          </a:p>
        </p:txBody>
      </p:sp>
      <p:sp>
        <p:nvSpPr>
          <p:cNvPr id="10" name="Text 7"/>
          <p:cNvSpPr txBox="1"/>
          <p:nvPr/>
        </p:nvSpPr>
        <p:spPr>
          <a:xfrm>
            <a:off x="822960" y="3161245"/>
            <a:ext cx="4800600" cy="2233715"/>
          </a:xfrm>
          <a:prstGeom prst="rect">
            <a:avLst/>
          </a:prstGeom>
          <a:noFill/>
          <a:ln/>
        </p:spPr>
        <p:txBody>
          <a:bodyPr wrap="square" lIns="0" tIns="0" rIns="0" bIns="0" rtlCol="0" anchor="t"/>
          <a:lstStyle/>
          <a:p>
            <a:pPr marL="285750" indent="-285750">
              <a:lnSpc>
                <a:spcPct val="105000"/>
              </a:lnSpc>
              <a:spcAft>
                <a:spcPts val="800"/>
              </a:spcAft>
              <a:buSzPct val="100000"/>
              <a:buFont typeface="Arial" panose="020B0604020202020204" pitchFamily="34" charset="0"/>
              <a:buChar char="•"/>
            </a:pPr>
            <a:r>
              <a:rPr lang="en-US" sz="1400" dirty="0">
                <a:solidFill>
                  <a:srgbClr val="2B2B2B"/>
                </a:solidFill>
                <a:latin typeface="Calibri"/>
              </a:rPr>
              <a:t>Pre-migration checks and target creation</a:t>
            </a:r>
            <a:endParaRPr lang="en-US" sz="1350" dirty="0"/>
          </a:p>
          <a:p>
            <a:pPr marL="285750" indent="-285750">
              <a:spcAft>
                <a:spcPts val="800"/>
              </a:spcAft>
              <a:buFont typeface="Arial" panose="020B0604020202020204" pitchFamily="34" charset="0"/>
              <a:buChar char="•"/>
            </a:pPr>
            <a:r>
              <a:rPr lang="en-US" sz="1400" dirty="0">
                <a:solidFill>
                  <a:srgbClr val="2B2B2B"/>
                </a:solidFill>
                <a:latin typeface="Calibri"/>
              </a:rPr>
              <a:t>Git, PR, and policy delta synchronization</a:t>
            </a:r>
          </a:p>
          <a:p>
            <a:pPr marL="285750" indent="-285750">
              <a:spcAft>
                <a:spcPts val="800"/>
              </a:spcAft>
              <a:buFont typeface="Arial" panose="020B0604020202020204" pitchFamily="34" charset="0"/>
              <a:buChar char="•"/>
            </a:pPr>
            <a:r>
              <a:rPr lang="en-US" sz="1400" dirty="0">
                <a:solidFill>
                  <a:srgbClr val="2B2B2B"/>
                </a:solidFill>
                <a:latin typeface="Calibri"/>
              </a:rPr>
              <a:t>Boards connection and pipeline rewiring</a:t>
            </a:r>
          </a:p>
          <a:p>
            <a:pPr marL="285750" indent="-285750">
              <a:spcAft>
                <a:spcPts val="800"/>
              </a:spcAft>
              <a:buFont typeface="Arial" panose="020B0604020202020204" pitchFamily="34" charset="0"/>
              <a:buChar char="•"/>
            </a:pPr>
            <a:r>
              <a:rPr lang="en-US" sz="1400" dirty="0">
                <a:solidFill>
                  <a:srgbClr val="2B2B2B"/>
                </a:solidFill>
                <a:latin typeface="Calibri"/>
              </a:rPr>
              <a:t>A scheduled read-only cutover window under 30 minutes</a:t>
            </a:r>
          </a:p>
        </p:txBody>
      </p:sp>
      <p:sp>
        <p:nvSpPr>
          <p:cNvPr id="11" name="Shape 8"/>
          <p:cNvSpPr/>
          <p:nvPr/>
        </p:nvSpPr>
        <p:spPr>
          <a:xfrm>
            <a:off x="6263640" y="2527730"/>
            <a:ext cx="5349240" cy="2912950"/>
          </a:xfrm>
          <a:prstGeom prst="roundRect">
            <a:avLst>
              <a:gd name="adj" fmla="val 48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Text 9"/>
          <p:cNvSpPr txBox="1"/>
          <p:nvPr/>
        </p:nvSpPr>
        <p:spPr>
          <a:xfrm>
            <a:off x="6492240" y="2749765"/>
            <a:ext cx="4800600" cy="411480"/>
          </a:xfrm>
          <a:prstGeom prst="rect">
            <a:avLst/>
          </a:prstGeom>
          <a:noFill/>
          <a:ln/>
        </p:spPr>
        <p:txBody>
          <a:bodyPr wrap="square" lIns="0" tIns="0" rIns="0" bIns="0" rtlCol="0" anchor="ctr"/>
          <a:lstStyle/>
          <a:p>
            <a:pPr marL="0" indent="0">
              <a:buNone/>
            </a:pPr>
            <a:r>
              <a:rPr lang="en-US" sz="1700" b="1" dirty="0">
                <a:solidFill>
                  <a:srgbClr val="F5F5F0"/>
                </a:solidFill>
                <a:latin typeface="Cambria"/>
              </a:rPr>
              <a:t>Limits and What Remains</a:t>
            </a:r>
            <a:endParaRPr lang="en-US" sz="1700" dirty="0"/>
          </a:p>
        </p:txBody>
      </p:sp>
      <p:sp>
        <p:nvSpPr>
          <p:cNvPr id="13" name="Text 10"/>
          <p:cNvSpPr txBox="1"/>
          <p:nvPr/>
        </p:nvSpPr>
        <p:spPr>
          <a:xfrm>
            <a:off x="6537960" y="3161245"/>
            <a:ext cx="4800600" cy="2233715"/>
          </a:xfrm>
          <a:prstGeom prst="rect">
            <a:avLst/>
          </a:prstGeom>
          <a:noFill/>
          <a:ln/>
        </p:spPr>
        <p:txBody>
          <a:bodyPr wrap="square" lIns="0" tIns="0" rIns="0" bIns="0" rtlCol="0" anchor="t"/>
          <a:lstStyle/>
          <a:p>
            <a:pPr marL="285750" indent="-285750">
              <a:lnSpc>
                <a:spcPct val="105000"/>
              </a:lnSpc>
              <a:spcAft>
                <a:spcPts val="800"/>
              </a:spcAft>
              <a:buSzPct val="100000"/>
              <a:buFont typeface="Arial" panose="020B0604020202020204" pitchFamily="34" charset="0"/>
              <a:buChar char="•"/>
            </a:pPr>
            <a:r>
              <a:rPr lang="en-US" sz="1400" dirty="0">
                <a:solidFill>
                  <a:srgbClr val="F5F5F0"/>
                </a:solidFill>
                <a:latin typeface="Calibri"/>
              </a:rPr>
              <a:t>Repositories only — 30 max (20 initial + 10 more)</a:t>
            </a:r>
            <a:endParaRPr lang="en-US" sz="1350" dirty="0"/>
          </a:p>
          <a:p>
            <a:pPr marL="285750" indent="-285750">
              <a:spcAft>
                <a:spcPts val="800"/>
              </a:spcAft>
              <a:buFont typeface="Arial" panose="020B0604020202020204" pitchFamily="34" charset="0"/>
              <a:buChar char="•"/>
            </a:pPr>
            <a:r>
              <a:rPr lang="en-US" sz="1400" dirty="0">
                <a:solidFill>
                  <a:srgbClr val="F5F5F0"/>
                </a:solidFill>
                <a:latin typeface="Calibri"/>
              </a:rPr>
              <a:t>Cutover must finish within 21 days of starting</a:t>
            </a:r>
          </a:p>
          <a:p>
            <a:pPr marL="285750" indent="-285750">
              <a:spcAft>
                <a:spcPts val="800"/>
              </a:spcAft>
              <a:buFont typeface="Arial" panose="020B0604020202020204" pitchFamily="34" charset="0"/>
              <a:buChar char="•"/>
            </a:pPr>
            <a:r>
              <a:rPr lang="en-US" sz="1400" dirty="0">
                <a:solidFill>
                  <a:srgbClr val="F5F5F0"/>
                </a:solidFill>
                <a:latin typeface="Calibri"/>
              </a:rPr>
              <a:t>Access, permissions, and ruleset verification</a:t>
            </a:r>
          </a:p>
          <a:p>
            <a:pPr marL="285750" indent="-285750">
              <a:spcAft>
                <a:spcPts val="800"/>
              </a:spcAft>
              <a:buFont typeface="Arial" panose="020B0604020202020204" pitchFamily="34" charset="0"/>
              <a:buChar char="•"/>
            </a:pPr>
            <a:r>
              <a:rPr lang="en-US" sz="1400" dirty="0">
                <a:solidFill>
                  <a:srgbClr val="F5F5F0"/>
                </a:solidFill>
                <a:latin typeface="Calibri"/>
              </a:rPr>
              <a:t>Hardcoded URLs and other long-tail cleanup</a:t>
            </a:r>
          </a:p>
          <a:p>
            <a:pPr marL="285750" indent="-285750">
              <a:spcAft>
                <a:spcPts val="800"/>
              </a:spcAft>
              <a:buFont typeface="Arial" panose="020B0604020202020204" pitchFamily="34" charset="0"/>
              <a:buChar char="•"/>
            </a:pPr>
            <a:r>
              <a:rPr lang="en-US" sz="1400" dirty="0">
                <a:solidFill>
                  <a:srgbClr val="F5F5F0"/>
                </a:solidFill>
                <a:latin typeface="Calibri"/>
              </a:rPr>
              <a:t>Pipeline logic, work items, wikis, and other non-repository data</a:t>
            </a:r>
          </a:p>
          <a:p>
            <a:pPr marL="285750" indent="-285750">
              <a:spcAft>
                <a:spcPts val="800"/>
              </a:spcAft>
              <a:buFont typeface="Arial" panose="020B0604020202020204" pitchFamily="34" charset="0"/>
              <a:buChar char="•"/>
            </a:pPr>
            <a:r>
              <a:rPr lang="en-US" sz="1400" dirty="0">
                <a:solidFill>
                  <a:srgbClr val="F5F5F0"/>
                </a:solidFill>
                <a:latin typeface="Calibri"/>
              </a:rPr>
              <a:t>Post-cutover validation and decommissioning</a:t>
            </a:r>
          </a:p>
        </p:txBody>
      </p:sp>
      <p:sp>
        <p:nvSpPr>
          <p:cNvPr id="16" name="Shape 3">
            <a:extLst>
              <a:ext uri="{FF2B5EF4-FFF2-40B4-BE49-F238E27FC236}">
                <a16:creationId xmlns:a16="http://schemas.microsoft.com/office/drawing/2014/main" id="{2FACEC23-AB46-4DCB-0463-00C487B44704}"/>
              </a:ext>
            </a:extLst>
          </p:cNvPr>
          <p:cNvSpPr/>
          <p:nvPr/>
        </p:nvSpPr>
        <p:spPr>
          <a:xfrm>
            <a:off x="548640" y="5628132"/>
            <a:ext cx="11064240" cy="96012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8" name="Text 4">
            <a:extLst>
              <a:ext uri="{FF2B5EF4-FFF2-40B4-BE49-F238E27FC236}">
                <a16:creationId xmlns:a16="http://schemas.microsoft.com/office/drawing/2014/main" id="{DA49AD78-DE17-95B0-86BA-23572C08058F}"/>
              </a:ext>
            </a:extLst>
          </p:cNvPr>
          <p:cNvSpPr txBox="1"/>
          <p:nvPr/>
        </p:nvSpPr>
        <p:spPr>
          <a:xfrm>
            <a:off x="563880" y="5628132"/>
            <a:ext cx="11064240" cy="96012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a:solidFill>
                  <a:srgbClr val="F5F5F0"/>
                </a:solidFill>
                <a:latin typeface="Calibri"/>
              </a:rPr>
              <a:t>ELM changes the synchronization and cutover experience — not the boundaries of what must be migrated and validated.</a:t>
            </a:r>
          </a:p>
        </p:txBody>
      </p:sp>
      <p:sp>
        <p:nvSpPr>
          <p:cNvPr id="19" name="Slide Number Placeholder"/>
          <p:cNvSpPr>
            <a:spLocks noGrp="1"/>
          </p:cNvSpPr>
          <p:nvPr>
            <p:ph type="sldNum" sz="quarter" idx="10"/>
          </p:nvPr>
        </p:nvSpPr>
        <p:spPr/>
        <p:txBody>
          <a:bodyPr/>
          <a:lstStyle/>
          <a:p>
            <a:fld id="{BCB632DE-6AD4-40F1-944C-28C0E9BF62DC}" type="slidenum">
              <a:rPr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stOl-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a:solidFill>
                  <a:srgbClr val="1F3D2C"/>
                </a:solidFill>
                <a:latin typeface="Cambria"/>
              </a:rPr>
              <a:t>Repository Plane — Decide Before the First Migration</a:t>
            </a:r>
            <a:endParaRPr lang="en-US" sz="3200" dirty="0"/>
          </a:p>
        </p:txBody>
      </p:sp>
      <p:sp>
        <p:nvSpPr>
          <p:cNvPr id="6" name="Shape 3"/>
          <p:cNvSpPr/>
          <p:nvPr/>
        </p:nvSpPr>
        <p:spPr>
          <a:xfrm>
            <a:off x="548640" y="4556259"/>
            <a:ext cx="11064240" cy="1358289"/>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4674899"/>
            <a:ext cx="10332720" cy="1124101"/>
          </a:xfrm>
          <a:prstGeom prst="rect">
            <a:avLst/>
          </a:prstGeom>
          <a:noFill/>
          <a:ln/>
        </p:spPr>
        <p:txBody>
          <a:bodyPr wrap="square" lIns="0" tIns="0" rIns="0" bIns="0" rtlCol="0" anchor="ctr"/>
          <a:lstStyle/>
          <a:p>
            <a:pPr marL="0" indent="0">
              <a:lnSpc>
                <a:spcPct val="130000"/>
              </a:lnSpc>
              <a:buNone/>
            </a:pPr>
            <a:r>
              <a:rPr lang="en-US" sz="1850" b="0" dirty="0">
                <a:solidFill>
                  <a:srgbClr val="2B2B2B"/>
                </a:solidFill>
                <a:latin typeface="Calibri"/>
              </a:rPr>
              <a:t>Install the Azure Pipelines App in your GitHub Org before migrating repositories. That enables migration orchestration to reconnect pipeline references; it does not convert the pipeline logic itself.</a:t>
            </a:r>
            <a:endParaRPr lang="en-US" sz="1900" dirty="0"/>
          </a:p>
        </p:txBody>
      </p:sp>
      <p:sp>
        <p:nvSpPr>
          <p:cNvPr id="8" name="Shape 5"/>
          <p:cNvSpPr/>
          <p:nvPr/>
        </p:nvSpPr>
        <p:spPr>
          <a:xfrm>
            <a:off x="548640" y="1549966"/>
            <a:ext cx="11064240" cy="2638449"/>
          </a:xfrm>
          <a:prstGeom prst="roundRect">
            <a:avLst>
              <a:gd name="adj" fmla="val 7742"/>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22960" y="1775672"/>
            <a:ext cx="10515600" cy="2257295"/>
          </a:xfrm>
          <a:prstGeom prst="rect">
            <a:avLst/>
          </a:prstGeom>
          <a:noFill/>
          <a:ln/>
        </p:spPr>
        <p:txBody>
          <a:bodyPr wrap="square" lIns="0" tIns="0" rIns="0" bIns="0" rtlCol="0" anchor="ctr"/>
          <a:lstStyle/>
          <a:p>
            <a:pPr marL="0" indent="0">
              <a:lnSpc>
                <a:spcPct val="115000"/>
              </a:lnSpc>
              <a:buNone/>
            </a:pPr>
            <a:r>
              <a:rPr lang="en-US" sz="1600" b="0" dirty="0">
                <a:solidFill>
                  <a:srgbClr val="F5F5F0"/>
                </a:solidFill>
                <a:latin typeface="Calibri"/>
              </a:rPr>
              <a:t>Before the first run: </a:t>
            </a:r>
          </a:p>
          <a:p>
            <a:pPr marL="285750" indent="-285750">
              <a:lnSpc>
                <a:spcPct val="115000"/>
              </a:lnSpc>
              <a:buFont typeface="Arial" panose="020B0604020202020204" pitchFamily="34" charset="0"/>
              <a:buChar char="•"/>
            </a:pPr>
            <a:r>
              <a:rPr lang="en-US" sz="1600" b="0" dirty="0">
                <a:solidFill>
                  <a:srgbClr val="F5F5F0"/>
                </a:solidFill>
                <a:latin typeface="Calibri"/>
              </a:rPr>
              <a:t>target enterprise and organization model  </a:t>
            </a:r>
          </a:p>
          <a:p>
            <a:pPr marL="285750" indent="-285750">
              <a:lnSpc>
                <a:spcPct val="115000"/>
              </a:lnSpc>
              <a:buFont typeface="Arial" panose="020B0604020202020204" pitchFamily="34" charset="0"/>
              <a:buChar char="•"/>
            </a:pPr>
            <a:r>
              <a:rPr lang="en-US" sz="1600" b="0" dirty="0">
                <a:solidFill>
                  <a:srgbClr val="F5F5F0"/>
                </a:solidFill>
                <a:latin typeface="Calibri"/>
              </a:rPr>
              <a:t>authentication and identity mapping  </a:t>
            </a:r>
          </a:p>
          <a:p>
            <a:pPr marL="285750" indent="-285750">
              <a:lnSpc>
                <a:spcPct val="115000"/>
              </a:lnSpc>
              <a:buFont typeface="Arial" panose="020B0604020202020204" pitchFamily="34" charset="0"/>
              <a:buChar char="•"/>
            </a:pPr>
            <a:r>
              <a:rPr lang="en-US" sz="1600" b="0" dirty="0">
                <a:solidFill>
                  <a:srgbClr val="F5F5F0"/>
                </a:solidFill>
                <a:latin typeface="Calibri"/>
              </a:rPr>
              <a:t>team and visibility policy  </a:t>
            </a:r>
          </a:p>
          <a:p>
            <a:pPr marL="285750" indent="-285750">
              <a:lnSpc>
                <a:spcPct val="115000"/>
              </a:lnSpc>
              <a:buFont typeface="Arial" panose="020B0604020202020204" pitchFamily="34" charset="0"/>
              <a:buChar char="•"/>
            </a:pPr>
            <a:r>
              <a:rPr lang="en-US" sz="1600" b="0" dirty="0">
                <a:solidFill>
                  <a:srgbClr val="F5F5F0"/>
                </a:solidFill>
                <a:latin typeface="Calibri"/>
              </a:rPr>
              <a:t>Boards/Pipelines integration  </a:t>
            </a:r>
          </a:p>
          <a:p>
            <a:pPr marL="285750" indent="-285750">
              <a:lnSpc>
                <a:spcPct val="115000"/>
              </a:lnSpc>
              <a:buFont typeface="Arial" panose="020B0604020202020204" pitchFamily="34" charset="0"/>
              <a:buChar char="•"/>
            </a:pPr>
            <a:r>
              <a:rPr lang="en-US" sz="1600" b="0" dirty="0">
                <a:solidFill>
                  <a:srgbClr val="F5F5F0"/>
                </a:solidFill>
                <a:latin typeface="Calibri"/>
              </a:rPr>
              <a:t>freeze or change-reconciliation approach  </a:t>
            </a:r>
          </a:p>
          <a:p>
            <a:pPr marL="285750" indent="-285750">
              <a:lnSpc>
                <a:spcPct val="115000"/>
              </a:lnSpc>
              <a:buFont typeface="Arial" panose="020B0604020202020204" pitchFamily="34" charset="0"/>
              <a:buChar char="•"/>
            </a:pPr>
            <a:r>
              <a:rPr lang="en-US" sz="1600" b="0" dirty="0">
                <a:solidFill>
                  <a:srgbClr val="F5F5F0"/>
                </a:solidFill>
                <a:latin typeface="Calibri"/>
              </a:rPr>
              <a:t>owner for migration failures</a:t>
            </a:r>
            <a:endParaRPr lang="en-US" sz="1600" dirty="0"/>
          </a:p>
        </p:txBody>
      </p:sp>
      <p:sp>
        <p:nvSpPr>
          <p:cNvPr id="10" name="Slide Number Placeholder"/>
          <p:cNvSpPr>
            <a:spLocks noGrp="1"/>
          </p:cNvSpPr>
          <p:nvPr>
            <p:ph type="sldNum" sz="quarter" idx="10"/>
          </p:nvPr>
        </p:nvSpPr>
        <p:spPr/>
        <p:txBody>
          <a:bodyPr/>
          <a:lstStyle/>
          <a:p>
            <a:fld id="{BCB632DE-6AD4-40F1-944C-28C0E9BF62DC}" type="slidenum">
              <a:rPr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lipboardChec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a:rPr>
              <a:t>Automation Plane — GitHub Actions Importer</a:t>
            </a:r>
            <a:endParaRPr lang="en-US" sz="3200" dirty="0"/>
          </a:p>
        </p:txBody>
      </p:sp>
      <p:sp>
        <p:nvSpPr>
          <p:cNvPr id="6" name="Shape 3"/>
          <p:cNvSpPr/>
          <p:nvPr/>
        </p:nvSpPr>
        <p:spPr>
          <a:xfrm>
            <a:off x="548640" y="1645920"/>
            <a:ext cx="5349240" cy="3429000"/>
          </a:xfrm>
          <a:prstGeom prst="roundRect">
            <a:avLst>
              <a:gd name="adj" fmla="val 32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4800600" cy="457200"/>
          </a:xfrm>
          <a:prstGeom prst="rect">
            <a:avLst/>
          </a:prstGeom>
          <a:noFill/>
          <a:ln/>
        </p:spPr>
        <p:txBody>
          <a:bodyPr wrap="square" lIns="0" tIns="0" rIns="0" bIns="0" rtlCol="0" anchor="ctr"/>
          <a:lstStyle/>
          <a:p>
            <a:pPr marL="0" indent="0">
              <a:buNone/>
            </a:pPr>
            <a:r>
              <a:rPr lang="en-US" sz="1900" b="1">
                <a:solidFill>
                  <a:srgbClr val="1F3D2C"/>
                </a:solidFill>
                <a:latin typeface="Cambria"/>
              </a:rPr>
              <a:t>What It Does</a:t>
            </a:r>
            <a:endParaRPr lang="en-US" sz="1900" dirty="0"/>
          </a:p>
        </p:txBody>
      </p:sp>
      <p:sp>
        <p:nvSpPr>
          <p:cNvPr id="8" name="Text 5"/>
          <p:cNvSpPr txBox="1"/>
          <p:nvPr/>
        </p:nvSpPr>
        <p:spPr>
          <a:xfrm>
            <a:off x="822960" y="2331720"/>
            <a:ext cx="4800600" cy="2651760"/>
          </a:xfrm>
          <a:prstGeom prst="rect">
            <a:avLst/>
          </a:prstGeom>
          <a:noFill/>
          <a:ln/>
        </p:spPr>
        <p:txBody>
          <a:bodyPr wrap="square" lIns="0" tIns="0" rIns="0" bIns="0" rtlCol="0" anchor="ctr"/>
          <a:lstStyle/>
          <a:p>
            <a:pPr marL="285750" indent="-285750">
              <a:lnSpc>
                <a:spcPct val="100000"/>
              </a:lnSpc>
              <a:spcAft>
                <a:spcPts val="800"/>
              </a:spcAft>
              <a:buSzPct val="100000"/>
              <a:buFont typeface="Arial" panose="020B0604020202020204" pitchFamily="34" charset="0"/>
              <a:buChar char="•"/>
            </a:pPr>
            <a:r>
              <a:rPr lang="en-US" sz="1450" dirty="0">
                <a:solidFill>
                  <a:srgbClr val="2B2B2B"/>
                </a:solidFill>
                <a:cs typeface="Cascadia Code" panose="020B0609020000020004" pitchFamily="49" charset="0"/>
              </a:rPr>
              <a:t>GitHub CLI extension to migrate CI/CD pipelines</a:t>
            </a:r>
          </a:p>
          <a:p>
            <a:pPr marL="285750" indent="-285750">
              <a:lnSpc>
                <a:spcPct val="110000"/>
              </a:lnSpc>
              <a:spcAft>
                <a:spcPts val="800"/>
              </a:spcAft>
              <a:buSzPct val="100000"/>
              <a:buFont typeface="Arial" panose="020B0604020202020204" pitchFamily="34" charset="0"/>
              <a:buChar char="•"/>
            </a:pPr>
            <a:r>
              <a:rPr lang="en-US" sz="1450" dirty="0">
                <a:solidFill>
                  <a:srgbClr val="2B2B2B"/>
                </a:solidFill>
                <a:latin typeface="Cascadia Code" panose="020B0609020000020004" pitchFamily="49" charset="0"/>
                <a:cs typeface="Cascadia Code" panose="020B0609020000020004" pitchFamily="49" charset="0"/>
              </a:rPr>
              <a:t>audit</a:t>
            </a:r>
            <a:r>
              <a:rPr lang="en-US" sz="1450" dirty="0">
                <a:solidFill>
                  <a:srgbClr val="2B2B2B"/>
                </a:solidFill>
                <a:latin typeface="Calibri"/>
              </a:rPr>
              <a:t> buckets pipelines: successful, partially successful, unsupported, failed</a:t>
            </a:r>
            <a:endParaRPr lang="en-US" sz="1450" dirty="0"/>
          </a:p>
          <a:p>
            <a:pPr marL="285750" indent="-285750">
              <a:spcAft>
                <a:spcPts val="800"/>
              </a:spcAft>
              <a:buFont typeface="Arial" panose="020B0604020202020204" pitchFamily="34" charset="0"/>
              <a:buChar char="•"/>
            </a:pPr>
            <a:r>
              <a:rPr lang="en-US" sz="1450" dirty="0">
                <a:solidFill>
                  <a:srgbClr val="2B2B2B"/>
                </a:solidFill>
                <a:latin typeface="Cascadia Code" panose="020B0609020000020004" pitchFamily="49" charset="0"/>
                <a:cs typeface="Cascadia Code" panose="020B0609020000020004" pitchFamily="49" charset="0"/>
              </a:rPr>
              <a:t>dry-run</a:t>
            </a:r>
            <a:r>
              <a:rPr lang="en-US" sz="1450" dirty="0">
                <a:solidFill>
                  <a:srgbClr val="2B2B2B"/>
                </a:solidFill>
                <a:latin typeface="Calibri"/>
              </a:rPr>
              <a:t> shows the candidate workflow before commit</a:t>
            </a:r>
          </a:p>
          <a:p>
            <a:pPr marL="285750" indent="-285750">
              <a:spcAft>
                <a:spcPts val="800"/>
              </a:spcAft>
              <a:buFont typeface="Arial" panose="020B0604020202020204" pitchFamily="34" charset="0"/>
              <a:buChar char="•"/>
            </a:pPr>
            <a:r>
              <a:rPr lang="en-US" sz="1450" dirty="0">
                <a:solidFill>
                  <a:srgbClr val="2B2B2B"/>
                </a:solidFill>
                <a:latin typeface="Calibri"/>
              </a:rPr>
              <a:t>The conversion handles supported constructs</a:t>
            </a:r>
          </a:p>
        </p:txBody>
      </p:sp>
      <p:sp>
        <p:nvSpPr>
          <p:cNvPr id="9" name="Shape 6"/>
          <p:cNvSpPr/>
          <p:nvPr/>
        </p:nvSpPr>
        <p:spPr>
          <a:xfrm>
            <a:off x="6263640" y="1645920"/>
            <a:ext cx="5349240" cy="3429000"/>
          </a:xfrm>
          <a:prstGeom prst="roundRect">
            <a:avLst>
              <a:gd name="adj" fmla="val 32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6537960" y="1828800"/>
            <a:ext cx="4800600" cy="457200"/>
          </a:xfrm>
          <a:prstGeom prst="rect">
            <a:avLst/>
          </a:prstGeom>
          <a:noFill/>
          <a:ln/>
        </p:spPr>
        <p:txBody>
          <a:bodyPr wrap="square" lIns="0" tIns="0" rIns="0" bIns="0" rtlCol="0" anchor="ctr"/>
          <a:lstStyle/>
          <a:p>
            <a:pPr marL="0" indent="0">
              <a:buNone/>
            </a:pPr>
            <a:r>
              <a:rPr lang="en-US" sz="1900" b="1" dirty="0">
                <a:solidFill>
                  <a:srgbClr val="F5F5F0"/>
                </a:solidFill>
                <a:latin typeface="Cambria"/>
              </a:rPr>
              <a:t>What Remains</a:t>
            </a:r>
            <a:endParaRPr lang="en-US" sz="1900" dirty="0"/>
          </a:p>
        </p:txBody>
      </p:sp>
      <p:sp>
        <p:nvSpPr>
          <p:cNvPr id="11" name="Text 8"/>
          <p:cNvSpPr txBox="1"/>
          <p:nvPr/>
        </p:nvSpPr>
        <p:spPr>
          <a:xfrm>
            <a:off x="6537960" y="2331720"/>
            <a:ext cx="5074920" cy="2651760"/>
          </a:xfrm>
          <a:prstGeom prst="rect">
            <a:avLst/>
          </a:prstGeom>
          <a:noFill/>
          <a:ln/>
        </p:spPr>
        <p:txBody>
          <a:bodyPr wrap="square" lIns="0" tIns="0" rIns="0" bIns="0" rtlCol="0" anchor="ctr"/>
          <a:lstStyle/>
          <a:p>
            <a:pPr marL="285750" indent="-285750">
              <a:lnSpc>
                <a:spcPct val="110000"/>
              </a:lnSpc>
              <a:spcAft>
                <a:spcPts val="800"/>
              </a:spcAft>
              <a:buSzPct val="100000"/>
              <a:buFont typeface="Arial" panose="020B0604020202020204" pitchFamily="34" charset="0"/>
              <a:buChar char="•"/>
            </a:pPr>
            <a:r>
              <a:rPr lang="en-US" sz="1420" dirty="0">
                <a:solidFill>
                  <a:srgbClr val="F5F5F0"/>
                </a:solidFill>
                <a:latin typeface="Calibri"/>
              </a:rPr>
              <a:t>Secrets and service connections</a:t>
            </a:r>
            <a:endParaRPr lang="en-US" sz="1450" dirty="0"/>
          </a:p>
          <a:p>
            <a:pPr marL="285750" indent="-285750">
              <a:spcAft>
                <a:spcPts val="800"/>
              </a:spcAft>
              <a:buFont typeface="Arial" panose="020B0604020202020204" pitchFamily="34" charset="0"/>
              <a:buChar char="•"/>
            </a:pPr>
            <a:r>
              <a:rPr lang="en-US" sz="1420" dirty="0">
                <a:solidFill>
                  <a:srgbClr val="F5F5F0"/>
                </a:solidFill>
                <a:latin typeface="Calibri"/>
              </a:rPr>
              <a:t>Runners, private networks, and toolchains</a:t>
            </a:r>
          </a:p>
          <a:p>
            <a:pPr marL="285750" indent="-285750">
              <a:spcAft>
                <a:spcPts val="800"/>
              </a:spcAft>
              <a:buFont typeface="Arial" panose="020B0604020202020204" pitchFamily="34" charset="0"/>
              <a:buChar char="•"/>
            </a:pPr>
            <a:r>
              <a:rPr lang="en-US" sz="1420" dirty="0">
                <a:solidFill>
                  <a:srgbClr val="F5F5F0"/>
                </a:solidFill>
                <a:latin typeface="Calibri"/>
              </a:rPr>
              <a:t>Environments, approvals, gates, custom tasks, and unsupported triggers</a:t>
            </a:r>
          </a:p>
        </p:txBody>
      </p:sp>
      <p:sp>
        <p:nvSpPr>
          <p:cNvPr id="12" name="Shape 9"/>
          <p:cNvSpPr/>
          <p:nvPr/>
        </p:nvSpPr>
        <p:spPr>
          <a:xfrm>
            <a:off x="548640" y="5257800"/>
            <a:ext cx="11064240" cy="123444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548640" y="5257800"/>
            <a:ext cx="11064240" cy="1234440"/>
          </a:xfrm>
          <a:prstGeom prst="rect">
            <a:avLst/>
          </a:prstGeom>
          <a:noFill/>
          <a:ln/>
        </p:spPr>
        <p:txBody>
          <a:bodyPr wrap="square" lIns="256032" tIns="54864" rIns="256032" bIns="54864" rtlCol="0" anchor="ctr"/>
          <a:lstStyle/>
          <a:p>
            <a:pPr marL="0" indent="0" algn="l">
              <a:lnSpc>
                <a:spcPct val="110000"/>
              </a:lnSpc>
              <a:buNone/>
            </a:pPr>
            <a:r>
              <a:rPr sz="1250" b="1" spc="120">
                <a:solidFill>
                  <a:srgbClr val="C1440E"/>
                </a:solidFill>
                <a:latin typeface="Calibri"/>
              </a:rPr>
              <a:t>DO THIS </a:t>
            </a:r>
            <a:r>
              <a:rPr sz="1500" b="0">
                <a:solidFill>
                  <a:srgbClr val="2B2B2B"/>
                </a:solidFill>
                <a:latin typeface="Calibri"/>
              </a:rPr>
              <a:t>Use the audit output to build the migration backlog and recalibrate the planning estimate with evidence.</a:t>
            </a:r>
            <a:endParaRPr lang="en-US" sz="1450" dirty="0"/>
          </a:p>
        </p:txBody>
      </p:sp>
      <p:sp>
        <p:nvSpPr>
          <p:cNvPr id="14" name="Shape 11"/>
          <p:cNvSpPr/>
          <p:nvPr/>
        </p:nvSpPr>
        <p:spPr>
          <a:xfrm>
            <a:off x="10351008" y="5340096"/>
            <a:ext cx="923544" cy="923544"/>
          </a:xfrm>
          <a:prstGeom prst="roundRect">
            <a:avLst>
              <a:gd name="adj" fmla="val 5941"/>
            </a:avLst>
          </a:prstGeom>
          <a:solidFill>
            <a:srgbClr val="FFFFFF"/>
          </a:solidFill>
          <a:ln w="15875">
            <a:solidFill>
              <a:srgbClr val="1F3D2C"/>
            </a:solidFill>
            <a:prstDash val="solid"/>
          </a:ln>
        </p:spPr>
        <p:txBody>
          <a:bodyPr/>
          <a:lstStyle/>
          <a:p>
            <a:endParaRPr lang="en-US"/>
          </a:p>
        </p:txBody>
      </p:sp>
      <p:pic>
        <p:nvPicPr>
          <p:cNvPr id="15" name="Image 1" descr="/home/claude/pptx-build/assets/qr-sec3-actions-importer.png"/>
          <p:cNvPicPr>
            <a:picLocks noChangeAspect="1"/>
          </p:cNvPicPr>
          <p:nvPr/>
        </p:nvPicPr>
        <p:blipFill>
          <a:blip r:embed="rId4"/>
          <a:stretch>
            <a:fillRect/>
          </a:stretch>
        </p:blipFill>
        <p:spPr>
          <a:xfrm>
            <a:off x="10424160" y="5413248"/>
            <a:ext cx="777240" cy="777240"/>
          </a:xfrm>
          <a:prstGeom prst="rect">
            <a:avLst/>
          </a:prstGeom>
        </p:spPr>
      </p:pic>
      <p:sp>
        <p:nvSpPr>
          <p:cNvPr id="16" name="Slide Number Placeholder"/>
          <p:cNvSpPr>
            <a:spLocks noGrp="1"/>
          </p:cNvSpPr>
          <p:nvPr>
            <p:ph type="sldNum" sz="quarter" idx="10"/>
          </p:nvPr>
        </p:nvSpPr>
        <p:spPr/>
        <p:txBody>
          <a:bodyPr/>
          <a:lstStyle/>
          <a:p>
            <a:fld id="{BCB632DE-6AD4-40F1-944C-28C0E9BF62DC}" type="slidenum">
              <a:rPr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48640" y="457200"/>
            <a:ext cx="566928" cy="566928"/>
          </a:xfrm>
          <a:prstGeom prst="ellipse">
            <a:avLst/>
          </a:prstGeom>
          <a:solidFill>
            <a:srgbClr val="C1440E"/>
          </a:solidFill>
          <a:ln>
            <a:noFill/>
          </a:ln>
          <a:effectLst/>
        </p:spPr>
        <p:txBody>
          <a:bodyPr rtlCol="0" anchor="ctr"/>
          <a:lstStyle/>
          <a:p>
            <a:pPr algn="ctr"/>
            <a:endParaRPr/>
          </a:p>
        </p:txBody>
      </p:sp>
      <p:pic>
        <p:nvPicPr>
          <p:cNvPr id="3" name="Picture 2" descr="image.png"/>
          <p:cNvPicPr>
            <a:picLocks noChangeAspect="1"/>
          </p:cNvPicPr>
          <p:nvPr/>
        </p:nvPicPr>
        <p:blipFill>
          <a:blip r:embed="rId3"/>
          <a:stretch>
            <a:fillRect/>
          </a:stretch>
        </p:blipFill>
        <p:spPr>
          <a:xfrm>
            <a:off x="685800" y="594360"/>
            <a:ext cx="292608" cy="292608"/>
          </a:xfrm>
          <a:prstGeom prst="rect">
            <a:avLst/>
          </a:prstGeom>
        </p:spPr>
      </p:pic>
      <p:sp>
        <p:nvSpPr>
          <p:cNvPr id="4" name="TextBox 3"/>
          <p:cNvSpPr txBox="1"/>
          <p:nvPr/>
        </p:nvSpPr>
        <p:spPr>
          <a:xfrm>
            <a:off x="1234440" y="420624"/>
            <a:ext cx="9875520" cy="320040"/>
          </a:xfrm>
          <a:prstGeom prst="rect">
            <a:avLst/>
          </a:prstGeom>
          <a:noFill/>
        </p:spPr>
        <p:txBody>
          <a:bodyPr wrap="square" anchor="t">
            <a:spAutoFit/>
          </a:bodyPr>
          <a:lstStyle/>
          <a:p>
            <a:pPr algn="l"/>
            <a:r>
              <a:rPr sz="1500" b="1">
                <a:solidFill>
                  <a:srgbClr val="C1440E"/>
                </a:solidFill>
                <a:latin typeface="Calibri"/>
              </a:rPr>
              <a:t>CROSSING THE RIVER</a:t>
            </a:r>
          </a:p>
        </p:txBody>
      </p:sp>
      <p:sp>
        <p:nvSpPr>
          <p:cNvPr id="5" name="TextBox 4"/>
          <p:cNvSpPr txBox="1"/>
          <p:nvPr/>
        </p:nvSpPr>
        <p:spPr>
          <a:xfrm>
            <a:off x="1234440" y="749808"/>
            <a:ext cx="10744200" cy="594360"/>
          </a:xfrm>
          <a:prstGeom prst="rect">
            <a:avLst/>
          </a:prstGeom>
          <a:noFill/>
        </p:spPr>
        <p:txBody>
          <a:bodyPr wrap="square" anchor="t">
            <a:spAutoFit/>
          </a:bodyPr>
          <a:lstStyle/>
          <a:p>
            <a:pPr algn="l"/>
            <a:r>
              <a:rPr sz="3200" b="1">
                <a:solidFill>
                  <a:srgbClr val="1F3D2C"/>
                </a:solidFill>
                <a:latin typeface="Cambria"/>
              </a:rPr>
              <a:t>Automation Plane — Runners, Networks, Secrets</a:t>
            </a:r>
          </a:p>
        </p:txBody>
      </p:sp>
      <p:sp>
        <p:nvSpPr>
          <p:cNvPr id="6" name="TextBox 5"/>
          <p:cNvSpPr txBox="1"/>
          <p:nvPr/>
        </p:nvSpPr>
        <p:spPr>
          <a:xfrm>
            <a:off x="548640" y="1481328"/>
            <a:ext cx="11064240" cy="411480"/>
          </a:xfrm>
          <a:prstGeom prst="rect">
            <a:avLst/>
          </a:prstGeom>
          <a:noFill/>
        </p:spPr>
        <p:txBody>
          <a:bodyPr wrap="square" anchor="t">
            <a:spAutoFit/>
          </a:bodyPr>
          <a:lstStyle/>
          <a:p>
            <a:pPr algn="l"/>
            <a:r>
              <a:rPr sz="1800" b="0">
                <a:solidFill>
                  <a:srgbClr val="2B2B2B"/>
                </a:solidFill>
                <a:latin typeface="Calibri"/>
              </a:rPr>
              <a:t>The YAML converts. The execution environment usually doesn’t — and that is where enterprise migrations stall.</a:t>
            </a:r>
          </a:p>
        </p:txBody>
      </p:sp>
      <p:sp>
        <p:nvSpPr>
          <p:cNvPr id="7" name="Rounded Rectangle 6"/>
          <p:cNvSpPr/>
          <p:nvPr/>
        </p:nvSpPr>
        <p:spPr>
          <a:xfrm>
            <a:off x="548640" y="2029968"/>
            <a:ext cx="5349240" cy="3474720"/>
          </a:xfrm>
          <a:prstGeom prst="roundRect">
            <a:avLst>
              <a:gd name="adj" fmla="val 4000"/>
            </a:avLst>
          </a:prstGeom>
          <a:solidFill>
            <a:srgbClr val="F7F6F2"/>
          </a:solidFill>
          <a:ln>
            <a:noFill/>
          </a:ln>
          <a:effectLst/>
        </p:spPr>
        <p:txBody>
          <a:bodyPr rtlCol="0" anchor="ctr"/>
          <a:lstStyle/>
          <a:p>
            <a:pPr algn="ctr"/>
            <a:endParaRPr/>
          </a:p>
        </p:txBody>
      </p:sp>
      <p:sp>
        <p:nvSpPr>
          <p:cNvPr id="8" name="TextBox 7"/>
          <p:cNvSpPr txBox="1"/>
          <p:nvPr/>
        </p:nvSpPr>
        <p:spPr>
          <a:xfrm>
            <a:off x="822959" y="2231136"/>
            <a:ext cx="4800600" cy="411480"/>
          </a:xfrm>
          <a:prstGeom prst="rect">
            <a:avLst/>
          </a:prstGeom>
          <a:noFill/>
        </p:spPr>
        <p:txBody>
          <a:bodyPr wrap="square" anchor="t">
            <a:spAutoFit/>
          </a:bodyPr>
          <a:lstStyle/>
          <a:p>
            <a:pPr algn="l"/>
            <a:r>
              <a:rPr sz="1900" b="1">
                <a:solidFill>
                  <a:srgbClr val="1F3D2C"/>
                </a:solidFill>
                <a:latin typeface="Cambria"/>
              </a:rPr>
              <a:t>Decide</a:t>
            </a:r>
          </a:p>
        </p:txBody>
      </p:sp>
      <p:sp>
        <p:nvSpPr>
          <p:cNvPr id="9" name="TextBox 8"/>
          <p:cNvSpPr txBox="1"/>
          <p:nvPr/>
        </p:nvSpPr>
        <p:spPr>
          <a:xfrm>
            <a:off x="822959" y="2743200"/>
            <a:ext cx="4800600" cy="2651760"/>
          </a:xfrm>
          <a:prstGeom prst="rect">
            <a:avLst/>
          </a:prstGeom>
          <a:noFill/>
        </p:spPr>
        <p:txBody>
          <a:bodyPr wrap="square" anchor="t">
            <a:spAutoFit/>
          </a:bodyPr>
          <a:lstStyle/>
          <a:p>
            <a:pPr algn="l"/>
            <a:r>
              <a:rPr sz="1450" b="0">
                <a:solidFill>
                  <a:srgbClr val="2B2B2B"/>
                </a:solidFill>
                <a:latin typeface="Calibri"/>
              </a:rPr>
              <a:t>•  Hosted vs self-hosted — and who operates them</a:t>
            </a:r>
          </a:p>
          <a:p>
            <a:pPr algn="l">
              <a:spcBef>
                <a:spcPts val="700"/>
              </a:spcBef>
            </a:pPr>
            <a:r>
              <a:rPr sz="1450" b="0">
                <a:solidFill>
                  <a:srgbClr val="2B2B2B"/>
                </a:solidFill>
                <a:latin typeface="Calibri"/>
              </a:rPr>
              <a:t>•  Network path to private endpoints and internal feeds</a:t>
            </a:r>
          </a:p>
          <a:p>
            <a:pPr algn="l">
              <a:spcBef>
                <a:spcPts val="700"/>
              </a:spcBef>
            </a:pPr>
            <a:r>
              <a:rPr sz="1450" b="0">
                <a:solidFill>
                  <a:srgbClr val="2B2B2B"/>
                </a:solidFill>
                <a:latin typeface="Calibri"/>
              </a:rPr>
              <a:t>•  Toolchain and cache parity with today’s agents</a:t>
            </a:r>
          </a:p>
          <a:p>
            <a:pPr algn="l">
              <a:spcBef>
                <a:spcPts val="700"/>
              </a:spcBef>
            </a:pPr>
            <a:r>
              <a:rPr sz="1450" b="0">
                <a:solidFill>
                  <a:srgbClr val="2B2B2B"/>
                </a:solidFill>
                <a:latin typeface="Calibri"/>
              </a:rPr>
              <a:t>•  Ephemeral vs persistent, and the autoscaling policy</a:t>
            </a:r>
          </a:p>
          <a:p>
            <a:pPr algn="l">
              <a:spcBef>
                <a:spcPts val="700"/>
              </a:spcBef>
            </a:pPr>
            <a:r>
              <a:rPr sz="1450" b="0">
                <a:solidFill>
                  <a:srgbClr val="2B2B2B"/>
                </a:solidFill>
                <a:latin typeface="Calibri"/>
              </a:rPr>
              <a:t>•  Runner groups, and which repositories may use them</a:t>
            </a:r>
          </a:p>
          <a:p>
            <a:pPr algn="l">
              <a:spcBef>
                <a:spcPts val="700"/>
              </a:spcBef>
            </a:pPr>
            <a:r>
              <a:rPr sz="1450" b="0">
                <a:solidFill>
                  <a:srgbClr val="2B2B2B"/>
                </a:solidFill>
                <a:latin typeface="Calibri"/>
              </a:rPr>
              <a:t>•  Minute consumption and larger-runner cost</a:t>
            </a:r>
          </a:p>
        </p:txBody>
      </p:sp>
      <p:sp>
        <p:nvSpPr>
          <p:cNvPr id="10" name="Rounded Rectangle 9"/>
          <p:cNvSpPr/>
          <p:nvPr/>
        </p:nvSpPr>
        <p:spPr>
          <a:xfrm>
            <a:off x="6263640" y="2029968"/>
            <a:ext cx="5349240" cy="3474720"/>
          </a:xfrm>
          <a:prstGeom prst="roundRect">
            <a:avLst>
              <a:gd name="adj" fmla="val 4000"/>
            </a:avLst>
          </a:prstGeom>
          <a:solidFill>
            <a:srgbClr val="F7F6F2"/>
          </a:solidFill>
          <a:ln>
            <a:noFill/>
          </a:ln>
          <a:effectLst/>
        </p:spPr>
        <p:txBody>
          <a:bodyPr rtlCol="0" anchor="ctr"/>
          <a:lstStyle/>
          <a:p>
            <a:pPr algn="ctr"/>
            <a:endParaRPr/>
          </a:p>
        </p:txBody>
      </p:sp>
      <p:sp>
        <p:nvSpPr>
          <p:cNvPr id="11" name="TextBox 10"/>
          <p:cNvSpPr txBox="1"/>
          <p:nvPr/>
        </p:nvSpPr>
        <p:spPr>
          <a:xfrm>
            <a:off x="6537959" y="2231136"/>
            <a:ext cx="4800600" cy="411480"/>
          </a:xfrm>
          <a:prstGeom prst="rect">
            <a:avLst/>
          </a:prstGeom>
          <a:noFill/>
        </p:spPr>
        <p:txBody>
          <a:bodyPr wrap="square" anchor="t">
            <a:spAutoFit/>
          </a:bodyPr>
          <a:lstStyle/>
          <a:p>
            <a:pPr algn="l"/>
            <a:r>
              <a:rPr sz="1900" b="1">
                <a:solidFill>
                  <a:srgbClr val="1F3D2C"/>
                </a:solidFill>
                <a:latin typeface="Cambria"/>
              </a:rPr>
              <a:t>Prove</a:t>
            </a:r>
          </a:p>
        </p:txBody>
      </p:sp>
      <p:sp>
        <p:nvSpPr>
          <p:cNvPr id="12" name="TextBox 11"/>
          <p:cNvSpPr txBox="1"/>
          <p:nvPr/>
        </p:nvSpPr>
        <p:spPr>
          <a:xfrm>
            <a:off x="6537959" y="2743200"/>
            <a:ext cx="4800600" cy="2651760"/>
          </a:xfrm>
          <a:prstGeom prst="rect">
            <a:avLst/>
          </a:prstGeom>
          <a:noFill/>
        </p:spPr>
        <p:txBody>
          <a:bodyPr wrap="square" anchor="t">
            <a:spAutoFit/>
          </a:bodyPr>
          <a:lstStyle/>
          <a:p>
            <a:pPr algn="l"/>
            <a:r>
              <a:rPr sz="1450" b="0">
                <a:solidFill>
                  <a:srgbClr val="2B2B2B"/>
                </a:solidFill>
                <a:latin typeface="Calibri"/>
              </a:rPr>
              <a:t>•  Internal package feeds resolve from the runner</a:t>
            </a:r>
          </a:p>
          <a:p>
            <a:pPr algn="l">
              <a:spcBef>
                <a:spcPts val="700"/>
              </a:spcBef>
            </a:pPr>
            <a:r>
              <a:rPr sz="1450" b="0">
                <a:solidFill>
                  <a:srgbClr val="2B2B2B"/>
                </a:solidFill>
                <a:latin typeface="Calibri"/>
              </a:rPr>
              <a:t>•  Signing infrastructure and deployment targets reachable</a:t>
            </a:r>
          </a:p>
          <a:p>
            <a:pPr algn="l">
              <a:spcBef>
                <a:spcPts val="700"/>
              </a:spcBef>
            </a:pPr>
            <a:r>
              <a:rPr sz="1450" b="0">
                <a:solidFill>
                  <a:srgbClr val="2B2B2B"/>
                </a:solidFill>
                <a:latin typeface="Calibri"/>
              </a:rPr>
              <a:t>•  Firewall, proxy and IP-allowlist rules</a:t>
            </a:r>
          </a:p>
          <a:p>
            <a:pPr algn="l">
              <a:spcBef>
                <a:spcPts val="700"/>
              </a:spcBef>
            </a:pPr>
            <a:r>
              <a:rPr sz="1450" b="0">
                <a:solidFill>
                  <a:srgbClr val="2B2B2B"/>
                </a:solidFill>
                <a:latin typeface="Calibri"/>
              </a:rPr>
              <a:t>•  OIDC federation actually issues a usable token</a:t>
            </a:r>
          </a:p>
          <a:p>
            <a:pPr algn="l">
              <a:spcBef>
                <a:spcPts val="700"/>
              </a:spcBef>
            </a:pPr>
            <a:r>
              <a:rPr sz="1450" b="0">
                <a:solidFill>
                  <a:srgbClr val="2B2B2B"/>
                </a:solidFill>
                <a:latin typeface="Calibri"/>
              </a:rPr>
              <a:t>•  Artifact throughput at real sizes, not sample sizes</a:t>
            </a:r>
          </a:p>
        </p:txBody>
      </p:sp>
      <p:sp>
        <p:nvSpPr>
          <p:cNvPr id="13" name="Rounded Rectangle 12"/>
          <p:cNvSpPr/>
          <p:nvPr/>
        </p:nvSpPr>
        <p:spPr>
          <a:xfrm>
            <a:off x="548640" y="5760720"/>
            <a:ext cx="11064240" cy="786384"/>
          </a:xfrm>
          <a:prstGeom prst="roundRect">
            <a:avLst>
              <a:gd name="adj" fmla="val 12632"/>
            </a:avLst>
          </a:prstGeom>
          <a:solidFill>
            <a:srgbClr val="1F3D2C"/>
          </a:solidFill>
          <a:ln>
            <a:noFill/>
          </a:ln>
          <a:effectLst/>
        </p:spPr>
        <p:txBody>
          <a:bodyPr wrap="square" lIns="256032" tIns="54864" rIns="256032" bIns="54864" rtlCol="0" anchor="ctr"/>
          <a:lstStyle/>
          <a:p>
            <a:pPr algn="l"/>
            <a:r>
              <a:rPr sz="1250" b="1" spc="120">
                <a:solidFill>
                  <a:srgbClr val="E0B85C"/>
                </a:solidFill>
                <a:latin typeface="Calibri"/>
              </a:rPr>
              <a:t>TAKEAWAY </a:t>
            </a:r>
            <a:r>
              <a:rPr sz="1500">
                <a:solidFill>
                  <a:srgbClr val="F5F5F0"/>
                </a:solidFill>
                <a:latin typeface="Calibri"/>
              </a:rPr>
              <a:t>The workflow converted successfully. It merely has no credentials, no network route, and nowhere to deploy.</a:t>
            </a:r>
          </a:p>
        </p:txBody>
      </p:sp>
      <p:sp>
        <p:nvSpPr>
          <p:cNvPr id="14" name="Slide Number Placeholder"/>
          <p:cNvSpPr>
            <a:spLocks noGrp="1"/>
          </p:cNvSpPr>
          <p:nvPr>
            <p:ph type="sldNum" sz="quarter" idx="10"/>
          </p:nvPr>
        </p:nvSpPr>
        <p:spPr/>
        <p:txBody>
          <a:bodyPr/>
          <a:lstStyle/>
          <a:p>
            <a:fld id="{BCB632DE-6AD4-40F1-944C-28C0E9BF62DC}" type="slidenum">
              <a:rPr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rain-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AI Assistance — Reason About Pipeline Semantics</a:t>
            </a:r>
            <a:endParaRPr lang="en-US" sz="3200" dirty="0"/>
          </a:p>
        </p:txBody>
      </p:sp>
      <p:sp>
        <p:nvSpPr>
          <p:cNvPr id="6" name="Shape 3"/>
          <p:cNvSpPr/>
          <p:nvPr/>
        </p:nvSpPr>
        <p:spPr>
          <a:xfrm>
            <a:off x="548640" y="1691640"/>
            <a:ext cx="3429000" cy="3200400"/>
          </a:xfrm>
          <a:prstGeom prst="roundRect">
            <a:avLst>
              <a:gd name="adj" fmla="val 3429"/>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822960" y="1920240"/>
            <a:ext cx="603504" cy="603504"/>
          </a:xfrm>
          <a:prstGeom prst="ellipse">
            <a:avLst/>
          </a:prstGeom>
          <a:solidFill>
            <a:srgbClr val="C1440E"/>
          </a:solidFill>
          <a:ln/>
        </p:spPr>
        <p:txBody>
          <a:bodyPr/>
          <a:lstStyle/>
          <a:p>
            <a:endParaRPr lang="en-US"/>
          </a:p>
        </p:txBody>
      </p:sp>
      <p:pic>
        <p:nvPicPr>
          <p:cNvPr id="8" name="Image 1" descr="/home/claude/pptx-build/assets/icons/FaSearch-FFFFFF-200.png"/>
          <p:cNvPicPr>
            <a:picLocks noChangeAspect="1"/>
          </p:cNvPicPr>
          <p:nvPr/>
        </p:nvPicPr>
        <p:blipFill>
          <a:blip r:embed="rId4"/>
          <a:stretch>
            <a:fillRect/>
          </a:stretch>
        </p:blipFill>
        <p:spPr>
          <a:xfrm>
            <a:off x="969264" y="2066544"/>
            <a:ext cx="310896" cy="310896"/>
          </a:xfrm>
          <a:prstGeom prst="rect">
            <a:avLst/>
          </a:prstGeom>
        </p:spPr>
      </p:pic>
      <p:sp>
        <p:nvSpPr>
          <p:cNvPr id="9" name="Text 5"/>
          <p:cNvSpPr txBox="1"/>
          <p:nvPr/>
        </p:nvSpPr>
        <p:spPr>
          <a:xfrm>
            <a:off x="822960" y="2670048"/>
            <a:ext cx="2880360" cy="457200"/>
          </a:xfrm>
          <a:prstGeom prst="rect">
            <a:avLst/>
          </a:prstGeom>
          <a:noFill/>
          <a:ln/>
        </p:spPr>
        <p:txBody>
          <a:bodyPr wrap="square" lIns="0" tIns="0" rIns="0" bIns="0" rtlCol="0" anchor="ctr"/>
          <a:lstStyle/>
          <a:p>
            <a:pPr marL="0" indent="0">
              <a:buNone/>
            </a:pPr>
            <a:r>
              <a:rPr lang="en-US" sz="1800" b="1" dirty="0">
                <a:solidFill>
                  <a:srgbClr val="1F3D2C"/>
                </a:solidFill>
                <a:latin typeface="Cambria" pitchFamily="34" charset="0"/>
                <a:ea typeface="Cambria" pitchFamily="34" charset="-122"/>
                <a:cs typeface="Cambria" pitchFamily="34" charset="-120"/>
              </a:rPr>
              <a:t>Analyze</a:t>
            </a:r>
            <a:endParaRPr lang="en-US" sz="1800" dirty="0"/>
          </a:p>
        </p:txBody>
      </p:sp>
      <p:sp>
        <p:nvSpPr>
          <p:cNvPr id="10" name="Text 6"/>
          <p:cNvSpPr txBox="1"/>
          <p:nvPr/>
        </p:nvSpPr>
        <p:spPr>
          <a:xfrm>
            <a:off x="822960" y="3182112"/>
            <a:ext cx="2880360" cy="1600200"/>
          </a:xfrm>
          <a:prstGeom prst="rect">
            <a:avLst/>
          </a:prstGeom>
          <a:noFill/>
          <a:ln/>
        </p:spPr>
        <p:txBody>
          <a:bodyPr wrap="square" lIns="0" tIns="0" rIns="0" bIns="0" rtlCol="0" anchor="ctr"/>
          <a:lstStyle/>
          <a:p>
            <a:pPr marL="0" indent="0">
              <a:buNone/>
            </a:pPr>
            <a:r>
              <a:rPr lang="en-US" sz="1400">
                <a:solidFill>
                  <a:srgbClr val="2B2B2B"/>
                </a:solidFill>
                <a:latin typeface="Calibri"/>
              </a:rPr>
              <a:t>Inventory structure, constructs, risk, and open questions before conversion.</a:t>
            </a:r>
            <a:endParaRPr lang="en-US" sz="1400" dirty="0"/>
          </a:p>
        </p:txBody>
      </p:sp>
      <p:sp>
        <p:nvSpPr>
          <p:cNvPr id="11" name="Shape 7"/>
          <p:cNvSpPr/>
          <p:nvPr/>
        </p:nvSpPr>
        <p:spPr>
          <a:xfrm>
            <a:off x="4251960" y="1691640"/>
            <a:ext cx="3429000" cy="3200400"/>
          </a:xfrm>
          <a:prstGeom prst="roundRect">
            <a:avLst>
              <a:gd name="adj" fmla="val 3429"/>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8"/>
          <p:cNvSpPr/>
          <p:nvPr/>
        </p:nvSpPr>
        <p:spPr>
          <a:xfrm>
            <a:off x="4526280" y="1920240"/>
            <a:ext cx="603504" cy="603504"/>
          </a:xfrm>
          <a:prstGeom prst="ellipse">
            <a:avLst/>
          </a:prstGeom>
          <a:solidFill>
            <a:srgbClr val="C1440E"/>
          </a:solidFill>
          <a:ln/>
        </p:spPr>
        <p:txBody>
          <a:bodyPr/>
          <a:lstStyle/>
          <a:p>
            <a:endParaRPr lang="en-US"/>
          </a:p>
        </p:txBody>
      </p:sp>
      <p:pic>
        <p:nvPicPr>
          <p:cNvPr id="13" name="Image 2" descr="/home/claude/pptx-build/assets/icons/FaExchangeAlt-FFFFFF-200.png"/>
          <p:cNvPicPr>
            <a:picLocks noChangeAspect="1"/>
          </p:cNvPicPr>
          <p:nvPr/>
        </p:nvPicPr>
        <p:blipFill>
          <a:blip r:embed="rId5"/>
          <a:stretch>
            <a:fillRect/>
          </a:stretch>
        </p:blipFill>
        <p:spPr>
          <a:xfrm>
            <a:off x="4672584" y="2066544"/>
            <a:ext cx="310896" cy="310896"/>
          </a:xfrm>
          <a:prstGeom prst="rect">
            <a:avLst/>
          </a:prstGeom>
        </p:spPr>
      </p:pic>
      <p:sp>
        <p:nvSpPr>
          <p:cNvPr id="14" name="Text 9"/>
          <p:cNvSpPr txBox="1"/>
          <p:nvPr/>
        </p:nvSpPr>
        <p:spPr>
          <a:xfrm>
            <a:off x="4526280" y="2670048"/>
            <a:ext cx="2880360" cy="457200"/>
          </a:xfrm>
          <a:prstGeom prst="rect">
            <a:avLst/>
          </a:prstGeom>
          <a:noFill/>
          <a:ln/>
        </p:spPr>
        <p:txBody>
          <a:bodyPr wrap="square" lIns="0" tIns="0" rIns="0" bIns="0" rtlCol="0" anchor="ctr"/>
          <a:lstStyle/>
          <a:p>
            <a:pPr marL="0" indent="0">
              <a:buNone/>
            </a:pPr>
            <a:r>
              <a:rPr lang="en-US" sz="1800" b="1" dirty="0">
                <a:solidFill>
                  <a:srgbClr val="1F3D2C"/>
                </a:solidFill>
                <a:latin typeface="Cambria" pitchFamily="34" charset="0"/>
                <a:ea typeface="Cambria" pitchFamily="34" charset="-122"/>
                <a:cs typeface="Cambria" pitchFamily="34" charset="-120"/>
              </a:rPr>
              <a:t>Convert</a:t>
            </a:r>
            <a:endParaRPr lang="en-US" sz="1800" dirty="0"/>
          </a:p>
        </p:txBody>
      </p:sp>
      <p:sp>
        <p:nvSpPr>
          <p:cNvPr id="15" name="Text 10"/>
          <p:cNvSpPr txBox="1"/>
          <p:nvPr/>
        </p:nvSpPr>
        <p:spPr>
          <a:xfrm>
            <a:off x="4526280" y="3182112"/>
            <a:ext cx="2880360" cy="1600200"/>
          </a:xfrm>
          <a:prstGeom prst="rect">
            <a:avLst/>
          </a:prstGeom>
          <a:noFill/>
          <a:ln/>
        </p:spPr>
        <p:txBody>
          <a:bodyPr wrap="square" lIns="0" tIns="0" rIns="0" bIns="0" rtlCol="0" anchor="ctr"/>
          <a:lstStyle/>
          <a:p>
            <a:pPr marL="0" indent="0">
              <a:buNone/>
            </a:pPr>
            <a:r>
              <a:rPr lang="en-US" sz="1400">
                <a:solidFill>
                  <a:srgbClr val="2B2B2B"/>
                </a:solidFill>
                <a:latin typeface="Calibri"/>
              </a:rPr>
              <a:t>Draft the Actions workflow and record every judgment call and confidence level.</a:t>
            </a:r>
            <a:endParaRPr lang="en-US" sz="1400" dirty="0"/>
          </a:p>
        </p:txBody>
      </p:sp>
      <p:sp>
        <p:nvSpPr>
          <p:cNvPr id="16" name="Shape 11"/>
          <p:cNvSpPr/>
          <p:nvPr/>
        </p:nvSpPr>
        <p:spPr>
          <a:xfrm>
            <a:off x="7955280" y="1691640"/>
            <a:ext cx="3429000" cy="3200400"/>
          </a:xfrm>
          <a:prstGeom prst="roundRect">
            <a:avLst>
              <a:gd name="adj" fmla="val 3429"/>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2"/>
          <p:cNvSpPr/>
          <p:nvPr/>
        </p:nvSpPr>
        <p:spPr>
          <a:xfrm>
            <a:off x="8229600" y="1920240"/>
            <a:ext cx="603504" cy="603504"/>
          </a:xfrm>
          <a:prstGeom prst="ellipse">
            <a:avLst/>
          </a:prstGeom>
          <a:solidFill>
            <a:srgbClr val="C1440E"/>
          </a:solidFill>
          <a:ln/>
        </p:spPr>
        <p:txBody>
          <a:bodyPr/>
          <a:lstStyle/>
          <a:p>
            <a:endParaRPr lang="en-US"/>
          </a:p>
        </p:txBody>
      </p:sp>
      <p:pic>
        <p:nvPicPr>
          <p:cNvPr id="18" name="Image 3" descr="/home/claude/pptx-build/assets/icons/FaCheckCircle-FFFFFF-200.png"/>
          <p:cNvPicPr>
            <a:picLocks noChangeAspect="1"/>
          </p:cNvPicPr>
          <p:nvPr/>
        </p:nvPicPr>
        <p:blipFill>
          <a:blip r:embed="rId6"/>
          <a:stretch>
            <a:fillRect/>
          </a:stretch>
        </p:blipFill>
        <p:spPr>
          <a:xfrm>
            <a:off x="8375904" y="2066544"/>
            <a:ext cx="310896" cy="310896"/>
          </a:xfrm>
          <a:prstGeom prst="rect">
            <a:avLst/>
          </a:prstGeom>
        </p:spPr>
      </p:pic>
      <p:sp>
        <p:nvSpPr>
          <p:cNvPr id="19" name="Text 13"/>
          <p:cNvSpPr txBox="1"/>
          <p:nvPr/>
        </p:nvSpPr>
        <p:spPr>
          <a:xfrm>
            <a:off x="8229600" y="2670048"/>
            <a:ext cx="2880360" cy="457200"/>
          </a:xfrm>
          <a:prstGeom prst="rect">
            <a:avLst/>
          </a:prstGeom>
          <a:noFill/>
          <a:ln/>
        </p:spPr>
        <p:txBody>
          <a:bodyPr wrap="square" lIns="0" tIns="0" rIns="0" bIns="0" rtlCol="0" anchor="ctr"/>
          <a:lstStyle/>
          <a:p>
            <a:pPr marL="0" indent="0">
              <a:buNone/>
            </a:pPr>
            <a:r>
              <a:rPr lang="en-US" sz="1800" b="1" dirty="0">
                <a:solidFill>
                  <a:srgbClr val="1F3D2C"/>
                </a:solidFill>
                <a:latin typeface="Cambria" pitchFamily="34" charset="0"/>
                <a:ea typeface="Cambria" pitchFamily="34" charset="-122"/>
                <a:cs typeface="Cambria" pitchFamily="34" charset="-120"/>
              </a:rPr>
              <a:t>Validate</a:t>
            </a:r>
            <a:endParaRPr lang="en-US" sz="1800" dirty="0"/>
          </a:p>
        </p:txBody>
      </p:sp>
      <p:sp>
        <p:nvSpPr>
          <p:cNvPr id="20" name="Text 14"/>
          <p:cNvSpPr txBox="1"/>
          <p:nvPr/>
        </p:nvSpPr>
        <p:spPr>
          <a:xfrm>
            <a:off x="8229600" y="3182112"/>
            <a:ext cx="2880360" cy="1600200"/>
          </a:xfrm>
          <a:prstGeom prst="rect">
            <a:avLst/>
          </a:prstGeom>
          <a:noFill/>
          <a:ln/>
        </p:spPr>
        <p:txBody>
          <a:bodyPr wrap="square" lIns="0" tIns="0" rIns="0" bIns="0" rtlCol="0" anchor="ctr"/>
          <a:lstStyle/>
          <a:p>
            <a:pPr marL="0" indent="0">
              <a:buNone/>
            </a:pPr>
            <a:r>
              <a:rPr lang="en-US" sz="1400">
                <a:solidFill>
                  <a:srgbClr val="2B2B2B"/>
                </a:solidFill>
                <a:latin typeface="Calibri"/>
              </a:rPr>
              <a:t>Run a fresh checklist with another reviewer or model where possible, then prove it with deterministic tests.</a:t>
            </a:r>
            <a:endParaRPr lang="en-US" sz="1400" dirty="0"/>
          </a:p>
        </p:txBody>
      </p:sp>
      <p:sp>
        <p:nvSpPr>
          <p:cNvPr id="21" name="Shape 15"/>
          <p:cNvSpPr/>
          <p:nvPr/>
        </p:nvSpPr>
        <p:spPr>
          <a:xfrm>
            <a:off x="548640" y="5120640"/>
            <a:ext cx="11064240" cy="141732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22" name="Text 16"/>
          <p:cNvSpPr txBox="1"/>
          <p:nvPr/>
        </p:nvSpPr>
        <p:spPr>
          <a:xfrm>
            <a:off x="548640" y="5120640"/>
            <a:ext cx="11094720" cy="1417320"/>
          </a:xfrm>
          <a:prstGeom prst="rect">
            <a:avLst/>
          </a:prstGeom>
          <a:noFill/>
          <a:ln/>
        </p:spPr>
        <p:txBody>
          <a:bodyPr wrap="square" lIns="256032" tIns="54864" rIns="256032" bIns="54864" rtlCol="0" anchor="ctr"/>
          <a:lstStyle/>
          <a:p>
            <a:pPr marL="0" indent="0" algn="l">
              <a:lnSpc>
                <a:spcPct val="110000"/>
              </a:lnSpc>
              <a:buNone/>
            </a:pPr>
            <a:r>
              <a:rPr sz="1250" b="1" spc="120" dirty="0">
                <a:solidFill>
                  <a:srgbClr val="C1440E"/>
                </a:solidFill>
                <a:latin typeface="Calibri"/>
              </a:rPr>
              <a:t>DO THIS </a:t>
            </a:r>
            <a:r>
              <a:rPr sz="1500" b="0" dirty="0">
                <a:solidFill>
                  <a:srgbClr val="2B2B2B"/>
                </a:solidFill>
                <a:latin typeface="Calibri"/>
              </a:rPr>
              <a:t>Use AI where the importer reports partially successful or unsupported work: explain intent, draft conversions, and generate test hypotheses. It accelerates judgment; it does not own acceptance.</a:t>
            </a:r>
            <a:endParaRPr lang="en-US" sz="1400" dirty="0"/>
          </a:p>
        </p:txBody>
      </p:sp>
      <p:sp>
        <p:nvSpPr>
          <p:cNvPr id="23" name="Slide Number Placeholder"/>
          <p:cNvSpPr>
            <a:spLocks noGrp="1"/>
          </p:cNvSpPr>
          <p:nvPr>
            <p:ph type="sldNum" sz="quarter" idx="10"/>
          </p:nvPr>
        </p:nvSpPr>
        <p:spPr/>
        <p:txBody>
          <a:bodyPr/>
          <a:lstStyle/>
          <a:p>
            <a:fld id="{BCB632DE-6AD4-40F1-944C-28C0E9BF62DC}" type="slidenum">
              <a:rPr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MapMarkedAl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The Crossing, Mapped Across the Planes</a:t>
            </a:r>
            <a:endParaRPr lang="en-US" sz="3200" dirty="0"/>
          </a:p>
        </p:txBody>
      </p:sp>
      <p:sp>
        <p:nvSpPr>
          <p:cNvPr id="6" name="Rectangle 5"/>
          <p:cNvSpPr/>
          <p:nvPr/>
        </p:nvSpPr>
        <p:spPr>
          <a:xfrm>
            <a:off x="1375586" y="2698179"/>
            <a:ext cx="9116568" cy="19050"/>
          </a:xfrm>
          <a:prstGeom prst="rect">
            <a:avLst/>
          </a:prstGeom>
          <a:solidFill>
            <a:srgbClr val="DDD8CC"/>
          </a:solidFill>
          <a:ln>
            <a:noFill/>
          </a:ln>
        </p:spPr>
        <p:txBody>
          <a:bodyPr rtlCol="0" anchor="ctr"/>
          <a:lstStyle/>
          <a:p>
            <a:pPr algn="ctr"/>
            <a:endParaRPr lang="en-US"/>
          </a:p>
        </p:txBody>
      </p:sp>
      <p:sp>
        <p:nvSpPr>
          <p:cNvPr id="7" name="TextBox 6"/>
          <p:cNvSpPr txBox="1">
            <a:spLocks/>
          </p:cNvSpPr>
          <p:nvPr/>
        </p:nvSpPr>
        <p:spPr>
          <a:xfrm>
            <a:off x="296594"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1</a:t>
            </a:r>
          </a:p>
        </p:txBody>
      </p:sp>
      <p:sp>
        <p:nvSpPr>
          <p:cNvPr id="8" name="TextBox 7"/>
          <p:cNvSpPr txBox="1"/>
          <p:nvPr/>
        </p:nvSpPr>
        <p:spPr>
          <a:xfrm>
            <a:off x="296594"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Inventory &amp; classify</a:t>
            </a:r>
          </a:p>
        </p:txBody>
      </p:sp>
      <p:sp>
        <p:nvSpPr>
          <p:cNvPr id="9" name="Oval 8"/>
          <p:cNvSpPr>
            <a:spLocks/>
          </p:cNvSpPr>
          <p:nvPr/>
        </p:nvSpPr>
        <p:spPr>
          <a:xfrm>
            <a:off x="1192706" y="2570163"/>
            <a:ext cx="219456" cy="219456"/>
          </a:xfrm>
          <a:prstGeom prst="ellipse">
            <a:avLst/>
          </a:prstGeom>
          <a:solidFill>
            <a:srgbClr val="C1440E"/>
          </a:solidFill>
          <a:ln>
            <a:noFill/>
          </a:ln>
        </p:spPr>
        <p:txBody>
          <a:bodyPr rtlCol="0" anchor="ctr"/>
          <a:lstStyle/>
          <a:p>
            <a:pPr algn="ctr"/>
            <a:endParaRPr lang="en-US"/>
          </a:p>
        </p:txBody>
      </p:sp>
      <p:sp>
        <p:nvSpPr>
          <p:cNvPr id="10" name="TextBox 9"/>
          <p:cNvSpPr txBox="1"/>
          <p:nvPr/>
        </p:nvSpPr>
        <p:spPr>
          <a:xfrm>
            <a:off x="314882"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Repository inventory, PR volume, pipeline audit, and dependency map.</a:t>
            </a:r>
          </a:p>
        </p:txBody>
      </p:sp>
      <p:sp>
        <p:nvSpPr>
          <p:cNvPr id="11" name="TextBox 10"/>
          <p:cNvSpPr txBox="1"/>
          <p:nvPr/>
        </p:nvSpPr>
        <p:spPr>
          <a:xfrm>
            <a:off x="2573450"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2</a:t>
            </a:r>
          </a:p>
        </p:txBody>
      </p:sp>
      <p:sp>
        <p:nvSpPr>
          <p:cNvPr id="12" name="TextBox 11"/>
          <p:cNvSpPr txBox="1">
            <a:spLocks/>
          </p:cNvSpPr>
          <p:nvPr/>
        </p:nvSpPr>
        <p:spPr>
          <a:xfrm>
            <a:off x="2573450"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Move repository data</a:t>
            </a:r>
          </a:p>
        </p:txBody>
      </p:sp>
      <p:sp>
        <p:nvSpPr>
          <p:cNvPr id="13" name="Oval 12"/>
          <p:cNvSpPr>
            <a:spLocks/>
          </p:cNvSpPr>
          <p:nvPr/>
        </p:nvSpPr>
        <p:spPr>
          <a:xfrm>
            <a:off x="3469562" y="2570163"/>
            <a:ext cx="219456" cy="219456"/>
          </a:xfrm>
          <a:prstGeom prst="ellipse">
            <a:avLst/>
          </a:prstGeom>
          <a:solidFill>
            <a:srgbClr val="C1440E"/>
          </a:solidFill>
          <a:ln>
            <a:noFill/>
          </a:ln>
        </p:spPr>
        <p:txBody>
          <a:bodyPr rtlCol="0" anchor="ctr"/>
          <a:lstStyle/>
          <a:p>
            <a:pPr algn="ctr"/>
            <a:endParaRPr lang="en-US"/>
          </a:p>
        </p:txBody>
      </p:sp>
      <p:sp>
        <p:nvSpPr>
          <p:cNvPr id="14" name="TextBox 13"/>
          <p:cNvSpPr txBox="1"/>
          <p:nvPr/>
        </p:nvSpPr>
        <p:spPr>
          <a:xfrm>
            <a:off x="2591738"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Trial migration, identity mapping, policies, visibility, and metadata.</a:t>
            </a:r>
          </a:p>
        </p:txBody>
      </p:sp>
      <p:sp>
        <p:nvSpPr>
          <p:cNvPr id="15" name="TextBox 14"/>
          <p:cNvSpPr txBox="1"/>
          <p:nvPr/>
        </p:nvSpPr>
        <p:spPr>
          <a:xfrm>
            <a:off x="4850306"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3</a:t>
            </a:r>
          </a:p>
        </p:txBody>
      </p:sp>
      <p:sp>
        <p:nvSpPr>
          <p:cNvPr id="16" name="TextBox 15"/>
          <p:cNvSpPr txBox="1"/>
          <p:nvPr/>
        </p:nvSpPr>
        <p:spPr>
          <a:xfrm>
            <a:off x="4850306"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Rebuild automation</a:t>
            </a:r>
          </a:p>
        </p:txBody>
      </p:sp>
      <p:sp>
        <p:nvSpPr>
          <p:cNvPr id="17" name="Oval 16"/>
          <p:cNvSpPr/>
          <p:nvPr/>
        </p:nvSpPr>
        <p:spPr>
          <a:xfrm>
            <a:off x="5746418" y="2570163"/>
            <a:ext cx="219456" cy="219456"/>
          </a:xfrm>
          <a:prstGeom prst="ellipse">
            <a:avLst/>
          </a:prstGeom>
          <a:solidFill>
            <a:srgbClr val="C1440E"/>
          </a:solidFill>
          <a:ln>
            <a:noFill/>
          </a:ln>
        </p:spPr>
        <p:txBody>
          <a:bodyPr rtlCol="0" anchor="ctr"/>
          <a:lstStyle/>
          <a:p>
            <a:pPr algn="ctr"/>
            <a:endParaRPr lang="en-US"/>
          </a:p>
        </p:txBody>
      </p:sp>
      <p:sp>
        <p:nvSpPr>
          <p:cNvPr id="18" name="TextBox 17"/>
          <p:cNvSpPr txBox="1"/>
          <p:nvPr/>
        </p:nvSpPr>
        <p:spPr>
          <a:xfrm>
            <a:off x="4868594"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Translate semantics; establish runners, secrets, environments, and approvals.</a:t>
            </a:r>
          </a:p>
        </p:txBody>
      </p:sp>
      <p:sp>
        <p:nvSpPr>
          <p:cNvPr id="19" name="TextBox 18"/>
          <p:cNvSpPr txBox="1"/>
          <p:nvPr/>
        </p:nvSpPr>
        <p:spPr>
          <a:xfrm>
            <a:off x="7127162"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4</a:t>
            </a:r>
          </a:p>
        </p:txBody>
      </p:sp>
      <p:sp>
        <p:nvSpPr>
          <p:cNvPr id="20" name="TextBox 19"/>
          <p:cNvSpPr txBox="1"/>
          <p:nvPr/>
        </p:nvSpPr>
        <p:spPr>
          <a:xfrm>
            <a:off x="7127162"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Prove equivalence</a:t>
            </a:r>
          </a:p>
        </p:txBody>
      </p:sp>
      <p:sp>
        <p:nvSpPr>
          <p:cNvPr id="21" name="Oval 20"/>
          <p:cNvSpPr>
            <a:spLocks/>
          </p:cNvSpPr>
          <p:nvPr/>
        </p:nvSpPr>
        <p:spPr>
          <a:xfrm>
            <a:off x="8023274" y="2570163"/>
            <a:ext cx="219456" cy="219456"/>
          </a:xfrm>
          <a:prstGeom prst="ellipse">
            <a:avLst/>
          </a:prstGeom>
          <a:solidFill>
            <a:srgbClr val="C1440E"/>
          </a:solidFill>
          <a:ln>
            <a:noFill/>
          </a:ln>
        </p:spPr>
        <p:txBody>
          <a:bodyPr rtlCol="0" anchor="ctr"/>
          <a:lstStyle/>
          <a:p>
            <a:pPr algn="ctr"/>
            <a:endParaRPr lang="en-US"/>
          </a:p>
        </p:txBody>
      </p:sp>
      <p:sp>
        <p:nvSpPr>
          <p:cNvPr id="22" name="TextBox 21"/>
          <p:cNvSpPr txBox="1">
            <a:spLocks/>
          </p:cNvSpPr>
          <p:nvPr/>
        </p:nvSpPr>
        <p:spPr>
          <a:xfrm>
            <a:off x="7145450"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Compare artifacts and behavior; test security, deployability, and operability.</a:t>
            </a:r>
          </a:p>
        </p:txBody>
      </p:sp>
      <p:sp>
        <p:nvSpPr>
          <p:cNvPr id="23" name="TextBox 22"/>
          <p:cNvSpPr txBox="1"/>
          <p:nvPr/>
        </p:nvSpPr>
        <p:spPr>
          <a:xfrm>
            <a:off x="9404018"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5</a:t>
            </a:r>
          </a:p>
        </p:txBody>
      </p:sp>
      <p:sp>
        <p:nvSpPr>
          <p:cNvPr id="24" name="TextBox 23"/>
          <p:cNvSpPr txBox="1"/>
          <p:nvPr/>
        </p:nvSpPr>
        <p:spPr>
          <a:xfrm>
            <a:off x="9404018"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Cut over reversibly</a:t>
            </a:r>
          </a:p>
        </p:txBody>
      </p:sp>
      <p:sp>
        <p:nvSpPr>
          <p:cNvPr id="25" name="Oval 24"/>
          <p:cNvSpPr>
            <a:spLocks/>
          </p:cNvSpPr>
          <p:nvPr/>
        </p:nvSpPr>
        <p:spPr>
          <a:xfrm>
            <a:off x="10300130" y="2570163"/>
            <a:ext cx="219456" cy="219456"/>
          </a:xfrm>
          <a:prstGeom prst="ellipse">
            <a:avLst/>
          </a:prstGeom>
          <a:solidFill>
            <a:srgbClr val="C1440E"/>
          </a:solidFill>
          <a:ln>
            <a:noFill/>
          </a:ln>
        </p:spPr>
        <p:txBody>
          <a:bodyPr rtlCol="0" anchor="ctr"/>
          <a:lstStyle/>
          <a:p>
            <a:pPr algn="ctr"/>
            <a:endParaRPr lang="en-US"/>
          </a:p>
        </p:txBody>
      </p:sp>
      <p:sp>
        <p:nvSpPr>
          <p:cNvPr id="26" name="TextBox 25"/>
          <p:cNvSpPr txBox="1"/>
          <p:nvPr/>
        </p:nvSpPr>
        <p:spPr>
          <a:xfrm>
            <a:off x="9422306"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Schedule cutover, monitor, keep rollback ready, then decommission deliberately.</a:t>
            </a:r>
          </a:p>
        </p:txBody>
      </p:sp>
      <p:sp>
        <p:nvSpPr>
          <p:cNvPr id="27" name="TextBox 26"/>
          <p:cNvSpPr txBox="1"/>
          <p:nvPr/>
        </p:nvSpPr>
        <p:spPr>
          <a:xfrm>
            <a:off x="525194" y="4681725"/>
            <a:ext cx="11091672" cy="365760"/>
          </a:xfrm>
          <a:prstGeom prst="rect">
            <a:avLst/>
          </a:prstGeom>
          <a:noFill/>
        </p:spPr>
        <p:txBody>
          <a:bodyPr wrap="square" lIns="73152" tIns="73152" rIns="73152" bIns="73152" anchor="t">
            <a:spAutoFit/>
          </a:bodyPr>
          <a:lstStyle/>
          <a:p>
            <a:pPr algn="ctr"/>
            <a:r>
              <a:rPr lang="en-US" sz="1800" b="1" i="1">
                <a:solidFill>
                  <a:srgbClr val="1F3D2C"/>
                </a:solidFill>
                <a:latin typeface="Cambria"/>
              </a:rPr>
              <a:t>A green build is evidence—not acceptance.</a:t>
            </a:r>
          </a:p>
        </p:txBody>
      </p:sp>
      <p:sp>
        <p:nvSpPr>
          <p:cNvPr id="28" name="Rectangle 27"/>
          <p:cNvSpPr/>
          <p:nvPr/>
        </p:nvSpPr>
        <p:spPr>
          <a:xfrm>
            <a:off x="548640" y="5257797"/>
            <a:ext cx="11064240" cy="914400"/>
          </a:xfrm>
          <a:prstGeom prst="roundRect">
            <a:avLst>
              <a:gd name="adj" fmla="val 12632"/>
            </a:avLst>
          </a:prstGeom>
          <a:solidFill>
            <a:srgbClr val="1F3D2C"/>
          </a:solidFill>
          <a:ln w="12700">
            <a:noFill/>
          </a:ln>
          <a:effectLst/>
        </p:spPr>
        <p:txBody>
          <a:bodyPr rtlCol="0" anchor="ctr"/>
          <a:lstStyle/>
          <a:p>
            <a:pPr algn="ctr"/>
            <a:endParaRPr lang="en-US"/>
          </a:p>
        </p:txBody>
      </p:sp>
      <p:sp>
        <p:nvSpPr>
          <p:cNvPr id="29" name="TextBox 28"/>
          <p:cNvSpPr txBox="1"/>
          <p:nvPr/>
        </p:nvSpPr>
        <p:spPr>
          <a:xfrm>
            <a:off x="548640" y="5257797"/>
            <a:ext cx="11064240" cy="914400"/>
          </a:xfrm>
          <a:prstGeom prst="rect">
            <a:avLst/>
          </a:prstGeom>
          <a:noFill/>
        </p:spPr>
        <p:txBody>
          <a:bodyPr wrap="square" lIns="256032" tIns="54864" rIns="256032" bIns="54864" anchor="ctr">
            <a:spAutoFit/>
          </a:bodyPr>
          <a:lstStyle/>
          <a:p>
            <a:pPr algn="l"/>
            <a:r>
              <a:rPr sz="1250" b="1" spc="120">
                <a:solidFill>
                  <a:srgbClr val="E0B85C"/>
                </a:solidFill>
                <a:latin typeface="Calibri"/>
              </a:rPr>
              <a:t>TAKEAWAY </a:t>
            </a:r>
            <a:r>
              <a:rPr sz="1500" b="0">
                <a:solidFill>
                  <a:srgbClr val="F5F5F0"/>
                </a:solidFill>
                <a:latin typeface="Calibri"/>
              </a:rPr>
              <a:t>Finish line: first verified delivery — equivalent artifact + controlled deployment + traceability + rollback.</a:t>
            </a:r>
          </a:p>
        </p:txBody>
      </p:sp>
      <p:sp>
        <p:nvSpPr>
          <p:cNvPr id="30" name="Slide Number Placeholder"/>
          <p:cNvSpPr>
            <a:spLocks noGrp="1"/>
          </p:cNvSpPr>
          <p:nvPr>
            <p:ph type="sldNum" sz="quarter" idx="10"/>
          </p:nvPr>
        </p:nvSpPr>
        <p:spPr/>
        <p:txBody>
          <a:bodyPr/>
          <a:lstStyle/>
          <a:p>
            <a:fld id="{BCB632DE-6AD4-40F1-944C-28C0E9BF62DC}" type="slidenum">
              <a:rPr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ghtbulb-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“Migrated” Is a Checklist, Not a Repository URL</a:t>
            </a:r>
            <a:endParaRPr lang="en-US" sz="3200" dirty="0"/>
          </a:p>
        </p:txBody>
      </p:sp>
      <p:sp>
        <p:nvSpPr>
          <p:cNvPr id="6" name="Rectangle 5"/>
          <p:cNvSpPr/>
          <p:nvPr/>
        </p:nvSpPr>
        <p:spPr>
          <a:xfrm>
            <a:off x="548640" y="1508760"/>
            <a:ext cx="3493008" cy="3886200"/>
          </a:xfrm>
          <a:prstGeom prst="roundRect">
            <a:avLst>
              <a:gd name="adj" fmla="val 314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Box 6"/>
          <p:cNvSpPr txBox="1"/>
          <p:nvPr/>
        </p:nvSpPr>
        <p:spPr>
          <a:xfrm>
            <a:off x="749808" y="1737360"/>
            <a:ext cx="3090672" cy="347472"/>
          </a:xfrm>
          <a:prstGeom prst="rect">
            <a:avLst/>
          </a:prstGeom>
          <a:noFill/>
        </p:spPr>
        <p:txBody>
          <a:bodyPr wrap="square" lIns="73152" tIns="73152" rIns="73152" bIns="73152" anchor="t">
            <a:spAutoFit/>
          </a:bodyPr>
          <a:lstStyle/>
          <a:p>
            <a:pPr algn="ctr"/>
            <a:r>
              <a:rPr lang="en-US" sz="1450" b="1" i="0">
                <a:solidFill>
                  <a:srgbClr val="C1440E"/>
                </a:solidFill>
                <a:latin typeface="Calibri"/>
              </a:rPr>
              <a:t>REPOSITORY DATA</a:t>
            </a:r>
          </a:p>
        </p:txBody>
      </p:sp>
      <p:sp>
        <p:nvSpPr>
          <p:cNvPr id="8" name="TextBox 7"/>
          <p:cNvSpPr txBox="1">
            <a:spLocks/>
          </p:cNvSpPr>
          <p:nvPr/>
        </p:nvSpPr>
        <p:spPr>
          <a:xfrm>
            <a:off x="768096" y="2304288"/>
            <a:ext cx="3054096" cy="2697480"/>
          </a:xfrm>
          <a:prstGeom prst="rect">
            <a:avLst/>
          </a:prstGeom>
          <a:noFill/>
        </p:spPr>
        <p:txBody>
          <a:bodyPr wrap="square" lIns="36576" tIns="27432" rIns="36576" bIns="27432">
            <a:spAutoFit/>
          </a:bodyPr>
          <a:lstStyle/>
          <a:p>
            <a:pPr>
              <a:spcAft>
                <a:spcPts val="500"/>
              </a:spcAft>
            </a:pPr>
            <a:r>
              <a:rPr lang="en-US" sz="1400" dirty="0">
                <a:solidFill>
                  <a:srgbClr val="2B2B2B"/>
                </a:solidFill>
                <a:latin typeface="Calibri"/>
              </a:rPr>
              <a:t>•  Branches, tags, and sampled commits reconciled</a:t>
            </a:r>
          </a:p>
          <a:p>
            <a:pPr>
              <a:spcAft>
                <a:spcPts val="500"/>
              </a:spcAft>
            </a:pPr>
            <a:r>
              <a:rPr lang="en-US" sz="1400" dirty="0">
                <a:solidFill>
                  <a:srgbClr val="2B2B2B"/>
                </a:solidFill>
                <a:latin typeface="Calibri"/>
              </a:rPr>
              <a:t>•  PR history and attachments sampled</a:t>
            </a:r>
          </a:p>
          <a:p>
            <a:pPr>
              <a:spcAft>
                <a:spcPts val="500"/>
              </a:spcAft>
            </a:pPr>
            <a:r>
              <a:rPr lang="en-US" sz="1400" dirty="0">
                <a:solidFill>
                  <a:srgbClr val="2B2B2B"/>
                </a:solidFill>
                <a:latin typeface="Calibri"/>
              </a:rPr>
              <a:t>•  Identity, teams, permissions, and visibility verified</a:t>
            </a:r>
          </a:p>
          <a:p>
            <a:pPr>
              <a:spcAft>
                <a:spcPts val="500"/>
              </a:spcAft>
            </a:pPr>
            <a:r>
              <a:rPr lang="en-US" sz="1400" dirty="0">
                <a:solidFill>
                  <a:srgbClr val="2B2B2B"/>
                </a:solidFill>
                <a:latin typeface="Calibri"/>
              </a:rPr>
              <a:t>•  Policies, LFS, and large-file behavior checked</a:t>
            </a:r>
          </a:p>
        </p:txBody>
      </p:sp>
      <p:sp>
        <p:nvSpPr>
          <p:cNvPr id="9" name="Rectangle 8"/>
          <p:cNvSpPr>
            <a:spLocks/>
          </p:cNvSpPr>
          <p:nvPr/>
        </p:nvSpPr>
        <p:spPr>
          <a:xfrm>
            <a:off x="4279392" y="1508760"/>
            <a:ext cx="3493008" cy="3886200"/>
          </a:xfrm>
          <a:prstGeom prst="roundRect">
            <a:avLst>
              <a:gd name="adj" fmla="val 3141"/>
            </a:avLst>
          </a:prstGeom>
          <a:solidFill>
            <a:srgbClr val="F7F6F2"/>
          </a:solidFill>
          <a:ln w="12700">
            <a:solidFill>
              <a:srgbClr val="DDD8CC"/>
            </a:solidFill>
          </a:ln>
        </p:spPr>
        <p:txBody>
          <a:bodyPr rtlCol="0" anchor="ctr"/>
          <a:lstStyle/>
          <a:p>
            <a:pPr algn="ctr"/>
            <a:endParaRPr lang="en-US"/>
          </a:p>
        </p:txBody>
      </p:sp>
      <p:sp>
        <p:nvSpPr>
          <p:cNvPr id="10" name="TextBox 9"/>
          <p:cNvSpPr txBox="1"/>
          <p:nvPr/>
        </p:nvSpPr>
        <p:spPr>
          <a:xfrm>
            <a:off x="4480559" y="1737360"/>
            <a:ext cx="3090672" cy="347472"/>
          </a:xfrm>
          <a:prstGeom prst="rect">
            <a:avLst/>
          </a:prstGeom>
          <a:noFill/>
        </p:spPr>
        <p:txBody>
          <a:bodyPr wrap="square" lIns="73152" tIns="73152" rIns="73152" bIns="73152" anchor="t">
            <a:spAutoFit/>
          </a:bodyPr>
          <a:lstStyle/>
          <a:p>
            <a:pPr algn="ctr"/>
            <a:r>
              <a:rPr lang="en-US" sz="1450" b="1" i="0">
                <a:solidFill>
                  <a:srgbClr val="C1440E"/>
                </a:solidFill>
                <a:latin typeface="Calibri"/>
              </a:rPr>
              <a:t>AUTOMATION</a:t>
            </a:r>
          </a:p>
        </p:txBody>
      </p:sp>
      <p:sp>
        <p:nvSpPr>
          <p:cNvPr id="11" name="TextBox 10"/>
          <p:cNvSpPr txBox="1"/>
          <p:nvPr/>
        </p:nvSpPr>
        <p:spPr>
          <a:xfrm>
            <a:off x="4498848" y="2304288"/>
            <a:ext cx="3054096" cy="1540422"/>
          </a:xfrm>
          <a:prstGeom prst="rect">
            <a:avLst/>
          </a:prstGeom>
          <a:noFill/>
        </p:spPr>
        <p:txBody>
          <a:bodyPr wrap="square" lIns="36576" tIns="27432" rIns="36576" bIns="27432">
            <a:spAutoFit/>
          </a:bodyPr>
          <a:lstStyle/>
          <a:p>
            <a:pPr>
              <a:spcAft>
                <a:spcPts val="500"/>
              </a:spcAft>
            </a:pPr>
            <a:r>
              <a:rPr sz="1400">
                <a:latin typeface="Calibri"/>
              </a:rPr>
              <a:t>•  Equivalent build artifact produced</a:t>
            </a:r>
          </a:p>
          <a:p>
            <a:pPr>
              <a:spcAft>
                <a:spcPts val="500"/>
              </a:spcAft>
            </a:pPr>
            <a:r>
              <a:rPr sz="1400">
                <a:latin typeface="Calibri"/>
              </a:rPr>
              <a:t>•  Secrets, OIDC, and permissions reviewed</a:t>
            </a:r>
          </a:p>
          <a:p>
            <a:pPr>
              <a:spcAft>
                <a:spcPts val="500"/>
              </a:spcAft>
            </a:pPr>
            <a:r>
              <a:rPr sz="1400">
                <a:latin typeface="Calibri"/>
              </a:rPr>
              <a:t>•  Runner and network path proven</a:t>
            </a:r>
          </a:p>
          <a:p>
            <a:pPr>
              <a:spcAft>
                <a:spcPts val="500"/>
              </a:spcAft>
            </a:pPr>
            <a:r>
              <a:rPr sz="1400">
                <a:latin typeface="Calibri"/>
              </a:rPr>
              <a:t>•  Environments, approvals, and deployment exercised</a:t>
            </a:r>
          </a:p>
        </p:txBody>
      </p:sp>
      <p:sp>
        <p:nvSpPr>
          <p:cNvPr id="12" name="Rectangle 11"/>
          <p:cNvSpPr/>
          <p:nvPr/>
        </p:nvSpPr>
        <p:spPr>
          <a:xfrm>
            <a:off x="8010144" y="1508760"/>
            <a:ext cx="3493008" cy="3886200"/>
          </a:xfrm>
          <a:prstGeom prst="roundRect">
            <a:avLst>
              <a:gd name="adj" fmla="val 3141"/>
            </a:avLst>
          </a:prstGeom>
          <a:solidFill>
            <a:srgbClr val="F7F6F2"/>
          </a:solidFill>
          <a:ln w="12700">
            <a:solidFill>
              <a:srgbClr val="DDD8CC"/>
            </a:solidFill>
          </a:ln>
        </p:spPr>
        <p:txBody>
          <a:bodyPr rtlCol="0" anchor="ctr"/>
          <a:lstStyle/>
          <a:p>
            <a:pPr algn="ctr"/>
            <a:endParaRPr/>
          </a:p>
        </p:txBody>
      </p:sp>
      <p:sp>
        <p:nvSpPr>
          <p:cNvPr id="13" name="TextBox 12"/>
          <p:cNvSpPr txBox="1"/>
          <p:nvPr/>
        </p:nvSpPr>
        <p:spPr>
          <a:xfrm>
            <a:off x="8211312" y="1737360"/>
            <a:ext cx="3090672" cy="347472"/>
          </a:xfrm>
          <a:prstGeom prst="rect">
            <a:avLst/>
          </a:prstGeom>
          <a:noFill/>
        </p:spPr>
        <p:txBody>
          <a:bodyPr wrap="square" lIns="73152" tIns="73152" rIns="73152" bIns="73152" anchor="t">
            <a:spAutoFit/>
          </a:bodyPr>
          <a:lstStyle/>
          <a:p>
            <a:pPr algn="ctr"/>
            <a:r>
              <a:rPr sz="1450" b="1" i="0">
                <a:solidFill>
                  <a:srgbClr val="C1440E"/>
                </a:solidFill>
                <a:latin typeface="Calibri"/>
              </a:rPr>
              <a:t>VALIDATION &amp; CUTOVER</a:t>
            </a:r>
          </a:p>
        </p:txBody>
      </p:sp>
      <p:sp>
        <p:nvSpPr>
          <p:cNvPr id="14" name="TextBox 13"/>
          <p:cNvSpPr txBox="1"/>
          <p:nvPr/>
        </p:nvSpPr>
        <p:spPr>
          <a:xfrm>
            <a:off x="8229600" y="2304288"/>
            <a:ext cx="3054096" cy="2697480"/>
          </a:xfrm>
          <a:prstGeom prst="rect">
            <a:avLst/>
          </a:prstGeom>
          <a:noFill/>
        </p:spPr>
        <p:txBody>
          <a:bodyPr wrap="square" lIns="36576" tIns="27432" rIns="36576" bIns="27432">
            <a:spAutoFit/>
          </a:bodyPr>
          <a:lstStyle/>
          <a:p>
            <a:pPr>
              <a:spcAft>
                <a:spcPts val="500"/>
              </a:spcAft>
            </a:pPr>
            <a:r>
              <a:rPr sz="1400">
                <a:solidFill>
                  <a:srgbClr val="2B2B2B"/>
                </a:solidFill>
                <a:latin typeface="Calibri"/>
              </a:rPr>
              <a:t>•  Behavior, security, and performance accepted</a:t>
            </a:r>
          </a:p>
          <a:p>
            <a:pPr>
              <a:spcAft>
                <a:spcPts val="500"/>
              </a:spcAft>
            </a:pPr>
            <a:r>
              <a:rPr sz="1400">
                <a:solidFill>
                  <a:srgbClr val="2B2B2B"/>
                </a:solidFill>
                <a:latin typeface="Calibri"/>
              </a:rPr>
              <a:t>•  Observability and notifications confirmed</a:t>
            </a:r>
          </a:p>
          <a:p>
            <a:pPr>
              <a:spcAft>
                <a:spcPts val="500"/>
              </a:spcAft>
            </a:pPr>
            <a:r>
              <a:rPr sz="1400">
                <a:solidFill>
                  <a:srgbClr val="2B2B2B"/>
                </a:solidFill>
                <a:latin typeface="Calibri"/>
              </a:rPr>
              <a:t>•  Rollback owner and procedure documented</a:t>
            </a:r>
          </a:p>
          <a:p>
            <a:pPr>
              <a:spcAft>
                <a:spcPts val="500"/>
              </a:spcAft>
            </a:pPr>
            <a:r>
              <a:rPr sz="1400">
                <a:solidFill>
                  <a:srgbClr val="2B2B2B"/>
                </a:solidFill>
                <a:latin typeface="Calibri"/>
              </a:rPr>
              <a:t>•  Legacy repo read-only; decommission date defined</a:t>
            </a:r>
          </a:p>
        </p:txBody>
      </p:sp>
      <p:sp>
        <p:nvSpPr>
          <p:cNvPr id="16" name="Rounded Rectangle 15"/>
          <p:cNvSpPr/>
          <p:nvPr/>
        </p:nvSpPr>
        <p:spPr>
          <a:xfrm>
            <a:off x="548640" y="5449824"/>
            <a:ext cx="11064240" cy="731520"/>
          </a:xfrm>
          <a:prstGeom prst="roundRect">
            <a:avLst>
              <a:gd name="adj" fmla="val 12632"/>
            </a:avLst>
          </a:prstGeom>
          <a:solidFill>
            <a:srgbClr val="1F3D2C"/>
          </a:solidFill>
          <a:ln>
            <a:noFill/>
          </a:ln>
          <a:effectLst/>
        </p:spPr>
        <p:txBody>
          <a:bodyPr rtlCol="0" anchor="ctr"/>
          <a:lstStyle/>
          <a:p>
            <a:pPr algn="ctr"/>
            <a:endParaRPr/>
          </a:p>
        </p:txBody>
      </p:sp>
      <p:sp>
        <p:nvSpPr>
          <p:cNvPr id="15" name="TextBox 14"/>
          <p:cNvSpPr txBox="1"/>
          <p:nvPr/>
        </p:nvSpPr>
        <p:spPr>
          <a:xfrm>
            <a:off x="548640" y="5449824"/>
            <a:ext cx="11064240" cy="731520"/>
          </a:xfrm>
          <a:prstGeom prst="rect">
            <a:avLst/>
          </a:prstGeom>
          <a:noFill/>
        </p:spPr>
        <p:txBody>
          <a:bodyPr wrap="square" lIns="256032" tIns="54864" rIns="256032" bIns="54864" anchor="ctr">
            <a:spAutoFit/>
          </a:bodyPr>
          <a:lstStyle/>
          <a:p>
            <a:pPr algn="l"/>
            <a:r>
              <a:rPr sz="1250" b="1" spc="120">
                <a:solidFill>
                  <a:srgbClr val="E0B85C"/>
                </a:solidFill>
                <a:latin typeface="Calibri"/>
              </a:rPr>
              <a:t>TAKEAWAY </a:t>
            </a:r>
            <a:r>
              <a:rPr sz="1500" b="0">
                <a:solidFill>
                  <a:srgbClr val="F5F5F0"/>
                </a:solidFill>
                <a:latin typeface="Calibri"/>
              </a:rPr>
              <a:t>Definition of done: verified delivery, traceability, operational ownership, and reversibility.</a:t>
            </a:r>
          </a:p>
        </p:txBody>
      </p:sp>
      <p:sp>
        <p:nvSpPr>
          <p:cNvPr id="17" name="Slide Number Placeholder"/>
          <p:cNvSpPr>
            <a:spLocks noGrp="1"/>
          </p:cNvSpPr>
          <p:nvPr>
            <p:ph type="sldNum" sz="quarter" idx="10"/>
          </p:nvPr>
        </p:nvSpPr>
        <p:spPr/>
        <p:txBody>
          <a:bodyPr/>
          <a:lstStyle/>
          <a:p>
            <a:fld id="{BCB632DE-6AD4-40F1-944C-28C0E9BF62DC}" type="slidenum">
              <a:rPr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1">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E0B85C"/>
                </a:solidFill>
                <a:latin typeface="Calibri" pitchFamily="34" charset="0"/>
                <a:ea typeface="Calibri" pitchFamily="34" charset="-122"/>
                <a:cs typeface="Calibri" pitchFamily="34" charset="-120"/>
              </a:rPr>
              <a:t>One quick question before we leave Section 3 — Crossing the River</a:t>
            </a:r>
            <a:endParaRPr lang="en-US" sz="1900" dirty="0"/>
          </a:p>
        </p:txBody>
      </p:sp>
      <p:sp>
        <p:nvSpPr>
          <p:cNvPr id="4" name="Slide Number Placeholder"/>
          <p:cNvSpPr>
            <a:spLocks noGrp="1"/>
          </p:cNvSpPr>
          <p:nvPr>
            <p:ph type="sldNum" sz="quarter" idx="10"/>
          </p:nvPr>
        </p:nvSpPr>
        <p:spPr/>
        <p:txBody>
          <a:bodyPr/>
          <a:lstStyle/>
          <a:p>
            <a:fld id="{BCB632DE-6AD4-40F1-944C-28C0E9BF62DC}" type="slidenum">
              <a:rPr lang="en-US">
                <a:solidFill>
                  <a:srgbClr val="E0B85C"/>
                </a:solidFill>
              </a:rPr>
              <a:t>29</a:t>
            </a:fld>
            <a:endParaRPr lang="en-US">
              <a:solidFill>
                <a:srgbClr val="E0B85C"/>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2">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4</a:t>
            </a:r>
            <a:endParaRPr lang="en-US" sz="1700" dirty="0"/>
          </a:p>
        </p:txBody>
      </p:sp>
      <p:pic>
        <p:nvPicPr>
          <p:cNvPr id="4" name="Image 0" descr="/home/claude/pptx-build/assets/icons/FaPaw-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Watch as the Scrum Master Approaches Carefully</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E0B85C"/>
                </a:solidFill>
                <a:latin typeface="Calibri" pitchFamily="34" charset="0"/>
                <a:ea typeface="Calibri" pitchFamily="34" charset="-122"/>
                <a:cs typeface="Calibri" pitchFamily="34" charset="-120"/>
              </a:rPr>
              <a:t>Sprint planning is a creature of habit, most comfortable in the enclosure it was raised in. Moving it means understanding exactly what it needs to survive the move.</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30</a:t>
            </a:fld>
            <a:endParaRPr lang="en-US">
              <a:solidFill>
                <a:srgbClr val="E0B85C"/>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ProjectDiagram-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t"/>
          <a:lstStyle/>
          <a:p>
            <a:pPr marL="0" indent="0">
              <a:buNone/>
            </a:pPr>
            <a:r>
              <a:rPr lang="en-US" sz="3200" b="1" dirty="0">
                <a:solidFill>
                  <a:srgbClr val="1F3D2C"/>
                </a:solidFill>
                <a:latin typeface="Cambria" pitchFamily="34" charset="0"/>
                <a:ea typeface="Cambria" pitchFamily="34" charset="-122"/>
                <a:cs typeface="Cambria" pitchFamily="34" charset="-120"/>
              </a:rPr>
              <a:t>Boards and Projects Are Two Different Models</a:t>
            </a:r>
            <a:endParaRPr lang="en-US" sz="3200" dirty="0"/>
          </a:p>
        </p:txBody>
      </p:sp>
      <p:sp>
        <p:nvSpPr>
          <p:cNvPr id="6" name="Shape 3"/>
          <p:cNvSpPr/>
          <p:nvPr/>
        </p:nvSpPr>
        <p:spPr>
          <a:xfrm>
            <a:off x="548640" y="1645920"/>
            <a:ext cx="11064240" cy="2011680"/>
          </a:xfrm>
          <a:prstGeom prst="roundRect">
            <a:avLst>
              <a:gd name="adj" fmla="val 5455"/>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828800"/>
            <a:ext cx="10332720" cy="1645920"/>
          </a:xfrm>
          <a:prstGeom prst="rect">
            <a:avLst/>
          </a:prstGeom>
          <a:noFill/>
          <a:ln/>
        </p:spPr>
        <p:txBody>
          <a:bodyPr wrap="square" lIns="0" tIns="0" rIns="0" bIns="0" rtlCol="0" anchor="ctr"/>
          <a:lstStyle/>
          <a:p>
            <a:pPr marL="0" indent="0">
              <a:lnSpc>
                <a:spcPct val="125000"/>
              </a:lnSpc>
              <a:buNone/>
            </a:pPr>
            <a:r>
              <a:rPr lang="en-US" sz="1900" dirty="0">
                <a:solidFill>
                  <a:srgbClr val="2B2B2B"/>
                </a:solidFill>
                <a:latin typeface="Calibri" pitchFamily="34" charset="0"/>
                <a:ea typeface="Calibri" pitchFamily="34" charset="-122"/>
                <a:cs typeface="Calibri" pitchFamily="34" charset="-120"/>
              </a:rPr>
              <a:t>Azure Boards is a work-tracking system built around a process template. GitHub Projects is a planning layer built around custom fields and views.</a:t>
            </a:r>
            <a:endParaRPr lang="en-US" sz="1900" dirty="0"/>
          </a:p>
        </p:txBody>
      </p:sp>
      <p:sp>
        <p:nvSpPr>
          <p:cNvPr id="8" name="Shape 5"/>
          <p:cNvSpPr/>
          <p:nvPr/>
        </p:nvSpPr>
        <p:spPr>
          <a:xfrm>
            <a:off x="548640" y="3977640"/>
            <a:ext cx="5349240" cy="1463040"/>
          </a:xfrm>
          <a:prstGeom prst="roundRect">
            <a:avLst>
              <a:gd name="adj" fmla="val 75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22960" y="4133088"/>
            <a:ext cx="4800600" cy="457200"/>
          </a:xfrm>
          <a:prstGeom prst="rect">
            <a:avLst/>
          </a:prstGeom>
          <a:noFill/>
          <a:ln/>
        </p:spPr>
        <p:txBody>
          <a:bodyPr wrap="square" lIns="0" tIns="0" rIns="0" bIns="0" rtlCol="0" anchor="ctr"/>
          <a:lstStyle/>
          <a:p>
            <a:pPr marL="0" indent="0">
              <a:buNone/>
            </a:pPr>
            <a:r>
              <a:rPr lang="en-US" sz="2000" b="1" dirty="0">
                <a:solidFill>
                  <a:srgbClr val="F5F5F0"/>
                </a:solidFill>
                <a:latin typeface="Cambria" pitchFamily="34" charset="0"/>
                <a:ea typeface="Cambria" pitchFamily="34" charset="-122"/>
                <a:cs typeface="Cambria" pitchFamily="34" charset="-120"/>
              </a:rPr>
              <a:t>Azure Boards</a:t>
            </a:r>
            <a:endParaRPr lang="en-US" sz="2000" dirty="0"/>
          </a:p>
        </p:txBody>
      </p:sp>
      <p:sp>
        <p:nvSpPr>
          <p:cNvPr id="10" name="Text 7"/>
          <p:cNvSpPr txBox="1"/>
          <p:nvPr/>
        </p:nvSpPr>
        <p:spPr>
          <a:xfrm>
            <a:off x="822960" y="4645152"/>
            <a:ext cx="4800600" cy="640080"/>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Enterprise work-tracking system</a:t>
            </a:r>
            <a:endParaRPr lang="en-US" sz="1600" dirty="0"/>
          </a:p>
        </p:txBody>
      </p:sp>
      <p:sp>
        <p:nvSpPr>
          <p:cNvPr id="11" name="Shape 8"/>
          <p:cNvSpPr/>
          <p:nvPr/>
        </p:nvSpPr>
        <p:spPr>
          <a:xfrm>
            <a:off x="6172200" y="3977640"/>
            <a:ext cx="5349240" cy="1463040"/>
          </a:xfrm>
          <a:prstGeom prst="roundRect">
            <a:avLst>
              <a:gd name="adj" fmla="val 75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Text 9"/>
          <p:cNvSpPr txBox="1"/>
          <p:nvPr/>
        </p:nvSpPr>
        <p:spPr>
          <a:xfrm>
            <a:off x="6446520" y="4133088"/>
            <a:ext cx="4800600" cy="457200"/>
          </a:xfrm>
          <a:prstGeom prst="rect">
            <a:avLst/>
          </a:prstGeom>
          <a:noFill/>
          <a:ln/>
        </p:spPr>
        <p:txBody>
          <a:bodyPr wrap="square" lIns="0" tIns="0" rIns="0" bIns="0" rtlCol="0" anchor="ctr"/>
          <a:lstStyle/>
          <a:p>
            <a:pPr marL="0" indent="0">
              <a:buNone/>
            </a:pPr>
            <a:r>
              <a:rPr lang="en-US" sz="2000" b="1" dirty="0">
                <a:solidFill>
                  <a:srgbClr val="1F3D2C"/>
                </a:solidFill>
                <a:latin typeface="Cambria" pitchFamily="34" charset="0"/>
                <a:ea typeface="Cambria" pitchFamily="34" charset="-122"/>
                <a:cs typeface="Cambria" pitchFamily="34" charset="-120"/>
              </a:rPr>
              <a:t>GitHub Projects</a:t>
            </a:r>
            <a:endParaRPr lang="en-US" sz="2000" dirty="0"/>
          </a:p>
        </p:txBody>
      </p:sp>
      <p:sp>
        <p:nvSpPr>
          <p:cNvPr id="13" name="Text 10"/>
          <p:cNvSpPr txBox="1"/>
          <p:nvPr/>
        </p:nvSpPr>
        <p:spPr>
          <a:xfrm>
            <a:off x="6446520" y="4645152"/>
            <a:ext cx="4800600" cy="64008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Field-driven planning layer on Issues</a:t>
            </a:r>
            <a:endParaRPr lang="en-US" sz="1600" dirty="0"/>
          </a:p>
        </p:txBody>
      </p:sp>
      <p:sp>
        <p:nvSpPr>
          <p:cNvPr id="14" name="Slide Number Placeholder"/>
          <p:cNvSpPr>
            <a:spLocks noGrp="1"/>
          </p:cNvSpPr>
          <p:nvPr>
            <p:ph type="sldNum" sz="quarter" idx="10"/>
          </p:nvPr>
        </p:nvSpPr>
        <p:spPr/>
        <p:txBody>
          <a:bodyPr/>
          <a:lstStyle/>
          <a:p>
            <a:fld id="{BCB632DE-6AD4-40F1-944C-28C0E9BF62DC}" type="slidenum">
              <a:rPr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Sitema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Each Tool on Its Own Terms</a:t>
            </a:r>
            <a:endParaRPr lang="en-US" sz="3200" dirty="0"/>
          </a:p>
        </p:txBody>
      </p:sp>
      <p:sp>
        <p:nvSpPr>
          <p:cNvPr id="6" name="Shape 3"/>
          <p:cNvSpPr/>
          <p:nvPr/>
        </p:nvSpPr>
        <p:spPr>
          <a:xfrm>
            <a:off x="548640" y="1645920"/>
            <a:ext cx="5440680" cy="3566160"/>
          </a:xfrm>
          <a:prstGeom prst="roundRect">
            <a:avLst>
              <a:gd name="adj" fmla="val 307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Shape 3 right"/>
          <p:cNvSpPr/>
          <p:nvPr/>
        </p:nvSpPr>
        <p:spPr>
          <a:xfrm>
            <a:off x="6172200" y="1645920"/>
            <a:ext cx="5440680" cy="3566160"/>
          </a:xfrm>
          <a:prstGeom prst="roundRect">
            <a:avLst>
              <a:gd name="adj" fmla="val 307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68680" y="2395728"/>
            <a:ext cx="4846320" cy="265176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Hierarchical work items — Epics → Features → Stories → Tasks</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Sprint planning and capacity management, built in</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Delivery Plans for cross-team dependencies</a:t>
            </a:r>
            <a:endParaRPr lang="en-US" sz="1900" dirty="0"/>
          </a:p>
          <a:p>
            <a:pPr marL="342900" indent="-342900">
              <a:lnSpc>
                <a:spcPct val="115000"/>
              </a:lnSpc>
              <a:buSzPct val="100000"/>
              <a:buChar char="•"/>
            </a:pPr>
            <a:r>
              <a:rPr lang="en-US" sz="1550" dirty="0">
                <a:solidFill>
                  <a:srgbClr val="2B2B2B"/>
                </a:solidFill>
                <a:latin typeface="Calibri" pitchFamily="34" charset="0"/>
                <a:ea typeface="Calibri" pitchFamily="34" charset="-122"/>
                <a:cs typeface="Calibri" pitchFamily="34" charset="-120"/>
              </a:rPr>
              <a:t>Boards Analytics plus Power BI reporting</a:t>
            </a:r>
            <a:endParaRPr lang="en-US" sz="1900" dirty="0"/>
          </a:p>
        </p:txBody>
      </p:sp>
      <p:sp>
        <p:nvSpPr>
          <p:cNvPr id="8" name="Shape 5"/>
          <p:cNvSpPr/>
          <p:nvPr/>
        </p:nvSpPr>
        <p:spPr>
          <a:xfrm>
            <a:off x="548640" y="544068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5440680"/>
            <a:ext cx="11064240" cy="86868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ORGANIZES BY </a:t>
            </a:r>
            <a:r>
              <a:rPr sz="1500" b="0">
                <a:solidFill>
                  <a:srgbClr val="F5F5F0"/>
                </a:solidFill>
                <a:latin typeface="Calibri"/>
              </a:rPr>
              <a:t>Boards: Project → Team → Area Path.   Projects: custom fields and iterations, org-wide across repositories.</a:t>
            </a:r>
            <a:endParaRPr lang="en-US" sz="1600" dirty="0"/>
          </a:p>
        </p:txBody>
      </p:sp>
      <p:sp>
        <p:nvSpPr>
          <p:cNvPr id="11" name="Header left"/>
          <p:cNvSpPr txBox="1"/>
          <p:nvPr/>
        </p:nvSpPr>
        <p:spPr>
          <a:xfrm>
            <a:off x="868680" y="1828800"/>
            <a:ext cx="4846320" cy="457200"/>
          </a:xfrm>
          <a:prstGeom prst="rect">
            <a:avLst/>
          </a:prstGeom>
          <a:noFill/>
          <a:ln/>
        </p:spPr>
        <p:txBody>
          <a:bodyPr wrap="square" lIns="0" tIns="0" rIns="0" bIns="0" rtlCol="0" anchor="ctr"/>
          <a:lstStyle/>
          <a:p>
            <a:pPr marL="0" indent="0">
              <a:buNone/>
            </a:pPr>
            <a:r>
              <a:rPr lang="en-US" sz="2000" b="1" dirty="0">
                <a:solidFill>
                  <a:srgbClr val="1F3D2C"/>
                </a:solidFill>
                <a:latin typeface="Cambria" pitchFamily="34" charset="0"/>
                <a:ea typeface="Cambria" pitchFamily="34" charset="-122"/>
                <a:cs typeface="Cambria" pitchFamily="34" charset="-120"/>
              </a:rPr>
              <a:t>Azure Boards</a:t>
            </a:r>
            <a:endParaRPr lang="en-US" sz="2000" dirty="0"/>
          </a:p>
        </p:txBody>
      </p:sp>
      <p:sp>
        <p:nvSpPr>
          <p:cNvPr id="12" name="Header right"/>
          <p:cNvSpPr txBox="1"/>
          <p:nvPr/>
        </p:nvSpPr>
        <p:spPr>
          <a:xfrm>
            <a:off x="6492240" y="1828800"/>
            <a:ext cx="4846320" cy="457200"/>
          </a:xfrm>
          <a:prstGeom prst="rect">
            <a:avLst/>
          </a:prstGeom>
          <a:noFill/>
          <a:ln/>
        </p:spPr>
        <p:txBody>
          <a:bodyPr wrap="square" lIns="0" tIns="0" rIns="0" bIns="0" rtlCol="0" anchor="ctr"/>
          <a:lstStyle/>
          <a:p>
            <a:pPr marL="0" indent="0">
              <a:buNone/>
            </a:pPr>
            <a:r>
              <a:rPr lang="en-US" sz="2000" b="1" dirty="0">
                <a:solidFill>
                  <a:srgbClr val="1F3D2C"/>
                </a:solidFill>
                <a:latin typeface="Cambria" pitchFamily="34" charset="0"/>
                <a:ea typeface="Cambria" pitchFamily="34" charset="-122"/>
                <a:cs typeface="Cambria" pitchFamily="34" charset="-120"/>
              </a:rPr>
              <a:t>GitHub Projects</a:t>
            </a:r>
            <a:endParaRPr lang="en-US" sz="2000" dirty="0"/>
          </a:p>
        </p:txBody>
      </p:sp>
      <p:sp>
        <p:nvSpPr>
          <p:cNvPr id="13" name="Text 4 right"/>
          <p:cNvSpPr txBox="1"/>
          <p:nvPr/>
        </p:nvSpPr>
        <p:spPr>
          <a:xfrm>
            <a:off x="6492240" y="2395728"/>
            <a:ext cx="4846320" cy="265176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Custom fields instead of a fixed process: iteration, single-select, date, number</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Lives next to the issues and PRs it tracks</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Fast daily triage, with no context switch to a separate system</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Sub-issues, issue types and dependencies (all GA); roadmap layout; built-in or Actions automation</a:t>
            </a:r>
            <a:endParaRPr lang="en-US" sz="1900" dirty="0"/>
          </a:p>
        </p:txBody>
      </p:sp>
      <p:sp>
        <p:nvSpPr>
          <p:cNvPr id="14" name="Slide Number Placeholder"/>
          <p:cNvSpPr>
            <a:spLocks noGrp="1"/>
          </p:cNvSpPr>
          <p:nvPr>
            <p:ph type="sldNum" sz="quarter" idx="10"/>
          </p:nvPr>
        </p:nvSpPr>
        <p:spPr/>
        <p:txBody>
          <a:bodyPr/>
          <a:lstStyle/>
          <a:p>
            <a:fld id="{BCB632DE-6AD4-40F1-944C-28C0E9BF62DC}" type="slidenum">
              <a:rPr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Un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What You Lose Migrating Work Items</a:t>
            </a:r>
            <a:endParaRPr lang="en-US" sz="3200" dirty="0"/>
          </a:p>
        </p:txBody>
      </p:sp>
      <p:sp>
        <p:nvSpPr>
          <p:cNvPr id="6" name="Shape 3"/>
          <p:cNvSpPr/>
          <p:nvPr/>
        </p:nvSpPr>
        <p:spPr>
          <a:xfrm>
            <a:off x="548640" y="1645920"/>
            <a:ext cx="11064240" cy="2926080"/>
          </a:xfrm>
          <a:prstGeom prst="roundRect">
            <a:avLst>
              <a:gd name="adj" fmla="val 375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874520"/>
            <a:ext cx="10332720" cy="2560320"/>
          </a:xfrm>
          <a:prstGeom prst="rect">
            <a:avLst/>
          </a:prstGeom>
          <a:noFill/>
          <a:ln/>
        </p:spPr>
        <p:txBody>
          <a:bodyPr wrap="square" lIns="0" tIns="0" rIns="0" bIns="0" rtlCol="0" anchor="ctr"/>
          <a:lstStyle/>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Sprint history and capacity data</a:t>
            </a:r>
            <a:endParaRPr lang="en-US" sz="1900" dirty="0"/>
          </a:p>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Custom process fields and work-item rules</a:t>
            </a:r>
            <a:endParaRPr lang="en-US" sz="1900" dirty="0"/>
          </a:p>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The process template itself: no Agile/Scrum/CMMI equivalent, no built-in capacity or burndown</a:t>
            </a:r>
            <a:endParaRPr lang="en-US" sz="1900" dirty="0"/>
          </a:p>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The Project → Team → Area Path structure (parent–child links can map to sub-issues)</a:t>
            </a:r>
            <a:endParaRPr lang="en-US" sz="1900" dirty="0"/>
          </a:p>
        </p:txBody>
      </p:sp>
      <p:sp>
        <p:nvSpPr>
          <p:cNvPr id="8" name="Shape 5"/>
          <p:cNvSpPr/>
          <p:nvPr/>
        </p:nvSpPr>
        <p:spPr>
          <a:xfrm>
            <a:off x="548640" y="4800600"/>
            <a:ext cx="11064240" cy="150876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800600"/>
            <a:ext cx="11064240" cy="1508760"/>
          </a:xfrm>
          <a:prstGeom prst="rect">
            <a:avLst/>
          </a:prstGeom>
          <a:noFill/>
          <a:ln/>
        </p:spPr>
        <p:txBody>
          <a:bodyPr wrap="square" lIns="256032" tIns="54864" rIns="256032" bIns="54864" rtlCol="0" anchor="ctr"/>
          <a:lstStyle/>
          <a:p>
            <a:pPr marL="0" indent="0" algn="l">
              <a:lnSpc>
                <a:spcPct val="115000"/>
              </a:lnSpc>
              <a:buNone/>
            </a:pPr>
            <a:r>
              <a:rPr sz="1250" b="1" spc="120">
                <a:solidFill>
                  <a:srgbClr val="C1440E"/>
                </a:solidFill>
                <a:latin typeface="Calibri"/>
              </a:rPr>
              <a:t>CAVEAT </a:t>
            </a:r>
            <a:r>
              <a:rPr sz="1500" b="0">
                <a:solidFill>
                  <a:srgbClr val="2B2B2B"/>
                </a:solidFill>
                <a:latin typeface="Calibri"/>
              </a:rPr>
              <a:t>There’s no first-party tool that moves Azure Boards work items into GitHub Issues, and the data models don’t line up. Budget real manual mapping: this is a project, not a script you run once.</a:t>
            </a:r>
            <a:endParaRPr lang="en-US" sz="1500" dirty="0"/>
          </a:p>
        </p:txBody>
      </p:sp>
      <p:sp>
        <p:nvSpPr>
          <p:cNvPr id="10" name="Slide Number Placeholder"/>
          <p:cNvSpPr>
            <a:spLocks noGrp="1"/>
          </p:cNvSpPr>
          <p:nvPr>
            <p:ph type="sldNum" sz="quarter" idx="10"/>
          </p:nvPr>
        </p:nvSpPr>
        <p:spPr/>
        <p:txBody>
          <a:bodyPr/>
          <a:lstStyle/>
          <a:p>
            <a:fld id="{BCB632DE-6AD4-40F1-944C-28C0E9BF62DC}" type="slidenum">
              <a:rPr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an-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Test Plans: Stays Behind</a:t>
            </a:r>
            <a:endParaRPr lang="en-US" sz="3200" dirty="0"/>
          </a:p>
        </p:txBody>
      </p:sp>
      <p:sp>
        <p:nvSpPr>
          <p:cNvPr id="6" name="Shape 3"/>
          <p:cNvSpPr/>
          <p:nvPr/>
        </p:nvSpPr>
        <p:spPr>
          <a:xfrm>
            <a:off x="548640" y="1691640"/>
            <a:ext cx="11064240" cy="2011680"/>
          </a:xfrm>
          <a:prstGeom prst="roundRect">
            <a:avLst>
              <a:gd name="adj" fmla="val 5455"/>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965960"/>
            <a:ext cx="10515600" cy="822960"/>
          </a:xfrm>
          <a:prstGeom prst="rect">
            <a:avLst/>
          </a:prstGeom>
          <a:noFill/>
          <a:ln/>
        </p:spPr>
        <p:txBody>
          <a:bodyPr wrap="square" lIns="0" tIns="0" rIns="0" bIns="0" rtlCol="0" anchor="ctr"/>
          <a:lstStyle/>
          <a:p>
            <a:pPr marL="0" indent="0" algn="ctr">
              <a:buNone/>
            </a:pPr>
            <a:r>
              <a:rPr lang="en-US" sz="3000" b="1" dirty="0">
                <a:solidFill>
                  <a:srgbClr val="F5F5F0"/>
                </a:solidFill>
                <a:latin typeface="Cambria" pitchFamily="34" charset="0"/>
                <a:ea typeface="Cambria" pitchFamily="34" charset="-122"/>
                <a:cs typeface="Cambria" pitchFamily="34" charset="-120"/>
              </a:rPr>
              <a:t>No GitHub equivalent. Full stop.</a:t>
            </a:r>
            <a:endParaRPr lang="en-US" sz="3000" dirty="0"/>
          </a:p>
        </p:txBody>
      </p:sp>
      <p:sp>
        <p:nvSpPr>
          <p:cNvPr id="8" name="Text 5"/>
          <p:cNvSpPr txBox="1"/>
          <p:nvPr/>
        </p:nvSpPr>
        <p:spPr>
          <a:xfrm>
            <a:off x="822960" y="2788920"/>
            <a:ext cx="10515600" cy="731520"/>
          </a:xfrm>
          <a:prstGeom prst="rect">
            <a:avLst/>
          </a:prstGeom>
          <a:noFill/>
          <a:ln/>
        </p:spPr>
        <p:txBody>
          <a:bodyPr wrap="square" lIns="0" tIns="0" rIns="0" bIns="0" rtlCol="0" anchor="ctr"/>
          <a:lstStyle/>
          <a:p>
            <a:pPr marL="0" indent="0" algn="ctr">
              <a:buNone/>
            </a:pPr>
            <a:r>
              <a:rPr lang="en-US" sz="1600" dirty="0">
                <a:solidFill>
                  <a:srgbClr val="E0B85C"/>
                </a:solidFill>
                <a:latin typeface="Calibri" pitchFamily="34" charset="0"/>
                <a:ea typeface="Calibri" pitchFamily="34" charset="-122"/>
                <a:cs typeface="Calibri" pitchFamily="34" charset="-120"/>
              </a:rPr>
              <a:t>No native GitHub Projects or Issues equivalent for structured manual and exploratory testing.</a:t>
            </a:r>
            <a:endParaRPr lang="en-US" sz="1600" dirty="0"/>
          </a:p>
        </p:txBody>
      </p:sp>
      <p:sp>
        <p:nvSpPr>
          <p:cNvPr id="9" name="Shape 6"/>
          <p:cNvSpPr/>
          <p:nvPr/>
        </p:nvSpPr>
        <p:spPr>
          <a:xfrm>
            <a:off x="548640" y="4069080"/>
            <a:ext cx="11064240" cy="1371600"/>
          </a:xfrm>
          <a:prstGeom prst="roundRect">
            <a:avLst>
              <a:gd name="adj" fmla="val 8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822960" y="4206240"/>
            <a:ext cx="10515600" cy="1097280"/>
          </a:xfrm>
          <a:prstGeom prst="rect">
            <a:avLst/>
          </a:prstGeom>
          <a:noFill/>
          <a:ln/>
        </p:spPr>
        <p:txBody>
          <a:bodyPr wrap="square" lIns="0" tIns="0" rIns="0" bIns="0" rtlCol="0" anchor="ctr"/>
          <a:lstStyle/>
          <a:p>
            <a:pPr marL="0" indent="0">
              <a:buNone/>
            </a:pPr>
            <a:r>
              <a:rPr lang="en-US" sz="1800" dirty="0">
                <a:solidFill>
                  <a:srgbClr val="2B2B2B"/>
                </a:solidFill>
                <a:latin typeface="Calibri" pitchFamily="34" charset="0"/>
                <a:ea typeface="Calibri" pitchFamily="34" charset="-122"/>
                <a:cs typeface="Calibri" pitchFamily="34" charset="-120"/>
              </a:rPr>
              <a:t>In a regulated environment, this alone can be a reason to keep Azure DevOps in the picture.</a:t>
            </a:r>
            <a:endParaRPr lang="en-US" sz="1800" dirty="0"/>
          </a:p>
        </p:txBody>
      </p:sp>
      <p:sp>
        <p:nvSpPr>
          <p:cNvPr id="12" name="Rounded Rectangle 11"/>
          <p:cNvSpPr/>
          <p:nvPr/>
        </p:nvSpPr>
        <p:spPr>
          <a:xfrm>
            <a:off x="548640" y="5568696"/>
            <a:ext cx="11064240" cy="859536"/>
          </a:xfrm>
          <a:prstGeom prst="roundRect">
            <a:avLst>
              <a:gd name="adj" fmla="val 12632"/>
            </a:avLst>
          </a:prstGeom>
          <a:solidFill>
            <a:srgbClr val="1F3D2C"/>
          </a:solidFill>
          <a:ln>
            <a:noFill/>
          </a:ln>
          <a:effectLst/>
        </p:spPr>
        <p:txBody>
          <a:bodyPr rtlCol="0" anchor="ctr"/>
          <a:lstStyle/>
          <a:p>
            <a:pPr algn="ctr"/>
            <a:endParaRPr/>
          </a:p>
        </p:txBody>
      </p:sp>
      <p:sp>
        <p:nvSpPr>
          <p:cNvPr id="11" name="Text 8"/>
          <p:cNvSpPr txBox="1"/>
          <p:nvPr/>
        </p:nvSpPr>
        <p:spPr>
          <a:xfrm>
            <a:off x="548640" y="5568696"/>
            <a:ext cx="11064240" cy="859536"/>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Sometimes “it doesn’t move, and that’s fine” is the honest answer.</a:t>
            </a:r>
            <a:endParaRPr lang="en-US" sz="1900" dirty="0"/>
          </a:p>
        </p:txBody>
      </p:sp>
      <p:sp>
        <p:nvSpPr>
          <p:cNvPr id="13" name="Slide Number Placeholder"/>
          <p:cNvSpPr>
            <a:spLocks noGrp="1"/>
          </p:cNvSpPr>
          <p:nvPr>
            <p:ph type="sldNum" sz="quarter" idx="10"/>
          </p:nvPr>
        </p:nvSpPr>
        <p:spPr/>
        <p:txBody>
          <a:bodyPr/>
          <a:lstStyle/>
          <a:p>
            <a:fld id="{BCB632DE-6AD4-40F1-944C-28C0E9BF62DC}" type="slidenum">
              <a:rPr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Recommendation: Connect Boards, Don’t Migrate Work Items</a:t>
            </a:r>
            <a:endParaRPr lang="en-US" sz="3200" dirty="0"/>
          </a:p>
        </p:txBody>
      </p:sp>
      <p:sp>
        <p:nvSpPr>
          <p:cNvPr id="6" name="Text 3"/>
          <p:cNvSpPr txBox="1"/>
          <p:nvPr/>
        </p:nvSpPr>
        <p:spPr>
          <a:xfrm>
            <a:off x="548640" y="1600200"/>
            <a:ext cx="11064240" cy="594360"/>
          </a:xfrm>
          <a:prstGeom prst="rect">
            <a:avLst/>
          </a:prstGeom>
          <a:noFill/>
          <a:ln/>
        </p:spPr>
        <p:txBody>
          <a:bodyPr wrap="square" lIns="0" tIns="0" rIns="0" bIns="0" rtlCol="0" anchor="ctr"/>
          <a:lstStyle/>
          <a:p>
            <a:pPr marL="0" indent="0">
              <a:buNone/>
            </a:pPr>
            <a:r>
              <a:rPr lang="en-US" sz="2100" b="1" dirty="0">
                <a:solidFill>
                  <a:srgbClr val="1F3D2C"/>
                </a:solidFill>
                <a:latin typeface="Cambria" pitchFamily="34" charset="0"/>
                <a:ea typeface="Cambria" pitchFamily="34" charset="-122"/>
                <a:cs typeface="Cambria" pitchFamily="34" charset="-120"/>
              </a:rPr>
              <a:t>Connect Boards to GitHub; migrate work items only if planning is simple.</a:t>
            </a:r>
            <a:endParaRPr lang="en-US" sz="2100" dirty="0"/>
          </a:p>
        </p:txBody>
      </p:sp>
      <p:sp>
        <p:nvSpPr>
          <p:cNvPr id="7" name="Shape 4"/>
          <p:cNvSpPr/>
          <p:nvPr/>
        </p:nvSpPr>
        <p:spPr>
          <a:xfrm>
            <a:off x="548640" y="2377440"/>
            <a:ext cx="5349240" cy="2606040"/>
          </a:xfrm>
          <a:prstGeom prst="roundRect">
            <a:avLst>
              <a:gd name="adj" fmla="val 4211"/>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8" name="Text 5"/>
          <p:cNvSpPr txBox="1"/>
          <p:nvPr/>
        </p:nvSpPr>
        <p:spPr>
          <a:xfrm>
            <a:off x="822960" y="2560320"/>
            <a:ext cx="4800600" cy="502920"/>
          </a:xfrm>
          <a:prstGeom prst="rect">
            <a:avLst/>
          </a:prstGeom>
          <a:noFill/>
          <a:ln/>
        </p:spPr>
        <p:txBody>
          <a:bodyPr wrap="square" lIns="0" tIns="0" rIns="0" bIns="0" rtlCol="0" anchor="ctr"/>
          <a:lstStyle/>
          <a:p>
            <a:pPr marL="0" indent="0">
              <a:buNone/>
            </a:pPr>
            <a:r>
              <a:rPr lang="en-US" sz="2100" b="1" dirty="0">
                <a:solidFill>
                  <a:srgbClr val="F5F5F0"/>
                </a:solidFill>
                <a:latin typeface="Cambria" pitchFamily="34" charset="0"/>
                <a:ea typeface="Cambria" pitchFamily="34" charset="-122"/>
                <a:cs typeface="Cambria" pitchFamily="34" charset="-120"/>
              </a:rPr>
              <a:t>Developers</a:t>
            </a:r>
            <a:endParaRPr lang="en-US" sz="2100" dirty="0"/>
          </a:p>
        </p:txBody>
      </p:sp>
      <p:sp>
        <p:nvSpPr>
          <p:cNvPr id="9" name="Text 6"/>
          <p:cNvSpPr txBox="1"/>
          <p:nvPr/>
        </p:nvSpPr>
        <p:spPr>
          <a:xfrm>
            <a:off x="822960" y="3127248"/>
            <a:ext cx="4800600" cy="1737360"/>
          </a:xfrm>
          <a:prstGeom prst="rect">
            <a:avLst/>
          </a:prstGeom>
          <a:noFill/>
          <a:ln/>
        </p:spPr>
        <p:txBody>
          <a:bodyPr wrap="square" lIns="0" tIns="0" rIns="0" bIns="0" rtlCol="0" anchor="ctr"/>
          <a:lstStyle/>
          <a:p>
            <a:pPr marL="0" indent="0">
              <a:lnSpc>
                <a:spcPct val="115000"/>
              </a:lnSpc>
              <a:buNone/>
            </a:pPr>
            <a:r>
              <a:rPr lang="en-US" sz="1700" dirty="0">
                <a:solidFill>
                  <a:srgbClr val="F5F5F0"/>
                </a:solidFill>
                <a:latin typeface="Calibri" pitchFamily="34" charset="0"/>
                <a:ea typeface="Calibri" pitchFamily="34" charset="-122"/>
                <a:cs typeface="Calibri" pitchFamily="34" charset="-120"/>
              </a:rPr>
              <a:t>Work in GitHub — code, PRs, and Copilot, right next to the issues that matter to them.</a:t>
            </a:r>
            <a:endParaRPr lang="en-US" sz="1700" dirty="0"/>
          </a:p>
        </p:txBody>
      </p:sp>
      <p:sp>
        <p:nvSpPr>
          <p:cNvPr id="10" name="Shape 7"/>
          <p:cNvSpPr/>
          <p:nvPr/>
        </p:nvSpPr>
        <p:spPr>
          <a:xfrm>
            <a:off x="6172200" y="2377440"/>
            <a:ext cx="5349240" cy="2606040"/>
          </a:xfrm>
          <a:prstGeom prst="roundRect">
            <a:avLst>
              <a:gd name="adj" fmla="val 421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1" name="Text 8"/>
          <p:cNvSpPr txBox="1"/>
          <p:nvPr/>
        </p:nvSpPr>
        <p:spPr>
          <a:xfrm>
            <a:off x="6446520" y="2560320"/>
            <a:ext cx="4800600" cy="502920"/>
          </a:xfrm>
          <a:prstGeom prst="rect">
            <a:avLst/>
          </a:prstGeom>
          <a:noFill/>
          <a:ln/>
        </p:spPr>
        <p:txBody>
          <a:bodyPr wrap="square" lIns="0" tIns="0" rIns="0" bIns="0" rtlCol="0" anchor="ctr"/>
          <a:lstStyle/>
          <a:p>
            <a:pPr marL="0" indent="0">
              <a:buNone/>
            </a:pPr>
            <a:r>
              <a:rPr lang="en-US" sz="2100" b="1" dirty="0">
                <a:solidFill>
                  <a:srgbClr val="1F3D2C"/>
                </a:solidFill>
                <a:latin typeface="Cambria" pitchFamily="34" charset="0"/>
                <a:ea typeface="Cambria" pitchFamily="34" charset="-122"/>
                <a:cs typeface="Cambria" pitchFamily="34" charset="-120"/>
              </a:rPr>
              <a:t>Managers</a:t>
            </a:r>
            <a:endParaRPr lang="en-US" sz="2100" dirty="0"/>
          </a:p>
        </p:txBody>
      </p:sp>
      <p:sp>
        <p:nvSpPr>
          <p:cNvPr id="12" name="Text 9"/>
          <p:cNvSpPr txBox="1"/>
          <p:nvPr/>
        </p:nvSpPr>
        <p:spPr>
          <a:xfrm>
            <a:off x="6446520" y="3127248"/>
            <a:ext cx="4800600" cy="1737360"/>
          </a:xfrm>
          <a:prstGeom prst="rect">
            <a:avLst/>
          </a:prstGeom>
          <a:noFill/>
          <a:ln/>
        </p:spPr>
        <p:txBody>
          <a:bodyPr wrap="square" lIns="0" tIns="0" rIns="0" bIns="0" rtlCol="0" anchor="ctr"/>
          <a:lstStyle/>
          <a:p>
            <a:pPr marL="0" indent="0">
              <a:lnSpc>
                <a:spcPct val="115000"/>
              </a:lnSpc>
              <a:buNone/>
            </a:pPr>
            <a:r>
              <a:rPr lang="en-US" sz="1700" dirty="0">
                <a:solidFill>
                  <a:srgbClr val="2B2B2B"/>
                </a:solidFill>
                <a:latin typeface="Calibri" pitchFamily="34" charset="0"/>
                <a:ea typeface="Calibri" pitchFamily="34" charset="-122"/>
                <a:cs typeface="Calibri" pitchFamily="34" charset="-120"/>
              </a:rPr>
              <a:t>Keep the sprint hub, capacity charts, and Power BI reporting exactly where they already are.</a:t>
            </a:r>
            <a:endParaRPr lang="en-US" sz="1700" dirty="0"/>
          </a:p>
        </p:txBody>
      </p:sp>
      <p:sp>
        <p:nvSpPr>
          <p:cNvPr id="14" name="Rounded Rectangle 13"/>
          <p:cNvSpPr/>
          <p:nvPr/>
        </p:nvSpPr>
        <p:spPr>
          <a:xfrm>
            <a:off x="548640" y="5111496"/>
            <a:ext cx="11064240" cy="905256"/>
          </a:xfrm>
          <a:prstGeom prst="roundRect">
            <a:avLst>
              <a:gd name="adj" fmla="val 12632"/>
            </a:avLst>
          </a:prstGeom>
          <a:solidFill>
            <a:srgbClr val="1F3D2C"/>
          </a:solidFill>
          <a:ln>
            <a:noFill/>
          </a:ln>
          <a:effectLst/>
        </p:spPr>
        <p:txBody>
          <a:bodyPr rtlCol="0" anchor="ctr"/>
          <a:lstStyle/>
          <a:p>
            <a:pPr algn="ctr"/>
            <a:endParaRPr/>
          </a:p>
        </p:txBody>
      </p:sp>
      <p:sp>
        <p:nvSpPr>
          <p:cNvPr id="13" name="Text 10"/>
          <p:cNvSpPr txBox="1"/>
          <p:nvPr/>
        </p:nvSpPr>
        <p:spPr>
          <a:xfrm>
            <a:off x="548640" y="5111496"/>
            <a:ext cx="11064240" cy="905256"/>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Not “Azure Boards forever”: just don’t default to GitHub Issues because the code moved. Where you plan work is a separate decision from where the code lives.</a:t>
            </a:r>
            <a:endParaRPr lang="en-US" sz="1800" dirty="0"/>
          </a:p>
        </p:txBody>
      </p:sp>
      <p:sp>
        <p:nvSpPr>
          <p:cNvPr id="15" name="Slide Number Placeholder"/>
          <p:cNvSpPr>
            <a:spLocks noGrp="1"/>
          </p:cNvSpPr>
          <p:nvPr>
            <p:ph type="sldNum" sz="quarter" idx="10"/>
          </p:nvPr>
        </p:nvSpPr>
        <p:spPr/>
        <p:txBody>
          <a:bodyPr/>
          <a:lstStyle/>
          <a:p>
            <a:fld id="{BCB632DE-6AD4-40F1-944C-28C0E9BF62DC}" type="slidenum">
              <a:rPr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40">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E0B85C"/>
                </a:solidFill>
                <a:latin typeface="Calibri" pitchFamily="34" charset="0"/>
                <a:ea typeface="Calibri" pitchFamily="34" charset="-122"/>
                <a:cs typeface="Calibri" pitchFamily="34" charset="-120"/>
              </a:rPr>
              <a:t>One quick question before we leave Section 4 — Watch as the Scrum Master Approaches Carefully</a:t>
            </a:r>
            <a:endParaRPr lang="en-US" sz="1900" dirty="0"/>
          </a:p>
        </p:txBody>
      </p:sp>
      <p:sp>
        <p:nvSpPr>
          <p:cNvPr id="4" name="Slide Number Placeholder"/>
          <p:cNvSpPr>
            <a:spLocks noGrp="1"/>
          </p:cNvSpPr>
          <p:nvPr>
            <p:ph type="sldNum" sz="quarter" idx="10"/>
          </p:nvPr>
        </p:nvSpPr>
        <p:spPr/>
        <p:txBody>
          <a:bodyPr/>
          <a:lstStyle/>
          <a:p>
            <a:fld id="{BCB632DE-6AD4-40F1-944C-28C0E9BF62DC}" type="slidenum">
              <a:rPr lang="en-US">
                <a:solidFill>
                  <a:srgbClr val="E0B85C"/>
                </a:solidFill>
              </a:rPr>
              <a:t>36</a:t>
            </a:fld>
            <a:endParaRPr lang="en-US">
              <a:solidFill>
                <a:srgbClr val="E0B85C"/>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41">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5</a:t>
            </a:r>
            <a:endParaRPr lang="en-US" sz="1700" dirty="0"/>
          </a:p>
        </p:txBody>
      </p:sp>
      <p:pic>
        <p:nvPicPr>
          <p:cNvPr id="4" name="Image 0" descr="/home/claude/pptx-build/assets/icons/FaShieldAlt-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The Senior Engineer Defends an Ancient Pipeline</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E0B85C"/>
                </a:solidFill>
                <a:latin typeface="Calibri" pitchFamily="34" charset="0"/>
                <a:ea typeface="Calibri" pitchFamily="34" charset="-122"/>
                <a:cs typeface="Calibri" pitchFamily="34" charset="-120"/>
              </a:rPr>
              <a:t>It has survived three reorgs, two failed migrations, and one engineer who swore they’d rewrite it “this quarter.” It is loved. It is also the reason nothing else can change.</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37</a:t>
            </a:fld>
            <a:endParaRPr lang="en-US">
              <a:solidFill>
                <a:srgbClr val="E0B85C"/>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heaterMask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This Is Change Management Wearing an Engineering Costume</a:t>
            </a:r>
            <a:endParaRPr lang="en-US" sz="3200" dirty="0"/>
          </a:p>
        </p:txBody>
      </p:sp>
      <p:sp>
        <p:nvSpPr>
          <p:cNvPr id="6" name="Shape 3"/>
          <p:cNvSpPr/>
          <p:nvPr/>
        </p:nvSpPr>
        <p:spPr>
          <a:xfrm>
            <a:off x="548640" y="1691640"/>
            <a:ext cx="11064240" cy="1920240"/>
          </a:xfrm>
          <a:prstGeom prst="roundRect">
            <a:avLst>
              <a:gd name="adj" fmla="val 5714"/>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74520"/>
            <a:ext cx="10515600" cy="1554480"/>
          </a:xfrm>
          <a:prstGeom prst="rect">
            <a:avLst/>
          </a:prstGeom>
          <a:noFill/>
          <a:ln/>
        </p:spPr>
        <p:txBody>
          <a:bodyPr wrap="square" lIns="0" tIns="0" rIns="0" bIns="0" rtlCol="0" anchor="ctr"/>
          <a:lstStyle/>
          <a:p>
            <a:pPr marL="0" indent="0">
              <a:lnSpc>
                <a:spcPct val="125000"/>
              </a:lnSpc>
              <a:buNone/>
            </a:pPr>
            <a:r>
              <a:rPr lang="en-US" sz="2000" b="1" dirty="0">
                <a:solidFill>
                  <a:srgbClr val="2B2B2B"/>
                </a:solidFill>
                <a:latin typeface="Calibri" pitchFamily="34" charset="0"/>
                <a:ea typeface="Calibri" pitchFamily="34" charset="-122"/>
                <a:cs typeface="Calibri" pitchFamily="34" charset="-120"/>
              </a:rPr>
              <a:t>Most migrations that fail don’t fail in the converter. </a:t>
            </a:r>
            <a:r>
              <a:rPr lang="en-US" sz="2000" dirty="0">
                <a:solidFill>
                  <a:srgbClr val="2B2B2B"/>
                </a:solidFill>
                <a:latin typeface="Calibri" pitchFamily="34" charset="0"/>
                <a:ea typeface="Calibri" pitchFamily="34" charset="-122"/>
                <a:cs typeface="Calibri" pitchFamily="34" charset="-120"/>
              </a:rPr>
              <a:t>The tooling almost always works. What breaks is everything around it, starting with the people.</a:t>
            </a:r>
            <a:endParaRPr lang="en-US" sz="2000" dirty="0"/>
          </a:p>
        </p:txBody>
      </p:sp>
      <p:sp>
        <p:nvSpPr>
          <p:cNvPr id="8" name="Shape 5"/>
          <p:cNvSpPr/>
          <p:nvPr/>
        </p:nvSpPr>
        <p:spPr>
          <a:xfrm>
            <a:off x="548640" y="3886200"/>
            <a:ext cx="11064240" cy="777240"/>
          </a:xfrm>
          <a:prstGeom prst="roundRect">
            <a:avLst>
              <a:gd name="adj" fmla="val 1411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22960" y="4005072"/>
            <a:ext cx="10515600" cy="548640"/>
          </a:xfrm>
          <a:prstGeom prst="rect">
            <a:avLst/>
          </a:prstGeom>
          <a:noFill/>
          <a:ln/>
        </p:spPr>
        <p:txBody>
          <a:bodyPr wrap="square" lIns="0" tIns="0" rIns="0" bIns="0" rtlCol="0" anchor="ctr"/>
          <a:lstStyle/>
          <a:p>
            <a:pPr marL="0" indent="0">
              <a:buNone/>
            </a:pPr>
            <a:r>
              <a:rPr lang="en-US" sz="1700" dirty="0">
                <a:solidFill>
                  <a:srgbClr val="F5F5F0"/>
                </a:solidFill>
                <a:latin typeface="Calibri" pitchFamily="34" charset="0"/>
                <a:ea typeface="Calibri" pitchFamily="34" charset="-122"/>
                <a:cs typeface="Calibri" pitchFamily="34" charset="-120"/>
              </a:rPr>
              <a:t>No real selection process — the tool got picked, not evaluated</a:t>
            </a:r>
            <a:endParaRPr lang="en-US" sz="1700" dirty="0"/>
          </a:p>
        </p:txBody>
      </p:sp>
      <p:sp>
        <p:nvSpPr>
          <p:cNvPr id="10" name="Shape 7"/>
          <p:cNvSpPr/>
          <p:nvPr/>
        </p:nvSpPr>
        <p:spPr>
          <a:xfrm>
            <a:off x="548640" y="4846320"/>
            <a:ext cx="11064240" cy="777240"/>
          </a:xfrm>
          <a:prstGeom prst="roundRect">
            <a:avLst>
              <a:gd name="adj" fmla="val 1411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1" name="Text 8"/>
          <p:cNvSpPr txBox="1"/>
          <p:nvPr/>
        </p:nvSpPr>
        <p:spPr>
          <a:xfrm>
            <a:off x="822960" y="4965192"/>
            <a:ext cx="10515600" cy="548640"/>
          </a:xfrm>
          <a:prstGeom prst="rect">
            <a:avLst/>
          </a:prstGeom>
          <a:noFill/>
          <a:ln/>
        </p:spPr>
        <p:txBody>
          <a:bodyPr wrap="square" lIns="0" tIns="0" rIns="0" bIns="0" rtlCol="0" anchor="ctr"/>
          <a:lstStyle/>
          <a:p>
            <a:pPr marL="0" indent="0">
              <a:buNone/>
            </a:pPr>
            <a:r>
              <a:rPr lang="en-US" sz="1700" dirty="0">
                <a:solidFill>
                  <a:srgbClr val="F5F5F0"/>
                </a:solidFill>
                <a:latin typeface="Calibri" pitchFamily="34" charset="0"/>
                <a:ea typeface="Calibri" pitchFamily="34" charset="-122"/>
                <a:cs typeface="Calibri" pitchFamily="34" charset="-120"/>
              </a:rPr>
              <a:t>Customization started before anyone understood the new tool</a:t>
            </a:r>
            <a:endParaRPr lang="en-US" sz="1700" dirty="0"/>
          </a:p>
        </p:txBody>
      </p:sp>
      <p:sp>
        <p:nvSpPr>
          <p:cNvPr id="12" name="Shape 9"/>
          <p:cNvSpPr/>
          <p:nvPr/>
        </p:nvSpPr>
        <p:spPr>
          <a:xfrm>
            <a:off x="548640" y="5806440"/>
            <a:ext cx="11064240" cy="777240"/>
          </a:xfrm>
          <a:prstGeom prst="roundRect">
            <a:avLst>
              <a:gd name="adj" fmla="val 1411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822960" y="5925312"/>
            <a:ext cx="10515600" cy="548640"/>
          </a:xfrm>
          <a:prstGeom prst="rect">
            <a:avLst/>
          </a:prstGeom>
          <a:noFill/>
          <a:ln/>
        </p:spPr>
        <p:txBody>
          <a:bodyPr wrap="square" lIns="0" tIns="0" rIns="0" bIns="0" rtlCol="0" anchor="ctr"/>
          <a:lstStyle/>
          <a:p>
            <a:pPr marL="0" indent="0">
              <a:buNone/>
            </a:pPr>
            <a:r>
              <a:rPr lang="en-US" sz="1700" dirty="0">
                <a:solidFill>
                  <a:srgbClr val="F5F5F0"/>
                </a:solidFill>
                <a:latin typeface="Calibri" pitchFamily="34" charset="0"/>
                <a:ea typeface="Calibri" pitchFamily="34" charset="-122"/>
                <a:cs typeface="Calibri" pitchFamily="34" charset="-120"/>
              </a:rPr>
              <a:t>The rollout felt done to people, not with them</a:t>
            </a:r>
            <a:endParaRPr lang="en-US" sz="1700" dirty="0"/>
          </a:p>
        </p:txBody>
      </p:sp>
      <p:sp>
        <p:nvSpPr>
          <p:cNvPr id="14" name="Slide Number Placeholder"/>
          <p:cNvSpPr>
            <a:spLocks noGrp="1"/>
          </p:cNvSpPr>
          <p:nvPr>
            <p:ph type="sldNum" sz="quarter" idx="10"/>
          </p:nvPr>
        </p:nvSpPr>
        <p:spPr/>
        <p:txBody>
          <a:bodyPr/>
          <a:lstStyle/>
          <a:p>
            <a:fld id="{BCB632DE-6AD4-40F1-944C-28C0E9BF62DC}" type="slidenum">
              <a:rPr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ask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Choose With Evidence, Then Pilot on Defaults</a:t>
            </a:r>
            <a:endParaRPr lang="en-US" sz="3200" dirty="0"/>
          </a:p>
        </p:txBody>
      </p:sp>
      <p:sp>
        <p:nvSpPr>
          <p:cNvPr id="6" name="Shape 3"/>
          <p:cNvSpPr/>
          <p:nvPr/>
        </p:nvSpPr>
        <p:spPr>
          <a:xfrm>
            <a:off x="548640" y="1554480"/>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777240" y="1618488"/>
            <a:ext cx="585216" cy="585216"/>
          </a:xfrm>
          <a:prstGeom prst="ellipse">
            <a:avLst/>
          </a:prstGeom>
          <a:solidFill>
            <a:srgbClr val="C1440E"/>
          </a:solidFill>
          <a:ln/>
        </p:spPr>
        <p:txBody>
          <a:bodyPr/>
          <a:lstStyle/>
          <a:p>
            <a:endParaRPr lang="en-US"/>
          </a:p>
        </p:txBody>
      </p:sp>
      <p:sp>
        <p:nvSpPr>
          <p:cNvPr id="8" name="Text 5"/>
          <p:cNvSpPr txBox="1"/>
          <p:nvPr/>
        </p:nvSpPr>
        <p:spPr>
          <a:xfrm>
            <a:off x="777240" y="1618488"/>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1</a:t>
            </a:r>
            <a:endParaRPr lang="en-US" sz="2000" dirty="0"/>
          </a:p>
        </p:txBody>
      </p:sp>
      <p:sp>
        <p:nvSpPr>
          <p:cNvPr id="9" name="Text 6"/>
          <p:cNvSpPr txBox="1"/>
          <p:nvPr/>
        </p:nvSpPr>
        <p:spPr>
          <a:xfrm>
            <a:off x="1554480" y="1591056"/>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Define must-haves</a:t>
            </a:r>
            <a:endParaRPr lang="en-US" sz="1600" dirty="0"/>
          </a:p>
        </p:txBody>
      </p:sp>
      <p:sp>
        <p:nvSpPr>
          <p:cNvPr id="10" name="Text 7"/>
          <p:cNvSpPr txBox="1"/>
          <p:nvPr/>
        </p:nvSpPr>
        <p:spPr>
          <a:xfrm>
            <a:off x="4892040" y="1591056"/>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What each option has to do, not what would be nice.</a:t>
            </a:r>
            <a:endParaRPr lang="en-US" sz="1350" dirty="0"/>
          </a:p>
        </p:txBody>
      </p:sp>
      <p:sp>
        <p:nvSpPr>
          <p:cNvPr id="11" name="Shape 8"/>
          <p:cNvSpPr/>
          <p:nvPr/>
        </p:nvSpPr>
        <p:spPr>
          <a:xfrm>
            <a:off x="548640" y="2359152"/>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9"/>
          <p:cNvSpPr/>
          <p:nvPr/>
        </p:nvSpPr>
        <p:spPr>
          <a:xfrm>
            <a:off x="777240" y="2423160"/>
            <a:ext cx="585216" cy="585216"/>
          </a:xfrm>
          <a:prstGeom prst="ellipse">
            <a:avLst/>
          </a:prstGeom>
          <a:solidFill>
            <a:srgbClr val="C1440E"/>
          </a:solidFill>
          <a:ln/>
        </p:spPr>
        <p:txBody>
          <a:bodyPr/>
          <a:lstStyle/>
          <a:p>
            <a:endParaRPr lang="en-US"/>
          </a:p>
        </p:txBody>
      </p:sp>
      <p:sp>
        <p:nvSpPr>
          <p:cNvPr id="13" name="Text 10"/>
          <p:cNvSpPr txBox="1"/>
          <p:nvPr/>
        </p:nvSpPr>
        <p:spPr>
          <a:xfrm>
            <a:off x="777240" y="2423160"/>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2</a:t>
            </a:r>
            <a:endParaRPr lang="en-US" sz="2000" dirty="0"/>
          </a:p>
        </p:txBody>
      </p:sp>
      <p:sp>
        <p:nvSpPr>
          <p:cNvPr id="14" name="Text 11"/>
          <p:cNvSpPr txBox="1"/>
          <p:nvPr/>
        </p:nvSpPr>
        <p:spPr>
          <a:xfrm>
            <a:off x="1554480" y="2395728"/>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Assess constraints</a:t>
            </a:r>
            <a:endParaRPr lang="en-US" sz="1600" dirty="0"/>
          </a:p>
        </p:txBody>
      </p:sp>
      <p:sp>
        <p:nvSpPr>
          <p:cNvPr id="15" name="Text 12"/>
          <p:cNvSpPr txBox="1"/>
          <p:nvPr/>
        </p:nvSpPr>
        <p:spPr>
          <a:xfrm>
            <a:off x="4892040" y="2395728"/>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Current toolchain, data-residency needs, compliance requirements.</a:t>
            </a:r>
            <a:endParaRPr lang="en-US" sz="1350" dirty="0"/>
          </a:p>
        </p:txBody>
      </p:sp>
      <p:sp>
        <p:nvSpPr>
          <p:cNvPr id="16" name="Shape 13"/>
          <p:cNvSpPr/>
          <p:nvPr/>
        </p:nvSpPr>
        <p:spPr>
          <a:xfrm>
            <a:off x="548640" y="3163824"/>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4"/>
          <p:cNvSpPr/>
          <p:nvPr/>
        </p:nvSpPr>
        <p:spPr>
          <a:xfrm>
            <a:off x="777240" y="3227832"/>
            <a:ext cx="585216" cy="585216"/>
          </a:xfrm>
          <a:prstGeom prst="ellipse">
            <a:avLst/>
          </a:prstGeom>
          <a:solidFill>
            <a:srgbClr val="C1440E"/>
          </a:solidFill>
          <a:ln/>
        </p:spPr>
        <p:txBody>
          <a:bodyPr/>
          <a:lstStyle/>
          <a:p>
            <a:endParaRPr lang="en-US"/>
          </a:p>
        </p:txBody>
      </p:sp>
      <p:sp>
        <p:nvSpPr>
          <p:cNvPr id="18" name="Text 15"/>
          <p:cNvSpPr txBox="1"/>
          <p:nvPr/>
        </p:nvSpPr>
        <p:spPr>
          <a:xfrm>
            <a:off x="777240" y="3227832"/>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3</a:t>
            </a:r>
            <a:endParaRPr lang="en-US" sz="2000" dirty="0"/>
          </a:p>
        </p:txBody>
      </p:sp>
      <p:sp>
        <p:nvSpPr>
          <p:cNvPr id="19" name="Text 16"/>
          <p:cNvSpPr txBox="1"/>
          <p:nvPr/>
        </p:nvSpPr>
        <p:spPr>
          <a:xfrm>
            <a:off x="1554480" y="3200400"/>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Model one real increment</a:t>
            </a:r>
            <a:endParaRPr lang="en-US" sz="1600" dirty="0"/>
          </a:p>
        </p:txBody>
      </p:sp>
      <p:sp>
        <p:nvSpPr>
          <p:cNvPr id="20" name="Text 17"/>
          <p:cNvSpPr txBox="1"/>
          <p:nvPr/>
        </p:nvSpPr>
        <p:spPr>
          <a:xfrm>
            <a:off x="4892040" y="3200400"/>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In each candidate option: a real slice of real work, not a vendor demo.</a:t>
            </a:r>
            <a:endParaRPr lang="en-US" sz="1350" dirty="0"/>
          </a:p>
        </p:txBody>
      </p:sp>
      <p:sp>
        <p:nvSpPr>
          <p:cNvPr id="21" name="Shape 18"/>
          <p:cNvSpPr/>
          <p:nvPr/>
        </p:nvSpPr>
        <p:spPr>
          <a:xfrm>
            <a:off x="548640" y="3968496"/>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2" name="Shape 19"/>
          <p:cNvSpPr/>
          <p:nvPr/>
        </p:nvSpPr>
        <p:spPr>
          <a:xfrm>
            <a:off x="777240" y="4032504"/>
            <a:ext cx="585216" cy="585216"/>
          </a:xfrm>
          <a:prstGeom prst="ellipse">
            <a:avLst/>
          </a:prstGeom>
          <a:solidFill>
            <a:srgbClr val="C1440E"/>
          </a:solidFill>
          <a:ln/>
        </p:spPr>
        <p:txBody>
          <a:bodyPr/>
          <a:lstStyle/>
          <a:p>
            <a:endParaRPr lang="en-US"/>
          </a:p>
        </p:txBody>
      </p:sp>
      <p:sp>
        <p:nvSpPr>
          <p:cNvPr id="23" name="Text 20"/>
          <p:cNvSpPr txBox="1"/>
          <p:nvPr/>
        </p:nvSpPr>
        <p:spPr>
          <a:xfrm>
            <a:off x="777240" y="4032504"/>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4</a:t>
            </a:r>
            <a:endParaRPr lang="en-US" sz="2000" dirty="0"/>
          </a:p>
        </p:txBody>
      </p:sp>
      <p:sp>
        <p:nvSpPr>
          <p:cNvPr id="24" name="Text 21"/>
          <p:cNvSpPr txBox="1"/>
          <p:nvPr/>
        </p:nvSpPr>
        <p:spPr>
          <a:xfrm>
            <a:off x="1554480" y="4005072"/>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Score with a weighted rubric</a:t>
            </a:r>
            <a:endParaRPr lang="en-US" sz="1600" dirty="0"/>
          </a:p>
        </p:txBody>
      </p:sp>
      <p:sp>
        <p:nvSpPr>
          <p:cNvPr id="25" name="Text 22"/>
          <p:cNvSpPr txBox="1"/>
          <p:nvPr/>
        </p:nvSpPr>
        <p:spPr>
          <a:xfrm>
            <a:off x="4892040" y="4005072"/>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Turns gut feel into something you can defend in a room.</a:t>
            </a:r>
            <a:endParaRPr lang="en-US" sz="1350" dirty="0"/>
          </a:p>
        </p:txBody>
      </p:sp>
      <p:sp>
        <p:nvSpPr>
          <p:cNvPr id="26" name="Shape 23"/>
          <p:cNvSpPr/>
          <p:nvPr/>
        </p:nvSpPr>
        <p:spPr>
          <a:xfrm>
            <a:off x="548640" y="4773168"/>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7" name="Shape 24"/>
          <p:cNvSpPr/>
          <p:nvPr/>
        </p:nvSpPr>
        <p:spPr>
          <a:xfrm>
            <a:off x="777240" y="4837176"/>
            <a:ext cx="585216" cy="585216"/>
          </a:xfrm>
          <a:prstGeom prst="ellipse">
            <a:avLst/>
          </a:prstGeom>
          <a:solidFill>
            <a:srgbClr val="C1440E"/>
          </a:solidFill>
          <a:ln/>
        </p:spPr>
        <p:txBody>
          <a:bodyPr/>
          <a:lstStyle/>
          <a:p>
            <a:endParaRPr lang="en-US"/>
          </a:p>
        </p:txBody>
      </p:sp>
      <p:sp>
        <p:nvSpPr>
          <p:cNvPr id="28" name="Text 25"/>
          <p:cNvSpPr txBox="1"/>
          <p:nvPr/>
        </p:nvSpPr>
        <p:spPr>
          <a:xfrm>
            <a:off x="777240" y="4837176"/>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5</a:t>
            </a:r>
            <a:endParaRPr lang="en-US" sz="2000" dirty="0"/>
          </a:p>
        </p:txBody>
      </p:sp>
      <p:sp>
        <p:nvSpPr>
          <p:cNvPr id="29" name="Text 26"/>
          <p:cNvSpPr txBox="1"/>
          <p:nvPr/>
        </p:nvSpPr>
        <p:spPr>
          <a:xfrm>
            <a:off x="1554480" y="4809744"/>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Pilot on defaults</a:t>
            </a:r>
            <a:endParaRPr lang="en-US" sz="1600" dirty="0"/>
          </a:p>
        </p:txBody>
      </p:sp>
      <p:sp>
        <p:nvSpPr>
          <p:cNvPr id="30" name="Text 27"/>
          <p:cNvSpPr txBox="1"/>
          <p:nvPr/>
        </p:nvSpPr>
        <p:spPr>
          <a:xfrm>
            <a:off x="4892040" y="4809744"/>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4–6 weeks, outcomes decided in advance. Customize only after, with real usage data.</a:t>
            </a:r>
            <a:endParaRPr lang="en-US" sz="1350" dirty="0"/>
          </a:p>
        </p:txBody>
      </p:sp>
      <p:sp>
        <p:nvSpPr>
          <p:cNvPr id="31" name="Takeaway bar"/>
          <p:cNvSpPr/>
          <p:nvPr/>
        </p:nvSpPr>
        <p:spPr>
          <a:xfrm>
            <a:off x="548640" y="5669280"/>
            <a:ext cx="11064240" cy="77724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32" name="Takeaway text"/>
          <p:cNvSpPr txBox="1"/>
          <p:nvPr/>
        </p:nvSpPr>
        <p:spPr>
          <a:xfrm>
            <a:off x="548640" y="5669280"/>
            <a:ext cx="11064240" cy="77724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Every customization made before the pilot is a bet placed with the least information you’ll ever have.</a:t>
            </a:r>
            <a:endParaRPr lang="en-US" sz="1700" dirty="0"/>
          </a:p>
        </p:txBody>
      </p:sp>
      <p:sp>
        <p:nvSpPr>
          <p:cNvPr id="33" name="Slide Number Placeholder"/>
          <p:cNvSpPr>
            <a:spLocks noGrp="1"/>
          </p:cNvSpPr>
          <p:nvPr>
            <p:ph type="sldNum" sz="quarter" idx="10"/>
          </p:nvPr>
        </p:nvSpPr>
        <p:spPr/>
        <p:txBody>
          <a:bodyPr/>
          <a:lstStyle/>
          <a:p>
            <a:fld id="{BCB632DE-6AD4-40F1-944C-28C0E9BF62DC}" type="slidenum">
              <a:rPr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ut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The Migration Sequence Is the Change-Management Plan</a:t>
            </a:r>
            <a:endParaRPr lang="en-US" sz="3200" dirty="0"/>
          </a:p>
        </p:txBody>
      </p:sp>
      <p:sp>
        <p:nvSpPr>
          <p:cNvPr id="6" name="Shape 3"/>
          <p:cNvSpPr/>
          <p:nvPr/>
        </p:nvSpPr>
        <p:spPr>
          <a:xfrm>
            <a:off x="54864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777240" y="1920240"/>
            <a:ext cx="457200" cy="457200"/>
          </a:xfrm>
          <a:prstGeom prst="ellipse">
            <a:avLst/>
          </a:prstGeom>
          <a:solidFill>
            <a:srgbClr val="C1440E"/>
          </a:solidFill>
          <a:ln/>
        </p:spPr>
        <p:txBody>
          <a:bodyPr/>
          <a:lstStyle/>
          <a:p>
            <a:endParaRPr lang="en-US"/>
          </a:p>
        </p:txBody>
      </p:sp>
      <p:sp>
        <p:nvSpPr>
          <p:cNvPr id="8" name="Text 5"/>
          <p:cNvSpPr txBox="1"/>
          <p:nvPr/>
        </p:nvSpPr>
        <p:spPr>
          <a:xfrm>
            <a:off x="77724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1</a:t>
            </a:r>
            <a:endParaRPr lang="en-US" sz="1700" dirty="0"/>
          </a:p>
        </p:txBody>
      </p:sp>
      <p:sp>
        <p:nvSpPr>
          <p:cNvPr id="9" name="Text 6"/>
          <p:cNvSpPr txBox="1"/>
          <p:nvPr/>
        </p:nvSpPr>
        <p:spPr>
          <a:xfrm>
            <a:off x="73152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Define authority &amp; traceability</a:t>
            </a:r>
            <a:endParaRPr lang="en-US" sz="1550"/>
          </a:p>
        </p:txBody>
      </p:sp>
      <p:sp>
        <p:nvSpPr>
          <p:cNvPr id="10" name="Text 7"/>
          <p:cNvSpPr txBox="1"/>
          <p:nvPr/>
        </p:nvSpPr>
        <p:spPr>
          <a:xfrm>
            <a:off x="73152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Connect Boards, name the source of truth, owners, and rollback authority.</a:t>
            </a:r>
            <a:endParaRPr lang="en-US" sz="1250"/>
          </a:p>
        </p:txBody>
      </p:sp>
      <p:sp>
        <p:nvSpPr>
          <p:cNvPr id="11" name="Shape 8"/>
          <p:cNvSpPr/>
          <p:nvPr/>
        </p:nvSpPr>
        <p:spPr>
          <a:xfrm>
            <a:off x="333756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9"/>
          <p:cNvSpPr/>
          <p:nvPr/>
        </p:nvSpPr>
        <p:spPr>
          <a:xfrm>
            <a:off x="3566160" y="1920240"/>
            <a:ext cx="457200" cy="457200"/>
          </a:xfrm>
          <a:prstGeom prst="ellipse">
            <a:avLst/>
          </a:prstGeom>
          <a:solidFill>
            <a:srgbClr val="C1440E"/>
          </a:solidFill>
          <a:ln/>
        </p:spPr>
        <p:txBody>
          <a:bodyPr/>
          <a:lstStyle/>
          <a:p>
            <a:endParaRPr lang="en-US"/>
          </a:p>
        </p:txBody>
      </p:sp>
      <p:sp>
        <p:nvSpPr>
          <p:cNvPr id="13" name="Text 10"/>
          <p:cNvSpPr txBox="1"/>
          <p:nvPr/>
        </p:nvSpPr>
        <p:spPr>
          <a:xfrm>
            <a:off x="356616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2</a:t>
            </a:r>
            <a:endParaRPr lang="en-US" sz="1700" dirty="0"/>
          </a:p>
        </p:txBody>
      </p:sp>
      <p:sp>
        <p:nvSpPr>
          <p:cNvPr id="14" name="Text 11"/>
          <p:cNvSpPr txBox="1"/>
          <p:nvPr/>
        </p:nvSpPr>
        <p:spPr>
          <a:xfrm>
            <a:off x="352044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Trial one repo end-to-end</a:t>
            </a:r>
            <a:endParaRPr lang="en-US" sz="1550"/>
          </a:p>
        </p:txBody>
      </p:sp>
      <p:sp>
        <p:nvSpPr>
          <p:cNvPr id="15" name="Text 12"/>
          <p:cNvSpPr txBox="1"/>
          <p:nvPr/>
        </p:nvSpPr>
        <p:spPr>
          <a:xfrm>
            <a:off x="352044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Exercise repository data, automation, and validation before scaling.</a:t>
            </a:r>
            <a:endParaRPr lang="en-US" sz="1250"/>
          </a:p>
        </p:txBody>
      </p:sp>
      <p:sp>
        <p:nvSpPr>
          <p:cNvPr id="16" name="Shape 13"/>
          <p:cNvSpPr/>
          <p:nvPr/>
        </p:nvSpPr>
        <p:spPr>
          <a:xfrm>
            <a:off x="612648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4"/>
          <p:cNvSpPr/>
          <p:nvPr/>
        </p:nvSpPr>
        <p:spPr>
          <a:xfrm>
            <a:off x="6355080" y="1920240"/>
            <a:ext cx="457200" cy="457200"/>
          </a:xfrm>
          <a:prstGeom prst="ellipse">
            <a:avLst/>
          </a:prstGeom>
          <a:solidFill>
            <a:srgbClr val="C1440E"/>
          </a:solidFill>
          <a:ln/>
        </p:spPr>
        <p:txBody>
          <a:bodyPr/>
          <a:lstStyle/>
          <a:p>
            <a:endParaRPr lang="en-US"/>
          </a:p>
        </p:txBody>
      </p:sp>
      <p:sp>
        <p:nvSpPr>
          <p:cNvPr id="18" name="Text 15"/>
          <p:cNvSpPr txBox="1"/>
          <p:nvPr/>
        </p:nvSpPr>
        <p:spPr>
          <a:xfrm>
            <a:off x="635508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3</a:t>
            </a:r>
            <a:endParaRPr lang="en-US" sz="1700" dirty="0"/>
          </a:p>
        </p:txBody>
      </p:sp>
      <p:sp>
        <p:nvSpPr>
          <p:cNvPr id="19" name="Text 16"/>
          <p:cNvSpPr txBox="1"/>
          <p:nvPr/>
        </p:nvSpPr>
        <p:spPr>
          <a:xfrm>
            <a:off x="630936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Migrate in evidence-based waves</a:t>
            </a:r>
            <a:endParaRPr lang="en-US" sz="1550"/>
          </a:p>
        </p:txBody>
      </p:sp>
      <p:sp>
        <p:nvSpPr>
          <p:cNvPr id="20" name="Text 17"/>
          <p:cNvSpPr txBox="1"/>
          <p:nvPr/>
        </p:nvSpPr>
        <p:spPr>
          <a:xfrm>
            <a:off x="630936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Entry criteria: identity ready, pipeline classified, runner path and rollback defined.</a:t>
            </a:r>
            <a:endParaRPr lang="en-US" sz="1250"/>
          </a:p>
        </p:txBody>
      </p:sp>
      <p:sp>
        <p:nvSpPr>
          <p:cNvPr id="21" name="Shape 18"/>
          <p:cNvSpPr/>
          <p:nvPr/>
        </p:nvSpPr>
        <p:spPr>
          <a:xfrm>
            <a:off x="891540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2" name="Shape 19"/>
          <p:cNvSpPr/>
          <p:nvPr/>
        </p:nvSpPr>
        <p:spPr>
          <a:xfrm>
            <a:off x="9144000" y="1920240"/>
            <a:ext cx="457200" cy="457200"/>
          </a:xfrm>
          <a:prstGeom prst="ellipse">
            <a:avLst/>
          </a:prstGeom>
          <a:solidFill>
            <a:srgbClr val="C1440E"/>
          </a:solidFill>
          <a:ln/>
        </p:spPr>
        <p:txBody>
          <a:bodyPr/>
          <a:lstStyle/>
          <a:p>
            <a:endParaRPr lang="en-US"/>
          </a:p>
        </p:txBody>
      </p:sp>
      <p:sp>
        <p:nvSpPr>
          <p:cNvPr id="23" name="Text 20"/>
          <p:cNvSpPr txBox="1"/>
          <p:nvPr/>
        </p:nvSpPr>
        <p:spPr>
          <a:xfrm>
            <a:off x="914400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4</a:t>
            </a:r>
            <a:endParaRPr lang="en-US" sz="1700" dirty="0"/>
          </a:p>
        </p:txBody>
      </p:sp>
      <p:sp>
        <p:nvSpPr>
          <p:cNvPr id="24" name="Text 21"/>
          <p:cNvSpPr txBox="1"/>
          <p:nvPr/>
        </p:nvSpPr>
        <p:spPr>
          <a:xfrm>
            <a:off x="909828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Cut over, monitor, decommission</a:t>
            </a:r>
            <a:endParaRPr lang="en-US" sz="1550"/>
          </a:p>
        </p:txBody>
      </p:sp>
      <p:sp>
        <p:nvSpPr>
          <p:cNvPr id="25" name="Text 22"/>
          <p:cNvSpPr txBox="1"/>
          <p:nvPr/>
        </p:nvSpPr>
        <p:spPr>
          <a:xfrm>
            <a:off x="909828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Make the old repo read-only; retire it only after long-tail checks pass.</a:t>
            </a:r>
            <a:endParaRPr lang="en-US" sz="1250"/>
          </a:p>
        </p:txBody>
      </p:sp>
      <p:sp>
        <p:nvSpPr>
          <p:cNvPr id="27" name="Rounded Rectangle 26"/>
          <p:cNvSpPr/>
          <p:nvPr/>
        </p:nvSpPr>
        <p:spPr>
          <a:xfrm>
            <a:off x="548640" y="5522976"/>
            <a:ext cx="11064240" cy="813816"/>
          </a:xfrm>
          <a:prstGeom prst="roundRect">
            <a:avLst>
              <a:gd name="adj" fmla="val 12632"/>
            </a:avLst>
          </a:prstGeom>
          <a:solidFill>
            <a:srgbClr val="1F3D2C"/>
          </a:solidFill>
          <a:ln>
            <a:noFill/>
          </a:ln>
          <a:effectLst/>
        </p:spPr>
        <p:txBody>
          <a:bodyPr rtlCol="0" anchor="ctr"/>
          <a:lstStyle/>
          <a:p>
            <a:pPr algn="ctr"/>
            <a:endParaRPr/>
          </a:p>
        </p:txBody>
      </p:sp>
      <p:sp>
        <p:nvSpPr>
          <p:cNvPr id="26" name="Text 23"/>
          <p:cNvSpPr txBox="1"/>
          <p:nvPr/>
        </p:nvSpPr>
        <p:spPr>
          <a:xfrm>
            <a:off x="548640" y="5522976"/>
            <a:ext cx="11064240" cy="813816"/>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Sequencing, entry criteria, evidence, and ownership are the change-management plan.</a:t>
            </a:r>
            <a:endParaRPr lang="en-US" sz="1600" dirty="0"/>
          </a:p>
        </p:txBody>
      </p:sp>
      <p:sp>
        <p:nvSpPr>
          <p:cNvPr id="28" name="Slide Number Placeholder"/>
          <p:cNvSpPr>
            <a:spLocks noGrp="1"/>
          </p:cNvSpPr>
          <p:nvPr>
            <p:ph type="sldNum" sz="quarter" idx="10"/>
          </p:nvPr>
        </p:nvSpPr>
        <p:spPr/>
        <p:txBody>
          <a:bodyPr/>
          <a:lstStyle/>
          <a:p>
            <a:fld id="{BCB632DE-6AD4-40F1-944C-28C0E9BF62DC}" type="slidenum">
              <a:rPr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ag-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Don’t Judge on Sticker Price Alone</a:t>
            </a:r>
            <a:endParaRPr lang="en-US" sz="3200" dirty="0"/>
          </a:p>
        </p:txBody>
      </p:sp>
      <p:sp>
        <p:nvSpPr>
          <p:cNvPr id="6" name="Shape 3"/>
          <p:cNvSpPr/>
          <p:nvPr/>
        </p:nvSpPr>
        <p:spPr>
          <a:xfrm>
            <a:off x="548640" y="1645920"/>
            <a:ext cx="11064240" cy="2743200"/>
          </a:xfrm>
          <a:prstGeom prst="roundRect">
            <a:avLst>
              <a:gd name="adj" fmla="val 4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10515600" cy="2377440"/>
          </a:xfrm>
          <a:prstGeom prst="rect">
            <a:avLst/>
          </a:prstGeom>
          <a:noFill/>
          <a:ln/>
        </p:spPr>
        <p:txBody>
          <a:bodyPr wrap="square" lIns="0" tIns="0" rIns="0" bIns="0" rtlCol="0" anchor="ctr"/>
          <a:lstStyle/>
          <a:p>
            <a:pPr marL="0" indent="0">
              <a:lnSpc>
                <a:spcPct val="125000"/>
              </a:lnSpc>
              <a:buNone/>
            </a:pPr>
            <a:r>
              <a:rPr lang="en-US" sz="1900" b="1" dirty="0">
                <a:solidFill>
                  <a:srgbClr val="2B2B2B"/>
                </a:solidFill>
                <a:latin typeface="Calibri" pitchFamily="34" charset="0"/>
                <a:ea typeface="Calibri" pitchFamily="34" charset="-122"/>
                <a:cs typeface="Calibri" pitchFamily="34" charset="-120"/>
              </a:rPr>
              <a:t>Compare the whole bill, not the license line: </a:t>
            </a:r>
            <a:r>
              <a:rPr lang="en-US" sz="1900" dirty="0">
                <a:solidFill>
                  <a:srgbClr val="2B2B2B"/>
                </a:solidFill>
                <a:latin typeface="Calibri" pitchFamily="34" charset="0"/>
                <a:ea typeface="Calibri" pitchFamily="34" charset="-122"/>
                <a:cs typeface="Calibri" pitchFamily="34" charset="-120"/>
              </a:rPr>
              <a:t>licensing tiers, GitHub Secret Protection and Code Security as add-ons, runner and compute minutes, and the admin and migration effort it actually takes to get there.</a:t>
            </a:r>
            <a:endParaRPr lang="en-US" sz="1900" dirty="0"/>
          </a:p>
        </p:txBody>
      </p:sp>
      <p:sp>
        <p:nvSpPr>
          <p:cNvPr id="8" name="Shape 5"/>
          <p:cNvSpPr/>
          <p:nvPr/>
        </p:nvSpPr>
        <p:spPr>
          <a:xfrm>
            <a:off x="548640" y="4526280"/>
            <a:ext cx="11064240" cy="86868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526280"/>
            <a:ext cx="11064240" cy="868680"/>
          </a:xfrm>
          <a:prstGeom prst="rect">
            <a:avLst/>
          </a:prstGeom>
          <a:noFill/>
          <a:ln/>
        </p:spPr>
        <p:txBody>
          <a:bodyPr wrap="square" lIns="256032" tIns="54864" rIns="256032" bIns="54864" rtlCol="0" anchor="ctr"/>
          <a:lstStyle/>
          <a:p>
            <a:pPr marL="0" indent="0" algn="l">
              <a:lnSpc>
                <a:spcPct val="115000"/>
              </a:lnSpc>
              <a:buNone/>
            </a:pPr>
            <a:r>
              <a:rPr sz="1250" b="1" spc="120">
                <a:solidFill>
                  <a:srgbClr val="C1440E"/>
                </a:solidFill>
                <a:latin typeface="Calibri"/>
              </a:rPr>
              <a:t>CAVEAT </a:t>
            </a:r>
            <a:r>
              <a:rPr sz="1500" b="0">
                <a:solidFill>
                  <a:srgbClr val="2B2B2B"/>
                </a:solidFill>
                <a:latin typeface="Calibri"/>
              </a:rPr>
              <a:t>Price the migration and the steady state separately, and count the months when both platforms are billing at once.</a:t>
            </a:r>
            <a:endParaRPr lang="en-US" sz="1500" dirty="0"/>
          </a:p>
        </p:txBody>
      </p:sp>
      <p:sp>
        <p:nvSpPr>
          <p:cNvPr id="10" name="Slide Number Placeholder"/>
          <p:cNvSpPr>
            <a:spLocks noGrp="1"/>
          </p:cNvSpPr>
          <p:nvPr>
            <p:ph type="sldNum" sz="quarter" idx="10"/>
          </p:nvPr>
        </p:nvSpPr>
        <p:spPr/>
        <p:txBody>
          <a:bodyPr/>
          <a:lstStyle/>
          <a:p>
            <a:fld id="{BCB632DE-6AD4-40F1-944C-28C0E9BF62DC}" type="slidenum">
              <a:rPr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bo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What Actually Gates the AI Payoff</a:t>
            </a:r>
            <a:endParaRPr lang="en-US" sz="3200" dirty="0"/>
          </a:p>
        </p:txBody>
      </p:sp>
      <p:sp>
        <p:nvSpPr>
          <p:cNvPr id="6" name="Shape 3"/>
          <p:cNvSpPr/>
          <p:nvPr/>
        </p:nvSpPr>
        <p:spPr>
          <a:xfrm>
            <a:off x="548640" y="1737360"/>
            <a:ext cx="11064240" cy="2743200"/>
          </a:xfrm>
          <a:prstGeom prst="roundRect">
            <a:avLst>
              <a:gd name="adj" fmla="val 4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920240"/>
            <a:ext cx="10515600" cy="2377440"/>
          </a:xfrm>
          <a:prstGeom prst="rect">
            <a:avLst/>
          </a:prstGeom>
          <a:noFill/>
          <a:ln/>
        </p:spPr>
        <p:txBody>
          <a:bodyPr wrap="square" lIns="0" tIns="0" rIns="0" bIns="0" rtlCol="0" anchor="ctr"/>
          <a:lstStyle/>
          <a:p>
            <a:pPr marL="0" indent="0">
              <a:lnSpc>
                <a:spcPct val="130000"/>
              </a:lnSpc>
              <a:buNone/>
            </a:pPr>
            <a:r>
              <a:rPr sz="1800" b="1" dirty="0">
                <a:solidFill>
                  <a:srgbClr val="2B2B2B"/>
                </a:solidFill>
                <a:latin typeface="Calibri"/>
              </a:rPr>
              <a:t>Moving the code unlocks the tooling. Four other things decide whether it pays off.</a:t>
            </a:r>
            <a:endParaRPr lang="en-US" sz="2000" dirty="0"/>
          </a:p>
          <a:p>
            <a:pPr marL="285750" indent="-285750">
              <a:spcBef>
                <a:spcPts val="900"/>
              </a:spcBef>
              <a:spcAft>
                <a:spcPts val="800"/>
              </a:spcAft>
              <a:buFont typeface="Arial" panose="020B0604020202020204" pitchFamily="34" charset="0"/>
              <a:buChar char="•"/>
            </a:pPr>
            <a:r>
              <a:rPr sz="1550" b="0" dirty="0">
                <a:solidFill>
                  <a:srgbClr val="2B2B2B"/>
                </a:solidFill>
                <a:latin typeface="Calibri"/>
              </a:rPr>
              <a:t>Work items worth reading — from Azure Boards the agent captures the description, repro steps and last 50 comments. The work item is the prompt.</a:t>
            </a:r>
            <a:endParaRPr lang="en-US" sz="2000" dirty="0"/>
          </a:p>
          <a:p>
            <a:pPr marL="285750" indent="-285750">
              <a:spcBef>
                <a:spcPts val="500"/>
              </a:spcBef>
              <a:spcAft>
                <a:spcPts val="800"/>
              </a:spcAft>
              <a:buFont typeface="Arial" panose="020B0604020202020204" pitchFamily="34" charset="0"/>
              <a:buChar char="•"/>
            </a:pPr>
            <a:r>
              <a:rPr sz="1550" b="0" dirty="0">
                <a:solidFill>
                  <a:srgbClr val="2B2B2B"/>
                </a:solidFill>
                <a:latin typeface="Calibri"/>
              </a:rPr>
              <a:t>Conventions written down — copilot-instructions.md or AGENTS.md, or the agent guesses your house style.</a:t>
            </a:r>
            <a:endParaRPr lang="en-US" sz="2000" dirty="0"/>
          </a:p>
          <a:p>
            <a:pPr marL="285750" indent="-285750">
              <a:spcBef>
                <a:spcPts val="500"/>
              </a:spcBef>
              <a:spcAft>
                <a:spcPts val="800"/>
              </a:spcAft>
              <a:buFont typeface="Arial" panose="020B0604020202020204" pitchFamily="34" charset="0"/>
              <a:buChar char="•"/>
            </a:pPr>
            <a:r>
              <a:rPr sz="1550" b="0" dirty="0">
                <a:solidFill>
                  <a:srgbClr val="2B2B2B"/>
                </a:solidFill>
                <a:latin typeface="Calibri"/>
              </a:rPr>
              <a:t>Tests you would trust to gate a merge — otherwise agent output is capped by human review capacity.</a:t>
            </a:r>
            <a:endParaRPr lang="en-US" sz="2000" dirty="0"/>
          </a:p>
          <a:p>
            <a:pPr marL="285750" indent="-285750">
              <a:spcBef>
                <a:spcPts val="500"/>
              </a:spcBef>
              <a:spcAft>
                <a:spcPts val="800"/>
              </a:spcAft>
              <a:buFont typeface="Arial" panose="020B0604020202020204" pitchFamily="34" charset="0"/>
              <a:buChar char="•"/>
            </a:pPr>
            <a:r>
              <a:rPr sz="1550" b="0" dirty="0">
                <a:solidFill>
                  <a:srgbClr val="2B2B2B"/>
                </a:solidFill>
                <a:latin typeface="Calibri"/>
              </a:rPr>
              <a:t>Licenses and enablement — a paid Copilot plan, cloud agent enabled per repository, Boards app installed by an org owner.</a:t>
            </a:r>
            <a:endParaRPr lang="en-US" sz="2000" dirty="0"/>
          </a:p>
        </p:txBody>
      </p:sp>
      <p:sp>
        <p:nvSpPr>
          <p:cNvPr id="8" name="Shape 5"/>
          <p:cNvSpPr/>
          <p:nvPr/>
        </p:nvSpPr>
        <p:spPr>
          <a:xfrm>
            <a:off x="548640" y="5212079"/>
            <a:ext cx="11064240" cy="82296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5212079"/>
            <a:ext cx="11064240" cy="822960"/>
          </a:xfrm>
          <a:prstGeom prst="rect">
            <a:avLst/>
          </a:prstGeom>
          <a:noFill/>
          <a:ln/>
        </p:spPr>
        <p:txBody>
          <a:bodyPr wrap="square" lIns="256032" tIns="54864" rIns="256032" bIns="54864" rtlCol="0" anchor="ctr"/>
          <a:lstStyle/>
          <a:p>
            <a:pPr marL="0" indent="0" algn="l">
              <a:lnSpc>
                <a:spcPct val="115000"/>
              </a:lnSpc>
              <a:buNone/>
            </a:pPr>
            <a:r>
              <a:rPr sz="1250" b="1" spc="120" dirty="0">
                <a:solidFill>
                  <a:srgbClr val="E0B85C"/>
                </a:solidFill>
                <a:latin typeface="Calibri"/>
              </a:rPr>
              <a:t>TAKEAWAY </a:t>
            </a:r>
            <a:r>
              <a:rPr sz="1500" b="0" dirty="0">
                <a:solidFill>
                  <a:srgbClr val="F5F5F0"/>
                </a:solidFill>
                <a:latin typeface="Calibri"/>
              </a:rPr>
              <a:t>These are preconditions, not nice-to-haves. Budget for them before you promise anyone the AI payoff.</a:t>
            </a:r>
            <a:endParaRPr lang="en-US" sz="1600" dirty="0"/>
          </a:p>
        </p:txBody>
      </p:sp>
      <p:sp>
        <p:nvSpPr>
          <p:cNvPr id="10" name="Slide Number Placeholder"/>
          <p:cNvSpPr>
            <a:spLocks noGrp="1"/>
          </p:cNvSpPr>
          <p:nvPr>
            <p:ph type="sldNum" sz="quarter" idx="10"/>
          </p:nvPr>
        </p:nvSpPr>
        <p:spPr/>
        <p:txBody>
          <a:bodyPr/>
          <a:lstStyle/>
          <a:p>
            <a:fld id="{BCB632DE-6AD4-40F1-944C-28C0E9BF62DC}" type="slidenum">
              <a:rPr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alanceScal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Match the Tool to Context, Not the Trend</a:t>
            </a:r>
            <a:endParaRPr lang="en-US" sz="3200" dirty="0"/>
          </a:p>
        </p:txBody>
      </p:sp>
      <p:sp>
        <p:nvSpPr>
          <p:cNvPr id="6" name="Shape 3"/>
          <p:cNvSpPr/>
          <p:nvPr/>
        </p:nvSpPr>
        <p:spPr>
          <a:xfrm>
            <a:off x="548640" y="1691640"/>
            <a:ext cx="342900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777240" y="1874520"/>
            <a:ext cx="2971800" cy="77724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Startups &amp; 1–3 squads</a:t>
            </a:r>
            <a:endParaRPr lang="en-US" sz="1600" dirty="0"/>
          </a:p>
        </p:txBody>
      </p:sp>
      <p:sp>
        <p:nvSpPr>
          <p:cNvPr id="8" name="Text 5"/>
          <p:cNvSpPr txBox="1"/>
          <p:nvPr/>
        </p:nvSpPr>
        <p:spPr>
          <a:xfrm>
            <a:off x="777240" y="2697480"/>
            <a:ext cx="2971800" cy="1508760"/>
          </a:xfrm>
          <a:prstGeom prst="rect">
            <a:avLst/>
          </a:prstGeom>
          <a:noFill/>
          <a:ln/>
        </p:spPr>
        <p:txBody>
          <a:bodyPr wrap="square" lIns="0" tIns="0" rIns="0" bIns="0" rtlCol="0" anchor="ctr"/>
          <a:lstStyle/>
          <a:p>
            <a:pPr marL="0" indent="0">
              <a:lnSpc>
                <a:spcPct val="110000"/>
              </a:lnSpc>
              <a:buNone/>
            </a:pPr>
            <a:r>
              <a:rPr lang="en-US" sz="1350" dirty="0">
                <a:solidFill>
                  <a:srgbClr val="2B2B2B"/>
                </a:solidFill>
                <a:latin typeface="Calibri" pitchFamily="34" charset="0"/>
                <a:ea typeface="Calibri" pitchFamily="34" charset="-122"/>
                <a:cs typeface="Calibri" pitchFamily="34" charset="-120"/>
              </a:rPr>
              <a:t>GitHub Projects’ lightweight fit wins — no reason to carry enterprise overhead.</a:t>
            </a:r>
            <a:endParaRPr lang="en-US" sz="1350" dirty="0"/>
          </a:p>
        </p:txBody>
      </p:sp>
      <p:sp>
        <p:nvSpPr>
          <p:cNvPr id="9" name="Shape 6"/>
          <p:cNvSpPr/>
          <p:nvPr/>
        </p:nvSpPr>
        <p:spPr>
          <a:xfrm>
            <a:off x="4251960" y="1691640"/>
            <a:ext cx="342900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4480560" y="1874520"/>
            <a:ext cx="2971800" cy="77724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Scaled agile, regulated, multi-team</a:t>
            </a:r>
            <a:endParaRPr lang="en-US" sz="1600" dirty="0">
              <a:solidFill>
                <a:srgbClr val="1F3D2C"/>
              </a:solidFill>
            </a:endParaRPr>
          </a:p>
        </p:txBody>
      </p:sp>
      <p:sp>
        <p:nvSpPr>
          <p:cNvPr id="11" name="Text 8"/>
          <p:cNvSpPr txBox="1"/>
          <p:nvPr/>
        </p:nvSpPr>
        <p:spPr>
          <a:xfrm>
            <a:off x="4480560" y="2697480"/>
            <a:ext cx="2971800" cy="1508760"/>
          </a:xfrm>
          <a:prstGeom prst="rect">
            <a:avLst/>
          </a:prstGeom>
          <a:noFill/>
          <a:ln/>
        </p:spPr>
        <p:txBody>
          <a:bodyPr wrap="square" lIns="0" tIns="0" rIns="0" bIns="0" rtlCol="0" anchor="ctr"/>
          <a:lstStyle/>
          <a:p>
            <a:pPr marL="0" indent="0">
              <a:lnSpc>
                <a:spcPct val="110000"/>
              </a:lnSpc>
              <a:buNone/>
            </a:pPr>
            <a:r>
              <a:rPr lang="en-US" sz="1350" dirty="0">
                <a:solidFill>
                  <a:srgbClr val="373636"/>
                </a:solidFill>
                <a:latin typeface="Calibri" pitchFamily="34" charset="0"/>
                <a:ea typeface="Calibri" pitchFamily="34" charset="-122"/>
                <a:cs typeface="Calibri" pitchFamily="34" charset="-120"/>
              </a:rPr>
              <a:t>Azure Boards’ hierarchy and reporting earn their keep here.</a:t>
            </a:r>
            <a:endParaRPr lang="en-US" sz="1350" dirty="0">
              <a:solidFill>
                <a:srgbClr val="373636"/>
              </a:solidFill>
            </a:endParaRPr>
          </a:p>
        </p:txBody>
      </p:sp>
      <p:sp>
        <p:nvSpPr>
          <p:cNvPr id="12" name="Shape 9"/>
          <p:cNvSpPr/>
          <p:nvPr/>
        </p:nvSpPr>
        <p:spPr>
          <a:xfrm>
            <a:off x="7955280" y="1691640"/>
            <a:ext cx="342900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8183880" y="1874520"/>
            <a:ext cx="2971800" cy="77724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Mixed estates</a:t>
            </a:r>
            <a:endParaRPr lang="en-US" sz="1600" dirty="0"/>
          </a:p>
        </p:txBody>
      </p:sp>
      <p:sp>
        <p:nvSpPr>
          <p:cNvPr id="14" name="Text 11"/>
          <p:cNvSpPr txBox="1"/>
          <p:nvPr/>
        </p:nvSpPr>
        <p:spPr>
          <a:xfrm>
            <a:off x="8183880" y="2697480"/>
            <a:ext cx="2971800" cy="1508760"/>
          </a:xfrm>
          <a:prstGeom prst="rect">
            <a:avLst/>
          </a:prstGeom>
          <a:noFill/>
          <a:ln/>
        </p:spPr>
        <p:txBody>
          <a:bodyPr wrap="square" lIns="0" tIns="0" rIns="0" bIns="0" rtlCol="0" anchor="ctr"/>
          <a:lstStyle/>
          <a:p>
            <a:pPr marL="0" indent="0">
              <a:lnSpc>
                <a:spcPct val="110000"/>
              </a:lnSpc>
              <a:buNone/>
            </a:pPr>
            <a:r>
              <a:rPr lang="en-US" sz="1350" dirty="0">
                <a:solidFill>
                  <a:srgbClr val="2B2B2B"/>
                </a:solidFill>
                <a:latin typeface="Calibri" pitchFamily="34" charset="0"/>
                <a:ea typeface="Calibri" pitchFamily="34" charset="-122"/>
                <a:cs typeface="Calibri" pitchFamily="34" charset="-120"/>
              </a:rPr>
              <a:t>Hybrid, deliberately — a fit, not a compromise.</a:t>
            </a:r>
            <a:endParaRPr lang="en-US" sz="1350" dirty="0"/>
          </a:p>
        </p:txBody>
      </p:sp>
      <p:sp>
        <p:nvSpPr>
          <p:cNvPr id="15" name="Shape 12"/>
          <p:cNvSpPr/>
          <p:nvPr/>
        </p:nvSpPr>
        <p:spPr>
          <a:xfrm>
            <a:off x="548640" y="4952198"/>
            <a:ext cx="11064240" cy="895149"/>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6" name="Text 13"/>
          <p:cNvSpPr txBox="1"/>
          <p:nvPr/>
        </p:nvSpPr>
        <p:spPr>
          <a:xfrm>
            <a:off x="548640" y="4901665"/>
            <a:ext cx="11064240" cy="1032309"/>
          </a:xfrm>
          <a:prstGeom prst="rect">
            <a:avLst/>
          </a:prstGeom>
          <a:noFill/>
          <a:ln/>
        </p:spPr>
        <p:txBody>
          <a:bodyPr wrap="square" lIns="256032" tIns="54864" rIns="256032" bIns="54864" rtlCol="0" anchor="ctr"/>
          <a:lstStyle/>
          <a:p>
            <a:pPr marL="0" indent="0" algn="l">
              <a:lnSpc>
                <a:spcPct val="115000"/>
              </a:lnSpc>
              <a:buNone/>
            </a:pPr>
            <a:r>
              <a:rPr sz="1250" b="1" spc="120" dirty="0">
                <a:solidFill>
                  <a:srgbClr val="C1440E"/>
                </a:solidFill>
                <a:latin typeface="Calibri"/>
              </a:rPr>
              <a:t>ASIDE </a:t>
            </a:r>
            <a:r>
              <a:rPr sz="1500" b="0" dirty="0">
                <a:solidFill>
                  <a:srgbClr val="2B2B2B"/>
                </a:solidFill>
                <a:latin typeface="Calibri"/>
              </a:rPr>
              <a:t>The Senior Engineer guarding that ancient pipeline isn’t wrong to be cautious — they’re defending it with the wrong argument (“it’s always worked”) instead of the right one (“here’s what the audit says”).</a:t>
            </a:r>
            <a:endParaRPr lang="en-US" sz="1450" dirty="0"/>
          </a:p>
        </p:txBody>
      </p:sp>
      <p:sp>
        <p:nvSpPr>
          <p:cNvPr id="17" name="Slide Number Placeholder"/>
          <p:cNvSpPr>
            <a:spLocks noGrp="1"/>
          </p:cNvSpPr>
          <p:nvPr>
            <p:ph type="sldNum" sz="quarter" idx="10"/>
          </p:nvPr>
        </p:nvSpPr>
        <p:spPr/>
        <p:txBody>
          <a:bodyPr/>
          <a:lstStyle/>
          <a:p>
            <a:fld id="{BCB632DE-6AD4-40F1-944C-28C0E9BF62DC}" type="slidenum">
              <a:rPr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9">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E0B85C"/>
                </a:solidFill>
                <a:latin typeface="Calibri" pitchFamily="34" charset="0"/>
                <a:ea typeface="Calibri" pitchFamily="34" charset="-122"/>
                <a:cs typeface="Calibri" pitchFamily="34" charset="-120"/>
              </a:rPr>
              <a:t>One quick question before we leave Section 5 — The Senior Engineer Defends an Ancient Pipeline</a:t>
            </a:r>
            <a:endParaRPr lang="en-US" sz="1900" dirty="0"/>
          </a:p>
        </p:txBody>
      </p:sp>
      <p:sp>
        <p:nvSpPr>
          <p:cNvPr id="4" name="Slide Number Placeholder"/>
          <p:cNvSpPr>
            <a:spLocks noGrp="1"/>
          </p:cNvSpPr>
          <p:nvPr>
            <p:ph type="sldNum" sz="quarter" idx="10"/>
          </p:nvPr>
        </p:nvSpPr>
        <p:spPr/>
        <p:txBody>
          <a:bodyPr/>
          <a:lstStyle/>
          <a:p>
            <a:fld id="{BCB632DE-6AD4-40F1-944C-28C0E9BF62DC}" type="slidenum">
              <a:rPr lang="en-US">
                <a:solidFill>
                  <a:srgbClr val="E0B85C"/>
                </a:solidFill>
              </a:rPr>
              <a:t>44</a:t>
            </a:fld>
            <a:endParaRPr lang="en-US">
              <a:solidFill>
                <a:srgbClr val="E0B85C"/>
              </a:solidFil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50">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6</a:t>
            </a:r>
            <a:endParaRPr lang="en-US" sz="1700" dirty="0"/>
          </a:p>
        </p:txBody>
      </p:sp>
      <p:pic>
        <p:nvPicPr>
          <p:cNvPr id="4" name="Image 0" descr="/home/claude/pptx-build/assets/icons/FaWater-8C6A3F-300.png"/>
          <p:cNvPicPr>
            <a:picLocks noChangeAspect="1"/>
          </p:cNvPicPr>
          <p:nvPr/>
        </p:nvPicPr>
        <p:blipFill>
          <a:blip r:embed="rId3">
            <a:alphaModFix amt="85000"/>
          </a:blip>
          <a:stretch>
            <a:fillRect/>
          </a:stretch>
        </p:blipFill>
        <p:spPr>
          <a:xfrm>
            <a:off x="10154652"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The Watering Hole Nobody Told to Move</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E0B85C"/>
                </a:solidFill>
                <a:latin typeface="Calibri" pitchFamily="34" charset="0"/>
                <a:ea typeface="Calibri" pitchFamily="34" charset="-122"/>
                <a:cs typeface="Calibri" pitchFamily="34" charset="-120"/>
              </a:rPr>
              <a:t>Every migration leaves a watering hole behind — the place everything used to gather. Some animals find the new one. Some keep showing up at the old one out of habit, confused it went dry.</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45</a:t>
            </a:fld>
            <a:endParaRPr lang="en-US">
              <a:solidFill>
                <a:srgbClr val="E0B85C"/>
              </a:solidFil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Long Tail: Hardcoded Azure DevOps URLs</a:t>
            </a:r>
            <a:endParaRPr lang="en-US" sz="3200" dirty="0"/>
          </a:p>
        </p:txBody>
      </p:sp>
      <p:sp>
        <p:nvSpPr>
          <p:cNvPr id="6" name="Shape 3"/>
          <p:cNvSpPr/>
          <p:nvPr/>
        </p:nvSpPr>
        <p:spPr>
          <a:xfrm>
            <a:off x="548640" y="1417320"/>
            <a:ext cx="11064240" cy="996696"/>
          </a:xfrm>
          <a:prstGeom prst="roundRect">
            <a:avLst>
              <a:gd name="adj" fmla="val 7742"/>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68680" y="1600200"/>
            <a:ext cx="10424160" cy="1051560"/>
          </a:xfrm>
          <a:prstGeom prst="rect">
            <a:avLst/>
          </a:prstGeom>
          <a:noFill/>
          <a:ln/>
        </p:spPr>
        <p:txBody>
          <a:bodyPr wrap="square" lIns="0" tIns="0" rIns="0" bIns="0" rtlCol="0" anchor="t"/>
          <a:lstStyle/>
          <a:p>
            <a:pPr marL="0" indent="0">
              <a:buNone/>
            </a:pPr>
            <a:r>
              <a:rPr lang="en-US" sz="1800" b="1" dirty="0">
                <a:solidFill>
                  <a:srgbClr val="2B2B2B"/>
                </a:solidFill>
                <a:latin typeface="Calibri" pitchFamily="34" charset="0"/>
                <a:ea typeface="Calibri" pitchFamily="34" charset="-122"/>
                <a:cs typeface="Calibri" pitchFamily="34" charset="-120"/>
              </a:rPr>
              <a:t>The single most reliable source of post-migration tickets. </a:t>
            </a:r>
            <a:r>
              <a:rPr lang="en-US" sz="1800" dirty="0">
                <a:solidFill>
                  <a:srgbClr val="2B2B2B"/>
                </a:solidFill>
                <a:latin typeface="Calibri" pitchFamily="34" charset="0"/>
                <a:ea typeface="Calibri" pitchFamily="34" charset="-122"/>
                <a:cs typeface="Calibri" pitchFamily="34" charset="-120"/>
              </a:rPr>
              <a:t>Not the migration itself — the references to it, buried everywhere nobody thought to look.</a:t>
            </a:r>
            <a:endParaRPr lang="en-US" sz="1800" dirty="0"/>
          </a:p>
        </p:txBody>
      </p:sp>
      <p:sp>
        <p:nvSpPr>
          <p:cNvPr id="8" name="Shape 5"/>
          <p:cNvSpPr/>
          <p:nvPr/>
        </p:nvSpPr>
        <p:spPr>
          <a:xfrm>
            <a:off x="548640" y="2595492"/>
            <a:ext cx="11064240" cy="621792"/>
          </a:xfrm>
          <a:prstGeom prst="roundRect">
            <a:avLst>
              <a:gd name="adj" fmla="val 14706"/>
            </a:avLst>
          </a:prstGeom>
          <a:solidFill>
            <a:srgbClr val="1F3D2C"/>
          </a:solidFill>
          <a:ln/>
        </p:spPr>
        <p:txBody>
          <a:bodyPr/>
          <a:lstStyle/>
          <a:p>
            <a:endParaRPr lang="en-US"/>
          </a:p>
        </p:txBody>
      </p:sp>
      <p:sp>
        <p:nvSpPr>
          <p:cNvPr id="9" name="Text 6"/>
          <p:cNvSpPr txBox="1"/>
          <p:nvPr/>
        </p:nvSpPr>
        <p:spPr>
          <a:xfrm>
            <a:off x="868680" y="259549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Build &amp; release pipeline YAML — service connections, task inputs, artifact feed URLs</a:t>
            </a:r>
            <a:endParaRPr lang="en-US" sz="1600" dirty="0"/>
          </a:p>
        </p:txBody>
      </p:sp>
      <p:sp>
        <p:nvSpPr>
          <p:cNvPr id="10" name="Shape 7"/>
          <p:cNvSpPr/>
          <p:nvPr/>
        </p:nvSpPr>
        <p:spPr>
          <a:xfrm>
            <a:off x="548640" y="3327012"/>
            <a:ext cx="11064240" cy="621792"/>
          </a:xfrm>
          <a:prstGeom prst="roundRect">
            <a:avLst>
              <a:gd name="adj" fmla="val 14706"/>
            </a:avLst>
          </a:prstGeom>
          <a:solidFill>
            <a:srgbClr val="1F3D2C"/>
          </a:solidFill>
          <a:ln/>
        </p:spPr>
        <p:txBody>
          <a:bodyPr/>
          <a:lstStyle/>
          <a:p>
            <a:endParaRPr lang="en-US"/>
          </a:p>
        </p:txBody>
      </p:sp>
      <p:sp>
        <p:nvSpPr>
          <p:cNvPr id="11" name="Text 8"/>
          <p:cNvSpPr txBox="1"/>
          <p:nvPr/>
        </p:nvSpPr>
        <p:spPr>
          <a:xfrm>
            <a:off x="868680" y="332701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Infrastructure-as-code — Terraform/Bicep referencing an Azure DevOps repo or feed</a:t>
            </a:r>
            <a:endParaRPr lang="en-US" sz="1600" dirty="0"/>
          </a:p>
        </p:txBody>
      </p:sp>
      <p:sp>
        <p:nvSpPr>
          <p:cNvPr id="12" name="Shape 9"/>
          <p:cNvSpPr/>
          <p:nvPr/>
        </p:nvSpPr>
        <p:spPr>
          <a:xfrm>
            <a:off x="548640" y="4058532"/>
            <a:ext cx="11064240" cy="621792"/>
          </a:xfrm>
          <a:prstGeom prst="roundRect">
            <a:avLst>
              <a:gd name="adj" fmla="val 14706"/>
            </a:avLst>
          </a:prstGeom>
          <a:solidFill>
            <a:srgbClr val="1F3D2C"/>
          </a:solidFill>
          <a:ln/>
        </p:spPr>
        <p:txBody>
          <a:bodyPr/>
          <a:lstStyle/>
          <a:p>
            <a:endParaRPr lang="en-US"/>
          </a:p>
        </p:txBody>
      </p:sp>
      <p:sp>
        <p:nvSpPr>
          <p:cNvPr id="13" name="Text 10"/>
          <p:cNvSpPr txBox="1"/>
          <p:nvPr/>
        </p:nvSpPr>
        <p:spPr>
          <a:xfrm>
            <a:off x="868680" y="405853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READMEs, bookmarks, wikis, onboarding docs — "clone from dev.azure.com/..."</a:t>
            </a:r>
            <a:endParaRPr lang="en-US" sz="1600" dirty="0"/>
          </a:p>
        </p:txBody>
      </p:sp>
      <p:sp>
        <p:nvSpPr>
          <p:cNvPr id="14" name="Shape 11"/>
          <p:cNvSpPr/>
          <p:nvPr/>
        </p:nvSpPr>
        <p:spPr>
          <a:xfrm>
            <a:off x="548640" y="4790052"/>
            <a:ext cx="11064240" cy="621792"/>
          </a:xfrm>
          <a:prstGeom prst="roundRect">
            <a:avLst>
              <a:gd name="adj" fmla="val 14706"/>
            </a:avLst>
          </a:prstGeom>
          <a:solidFill>
            <a:srgbClr val="1F3D2C"/>
          </a:solidFill>
          <a:ln/>
        </p:spPr>
        <p:txBody>
          <a:bodyPr/>
          <a:lstStyle/>
          <a:p>
            <a:endParaRPr lang="en-US"/>
          </a:p>
        </p:txBody>
      </p:sp>
      <p:sp>
        <p:nvSpPr>
          <p:cNvPr id="15" name="Text 12"/>
          <p:cNvSpPr txBox="1"/>
          <p:nvPr/>
        </p:nvSpPr>
        <p:spPr>
          <a:xfrm>
            <a:off x="868680" y="479005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Forgotten internal tools — the one script three people know exists</a:t>
            </a:r>
            <a:endParaRPr lang="en-US" sz="1600" dirty="0"/>
          </a:p>
        </p:txBody>
      </p:sp>
      <p:sp>
        <p:nvSpPr>
          <p:cNvPr id="16" name="Text 13"/>
          <p:cNvSpPr txBox="1"/>
          <p:nvPr/>
        </p:nvSpPr>
        <p:spPr>
          <a:xfrm>
            <a:off x="548640" y="6172200"/>
            <a:ext cx="11064240" cy="502920"/>
          </a:xfrm>
          <a:prstGeom prst="rect">
            <a:avLst/>
          </a:prstGeom>
          <a:noFill/>
          <a:ln/>
        </p:spPr>
        <p:txBody>
          <a:bodyPr wrap="square" lIns="0" tIns="0" rIns="0" bIns="0" rtlCol="0" anchor="ctr"/>
          <a:lstStyle/>
          <a:p>
            <a:pPr marL="0" indent="0">
              <a:buNone/>
            </a:pPr>
            <a:r>
              <a:rPr sz="1250" b="1" spc="120">
                <a:solidFill>
                  <a:srgbClr val="C1440E"/>
                </a:solidFill>
                <a:latin typeface="Calibri"/>
              </a:rPr>
              <a:t>DO THIS </a:t>
            </a:r>
            <a:r>
              <a:rPr sz="1300">
                <a:solidFill>
                  <a:srgbClr val="2B2B2B"/>
                </a:solidFill>
                <a:latin typeface="Calibri"/>
              </a:rPr>
              <a:t>Budget a real sweep before cutover — then a second one a month later, once the things that only run monthly have had a chance to fail.</a:t>
            </a:r>
            <a:endParaRPr lang="en-US" sz="1500" dirty="0"/>
          </a:p>
        </p:txBody>
      </p:sp>
      <p:sp>
        <p:nvSpPr>
          <p:cNvPr id="19" name="Shape 11">
            <a:extLst>
              <a:ext uri="{FF2B5EF4-FFF2-40B4-BE49-F238E27FC236}">
                <a16:creationId xmlns:a16="http://schemas.microsoft.com/office/drawing/2014/main" id="{43EFC940-AD93-832E-323E-B207986FF96F}"/>
              </a:ext>
            </a:extLst>
          </p:cNvPr>
          <p:cNvSpPr/>
          <p:nvPr/>
        </p:nvSpPr>
        <p:spPr>
          <a:xfrm>
            <a:off x="548640" y="5521572"/>
            <a:ext cx="11064240" cy="621792"/>
          </a:xfrm>
          <a:prstGeom prst="roundRect">
            <a:avLst>
              <a:gd name="adj" fmla="val 14706"/>
            </a:avLst>
          </a:prstGeom>
          <a:solidFill>
            <a:srgbClr val="1F3D2C"/>
          </a:solidFill>
          <a:ln/>
        </p:spPr>
        <p:txBody>
          <a:bodyPr/>
          <a:lstStyle/>
          <a:p>
            <a:endParaRPr lang="en-US"/>
          </a:p>
        </p:txBody>
      </p:sp>
      <p:sp>
        <p:nvSpPr>
          <p:cNvPr id="21" name="Text 12">
            <a:extLst>
              <a:ext uri="{FF2B5EF4-FFF2-40B4-BE49-F238E27FC236}">
                <a16:creationId xmlns:a16="http://schemas.microsoft.com/office/drawing/2014/main" id="{F848DF5D-8B12-CF1E-580B-ED55723015C5}"/>
              </a:ext>
            </a:extLst>
          </p:cNvPr>
          <p:cNvSpPr txBox="1"/>
          <p:nvPr/>
        </p:nvSpPr>
        <p:spPr>
          <a:xfrm>
            <a:off x="868680" y="552157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Local repo remote URLs — everyone’s got a repo copy, someone will forget to update it</a:t>
            </a:r>
            <a:endParaRPr lang="en-US" sz="1600" dirty="0"/>
          </a:p>
        </p:txBody>
      </p:sp>
      <p:sp>
        <p:nvSpPr>
          <p:cNvPr id="22" name="Slide Number Placeholder"/>
          <p:cNvSpPr>
            <a:spLocks noGrp="1"/>
          </p:cNvSpPr>
          <p:nvPr>
            <p:ph type="sldNum" sz="quarter" idx="10"/>
          </p:nvPr>
        </p:nvSpPr>
        <p:spPr/>
        <p:txBody>
          <a:bodyPr/>
          <a:lstStyle/>
          <a:p>
            <a:fld id="{BCB632DE-6AD4-40F1-944C-28C0E9BF62DC}" type="slidenum">
              <a:rPr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UserSecre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Mannequins Nobody Claimed</a:t>
            </a:r>
            <a:endParaRPr lang="en-US" sz="3200" dirty="0"/>
          </a:p>
        </p:txBody>
      </p:sp>
      <p:sp>
        <p:nvSpPr>
          <p:cNvPr id="6" name="Shape 3"/>
          <p:cNvSpPr/>
          <p:nvPr/>
        </p:nvSpPr>
        <p:spPr>
          <a:xfrm>
            <a:off x="548640" y="1792702"/>
            <a:ext cx="11064240" cy="1097280"/>
          </a:xfrm>
          <a:prstGeom prst="roundRect">
            <a:avLst>
              <a:gd name="adj" fmla="val 685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68680" y="1948150"/>
            <a:ext cx="10424160" cy="822960"/>
          </a:xfrm>
          <a:prstGeom prst="rect">
            <a:avLst/>
          </a:prstGeom>
          <a:noFill/>
          <a:ln/>
        </p:spPr>
        <p:txBody>
          <a:bodyPr wrap="square" lIns="0" tIns="0" rIns="0" bIns="0" rtlCol="0" anchor="t"/>
          <a:lstStyle/>
          <a:p>
            <a:pPr marL="0" indent="0">
              <a:buNone/>
            </a:pPr>
            <a:r>
              <a:rPr lang="en-US" sz="1800" b="1" dirty="0">
                <a:solidFill>
                  <a:srgbClr val="2B2B2B"/>
                </a:solidFill>
                <a:latin typeface="Calibri" pitchFamily="34" charset="0"/>
                <a:ea typeface="Calibri" pitchFamily="34" charset="-122"/>
                <a:cs typeface="Calibri" pitchFamily="34" charset="-120"/>
              </a:rPr>
              <a:t>Every Azure DevOps user becomes a mannequin at migration time — </a:t>
            </a:r>
            <a:r>
              <a:rPr lang="en-US" sz="1800" dirty="0">
                <a:solidFill>
                  <a:srgbClr val="2B2B2B"/>
                </a:solidFill>
                <a:latin typeface="Calibri" pitchFamily="34" charset="0"/>
                <a:ea typeface="Calibri" pitchFamily="34" charset="-122"/>
                <a:cs typeface="Calibri" pitchFamily="34" charset="-120"/>
              </a:rPr>
              <a:t>a placeholder account standing in for a real person until someone claims it.</a:t>
            </a:r>
            <a:endParaRPr lang="en-US" sz="1800" dirty="0"/>
          </a:p>
        </p:txBody>
      </p:sp>
      <p:sp>
        <p:nvSpPr>
          <p:cNvPr id="8" name="Shape 5"/>
          <p:cNvSpPr/>
          <p:nvPr/>
        </p:nvSpPr>
        <p:spPr>
          <a:xfrm>
            <a:off x="548640" y="3072862"/>
            <a:ext cx="11064240" cy="1280160"/>
          </a:xfrm>
          <a:prstGeom prst="roundRect">
            <a:avLst>
              <a:gd name="adj" fmla="val 6486"/>
            </a:avLst>
          </a:prstGeom>
          <a:solidFill>
            <a:srgbClr val="8C6A3F"/>
          </a:solidFill>
          <a:ln/>
        </p:spPr>
        <p:txBody>
          <a:bodyPr/>
          <a:lstStyle/>
          <a:p>
            <a:endParaRPr lang="en-US"/>
          </a:p>
        </p:txBody>
      </p:sp>
      <p:sp>
        <p:nvSpPr>
          <p:cNvPr id="9" name="Text 6"/>
          <p:cNvSpPr txBox="1"/>
          <p:nvPr/>
        </p:nvSpPr>
        <p:spPr>
          <a:xfrm>
            <a:off x="868680" y="3237454"/>
            <a:ext cx="10424160" cy="960120"/>
          </a:xfrm>
          <a:prstGeom prst="rect">
            <a:avLst/>
          </a:prstGeom>
          <a:noFill/>
          <a:ln/>
        </p:spPr>
        <p:txBody>
          <a:bodyPr wrap="square" lIns="0" tIns="0" rIns="0" bIns="0" rtlCol="0" anchor="t"/>
          <a:lstStyle/>
          <a:p>
            <a:pPr marL="0" indent="0">
              <a:buNone/>
            </a:pPr>
            <a:r>
              <a:rPr lang="en-US" sz="1700" dirty="0">
                <a:solidFill>
                  <a:srgbClr val="FFFFFF"/>
                </a:solidFill>
                <a:latin typeface="Calibri" pitchFamily="34" charset="0"/>
                <a:ea typeface="Calibri" pitchFamily="34" charset="-122"/>
                <a:cs typeface="Calibri" pitchFamily="34" charset="-120"/>
              </a:rPr>
              <a:t>Everything except Git commits — pull-request authorship, comments and reviews — stays on the mannequin until it is reclaimed. An organization owner sends the attribution invitation, but nothing is reattributed until the person accepts it.</a:t>
            </a:r>
          </a:p>
        </p:txBody>
      </p:sp>
      <p:sp>
        <p:nvSpPr>
          <p:cNvPr id="13" name="Rounded Rectangle 12"/>
          <p:cNvSpPr/>
          <p:nvPr/>
        </p:nvSpPr>
        <p:spPr>
          <a:xfrm>
            <a:off x="548640" y="4535902"/>
            <a:ext cx="11064240" cy="859536"/>
          </a:xfrm>
          <a:prstGeom prst="roundRect">
            <a:avLst>
              <a:gd name="adj" fmla="val 12632"/>
            </a:avLst>
          </a:prstGeom>
          <a:solidFill>
            <a:srgbClr val="1F3D2C"/>
          </a:solidFill>
          <a:ln>
            <a:noFill/>
          </a:ln>
          <a:effectLst/>
        </p:spPr>
        <p:txBody>
          <a:bodyPr rtlCol="0" anchor="ctr"/>
          <a:lstStyle/>
          <a:p>
            <a:pPr algn="ctr"/>
            <a:endParaRPr/>
          </a:p>
        </p:txBody>
      </p:sp>
      <p:sp>
        <p:nvSpPr>
          <p:cNvPr id="10" name="Text 7"/>
          <p:cNvSpPr txBox="1"/>
          <p:nvPr/>
        </p:nvSpPr>
        <p:spPr>
          <a:xfrm>
            <a:off x="548640" y="4535902"/>
            <a:ext cx="11064240" cy="859536"/>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The fix isn’t clever: plan the identity mapping before migration, not after. Remapping later is the harder path.</a:t>
            </a:r>
            <a:endParaRPr lang="en-US" sz="1600" dirty="0"/>
          </a:p>
        </p:txBody>
      </p:sp>
      <p:sp>
        <p:nvSpPr>
          <p:cNvPr id="11" name="Shape 8"/>
          <p:cNvSpPr/>
          <p:nvPr/>
        </p:nvSpPr>
        <p:spPr>
          <a:xfrm>
            <a:off x="563880" y="5897880"/>
            <a:ext cx="11064240" cy="0"/>
          </a:xfrm>
          <a:prstGeom prst="line">
            <a:avLst/>
          </a:prstGeom>
          <a:noFill/>
          <a:ln w="9525">
            <a:solidFill>
              <a:srgbClr val="DDD8CC"/>
            </a:solidFill>
            <a:prstDash val="dash"/>
          </a:ln>
        </p:spPr>
        <p:txBody>
          <a:bodyPr/>
          <a:lstStyle/>
          <a:p>
            <a:endParaRPr lang="en-US"/>
          </a:p>
        </p:txBody>
      </p:sp>
      <p:sp>
        <p:nvSpPr>
          <p:cNvPr id="12" name="Text 9"/>
          <p:cNvSpPr txBox="1"/>
          <p:nvPr/>
        </p:nvSpPr>
        <p:spPr>
          <a:xfrm>
            <a:off x="563880" y="6007608"/>
            <a:ext cx="11064240" cy="640080"/>
          </a:xfrm>
          <a:prstGeom prst="rect">
            <a:avLst/>
          </a:prstGeom>
          <a:noFill/>
          <a:ln/>
        </p:spPr>
        <p:txBody>
          <a:bodyPr wrap="square" lIns="0" tIns="0" rIns="0" bIns="0" rtlCol="0" anchor="ctr"/>
          <a:lstStyle/>
          <a:p>
            <a:pPr marL="0" indent="0">
              <a:buNone/>
            </a:pPr>
            <a:r>
              <a:rPr lang="en-US" sz="1300" i="1" dirty="0">
                <a:solidFill>
                  <a:srgbClr val="6B6B63"/>
                </a:solidFill>
                <a:latin typeface="Calibri" pitchFamily="34" charset="0"/>
                <a:ea typeface="Calibri" pitchFamily="34" charset="-122"/>
                <a:cs typeface="Calibri" pitchFamily="34" charset="-120"/>
              </a:rPr>
              <a:t>DOCUMENTARY ASIDE — a herd of placeholder accounts, grazing quietly in the repo’s activity feed at this section’s watering hole, waiting for someone to notice they’re there.</a:t>
            </a:r>
            <a:endParaRPr lang="en-US" sz="1300" dirty="0"/>
          </a:p>
        </p:txBody>
      </p:sp>
      <p:sp>
        <p:nvSpPr>
          <p:cNvPr id="14" name="Slide Number Placeholder"/>
          <p:cNvSpPr>
            <a:spLocks noGrp="1"/>
          </p:cNvSpPr>
          <p:nvPr>
            <p:ph type="sldNum" sz="quarter" idx="10"/>
          </p:nvPr>
        </p:nvSpPr>
        <p:spPr/>
        <p:txBody>
          <a:bodyPr/>
          <a:lstStyle/>
          <a:p>
            <a:fld id="{BCB632DE-6AD4-40F1-944C-28C0E9BF62DC}" type="slidenum">
              <a:rPr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stAl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Takeaways Recap</a:t>
            </a:r>
            <a:endParaRPr lang="en-US" sz="3200" dirty="0"/>
          </a:p>
        </p:txBody>
      </p:sp>
      <p:sp>
        <p:nvSpPr>
          <p:cNvPr id="6" name="Shape 3"/>
          <p:cNvSpPr/>
          <p:nvPr/>
        </p:nvSpPr>
        <p:spPr>
          <a:xfrm>
            <a:off x="548640" y="1417320"/>
            <a:ext cx="11064240" cy="685800"/>
          </a:xfrm>
          <a:prstGeom prst="roundRect">
            <a:avLst>
              <a:gd name="adj" fmla="val 10667"/>
            </a:avLst>
          </a:prstGeom>
          <a:solidFill>
            <a:srgbClr val="F7F6F2"/>
          </a:solidFill>
          <a:ln w="9525">
            <a:solidFill>
              <a:srgbClr val="DDD8CC"/>
            </a:solidFill>
            <a:prstDash val="solid"/>
          </a:ln>
        </p:spPr>
        <p:txBody>
          <a:bodyPr/>
          <a:lstStyle/>
          <a:p>
            <a:endParaRPr lang="en-US"/>
          </a:p>
        </p:txBody>
      </p:sp>
      <p:sp>
        <p:nvSpPr>
          <p:cNvPr id="7" name="Shape 4"/>
          <p:cNvSpPr/>
          <p:nvPr/>
        </p:nvSpPr>
        <p:spPr>
          <a:xfrm>
            <a:off x="777240" y="1559052"/>
            <a:ext cx="402336" cy="402336"/>
          </a:xfrm>
          <a:prstGeom prst="ellipse">
            <a:avLst/>
          </a:prstGeom>
          <a:solidFill>
            <a:srgbClr val="C1440E"/>
          </a:solidFill>
          <a:ln/>
        </p:spPr>
        <p:txBody>
          <a:bodyPr/>
          <a:lstStyle/>
          <a:p>
            <a:endParaRPr lang="en-US"/>
          </a:p>
        </p:txBody>
      </p:sp>
      <p:sp>
        <p:nvSpPr>
          <p:cNvPr id="8" name="Text 5"/>
          <p:cNvSpPr txBox="1"/>
          <p:nvPr/>
        </p:nvSpPr>
        <p:spPr>
          <a:xfrm>
            <a:off x="777240" y="155905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9" name="Text 6"/>
          <p:cNvSpPr txBox="1"/>
          <p:nvPr/>
        </p:nvSpPr>
        <p:spPr>
          <a:xfrm>
            <a:off x="1417320" y="141732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Why teams migrate</a:t>
            </a:r>
            <a:endParaRPr lang="en-US" sz="1450" dirty="0"/>
          </a:p>
        </p:txBody>
      </p:sp>
      <p:sp>
        <p:nvSpPr>
          <p:cNvPr id="10" name="Text 7"/>
          <p:cNvSpPr txBox="1"/>
          <p:nvPr/>
        </p:nvSpPr>
        <p:spPr>
          <a:xfrm>
            <a:off x="4800600" y="141732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AI is one of the real reasons — but it needs structured work items to pay off.</a:t>
            </a:r>
            <a:endParaRPr lang="en-US" sz="1350" dirty="0"/>
          </a:p>
        </p:txBody>
      </p:sp>
      <p:sp>
        <p:nvSpPr>
          <p:cNvPr id="11" name="Shape 8"/>
          <p:cNvSpPr/>
          <p:nvPr/>
        </p:nvSpPr>
        <p:spPr>
          <a:xfrm>
            <a:off x="548640" y="2194560"/>
            <a:ext cx="11064240" cy="685800"/>
          </a:xfrm>
          <a:prstGeom prst="roundRect">
            <a:avLst>
              <a:gd name="adj" fmla="val 10667"/>
            </a:avLst>
          </a:prstGeom>
          <a:solidFill>
            <a:srgbClr val="FFFFFF"/>
          </a:solidFill>
          <a:ln w="9525">
            <a:solidFill>
              <a:srgbClr val="DDD8CC"/>
            </a:solidFill>
            <a:prstDash val="solid"/>
          </a:ln>
        </p:spPr>
        <p:txBody>
          <a:bodyPr/>
          <a:lstStyle/>
          <a:p>
            <a:endParaRPr lang="en-US"/>
          </a:p>
        </p:txBody>
      </p:sp>
      <p:sp>
        <p:nvSpPr>
          <p:cNvPr id="12" name="Shape 9"/>
          <p:cNvSpPr/>
          <p:nvPr/>
        </p:nvSpPr>
        <p:spPr>
          <a:xfrm>
            <a:off x="777240" y="2336292"/>
            <a:ext cx="402336" cy="402336"/>
          </a:xfrm>
          <a:prstGeom prst="ellipse">
            <a:avLst/>
          </a:prstGeom>
          <a:solidFill>
            <a:srgbClr val="C1440E"/>
          </a:solidFill>
          <a:ln/>
        </p:spPr>
        <p:txBody>
          <a:bodyPr/>
          <a:lstStyle/>
          <a:p>
            <a:endParaRPr lang="en-US"/>
          </a:p>
        </p:txBody>
      </p:sp>
      <p:sp>
        <p:nvSpPr>
          <p:cNvPr id="13" name="Text 10"/>
          <p:cNvSpPr txBox="1"/>
          <p:nvPr/>
        </p:nvSpPr>
        <p:spPr>
          <a:xfrm>
            <a:off x="777240" y="233629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4" name="Text 11"/>
          <p:cNvSpPr txBox="1"/>
          <p:nvPr/>
        </p:nvSpPr>
        <p:spPr>
          <a:xfrm>
            <a:off x="1417320" y="219456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What travels clean vs. what lingers</a:t>
            </a:r>
            <a:endParaRPr lang="en-US" sz="1450" dirty="0"/>
          </a:p>
        </p:txBody>
      </p:sp>
      <p:sp>
        <p:nvSpPr>
          <p:cNvPr id="15" name="Text 12"/>
          <p:cNvSpPr txBox="1"/>
          <p:nvPr/>
        </p:nvSpPr>
        <p:spPr>
          <a:xfrm>
            <a:off x="4800600" y="219456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Repos and Git-backed content travel most cleanly. Pipelines require conversion and validation. Test Plans stays behind.</a:t>
            </a:r>
            <a:endParaRPr lang="en-US" sz="1350" dirty="0"/>
          </a:p>
        </p:txBody>
      </p:sp>
      <p:sp>
        <p:nvSpPr>
          <p:cNvPr id="16" name="Shape 13"/>
          <p:cNvSpPr/>
          <p:nvPr/>
        </p:nvSpPr>
        <p:spPr>
          <a:xfrm>
            <a:off x="548640" y="2971800"/>
            <a:ext cx="11064240" cy="685800"/>
          </a:xfrm>
          <a:prstGeom prst="roundRect">
            <a:avLst>
              <a:gd name="adj" fmla="val 10667"/>
            </a:avLst>
          </a:prstGeom>
          <a:solidFill>
            <a:srgbClr val="F7F6F2"/>
          </a:solidFill>
          <a:ln w="9525">
            <a:solidFill>
              <a:srgbClr val="DDD8CC"/>
            </a:solidFill>
            <a:prstDash val="solid"/>
          </a:ln>
        </p:spPr>
        <p:txBody>
          <a:bodyPr/>
          <a:lstStyle/>
          <a:p>
            <a:endParaRPr lang="en-US"/>
          </a:p>
        </p:txBody>
      </p:sp>
      <p:sp>
        <p:nvSpPr>
          <p:cNvPr id="17" name="Shape 14"/>
          <p:cNvSpPr/>
          <p:nvPr/>
        </p:nvSpPr>
        <p:spPr>
          <a:xfrm>
            <a:off x="777240" y="3113532"/>
            <a:ext cx="402336" cy="402336"/>
          </a:xfrm>
          <a:prstGeom prst="ellipse">
            <a:avLst/>
          </a:prstGeom>
          <a:solidFill>
            <a:srgbClr val="C1440E"/>
          </a:solidFill>
          <a:ln/>
        </p:spPr>
        <p:txBody>
          <a:bodyPr/>
          <a:lstStyle/>
          <a:p>
            <a:endParaRPr lang="en-US"/>
          </a:p>
        </p:txBody>
      </p:sp>
      <p:sp>
        <p:nvSpPr>
          <p:cNvPr id="18" name="Text 15"/>
          <p:cNvSpPr txBox="1"/>
          <p:nvPr/>
        </p:nvSpPr>
        <p:spPr>
          <a:xfrm>
            <a:off x="777240" y="311353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9" name="Text 16"/>
          <p:cNvSpPr txBox="1"/>
          <p:nvPr/>
        </p:nvSpPr>
        <p:spPr>
          <a:xfrm>
            <a:off x="1417320" y="2971800"/>
            <a:ext cx="3246120" cy="685800"/>
          </a:xfrm>
          <a:prstGeom prst="rect">
            <a:avLst/>
          </a:prstGeom>
          <a:noFill/>
          <a:ln/>
        </p:spPr>
        <p:txBody>
          <a:bodyPr wrap="square" lIns="0" tIns="0" rIns="0" bIns="0" rtlCol="0" anchor="ctr"/>
          <a:lstStyle/>
          <a:p>
            <a:pPr marL="0" indent="0">
              <a:buNone/>
            </a:pPr>
            <a:r>
              <a:rPr lang="en-US" sz="1450" b="1">
                <a:solidFill>
                  <a:srgbClr val="1F3D2C"/>
                </a:solidFill>
                <a:latin typeface="Cambria"/>
              </a:rPr>
              <a:t>Three migration planes</a:t>
            </a:r>
            <a:endParaRPr lang="en-US" sz="1450" dirty="0"/>
          </a:p>
        </p:txBody>
      </p:sp>
      <p:sp>
        <p:nvSpPr>
          <p:cNvPr id="20" name="Text 17"/>
          <p:cNvSpPr txBox="1"/>
          <p:nvPr/>
        </p:nvSpPr>
        <p:spPr>
          <a:xfrm>
            <a:off x="4800600" y="2971800"/>
            <a:ext cx="6675120" cy="685800"/>
          </a:xfrm>
          <a:prstGeom prst="rect">
            <a:avLst/>
          </a:prstGeom>
          <a:noFill/>
          <a:ln/>
        </p:spPr>
        <p:txBody>
          <a:bodyPr wrap="square" lIns="0" tIns="0" rIns="0" bIns="0" rtlCol="0" anchor="ctr"/>
          <a:lstStyle/>
          <a:p>
            <a:pPr marL="0" indent="0">
              <a:buNone/>
            </a:pPr>
            <a:r>
              <a:rPr lang="en-US" sz="1400">
                <a:solidFill>
                  <a:srgbClr val="2B2B2B"/>
                </a:solidFill>
                <a:latin typeface="Calibri"/>
              </a:rPr>
              <a:t>Repository data, automation, and validation — each uses manual judgment, official tooling, and AI assistance.</a:t>
            </a:r>
            <a:endParaRPr lang="en-US" sz="1350" dirty="0"/>
          </a:p>
        </p:txBody>
      </p:sp>
      <p:sp>
        <p:nvSpPr>
          <p:cNvPr id="21" name="Shape 18"/>
          <p:cNvSpPr/>
          <p:nvPr/>
        </p:nvSpPr>
        <p:spPr>
          <a:xfrm>
            <a:off x="548640" y="3749040"/>
            <a:ext cx="11064240" cy="685800"/>
          </a:xfrm>
          <a:prstGeom prst="roundRect">
            <a:avLst>
              <a:gd name="adj" fmla="val 10667"/>
            </a:avLst>
          </a:prstGeom>
          <a:solidFill>
            <a:srgbClr val="FFFFFF"/>
          </a:solidFill>
          <a:ln w="9525">
            <a:solidFill>
              <a:srgbClr val="DDD8CC"/>
            </a:solidFill>
            <a:prstDash val="solid"/>
          </a:ln>
        </p:spPr>
        <p:txBody>
          <a:bodyPr/>
          <a:lstStyle/>
          <a:p>
            <a:endParaRPr lang="en-US"/>
          </a:p>
        </p:txBody>
      </p:sp>
      <p:sp>
        <p:nvSpPr>
          <p:cNvPr id="22" name="Shape 19"/>
          <p:cNvSpPr/>
          <p:nvPr/>
        </p:nvSpPr>
        <p:spPr>
          <a:xfrm>
            <a:off x="777240" y="3890772"/>
            <a:ext cx="402336" cy="402336"/>
          </a:xfrm>
          <a:prstGeom prst="ellipse">
            <a:avLst/>
          </a:prstGeom>
          <a:solidFill>
            <a:srgbClr val="C1440E"/>
          </a:solidFill>
          <a:ln/>
        </p:spPr>
        <p:txBody>
          <a:bodyPr/>
          <a:lstStyle/>
          <a:p>
            <a:endParaRPr lang="en-US"/>
          </a:p>
        </p:txBody>
      </p:sp>
      <p:sp>
        <p:nvSpPr>
          <p:cNvPr id="23" name="Text 20"/>
          <p:cNvSpPr txBox="1"/>
          <p:nvPr/>
        </p:nvSpPr>
        <p:spPr>
          <a:xfrm>
            <a:off x="777240" y="389077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4" name="Text 21"/>
          <p:cNvSpPr txBox="1"/>
          <p:nvPr/>
        </p:nvSpPr>
        <p:spPr>
          <a:xfrm>
            <a:off x="1417320" y="374904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Why Boards stays hybrid</a:t>
            </a:r>
            <a:endParaRPr lang="en-US" sz="1450" dirty="0"/>
          </a:p>
        </p:txBody>
      </p:sp>
      <p:sp>
        <p:nvSpPr>
          <p:cNvPr id="25" name="Text 22"/>
          <p:cNvSpPr txBox="1"/>
          <p:nvPr/>
        </p:nvSpPr>
        <p:spPr>
          <a:xfrm>
            <a:off x="4800600" y="374904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Connect Azure Boards, don’t migrate work items — the door stays open, it doesn’t force a choice.</a:t>
            </a:r>
            <a:endParaRPr lang="en-US" sz="1350" dirty="0"/>
          </a:p>
        </p:txBody>
      </p:sp>
      <p:sp>
        <p:nvSpPr>
          <p:cNvPr id="26" name="Shape 23"/>
          <p:cNvSpPr/>
          <p:nvPr/>
        </p:nvSpPr>
        <p:spPr>
          <a:xfrm>
            <a:off x="548640" y="4526280"/>
            <a:ext cx="11064240" cy="685800"/>
          </a:xfrm>
          <a:prstGeom prst="roundRect">
            <a:avLst>
              <a:gd name="adj" fmla="val 10667"/>
            </a:avLst>
          </a:prstGeom>
          <a:solidFill>
            <a:srgbClr val="F7F6F2"/>
          </a:solidFill>
          <a:ln w="9525">
            <a:solidFill>
              <a:srgbClr val="DDD8CC"/>
            </a:solidFill>
            <a:prstDash val="solid"/>
          </a:ln>
        </p:spPr>
        <p:txBody>
          <a:bodyPr/>
          <a:lstStyle/>
          <a:p>
            <a:endParaRPr lang="en-US"/>
          </a:p>
        </p:txBody>
      </p:sp>
      <p:sp>
        <p:nvSpPr>
          <p:cNvPr id="27" name="Shape 24"/>
          <p:cNvSpPr/>
          <p:nvPr/>
        </p:nvSpPr>
        <p:spPr>
          <a:xfrm>
            <a:off x="777240" y="4668012"/>
            <a:ext cx="402336" cy="402336"/>
          </a:xfrm>
          <a:prstGeom prst="ellipse">
            <a:avLst/>
          </a:prstGeom>
          <a:solidFill>
            <a:srgbClr val="C1440E"/>
          </a:solidFill>
          <a:ln/>
        </p:spPr>
        <p:txBody>
          <a:bodyPr/>
          <a:lstStyle/>
          <a:p>
            <a:endParaRPr lang="en-US"/>
          </a:p>
        </p:txBody>
      </p:sp>
      <p:sp>
        <p:nvSpPr>
          <p:cNvPr id="28" name="Text 25"/>
          <p:cNvSpPr txBox="1"/>
          <p:nvPr/>
        </p:nvSpPr>
        <p:spPr>
          <a:xfrm>
            <a:off x="777240" y="466801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9" name="Text 26"/>
          <p:cNvSpPr txBox="1"/>
          <p:nvPr/>
        </p:nvSpPr>
        <p:spPr>
          <a:xfrm>
            <a:off x="1417320" y="4526280"/>
            <a:ext cx="3246120" cy="685800"/>
          </a:xfrm>
          <a:prstGeom prst="rect">
            <a:avLst/>
          </a:prstGeom>
          <a:noFill/>
          <a:ln/>
        </p:spPr>
        <p:txBody>
          <a:bodyPr wrap="square" lIns="0" tIns="0" rIns="0" bIns="0" rtlCol="0" anchor="ctr"/>
          <a:lstStyle/>
          <a:p>
            <a:pPr marL="0" indent="0">
              <a:buNone/>
            </a:pPr>
            <a:r>
              <a:rPr lang="en-US" sz="1450" b="1">
                <a:solidFill>
                  <a:srgbClr val="1F3D2C"/>
                </a:solidFill>
                <a:latin typeface="Cambria"/>
              </a:rPr>
              <a:t>Migration as an operating model</a:t>
            </a:r>
            <a:endParaRPr lang="en-US" sz="1450" dirty="0"/>
          </a:p>
        </p:txBody>
      </p:sp>
      <p:sp>
        <p:nvSpPr>
          <p:cNvPr id="30" name="Text 27"/>
          <p:cNvSpPr txBox="1"/>
          <p:nvPr/>
        </p:nvSpPr>
        <p:spPr>
          <a:xfrm>
            <a:off x="4800600" y="4526280"/>
            <a:ext cx="6675120" cy="685800"/>
          </a:xfrm>
          <a:prstGeom prst="rect">
            <a:avLst/>
          </a:prstGeom>
          <a:noFill/>
          <a:ln/>
        </p:spPr>
        <p:txBody>
          <a:bodyPr wrap="square" lIns="0" tIns="0" rIns="0" bIns="0" rtlCol="0" anchor="ctr"/>
          <a:lstStyle/>
          <a:p>
            <a:pPr marL="0" indent="0">
              <a:buNone/>
            </a:pPr>
            <a:r>
              <a:rPr lang="en-US" sz="1400">
                <a:solidFill>
                  <a:srgbClr val="2B2B2B"/>
                </a:solidFill>
                <a:latin typeface="Calibri"/>
              </a:rPr>
              <a:t>Ownership, wave criteria, validation, rollback, and decommissioning matter as much as conversion tooling.</a:t>
            </a:r>
            <a:endParaRPr lang="en-US" sz="1350" dirty="0"/>
          </a:p>
        </p:txBody>
      </p:sp>
      <p:sp>
        <p:nvSpPr>
          <p:cNvPr id="31" name="Shape 28"/>
          <p:cNvSpPr/>
          <p:nvPr/>
        </p:nvSpPr>
        <p:spPr>
          <a:xfrm>
            <a:off x="548640" y="5303520"/>
            <a:ext cx="11064240" cy="685800"/>
          </a:xfrm>
          <a:prstGeom prst="roundRect">
            <a:avLst>
              <a:gd name="adj" fmla="val 10667"/>
            </a:avLst>
          </a:prstGeom>
          <a:solidFill>
            <a:srgbClr val="FFFFFF"/>
          </a:solidFill>
          <a:ln w="9525">
            <a:solidFill>
              <a:srgbClr val="DDD8CC"/>
            </a:solidFill>
            <a:prstDash val="solid"/>
          </a:ln>
        </p:spPr>
        <p:txBody>
          <a:bodyPr/>
          <a:lstStyle/>
          <a:p>
            <a:endParaRPr lang="en-US"/>
          </a:p>
        </p:txBody>
      </p:sp>
      <p:sp>
        <p:nvSpPr>
          <p:cNvPr id="32" name="Shape 29"/>
          <p:cNvSpPr/>
          <p:nvPr/>
        </p:nvSpPr>
        <p:spPr>
          <a:xfrm>
            <a:off x="777240" y="5445252"/>
            <a:ext cx="402336" cy="402336"/>
          </a:xfrm>
          <a:prstGeom prst="ellipse">
            <a:avLst/>
          </a:prstGeom>
          <a:solidFill>
            <a:srgbClr val="C1440E"/>
          </a:solidFill>
          <a:ln/>
        </p:spPr>
        <p:txBody>
          <a:bodyPr/>
          <a:lstStyle/>
          <a:p>
            <a:endParaRPr lang="en-US"/>
          </a:p>
        </p:txBody>
      </p:sp>
      <p:sp>
        <p:nvSpPr>
          <p:cNvPr id="33" name="Text 30"/>
          <p:cNvSpPr txBox="1"/>
          <p:nvPr/>
        </p:nvSpPr>
        <p:spPr>
          <a:xfrm>
            <a:off x="777240" y="544525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6</a:t>
            </a:r>
            <a:endParaRPr lang="en-US" sz="1600" dirty="0"/>
          </a:p>
        </p:txBody>
      </p:sp>
      <p:sp>
        <p:nvSpPr>
          <p:cNvPr id="34" name="Text 31"/>
          <p:cNvSpPr txBox="1"/>
          <p:nvPr/>
        </p:nvSpPr>
        <p:spPr>
          <a:xfrm>
            <a:off x="1417320" y="530352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The long tail that outlasts the cutover</a:t>
            </a:r>
            <a:endParaRPr lang="en-US" sz="1450" dirty="0"/>
          </a:p>
        </p:txBody>
      </p:sp>
      <p:sp>
        <p:nvSpPr>
          <p:cNvPr id="35" name="Text 32"/>
          <p:cNvSpPr txBox="1"/>
          <p:nvPr/>
        </p:nvSpPr>
        <p:spPr>
          <a:xfrm>
            <a:off x="4800600" y="530352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Hardcoded URLs and unreclaimed identities keep surfacing for months. Plan the sweep and the identity mapping up front.</a:t>
            </a:r>
            <a:endParaRPr lang="en-US" sz="1350" dirty="0"/>
          </a:p>
        </p:txBody>
      </p:sp>
      <p:sp>
        <p:nvSpPr>
          <p:cNvPr id="36" name="Slide Number Placeholder"/>
          <p:cNvSpPr>
            <a:spLocks noGrp="1"/>
          </p:cNvSpPr>
          <p:nvPr>
            <p:ph type="sldNum" sz="quarter" idx="10"/>
          </p:nvPr>
        </p:nvSpPr>
        <p:spPr/>
        <p:txBody>
          <a:bodyPr/>
          <a:lstStyle/>
          <a:p>
            <a:fld id="{BCB632DE-6AD4-40F1-944C-28C0E9BF62DC}" type="slidenum">
              <a:rPr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548640" y="502920"/>
            <a:ext cx="10058400" cy="320040"/>
          </a:xfrm>
          <a:prstGeom prst="rect">
            <a:avLst/>
          </a:prstGeom>
          <a:noFill/>
          <a:ln/>
        </p:spPr>
        <p:txBody>
          <a:bodyPr wrap="square" lIns="0" tIns="0" rIns="0" bIns="0" rtlCol="0" anchor="t"/>
          <a:lstStyle/>
          <a:p>
            <a:pPr marL="0" indent="0" algn="l">
              <a:buNone/>
            </a:pPr>
            <a:r>
              <a:rPr sz="1500" b="1">
                <a:solidFill>
                  <a:srgbClr val="C1440E"/>
                </a:solidFill>
                <a:latin typeface="Calibri"/>
              </a:rPr>
              <a:t>THE WATERING HOLE NOBODY TOLD TO MOVE</a:t>
            </a:r>
            <a:endParaRPr lang="en-US" sz="1700" dirty="0"/>
          </a:p>
        </p:txBody>
      </p:sp>
      <p:sp>
        <p:nvSpPr>
          <p:cNvPr id="6" name="Text 3"/>
          <p:cNvSpPr txBox="1"/>
          <p:nvPr/>
        </p:nvSpPr>
        <p:spPr>
          <a:xfrm>
            <a:off x="1069848" y="2395728"/>
            <a:ext cx="10058400" cy="2560320"/>
          </a:xfrm>
          <a:prstGeom prst="rect">
            <a:avLst/>
          </a:prstGeom>
          <a:noFill/>
          <a:ln/>
        </p:spPr>
        <p:txBody>
          <a:bodyPr wrap="square" lIns="0" tIns="0" rIns="0" bIns="0" rtlCol="0" anchor="t"/>
          <a:lstStyle/>
          <a:p>
            <a:pPr marL="0" indent="0" algn="ctr">
              <a:buNone/>
            </a:pPr>
            <a:r>
              <a:rPr sz="3000" b="1">
                <a:solidFill>
                  <a:srgbClr val="1F3D2C"/>
                </a:solidFill>
                <a:latin typeface="Cambria"/>
              </a:rPr>
              <a:t>Most migrations aren’t dramatic. They’re a checklist, run carefully, with a few things that broke in ways nobody predicted,</a:t>
            </a:r>
            <a:endParaRPr lang="en-US" sz="2100" dirty="0"/>
          </a:p>
          <a:p>
            <a:pPr algn="ctr">
              <a:spcBef>
                <a:spcPts val="1600"/>
              </a:spcBef>
            </a:pPr>
            <a:r>
              <a:rPr sz="3000" b="1">
                <a:solidFill>
                  <a:srgbClr val="C1440E"/>
                </a:solidFill>
                <a:latin typeface="Cambria"/>
              </a:rPr>
              <a:t>and got fixed by people in the room.</a:t>
            </a:r>
          </a:p>
        </p:txBody>
      </p:sp>
      <p:sp>
        <p:nvSpPr>
          <p:cNvPr id="7" name="Slide Number Placeholder"/>
          <p:cNvSpPr>
            <a:spLocks noGrp="1"/>
          </p:cNvSpPr>
          <p:nvPr>
            <p:ph type="sldNum" sz="quarter" idx="10"/>
          </p:nvPr>
        </p:nvSpPr>
        <p:spPr/>
        <p:txBody>
          <a:bodyPr/>
          <a:lstStyle/>
          <a:p>
            <a:fld id="{BCB632DE-6AD4-40F1-944C-28C0E9BF62DC}" type="slidenum">
              <a:rPr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6">
    <p:bg>
      <p:bgPr>
        <a:solidFill>
          <a:srgbClr val="142A1D"/>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3D2C"/>
          </a:solidFill>
          <a:ln/>
        </p:spPr>
        <p:txBody>
          <a:bodyPr/>
          <a:lstStyle/>
          <a:p>
            <a:endParaRPr lang="en-US"/>
          </a:p>
        </p:txBody>
      </p:sp>
      <p:sp>
        <p:nvSpPr>
          <p:cNvPr id="3" name="Shape 1"/>
          <p:cNvSpPr/>
          <p:nvPr/>
        </p:nvSpPr>
        <p:spPr>
          <a:xfrm>
            <a:off x="0" y="0"/>
            <a:ext cx="12191695" cy="128016"/>
          </a:xfrm>
          <a:prstGeom prst="rect">
            <a:avLst/>
          </a:prstGeom>
          <a:solidFill>
            <a:srgbClr val="C1440E"/>
          </a:solidFill>
          <a:ln/>
        </p:spPr>
        <p:txBody>
          <a:bodyPr/>
          <a:lstStyle/>
          <a:p>
            <a:endParaRPr lang="en-US"/>
          </a:p>
        </p:txBody>
      </p:sp>
      <p:sp>
        <p:nvSpPr>
          <p:cNvPr id="4" name="Text 2"/>
          <p:cNvSpPr txBox="1"/>
          <p:nvPr/>
        </p:nvSpPr>
        <p:spPr>
          <a:xfrm>
            <a:off x="1188720" y="2103120"/>
            <a:ext cx="9784080" cy="2926080"/>
          </a:xfrm>
          <a:prstGeom prst="rect">
            <a:avLst/>
          </a:prstGeom>
          <a:noFill/>
          <a:ln/>
        </p:spPr>
        <p:txBody>
          <a:bodyPr wrap="square" lIns="0" tIns="0" rIns="0" bIns="0" rtlCol="0" anchor="ctr"/>
          <a:lstStyle/>
          <a:p>
            <a:pPr marL="0" indent="0" algn="ctr">
              <a:buNone/>
            </a:pPr>
            <a:r>
              <a:rPr sz="2800" b="1">
                <a:solidFill>
                  <a:srgbClr val="F5F5F0"/>
                </a:solidFill>
                <a:latin typeface="Cambria"/>
              </a:rPr>
              <a:t>The herd has crossed. The builds are green. The watering hole is quiet.</a:t>
            </a:r>
            <a:endParaRPr lang="en-US" sz="3000" dirty="0"/>
          </a:p>
          <a:p>
            <a:pPr algn="ctr">
              <a:spcBef>
                <a:spcPts val="1400"/>
              </a:spcBef>
            </a:pPr>
            <a:r>
              <a:rPr sz="2800" b="1">
                <a:solidFill>
                  <a:srgbClr val="F5F5F0"/>
                </a:solidFill>
                <a:latin typeface="Cambria"/>
              </a:rPr>
              <a:t>On the far bank, one pipeline still runs every Tuesday at 3 a.m. — triggered by nothing, owned by no one.</a:t>
            </a:r>
          </a:p>
          <a:p>
            <a:pPr algn="ctr">
              <a:spcBef>
                <a:spcPts val="1400"/>
              </a:spcBef>
            </a:pPr>
            <a:r>
              <a:rPr sz="2800" b="1">
                <a:solidFill>
                  <a:srgbClr val="F5F5F0"/>
                </a:solidFill>
                <a:latin typeface="Cambria"/>
              </a:rPr>
              <a:t>Nobody told it the herd had moved.</a:t>
            </a:r>
          </a:p>
        </p:txBody>
      </p:sp>
      <p:sp>
        <p:nvSpPr>
          <p:cNvPr id="5" name="Text 3"/>
          <p:cNvSpPr txBox="1"/>
          <p:nvPr/>
        </p:nvSpPr>
        <p:spPr>
          <a:xfrm>
            <a:off x="548640" y="5989320"/>
            <a:ext cx="11064240" cy="411480"/>
          </a:xfrm>
          <a:prstGeom prst="rect">
            <a:avLst/>
          </a:prstGeom>
          <a:noFill/>
          <a:ln/>
        </p:spPr>
        <p:txBody>
          <a:bodyPr wrap="square" lIns="0" tIns="0" rIns="0" bIns="0" rtlCol="0" anchor="ctr"/>
          <a:lstStyle/>
          <a:p>
            <a:pPr marL="0" indent="0" algn="ctr">
              <a:buNone/>
            </a:pPr>
            <a:r>
              <a:rPr sz="1300">
                <a:solidFill>
                  <a:srgbClr val="E0B85C"/>
                </a:solidFill>
                <a:latin typeface="Calibri"/>
              </a:rPr>
              <a:t>— CLOSING NARRATION, FROM THE FAR BANK</a:t>
            </a:r>
            <a:endParaRPr lang="en-US" sz="1300" dirty="0"/>
          </a:p>
        </p:txBody>
      </p:sp>
      <p:sp>
        <p:nvSpPr>
          <p:cNvPr id="6" name="Slide Number Placeholder"/>
          <p:cNvSpPr>
            <a:spLocks noGrp="1"/>
          </p:cNvSpPr>
          <p:nvPr>
            <p:ph type="sldNum" sz="quarter" idx="10"/>
          </p:nvPr>
        </p:nvSpPr>
        <p:spPr/>
        <p:txBody>
          <a:bodyPr/>
          <a:lstStyle/>
          <a:p>
            <a:fld id="{BCB632DE-6AD4-40F1-944C-28C0E9BF62DC}" type="slidenum">
              <a:rPr lang="en-US">
                <a:solidFill>
                  <a:srgbClr val="E0B85C"/>
                </a:solidFill>
              </a:rPr>
              <a:t>50</a:t>
            </a:fld>
            <a:endParaRPr lang="en-US">
              <a:solidFill>
                <a:srgbClr val="E0B85C"/>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80160"/>
          </a:xfrm>
          <a:prstGeom prst="rect">
            <a:avLst/>
          </a:prstGeom>
          <a:solidFill>
            <a:srgbClr val="1F3D2C"/>
          </a:solidFill>
          <a:ln/>
        </p:spPr>
        <p:txBody>
          <a:bodyPr/>
          <a:lstStyle/>
          <a:p>
            <a:endParaRPr lang="en-US"/>
          </a:p>
        </p:txBody>
      </p:sp>
      <p:sp>
        <p:nvSpPr>
          <p:cNvPr id="3" name="Text 1"/>
          <p:cNvSpPr txBox="1"/>
          <p:nvPr/>
        </p:nvSpPr>
        <p:spPr>
          <a:xfrm>
            <a:off x="777240" y="1783080"/>
            <a:ext cx="6035040" cy="1051560"/>
          </a:xfrm>
          <a:prstGeom prst="rect">
            <a:avLst/>
          </a:prstGeom>
          <a:noFill/>
          <a:ln/>
        </p:spPr>
        <p:txBody>
          <a:bodyPr wrap="square" lIns="0" tIns="0" rIns="0" bIns="0" rtlCol="0" anchor="ctr"/>
          <a:lstStyle/>
          <a:p>
            <a:pPr marL="0" indent="0" algn="l">
              <a:buNone/>
            </a:pPr>
            <a:r>
              <a:rPr sz="5400" b="1">
                <a:solidFill>
                  <a:srgbClr val="1F3D2C"/>
                </a:solidFill>
                <a:latin typeface="Cambria"/>
              </a:rPr>
              <a:t>Thank You</a:t>
            </a:r>
            <a:endParaRPr lang="en-US" sz="5400" dirty="0"/>
          </a:p>
        </p:txBody>
      </p:sp>
      <p:sp>
        <p:nvSpPr>
          <p:cNvPr id="4" name="Text 2"/>
          <p:cNvSpPr txBox="1"/>
          <p:nvPr/>
        </p:nvSpPr>
        <p:spPr>
          <a:xfrm>
            <a:off x="777240" y="2776886"/>
            <a:ext cx="6035040" cy="731520"/>
          </a:xfrm>
          <a:prstGeom prst="rect">
            <a:avLst/>
          </a:prstGeom>
          <a:noFill/>
          <a:ln/>
        </p:spPr>
        <p:txBody>
          <a:bodyPr wrap="square" lIns="0" tIns="0" rIns="0" bIns="0" rtlCol="0" anchor="ctr"/>
          <a:lstStyle/>
          <a:p>
            <a:pPr marL="0" indent="0" algn="l">
              <a:buNone/>
            </a:pPr>
            <a:r>
              <a:rPr sz="1800" b="0" dirty="0">
                <a:solidFill>
                  <a:srgbClr val="6B6B63"/>
                </a:solidFill>
                <a:latin typeface="Calibri"/>
              </a:rPr>
              <a:t>Azure DevOps to GitHub Enterprise: The Great Migration</a:t>
            </a:r>
            <a:endParaRPr lang="en-US" sz="1800" dirty="0"/>
          </a:p>
        </p:txBody>
      </p:sp>
      <p:sp>
        <p:nvSpPr>
          <p:cNvPr id="6" name="Text 4"/>
          <p:cNvSpPr txBox="1"/>
          <p:nvPr/>
        </p:nvSpPr>
        <p:spPr>
          <a:xfrm>
            <a:off x="777240" y="3656066"/>
            <a:ext cx="6035040" cy="411480"/>
          </a:xfrm>
          <a:prstGeom prst="rect">
            <a:avLst/>
          </a:prstGeom>
          <a:noFill/>
          <a:ln/>
        </p:spPr>
        <p:txBody>
          <a:bodyPr wrap="square" lIns="0" tIns="0" rIns="0" bIns="0" rtlCol="0" anchor="ctr"/>
          <a:lstStyle/>
          <a:p>
            <a:pPr marL="0" indent="0" algn="l">
              <a:buNone/>
            </a:pPr>
            <a:r>
              <a:rPr sz="2000" b="1" dirty="0">
                <a:solidFill>
                  <a:srgbClr val="1F3D2C"/>
                </a:solidFill>
                <a:latin typeface="Cambria"/>
              </a:rPr>
              <a:t>Kevin Neumann</a:t>
            </a:r>
            <a:endParaRPr lang="en-US" sz="2000" dirty="0"/>
          </a:p>
        </p:txBody>
      </p:sp>
      <p:sp>
        <p:nvSpPr>
          <p:cNvPr id="7" name="Text 5"/>
          <p:cNvSpPr txBox="1"/>
          <p:nvPr/>
        </p:nvSpPr>
        <p:spPr>
          <a:xfrm>
            <a:off x="777240" y="4094978"/>
            <a:ext cx="6035040" cy="365760"/>
          </a:xfrm>
          <a:prstGeom prst="rect">
            <a:avLst/>
          </a:prstGeom>
          <a:noFill/>
          <a:ln/>
        </p:spPr>
        <p:txBody>
          <a:bodyPr wrap="square" lIns="0" tIns="0" rIns="0" bIns="0" rtlCol="0" anchor="ctr"/>
          <a:lstStyle/>
          <a:p>
            <a:pPr marL="0" indent="0" algn="l">
              <a:buNone/>
            </a:pPr>
            <a:r>
              <a:rPr sz="1500" b="0" dirty="0">
                <a:solidFill>
                  <a:srgbClr val="2B2B2B"/>
                </a:solidFill>
                <a:latin typeface="Calibri"/>
              </a:rPr>
              <a:t>kneumann@hunter.com</a:t>
            </a:r>
            <a:endParaRPr lang="en-US" sz="1500" dirty="0"/>
          </a:p>
        </p:txBody>
      </p:sp>
      <p:sp>
        <p:nvSpPr>
          <p:cNvPr id="10" name="Text 7"/>
          <p:cNvSpPr txBox="1"/>
          <p:nvPr/>
        </p:nvSpPr>
        <p:spPr>
          <a:xfrm>
            <a:off x="777240" y="4786465"/>
            <a:ext cx="6035040" cy="411480"/>
          </a:xfrm>
          <a:prstGeom prst="rect">
            <a:avLst/>
          </a:prstGeom>
          <a:noFill/>
          <a:ln/>
        </p:spPr>
        <p:txBody>
          <a:bodyPr wrap="square" lIns="0" tIns="0" rIns="0" bIns="0" rtlCol="0" anchor="ctr"/>
          <a:lstStyle/>
          <a:p>
            <a:pPr marL="0" indent="0" algn="l">
              <a:buNone/>
            </a:pPr>
            <a:r>
              <a:rPr sz="1700" b="0" dirty="0">
                <a:solidFill>
                  <a:srgbClr val="C1440E"/>
                </a:solidFill>
                <a:latin typeface="Calibri"/>
              </a:rPr>
              <a:t>Open floor — questions welcome.</a:t>
            </a:r>
            <a:endParaRPr lang="en-US" sz="1700" dirty="0"/>
          </a:p>
        </p:txBody>
      </p:sp>
      <p:sp>
        <p:nvSpPr>
          <p:cNvPr id="11" name="Rounded Rectangle 10"/>
          <p:cNvSpPr/>
          <p:nvPr/>
        </p:nvSpPr>
        <p:spPr>
          <a:xfrm>
            <a:off x="7443196" y="1433090"/>
            <a:ext cx="4297680" cy="5059150"/>
          </a:xfrm>
          <a:prstGeom prst="roundRect">
            <a:avLst>
              <a:gd name="adj" fmla="val 4000"/>
            </a:avLst>
          </a:prstGeom>
          <a:solidFill>
            <a:srgbClr val="F7F6F2"/>
          </a:solidFill>
          <a:ln>
            <a:noFill/>
          </a:ln>
          <a:effectLst/>
        </p:spPr>
        <p:txBody>
          <a:bodyPr rtlCol="0" anchor="ctr"/>
          <a:lstStyle/>
          <a:p>
            <a:endParaRPr/>
          </a:p>
        </p:txBody>
      </p:sp>
      <p:sp>
        <p:nvSpPr>
          <p:cNvPr id="12" name="TextBox 11"/>
          <p:cNvSpPr txBox="1"/>
          <p:nvPr/>
        </p:nvSpPr>
        <p:spPr>
          <a:xfrm>
            <a:off x="7443196" y="2011680"/>
            <a:ext cx="4297680" cy="292608"/>
          </a:xfrm>
          <a:prstGeom prst="rect">
            <a:avLst/>
          </a:prstGeom>
          <a:noFill/>
        </p:spPr>
        <p:txBody>
          <a:bodyPr wrap="square">
            <a:spAutoFit/>
          </a:bodyPr>
          <a:lstStyle/>
          <a:p>
            <a:pPr algn="ctr"/>
            <a:r>
              <a:rPr sz="1300" b="1" dirty="0">
                <a:solidFill>
                  <a:srgbClr val="C1440E"/>
                </a:solidFill>
                <a:latin typeface="Calibri"/>
              </a:rPr>
              <a:t>EVERYTHING FROM THIS TALK</a:t>
            </a:r>
          </a:p>
        </p:txBody>
      </p:sp>
      <p:pic>
        <p:nvPicPr>
          <p:cNvPr id="9" name="Image 0" descr="/home/claude/pptx-build/assets/qr-section6-thankyou.png"/>
          <p:cNvPicPr>
            <a:picLocks noChangeAspect="1"/>
          </p:cNvPicPr>
          <p:nvPr/>
        </p:nvPicPr>
        <p:blipFill>
          <a:blip r:embed="rId3"/>
          <a:stretch>
            <a:fillRect/>
          </a:stretch>
        </p:blipFill>
        <p:spPr>
          <a:xfrm>
            <a:off x="8540476" y="2377440"/>
            <a:ext cx="2103120" cy="2103120"/>
          </a:xfrm>
          <a:prstGeom prst="rect">
            <a:avLst/>
          </a:prstGeom>
        </p:spPr>
      </p:pic>
      <p:sp>
        <p:nvSpPr>
          <p:cNvPr id="13" name="TextBox 12"/>
          <p:cNvSpPr txBox="1"/>
          <p:nvPr/>
        </p:nvSpPr>
        <p:spPr>
          <a:xfrm>
            <a:off x="7443196" y="4599432"/>
            <a:ext cx="4297680" cy="292608"/>
          </a:xfrm>
          <a:prstGeom prst="rect">
            <a:avLst/>
          </a:prstGeom>
          <a:noFill/>
        </p:spPr>
        <p:txBody>
          <a:bodyPr wrap="square">
            <a:spAutoFit/>
          </a:bodyPr>
          <a:lstStyle/>
          <a:p>
            <a:pPr algn="ctr"/>
            <a:r>
              <a:rPr sz="1200" b="0">
                <a:solidFill>
                  <a:srgbClr val="6B6B63"/>
                </a:solidFill>
                <a:latin typeface="Calibri"/>
              </a:rPr>
              <a:t>neumann1990/Azure_DevOps_To_GitHub</a:t>
            </a:r>
          </a:p>
        </p:txBody>
      </p:sp>
      <p:sp>
        <p:nvSpPr>
          <p:cNvPr id="14" name="TextBox 13"/>
          <p:cNvSpPr txBox="1"/>
          <p:nvPr/>
        </p:nvSpPr>
        <p:spPr>
          <a:xfrm>
            <a:off x="7626076" y="4992624"/>
            <a:ext cx="3931920" cy="700192"/>
          </a:xfrm>
          <a:prstGeom prst="rect">
            <a:avLst/>
          </a:prstGeom>
          <a:noFill/>
        </p:spPr>
        <p:txBody>
          <a:bodyPr wrap="square">
            <a:spAutoFit/>
          </a:bodyPr>
          <a:lstStyle/>
          <a:p>
            <a:pPr algn="ctr"/>
            <a:r>
              <a:rPr sz="1150" b="0" dirty="0">
                <a:solidFill>
                  <a:srgbClr val="2B2B2B"/>
                </a:solidFill>
                <a:latin typeface="Calibri"/>
              </a:rPr>
              <a:t>Azure Pipelines → Actions migration docs</a:t>
            </a:r>
          </a:p>
          <a:p>
            <a:pPr algn="ctr">
              <a:spcBef>
                <a:spcPts val="300"/>
              </a:spcBef>
            </a:pPr>
            <a:r>
              <a:rPr sz="1150" b="0" dirty="0">
                <a:solidFill>
                  <a:srgbClr val="2B2B2B"/>
                </a:solidFill>
                <a:latin typeface="Calibri"/>
              </a:rPr>
              <a:t>gh-ado2gh  ·  </a:t>
            </a:r>
            <a:r>
              <a:rPr sz="1150" b="0" dirty="0" err="1">
                <a:solidFill>
                  <a:srgbClr val="2B2B2B"/>
                </a:solidFill>
                <a:latin typeface="Calibri"/>
              </a:rPr>
              <a:t>gh</a:t>
            </a:r>
            <a:r>
              <a:rPr sz="1150" b="0" dirty="0">
                <a:solidFill>
                  <a:srgbClr val="2B2B2B"/>
                </a:solidFill>
                <a:latin typeface="Calibri"/>
              </a:rPr>
              <a:t>-actions-importer</a:t>
            </a:r>
          </a:p>
          <a:p>
            <a:pPr algn="ctr">
              <a:spcBef>
                <a:spcPts val="300"/>
              </a:spcBef>
            </a:pPr>
            <a:r>
              <a:rPr sz="1150" b="0" dirty="0">
                <a:solidFill>
                  <a:srgbClr val="2B2B2B"/>
                </a:solidFill>
                <a:latin typeface="Calibri"/>
              </a:rPr>
              <a:t>Every note behind this talk</a:t>
            </a:r>
          </a:p>
        </p:txBody>
      </p:sp>
      <p:sp>
        <p:nvSpPr>
          <p:cNvPr id="15" name="Slide Number Placeholder"/>
          <p:cNvSpPr>
            <a:spLocks noGrp="1"/>
          </p:cNvSpPr>
          <p:nvPr>
            <p:ph type="sldNum" sz="quarter" idx="10"/>
          </p:nvPr>
        </p:nvSpPr>
        <p:spPr/>
        <p:txBody>
          <a:bodyPr/>
          <a:lstStyle/>
          <a:p>
            <a:fld id="{BCB632DE-6AD4-40F1-944C-28C0E9BF62DC}" type="slidenum">
              <a:rPr lang="en-US"/>
              <a:t>51</a:t>
            </a:fld>
            <a:endParaRPr lang="en-US"/>
          </a:p>
        </p:txBody>
      </p:sp>
      <p:sp>
        <p:nvSpPr>
          <p:cNvPr id="20" name="Text 5">
            <a:extLst>
              <a:ext uri="{FF2B5EF4-FFF2-40B4-BE49-F238E27FC236}">
                <a16:creationId xmlns:a16="http://schemas.microsoft.com/office/drawing/2014/main" id="{CB8717A8-9D3F-256D-9992-560C6C010532}"/>
              </a:ext>
            </a:extLst>
          </p:cNvPr>
          <p:cNvSpPr txBox="1"/>
          <p:nvPr/>
        </p:nvSpPr>
        <p:spPr>
          <a:xfrm>
            <a:off x="2044969" y="5939697"/>
            <a:ext cx="1443170" cy="365760"/>
          </a:xfrm>
          <a:prstGeom prst="rect">
            <a:avLst/>
          </a:prstGeom>
          <a:noFill/>
          <a:ln/>
        </p:spPr>
        <p:txBody>
          <a:bodyPr wrap="square" lIns="0" tIns="0" rIns="0" bIns="0" rtlCol="0" anchor="ctr"/>
          <a:lstStyle/>
          <a:p>
            <a:pPr marL="0" indent="0" algn="l">
              <a:buNone/>
            </a:pPr>
            <a:r>
              <a:rPr lang="en-US" sz="1500" dirty="0"/>
              <a:t>Careers @ Hunter</a:t>
            </a:r>
          </a:p>
        </p:txBody>
      </p:sp>
      <p:pic>
        <p:nvPicPr>
          <p:cNvPr id="22" name="Picture 21">
            <a:extLst>
              <a:ext uri="{FF2B5EF4-FFF2-40B4-BE49-F238E27FC236}">
                <a16:creationId xmlns:a16="http://schemas.microsoft.com/office/drawing/2014/main" id="{3D11451F-32AE-DE63-753E-822486F5602F}"/>
              </a:ext>
            </a:extLst>
          </p:cNvPr>
          <p:cNvPicPr>
            <a:picLocks noChangeAspect="1"/>
          </p:cNvPicPr>
          <p:nvPr/>
        </p:nvPicPr>
        <p:blipFill>
          <a:blip r:embed="rId4"/>
          <a:stretch>
            <a:fillRect/>
          </a:stretch>
        </p:blipFill>
        <p:spPr>
          <a:xfrm>
            <a:off x="736332" y="5523672"/>
            <a:ext cx="1197811" cy="1197811"/>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2136</TotalTime>
  <Words>11509</Words>
  <Application>Microsoft Office PowerPoint</Application>
  <PresentationFormat>Widescreen</PresentationFormat>
  <Paragraphs>815</Paragraphs>
  <Slides>51</Slides>
  <Notes>51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51</vt:i4>
      </vt:variant>
    </vt:vector>
  </HeadingPairs>
  <TitlesOfParts>
    <vt:vector size="58" baseType="lpstr">
      <vt:lpstr>Aptos</vt:lpstr>
      <vt:lpstr>Arial</vt:lpstr>
      <vt:lpstr>Calibri</vt:lpstr>
      <vt:lpstr>Cambria</vt:lpstr>
      <vt:lpstr>Cascadia Code</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DevOps to GitHub Enterprise: The Great Migration</dc:title>
  <dc:subject>PptxGenJS Presentation</dc:subject>
  <dc:creator>Kevin Neumann</dc:creator>
  <cp:lastModifiedBy>Neumann, Kevin</cp:lastModifiedBy>
  <cp:revision>26</cp:revision>
  <dcterms:created xsi:type="dcterms:W3CDTF">2026-09-21T19:07:56Z</dcterms:created>
  <dcterms:modified xsi:type="dcterms:W3CDTF">2026-09-28T16:22:49Z</dcterms:modified>
</cp:coreProperties>
</file>