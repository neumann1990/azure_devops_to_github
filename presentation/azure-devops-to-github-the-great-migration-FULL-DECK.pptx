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3"/>
  </p:notesMasterIdLst>
  <p:sldIdLst>
    <p:sldId id="256" r:id="rId2"/>
    <p:sldId id="257" r:id="rId3"/>
    <p:sldId id="258" r:id="rId4"/>
    <p:sldId id="259" r:id="rId5"/>
    <p:sldId id="261" r:id="rId6"/>
    <p:sldId id="262" r:id="rId7"/>
    <p:sldId id="265" r:id="rId8"/>
    <p:sldId id="267" r:id="rId9"/>
    <p:sldId id="268" r:id="rId10"/>
    <p:sldId id="269" r:id="rId11"/>
    <p:sldId id="270" r:id="rId12"/>
    <p:sldId id="271" r:id="rId13"/>
    <p:sldId id="272" r:id="rId14"/>
    <p:sldId id="273" r:id="rId15"/>
    <p:sldId id="264" r:id="rId16"/>
    <p:sldId id="274" r:id="rId17"/>
    <p:sldId id="275" r:id="rId18"/>
    <p:sldId id="276" r:id="rId19"/>
    <p:sldId id="277" r:id="rId20"/>
    <p:sldId id="279" r:id="rId21"/>
    <p:sldId id="282" r:id="rId22"/>
    <p:sldId id="280" r:id="rId23"/>
    <p:sldId id="281" r:id="rId24"/>
    <p:sldId id="278" r:id="rId25"/>
    <p:sldId id="313" r:id="rId26"/>
    <p:sldId id="283" r:id="rId27"/>
    <p:sldId id="284" r:id="rId28"/>
    <p:sldId id="285" r:id="rId29"/>
    <p:sldId id="286" r:id="rId30"/>
    <p:sldId id="287" r:id="rId31"/>
    <p:sldId id="288" r:id="rId32"/>
    <p:sldId id="289" r:id="rId33"/>
    <p:sldId id="291" r:id="rId34"/>
    <p:sldId id="292" r:id="rId35"/>
    <p:sldId id="293" r:id="rId36"/>
    <p:sldId id="295" r:id="rId37"/>
    <p:sldId id="296" r:id="rId38"/>
    <p:sldId id="297" r:id="rId39"/>
    <p:sldId id="298" r:id="rId40"/>
    <p:sldId id="301" r:id="rId41"/>
    <p:sldId id="300" r:id="rId42"/>
    <p:sldId id="302" r:id="rId43"/>
    <p:sldId id="303" r:id="rId44"/>
    <p:sldId id="304" r:id="rId45"/>
    <p:sldId id="305" r:id="rId46"/>
    <p:sldId id="306" r:id="rId47"/>
    <p:sldId id="307" r:id="rId48"/>
    <p:sldId id="309" r:id="rId49"/>
    <p:sldId id="308" r:id="rId50"/>
    <p:sldId id="311" r:id="rId51"/>
    <p:sldId id="312"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2B2B"/>
    <a:srgbClr val="373636"/>
    <a:srgbClr val="1F3D2C"/>
    <a:srgbClr val="1D1610"/>
    <a:srgbClr val="F7F6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5883" autoAdjust="0"/>
  </p:normalViewPr>
  <p:slideViewPr>
    <p:cSldViewPr snapToGrid="0" snapToObjects="1">
      <p:cViewPr varScale="1">
        <p:scale>
          <a:sx n="122" d="100"/>
          <a:sy n="122" d="100"/>
        </p:scale>
        <p:origin x="1752"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5112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a:t>
            </a:r>
            <a:r>
              <a:rPr lang="en-US"/>
              <a:t>sponsor-thanks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six legs quickly. Budget for the 90-minute slot: section 1 about 8 minutes (including the opening), section 2 about 13, section 3 about 21, section 4 about 10, section 5 about 12, section 6 about 8. That is roughly 72 minutes of content plus four one-minute Q&amp;A pockets, which leaves about 14 minutes of open Q&amp;A on the thank-you slide. Section 3 includes the ELM slide; give it a few seconds and move on.</a:t>
            </a:r>
          </a:p>
          <a:p>
            <a:endParaRPr/>
          </a:p>
          <a:p>
            <a:r>
              <a:t>This is not a GitHub sales pitch. It is a field guide to what transfers cleanly, what must be redesigned, and what should deliberately remain in Azure DevOps.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Do not wink at the joke. This is the first of six opener cards plus a closer — it establishes the conceit. Pause after delivering the line before moving on. The next slide goes straight back to normal delivery.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Name the real reason teams migrate before the polite reasons: most of the agentic Copilot work (cloud agent, agentic code review, agentic </a:t>
            </a:r>
            <a:r>
              <a:rPr dirty="0" err="1"/>
              <a:t>Autofix</a:t>
            </a:r>
            <a:r>
              <a:rPr dirty="0"/>
              <a:t>, Agent HQ) ships on GitHub first. Be fair to Microsoft: Azure DevOps is gaining AI features too, and Copilot in the IDE works wherever the repository is hosted. The point is not that Azure DevOps has nothing; it is that the frontier depends on where the repository lives.</a:t>
            </a:r>
          </a:p>
          <a:p>
            <a:endParaRPr dirty="0"/>
          </a:p>
          <a:p>
            <a:r>
              <a:rPr dirty="0"/>
              <a:t>Open the table by getting ahead of the heckle: “Field guides go out of date, and so do capability tables. Everything here has a shelf life measured in sprints.” Then walk the four rows. The last one is the one that matters: the cloud agent needs a GitHub-hosted repository even when it is started from Azure Boards.</a:t>
            </a:r>
          </a:p>
          <a:p>
            <a:endParaRPr dirty="0"/>
          </a:p>
          <a:p>
            <a:r>
              <a:rPr dirty="0"/>
              <a:t>Do not frame this as “GitHub has AI and Azure DevOps does not.” Frame it as a difference in native depth, integration, and repository dependency.</a:t>
            </a:r>
          </a:p>
          <a:p>
            <a:endParaRPr dirty="0"/>
          </a:p>
          <a:p>
            <a:r>
              <a:rPr dirty="0"/>
              <a:t>CUT FROM THE SLIDE, for Q&amp;A:</a:t>
            </a:r>
          </a:p>
          <a:p>
            <a:r>
              <a:rPr dirty="0"/>
              <a:t>- Repository-aware chat. GitHub: native workspace and repository context. Azure DevOps: local repo context, plus Azure DevOps service context through MCP.</a:t>
            </a:r>
          </a:p>
          <a:p>
            <a:r>
              <a:rPr dirty="0"/>
              <a:t>- Multi-agent orchestration. GitHub: a central hub running Copilot, Claude and Codex sessions in parallel. Azure DevOps: no native equivalent; external agents connect through MCP.</a:t>
            </a:r>
          </a:p>
          <a:p>
            <a:r>
              <a:rPr dirty="0"/>
              <a:t>- Azure DevOps MCP. The Remote MCP Server is GA and the server itself is free; normal Azure DevOps pricing and AI-platform usage charges may still apply. The next slide covers MCP.</a:t>
            </a:r>
          </a:p>
          <a:p>
            <a:r>
              <a:rPr dirty="0"/>
              <a:t>- Licensing. Paid Copilot for agents and review; GitHub Code Security where </a:t>
            </a:r>
            <a:r>
              <a:rPr dirty="0" err="1"/>
              <a:t>Autofix</a:t>
            </a:r>
            <a:r>
              <a:rPr dirty="0"/>
              <a:t> is needed.</a:t>
            </a:r>
          </a:p>
          <a:p>
            <a:endParaRPr dirty="0"/>
          </a:p>
          <a:p>
            <a:r>
              <a:rPr dirty="0"/>
              <a:t>The capability gap is real, but it is neither absolute nor static. As of September 21, 2026: Azure DevOps Remote MCP Server is generally available; Copilot Code Review for Azure Repos is in public preview; Copilot </a:t>
            </a:r>
            <a:r>
              <a:rPr dirty="0" err="1"/>
              <a:t>Autofix</a:t>
            </a:r>
            <a:r>
              <a:rPr dirty="0"/>
              <a:t> for Azure DevOps remains in limited public preview; and GitHub Copilot cloud agent still requires a GitHub-hosted repository even when initiated from Azure Boards.</a:t>
            </a:r>
          </a:p>
          <a:p>
            <a:endParaRPr dirty="0"/>
          </a:p>
          <a:p>
            <a:r>
              <a:rPr dirty="0"/>
              <a:t>Sources (accessed September 21, 2026): GitHub Docs — About GitHub Copilot cloud agent; Integrating Copilot cloud agent with Azure Boards; About agent management; About </a:t>
            </a:r>
            <a:r>
              <a:rPr dirty="0" err="1"/>
              <a:t>autofix</a:t>
            </a:r>
            <a:r>
              <a:rPr dirty="0"/>
              <a:t> for code scanning. Microsoft Learn — Azure DevOps Sprint 278 and Sprint 279 release notes; Azure DevOps MCP Server overview; Copilot code review for Azure Repos; Copilot </a:t>
            </a:r>
            <a:r>
              <a:rPr dirty="0" err="1"/>
              <a:t>Autofix</a:t>
            </a:r>
            <a:r>
              <a:rPr dirty="0"/>
              <a:t> for GitHub Advanced Security for Azure DevOps. GitHub Changelog — Copilot code review now runs on an agentic architecture (March 5, 2026).</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keep it brisk — this is a framing slide, not a deep dive.</a:t>
            </a:r>
          </a:p>
          <a:p>
            <a:endParaRPr/>
          </a:p>
          <a:p>
            <a: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endParaRPr/>
          </a:p>
          <a:p>
            <a:r>
              <a:t>What it does not change: where pull-request automation runs, where repository security analysis runs, which policies can be enforced natively, which platform owns repository governance, and where code-centric agent workflows execute. All of those still follow the code.</a:t>
            </a:r>
          </a:p>
          <a:p>
            <a:endParaRPr/>
          </a:p>
          <a:p>
            <a: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move quickly — five rows, roughly fifteen seconds each, do not read them verbatim. Frame it up front as “even if you delete the entire AI argument, here is why teams still move.”</a:t>
            </a:r>
          </a:p>
          <a:p>
            <a:endParaRPr/>
          </a:p>
          <a:p>
            <a:r>
              <a:t>The 180M+ figure is GitHub's own Octoverse number and is current. On the marketplace row, the honest comparison is breadth of third-party actions versus the Azure Pipelines task catalogue — claim volume, not quality.</a:t>
            </a:r>
          </a:p>
          <a:p>
            <a:endParaRPr/>
          </a:p>
          <a:p>
            <a: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section 1's opener. Pause after the line, then go straight back to normal delivery for the scorecard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spoiler slide — the full seven-subsystem scorecard for the whole talk, not just section 2. Two travel clean (Repos, Wiki), four need a decision (Packages/Artifacts, Pipelines, Dashboards, Boards), one stays behind entirely (Test Plans).</a:t>
            </a:r>
          </a:p>
          <a:p>
            <a:endParaRPr dirty="0"/>
          </a:p>
          <a:p>
            <a:r>
              <a:rPr dirty="0"/>
              <a:t>Don't over-explain each row yet. Pipelines gets all of section 3; Boards and Test Plans get all of section 4. This slide's job is just to set the map before the detailed stops. Repos, Wiki, Packages/Artifacts and Dashboards get their own slides in the rest of this section.</a:t>
            </a:r>
          </a:p>
          <a:p>
            <a:endParaRPr dirty="0"/>
          </a:p>
          <a:p>
            <a:r>
              <a:rPr dirty="0"/>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Git is Git, so commit history is easy, and pull requests plus most branch policies migrate without much drama through GitHub Enterprise Importer.</a:t>
            </a:r>
            <a:br>
              <a:rPr lang="en-US" dirty="0"/>
            </a:br>
            <a:br>
              <a:rPr lang="en-US" dirty="0"/>
            </a:br>
            <a:r>
              <a:rPr lang="en-US" dirty="0"/>
              <a:t>Highlight that ADO Repos != GitHub Repos</a:t>
            </a:r>
            <a:endParaRPr dirty="0"/>
          </a:p>
          <a:p>
            <a:endParaRPr dirty="0"/>
          </a:p>
          <a:p>
            <a:r>
              <a:rPr dirty="0"/>
              <a:t>Verify target visibility during the trial migration. Migration scripts can preserve or explicitly set visibility, but enterprise policies and managed-user configurations may constrain the available choices.</a:t>
            </a:r>
          </a:p>
          <a:p>
            <a:endParaRPr dirty="0"/>
          </a:p>
          <a:p>
            <a:r>
              <a:rPr dirty="0"/>
              <a:t>If there’s time, mention the hard limits: during migration, 40 GiB per repository and 400 MiB per file; afterwards, GitHub’s normal 100 MiB per file, 2 GiB per commit and 2 GiB per push. Don’t recite them from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quick. Both wikis are Git repos, so the pages themselves copy with a clone and a push. The work is everything the Azure DevOps wiki layered on top: .order files and nested folders set page order and hierarchy, and GitHub’s wiki doesn’t read .order and shows a flat page list; Azure DevOps-only markdown ([[_TOC_]], ::: mermaid blocks, #123 work-item links, @mentions) renders as plain text or breaks; attachments live in a .attachments folder that page links point into.</a:t>
            </a:r>
          </a:p>
          <a:p>
            <a:endParaRPr dirty="0"/>
          </a:p>
          <a:p>
            <a:r>
              <a:rPr dirty="0"/>
              <a:t>Two things worth knowing if asked. Azure DevOps wiki permissions apply to the whole wiki, not to individual pages (Microsoft’s docs say so explicitly), so permissions are not the big conversation. And a code wiki, a repo folder published as a wiki, is just Markdown in the repository, so it travels with the repo migration. Many teams use the move to put the project wiki into a docs folder too.</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a:p>
            <a:endParaRPr/>
          </a:p>
          <a:p>
            <a:r>
              <a:t>If you’re weighing option two, check the feed types first. GitHub Packages covers npm, NuGet, Maven, Gradle, RubyGems and containers, but not PyPI or Universal Packages, and it has no equivalent of Azure Artifacts upstream sources (proxying nuget.org or npmjs). Any of those keeps Azure Artifacts in the picture.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lead with the correction rather than burying it: GitHub does not ship a DORA dashboard.</a:t>
            </a:r>
          </a:p>
          <a:p>
            <a:endParaRPr/>
          </a:p>
          <a:p>
            <a: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endParaRPr/>
          </a:p>
          <a:p>
            <a: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land this one deliberately — it’s the thesis the whole talk hangs on. Three audiences, one pattern: developers move to GitHub and get Copilot and Actions; managers keep Azure Boards, capacity charts and Power BI exactly as they are; and the budget conversation starts easier because GitHub Enterprise Cloud includes Azure DevOps Basic access for users who sign in with Entra ID.</a:t>
            </a:r>
          </a:p>
          <a:p>
            <a:endParaRPr/>
          </a:p>
          <a:p>
            <a:r>
              <a:t>Be precise about that grant: it covers Basic only. Test Plans (which section 4 tells you to keep) is a separate Azure DevOps licence, and Copilot, Secret Protection and Code Security, Actions overages, larger runners and the migration work itself are all separate costs.</a:t>
            </a:r>
          </a:p>
          <a:p>
            <a:endParaRPr/>
          </a:p>
          <a:p>
            <a:r>
              <a:t>What holds the two halves together is the integration layer: work-item traceability, commit and pull-request links, pipeline integration, identity mapping, and cross-platform reporting.</a:t>
            </a:r>
          </a:p>
          <a:p>
            <a:endParaRPr/>
          </a:p>
          <a:p>
            <a:r>
              <a:t>Explicitly reframe: this is the shape the rest of the talk builds toward, not a fallback. Section 4 comes back to this exact point for Boards and Projects.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3.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and take this one slowly — the rest of the section depends on the distinction.</a:t>
            </a:r>
          </a:p>
          <a:p>
            <a:endParaRPr dirty="0"/>
          </a:p>
          <a:p>
            <a:r>
              <a:rPr dirty="0"/>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endParaRPr dirty="0"/>
          </a:p>
          <a:p>
            <a:r>
              <a:rPr dirty="0"/>
              <a:t>Everything from here follows the planes.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Spend twenty seconds getting the naming right, because the docs don't and everyone who goes looking afterwards hits the same confusion.</a:t>
            </a:r>
          </a:p>
          <a:p>
            <a:endParaRPr dirty="0"/>
          </a:p>
          <a:p>
            <a:r>
              <a:rPr dirty="0"/>
              <a:t>Review the generated PowerShell as migration code, not disposable output — that is the bottom line on the slide.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Briefly mention it, but don’t spend much time on it. </a:t>
            </a:r>
          </a:p>
          <a:p>
            <a:endParaRPr dirty="0"/>
          </a:p>
          <a:p>
            <a:r>
              <a:rPr dirty="0"/>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endParaRPr dirty="0"/>
          </a:p>
          <a:p>
            <a:r>
              <a:rPr dirty="0"/>
              <a:t>It is also research-only for us: Hunter's current tenant does not meet the data-residency prerequisite, so we have not run it.</a:t>
            </a:r>
          </a:p>
          <a:p>
            <a:endParaRPr dirty="0"/>
          </a:p>
          <a:p>
            <a:r>
              <a:rPr dirty="0"/>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endParaRPr dirty="0"/>
          </a:p>
          <a:p>
            <a:r>
              <a:rPr dirty="0"/>
              <a:t>Keep the GEI comparison honest: gh-ado2gh --all already does the configuration work. What ELM genuinely adds is continuous delta synchronization and a scheduled cutover with a read-only window under thirty minutes. Pipeline logic and non-repository systems still need separate migration and validation — that is the takeaway line.</a:t>
            </a:r>
          </a:p>
          <a:p>
            <a:endParaRPr dirty="0"/>
          </a:p>
          <a:p>
            <a:r>
              <a:rPr dirty="0"/>
              <a:t>GitHub Enterprise Cloud (GHEC) with Data Residency is a distinct deployment model where:</a:t>
            </a:r>
          </a:p>
          <a:p>
            <a:r>
              <a:rPr dirty="0"/>
              <a:t> - Your enterprise is hosted on a dedicated ghe.com subdomain (instead of github.com&lt;org&gt;).</a:t>
            </a:r>
          </a:p>
          <a:p>
            <a:r>
              <a:rPr dirty="0"/>
              <a:t> - You choose the geographic region where your code and repository data are stored (currently including U.S., EU, Australia, and Japan).</a:t>
            </a:r>
          </a:p>
          <a:p>
            <a:r>
              <a:rPr dirty="0"/>
              <a:t> - The environment is isolated from the broader github.com ecosystem.</a:t>
            </a:r>
          </a:p>
          <a:p>
            <a:r>
              <a:rPr dirty="0"/>
              <a:t> - It requires Enterprise Managed Users (EMU). </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endParaRPr dirty="0"/>
          </a:p>
          <a:p>
            <a:r>
              <a:rPr dirty="0"/>
              <a:t>OPTIONAL LAUGH LINE — after reading the six decisions: “You are going to make all six of these decisions either way. The only question is whether you make them now, or at two in the morning, under pressure, by accident.”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automation-plane tool. The audit breakdown is the planning artifact: it turns “this looks hard” into a backlog with counts.</a:t>
            </a:r>
          </a:p>
          <a:p>
            <a:endParaRPr dirty="0"/>
          </a:p>
          <a:p>
            <a:r>
              <a:rPr dirty="0"/>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endParaRPr dirty="0"/>
          </a:p>
          <a:p>
            <a:r>
              <a:rPr dirty="0"/>
              <a:t>Conversion still leaves secrets, service connections, runner and network strategy, environments, approvals, custom tasks, and unsupported triggers for engineering judgment and validation.</a:t>
            </a:r>
            <a:endParaRPr lang="en-US" dirty="0"/>
          </a:p>
          <a:p>
            <a:endParaRPr lang="en-US" dirty="0"/>
          </a:p>
          <a:p>
            <a:pPr lvl="0"/>
            <a:r>
              <a:rPr lang="en-US" dirty="0"/>
              <a:t>Supported platforms:</a:t>
            </a:r>
            <a:br>
              <a:rPr lang="en-US" dirty="0"/>
            </a:br>
            <a:r>
              <a:rPr lang="en-US" sz="1200" b="0" i="0" kern="1200" dirty="0">
                <a:solidFill>
                  <a:schemeClr val="tx1"/>
                </a:solidFill>
                <a:effectLst/>
                <a:latin typeface="+mn-lt"/>
                <a:ea typeface="+mn-ea"/>
                <a:cs typeface="+mn-cs"/>
              </a:rPr>
              <a:t>Azure DevOps</a:t>
            </a:r>
          </a:p>
          <a:p>
            <a:pPr lvl="0"/>
            <a:r>
              <a:rPr lang="en-US" sz="1200" b="0" i="0" kern="1200" dirty="0">
                <a:solidFill>
                  <a:schemeClr val="tx1"/>
                </a:solidFill>
                <a:effectLst/>
                <a:latin typeface="+mn-lt"/>
                <a:ea typeface="+mn-ea"/>
                <a:cs typeface="+mn-cs"/>
              </a:rPr>
              <a:t>Bamboo</a:t>
            </a:r>
          </a:p>
          <a:p>
            <a:pPr lvl="0"/>
            <a:r>
              <a:rPr lang="en-US" sz="1200" b="0" i="0" kern="1200" dirty="0">
                <a:solidFill>
                  <a:schemeClr val="tx1"/>
                </a:solidFill>
                <a:effectLst/>
                <a:latin typeface="+mn-lt"/>
                <a:ea typeface="+mn-ea"/>
                <a:cs typeface="+mn-cs"/>
              </a:rPr>
              <a:t>Bitbucket Pipelines</a:t>
            </a:r>
          </a:p>
          <a:p>
            <a:pPr lvl="0"/>
            <a:r>
              <a:rPr lang="en-US" sz="1200" b="0" i="0" kern="1200" dirty="0" err="1">
                <a:solidFill>
                  <a:schemeClr val="tx1"/>
                </a:solidFill>
                <a:effectLst/>
                <a:latin typeface="+mn-lt"/>
                <a:ea typeface="+mn-ea"/>
                <a:cs typeface="+mn-cs"/>
              </a:rPr>
              <a:t>CircleCI</a:t>
            </a:r>
            <a:endParaRPr lang="en-US" sz="1200" b="0" i="0" kern="1200" dirty="0">
              <a:solidFill>
                <a:schemeClr val="tx1"/>
              </a:solidFill>
              <a:effectLst/>
              <a:latin typeface="+mn-lt"/>
              <a:ea typeface="+mn-ea"/>
              <a:cs typeface="+mn-cs"/>
            </a:endParaRPr>
          </a:p>
          <a:p>
            <a:pPr lvl="0"/>
            <a:r>
              <a:rPr lang="en-US" sz="1200" b="0" i="0" kern="1200" dirty="0">
                <a:solidFill>
                  <a:schemeClr val="tx1"/>
                </a:solidFill>
                <a:effectLst/>
                <a:latin typeface="+mn-lt"/>
                <a:ea typeface="+mn-ea"/>
                <a:cs typeface="+mn-cs"/>
              </a:rPr>
              <a:t>GitLab (both cloud and self-hosted)</a:t>
            </a:r>
          </a:p>
          <a:p>
            <a:pPr lvl="0"/>
            <a:r>
              <a:rPr lang="en-US" sz="1200" b="0" i="0" kern="1200" dirty="0">
                <a:solidFill>
                  <a:schemeClr val="tx1"/>
                </a:solidFill>
                <a:effectLst/>
                <a:latin typeface="+mn-lt"/>
                <a:ea typeface="+mn-ea"/>
                <a:cs typeface="+mn-cs"/>
              </a:rPr>
              <a:t>Jenkins</a:t>
            </a:r>
          </a:p>
          <a:p>
            <a:pPr lvl="0"/>
            <a:r>
              <a:rPr lang="en-US" sz="1200" b="0" i="0" kern="1200" dirty="0">
                <a:solidFill>
                  <a:schemeClr val="tx1"/>
                </a:solidFill>
                <a:effectLst/>
                <a:latin typeface="+mn-lt"/>
                <a:ea typeface="+mn-ea"/>
                <a:cs typeface="+mn-cs"/>
              </a:rPr>
              <a:t>Travis CI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Open the slide with the line: “Both platforms use YAML, in the same way that Java and JavaScript both contain the word ‘Java.’” It is also in the session abstract, so deliver it as a callback. It gets the laugh and it is the slide’s entire thesis: same syntax, different language. Say it once and move on.</a:t>
            </a:r>
          </a:p>
          <a:p>
            <a:endParaRPr dirty="0"/>
          </a:p>
          <a:p>
            <a:r>
              <a:rPr dirty="0"/>
              <a:t>Straight delivery after that. Use the table as a vocabulary guide, not a transliteration recipe. Ask what security or lifecycle boundary each stage represented. Manual judgment is needed where service connections, templates, approvals, runners, conditions and failure behavior do not map one to one. Worth saying out loud: Actions has no stages, so a multi-stage pipeline becomes jobs linked by needs, usually with environments carrying the approvals.</a:t>
            </a:r>
          </a:p>
          <a:p>
            <a:endParaRPr dirty="0"/>
          </a:p>
          <a:p>
            <a:r>
              <a:rPr dirty="0"/>
              <a:t>OPTIONAL LAUGH LINE — stop on the Service Connection row: “Two words on the left, </a:t>
            </a:r>
            <a:r>
              <a:rPr lang="en-US" dirty="0"/>
              <a:t>two</a:t>
            </a:r>
            <a:r>
              <a:rPr dirty="0"/>
              <a:t> on the right, and about three weeks in between.” This is the row the whole room has personally lost a sprint 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dirty="0"/>
              <a:t>Straight delivery, and slow down here — for an enterprise room this is the slide that separates a migration talk from a migration.</a:t>
            </a:r>
          </a:p>
          <a:p>
            <a:endParaRPr dirty="0"/>
          </a:p>
          <a:p>
            <a:r>
              <a:rPr dirty="0"/>
              <a:t>The setup: Actions Importer just told you the YAML converts. That is the easy half. The execution environment is the half that does not travel, and it is where regulated and on-prem estates actually stall.</a:t>
            </a:r>
          </a:p>
          <a:p>
            <a:endParaRPr dirty="0"/>
          </a:p>
          <a:p>
            <a:r>
              <a:rPr dirty="0"/>
              <a:t>Walk the left column as decisions, not tasks — each one has an owner and a cost attached. The two that bite hardest are the network path to private endpoints, and who operates self-hosted runners once the migration team goes away.</a:t>
            </a:r>
          </a:p>
          <a:p>
            <a:endParaRPr dirty="0"/>
          </a:p>
          <a:p>
            <a:r>
              <a:rPr dirty="0"/>
              <a:t>Walk the right column as evidence. Nobody gets to call the automation plane done on a green build; they get to call it done when an internal feed resolved, OIDC issued a real token, and something actually deployed.</a:t>
            </a:r>
          </a:p>
          <a:p>
            <a:endParaRPr dirty="0"/>
          </a:p>
          <a:p>
            <a:r>
              <a:rPr dirty="0"/>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endParaRPr dirty="0"/>
          </a:p>
          <a:p>
            <a:r>
              <a:rPr dirty="0"/>
              <a:t>If asked about act: it runs workflows in containers rather than GitHub's VMs, Linux runners only, and it does not support OIDC — so it will never prove any of the right-hand column.</a:t>
            </a:r>
          </a:p>
        </p:txBody>
      </p:sp>
      <p:sp>
        <p:nvSpPr>
          <p:cNvPr id="4" name="Slide Number Placeholder 3"/>
          <p:cNvSpPr>
            <a:spLocks noGrp="1"/>
          </p:cNvSpPr>
          <p:nvPr>
            <p:ph type="sldNum" sz="quarter" idx="10"/>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five steps across all three planes. Inventory before moving; trial-migrate repository data; rebuild automation semantics and the execution environment; prove equivalence and deployability; then cut over with monitoring and rollback ready.</a:t>
            </a:r>
          </a:p>
          <a:p>
            <a:endParaRPr/>
          </a:p>
          <a:p>
            <a:r>
              <a:t>Say the finish-line distinction out loud: first verified delivery, not first green build. A green build proves the workflow ran. It proves nothing about the artifact, the deployment, traceability, or your ability to go back.</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a reusable acceptance checklist — tell the room to photograph it, it is the most portable thing in the talk.</a:t>
            </a:r>
          </a:p>
          <a:p>
            <a:endParaRPr/>
          </a:p>
          <a:p>
            <a:r>
              <a:t>Emphasize that acceptance spans all three planes: repository data, automation, and validation/cutover. A repository URL and a green build do not prove identity, policy, artifact, deployment, observability, traceability, or rollback readiness.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30 seconds given how much ground this section covers. Take one quick question if a hand is up, otherwise move straight into section 4.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same conceit as the earlier section openers. Pause after the line, then go straight back to normal delivery for the Boards-vs-Projects framing slide. Keep this section brisk: five slides, and the payoff is the Test Plans slide and the recommendation, not length.</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Frame this before comparing feature by feature — Azure Boards and GitHub Projects are not two competitors in one category, they are two different models.</a:t>
            </a:r>
          </a:p>
          <a:p>
            <a:endParaRPr dirty="0"/>
          </a:p>
          <a:p>
            <a:r>
              <a:rPr dirty="0"/>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endParaRPr dirty="0"/>
          </a:p>
          <a:p>
            <a:r>
              <a:rPr dirty="0"/>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slide reading as a scored competition.</a:t>
            </a:r>
          </a:p>
          <a:p>
            <a:endParaRPr dirty="0"/>
          </a:p>
          <a:p>
            <a:r>
              <a:rPr dirty="0"/>
              <a:t>The next slide takes each tool on its own terms before comparing what's lost in a migration — say that as a transition, don't put it on the slide.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Take each tool on its own terms before comparing what a migration loses.</a:t>
            </a:r>
          </a:p>
          <a:p>
            <a:endParaRPr/>
          </a:p>
          <a:p>
            <a:r>
              <a:t>Left card, the enterprise case, stated plainly: hierarchical work items from Epics down to Tasks, built-in sprint planning and capacity management, Delivery Plans for dependencies across teams, and Boards Analytics feeding Power BI. It organizes around Project, Team and Area Path — a structure built for portfolios, not one team’s board.</a:t>
            </a:r>
          </a:p>
          <a:p>
            <a:endParaRPr/>
          </a:p>
          <a:p>
            <a:r>
              <a:t>Right card, and give Projects real credit, because the recommendation at the end of this section only carries weight if this half was honest. Projects is organized around custom fields (iteration, single-select, date, number) rather than a fixed process template. Sub-issues, issue types and dependencies are all GA, there are board, table and roadmap layouts, and automation comes built in or through Actions. It is org-level, not repo-scoped, and it lives next to the issues and PRs it tracks.</a:t>
            </a:r>
          </a:p>
          <a:p>
            <a:endParaRPr/>
          </a:p>
          <a:p>
            <a:r>
              <a:t>The contrast is process template versus fields and views, not enterprise versus toy. If asked about limits: a project holds up to 50 fields, counting the built-in ones.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Be concrete about the loss: sprint history and capacity data, custom process fields and rules, the process template itself, and the Project / Team / Area Path structure have no clean landing spot in GitHub Projects. Parent-child links are the exception; they can map to sub-issues, which go up to eight levels deep.</a:t>
            </a:r>
          </a:p>
          <a:p>
            <a:endParaRPr/>
          </a:p>
          <a:p>
            <a:r>
              <a:t>Set expectations on tooling honestly. There is no first-party tool that moves Azure Boards work items into GitHub Issues. The well-known azure-devops-migration-tools project moves work items between Azure DevOps projects and organizations, not to GitHub. What exists for GitHub is community scripts against the two APIs, and the data models still don’t line up, so this is a mapping project, not a one-command migration. This sets up the Test Plans slide and the recommendation that follows.</a:t>
            </a:r>
          </a:p>
          <a:p>
            <a:endParaRPr/>
          </a:p>
          <a:p>
            <a:r>
              <a:t>OPTIONAL LAUGH LINE — on losing sprint history and capacity data: “Nobody has ever asked to see sprint history from three years ago. They will ask exactly once, about six weeks after you delete it.”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let this one land plainly — it's probably the best-received slide in the whole deck precisely because it doesn't try to spin anything. </a:t>
            </a:r>
          </a:p>
          <a:p>
            <a:endParaRPr lang="en-US" dirty="0"/>
          </a:p>
          <a:p>
            <a:r>
              <a:rPr lang="en-US" dirty="0"/>
              <a:t>This is the shortest slide in the section on purpose — sometimes the honest answer is just 'it doesn't move, and that's fine,' and saying it plainly builds more credibility than manufacturing a workaround.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explicit takeaway for the section, and it is section 2’s hybrid pattern applied to planning: connect Azure Boards to your GitHub repos before touching anything else. Developers work in GitHub, next to Copilot and their pull requests; managers keep the sprint hub, capacity charts and Power BI reporting exactly where they are. The Azure Boards app for GitHub links commits and PRs back to work items with AB# mentions, and the Copilot cloud agent can be started from a Boards item.</a:t>
            </a:r>
          </a:p>
          <a:p>
            <a:endParaRPr/>
          </a:p>
          <a:p>
            <a:r>
              <a:t>Say the recommendation plainly: don’t migrate to GitHub Issues unless your planning needs are genuinely simple. For most teams past a handful of people, the hierarchy, capacity planning and reporting Azure Boards already gives you are worth keeping.</a:t>
            </a:r>
          </a:p>
          <a:p>
            <a:endParaRPr/>
          </a:p>
          <a:p>
            <a:r>
              <a:t>Then the nuance, which is the bottom bar: this isn’t an argument for Azure Boards forever. It’s an argument against defaulting to GitHub Issues just because the code moved. Where you plan work is a separate decision from where the code lives, so leave that door open.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5.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section’s thesis — land it early and come back to it. Most migrations that fail don’t fail in the converter; gh-ado2gh and Actions Importer do what they say. The execution-environment work from section 3 is real, but it is engineering you can plan. What sinks migrations is three predictable human failures: no real selection process (a choice made by momentum rather than evaluated on merit), customization starting before anyone understood the new tool, and a rollout that felt done TO people rather than WITH them. The rest of this section is about avoiding those three.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walking the steps: “In most organizations the real selection process is that somebody senior used it at their last job.” OPTIONAL LAUGH LINE, and it is precisely failure mode one from the previous slide.</a:t>
            </a:r>
          </a:p>
          <a:p>
            <a:endParaRPr/>
          </a:p>
          <a:p>
            <a:r>
              <a:t>Straight delivery, walk this quickly. Frame it for this room: you have already chosen GitHub, so this is for the choices inside the migration — Boards or Projects, hosted or self-hosted runners, Azure Artifacts or GitHub Packages. Define must-haves, assess real constraints like data residency and compliance, model one real increment of actual work in each option rather than watching a demo, score it with a weighted rubric so the decision is defensible later, then pilot.</a:t>
            </a:r>
          </a:p>
          <a:p>
            <a:endParaRPr/>
          </a:p>
          <a:p>
            <a:r>
              <a:t>Step five carries the second failure mode: customizing on day one locks in decisions made by people who didn’t understand the tool yet. Every custom field, automation rule or process tweak added before the pilot is a bet placed with the least information you’ll ever have — that’s the bottom bar. Run the pilot on defaults, then customize with real usage data instead of guesses.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Sticker-price comparisons are the easiest way to make a bad decision look rigorous. Compare the whole bill: licensing tiers; GitHub Secret Protection and GitHub Code Security, which since April 2025 are sold as two separate add-ons rather than one Advanced Security bundle (Azure DevOps sells the same two products, so security alone doesn’t tip the decision); runner and compute minutes; and the real admin and migration effort, which is easy to leave off a spreadsheet entirely.</a:t>
            </a:r>
          </a:p>
          <a:p>
            <a:endParaRPr/>
          </a:p>
          <a:p>
            <a:r>
              <a:t>The bottom bar is the part most business cases skip: price the migration and the steady state as two separate numbers, and count the months when both platforms are billing at once. Dual-running is where the estimate usually goes wrong.</a:t>
            </a:r>
          </a:p>
          <a:p>
            <a:endParaRPr/>
          </a:p>
          <a:p>
            <a:r>
              <a:t>OPTIONAL LAUGH LINE — on the last item of the cost model: “Every migration business case has a line called *migration effort*, and it is always the number nobody wanted to be the person to estimate.”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counterweight to section 1. AI is the honest reason most teams are migrating — this slide is where you pay that argument down so it reads as analysis rather than a pitch. Frame the four as a to-do list, not as reasons to doubt the move.</a:t>
            </a:r>
          </a:p>
          <a:p>
            <a:endParaRPr dirty="0"/>
          </a:p>
          <a:p>
            <a:r>
              <a:rPr dirty="0"/>
              <a:t>1. WORK ITEMS. Verified behavior, and it closes the loop with the Boards recommendation in section 4: when the Copilot cloud agent is triggered from an Azure Boards work item it captures the text fields — description, repro steps — plus the last 50 comments. So keeping Boards does not cost you the AI payoff; it just means the Boards item literally is the prompt.</a:t>
            </a:r>
          </a:p>
          <a:p>
            <a:endParaRPr dirty="0"/>
          </a:p>
          <a:p>
            <a:r>
              <a:rPr dirty="0"/>
              <a:t>2. CONVENTIONS. Three supported files: .</a:t>
            </a:r>
            <a:r>
              <a:rPr dirty="0" err="1"/>
              <a:t>github</a:t>
            </a:r>
            <a:r>
              <a:rPr dirty="0"/>
              <a:t>/copilot-instructions.md repository-wide, path-specific NAME.instructions.md under .</a:t>
            </a:r>
            <a:r>
              <a:rPr dirty="0" err="1"/>
              <a:t>github</a:t>
            </a:r>
            <a:r>
              <a:rPr dirty="0"/>
              <a:t>/instructions (cloud agent and code review only), and AGENTS.md anywhere in the tree, nearest one winning. Without them the agent infers house style from whatever it can see, which on a large legacy repo is whatever is oldest.</a:t>
            </a:r>
          </a:p>
          <a:p>
            <a:endParaRPr dirty="0"/>
          </a:p>
          <a:p>
            <a:r>
              <a:rPr dirty="0"/>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endParaRPr dirty="0"/>
          </a:p>
          <a:p>
            <a:r>
              <a:rPr dirty="0"/>
              <a:t>4. LICENSING. Moving the repository turns nothing on. The cloud agent needs a paid Copilot plan, it must be enabled on each connected repository, and an organization owner has to install the Azure Boards GitHub app before anyone can use the integration.</a:t>
            </a:r>
          </a:p>
          <a:p>
            <a:endParaRPr dirty="0"/>
          </a:p>
          <a:p>
            <a:r>
              <a:rPr dirty="0"/>
              <a:t>OPTIONAL LAUGH LINE — after “The work item is the prompt”: “Garbage in, garbage out — except now the garbage arrives with unit tests and a confident summary.”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a:t>
            </a:r>
            <a:endParaRPr lang="en-US" dirty="0"/>
          </a:p>
          <a:p>
            <a:endParaRPr lang="en-US" dirty="0"/>
          </a:p>
          <a:p>
            <a:r>
              <a:rPr dirty="0"/>
              <a:t>Then the documentary callback: the Senior Engineer from the opener card isn't wrong to be cautious about change, they're just defending the old pipeline with the wrong argument ('it's always worked') instead of the right one ('here's what the audit </a:t>
            </a:r>
            <a:r>
              <a:rPr dirty="0" err="1"/>
              <a:t>says'</a:t>
            </a:r>
            <a:r>
              <a:rPr dirty="0"/>
              <a:t>). Land this warmly, not as a dunk — the point is to hear the objection out and then hand them the Actions Importer audit from section 3. The bucket their pipeline landed in is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6, the final section.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practical, checklist-voiced part of the section. The five rows are meant to be read as "here is where these hide" — invite the room to mentally add their own sixth row, because every org has one nobody else would guess.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registers on this one slide. STRAIGHT for the top two cards — this is real mechanical risk, say it plainly.</a:t>
            </a:r>
          </a:p>
          <a:p>
            <a:endParaRPr/>
          </a:p>
          <a:p>
            <a:r>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 The EMU exception is no longer on the slide, so say it here.</a:t>
            </a:r>
          </a:p>
          <a:p>
            <a:endParaRPr/>
          </a:p>
          <a:p>
            <a:r>
              <a:t>Be precise about what sits on a mannequin: pull-request data only — authorship, comments and reviews. Work items don’t migrate at all, so there is no work-item history to reclaim.</a:t>
            </a:r>
          </a:p>
          <a:p>
            <a:endParaRPr/>
          </a:p>
          <a:p>
            <a:r>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briskly. For item three, recap the three planes and the cross-plane methods. For item five, reinforce that migration is an operating model: ownership, entry criteria, evidence, rollback, and decommissioning—not merely a tooling sequence.</a:t>
            </a:r>
          </a:p>
          <a:p>
            <a:endParaRPr/>
          </a:p>
          <a:p>
            <a:r>
              <a:t>Then hand straight off to the Unglamorous Truth slide. The recap is the list; that slide is the point. Do not editorialise between the two — just turn the page.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and let it land quieter than anything around it. This is the deck's thesis in one sentence, and it now sits where it earns the most: the recap just handed them six things to remember, and this is the one thing to feel.</a:t>
            </a:r>
          </a:p>
          <a:p>
            <a:endParaRPr dirty="0"/>
          </a:p>
          <a:p>
            <a:r>
              <a:rPr dirty="0"/>
              <a:t>The slide is built as a statement, not a section card — light ground, no motif, sentence </a:t>
            </a:r>
            <a:r>
              <a:rPr dirty="0" err="1"/>
              <a:t>centred</a:t>
            </a:r>
            <a:r>
              <a:rPr dirty="0"/>
              <a:t>, nothing on it competing with the line. Deliver the first sentence flat, then pause before the last clause. “And got fixed by people in the room” is the payoff and it is set in the accent </a:t>
            </a:r>
            <a:r>
              <a:rPr dirty="0" err="1"/>
              <a:t>colour</a:t>
            </a:r>
            <a:r>
              <a:rPr dirty="0"/>
              <a:t> for exactly that reason: land it on the people, not the checklist.</a:t>
            </a:r>
          </a:p>
          <a:p>
            <a:endParaRPr dirty="0"/>
          </a:p>
          <a:p>
            <a:r>
              <a:rPr dirty="0"/>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DOCUMENTARY VOICE — spoken live, slower than anything else in the deck.</a:t>
            </a:r>
          </a:p>
          <a:p>
            <a:endParaRPr dirty="0"/>
          </a:p>
          <a:p>
            <a:r>
              <a:rPr dirty="0"/>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endParaRPr dirty="0"/>
          </a:p>
          <a:p>
            <a:r>
              <a:rPr dirty="0"/>
              <a:t>That last line is the callback to section 6's title, so it should land as a click rather than a punchline. Let the silence sit for two full seconds before advancing — do not rush into the thank-you slide, and do not add another joke on top of it.</a:t>
            </a:r>
          </a:p>
          <a:p>
            <a:endParaRPr dirty="0"/>
          </a:p>
          <a:p>
            <a:r>
              <a:rPr dirty="0"/>
              <a:t>Note the division of </a:t>
            </a:r>
            <a:r>
              <a:rPr dirty="0" err="1"/>
              <a:t>labour</a:t>
            </a:r>
            <a:r>
              <a:rPr dirty="0"/>
              <a:t> with the Unglamorous Truth slide two back: that one is the sincere version in your own voice, this one is the funny version in the documentary voice. Sincerity first, laugh last.</a:t>
            </a:r>
          </a:p>
          <a:p>
            <a:endParaRPr dirty="0"/>
          </a:p>
          <a:p>
            <a:r>
              <a:rPr dirty="0"/>
              <a:t>---- ALTERNATE CLOSER, if this one doesn't fit on the night ----</a:t>
            </a:r>
          </a:p>
          <a:p>
            <a:endParaRPr dirty="0"/>
          </a:p>
          <a:p>
            <a:r>
              <a:rPr dirty="0"/>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warm. This is the handoff into the open Q&amp;A, roughly 14 minutes — there has been no interim pocket since section 5, so the room has been banking questions. Invite them explicitly rather than just stopping talking.</a:t>
            </a:r>
          </a:p>
          <a:p>
            <a:endParaRPr/>
          </a:p>
          <a:p>
            <a: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endParaRPr/>
          </a:p>
          <a:p>
            <a:r>
              <a:t>If a question needs more than the time you have, point at the code: the long answer is almost certainly already in the repo.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FCB2E6C-B1C0-81B8-1A95-7A3B7452C911}"/>
              </a:ext>
            </a:extLst>
          </p:cNvPr>
          <p:cNvSpPr>
            <a:spLocks noGrp="1"/>
          </p:cNvSpPr>
          <p:nvPr>
            <p:ph type="sldNum" sz="quarter" idx="10"/>
          </p:nvPr>
        </p:nvSpPr>
        <p:spPr/>
        <p:txBody>
          <a:bodyPr/>
          <a:lstStyle/>
          <a:p>
            <a:fld id="{BCB632DE-6AD4-40F1-944C-28C0E9BF62DC}" type="slidenum">
              <a:rPr lang="en-US" smtClean="0"/>
              <a:t>‹#›</a:t>
            </a:fld>
            <a:endParaRPr 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B22153-3E74-9A77-9771-8EE0002F3ED0}"/>
              </a:ext>
            </a:extLst>
          </p:cNvPr>
          <p:cNvSpPr>
            <a:spLocks noGrp="1"/>
          </p:cNvSpPr>
          <p:nvPr>
            <p:ph type="sldNum" sz="quarter" idx="4"/>
          </p:nvPr>
        </p:nvSpPr>
        <p:spPr>
          <a:xfrm>
            <a:off x="11612880" y="6492240"/>
            <a:ext cx="411480" cy="256032"/>
          </a:xfrm>
          <a:prstGeom prst="rect">
            <a:avLst/>
          </a:prstGeom>
        </p:spPr>
        <p:txBody>
          <a:bodyPr vert="horz" wrap="none" lIns="0" tIns="0" rIns="0" bIns="0" anchor="ctr"/>
          <a:lstStyle>
            <a:lvl1pPr algn="r">
              <a:defRPr sz="1000" b="0">
                <a:solidFill>
                  <a:srgbClr val="6B6B63"/>
                </a:solidFill>
                <a:latin typeface="Calibri"/>
              </a:defRPr>
            </a:lvl1pPr>
          </a:lstStyle>
          <a:p>
            <a:fld id="{BCB632DE-6AD4-40F1-944C-28C0E9BF62DC}"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18.png"/><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305" y="0"/>
            <a:ext cx="12191695" cy="6858000"/>
          </a:xfrm>
          <a:prstGeom prst="rect">
            <a:avLst/>
          </a:prstGeom>
          <a:solidFill>
            <a:srgbClr val="1F3D2C"/>
          </a:solidFill>
          <a:ln/>
        </p:spPr>
        <p:txBody>
          <a:bodyPr/>
          <a:lstStyle/>
          <a:p>
            <a:endParaRPr lang="en-US"/>
          </a:p>
        </p:txBody>
      </p:sp>
      <p:sp>
        <p:nvSpPr>
          <p:cNvPr id="3" name="Shape 1"/>
          <p:cNvSpPr/>
          <p:nvPr/>
        </p:nvSpPr>
        <p:spPr>
          <a:xfrm>
            <a:off x="0" y="5120640"/>
            <a:ext cx="12191695" cy="1737360"/>
          </a:xfrm>
          <a:prstGeom prst="rect">
            <a:avLst/>
          </a:prstGeom>
          <a:solidFill>
            <a:srgbClr val="142A1D"/>
          </a:solidFill>
          <a:ln/>
        </p:spPr>
        <p:txBody>
          <a:bodyPr/>
          <a:lstStyle/>
          <a:p>
            <a:endParaRPr lang="en-US"/>
          </a:p>
        </p:txBody>
      </p:sp>
      <p:pic>
        <p:nvPicPr>
          <p:cNvPr id="4" name="Image 0" descr="/home/claude/pptx-build/assets/icons/FaCompass-8C6A3F-400.png"/>
          <p:cNvPicPr>
            <a:picLocks noChangeAspect="1"/>
          </p:cNvPicPr>
          <p:nvPr/>
        </p:nvPicPr>
        <p:blipFill>
          <a:blip r:embed="rId3">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marL="0" indent="0">
              <a:buNone/>
            </a:pPr>
            <a:r>
              <a:rPr lang="en-US" sz="1800" b="1" kern="0" spc="300" dirty="0">
                <a:solidFill>
                  <a:srgbClr val="E0B85C"/>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marL="0" indent="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marL="0" indent="0">
              <a:buNone/>
            </a:pPr>
            <a:r>
              <a:rPr lang="en-US" sz="2400" i="1" dirty="0">
                <a:solidFill>
                  <a:srgbClr val="E0B85C"/>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marL="0" indent="0">
              <a:buNone/>
            </a:pPr>
            <a:r>
              <a:rPr lang="en-US" sz="1500" dirty="0">
                <a:solidFill>
                  <a:srgbClr val="F5F5F0"/>
                </a:solidFill>
                <a:latin typeface="Calibri" pitchFamily="34" charset="0"/>
                <a:ea typeface="Calibri" pitchFamily="34" charset="-122"/>
                <a:cs typeface="Calibri" pitchFamily="34" charset="-120"/>
              </a:rPr>
              <a:t>Kevin Neumann  •  Cloud &amp; AI Summit  •  September 30, 2026</a:t>
            </a:r>
            <a:endParaRPr lang="en-US" sz="1500" dirty="0"/>
          </a:p>
        </p:txBody>
      </p:sp>
      <p:sp>
        <p:nvSpPr>
          <p:cNvPr id="9" name="Slide Number Placeholder"/>
          <p:cNvSpPr>
            <a:spLocks noGrp="1"/>
          </p:cNvSpPr>
          <p:nvPr>
            <p:ph type="sldNum" sz="quarter" idx="10"/>
          </p:nvPr>
        </p:nvSpPr>
        <p:spPr/>
        <p:txBody>
          <a:bodyPr/>
          <a:lstStyle/>
          <a:p>
            <a:fld id="{BCB632DE-6AD4-40F1-944C-28C0E9BF62DC}" type="slidenum">
              <a:rPr lang="en-US">
                <a:solidFill>
                  <a:srgbClr val="E0B85C"/>
                </a:solidFill>
              </a:rPr>
              <a:t>1</a:t>
            </a:fld>
            <a:endParaRPr lang="en-US">
              <a:solidFill>
                <a:srgbClr val="E0B85C"/>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5" name="Slide Number Placeholder"/>
          <p:cNvSpPr>
            <a:spLocks noGrp="1"/>
          </p:cNvSpPr>
          <p:nvPr>
            <p:ph type="sldNum" sz="quarter" idx="10"/>
          </p:nvPr>
        </p:nvSpPr>
        <p:spPr/>
        <p:txBody>
          <a:bodyPr/>
          <a:lstStyle/>
          <a:p>
            <a:fld id="{BCB632DE-6AD4-40F1-944C-28C0E9BF62DC}" type="slidenum">
              <a:rPr lang="en-US"/>
              <a:t>2</a:t>
            </a:fld>
            <a:endParaRPr lang="en-US"/>
          </a:p>
        </p:txBody>
      </p:sp>
      <p:pic>
        <p:nvPicPr>
          <p:cNvPr id="7" name="Picture 6">
            <a:extLst>
              <a:ext uri="{FF2B5EF4-FFF2-40B4-BE49-F238E27FC236}">
                <a16:creationId xmlns:a16="http://schemas.microsoft.com/office/drawing/2014/main" id="{62312F7A-D149-7F69-75D6-2B4AA23FC0C3}"/>
              </a:ext>
            </a:extLst>
          </p:cNvPr>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7068312" cy="4434840"/>
          </a:xfrm>
          <a:prstGeom prst="roundRect">
            <a:avLst>
              <a:gd name="adj" fmla="val 247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78308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 Field Guide to the Local Species — what concepts natively thrive</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Crossing the River — </a:t>
            </a:r>
            <a:r>
              <a:rPr lang="en-US" sz="1600">
                <a:solidFill>
                  <a:srgbClr val="2B2B2B"/>
                </a:solidFill>
                <a:latin typeface="Calibri" pitchFamily="34" charset="0"/>
                <a:ea typeface="Calibri" pitchFamily="34" charset="-122"/>
                <a:cs typeface="Calibri" pitchFamily="34" charset="-120"/>
              </a:rPr>
              <a:t>repository data, automation, validation</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Watch as the Scrum Master Approaches Carefully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Senior Engineer Defends an Ancient Pipeline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754112" y="1554480"/>
            <a:ext cx="3858768" cy="4434840"/>
          </a:xfrm>
          <a:prstGeom prst="roundRect">
            <a:avLst>
              <a:gd name="adj" fmla="val 263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0" name="Text 17"/>
          <p:cNvSpPr txBox="1"/>
          <p:nvPr/>
        </p:nvSpPr>
        <p:spPr>
          <a:xfrm>
            <a:off x="8010144" y="1737360"/>
            <a:ext cx="338328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8010144" y="2331720"/>
            <a:ext cx="3383280" cy="3520440"/>
          </a:xfrm>
          <a:prstGeom prst="rect">
            <a:avLst/>
          </a:prstGeom>
          <a:noFill/>
          <a:ln/>
        </p:spPr>
        <p:txBody>
          <a:bodyPr wrap="square" lIns="0" tIns="0" rIns="0" bIns="0" rtlCol="0" anchor="ctr"/>
          <a:lstStyle/>
          <a:p>
            <a:pPr>
              <a:lnSpc>
                <a:spcPct val="115000"/>
              </a:lnSpc>
              <a:buSzPct val="100000"/>
            </a:pPr>
            <a:r>
              <a:rPr lang="en-US" sz="1500" b="1" dirty="0">
                <a:solidFill>
                  <a:srgbClr val="F5F5F0"/>
                </a:solidFill>
                <a:latin typeface="Calibri" pitchFamily="34" charset="0"/>
                <a:ea typeface="Calibri" pitchFamily="34" charset="-122"/>
                <a:cs typeface="Calibri" pitchFamily="34" charset="-120"/>
              </a:rPr>
              <a:t>Non-goal: </a:t>
            </a:r>
            <a:r>
              <a:rPr lang="en-US" sz="1500" dirty="0">
                <a:solidFill>
                  <a:srgbClr val="F5F5F0"/>
                </a:solidFill>
                <a:latin typeface="Calibri" pitchFamily="34" charset="0"/>
                <a:ea typeface="Calibri" pitchFamily="34" charset="-122"/>
                <a:cs typeface="Calibri" pitchFamily="34" charset="-120"/>
              </a:rPr>
              <a:t>comparing GitHub with every competing platform.</a:t>
            </a:r>
          </a:p>
          <a:p>
            <a:pPr>
              <a:lnSpc>
                <a:spcPct val="115000"/>
              </a:lnSpc>
              <a:buSzPct val="100000"/>
            </a:pPr>
            <a:endParaRPr lang="en-US" sz="1500" i="1" dirty="0">
              <a:solidFill>
                <a:srgbClr val="F5F5F0"/>
              </a:solidFill>
              <a:latin typeface="Calibri" pitchFamily="34" charset="0"/>
              <a:ea typeface="Calibri" pitchFamily="34" charset="-122"/>
              <a:cs typeface="Calibri" pitchFamily="34" charset="-120"/>
            </a:endParaRP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r>
              <a:rPr lang="en-US" sz="1500" i="1" dirty="0">
                <a:solidFill>
                  <a:srgbClr val="F5F5F0"/>
                </a:solidFill>
                <a:latin typeface="Calibri" pitchFamily="34" charset="0"/>
                <a:ea typeface="Calibri" pitchFamily="34" charset="-122"/>
                <a:cs typeface="Calibri" pitchFamily="34" charset="-120"/>
              </a:rPr>
              <a:t>Good news for fellow travelers: much of this trail works no matter which CI/CD platform you’re hiking toward.</a:t>
            </a:r>
            <a:endParaRPr lang="en-US" sz="1500" dirty="0"/>
          </a:p>
        </p:txBody>
      </p:sp>
      <p:sp>
        <p:nvSpPr>
          <p:cNvPr id="22" name="Slide Number Placeholder"/>
          <p:cNvSpPr>
            <a:spLocks noGrp="1"/>
          </p:cNvSpPr>
          <p:nvPr>
            <p:ph type="sldNum" sz="quarter" idx="10"/>
          </p:nvPr>
        </p:nvSpPr>
        <p:spPr/>
        <p:txBody>
          <a:bodyPr/>
          <a:lstStyle/>
          <a:p>
            <a:fld id="{BCB632DE-6AD4-40F1-944C-28C0E9BF62DC}" type="slidenum">
              <a:rPr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Why Leave the Herd</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Across the enterprise, teams gather at the edge of a familiar ecosystem and prepare to move toward a repository that has learned to act on its own.</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a:t>
            </a:fld>
            <a:endParaRPr lang="en-US">
              <a:solidFill>
                <a:srgbClr val="E0B85C"/>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31520"/>
            <a:ext cx="10469880" cy="566928"/>
          </a:xfrm>
          <a:prstGeom prst="rect">
            <a:avLst/>
          </a:prstGeom>
          <a:noFill/>
          <a:ln/>
        </p:spPr>
        <p:txBody>
          <a:bodyPr wrap="square" lIns="0" tIns="0" rIns="0" bIns="0" rtlCol="0" anchor="ctr"/>
          <a:lstStyle/>
          <a:p>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807384260"/>
              </p:ext>
            </p:extLst>
          </p:nvPr>
        </p:nvGraphicFramePr>
        <p:xfrm>
          <a:off x="548640" y="2331720"/>
          <a:ext cx="11064240" cy="310896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621792">
                <a:tc>
                  <a:txBody>
                    <a:bodyPr/>
                    <a:lstStyle/>
                    <a:p>
                      <a:pPr marL="0" indent="0">
                        <a:lnSpc>
                          <a:spcPct val="92000"/>
                        </a:lnSpc>
                        <a:buNone/>
                      </a:pPr>
                      <a:r>
                        <a:rPr lang="en-US" sz="1400" b="1">
                          <a:solidFill>
                            <a:srgbClr val="F5F5F0"/>
                          </a:solidFill>
                          <a:latin typeface="Calibri"/>
                        </a:rPr>
                        <a:t>Capability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GitHub </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Azure DevOps</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621792">
                <a:tc>
                  <a:txBody>
                    <a:bodyPr/>
                    <a:lstStyle/>
                    <a:p>
                      <a:pPr marL="0" indent="0">
                        <a:lnSpc>
                          <a:spcPct val="92000"/>
                        </a:lnSpc>
                        <a:buNone/>
                      </a:pPr>
                      <a:r>
                        <a:rPr lang="en-US" sz="1400" b="1">
                          <a:solidFill>
                            <a:srgbClr val="1F3D2C"/>
                          </a:solidFill>
                          <a:latin typeface="Cambria"/>
                        </a:rPr>
                        <a:t>Autonomous coding agents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Cloud agent changes code and opens pull requests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Azure Boards can trigger it, but output must be GitHub-hosted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nSpc>
                          <a:spcPct val="92000"/>
                        </a:lnSpc>
                        <a:buNone/>
                      </a:pPr>
                      <a:r>
                        <a:rPr lang="en-US" sz="1400" b="1">
                          <a:solidFill>
                            <a:srgbClr val="1F3D2C"/>
                          </a:solidFill>
                          <a:latin typeface="Cambria"/>
                        </a:rPr>
                        <a:t>Security remediation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GA; agentic Autofix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in limited preview through GitHub Code Security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621792">
                <a:tc>
                  <a:txBody>
                    <a:bodyPr/>
                    <a:lstStyle/>
                    <a:p>
                      <a:pPr marL="0" indent="0">
                        <a:lnSpc>
                          <a:spcPct val="92000"/>
                        </a:lnSpc>
                        <a:buNone/>
                      </a:pPr>
                      <a:r>
                        <a:rPr lang="en-US" sz="1400" b="1">
                          <a:solidFill>
                            <a:srgbClr val="1F3D2C"/>
                          </a:solidFill>
                          <a:latin typeface="Cambria"/>
                        </a:rPr>
                        <a:t>Agentic code review</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Agentic Copilot code review is GA</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Copilot Code Review for Azure Repos is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nSpc>
                          <a:spcPct val="92000"/>
                        </a:lnSpc>
                        <a:buNone/>
                      </a:pPr>
                      <a:r>
                        <a:rPr sz="1400" b="1">
                          <a:solidFill>
                            <a:srgbClr val="1F3D2C"/>
                          </a:solidFill>
                          <a:latin typeface="Cambria"/>
                        </a:rPr>
                        <a:t>Repository hosting requirement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Copilot cloud agent requires a GitHub-hosted repository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Review, Autofix, and MCP support Azure Repos; cloud agent does not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55000397"/>
                  </a:ext>
                </a:extLst>
              </a:tr>
            </a:tbl>
          </a:graphicData>
        </a:graphic>
      </p:graphicFrame>
      <p:sp>
        <p:nvSpPr>
          <p:cNvPr id="6" name="Shape 3"/>
          <p:cNvSpPr/>
          <p:nvPr/>
        </p:nvSpPr>
        <p:spPr>
          <a:xfrm>
            <a:off x="548640" y="5943600"/>
            <a:ext cx="11064240" cy="6400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wrap="square" lIns="256032" tIns="54864" rIns="256032" bIns="54864" anchor="ctr"/>
          <a:lstStyle/>
          <a:p>
            <a:pPr algn="l"/>
            <a:r>
              <a:rPr sz="1250" b="1" spc="120">
                <a:solidFill>
                  <a:srgbClr val="C1440E"/>
                </a:solidFill>
                <a:latin typeface="Calibri"/>
              </a:rPr>
              <a:t>VERIFY </a:t>
            </a:r>
            <a:r>
              <a:rPr sz="1500" b="0">
                <a:solidFill>
                  <a:srgbClr val="2B2B2B"/>
                </a:solidFill>
                <a:latin typeface="Calibri"/>
              </a:rPr>
              <a:t>Capability status, licensing and repository requirements change quickly — verify against the target tenant before planning around any single feature.</a:t>
            </a:r>
          </a:p>
        </p:txBody>
      </p:sp>
      <p:pic>
        <p:nvPicPr>
          <p:cNvPr id="12" name="Image 0" descr="/home/claude/pptx-build/assets/icons/FaRobot-FFFFFF-200.png">
            <a:extLst>
              <a:ext uri="{FF2B5EF4-FFF2-40B4-BE49-F238E27FC236}">
                <a16:creationId xmlns:a16="http://schemas.microsoft.com/office/drawing/2014/main" id="{C7D30FB2-0922-A6D6-BCA5-6BA66AED0F45}"/>
              </a:ext>
            </a:extLst>
          </p:cNvPr>
          <p:cNvPicPr>
            <a:picLocks noChangeAspect="1"/>
          </p:cNvPicPr>
          <p:nvPr/>
        </p:nvPicPr>
        <p:blipFill>
          <a:blip r:embed="rId3"/>
          <a:stretch>
            <a:fillRect/>
          </a:stretch>
        </p:blipFill>
        <p:spPr>
          <a:xfrm>
            <a:off x="685800" y="594360"/>
            <a:ext cx="292608" cy="292608"/>
          </a:xfrm>
          <a:prstGeom prst="rect">
            <a:avLst/>
          </a:prstGeom>
        </p:spPr>
      </p:pic>
      <p:sp>
        <p:nvSpPr>
          <p:cNvPr id="13" name="Lead"/>
          <p:cNvSpPr txBox="1"/>
          <p:nvPr/>
        </p:nvSpPr>
        <p:spPr>
          <a:xfrm>
            <a:off x="548640" y="1444752"/>
            <a:ext cx="11064240" cy="731520"/>
          </a:xfrm>
          <a:prstGeom prst="rect">
            <a:avLst/>
          </a:prstGeom>
          <a:noFill/>
        </p:spPr>
        <p:txBody>
          <a:bodyPr wrap="square" lIns="0" tIns="0" rIns="0" bIns="0">
            <a:spAutoFit/>
          </a:bodyPr>
          <a:lstStyle/>
          <a:p>
            <a:r>
              <a:rPr sz="1800" b="1">
                <a:solidFill>
                  <a:srgbClr val="2B2B2B"/>
                </a:solidFill>
                <a:latin typeface="Calibri"/>
              </a:rPr>
              <a:t>Most agentic Copilot features ship on GitHub first. </a:t>
            </a:r>
            <a:r>
              <a:rPr sz="1800" b="0">
                <a:solidFill>
                  <a:srgbClr val="2B2B2B"/>
                </a:solidFill>
                <a:latin typeface="Calibri"/>
              </a:rPr>
              <a:t>Azure DevOps keeps gaining AI features, but where the repository lives still decides which workflows run natively.</a:t>
            </a:r>
          </a:p>
        </p:txBody>
      </p:sp>
      <p:sp>
        <p:nvSpPr>
          <p:cNvPr id="14" name="Slide Number Placeholder"/>
          <p:cNvSpPr>
            <a:spLocks noGrp="1"/>
          </p:cNvSpPr>
          <p:nvPr>
            <p:ph type="sldNum" sz="quarter" idx="10"/>
          </p:nvPr>
        </p:nvSpPr>
        <p:spPr/>
        <p:txBody>
          <a:bodyPr/>
          <a:lstStyle/>
          <a:p>
            <a:fld id="{BCB632DE-6AD4-40F1-944C-28C0E9BF62DC}"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Sig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MCP Changed the Boundary, Not the Decision</a:t>
            </a:r>
            <a:endParaRPr lang="en-US" sz="3200" dirty="0"/>
          </a:p>
        </p:txBody>
      </p:sp>
      <p:sp>
        <p:nvSpPr>
          <p:cNvPr id="6" name="Shape 3"/>
          <p:cNvSpPr/>
          <p:nvPr/>
        </p:nvSpPr>
        <p:spPr>
          <a:xfrm>
            <a:off x="822960" y="5504688"/>
            <a:ext cx="10561320" cy="0"/>
          </a:xfrm>
          <a:prstGeom prst="line">
            <a:avLst/>
          </a:prstGeom>
          <a:noFill/>
          <a:ln w="19050">
            <a:solidFill>
              <a:srgbClr val="DDD8CC"/>
            </a:solidFill>
            <a:prstDash val="solid"/>
          </a:ln>
        </p:spPr>
        <p:txBody>
          <a:bodyPr/>
          <a:lstStyle/>
          <a:p>
            <a:endParaRPr lang="en-US"/>
          </a:p>
        </p:txBody>
      </p:sp>
      <p:sp>
        <p:nvSpPr>
          <p:cNvPr id="22" name="Text 19"/>
          <p:cNvSpPr txBox="1"/>
          <p:nvPr/>
        </p:nvSpPr>
        <p:spPr>
          <a:xfrm>
            <a:off x="822960" y="1325880"/>
            <a:ext cx="10561320" cy="566928"/>
          </a:xfrm>
          <a:prstGeom prst="rect">
            <a:avLst/>
          </a:prstGeom>
          <a:noFill/>
          <a:ln/>
        </p:spPr>
        <p:txBody>
          <a:bodyPr wrap="square" lIns="0" tIns="0" rIns="0" bIns="0" rtlCol="0" anchor="ctr"/>
          <a:lstStyle/>
          <a:p>
            <a:pPr marL="0" indent="0" algn="ctr">
              <a:buNone/>
            </a:pPr>
            <a:r>
              <a:rPr lang="en-US" sz="1800" i="0" dirty="0">
                <a:solidFill>
                  <a:srgbClr val="1F3D2C"/>
                </a:solidFill>
              </a:rPr>
              <a:t>MCP reduces the need for custom point-to-point integrations, but repository-native development and governance capabilities still depend on where the code resides.</a:t>
            </a:r>
            <a:endParaRPr lang="en-US" sz="1900" dirty="0"/>
          </a:p>
        </p:txBody>
      </p:sp>
      <p:sp>
        <p:nvSpPr>
          <p:cNvPr id="23" name="Shape 20"/>
          <p:cNvSpPr/>
          <p:nvPr/>
        </p:nvSpPr>
        <p:spPr>
          <a:xfrm>
            <a:off x="548640" y="2103120"/>
            <a:ext cx="5440680" cy="3200400"/>
          </a:xfrm>
          <a:prstGeom prst="roundRect">
            <a:avLst>
              <a:gd name="adj" fmla="val 461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4" name="Text 21"/>
          <p:cNvSpPr txBox="1"/>
          <p:nvPr/>
        </p:nvSpPr>
        <p:spPr>
          <a:xfrm>
            <a:off x="822960" y="2313432"/>
            <a:ext cx="4892040" cy="384048"/>
          </a:xfrm>
          <a:prstGeom prst="rect">
            <a:avLst/>
          </a:prstGeom>
          <a:noFill/>
          <a:ln/>
        </p:spPr>
        <p:txBody>
          <a:bodyPr wrap="square" lIns="0" tIns="0" rIns="0" bIns="0" rtlCol="0" anchor="ctr"/>
          <a:lstStyle/>
          <a:p>
            <a:pPr marL="0" indent="0">
              <a:buNone/>
            </a:pPr>
            <a:r>
              <a:rPr lang="en-US" sz="2000" b="1">
                <a:solidFill>
                  <a:srgbClr val="1F3D2C"/>
                </a:solidFill>
                <a:latin typeface="Cambria"/>
              </a:rPr>
              <a:t>What MCP changes</a:t>
            </a:r>
            <a:endParaRPr lang="en-US" sz="1600" dirty="0"/>
          </a:p>
        </p:txBody>
      </p:sp>
      <p:sp>
        <p:nvSpPr>
          <p:cNvPr id="25" name="Text 22"/>
          <p:cNvSpPr txBox="1"/>
          <p:nvPr/>
        </p:nvSpPr>
        <p:spPr>
          <a:xfrm>
            <a:off x="822960" y="2816352"/>
            <a:ext cx="4892040" cy="2148840"/>
          </a:xfrm>
          <a:prstGeom prst="rect">
            <a:avLst/>
          </a:prstGeom>
          <a:noFill/>
          <a:ln/>
        </p:spPr>
        <p:txBody>
          <a:bodyPr wrap="square" lIns="0" tIns="0" rIns="0" bIns="0" rtlCol="0" anchor="t"/>
          <a:lstStyle/>
          <a:p>
            <a:pPr marL="342900" indent="-342900">
              <a:lnSpc>
                <a:spcPct val="108000"/>
              </a:lnSpc>
              <a:spcAft>
                <a:spcPts val="1000"/>
              </a:spcAft>
              <a:buSzPct val="100000"/>
            </a:pPr>
            <a:r>
              <a:rPr lang="en-US" sz="1700" dirty="0">
                <a:solidFill>
                  <a:srgbClr val="2B2B2B"/>
                </a:solidFill>
                <a:latin typeface="Calibri"/>
              </a:rPr>
              <a:t>•  Agents can reach more enterprise systems.</a:t>
            </a:r>
            <a:endParaRPr lang="en-US" sz="1350" dirty="0"/>
          </a:p>
          <a:p>
            <a:pPr>
              <a:lnSpc>
                <a:spcPct val="108000"/>
              </a:lnSpc>
              <a:spcAft>
                <a:spcPts val="1000"/>
              </a:spcAft>
            </a:pPr>
            <a:r>
              <a:rPr lang="en-US" sz="1700" dirty="0">
                <a:solidFill>
                  <a:srgbClr val="2B2B2B"/>
                </a:solidFill>
                <a:latin typeface="Calibri"/>
              </a:rPr>
              <a:t>•  Cross-tool workflows require less bespoke integration.</a:t>
            </a:r>
          </a:p>
          <a:p>
            <a:pPr>
              <a:lnSpc>
                <a:spcPct val="108000"/>
              </a:lnSpc>
              <a:spcAft>
                <a:spcPts val="1000"/>
              </a:spcAft>
            </a:pPr>
            <a:r>
              <a:rPr lang="en-US" sz="1700" dirty="0">
                <a:solidFill>
                  <a:srgbClr val="2B2B2B"/>
                </a:solidFill>
                <a:latin typeface="Calibri"/>
              </a:rPr>
              <a:t>•  Platform boundaries are more permeable.</a:t>
            </a:r>
          </a:p>
        </p:txBody>
      </p:sp>
      <p:sp>
        <p:nvSpPr>
          <p:cNvPr id="26" name="Shape 23"/>
          <p:cNvSpPr/>
          <p:nvPr/>
        </p:nvSpPr>
        <p:spPr>
          <a:xfrm>
            <a:off x="6199632" y="2103120"/>
            <a:ext cx="5440680" cy="3200400"/>
          </a:xfrm>
          <a:prstGeom prst="roundRect">
            <a:avLst>
              <a:gd name="adj" fmla="val 461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Text 24"/>
          <p:cNvSpPr txBox="1"/>
          <p:nvPr/>
        </p:nvSpPr>
        <p:spPr>
          <a:xfrm>
            <a:off x="6473952" y="2313432"/>
            <a:ext cx="4892040" cy="384048"/>
          </a:xfrm>
          <a:prstGeom prst="rect">
            <a:avLst/>
          </a:prstGeom>
          <a:noFill/>
          <a:ln/>
        </p:spPr>
        <p:txBody>
          <a:bodyPr wrap="square" lIns="0" tIns="0" rIns="0" bIns="0" rtlCol="0" anchor="ctr"/>
          <a:lstStyle/>
          <a:p>
            <a:pPr marL="0" indent="0">
              <a:buNone/>
            </a:pPr>
            <a:r>
              <a:rPr lang="en-US" sz="2000" b="1">
                <a:solidFill>
                  <a:srgbClr val="F5F5F0"/>
                </a:solidFill>
                <a:latin typeface="Cambria"/>
              </a:rPr>
              <a:t>What MCP does not change</a:t>
            </a:r>
            <a:endParaRPr lang="en-US" sz="1600" dirty="0"/>
          </a:p>
        </p:txBody>
      </p:sp>
      <p:sp>
        <p:nvSpPr>
          <p:cNvPr id="28" name="Text 25"/>
          <p:cNvSpPr txBox="1"/>
          <p:nvPr/>
        </p:nvSpPr>
        <p:spPr>
          <a:xfrm>
            <a:off x="6473952" y="2816352"/>
            <a:ext cx="4892040" cy="2148840"/>
          </a:xfrm>
          <a:prstGeom prst="rect">
            <a:avLst/>
          </a:prstGeom>
          <a:noFill/>
          <a:ln/>
        </p:spPr>
        <p:txBody>
          <a:bodyPr wrap="square" lIns="0" tIns="0" rIns="0" bIns="0" rtlCol="0" anchor="t"/>
          <a:lstStyle/>
          <a:p>
            <a:pPr marL="0" indent="0">
              <a:lnSpc>
                <a:spcPct val="108000"/>
              </a:lnSpc>
              <a:spcAft>
                <a:spcPts val="600"/>
              </a:spcAft>
              <a:buNone/>
            </a:pPr>
            <a:r>
              <a:rPr lang="en-US" sz="1600" dirty="0">
                <a:solidFill>
                  <a:srgbClr val="F5F5F0"/>
                </a:solidFill>
                <a:latin typeface="Calibri"/>
              </a:rPr>
              <a:t>•  Where pull-request automation runs.</a:t>
            </a:r>
            <a:endParaRPr lang="en-US" sz="1300" dirty="0"/>
          </a:p>
          <a:p>
            <a:pPr>
              <a:lnSpc>
                <a:spcPct val="108000"/>
              </a:lnSpc>
              <a:spcAft>
                <a:spcPts val="600"/>
              </a:spcAft>
            </a:pPr>
            <a:r>
              <a:rPr lang="en-US" sz="1600" dirty="0">
                <a:solidFill>
                  <a:srgbClr val="F5F5F0"/>
                </a:solidFill>
                <a:latin typeface="Calibri"/>
              </a:rPr>
              <a:t>•  Where repository security analysis runs.</a:t>
            </a:r>
          </a:p>
          <a:p>
            <a:pPr>
              <a:lnSpc>
                <a:spcPct val="108000"/>
              </a:lnSpc>
              <a:spcAft>
                <a:spcPts val="600"/>
              </a:spcAft>
            </a:pPr>
            <a:r>
              <a:rPr lang="en-US" sz="1600" dirty="0">
                <a:solidFill>
                  <a:srgbClr val="F5F5F0"/>
                </a:solidFill>
                <a:latin typeface="Calibri"/>
              </a:rPr>
              <a:t>•  Which policies can be enforced natively.</a:t>
            </a:r>
          </a:p>
          <a:p>
            <a:pPr>
              <a:lnSpc>
                <a:spcPct val="108000"/>
              </a:lnSpc>
              <a:spcAft>
                <a:spcPts val="600"/>
              </a:spcAft>
            </a:pPr>
            <a:r>
              <a:rPr lang="en-US" sz="1600" dirty="0">
                <a:solidFill>
                  <a:srgbClr val="F5F5F0"/>
                </a:solidFill>
                <a:latin typeface="Calibri"/>
              </a:rPr>
              <a:t>•  Which platform owns repository governance.</a:t>
            </a:r>
          </a:p>
          <a:p>
            <a:pPr>
              <a:lnSpc>
                <a:spcPct val="108000"/>
              </a:lnSpc>
              <a:spcAft>
                <a:spcPts val="600"/>
              </a:spcAft>
            </a:pPr>
            <a:r>
              <a:rPr lang="en-US" sz="1600" dirty="0">
                <a:solidFill>
                  <a:srgbClr val="F5F5F0"/>
                </a:solidFill>
                <a:latin typeface="Calibri"/>
              </a:rPr>
              <a:t>•  Where code-centric agent workflows execute.</a:t>
            </a:r>
          </a:p>
        </p:txBody>
      </p:sp>
      <p:sp>
        <p:nvSpPr>
          <p:cNvPr id="31" name="Shape 15">
            <a:extLst>
              <a:ext uri="{FF2B5EF4-FFF2-40B4-BE49-F238E27FC236}">
                <a16:creationId xmlns:a16="http://schemas.microsoft.com/office/drawing/2014/main" id="{401AB940-2564-8BDF-3229-16D3A54BCA41}"/>
              </a:ext>
            </a:extLst>
          </p:cNvPr>
          <p:cNvSpPr/>
          <p:nvPr/>
        </p:nvSpPr>
        <p:spPr>
          <a:xfrm>
            <a:off x="548640" y="5756147"/>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3" name="Text 16">
            <a:extLst>
              <a:ext uri="{FF2B5EF4-FFF2-40B4-BE49-F238E27FC236}">
                <a16:creationId xmlns:a16="http://schemas.microsoft.com/office/drawing/2014/main" id="{9A7AECBA-1DA9-B352-68CE-3A2D1E3E15FE}"/>
              </a:ext>
            </a:extLst>
          </p:cNvPr>
          <p:cNvSpPr txBox="1"/>
          <p:nvPr/>
        </p:nvSpPr>
        <p:spPr>
          <a:xfrm>
            <a:off x="548640" y="5756147"/>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platform decision did not disappear. It merely acquired more adapters.</a:t>
            </a:r>
          </a:p>
        </p:txBody>
      </p:sp>
      <p:sp>
        <p:nvSpPr>
          <p:cNvPr id="34" name="Slide Number Placeholder"/>
          <p:cNvSpPr>
            <a:spLocks noGrp="1"/>
          </p:cNvSpPr>
          <p:nvPr>
            <p:ph type="sldNum" sz="quarter" idx="10"/>
          </p:nvPr>
        </p:nvSpPr>
        <p:spPr/>
        <p:txBody>
          <a:bodyPr/>
          <a:lstStyle/>
          <a:p>
            <a:fld id="{BCB632DE-6AD4-40F1-944C-28C0E9BF62DC}"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Non-AI Reasons for GitHub</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746504"/>
            <a:ext cx="566928" cy="566928"/>
          </a:xfrm>
          <a:prstGeom prst="ellipse">
            <a:avLst/>
          </a:prstGeom>
          <a:solidFill>
            <a:srgbClr val="C1440E"/>
          </a:solidFill>
          <a:ln/>
        </p:spPr>
        <p:txBody>
          <a:bodyPr/>
          <a:lstStyle/>
          <a:p>
            <a:endParaRPr lang="en-US"/>
          </a:p>
        </p:txBody>
      </p:sp>
      <p:pic>
        <p:nvPicPr>
          <p:cNvPr id="8" name="Image 1" descr="/home/claude/pptx-build/assets/icons/FaUsers-FFFFFF-200.png"/>
          <p:cNvPicPr>
            <a:picLocks noChangeAspect="1"/>
          </p:cNvPicPr>
          <p:nvPr/>
        </p:nvPicPr>
        <p:blipFill>
          <a:blip r:embed="rId3"/>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180M+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822960" y="2679192"/>
            <a:ext cx="566928" cy="566928"/>
          </a:xfrm>
          <a:prstGeom prst="ellipse">
            <a:avLst/>
          </a:prstGeom>
          <a:solidFill>
            <a:srgbClr val="C1440E"/>
          </a:solidFill>
          <a:ln/>
        </p:spPr>
        <p:txBody>
          <a:bodyPr/>
          <a:lstStyle/>
          <a:p>
            <a:endParaRPr lang="en-US"/>
          </a:p>
        </p:txBody>
      </p:sp>
      <p:pic>
        <p:nvPicPr>
          <p:cNvPr id="13" name="Image 2" descr="/home/claude/pptx-build/assets/icons/FaCubes-FFFFFF-200.png"/>
          <p:cNvPicPr>
            <a:picLocks noChangeAspect="1"/>
          </p:cNvPicPr>
          <p:nvPr/>
        </p:nvPicPr>
        <p:blipFill>
          <a:blip r:embed="rId4"/>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Large public Actions ecosystem and marketplace</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 y="3611880"/>
            <a:ext cx="566928" cy="566928"/>
          </a:xfrm>
          <a:prstGeom prst="ellipse">
            <a:avLst/>
          </a:prstGeom>
          <a:solidFill>
            <a:srgbClr val="C1440E"/>
          </a:solidFill>
          <a:ln/>
        </p:spPr>
        <p:txBody>
          <a:bodyPr/>
          <a:lstStyle/>
          <a:p>
            <a:endParaRPr lang="en-US"/>
          </a:p>
        </p:txBody>
      </p:sp>
      <p:pic>
        <p:nvPicPr>
          <p:cNvPr id="18" name="Image 3" descr="/home/claude/pptx-build/assets/icons/FaHandshake-FFFFFF-200.png"/>
          <p:cNvPicPr>
            <a:picLocks noChangeAspect="1"/>
          </p:cNvPicPr>
          <p:nvPr/>
        </p:nvPicPr>
        <p:blipFill>
          <a:blip r:embed="rId5"/>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6"/>
          <p:cNvSpPr/>
          <p:nvPr/>
        </p:nvSpPr>
        <p:spPr>
          <a:xfrm>
            <a:off x="822960" y="4544568"/>
            <a:ext cx="566928" cy="566928"/>
          </a:xfrm>
          <a:prstGeom prst="ellipse">
            <a:avLst/>
          </a:prstGeom>
          <a:solidFill>
            <a:srgbClr val="C1440E"/>
          </a:solidFill>
          <a:ln/>
        </p:spPr>
        <p:txBody>
          <a:bodyPr/>
          <a:lstStyle/>
          <a:p>
            <a:endParaRPr lang="en-US"/>
          </a:p>
        </p:txBody>
      </p:sp>
      <p:pic>
        <p:nvPicPr>
          <p:cNvPr id="23" name="Image 4" descr="/home/claude/pptx-build/assets/icons/FaSlidersH-FFFFFF-200.png"/>
          <p:cNvPicPr>
            <a:picLocks noChangeAspect="1"/>
          </p:cNvPicPr>
          <p:nvPr/>
        </p:nvPicPr>
        <p:blipFill>
          <a:blip r:embed="rId6"/>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0"/>
          <p:cNvSpPr/>
          <p:nvPr/>
        </p:nvSpPr>
        <p:spPr>
          <a:xfrm>
            <a:off x="822960" y="5477256"/>
            <a:ext cx="566928" cy="566928"/>
          </a:xfrm>
          <a:prstGeom prst="ellipse">
            <a:avLst/>
          </a:prstGeom>
          <a:solidFill>
            <a:srgbClr val="C1440E"/>
          </a:solidFill>
          <a:ln/>
        </p:spPr>
        <p:txBody>
          <a:bodyPr/>
          <a:lstStyle/>
          <a:p>
            <a:endParaRPr lang="en-US"/>
          </a:p>
        </p:txBody>
      </p:sp>
      <p:pic>
        <p:nvPicPr>
          <p:cNvPr id="28" name="Image 5" descr="/home/claude/pptx-build/assets/icons/FaTerminal-FFFFFF-200.png"/>
          <p:cNvPicPr>
            <a:picLocks noChangeAspect="1"/>
          </p:cNvPicPr>
          <p:nvPr/>
        </p:nvPicPr>
        <p:blipFill>
          <a:blip r:embed="rId7"/>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Tools like act run a workflow in a local container: fast feedback on syntax and job order, not a stand-in for CI.</a:t>
            </a:r>
            <a:endParaRPr lang="en-US" sz="1400" dirty="0"/>
          </a:p>
        </p:txBody>
      </p:sp>
      <p:sp>
        <p:nvSpPr>
          <p:cNvPr id="31" name="Slide Number Placeholder"/>
          <p:cNvSpPr>
            <a:spLocks noGrp="1"/>
          </p:cNvSpPr>
          <p:nvPr>
            <p:ph type="sldNum" sz="quarter" idx="10"/>
          </p:nvPr>
        </p:nvSpPr>
        <p:spPr/>
        <p:txBody>
          <a:bodyPr/>
          <a:lstStyle/>
          <a:p>
            <a:fld id="{BCB632DE-6AD4-40F1-944C-28C0E9BF62DC}"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8</a:t>
            </a:fld>
            <a:endParaRPr lang="en-US">
              <a:solidFill>
                <a:srgbClr val="E0B85C"/>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Lis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2784227124"/>
              </p:ext>
            </p:extLst>
          </p:nvPr>
        </p:nvGraphicFramePr>
        <p:xfrm>
          <a:off x="548640" y="1554480"/>
          <a:ext cx="11064240" cy="440436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21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gn="ctr">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Git history moves natively; supported PR metadata and repository-scoped policies move through GitHub Enterprise Importer (GEI).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Content travels; behavior needs review</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DORA dashboard; GitHub's built-ins are narrower than Boards Analytics + Power BI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Both are enterprise-capable, but the data models don’t line up — no clean migration path, so replaced history stays in the legacy system</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NO NATIVE DESTINATION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GitHub equivalent for structured manual and exploratory test management.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15" name="Slide Number Placeholder"/>
          <p:cNvSpPr>
            <a:spLocks noGrp="1"/>
          </p:cNvSpPr>
          <p:nvPr>
            <p:ph type="sldNum" sz="quarter" idx="10"/>
          </p:nvPr>
        </p:nvSpPr>
        <p:spPr/>
        <p:txBody>
          <a:bodyPr/>
          <a:lstStyle/>
          <a:p>
            <a:fld id="{BCB632DE-6AD4-40F1-944C-28C0E9BF62DC}"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deBranch-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Repos: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Full commit history, branches, and tags come natively</a:t>
            </a:r>
            <a:endParaRPr lang="en-US" sz="1600" dirty="0"/>
          </a:p>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Pull requests, with their comments, attachments, and review history (via GitHub Enterprise Importer)</a:t>
            </a:r>
            <a:endParaRPr lang="en-US" sz="1600" dirty="0"/>
          </a:p>
          <a:p>
            <a:pPr marL="342900" indent="-342900">
              <a:lnSpc>
                <a:spcPct val="115000"/>
              </a:lnSpc>
              <a:buSzPct val="100000"/>
              <a:buChar char="•"/>
            </a:pPr>
            <a:r>
              <a:rPr lang="en-US" sz="1600" dirty="0">
                <a:solidFill>
                  <a:srgbClr val="2B2B2B"/>
                </a:solidFill>
                <a:latin typeface="Calibri" pitchFamily="34" charset="0"/>
                <a:ea typeface="Calibri" pitchFamily="34" charset="-122"/>
                <a:cs typeface="Calibri" pitchFamily="34" charset="-120"/>
              </a:rPr>
              <a:t>Most branch policies — the ones scoped to a single repo (again via GEI)</a:t>
            </a:r>
            <a:endParaRPr lang="en-US" sz="160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Git LFS objects don’t migrate — push them separately</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TFVC repos need converting to Git first — no direct path</a:t>
            </a:r>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Identities carried over as mannequins</a:t>
            </a:r>
            <a:endParaRPr lang="en-US" sz="1600" dirty="0"/>
          </a:p>
        </p:txBody>
      </p:sp>
      <p:sp>
        <p:nvSpPr>
          <p:cNvPr id="13" name="Shape 13"/>
          <p:cNvSpPr/>
          <p:nvPr/>
        </p:nvSpPr>
        <p:spPr>
          <a:xfrm>
            <a:off x="548640" y="585216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4" name="Text 14"/>
          <p:cNvSpPr txBox="1"/>
          <p:nvPr/>
        </p:nvSpPr>
        <p:spPr>
          <a:xfrm>
            <a:off x="548640" y="585216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word “repo” survives the migration. The project-level boundary it used to sit inside — shared config, ownership, access — doesn’t come with it.</a:t>
            </a:r>
          </a:p>
        </p:txBody>
      </p:sp>
      <p:sp>
        <p:nvSpPr>
          <p:cNvPr id="12" name="Slide Number Placeholder"/>
          <p:cNvSpPr>
            <a:spLocks noGrp="1"/>
          </p:cNvSpPr>
          <p:nvPr>
            <p:ph type="sldNum" sz="quarter" idx="10"/>
          </p:nvPr>
        </p:nvSpPr>
        <p:spPr/>
        <p:txBody>
          <a:bodyPr/>
          <a:lstStyle/>
          <a:p>
            <a:fld id="{BCB632DE-6AD4-40F1-944C-28C0E9BF62DC}"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o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Wiki: The Pages Travel, the Structure Doesn’t</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65960"/>
            <a:ext cx="10332720" cy="2377440"/>
          </a:xfrm>
          <a:prstGeom prst="rect">
            <a:avLst/>
          </a:prstGeom>
          <a:noFill/>
          <a:ln/>
        </p:spPr>
        <p:txBody>
          <a:bodyPr wrap="square" lIns="0" tIns="0" rIns="0" bIns="0" rtlCol="0" anchor="ctr"/>
          <a:lstStyle/>
          <a:p>
            <a:pPr marL="0" indent="0">
              <a:lnSpc>
                <a:spcPct val="130000"/>
              </a:lnSpc>
              <a:buNone/>
            </a:pPr>
            <a:r>
              <a:rPr lang="en-US" sz="2000" dirty="0">
                <a:solidFill>
                  <a:srgbClr val="2B2B2B"/>
                </a:solidFill>
                <a:latin typeface="Calibri" pitchFamily="34" charset="0"/>
                <a:ea typeface="Calibri" pitchFamily="34" charset="-122"/>
                <a:cs typeface="Calibri" pitchFamily="34" charset="-120"/>
              </a:rPr>
              <a:t>Both wikis are Git repos under the hood, so the pages copy with a clone and a push. </a:t>
            </a:r>
          </a:p>
          <a:p>
            <a:pPr marL="0" indent="0">
              <a:lnSpc>
                <a:spcPct val="130000"/>
              </a:lnSpc>
              <a:buNone/>
            </a:pPr>
            <a:endParaRPr lang="en-US" sz="2000" b="1" dirty="0">
              <a:solidFill>
                <a:srgbClr val="2B2B2B"/>
              </a:solidFill>
              <a:latin typeface="Calibri" pitchFamily="34" charset="0"/>
              <a:ea typeface="Calibri" pitchFamily="34" charset="-122"/>
              <a:cs typeface="Calibri" pitchFamily="34" charset="-120"/>
            </a:endParaRPr>
          </a:p>
          <a:p>
            <a:pPr marL="0" indent="0">
              <a:lnSpc>
                <a:spcPct val="130000"/>
              </a:lnSpc>
              <a:buNone/>
            </a:pPr>
            <a:r>
              <a:rPr lang="en-US" sz="2000" b="1" dirty="0">
                <a:solidFill>
                  <a:srgbClr val="2B2B2B"/>
                </a:solidFill>
                <a:latin typeface="Calibri" pitchFamily="34" charset="0"/>
                <a:ea typeface="Calibri" pitchFamily="34" charset="-122"/>
                <a:cs typeface="Calibri" pitchFamily="34" charset="-120"/>
              </a:rPr>
              <a:t>What doesn’t copy cleanly: </a:t>
            </a:r>
            <a:r>
              <a:rPr lang="en-US" sz="2000" dirty="0">
                <a:solidFill>
                  <a:srgbClr val="2B2B2B"/>
                </a:solidFill>
                <a:latin typeface="Calibri" pitchFamily="34" charset="0"/>
                <a:ea typeface="Calibri" pitchFamily="34" charset="-122"/>
                <a:cs typeface="Calibri" pitchFamily="34" charset="-120"/>
              </a:rPr>
              <a:t>page order and nesting (Azure DevOps’ .order files and folders; GitHub’s wiki page list is flat), and Azure DevOps-only markdown such as [[_TOC_]] and #123 work-item links.</a:t>
            </a:r>
            <a:endParaRPr lang="en-US" sz="2000" dirty="0"/>
          </a:p>
        </p:txBody>
      </p:sp>
      <p:sp>
        <p:nvSpPr>
          <p:cNvPr id="10" name="Rounded Rectangle 30">
            <a:extLst>
              <a:ext uri="{FF2B5EF4-FFF2-40B4-BE49-F238E27FC236}">
                <a16:creationId xmlns:a16="http://schemas.microsoft.com/office/drawing/2014/main" id="{4C79931A-18FB-2E06-7724-BDDB838DEA87}"/>
              </a:ext>
            </a:extLst>
          </p:cNvPr>
          <p:cNvSpPr/>
          <p:nvPr/>
        </p:nvSpPr>
        <p:spPr>
          <a:xfrm>
            <a:off x="548640" y="4965192"/>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The pages copy in minutes. The structure and the Azure DevOps-only markdown are the real work.</a:t>
            </a:r>
          </a:p>
        </p:txBody>
      </p:sp>
      <p:sp>
        <p:nvSpPr>
          <p:cNvPr id="11" name="Slide Number Placeholder"/>
          <p:cNvSpPr>
            <a:spLocks noGrp="1"/>
          </p:cNvSpPr>
          <p:nvPr>
            <p:ph type="sldNum" sz="quarter" idx="10"/>
          </p:nvPr>
        </p:nvSpPr>
        <p:spPr/>
        <p:txBody>
          <a:bodyPr/>
          <a:lstStyle/>
          <a:p>
            <a:fld id="{BCB632DE-6AD4-40F1-944C-28C0E9BF62DC}"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xOpe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BoxOpen-FFFFFF-200.png"/>
          <p:cNvPicPr>
            <a:picLocks noChangeAspect="1"/>
          </p:cNvPicPr>
          <p:nvPr/>
        </p:nvPicPr>
        <p:blipFill>
          <a:blip r:embed="rId3"/>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Github-FFFFFF-200.png"/>
          <p:cNvPicPr>
            <a:picLocks noChangeAspect="1"/>
          </p:cNvPicPr>
          <p:nvPr/>
        </p:nvPicPr>
        <p:blipFill>
          <a:blip r:embed="rId4"/>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Consolidate onto one platform, if your feeds fit: no PyPI, Universal Packages or upstream sources.</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ExchangeAlt-FFFFFF-200.png"/>
          <p:cNvPicPr>
            <a:picLocks noChangeAspect="1"/>
          </p:cNvPicPr>
          <p:nvPr/>
        </p:nvPicPr>
        <p:blipFill>
          <a:blip r:embed="rId5"/>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25780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realistic target: GitHub Actions publishing to an existing Azure Artifacts feed — the answer for teams that can’t repoint every consumer at cutover.</a:t>
            </a:r>
            <a:endParaRPr lang="en-US" sz="1450" dirty="0"/>
          </a:p>
        </p:txBody>
      </p:sp>
      <p:sp>
        <p:nvSpPr>
          <p:cNvPr id="23" name="Slide Number Placeholder"/>
          <p:cNvSpPr>
            <a:spLocks noGrp="1"/>
          </p:cNvSpPr>
          <p:nvPr>
            <p:ph type="sldNum" sz="quarter" idx="10"/>
          </p:nvPr>
        </p:nvSpPr>
        <p:spPr/>
        <p:txBody>
          <a:bodyPr/>
          <a:lstStyle/>
          <a:p>
            <a:fld id="{BCB632DE-6AD4-40F1-944C-28C0E9BF62D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hartBa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20240"/>
            <a:ext cx="10332720" cy="219456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dirty="0"/>
          </a:p>
        </p:txBody>
      </p:sp>
      <p:sp>
        <p:nvSpPr>
          <p:cNvPr id="8" name="Shape 5"/>
          <p:cNvSpPr/>
          <p:nvPr/>
        </p:nvSpPr>
        <p:spPr>
          <a:xfrm>
            <a:off x="548640" y="45720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7200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E0B85C"/>
                </a:solidFill>
                <a:latin typeface="Calibri"/>
              </a:rPr>
              <a:t>TAKEAWAY </a:t>
            </a:r>
            <a:r>
              <a:rPr sz="1500" b="0">
                <a:solidFill>
                  <a:srgbClr val="F5F5F0"/>
                </a:solidFill>
                <a:latin typeface="Calibri"/>
              </a:rPr>
              <a:t>Neither platform hands you DORA. Agree on the four metrics first, then instrument them yourselves. That baseline outlives the migration.</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ayerGro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marL="0" indent="0" algn="ctr">
              <a:buNone/>
            </a:pPr>
            <a:r>
              <a:rPr lang="en-US" sz="2000" dirty="0">
                <a:solidFill>
                  <a:srgbClr val="1F3D2C"/>
                </a:solidFill>
                <a:ea typeface="Cambria" pitchFamily="34" charset="-122"/>
                <a:cs typeface="Cambria" pitchFamily="34" charset="-120"/>
              </a:rPr>
              <a:t>Portable, standards-based artifacts usually travel best. Platform-specific behavior and data models create the real migration work.</a:t>
            </a:r>
            <a:endParaRPr lang="en-US" sz="20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3154680"/>
            <a:ext cx="4800600" cy="45720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rPr>
              <a:t>Portable</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537960" y="315468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Platform-specific</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
        <p:nvSpPr>
          <p:cNvPr id="13" name="Slide Number Placeholder"/>
          <p:cNvSpPr>
            <a:spLocks noGrp="1"/>
          </p:cNvSpPr>
          <p:nvPr>
            <p:ph type="sldNum" sz="quarter" idx="10"/>
          </p:nvPr>
        </p:nvSpPr>
        <p:spPr/>
        <p:txBody>
          <a:bodyPr/>
          <a:lstStyle/>
          <a:p>
            <a:fld id="{BCB632DE-6AD4-40F1-944C-28C0E9BF62DC}" type="slidenum">
              <a:rPr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39" y="749808"/>
            <a:ext cx="10746545"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Hybrid: Leave What Makes Sense</a:t>
            </a:r>
            <a:endParaRPr lang="en-US" sz="3200" dirty="0"/>
          </a:p>
        </p:txBody>
      </p:sp>
      <p:sp>
        <p:nvSpPr>
          <p:cNvPr id="6" name="TextBox 5"/>
          <p:cNvSpPr txBox="1"/>
          <p:nvPr/>
        </p:nvSpPr>
        <p:spPr>
          <a:xfrm>
            <a:off x="548640" y="1525708"/>
            <a:ext cx="11064240" cy="276999"/>
          </a:xfrm>
          <a:prstGeom prst="rect">
            <a:avLst/>
          </a:prstGeom>
          <a:noFill/>
        </p:spPr>
        <p:txBody>
          <a:bodyPr wrap="square" lIns="0" tIns="0" rIns="0" bIns="0" anchor="ctr">
            <a:spAutoFit/>
          </a:bodyPr>
          <a:lstStyle/>
          <a:p>
            <a:pPr algn="l"/>
            <a:r>
              <a:rPr lang="en-US" sz="1800" b="1" i="0" dirty="0">
                <a:solidFill>
                  <a:srgbClr val="1F3D2C"/>
                </a:solidFill>
              </a:rPr>
              <a:t>Move repository-centric workflows to GitHub—retain Azure DevOps where it still provides material value.</a:t>
            </a:r>
          </a:p>
        </p:txBody>
      </p:sp>
      <p:sp>
        <p:nvSpPr>
          <p:cNvPr id="7" name="Rounded Rectangle 6"/>
          <p:cNvSpPr/>
          <p:nvPr/>
        </p:nvSpPr>
        <p:spPr>
          <a:xfrm>
            <a:off x="548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8" name="Rounded Rectangle 7"/>
          <p:cNvSpPr/>
          <p:nvPr/>
        </p:nvSpPr>
        <p:spPr>
          <a:xfrm>
            <a:off x="6263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9" name="TextBox 8"/>
          <p:cNvSpPr txBox="1"/>
          <p:nvPr/>
        </p:nvSpPr>
        <p:spPr>
          <a:xfrm>
            <a:off x="822960" y="2212848"/>
            <a:ext cx="4754880" cy="347472"/>
          </a:xfrm>
          <a:prstGeom prst="rect">
            <a:avLst/>
          </a:prstGeom>
          <a:noFill/>
        </p:spPr>
        <p:txBody>
          <a:bodyPr wrap="square" lIns="0" tIns="0" rIns="0" bIns="0" anchor="t">
            <a:spAutoFit/>
          </a:bodyPr>
          <a:lstStyle/>
          <a:p>
            <a:pPr algn="l"/>
            <a:r>
              <a:rPr sz="2200" b="1" i="0">
                <a:solidFill>
                  <a:srgbClr val="1F3D2C"/>
                </a:solidFill>
                <a:latin typeface="Cambria"/>
              </a:rPr>
              <a:t>GitHub</a:t>
            </a:r>
          </a:p>
        </p:txBody>
      </p:sp>
      <p:sp>
        <p:nvSpPr>
          <p:cNvPr id="10" name="TextBox 9"/>
          <p:cNvSpPr txBox="1"/>
          <p:nvPr/>
        </p:nvSpPr>
        <p:spPr>
          <a:xfrm>
            <a:off x="822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Repository + code workflows</a:t>
            </a:r>
          </a:p>
        </p:txBody>
      </p:sp>
      <p:sp>
        <p:nvSpPr>
          <p:cNvPr id="11" name="TextBox 10"/>
          <p:cNvSpPr txBox="1"/>
          <p:nvPr/>
        </p:nvSpPr>
        <p:spPr>
          <a:xfrm>
            <a:off x="822960" y="2971800"/>
            <a:ext cx="4709160" cy="1874519"/>
          </a:xfrm>
          <a:prstGeom prst="rect">
            <a:avLst/>
          </a:prstGeom>
          <a:noFill/>
        </p:spPr>
        <p:txBody>
          <a:bodyPr wrap="square" lIns="0" tIns="0" rIns="0" bIns="0" anchor="t">
            <a:spAutoFit/>
          </a:bodyPr>
          <a:lstStyle/>
          <a:p>
            <a:pPr algn="l">
              <a:lnSpc>
                <a:spcPts val="2100"/>
              </a:lnSpc>
              <a:spcAft>
                <a:spcPts val="700"/>
              </a:spcAft>
            </a:pPr>
            <a:r>
              <a:rPr lang="en-US" sz="1600">
                <a:solidFill>
                  <a:srgbClr val="2B2B2B"/>
                </a:solidFill>
                <a:latin typeface="Calibri"/>
              </a:rPr>
              <a:t>•  GitHub repositories</a:t>
            </a:r>
          </a:p>
          <a:p>
            <a:pPr algn="l">
              <a:lnSpc>
                <a:spcPts val="2100"/>
              </a:lnSpc>
              <a:spcAft>
                <a:spcPts val="700"/>
              </a:spcAft>
            </a:pPr>
            <a:r>
              <a:rPr lang="en-US" sz="1600">
                <a:solidFill>
                  <a:srgbClr val="2B2B2B"/>
                </a:solidFill>
                <a:latin typeface="Calibri"/>
              </a:rPr>
              <a:t>•  Pull requests and code review</a:t>
            </a:r>
          </a:p>
          <a:p>
            <a:pPr algn="l">
              <a:lnSpc>
                <a:spcPts val="2100"/>
              </a:lnSpc>
              <a:spcAft>
                <a:spcPts val="700"/>
              </a:spcAft>
            </a:pPr>
            <a:r>
              <a:rPr lang="en-US" sz="1600">
                <a:solidFill>
                  <a:srgbClr val="2B2B2B"/>
                </a:solidFill>
                <a:latin typeface="Calibri"/>
              </a:rPr>
              <a:t>•  Repository-native Copilot capabilities</a:t>
            </a:r>
          </a:p>
          <a:p>
            <a:pPr algn="l">
              <a:lnSpc>
                <a:spcPts val="2100"/>
              </a:lnSpc>
              <a:spcAft>
                <a:spcPts val="700"/>
              </a:spcAft>
            </a:pPr>
            <a:r>
              <a:rPr lang="en-US" sz="1600">
                <a:solidFill>
                  <a:srgbClr val="2B2B2B"/>
                </a:solidFill>
                <a:latin typeface="Calibri"/>
              </a:rPr>
              <a:t>•  GitHub Actions, where appropriate</a:t>
            </a:r>
          </a:p>
          <a:p>
            <a:pPr algn="l">
              <a:lnSpc>
                <a:spcPts val="2100"/>
              </a:lnSpc>
              <a:spcAft>
                <a:spcPts val="700"/>
              </a:spcAft>
            </a:pPr>
            <a:r>
              <a:rPr lang="en-US" sz="1600">
                <a:solidFill>
                  <a:srgbClr val="2B2B2B"/>
                </a:solidFill>
                <a:latin typeface="Calibri"/>
              </a:rPr>
              <a:t>•  Repository security and policy controls</a:t>
            </a:r>
          </a:p>
        </p:txBody>
      </p:sp>
      <p:sp>
        <p:nvSpPr>
          <p:cNvPr id="12" name="TextBox 11"/>
          <p:cNvSpPr txBox="1">
            <a:spLocks/>
          </p:cNvSpPr>
          <p:nvPr/>
        </p:nvSpPr>
        <p:spPr>
          <a:xfrm>
            <a:off x="6537960" y="2212848"/>
            <a:ext cx="4754880" cy="347472"/>
          </a:xfrm>
          <a:prstGeom prst="rect">
            <a:avLst/>
          </a:prstGeom>
          <a:noFill/>
        </p:spPr>
        <p:txBody>
          <a:bodyPr wrap="square" lIns="0" tIns="0" rIns="0" bIns="0" anchor="t">
            <a:spAutoFit/>
          </a:bodyPr>
          <a:lstStyle/>
          <a:p>
            <a:pPr algn="l"/>
            <a:r>
              <a:rPr lang="en-US" sz="2200" b="1" i="0">
                <a:solidFill>
                  <a:srgbClr val="1F3D2C"/>
                </a:solidFill>
                <a:latin typeface="Cambria"/>
              </a:rPr>
              <a:t>Azure DevOps</a:t>
            </a:r>
          </a:p>
        </p:txBody>
      </p:sp>
      <p:sp>
        <p:nvSpPr>
          <p:cNvPr id="13" name="TextBox 12"/>
          <p:cNvSpPr txBox="1">
            <a:spLocks/>
          </p:cNvSpPr>
          <p:nvPr/>
        </p:nvSpPr>
        <p:spPr>
          <a:xfrm>
            <a:off x="6537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Planning, portfolio + testing workflows</a:t>
            </a:r>
          </a:p>
        </p:txBody>
      </p:sp>
      <p:sp>
        <p:nvSpPr>
          <p:cNvPr id="14" name="TextBox 13"/>
          <p:cNvSpPr txBox="1"/>
          <p:nvPr/>
        </p:nvSpPr>
        <p:spPr>
          <a:xfrm>
            <a:off x="6537960" y="2971800"/>
            <a:ext cx="4709160" cy="1874519"/>
          </a:xfrm>
          <a:prstGeom prst="rect">
            <a:avLst/>
          </a:prstGeom>
          <a:noFill/>
        </p:spPr>
        <p:txBody>
          <a:bodyPr wrap="square" lIns="0" tIns="0" rIns="0" bIns="0" anchor="t">
            <a:spAutoFit/>
          </a:bodyPr>
          <a:lstStyle/>
          <a:p>
            <a:pPr algn="l">
              <a:lnSpc>
                <a:spcPts val="2100"/>
              </a:lnSpc>
              <a:spcAft>
                <a:spcPts val="700"/>
              </a:spcAft>
            </a:pPr>
            <a:r>
              <a:rPr sz="1600">
                <a:solidFill>
                  <a:srgbClr val="2B2B2B"/>
                </a:solidFill>
                <a:latin typeface="Calibri"/>
              </a:rPr>
              <a:t>•  Azure Boards—formal planning and reporting</a:t>
            </a:r>
          </a:p>
          <a:p>
            <a:pPr algn="l">
              <a:lnSpc>
                <a:spcPts val="2100"/>
              </a:lnSpc>
              <a:spcAft>
                <a:spcPts val="700"/>
              </a:spcAft>
            </a:pPr>
            <a:r>
              <a:rPr sz="1600">
                <a:solidFill>
                  <a:srgbClr val="2B2B2B"/>
                </a:solidFill>
                <a:latin typeface="Calibri"/>
              </a:rPr>
              <a:t>•  Azure Test Plans—structured manual testing</a:t>
            </a:r>
          </a:p>
          <a:p>
            <a:pPr algn="l">
              <a:lnSpc>
                <a:spcPts val="2100"/>
              </a:lnSpc>
              <a:spcAft>
                <a:spcPts val="700"/>
              </a:spcAft>
            </a:pPr>
            <a:r>
              <a:rPr sz="1600">
                <a:solidFill>
                  <a:srgbClr val="2B2B2B"/>
                </a:solidFill>
                <a:latin typeface="Calibri"/>
              </a:rPr>
              <a:t>•  Azure Pipelines—retained temporarily or deliberately</a:t>
            </a:r>
          </a:p>
        </p:txBody>
      </p:sp>
      <p:sp>
        <p:nvSpPr>
          <p:cNvPr id="34" name="Rounded Rectangle 30">
            <a:extLst>
              <a:ext uri="{FF2B5EF4-FFF2-40B4-BE49-F238E27FC236}">
                <a16:creationId xmlns:a16="http://schemas.microsoft.com/office/drawing/2014/main" id="{D1646937-CBCF-B3A5-B8E6-40CE73EF90E5}"/>
              </a:ext>
            </a:extLst>
          </p:cNvPr>
          <p:cNvSpPr/>
          <p:nvPr/>
        </p:nvSpPr>
        <p:spPr>
          <a:xfrm>
            <a:off x="548640" y="5349240"/>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Hybrid is not a temporary failure to finish the migration. It can be the intended architecture.</a:t>
            </a:r>
          </a:p>
        </p:txBody>
      </p:sp>
      <p:sp>
        <p:nvSpPr>
          <p:cNvPr id="35" name="Slide Number Placeholder"/>
          <p:cNvSpPr>
            <a:spLocks noGrp="1"/>
          </p:cNvSpPr>
          <p:nvPr>
            <p:ph type="sldNum" sz="quarter" idx="10"/>
          </p:nvPr>
        </p:nvSpPr>
        <p:spPr/>
        <p:txBody>
          <a:bodyPr/>
          <a:lstStyle/>
          <a:p>
            <a:fld id="{BCB632DE-6AD4-40F1-944C-28C0E9BF62DC}" type="slidenum">
              <a:rPr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16</a:t>
            </a:fld>
            <a:endParaRPr lang="en-US">
              <a:solidFill>
                <a:srgbClr val="E0B85C"/>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Crossing the River</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a:solidFill>
                  <a:srgbClr val="E0B85C"/>
                </a:solidFill>
                <a:latin typeface="Calibri"/>
              </a:rPr>
              <a:t>The river is crossed in layers: first the cargo, then the machinery that moves it, then the proof that it still works on the far bank.</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17</a:t>
            </a:fld>
            <a:endParaRPr lang="en-US">
              <a:solidFill>
                <a:srgbClr val="E0B85C"/>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ExclamationTriang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Migration Risk Lives in Three Planes</a:t>
            </a:r>
            <a:endParaRPr lang="en-US" sz="3200" dirty="0"/>
          </a:p>
        </p:txBody>
      </p:sp>
      <p:sp>
        <p:nvSpPr>
          <p:cNvPr id="6" name="Rectangle 5"/>
          <p:cNvSpPr/>
          <p:nvPr/>
        </p:nvSpPr>
        <p:spPr>
          <a:xfrm>
            <a:off x="548640" y="1994837"/>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77240" y="2150284"/>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01  REPOSITORY DATA PLANE</a:t>
            </a:r>
          </a:p>
        </p:txBody>
      </p:sp>
      <p:sp>
        <p:nvSpPr>
          <p:cNvPr id="8" name="TextBox 7"/>
          <p:cNvSpPr txBox="1">
            <a:spLocks/>
          </p:cNvSpPr>
          <p:nvPr/>
        </p:nvSpPr>
        <p:spPr>
          <a:xfrm>
            <a:off x="3337560" y="2177716"/>
            <a:ext cx="7955279" cy="658368"/>
          </a:xfrm>
          <a:prstGeom prst="rect">
            <a:avLst/>
          </a:prstGeom>
          <a:noFill/>
        </p:spPr>
        <p:txBody>
          <a:bodyPr wrap="square" lIns="73152" tIns="73152" rIns="73152" bIns="73152" anchor="ctr">
            <a:spAutoFit/>
          </a:bodyPr>
          <a:lstStyle/>
          <a:p>
            <a:pPr algn="l"/>
            <a:r>
              <a:rPr lang="en-US" sz="1900" b="1" i="0">
                <a:solidFill>
                  <a:srgbClr val="2B2B2B"/>
                </a:solidFill>
                <a:latin typeface="Cambria"/>
              </a:rPr>
              <a:t>Git history  •  PR metadata  •  branch policies  •  identity attribution</a:t>
            </a:r>
          </a:p>
        </p:txBody>
      </p:sp>
      <p:sp>
        <p:nvSpPr>
          <p:cNvPr id="9" name="Rectangle 8"/>
          <p:cNvSpPr>
            <a:spLocks/>
          </p:cNvSpPr>
          <p:nvPr/>
        </p:nvSpPr>
        <p:spPr>
          <a:xfrm>
            <a:off x="548640" y="3348149"/>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777240" y="3503597"/>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02  AUTOMATION PLANE</a:t>
            </a:r>
          </a:p>
        </p:txBody>
      </p:sp>
      <p:sp>
        <p:nvSpPr>
          <p:cNvPr id="11" name="TextBox 10"/>
          <p:cNvSpPr txBox="1">
            <a:spLocks/>
          </p:cNvSpPr>
          <p:nvPr/>
        </p:nvSpPr>
        <p:spPr>
          <a:xfrm>
            <a:off x="3337560" y="3493959"/>
            <a:ext cx="7955279" cy="732508"/>
          </a:xfrm>
          <a:prstGeom prst="rect">
            <a:avLst/>
          </a:prstGeom>
          <a:noFill/>
        </p:spPr>
        <p:txBody>
          <a:bodyPr wrap="square" lIns="73152" tIns="73152" rIns="73152" bIns="73152" anchor="ctr">
            <a:spAutoFit/>
          </a:bodyPr>
          <a:lstStyle/>
          <a:p>
            <a:r>
              <a:rPr lang="en-US" sz="1900" b="1" dirty="0">
                <a:solidFill>
                  <a:srgbClr val="2B2B2B"/>
                </a:solidFill>
                <a:latin typeface="Cambria"/>
              </a:rPr>
              <a:t>Builds  •  deployments  •  approvals  •  secrets  •  runners  •  environments</a:t>
            </a:r>
          </a:p>
        </p:txBody>
      </p:sp>
      <p:sp>
        <p:nvSpPr>
          <p:cNvPr id="12" name="Rectangle 11"/>
          <p:cNvSpPr>
            <a:spLocks/>
          </p:cNvSpPr>
          <p:nvPr/>
        </p:nvSpPr>
        <p:spPr>
          <a:xfrm>
            <a:off x="548640" y="4701461"/>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3" name="TextBox 12"/>
          <p:cNvSpPr txBox="1"/>
          <p:nvPr/>
        </p:nvSpPr>
        <p:spPr>
          <a:xfrm>
            <a:off x="777240" y="4856909"/>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03  VALIDATION PLANE</a:t>
            </a:r>
          </a:p>
        </p:txBody>
      </p:sp>
      <p:sp>
        <p:nvSpPr>
          <p:cNvPr id="14" name="TextBox 13"/>
          <p:cNvSpPr txBox="1"/>
          <p:nvPr/>
        </p:nvSpPr>
        <p:spPr>
          <a:xfrm>
            <a:off x="3337560" y="4884341"/>
            <a:ext cx="7955279" cy="658368"/>
          </a:xfrm>
          <a:prstGeom prst="rect">
            <a:avLst/>
          </a:prstGeom>
          <a:noFill/>
        </p:spPr>
        <p:txBody>
          <a:bodyPr wrap="square" lIns="73152" tIns="73152" rIns="73152" bIns="73152" anchor="ctr">
            <a:spAutoFit/>
          </a:bodyPr>
          <a:lstStyle/>
          <a:p>
            <a:pPr algn="l"/>
            <a:r>
              <a:rPr lang="en-US" sz="1900" b="1" i="0" dirty="0">
                <a:solidFill>
                  <a:srgbClr val="2B2B2B"/>
                </a:solidFill>
                <a:latin typeface="Cambria"/>
              </a:rPr>
              <a:t>Behavioral equivalence  •  security  •  performance  •  rollback  •  operability</a:t>
            </a:r>
          </a:p>
        </p:txBody>
      </p:sp>
      <p:sp>
        <p:nvSpPr>
          <p:cNvPr id="16" name="Slide Number Placeholder"/>
          <p:cNvSpPr>
            <a:spLocks noGrp="1"/>
          </p:cNvSpPr>
          <p:nvPr>
            <p:ph type="sldNum" sz="quarter" idx="10"/>
          </p:nvPr>
        </p:nvSpPr>
        <p:spPr/>
        <p:txBody>
          <a:bodyPr/>
          <a:lstStyle/>
          <a:p>
            <a:fld id="{BCB632DE-6AD4-40F1-944C-28C0E9BF62DC}" type="slidenum">
              <a:rPr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Migration Methods</a:t>
            </a:r>
            <a:endParaRPr lang="en-US" sz="3200" dirty="0"/>
          </a:p>
        </p:txBody>
      </p:sp>
      <p:graphicFrame>
        <p:nvGraphicFramePr>
          <p:cNvPr id="6" name="Table 5"/>
          <p:cNvGraphicFramePr>
            <a:graphicFrameLocks noGrp="1"/>
          </p:cNvGraphicFramePr>
          <p:nvPr>
            <p:extLst>
              <p:ext uri="{D42A27DB-BD31-4B8C-83A1-F6EECF244321}">
                <p14:modId xmlns:p14="http://schemas.microsoft.com/office/powerpoint/2010/main" val="4102190004"/>
              </p:ext>
            </p:extLst>
          </p:nvPr>
        </p:nvGraphicFramePr>
        <p:xfrm>
          <a:off x="548640" y="1508760"/>
          <a:ext cx="11045952" cy="4160520"/>
        </p:xfrm>
        <a:graphic>
          <a:graphicData uri="http://schemas.openxmlformats.org/drawingml/2006/table">
            <a:tbl>
              <a:tblPr firstRow="1" bandRow="1">
                <a:tableStyleId>{5C22544A-7EE6-4342-B048-85BDC9FD1C3A}</a:tableStyleId>
              </a:tblPr>
              <a:tblGrid>
                <a:gridCol w="1449034">
                  <a:extLst>
                    <a:ext uri="{9D8B030D-6E8A-4147-A177-3AD203B41FA5}">
                      <a16:colId xmlns:a16="http://schemas.microsoft.com/office/drawing/2014/main" val="20000"/>
                    </a:ext>
                  </a:extLst>
                </a:gridCol>
                <a:gridCol w="3023688">
                  <a:extLst>
                    <a:ext uri="{9D8B030D-6E8A-4147-A177-3AD203B41FA5}">
                      <a16:colId xmlns:a16="http://schemas.microsoft.com/office/drawing/2014/main" val="3429812597"/>
                    </a:ext>
                  </a:extLst>
                </a:gridCol>
                <a:gridCol w="3312741">
                  <a:extLst>
                    <a:ext uri="{9D8B030D-6E8A-4147-A177-3AD203B41FA5}">
                      <a16:colId xmlns:a16="http://schemas.microsoft.com/office/drawing/2014/main" val="20001"/>
                    </a:ext>
                  </a:extLst>
                </a:gridCol>
                <a:gridCol w="3260489">
                  <a:extLst>
                    <a:ext uri="{9D8B030D-6E8A-4147-A177-3AD203B41FA5}">
                      <a16:colId xmlns:a16="http://schemas.microsoft.com/office/drawing/2014/main" val="20003"/>
                    </a:ext>
                  </a:extLst>
                </a:gridCol>
              </a:tblGrid>
              <a:tr h="576072">
                <a:tc>
                  <a:txBody>
                    <a:bodyPr/>
                    <a:lstStyle/>
                    <a:p>
                      <a:pPr algn="l"/>
                      <a:r>
                        <a:rPr sz="1400" b="1">
                          <a:solidFill>
                            <a:srgbClr val="F5F5F0"/>
                          </a:solidFill>
                          <a:latin typeface="Calibri"/>
                        </a:rPr>
                        <a:t>MIGRATION PLANE</a:t>
                      </a:r>
                    </a:p>
                  </a:txBody>
                  <a:tcPr marT="64008" marB="64008" anchor="ctr">
                    <a:solidFill>
                      <a:srgbClr val="1F3D2C"/>
                    </a:solidFill>
                  </a:tcPr>
                </a:tc>
                <a:tc>
                  <a:txBody>
                    <a:bodyPr/>
                    <a:lstStyle/>
                    <a:p>
                      <a:pPr algn="l"/>
                      <a:r>
                        <a:rPr sz="1400" b="1" dirty="0">
                          <a:solidFill>
                            <a:srgbClr val="F5F5F0"/>
                          </a:solidFill>
                          <a:latin typeface="Calibri"/>
                        </a:rPr>
                        <a:t>OFFICIAL TOOLING</a:t>
                      </a:r>
                    </a:p>
                  </a:txBody>
                  <a:tcPr marT="64008" marB="64008" anchor="ctr">
                    <a:solidFill>
                      <a:srgbClr val="1F3D2C"/>
                    </a:solidFill>
                  </a:tcPr>
                </a:tc>
                <a:tc>
                  <a:txBody>
                    <a:bodyPr/>
                    <a:lstStyle/>
                    <a:p>
                      <a:pPr algn="l"/>
                      <a:r>
                        <a:rPr sz="1400" b="1" dirty="0">
                          <a:solidFill>
                            <a:srgbClr val="F5F5F0"/>
                          </a:solidFill>
                          <a:latin typeface="Calibri"/>
                        </a:rPr>
                        <a:t>MANUAL JUDGMENT</a:t>
                      </a:r>
                    </a:p>
                  </a:txBody>
                  <a:tcPr marT="64008" marB="64008" anchor="ctr">
                    <a:solidFill>
                      <a:srgbClr val="1F3D2C"/>
                    </a:solidFill>
                  </a:tcPr>
                </a:tc>
                <a:tc>
                  <a:txBody>
                    <a:bodyPr/>
                    <a:lstStyle/>
                    <a:p>
                      <a:pPr algn="l"/>
                      <a:r>
                        <a:rPr sz="1400" b="1">
                          <a:solidFill>
                            <a:srgbClr val="F5F5F0"/>
                          </a:solidFill>
                          <a:latin typeface="Calibri"/>
                        </a:rPr>
                        <a:t>AI ASSISTANCE</a:t>
                      </a:r>
                    </a:p>
                  </a:txBody>
                  <a:tcPr marT="64008" marB="64008" anchor="ctr">
                    <a:solidFill>
                      <a:srgbClr val="1F3D2C"/>
                    </a:solidFill>
                  </a:tcPr>
                </a:tc>
                <a:extLst>
                  <a:ext uri="{0D108BD9-81ED-4DB2-BD59-A6C34878D82A}">
                    <a16:rowId xmlns:a16="http://schemas.microsoft.com/office/drawing/2014/main" val="10000"/>
                  </a:ext>
                </a:extLst>
              </a:tr>
              <a:tr h="1188720">
                <a:tc>
                  <a:txBody>
                    <a:bodyPr/>
                    <a:lstStyle/>
                    <a:p>
                      <a:pPr algn="l"/>
                      <a:r>
                        <a:rPr sz="1400" b="1">
                          <a:solidFill>
                            <a:srgbClr val="C1440E"/>
                          </a:solidFill>
                          <a:latin typeface="Calibri"/>
                        </a:rPr>
                        <a:t>Repository data</a:t>
                      </a:r>
                    </a:p>
                  </a:txBody>
                  <a:tcPr marT="64008" marB="64008" anchor="ctr">
                    <a:solidFill>
                      <a:srgbClr val="F7F6F2"/>
                    </a:solidFill>
                  </a:tcPr>
                </a:tc>
                <a:tc>
                  <a:txBody>
                    <a:bodyPr/>
                    <a:lstStyle/>
                    <a:p>
                      <a:pPr algn="l"/>
                      <a:r>
                        <a:rPr sz="1400" b="0" dirty="0">
                          <a:solidFill>
                            <a:srgbClr val="2B2B2B"/>
                          </a:solidFill>
                          <a:latin typeface="Calibri"/>
                        </a:rPr>
                        <a:t>GEI / gh-ado2gh; Enterprise Live Migrations (ELM) where eligible.</a:t>
                      </a:r>
                    </a:p>
                  </a:txBody>
                  <a:tcPr marT="64008" marB="64008" anchor="ctr">
                    <a:solidFill>
                      <a:srgbClr val="F7F6F2"/>
                    </a:solidFill>
                  </a:tcPr>
                </a:tc>
                <a:tc>
                  <a:txBody>
                    <a:bodyPr/>
                    <a:lstStyle/>
                    <a:p>
                      <a:pPr algn="l"/>
                      <a:r>
                        <a:rPr sz="1400" b="0">
                          <a:solidFill>
                            <a:srgbClr val="2B2B2B"/>
                          </a:solidFill>
                          <a:latin typeface="Calibri"/>
                        </a:rPr>
                        <a:t>Resolve identity, permissions, visibility, and policy exceptions.</a:t>
                      </a:r>
                    </a:p>
                  </a:txBody>
                  <a:tcPr marT="64008" marB="64008" anchor="ctr">
                    <a:solidFill>
                      <a:srgbClr val="F7F6F2"/>
                    </a:solidFill>
                  </a:tcPr>
                </a:tc>
                <a:tc>
                  <a:txBody>
                    <a:bodyPr/>
                    <a:lstStyle/>
                    <a:p>
                      <a:pPr algn="l"/>
                      <a:r>
                        <a:rPr sz="1400" b="0">
                          <a:solidFill>
                            <a:srgbClr val="2B2B2B"/>
                          </a:solidFill>
                          <a:latin typeface="Calibri"/>
                        </a:rPr>
                        <a:t>Triage inventory and explain migration-log failures.</a:t>
                      </a:r>
                    </a:p>
                  </a:txBody>
                  <a:tcPr marT="64008" marB="64008" anchor="ctr">
                    <a:solidFill>
                      <a:srgbClr val="F7F6F2"/>
                    </a:solidFill>
                  </a:tcPr>
                </a:tc>
                <a:extLst>
                  <a:ext uri="{0D108BD9-81ED-4DB2-BD59-A6C34878D82A}">
                    <a16:rowId xmlns:a16="http://schemas.microsoft.com/office/drawing/2014/main" val="10001"/>
                  </a:ext>
                </a:extLst>
              </a:tr>
              <a:tr h="1188720">
                <a:tc>
                  <a:txBody>
                    <a:bodyPr/>
                    <a:lstStyle/>
                    <a:p>
                      <a:pPr algn="l"/>
                      <a:r>
                        <a:rPr sz="1400" b="1" dirty="0">
                          <a:solidFill>
                            <a:srgbClr val="C1440E"/>
                          </a:solidFill>
                          <a:latin typeface="Calibri"/>
                        </a:rPr>
                        <a:t>Automation</a:t>
                      </a:r>
                    </a:p>
                  </a:txBody>
                  <a:tcPr marT="64008" marB="64008" anchor="ctr">
                    <a:solidFill>
                      <a:srgbClr val="FFFFFF"/>
                    </a:solidFill>
                  </a:tcPr>
                </a:tc>
                <a:tc>
                  <a:txBody>
                    <a:bodyPr/>
                    <a:lstStyle/>
                    <a:p>
                      <a:pPr algn="l"/>
                      <a:r>
                        <a:rPr sz="1400" b="0" dirty="0">
                          <a:solidFill>
                            <a:srgbClr val="2B2B2B"/>
                          </a:solidFill>
                          <a:latin typeface="Calibri"/>
                        </a:rPr>
                        <a:t>Actions Importer audits and converts supported constructs.</a:t>
                      </a:r>
                    </a:p>
                  </a:txBody>
                  <a:tcPr marT="64008" marB="64008" anchor="ctr">
                    <a:solidFill>
                      <a:srgbClr val="FFFFFF"/>
                    </a:solidFill>
                  </a:tcPr>
                </a:tc>
                <a:tc>
                  <a:txBody>
                    <a:bodyPr/>
                    <a:lstStyle/>
                    <a:p>
                      <a:pPr algn="l"/>
                      <a:r>
                        <a:rPr sz="1400" b="0">
                          <a:solidFill>
                            <a:srgbClr val="2B2B2B"/>
                          </a:solidFill>
                          <a:latin typeface="Calibri"/>
                        </a:rPr>
                        <a:t>Redesign approvals, secrets, runners, environments, and lifecycle boundaries.</a:t>
                      </a:r>
                    </a:p>
                  </a:txBody>
                  <a:tcPr marT="64008" marB="64008" anchor="ctr">
                    <a:solidFill>
                      <a:srgbClr val="FFFFFF"/>
                    </a:solidFill>
                  </a:tcPr>
                </a:tc>
                <a:tc>
                  <a:txBody>
                    <a:bodyPr/>
                    <a:lstStyle/>
                    <a:p>
                      <a:pPr algn="l"/>
                      <a:r>
                        <a:rPr sz="1400" b="0" dirty="0">
                          <a:solidFill>
                            <a:srgbClr val="2B2B2B"/>
                          </a:solidFill>
                          <a:latin typeface="Calibri"/>
                        </a:rPr>
                        <a:t>Analyze intent, draft semantic conversions, and explain deltas.</a:t>
                      </a:r>
                    </a:p>
                  </a:txBody>
                  <a:tcPr marT="64008" marB="64008" anchor="ctr">
                    <a:solidFill>
                      <a:srgbClr val="FFFFFF"/>
                    </a:solidFill>
                  </a:tcPr>
                </a:tc>
                <a:extLst>
                  <a:ext uri="{0D108BD9-81ED-4DB2-BD59-A6C34878D82A}">
                    <a16:rowId xmlns:a16="http://schemas.microsoft.com/office/drawing/2014/main" val="10002"/>
                  </a:ext>
                </a:extLst>
              </a:tr>
              <a:tr h="1207008">
                <a:tc>
                  <a:txBody>
                    <a:bodyPr/>
                    <a:lstStyle/>
                    <a:p>
                      <a:pPr algn="l"/>
                      <a:r>
                        <a:rPr sz="1400" b="1">
                          <a:solidFill>
                            <a:srgbClr val="C1440E"/>
                          </a:solidFill>
                          <a:latin typeface="Calibri"/>
                        </a:rPr>
                        <a:t>Validation</a:t>
                      </a:r>
                    </a:p>
                  </a:txBody>
                  <a:tcPr marT="64008" marB="64008" anchor="ctr">
                    <a:solidFill>
                      <a:srgbClr val="F7F6F2"/>
                    </a:solidFill>
                  </a:tcPr>
                </a:tc>
                <a:tc>
                  <a:txBody>
                    <a:bodyPr/>
                    <a:lstStyle/>
                    <a:p>
                      <a:pPr algn="l"/>
                      <a:r>
                        <a:rPr sz="1400" b="0" dirty="0">
                          <a:solidFill>
                            <a:srgbClr val="2B2B2B"/>
                          </a:solidFill>
                          <a:latin typeface="Calibri"/>
                        </a:rPr>
                        <a:t>Tests, scanners, deployment gates, and observability.</a:t>
                      </a:r>
                    </a:p>
                  </a:txBody>
                  <a:tcPr marT="64008" marB="64008" anchor="ctr">
                    <a:solidFill>
                      <a:srgbClr val="F7F6F2"/>
                    </a:solidFill>
                  </a:tcPr>
                </a:tc>
                <a:tc>
                  <a:txBody>
                    <a:bodyPr/>
                    <a:lstStyle/>
                    <a:p>
                      <a:pPr algn="l"/>
                      <a:r>
                        <a:rPr sz="1400" b="0" dirty="0">
                          <a:solidFill>
                            <a:srgbClr val="2B2B2B"/>
                          </a:solidFill>
                          <a:latin typeface="Calibri"/>
                        </a:rPr>
                        <a:t>Own acceptance criteria, risk decisions, cutover, and rollback.</a:t>
                      </a:r>
                    </a:p>
                  </a:txBody>
                  <a:tcPr marT="64008" marB="64008" anchor="ctr">
                    <a:solidFill>
                      <a:srgbClr val="F7F6F2"/>
                    </a:solidFill>
                  </a:tcPr>
                </a:tc>
                <a:tc>
                  <a:txBody>
                    <a:bodyPr/>
                    <a:lstStyle/>
                    <a:p>
                      <a:pPr algn="l"/>
                      <a:r>
                        <a:rPr sz="1400" b="0" dirty="0">
                          <a:solidFill>
                            <a:srgbClr val="2B2B2B"/>
                          </a:solidFill>
                          <a:latin typeface="Calibri"/>
                        </a:rPr>
                        <a:t>Generate test hypotheses, compare behavior, and triage failures.</a:t>
                      </a:r>
                    </a:p>
                  </a:txBody>
                  <a:tcPr marT="64008" marB="64008" anchor="ctr">
                    <a:solidFill>
                      <a:srgbClr val="F7F6F2"/>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5782926"/>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7" name="TextBox 6"/>
          <p:cNvSpPr txBox="1">
            <a:spLocks/>
          </p:cNvSpPr>
          <p:nvPr/>
        </p:nvSpPr>
        <p:spPr>
          <a:xfrm>
            <a:off x="548640" y="5782926"/>
            <a:ext cx="11064240" cy="731520"/>
          </a:xfrm>
          <a:prstGeom prst="rect">
            <a:avLst/>
          </a:prstGeom>
          <a:noFill/>
        </p:spPr>
        <p:txBody>
          <a:bodyPr wrap="square" lIns="256032" tIns="54864" rIns="256032" bIns="54864" anchor="ctr">
            <a:spAutoFit/>
          </a:bodyPr>
          <a:lstStyle/>
          <a:p>
            <a:pPr algn="l"/>
            <a:r>
              <a:rPr sz="1250" b="1" spc="120" dirty="0">
                <a:solidFill>
                  <a:srgbClr val="E0B85C"/>
                </a:solidFill>
                <a:latin typeface="Calibri"/>
              </a:rPr>
              <a:t>TAKEAWAY </a:t>
            </a:r>
            <a:r>
              <a:rPr sz="1500" b="0" dirty="0">
                <a:solidFill>
                  <a:srgbClr val="F5F5F0"/>
                </a:solidFill>
                <a:latin typeface="Calibri"/>
              </a:rPr>
              <a:t>The methods are complementary. None is a substitute for evidence in the validation plane.</a:t>
            </a:r>
          </a:p>
        </p:txBody>
      </p:sp>
      <p:sp>
        <p:nvSpPr>
          <p:cNvPr id="9" name="Slide Number Placeholder"/>
          <p:cNvSpPr>
            <a:spLocks noGrp="1"/>
          </p:cNvSpPr>
          <p:nvPr>
            <p:ph type="sldNum" sz="quarter" idx="10"/>
          </p:nvPr>
        </p:nvSpPr>
        <p:spPr/>
        <p:txBody>
          <a:bodyPr/>
          <a:lstStyle/>
          <a:p>
            <a:fld id="{BCB632DE-6AD4-40F1-944C-28C0E9BF62DC}"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Databas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gh-ado2gh Orchestrates the Move</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rPr>
              <a:t>GitHub Enterprise Importer (GEI) is a set of GitHub CLI extensions (including </a:t>
            </a:r>
            <a:r>
              <a:rPr lang="en-US" sz="1450" dirty="0">
                <a:solidFill>
                  <a:srgbClr val="2B2B2B"/>
                </a:solidFill>
                <a:latin typeface="Cascadia Code" panose="020B0609020000020004" pitchFamily="49" charset="0"/>
                <a:cs typeface="Cascadia Code" panose="020B0609020000020004" pitchFamily="49" charset="0"/>
              </a:rPr>
              <a:t>ado2gh</a:t>
            </a:r>
            <a:r>
              <a:rPr lang="en-US" sz="1450" dirty="0">
                <a:solidFill>
                  <a:srgbClr val="2B2B2B"/>
                </a:solidFill>
              </a:rPr>
              <a:t>)</a:t>
            </a:r>
            <a:endParaRPr lang="en-US" sz="1450" dirty="0">
              <a:solidFill>
                <a:srgbClr val="2B2B2B"/>
              </a:solidFill>
              <a:ea typeface="Cascadia Mono" panose="020B0609020000020004" pitchFamily="49" charset="0"/>
              <a:cs typeface="Cascadia Mono" panose="020B0609020000020004" pitchFamily="49" charset="0"/>
            </a:endParaRP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inventory-report</a:t>
            </a:r>
            <a:r>
              <a:rPr lang="en-US" sz="1450" dirty="0">
                <a:solidFill>
                  <a:srgbClr val="2B2B2B"/>
                </a:solidFill>
                <a:latin typeface="Calibri"/>
              </a:rPr>
              <a:t> profiles repositories and PR volume</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generate-script</a:t>
            </a:r>
            <a:r>
              <a:rPr lang="en-US" sz="1450" dirty="0">
                <a:solidFill>
                  <a:srgbClr val="2B2B2B"/>
                </a:solidFill>
                <a:latin typeface="Calibri"/>
              </a:rPr>
              <a:t> creates reviewable migration code</a:t>
            </a:r>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--all </a:t>
            </a:r>
            <a:r>
              <a:rPr lang="en-US" sz="1450" dirty="0">
                <a:solidFill>
                  <a:srgbClr val="2B2B2B"/>
                </a:solidFill>
                <a:latin typeface="Calibri"/>
              </a:rPr>
              <a:t>adds team creation, Boards integration, and pipeline rewiring</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Where the Boundary Is</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285750" indent="-285750">
              <a:spcBef>
                <a:spcPts val="800"/>
              </a:spcBef>
              <a:buFont typeface="Arial" panose="020B0604020202020204" pitchFamily="34" charset="0"/>
              <a:buChar char="•"/>
            </a:pPr>
            <a:r>
              <a:rPr sz="1450" dirty="0">
                <a:solidFill>
                  <a:srgbClr val="F5F5F0"/>
                </a:solidFill>
                <a:latin typeface="Calibri"/>
              </a:rPr>
              <a:t>Pipeline-logic conversion belongs to </a:t>
            </a:r>
            <a:r>
              <a:rPr lang="en-US" sz="1450" dirty="0">
                <a:solidFill>
                  <a:srgbClr val="F5F5F0"/>
                </a:solidFill>
                <a:latin typeface="Calibri"/>
              </a:rPr>
              <a:t>elsewhere (</a:t>
            </a:r>
            <a:r>
              <a:rPr sz="1450" dirty="0">
                <a:solidFill>
                  <a:srgbClr val="F5F5F0"/>
                </a:solidFill>
                <a:latin typeface="Calibri"/>
              </a:rPr>
              <a:t>Actions Importer</a:t>
            </a:r>
            <a:r>
              <a:rPr lang="en-US" sz="1450" dirty="0">
                <a:solidFill>
                  <a:srgbClr val="F5F5F0"/>
                </a:solidFill>
                <a:latin typeface="Calibri"/>
              </a:rPr>
              <a:t>)</a:t>
            </a:r>
            <a:endParaRPr sz="1450" dirty="0">
              <a:solidFill>
                <a:srgbClr val="F5F5F0"/>
              </a:solidFill>
              <a:latin typeface="Calibri"/>
            </a:endParaRPr>
          </a:p>
          <a:p>
            <a:pPr marL="285750" indent="-285750">
              <a:spcBef>
                <a:spcPts val="800"/>
              </a:spcBef>
              <a:buFont typeface="Arial" panose="020B0604020202020204" pitchFamily="34" charset="0"/>
              <a:buChar char="•"/>
            </a:pPr>
            <a:r>
              <a:rPr sz="1450" dirty="0">
                <a:solidFill>
                  <a:srgbClr val="F5F5F0"/>
                </a:solidFill>
                <a:latin typeface="Calibri"/>
              </a:rPr>
              <a:t>LFS transfer and identity decisions remain separate work</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a:solidFill>
                  <a:srgbClr val="C1440E"/>
                </a:solidFill>
                <a:latin typeface="Calibri"/>
              </a:rPr>
              <a:t>DO THIS </a:t>
            </a:r>
            <a:r>
              <a:rPr sz="1500" b="0">
                <a:solidFill>
                  <a:srgbClr val="2B2B2B"/>
                </a:solidFill>
                <a:latin typeface="Calibri"/>
              </a:rPr>
              <a:t>Treat the generated script as production migration code: review it, version it, and make ownership explicit.</a:t>
            </a:r>
            <a:endParaRPr lang="en-US" sz="1450" dirty="0"/>
          </a:p>
        </p:txBody>
      </p:sp>
      <p:sp>
        <p:nvSpPr>
          <p:cNvPr id="16" name="Slide Number Placeholder"/>
          <p:cNvSpPr>
            <a:spLocks noGrp="1"/>
          </p:cNvSpPr>
          <p:nvPr>
            <p:ph type="sldNum" sz="quarter" idx="10"/>
          </p:nvPr>
        </p:nvSpPr>
        <p:spPr/>
        <p:txBody>
          <a:bodyPr/>
          <a:lstStyle/>
          <a:p>
            <a:fld id="{BCB632DE-6AD4-40F1-944C-28C0E9BF62DC}" type="slidenum">
              <a:rPr lang="en-US"/>
              <a:t>20</a:t>
            </a:fld>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ELM Reduces Cutover Disruption</a:t>
            </a:r>
            <a:endParaRPr lang="en-US" sz="3200" dirty="0"/>
          </a:p>
        </p:txBody>
      </p:sp>
      <p:sp>
        <p:nvSpPr>
          <p:cNvPr id="6" name="Shape 3"/>
          <p:cNvSpPr/>
          <p:nvPr/>
        </p:nvSpPr>
        <p:spPr>
          <a:xfrm>
            <a:off x="548640" y="1531034"/>
            <a:ext cx="11064240" cy="813816"/>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430450"/>
            <a:ext cx="10515600" cy="1097280"/>
          </a:xfrm>
          <a:prstGeom prst="rect">
            <a:avLst/>
          </a:prstGeom>
          <a:noFill/>
          <a:ln/>
        </p:spPr>
        <p:txBody>
          <a:bodyPr wrap="square" lIns="0" tIns="0" rIns="0" bIns="0" rtlCol="0" anchor="ctr"/>
          <a:lstStyle/>
          <a:p>
            <a:pPr marL="0" indent="0">
              <a:lnSpc>
                <a:spcPct val="115000"/>
              </a:lnSpc>
              <a:buNone/>
            </a:pPr>
            <a:r>
              <a:rPr lang="en-US" sz="1650" b="0" dirty="0">
                <a:solidFill>
                  <a:srgbClr val="2B2B2B"/>
                </a:solidFill>
                <a:latin typeface="Calibri"/>
              </a:rPr>
              <a:t>Enterprise Live Migrations (ELM) is in public preview for the Azure DevOps path, targeting GitHub Enterprise Cloud with data residency. Its differentiator is continuous sync plus a customer-scheduled cutover.</a:t>
            </a:r>
            <a:endParaRPr lang="en-US" sz="1700" dirty="0"/>
          </a:p>
        </p:txBody>
      </p:sp>
      <p:sp>
        <p:nvSpPr>
          <p:cNvPr id="8" name="Shape 5"/>
          <p:cNvSpPr/>
          <p:nvPr/>
        </p:nvSpPr>
        <p:spPr>
          <a:xfrm>
            <a:off x="548640" y="2527730"/>
            <a:ext cx="5349240" cy="291295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99160" y="2749765"/>
            <a:ext cx="4800600" cy="411480"/>
          </a:xfrm>
          <a:prstGeom prst="rect">
            <a:avLst/>
          </a:prstGeom>
          <a:noFill/>
          <a:ln/>
        </p:spPr>
        <p:txBody>
          <a:bodyPr wrap="square" lIns="0" tIns="0" rIns="0" bIns="0" rtlCol="0" anchor="ctr"/>
          <a:lstStyle/>
          <a:p>
            <a:pPr marL="0" indent="0">
              <a:buNone/>
            </a:pPr>
            <a:r>
              <a:rPr lang="en-US" sz="1700" b="1" dirty="0">
                <a:solidFill>
                  <a:srgbClr val="1F3D2C"/>
                </a:solidFill>
                <a:latin typeface="Cambria"/>
              </a:rPr>
              <a:t>What It Adds</a:t>
            </a:r>
            <a:endParaRPr lang="en-US" sz="1700" dirty="0"/>
          </a:p>
        </p:txBody>
      </p:sp>
      <p:sp>
        <p:nvSpPr>
          <p:cNvPr id="10" name="Text 7"/>
          <p:cNvSpPr txBox="1"/>
          <p:nvPr/>
        </p:nvSpPr>
        <p:spPr>
          <a:xfrm>
            <a:off x="822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2B2B2B"/>
                </a:solidFill>
                <a:latin typeface="Calibri"/>
              </a:rPr>
              <a:t>Pre-migration checks and target creation</a:t>
            </a:r>
            <a:endParaRPr lang="en-US" sz="1350" dirty="0"/>
          </a:p>
          <a:p>
            <a:pPr marL="285750" indent="-285750">
              <a:spcAft>
                <a:spcPts val="800"/>
              </a:spcAft>
              <a:buFont typeface="Arial" panose="020B0604020202020204" pitchFamily="34" charset="0"/>
              <a:buChar char="•"/>
            </a:pPr>
            <a:r>
              <a:rPr lang="en-US" sz="1400" dirty="0">
                <a:solidFill>
                  <a:srgbClr val="2B2B2B"/>
                </a:solidFill>
                <a:latin typeface="Calibri"/>
              </a:rPr>
              <a:t>Git, PR, and policy delta synchronization</a:t>
            </a:r>
          </a:p>
          <a:p>
            <a:pPr marL="285750" indent="-285750">
              <a:spcAft>
                <a:spcPts val="800"/>
              </a:spcAft>
              <a:buFont typeface="Arial" panose="020B0604020202020204" pitchFamily="34" charset="0"/>
              <a:buChar char="•"/>
            </a:pPr>
            <a:r>
              <a:rPr lang="en-US" sz="1400" dirty="0">
                <a:solidFill>
                  <a:srgbClr val="2B2B2B"/>
                </a:solidFill>
                <a:latin typeface="Calibri"/>
              </a:rPr>
              <a:t>Boards connection and pipeline rewiring</a:t>
            </a:r>
          </a:p>
          <a:p>
            <a:pPr marL="285750" indent="-285750">
              <a:spcAft>
                <a:spcPts val="800"/>
              </a:spcAft>
              <a:buFont typeface="Arial" panose="020B0604020202020204" pitchFamily="34" charset="0"/>
              <a:buChar char="•"/>
            </a:pPr>
            <a:r>
              <a:rPr lang="en-US" sz="1400" dirty="0">
                <a:solidFill>
                  <a:srgbClr val="2B2B2B"/>
                </a:solidFill>
                <a:latin typeface="Calibri"/>
              </a:rPr>
              <a:t>A scheduled read-only cutover window under 30 minutes</a:t>
            </a:r>
          </a:p>
        </p:txBody>
      </p:sp>
      <p:sp>
        <p:nvSpPr>
          <p:cNvPr id="11" name="Shape 8"/>
          <p:cNvSpPr/>
          <p:nvPr/>
        </p:nvSpPr>
        <p:spPr>
          <a:xfrm>
            <a:off x="6263640" y="2527730"/>
            <a:ext cx="5349240" cy="2912950"/>
          </a:xfrm>
          <a:prstGeom prst="roundRect">
            <a:avLst>
              <a:gd name="adj" fmla="val 48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92240" y="2749765"/>
            <a:ext cx="4800600" cy="411480"/>
          </a:xfrm>
          <a:prstGeom prst="rect">
            <a:avLst/>
          </a:prstGeom>
          <a:noFill/>
          <a:ln/>
        </p:spPr>
        <p:txBody>
          <a:bodyPr wrap="square" lIns="0" tIns="0" rIns="0" bIns="0" rtlCol="0" anchor="ctr"/>
          <a:lstStyle/>
          <a:p>
            <a:pPr marL="0" indent="0">
              <a:buNone/>
            </a:pPr>
            <a:r>
              <a:rPr lang="en-US" sz="1700" b="1" dirty="0">
                <a:solidFill>
                  <a:srgbClr val="F5F5F0"/>
                </a:solidFill>
                <a:latin typeface="Cambria"/>
              </a:rPr>
              <a:t>Limits and What Remains</a:t>
            </a:r>
            <a:endParaRPr lang="en-US" sz="1700" dirty="0"/>
          </a:p>
        </p:txBody>
      </p:sp>
      <p:sp>
        <p:nvSpPr>
          <p:cNvPr id="13" name="Text 10"/>
          <p:cNvSpPr txBox="1"/>
          <p:nvPr/>
        </p:nvSpPr>
        <p:spPr>
          <a:xfrm>
            <a:off x="6537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F5F5F0"/>
                </a:solidFill>
                <a:latin typeface="Calibri"/>
              </a:rPr>
              <a:t>Repositories only — 30 max (20 initial + 10 more)</a:t>
            </a:r>
            <a:endParaRPr lang="en-US" sz="1350" dirty="0"/>
          </a:p>
          <a:p>
            <a:pPr marL="285750" indent="-285750">
              <a:spcAft>
                <a:spcPts val="800"/>
              </a:spcAft>
              <a:buFont typeface="Arial" panose="020B0604020202020204" pitchFamily="34" charset="0"/>
              <a:buChar char="•"/>
            </a:pPr>
            <a:r>
              <a:rPr lang="en-US" sz="1400" dirty="0">
                <a:solidFill>
                  <a:srgbClr val="F5F5F0"/>
                </a:solidFill>
                <a:latin typeface="Calibri"/>
              </a:rPr>
              <a:t>Cutover must finish within 21 days of starting</a:t>
            </a:r>
          </a:p>
          <a:p>
            <a:pPr marL="285750" indent="-285750">
              <a:spcAft>
                <a:spcPts val="800"/>
              </a:spcAft>
              <a:buFont typeface="Arial" panose="020B0604020202020204" pitchFamily="34" charset="0"/>
              <a:buChar char="•"/>
            </a:pPr>
            <a:r>
              <a:rPr lang="en-US" sz="1400" dirty="0">
                <a:solidFill>
                  <a:srgbClr val="F5F5F0"/>
                </a:solidFill>
                <a:latin typeface="Calibri"/>
              </a:rPr>
              <a:t>Access, permissions, and ruleset verification</a:t>
            </a:r>
          </a:p>
          <a:p>
            <a:pPr marL="285750" indent="-285750">
              <a:spcAft>
                <a:spcPts val="800"/>
              </a:spcAft>
              <a:buFont typeface="Arial" panose="020B0604020202020204" pitchFamily="34" charset="0"/>
              <a:buChar char="•"/>
            </a:pPr>
            <a:r>
              <a:rPr lang="en-US" sz="1400" dirty="0">
                <a:solidFill>
                  <a:srgbClr val="F5F5F0"/>
                </a:solidFill>
                <a:latin typeface="Calibri"/>
              </a:rPr>
              <a:t>Hardcoded URLs and other long-tail cleanup</a:t>
            </a:r>
          </a:p>
          <a:p>
            <a:pPr marL="285750" indent="-285750">
              <a:spcAft>
                <a:spcPts val="800"/>
              </a:spcAft>
              <a:buFont typeface="Arial" panose="020B0604020202020204" pitchFamily="34" charset="0"/>
              <a:buChar char="•"/>
            </a:pPr>
            <a:r>
              <a:rPr lang="en-US" sz="1400" dirty="0">
                <a:solidFill>
                  <a:srgbClr val="F5F5F0"/>
                </a:solidFill>
                <a:latin typeface="Calibri"/>
              </a:rPr>
              <a:t>Pipeline logic, work items, wikis, and other non-repository data</a:t>
            </a:r>
          </a:p>
          <a:p>
            <a:pPr marL="285750" indent="-285750">
              <a:spcAft>
                <a:spcPts val="800"/>
              </a:spcAft>
              <a:buFont typeface="Arial" panose="020B0604020202020204" pitchFamily="34" charset="0"/>
              <a:buChar char="•"/>
            </a:pPr>
            <a:r>
              <a:rPr lang="en-US" sz="1400" dirty="0">
                <a:solidFill>
                  <a:srgbClr val="F5F5F0"/>
                </a:solidFill>
                <a:latin typeface="Calibri"/>
              </a:rPr>
              <a:t>Post-cutover validation and decommissioning</a:t>
            </a:r>
          </a:p>
        </p:txBody>
      </p:sp>
      <p:sp>
        <p:nvSpPr>
          <p:cNvPr id="16" name="Shape 3">
            <a:extLst>
              <a:ext uri="{FF2B5EF4-FFF2-40B4-BE49-F238E27FC236}">
                <a16:creationId xmlns:a16="http://schemas.microsoft.com/office/drawing/2014/main" id="{2FACEC23-AB46-4DCB-0463-00C487B44704}"/>
              </a:ext>
            </a:extLst>
          </p:cNvPr>
          <p:cNvSpPr/>
          <p:nvPr/>
        </p:nvSpPr>
        <p:spPr>
          <a:xfrm>
            <a:off x="548640" y="5628132"/>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8" name="Text 4">
            <a:extLst>
              <a:ext uri="{FF2B5EF4-FFF2-40B4-BE49-F238E27FC236}">
                <a16:creationId xmlns:a16="http://schemas.microsoft.com/office/drawing/2014/main" id="{DA49AD78-DE17-95B0-86BA-23572C08058F}"/>
              </a:ext>
            </a:extLst>
          </p:cNvPr>
          <p:cNvSpPr txBox="1"/>
          <p:nvPr/>
        </p:nvSpPr>
        <p:spPr>
          <a:xfrm>
            <a:off x="563880" y="5628132"/>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a:solidFill>
                  <a:srgbClr val="F5F5F0"/>
                </a:solidFill>
                <a:latin typeface="Calibri"/>
              </a:rPr>
              <a:t>ELM changes the synchronization and cutover experience — not the boundaries of what must be migrated and validated.</a:t>
            </a:r>
          </a:p>
        </p:txBody>
      </p:sp>
      <p:sp>
        <p:nvSpPr>
          <p:cNvPr id="19" name="Slide Number Placeholder"/>
          <p:cNvSpPr>
            <a:spLocks noGrp="1"/>
          </p:cNvSpPr>
          <p:nvPr>
            <p:ph type="sldNum" sz="quarter" idx="10"/>
          </p:nvPr>
        </p:nvSpPr>
        <p:spPr/>
        <p:txBody>
          <a:bodyPr/>
          <a:lstStyle/>
          <a:p>
            <a:fld id="{BCB632DE-6AD4-40F1-944C-28C0E9BF62DC}"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Ol-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dirty="0">
                <a:solidFill>
                  <a:srgbClr val="1F3D2C"/>
                </a:solidFill>
                <a:latin typeface="Cambria"/>
              </a:rPr>
              <a:t>Repository Plane — Decisions</a:t>
            </a:r>
            <a:endParaRPr lang="en-US" sz="3200" dirty="0"/>
          </a:p>
        </p:txBody>
      </p:sp>
      <p:sp>
        <p:nvSpPr>
          <p:cNvPr id="6" name="Shape 3"/>
          <p:cNvSpPr/>
          <p:nvPr/>
        </p:nvSpPr>
        <p:spPr>
          <a:xfrm>
            <a:off x="548640" y="4556259"/>
            <a:ext cx="11064240" cy="1358289"/>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4674899"/>
            <a:ext cx="10332720" cy="1124101"/>
          </a:xfrm>
          <a:prstGeom prst="rect">
            <a:avLst/>
          </a:prstGeom>
          <a:noFill/>
          <a:ln/>
        </p:spPr>
        <p:txBody>
          <a:bodyPr wrap="square" lIns="0" tIns="0" rIns="0" bIns="0" rtlCol="0" anchor="ctr"/>
          <a:lstStyle/>
          <a:p>
            <a:pPr marL="0" indent="0">
              <a:lnSpc>
                <a:spcPct val="130000"/>
              </a:lnSpc>
              <a:buNone/>
            </a:pPr>
            <a:r>
              <a:rPr lang="en-US" sz="1850" b="0" dirty="0">
                <a:solidFill>
                  <a:srgbClr val="2B2B2B"/>
                </a:solidFill>
                <a:latin typeface="Calibri"/>
              </a:rPr>
              <a:t>Install the Azure Pipelines App in your GitHub Org before migrating repositories. That enables migration orchestration to reconnect pipeline references; it does not convert the pipeline logic itself.</a:t>
            </a:r>
            <a:endParaRPr lang="en-US" sz="1900" dirty="0"/>
          </a:p>
        </p:txBody>
      </p:sp>
      <p:sp>
        <p:nvSpPr>
          <p:cNvPr id="8" name="Shape 5"/>
          <p:cNvSpPr/>
          <p:nvPr/>
        </p:nvSpPr>
        <p:spPr>
          <a:xfrm>
            <a:off x="548640" y="1549966"/>
            <a:ext cx="11064240" cy="2638449"/>
          </a:xfrm>
          <a:prstGeom prst="roundRect">
            <a:avLst>
              <a:gd name="adj" fmla="val 7742"/>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38200" y="1721272"/>
            <a:ext cx="10515600" cy="2257295"/>
          </a:xfrm>
          <a:prstGeom prst="rect">
            <a:avLst/>
          </a:prstGeom>
          <a:noFill/>
          <a:ln/>
        </p:spPr>
        <p:txBody>
          <a:bodyPr wrap="square" lIns="0" tIns="0" rIns="0" bIns="0" rtlCol="0" anchor="ctr"/>
          <a:lstStyle/>
          <a:p>
            <a:pPr marL="0" indent="0">
              <a:lnSpc>
                <a:spcPct val="115000"/>
              </a:lnSpc>
              <a:buNone/>
            </a:pPr>
            <a:r>
              <a:rPr lang="en-US" sz="1600" b="0" dirty="0">
                <a:solidFill>
                  <a:srgbClr val="F5F5F0"/>
                </a:solidFill>
                <a:latin typeface="Calibri"/>
              </a:rPr>
              <a:t>Decide before the first migration: </a:t>
            </a:r>
          </a:p>
          <a:p>
            <a:pPr marL="285750" indent="-285750">
              <a:lnSpc>
                <a:spcPct val="115000"/>
              </a:lnSpc>
              <a:buFont typeface="Arial" panose="020B0604020202020204" pitchFamily="34" charset="0"/>
              <a:buChar char="•"/>
            </a:pPr>
            <a:r>
              <a:rPr lang="en-US" sz="1600" b="0" dirty="0">
                <a:solidFill>
                  <a:srgbClr val="F5F5F0"/>
                </a:solidFill>
                <a:latin typeface="Calibri"/>
              </a:rPr>
              <a:t>target enterprise and organization model  </a:t>
            </a:r>
          </a:p>
          <a:p>
            <a:pPr marL="285750" indent="-285750">
              <a:lnSpc>
                <a:spcPct val="115000"/>
              </a:lnSpc>
              <a:buFont typeface="Arial" panose="020B0604020202020204" pitchFamily="34" charset="0"/>
              <a:buChar char="•"/>
            </a:pPr>
            <a:r>
              <a:rPr lang="en-US" sz="1600" b="0" dirty="0">
                <a:solidFill>
                  <a:srgbClr val="F5F5F0"/>
                </a:solidFill>
                <a:latin typeface="Calibri"/>
              </a:rPr>
              <a:t>authentication and identity mapping  </a:t>
            </a:r>
          </a:p>
          <a:p>
            <a:pPr marL="285750" indent="-285750">
              <a:lnSpc>
                <a:spcPct val="115000"/>
              </a:lnSpc>
              <a:buFont typeface="Arial" panose="020B0604020202020204" pitchFamily="34" charset="0"/>
              <a:buChar char="•"/>
            </a:pPr>
            <a:r>
              <a:rPr lang="en-US" sz="1600" b="0" dirty="0">
                <a:solidFill>
                  <a:srgbClr val="F5F5F0"/>
                </a:solidFill>
                <a:latin typeface="Calibri"/>
              </a:rPr>
              <a:t>team and visibility policy  </a:t>
            </a:r>
          </a:p>
          <a:p>
            <a:pPr marL="285750" indent="-285750">
              <a:lnSpc>
                <a:spcPct val="115000"/>
              </a:lnSpc>
              <a:buFont typeface="Arial" panose="020B0604020202020204" pitchFamily="34" charset="0"/>
              <a:buChar char="•"/>
            </a:pPr>
            <a:r>
              <a:rPr lang="en-US" sz="1600" b="0" dirty="0">
                <a:solidFill>
                  <a:srgbClr val="F5F5F0"/>
                </a:solidFill>
                <a:latin typeface="Calibri"/>
              </a:rPr>
              <a:t>Boards/Pipelines integration  </a:t>
            </a:r>
          </a:p>
          <a:p>
            <a:pPr marL="285750" indent="-285750">
              <a:lnSpc>
                <a:spcPct val="115000"/>
              </a:lnSpc>
              <a:buFont typeface="Arial" panose="020B0604020202020204" pitchFamily="34" charset="0"/>
              <a:buChar char="•"/>
            </a:pPr>
            <a:r>
              <a:rPr lang="en-US" sz="1600" b="0" dirty="0">
                <a:solidFill>
                  <a:srgbClr val="F5F5F0"/>
                </a:solidFill>
                <a:latin typeface="Calibri"/>
              </a:rPr>
              <a:t>freeze or change-reconciliation approach  </a:t>
            </a:r>
          </a:p>
          <a:p>
            <a:pPr marL="285750" indent="-285750">
              <a:lnSpc>
                <a:spcPct val="115000"/>
              </a:lnSpc>
              <a:buFont typeface="Arial" panose="020B0604020202020204" pitchFamily="34" charset="0"/>
              <a:buChar char="•"/>
            </a:pPr>
            <a:r>
              <a:rPr lang="en-US" sz="1600" b="0" dirty="0">
                <a:solidFill>
                  <a:srgbClr val="F5F5F0"/>
                </a:solidFill>
                <a:latin typeface="Calibri"/>
              </a:rPr>
              <a:t>owner for migration failures</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Chec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Automation Plane — GitHub Actions Importer</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00000"/>
              </a:lnSpc>
              <a:spcAft>
                <a:spcPts val="800"/>
              </a:spcAft>
              <a:buSzPct val="100000"/>
              <a:buFont typeface="Arial" panose="020B0604020202020204" pitchFamily="34" charset="0"/>
              <a:buChar char="•"/>
            </a:pPr>
            <a:r>
              <a:rPr lang="en-US" sz="1450" dirty="0">
                <a:solidFill>
                  <a:srgbClr val="2B2B2B"/>
                </a:solidFill>
                <a:cs typeface="Cascadia Code" panose="020B0609020000020004" pitchFamily="49" charset="0"/>
              </a:rPr>
              <a:t>Actions Importer is a GitHub CLI extension to migrate CI/CD pipelines</a:t>
            </a: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audit</a:t>
            </a:r>
            <a:r>
              <a:rPr lang="en-US" sz="1450" dirty="0">
                <a:solidFill>
                  <a:srgbClr val="2B2B2B"/>
                </a:solidFill>
                <a:latin typeface="Calibri"/>
              </a:rPr>
              <a:t> buckets pipelines: successful, partially successful, unsupported, failed</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dry-run</a:t>
            </a:r>
            <a:r>
              <a:rPr lang="en-US" sz="1450" dirty="0">
                <a:solidFill>
                  <a:srgbClr val="2B2B2B"/>
                </a:solidFill>
                <a:latin typeface="Calibri"/>
              </a:rPr>
              <a:t> shows the candidate workflow before commit</a:t>
            </a:r>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forecast</a:t>
            </a:r>
            <a:r>
              <a:rPr lang="en-US" sz="1450" dirty="0">
                <a:solidFill>
                  <a:srgbClr val="2B2B2B"/>
                </a:solidFill>
              </a:rPr>
              <a:t> calculates expected Actions usage </a:t>
            </a:r>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migrate</a:t>
            </a:r>
            <a:r>
              <a:rPr lang="en-US" sz="1450" dirty="0">
                <a:solidFill>
                  <a:srgbClr val="2B2B2B"/>
                </a:solidFill>
              </a:rPr>
              <a:t> converts the pipeline to Actions equivalent and creates PR </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What Remains</a:t>
            </a:r>
            <a:endParaRPr lang="en-US" sz="1900" dirty="0"/>
          </a:p>
        </p:txBody>
      </p:sp>
      <p:sp>
        <p:nvSpPr>
          <p:cNvPr id="11" name="Text 8"/>
          <p:cNvSpPr txBox="1"/>
          <p:nvPr/>
        </p:nvSpPr>
        <p:spPr>
          <a:xfrm>
            <a:off x="6537960" y="2331720"/>
            <a:ext cx="507492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20" dirty="0">
                <a:solidFill>
                  <a:srgbClr val="F5F5F0"/>
                </a:solidFill>
                <a:latin typeface="Calibri"/>
              </a:rPr>
              <a:t>Secrets and service connections</a:t>
            </a:r>
            <a:endParaRPr lang="en-US" sz="1450" dirty="0"/>
          </a:p>
          <a:p>
            <a:pPr marL="285750" indent="-285750">
              <a:spcAft>
                <a:spcPts val="800"/>
              </a:spcAft>
              <a:buFont typeface="Arial" panose="020B0604020202020204" pitchFamily="34" charset="0"/>
              <a:buChar char="•"/>
            </a:pPr>
            <a:r>
              <a:rPr lang="en-US" sz="1420" dirty="0">
                <a:solidFill>
                  <a:srgbClr val="F5F5F0"/>
                </a:solidFill>
                <a:latin typeface="Calibri"/>
              </a:rPr>
              <a:t>Runners, private networks, and toolchains</a:t>
            </a:r>
          </a:p>
          <a:p>
            <a:pPr marL="285750" indent="-285750">
              <a:spcAft>
                <a:spcPts val="800"/>
              </a:spcAft>
              <a:buFont typeface="Arial" panose="020B0604020202020204" pitchFamily="34" charset="0"/>
              <a:buChar char="•"/>
            </a:pPr>
            <a:r>
              <a:rPr lang="en-US" sz="1420" dirty="0">
                <a:solidFill>
                  <a:srgbClr val="F5F5F0"/>
                </a:solidFill>
                <a:latin typeface="Calibri"/>
              </a:rPr>
              <a:t>Environments, approvals, gates, custom/unsupported tasks, and unsupported triggers</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dirty="0">
                <a:solidFill>
                  <a:srgbClr val="C1440E"/>
                </a:solidFill>
                <a:latin typeface="Calibri"/>
              </a:rPr>
              <a:t>DO THIS </a:t>
            </a:r>
            <a:r>
              <a:rPr sz="1500" b="0" dirty="0">
                <a:solidFill>
                  <a:srgbClr val="2B2B2B"/>
                </a:solidFill>
                <a:latin typeface="Calibri"/>
              </a:rPr>
              <a:t>Use the audit output to build the migration backlog and recalibrate the planning estimate with evidence.</a:t>
            </a:r>
            <a:endParaRPr lang="en-US" sz="1450" dirty="0"/>
          </a:p>
        </p:txBody>
      </p:sp>
      <p:sp>
        <p:nvSpPr>
          <p:cNvPr id="16" name="Slide Number Placeholder"/>
          <p:cNvSpPr>
            <a:spLocks noGrp="1"/>
          </p:cNvSpPr>
          <p:nvPr>
            <p:ph type="sldNum" sz="quarter" idx="10"/>
          </p:nvPr>
        </p:nvSpPr>
        <p:spPr/>
        <p:txBody>
          <a:bodyPr/>
          <a:lstStyle/>
          <a:p>
            <a:fld id="{BCB632DE-6AD4-40F1-944C-28C0E9BF62DC}"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HandPape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Manual Mapping Exposes the Semantic Gaps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2559492123"/>
              </p:ext>
            </p:extLst>
          </p:nvPr>
        </p:nvGraphicFramePr>
        <p:xfrm>
          <a:off x="548640" y="1508760"/>
          <a:ext cx="11064240" cy="393192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9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Pipeline</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Workflow</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Agents / Agent Pools</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Runners / Runner Groups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Service Connection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OIDC / secrets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Variable Group</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Secrets &amp; variables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Task</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Action</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condition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if</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dependsOn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needs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7" name="Shape 3"/>
          <p:cNvSpPr/>
          <p:nvPr/>
        </p:nvSpPr>
        <p:spPr>
          <a:xfrm>
            <a:off x="548640" y="5577840"/>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8" name="Text 4"/>
          <p:cNvSpPr txBox="1"/>
          <p:nvPr/>
        </p:nvSpPr>
        <p:spPr>
          <a:xfrm>
            <a:off x="548640" y="5577840"/>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Translation is a design exercise: preserve the original security and lifecycle intent, then validate conditions, needs, shell and error handling, approvals, runners and environment behavior.</a:t>
            </a:r>
            <a:endParaRPr lang="en-US" sz="1350" dirty="0"/>
          </a:p>
        </p:txBody>
      </p:sp>
      <p:sp>
        <p:nvSpPr>
          <p:cNvPr id="25" name="Slide Number Placeholder"/>
          <p:cNvSpPr>
            <a:spLocks noGrp="1"/>
          </p:cNvSpPr>
          <p:nvPr>
            <p:ph type="sldNum" sz="quarter" idx="10"/>
          </p:nvPr>
        </p:nvSpPr>
        <p:spPr/>
        <p:txBody>
          <a:bodyPr/>
          <a:lstStyle/>
          <a:p>
            <a:fld id="{BCB632DE-6AD4-40F1-944C-28C0E9BF62DC}"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48640" y="457200"/>
            <a:ext cx="566928" cy="566928"/>
          </a:xfrm>
          <a:prstGeom prst="ellipse">
            <a:avLst/>
          </a:prstGeom>
          <a:solidFill>
            <a:srgbClr val="C1440E"/>
          </a:solidFill>
          <a:ln>
            <a:noFill/>
          </a:ln>
          <a:effectLst/>
        </p:spPr>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85800" y="594360"/>
            <a:ext cx="292608" cy="292608"/>
          </a:xfrm>
          <a:prstGeom prst="rect">
            <a:avLst/>
          </a:prstGeom>
        </p:spPr>
      </p:pic>
      <p:sp>
        <p:nvSpPr>
          <p:cNvPr id="4" name="TextBox 3"/>
          <p:cNvSpPr txBox="1"/>
          <p:nvPr/>
        </p:nvSpPr>
        <p:spPr>
          <a:xfrm>
            <a:off x="1234440" y="420624"/>
            <a:ext cx="9875520" cy="320040"/>
          </a:xfrm>
          <a:prstGeom prst="rect">
            <a:avLst/>
          </a:prstGeom>
          <a:noFill/>
        </p:spPr>
        <p:txBody>
          <a:bodyPr wrap="square" anchor="t">
            <a:spAutoFit/>
          </a:bodyPr>
          <a:lstStyle/>
          <a:p>
            <a:pPr algn="l"/>
            <a:r>
              <a:rPr sz="1500" b="1">
                <a:solidFill>
                  <a:srgbClr val="C1440E"/>
                </a:solidFill>
                <a:latin typeface="Calibri"/>
              </a:rPr>
              <a:t>CROSSING THE RIVER</a:t>
            </a:r>
          </a:p>
        </p:txBody>
      </p:sp>
      <p:sp>
        <p:nvSpPr>
          <p:cNvPr id="5" name="TextBox 4"/>
          <p:cNvSpPr txBox="1"/>
          <p:nvPr/>
        </p:nvSpPr>
        <p:spPr>
          <a:xfrm>
            <a:off x="1234440" y="749808"/>
            <a:ext cx="10744200" cy="594360"/>
          </a:xfrm>
          <a:prstGeom prst="rect">
            <a:avLst/>
          </a:prstGeom>
          <a:noFill/>
        </p:spPr>
        <p:txBody>
          <a:bodyPr wrap="square" anchor="t">
            <a:spAutoFit/>
          </a:bodyPr>
          <a:lstStyle/>
          <a:p>
            <a:pPr algn="l"/>
            <a:r>
              <a:rPr sz="3200" b="1">
                <a:solidFill>
                  <a:srgbClr val="1F3D2C"/>
                </a:solidFill>
                <a:latin typeface="Cambria"/>
              </a:rPr>
              <a:t>Automation Plane — Runners, Networks, Secrets</a:t>
            </a:r>
          </a:p>
        </p:txBody>
      </p:sp>
      <p:sp>
        <p:nvSpPr>
          <p:cNvPr id="6" name="TextBox 5"/>
          <p:cNvSpPr txBox="1"/>
          <p:nvPr/>
        </p:nvSpPr>
        <p:spPr>
          <a:xfrm>
            <a:off x="548640" y="1481328"/>
            <a:ext cx="11064240" cy="411480"/>
          </a:xfrm>
          <a:prstGeom prst="rect">
            <a:avLst/>
          </a:prstGeom>
          <a:noFill/>
        </p:spPr>
        <p:txBody>
          <a:bodyPr wrap="square" anchor="t">
            <a:spAutoFit/>
          </a:bodyPr>
          <a:lstStyle/>
          <a:p>
            <a:pPr algn="l"/>
            <a:r>
              <a:rPr sz="1800" b="0">
                <a:solidFill>
                  <a:srgbClr val="2B2B2B"/>
                </a:solidFill>
                <a:latin typeface="Calibri"/>
              </a:rPr>
              <a:t>The YAML converts. The execution environment usually doesn’t — and that is where enterprise migrations stall.</a:t>
            </a:r>
          </a:p>
        </p:txBody>
      </p:sp>
      <p:sp>
        <p:nvSpPr>
          <p:cNvPr id="7" name="Rounded Rectangle 6"/>
          <p:cNvSpPr/>
          <p:nvPr/>
        </p:nvSpPr>
        <p:spPr>
          <a:xfrm>
            <a:off x="548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8" name="TextBox 7"/>
          <p:cNvSpPr txBox="1"/>
          <p:nvPr/>
        </p:nvSpPr>
        <p:spPr>
          <a:xfrm>
            <a:off x="822959" y="2231136"/>
            <a:ext cx="4800600" cy="411480"/>
          </a:xfrm>
          <a:prstGeom prst="rect">
            <a:avLst/>
          </a:prstGeom>
          <a:noFill/>
        </p:spPr>
        <p:txBody>
          <a:bodyPr wrap="square" anchor="t">
            <a:spAutoFit/>
          </a:bodyPr>
          <a:lstStyle/>
          <a:p>
            <a:pPr algn="l"/>
            <a:r>
              <a:rPr sz="1900" b="1">
                <a:solidFill>
                  <a:srgbClr val="1F3D2C"/>
                </a:solidFill>
                <a:latin typeface="Cambria"/>
              </a:rPr>
              <a:t>Decide</a:t>
            </a:r>
          </a:p>
        </p:txBody>
      </p:sp>
      <p:sp>
        <p:nvSpPr>
          <p:cNvPr id="9" name="TextBox 8"/>
          <p:cNvSpPr txBox="1"/>
          <p:nvPr/>
        </p:nvSpPr>
        <p:spPr>
          <a:xfrm>
            <a:off x="822959" y="2743200"/>
            <a:ext cx="4800600" cy="2651760"/>
          </a:xfrm>
          <a:prstGeom prst="rect">
            <a:avLst/>
          </a:prstGeom>
          <a:noFill/>
        </p:spPr>
        <p:txBody>
          <a:bodyPr wrap="square" anchor="t">
            <a:spAutoFit/>
          </a:bodyPr>
          <a:lstStyle/>
          <a:p>
            <a:pPr algn="l"/>
            <a:r>
              <a:rPr sz="1450" b="0">
                <a:solidFill>
                  <a:srgbClr val="2B2B2B"/>
                </a:solidFill>
                <a:latin typeface="Calibri"/>
              </a:rPr>
              <a:t>•  Hosted vs self-hosted — and who operates them</a:t>
            </a:r>
          </a:p>
          <a:p>
            <a:pPr algn="l">
              <a:spcBef>
                <a:spcPts val="700"/>
              </a:spcBef>
            </a:pPr>
            <a:r>
              <a:rPr sz="1450" b="0">
                <a:solidFill>
                  <a:srgbClr val="2B2B2B"/>
                </a:solidFill>
                <a:latin typeface="Calibri"/>
              </a:rPr>
              <a:t>•  Network path to private endpoints and internal feeds</a:t>
            </a:r>
          </a:p>
          <a:p>
            <a:pPr algn="l">
              <a:spcBef>
                <a:spcPts val="700"/>
              </a:spcBef>
            </a:pPr>
            <a:r>
              <a:rPr sz="1450" b="0">
                <a:solidFill>
                  <a:srgbClr val="2B2B2B"/>
                </a:solidFill>
                <a:latin typeface="Calibri"/>
              </a:rPr>
              <a:t>•  Toolchain and cache parity with today’s agents</a:t>
            </a:r>
          </a:p>
          <a:p>
            <a:pPr algn="l">
              <a:spcBef>
                <a:spcPts val="700"/>
              </a:spcBef>
            </a:pPr>
            <a:r>
              <a:rPr sz="1450" b="0">
                <a:solidFill>
                  <a:srgbClr val="2B2B2B"/>
                </a:solidFill>
                <a:latin typeface="Calibri"/>
              </a:rPr>
              <a:t>•  Ephemeral vs persistent, and the autoscaling policy</a:t>
            </a:r>
          </a:p>
          <a:p>
            <a:pPr algn="l">
              <a:spcBef>
                <a:spcPts val="700"/>
              </a:spcBef>
            </a:pPr>
            <a:r>
              <a:rPr sz="1450" b="0">
                <a:solidFill>
                  <a:srgbClr val="2B2B2B"/>
                </a:solidFill>
                <a:latin typeface="Calibri"/>
              </a:rPr>
              <a:t>•  Runner groups, and which repositories may use them</a:t>
            </a:r>
          </a:p>
          <a:p>
            <a:pPr algn="l">
              <a:spcBef>
                <a:spcPts val="700"/>
              </a:spcBef>
            </a:pPr>
            <a:r>
              <a:rPr sz="1450" b="0">
                <a:solidFill>
                  <a:srgbClr val="2B2B2B"/>
                </a:solidFill>
                <a:latin typeface="Calibri"/>
              </a:rPr>
              <a:t>•  Minute consumption and larger-runner cost</a:t>
            </a:r>
          </a:p>
        </p:txBody>
      </p:sp>
      <p:sp>
        <p:nvSpPr>
          <p:cNvPr id="10" name="Rounded Rectangle 9"/>
          <p:cNvSpPr/>
          <p:nvPr/>
        </p:nvSpPr>
        <p:spPr>
          <a:xfrm>
            <a:off x="6263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11" name="TextBox 10"/>
          <p:cNvSpPr txBox="1"/>
          <p:nvPr/>
        </p:nvSpPr>
        <p:spPr>
          <a:xfrm>
            <a:off x="6537959" y="2231136"/>
            <a:ext cx="4800600" cy="411480"/>
          </a:xfrm>
          <a:prstGeom prst="rect">
            <a:avLst/>
          </a:prstGeom>
          <a:noFill/>
        </p:spPr>
        <p:txBody>
          <a:bodyPr wrap="square" anchor="t">
            <a:spAutoFit/>
          </a:bodyPr>
          <a:lstStyle/>
          <a:p>
            <a:pPr algn="l"/>
            <a:r>
              <a:rPr sz="1900" b="1">
                <a:solidFill>
                  <a:srgbClr val="1F3D2C"/>
                </a:solidFill>
                <a:latin typeface="Cambria"/>
              </a:rPr>
              <a:t>Prove</a:t>
            </a:r>
          </a:p>
        </p:txBody>
      </p:sp>
      <p:sp>
        <p:nvSpPr>
          <p:cNvPr id="12" name="TextBox 11"/>
          <p:cNvSpPr txBox="1"/>
          <p:nvPr/>
        </p:nvSpPr>
        <p:spPr>
          <a:xfrm>
            <a:off x="6537959" y="2743200"/>
            <a:ext cx="4800600" cy="2651760"/>
          </a:xfrm>
          <a:prstGeom prst="rect">
            <a:avLst/>
          </a:prstGeom>
          <a:noFill/>
        </p:spPr>
        <p:txBody>
          <a:bodyPr wrap="square" anchor="t">
            <a:spAutoFit/>
          </a:bodyPr>
          <a:lstStyle/>
          <a:p>
            <a:pPr algn="l"/>
            <a:r>
              <a:rPr sz="1450" b="0">
                <a:solidFill>
                  <a:srgbClr val="2B2B2B"/>
                </a:solidFill>
                <a:latin typeface="Calibri"/>
              </a:rPr>
              <a:t>•  Internal package feeds resolve from the runner</a:t>
            </a:r>
          </a:p>
          <a:p>
            <a:pPr algn="l">
              <a:spcBef>
                <a:spcPts val="700"/>
              </a:spcBef>
            </a:pPr>
            <a:r>
              <a:rPr sz="1450" b="0">
                <a:solidFill>
                  <a:srgbClr val="2B2B2B"/>
                </a:solidFill>
                <a:latin typeface="Calibri"/>
              </a:rPr>
              <a:t>•  Signing infrastructure and deployment targets reachable</a:t>
            </a:r>
          </a:p>
          <a:p>
            <a:pPr algn="l">
              <a:spcBef>
                <a:spcPts val="700"/>
              </a:spcBef>
            </a:pPr>
            <a:r>
              <a:rPr sz="1450" b="0">
                <a:solidFill>
                  <a:srgbClr val="2B2B2B"/>
                </a:solidFill>
                <a:latin typeface="Calibri"/>
              </a:rPr>
              <a:t>•  Firewall, proxy and IP-allowlist rules</a:t>
            </a:r>
          </a:p>
          <a:p>
            <a:pPr algn="l">
              <a:spcBef>
                <a:spcPts val="700"/>
              </a:spcBef>
            </a:pPr>
            <a:r>
              <a:rPr sz="1450" b="0">
                <a:solidFill>
                  <a:srgbClr val="2B2B2B"/>
                </a:solidFill>
                <a:latin typeface="Calibri"/>
              </a:rPr>
              <a:t>•  OIDC federation actually issues a usable token</a:t>
            </a:r>
          </a:p>
          <a:p>
            <a:pPr algn="l">
              <a:spcBef>
                <a:spcPts val="700"/>
              </a:spcBef>
            </a:pPr>
            <a:r>
              <a:rPr sz="1450" b="0">
                <a:solidFill>
                  <a:srgbClr val="2B2B2B"/>
                </a:solidFill>
                <a:latin typeface="Calibri"/>
              </a:rPr>
              <a:t>•  Artifact throughput at real sizes, not sample sizes</a:t>
            </a:r>
          </a:p>
        </p:txBody>
      </p:sp>
      <p:sp>
        <p:nvSpPr>
          <p:cNvPr id="13" name="Rounded Rectangle 12"/>
          <p:cNvSpPr/>
          <p:nvPr/>
        </p:nvSpPr>
        <p:spPr>
          <a:xfrm>
            <a:off x="548640" y="5760720"/>
            <a:ext cx="11064240" cy="786384"/>
          </a:xfrm>
          <a:prstGeom prst="roundRect">
            <a:avLst>
              <a:gd name="adj" fmla="val 12632"/>
            </a:avLst>
          </a:prstGeom>
          <a:solidFill>
            <a:srgbClr val="1F3D2C"/>
          </a:solidFill>
          <a:ln>
            <a:noFill/>
          </a:ln>
          <a:effectLst/>
        </p:spPr>
        <p:txBody>
          <a:bodyPr wrap="square" lIns="256032" tIns="54864" rIns="256032" bIns="54864" rtlCol="0" anchor="ctr"/>
          <a:lstStyle/>
          <a:p>
            <a:pPr algn="l"/>
            <a:r>
              <a:rPr sz="1250" b="1" spc="120">
                <a:solidFill>
                  <a:srgbClr val="E0B85C"/>
                </a:solidFill>
                <a:latin typeface="Calibri"/>
              </a:rPr>
              <a:t>TAKEAWAY </a:t>
            </a:r>
            <a:r>
              <a:rPr sz="1500">
                <a:solidFill>
                  <a:srgbClr val="F5F5F0"/>
                </a:solidFill>
                <a:latin typeface="Calibri"/>
              </a:rPr>
              <a:t>The workflow converted successfully. It merely has no credentials, no network route, and nowhere to deploy.</a:t>
            </a:r>
          </a:p>
        </p:txBody>
      </p:sp>
      <p:sp>
        <p:nvSpPr>
          <p:cNvPr id="14" name="Slide Number Placeholder"/>
          <p:cNvSpPr>
            <a:spLocks noGrp="1"/>
          </p:cNvSpPr>
          <p:nvPr>
            <p:ph type="sldNum" sz="quarter" idx="10"/>
          </p:nvPr>
        </p:nvSpPr>
        <p:spPr/>
        <p:txBody>
          <a:bodyPr/>
          <a:lstStyle/>
          <a:p>
            <a:fld id="{BCB632DE-6AD4-40F1-944C-28C0E9BF62D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rai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AI Assistance — Reason About Pipeline Semantics</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Search-FFFFFF-200.png"/>
          <p:cNvPicPr>
            <a:picLocks noChangeAspect="1"/>
          </p:cNvPicPr>
          <p:nvPr/>
        </p:nvPicPr>
        <p:blipFill>
          <a:blip r:embed="rId4"/>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Inventory structure, constructs, risk, and open questions before conversion.</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ExchangeAlt-FFFFFF-200.png"/>
          <p:cNvPicPr>
            <a:picLocks noChangeAspect="1"/>
          </p:cNvPicPr>
          <p:nvPr/>
        </p:nvPicPr>
        <p:blipFill>
          <a:blip r:embed="rId5"/>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Draft the Actions workflow and record every judgment call and confidence level.</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CheckCircle-FFFFFF-200.png"/>
          <p:cNvPicPr>
            <a:picLocks noChangeAspect="1"/>
          </p:cNvPicPr>
          <p:nvPr/>
        </p:nvPicPr>
        <p:blipFill>
          <a:blip r:embed="rId6"/>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Run a fresh checklist with another reviewer or model where possible, then prove it with deterministic tests.</a:t>
            </a:r>
            <a:endParaRPr lang="en-US" sz="1400" dirty="0"/>
          </a:p>
        </p:txBody>
      </p:sp>
      <p:sp>
        <p:nvSpPr>
          <p:cNvPr id="21" name="Shape 15"/>
          <p:cNvSpPr/>
          <p:nvPr/>
        </p:nvSpPr>
        <p:spPr>
          <a:xfrm>
            <a:off x="548640" y="5120640"/>
            <a:ext cx="11064240" cy="141732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120640"/>
            <a:ext cx="11094720" cy="1417320"/>
          </a:xfrm>
          <a:prstGeom prst="rect">
            <a:avLst/>
          </a:prstGeom>
          <a:noFill/>
          <a:ln/>
        </p:spPr>
        <p:txBody>
          <a:bodyPr wrap="square" lIns="256032" tIns="54864" rIns="256032" bIns="54864" rtlCol="0" anchor="ctr"/>
          <a:lstStyle/>
          <a:p>
            <a:pPr marL="0" indent="0" algn="l">
              <a:lnSpc>
                <a:spcPct val="110000"/>
              </a:lnSpc>
              <a:buNone/>
            </a:pPr>
            <a:r>
              <a:rPr sz="1250" b="1" spc="120" dirty="0">
                <a:solidFill>
                  <a:srgbClr val="C1440E"/>
                </a:solidFill>
                <a:latin typeface="Calibri"/>
              </a:rPr>
              <a:t>DO THIS </a:t>
            </a:r>
            <a:r>
              <a:rPr sz="1500" b="0" dirty="0">
                <a:solidFill>
                  <a:srgbClr val="2B2B2B"/>
                </a:solidFill>
                <a:latin typeface="Calibri"/>
              </a:rPr>
              <a:t>Use AI where the importer reports partially successful or unsupported work: explain intent, draft conversions, and generate test hypotheses. It accelerates judgment; it does not own acceptance.</a:t>
            </a:r>
            <a:endParaRPr lang="en-US" sz="1400" dirty="0"/>
          </a:p>
        </p:txBody>
      </p:sp>
      <p:sp>
        <p:nvSpPr>
          <p:cNvPr id="23" name="Slide Number Placeholder"/>
          <p:cNvSpPr>
            <a:spLocks noGrp="1"/>
          </p:cNvSpPr>
          <p:nvPr>
            <p:ph type="sldNum" sz="quarter" idx="10"/>
          </p:nvPr>
        </p:nvSpPr>
        <p:spPr/>
        <p:txBody>
          <a:bodyPr/>
          <a:lstStyle/>
          <a:p>
            <a:fld id="{BCB632DE-6AD4-40F1-944C-28C0E9BF62D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Marked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The Crossing, Mapped Across the Planes</a:t>
            </a:r>
            <a:endParaRPr lang="en-US" sz="3200" dirty="0"/>
          </a:p>
        </p:txBody>
      </p:sp>
      <p:sp>
        <p:nvSpPr>
          <p:cNvPr id="6" name="Rectangle 5"/>
          <p:cNvSpPr/>
          <p:nvPr/>
        </p:nvSpPr>
        <p:spPr>
          <a:xfrm>
            <a:off x="1375586" y="2698179"/>
            <a:ext cx="9116568" cy="19050"/>
          </a:xfrm>
          <a:prstGeom prst="rect">
            <a:avLst/>
          </a:prstGeom>
          <a:solidFill>
            <a:srgbClr val="DDD8CC"/>
          </a:solidFill>
          <a:ln>
            <a:noFill/>
          </a:ln>
        </p:spPr>
        <p:txBody>
          <a:bodyPr rtlCol="0" anchor="ctr"/>
          <a:lstStyle/>
          <a:p>
            <a:pPr algn="ctr"/>
            <a:endParaRPr lang="en-US"/>
          </a:p>
        </p:txBody>
      </p:sp>
      <p:sp>
        <p:nvSpPr>
          <p:cNvPr id="7" name="TextBox 6"/>
          <p:cNvSpPr txBox="1">
            <a:spLocks/>
          </p:cNvSpPr>
          <p:nvPr/>
        </p:nvSpPr>
        <p:spPr>
          <a:xfrm>
            <a:off x="296594"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1</a:t>
            </a:r>
          </a:p>
        </p:txBody>
      </p:sp>
      <p:sp>
        <p:nvSpPr>
          <p:cNvPr id="8" name="TextBox 7"/>
          <p:cNvSpPr txBox="1"/>
          <p:nvPr/>
        </p:nvSpPr>
        <p:spPr>
          <a:xfrm>
            <a:off x="296594"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Inventory &amp; classify</a:t>
            </a:r>
          </a:p>
        </p:txBody>
      </p:sp>
      <p:sp>
        <p:nvSpPr>
          <p:cNvPr id="9" name="Oval 8"/>
          <p:cNvSpPr>
            <a:spLocks/>
          </p:cNvSpPr>
          <p:nvPr/>
        </p:nvSpPr>
        <p:spPr>
          <a:xfrm>
            <a:off x="1192706" y="2570163"/>
            <a:ext cx="219456" cy="219456"/>
          </a:xfrm>
          <a:prstGeom prst="ellipse">
            <a:avLst/>
          </a:prstGeom>
          <a:solidFill>
            <a:srgbClr val="C1440E"/>
          </a:solidFill>
          <a:ln>
            <a:noFill/>
          </a:ln>
        </p:spPr>
        <p:txBody>
          <a:bodyPr rtlCol="0" anchor="ctr"/>
          <a:lstStyle/>
          <a:p>
            <a:pPr algn="ctr"/>
            <a:endParaRPr lang="en-US"/>
          </a:p>
        </p:txBody>
      </p:sp>
      <p:sp>
        <p:nvSpPr>
          <p:cNvPr id="10" name="TextBox 9"/>
          <p:cNvSpPr txBox="1"/>
          <p:nvPr/>
        </p:nvSpPr>
        <p:spPr>
          <a:xfrm>
            <a:off x="314882"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Repository inventory, PR volume, pipeline audit, and dependency map.</a:t>
            </a:r>
          </a:p>
        </p:txBody>
      </p:sp>
      <p:sp>
        <p:nvSpPr>
          <p:cNvPr id="11" name="TextBox 10"/>
          <p:cNvSpPr txBox="1"/>
          <p:nvPr/>
        </p:nvSpPr>
        <p:spPr>
          <a:xfrm>
            <a:off x="2573450"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2</a:t>
            </a:r>
          </a:p>
        </p:txBody>
      </p:sp>
      <p:sp>
        <p:nvSpPr>
          <p:cNvPr id="12" name="TextBox 11"/>
          <p:cNvSpPr txBox="1">
            <a:spLocks/>
          </p:cNvSpPr>
          <p:nvPr/>
        </p:nvSpPr>
        <p:spPr>
          <a:xfrm>
            <a:off x="2573450"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Move repository data</a:t>
            </a:r>
          </a:p>
        </p:txBody>
      </p:sp>
      <p:sp>
        <p:nvSpPr>
          <p:cNvPr id="13" name="Oval 12"/>
          <p:cNvSpPr>
            <a:spLocks/>
          </p:cNvSpPr>
          <p:nvPr/>
        </p:nvSpPr>
        <p:spPr>
          <a:xfrm>
            <a:off x="3469562" y="2570163"/>
            <a:ext cx="219456" cy="219456"/>
          </a:xfrm>
          <a:prstGeom prst="ellipse">
            <a:avLst/>
          </a:prstGeom>
          <a:solidFill>
            <a:srgbClr val="C1440E"/>
          </a:solidFill>
          <a:ln>
            <a:noFill/>
          </a:ln>
        </p:spPr>
        <p:txBody>
          <a:bodyPr rtlCol="0" anchor="ctr"/>
          <a:lstStyle/>
          <a:p>
            <a:pPr algn="ctr"/>
            <a:endParaRPr lang="en-US"/>
          </a:p>
        </p:txBody>
      </p:sp>
      <p:sp>
        <p:nvSpPr>
          <p:cNvPr id="14" name="TextBox 13"/>
          <p:cNvSpPr txBox="1"/>
          <p:nvPr/>
        </p:nvSpPr>
        <p:spPr>
          <a:xfrm>
            <a:off x="2591738"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Trial migration, identity mapping, policies, visibility, and metadata.</a:t>
            </a:r>
          </a:p>
        </p:txBody>
      </p:sp>
      <p:sp>
        <p:nvSpPr>
          <p:cNvPr id="15" name="TextBox 14"/>
          <p:cNvSpPr txBox="1"/>
          <p:nvPr/>
        </p:nvSpPr>
        <p:spPr>
          <a:xfrm>
            <a:off x="4850306"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3</a:t>
            </a:r>
          </a:p>
        </p:txBody>
      </p:sp>
      <p:sp>
        <p:nvSpPr>
          <p:cNvPr id="16" name="TextBox 15"/>
          <p:cNvSpPr txBox="1"/>
          <p:nvPr/>
        </p:nvSpPr>
        <p:spPr>
          <a:xfrm>
            <a:off x="4850306"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Rebuild automation</a:t>
            </a:r>
          </a:p>
        </p:txBody>
      </p:sp>
      <p:sp>
        <p:nvSpPr>
          <p:cNvPr id="17" name="Oval 16"/>
          <p:cNvSpPr/>
          <p:nvPr/>
        </p:nvSpPr>
        <p:spPr>
          <a:xfrm>
            <a:off x="5746418" y="2570163"/>
            <a:ext cx="219456" cy="219456"/>
          </a:xfrm>
          <a:prstGeom prst="ellipse">
            <a:avLst/>
          </a:prstGeom>
          <a:solidFill>
            <a:srgbClr val="C1440E"/>
          </a:solidFill>
          <a:ln>
            <a:noFill/>
          </a:ln>
        </p:spPr>
        <p:txBody>
          <a:bodyPr rtlCol="0" anchor="ctr"/>
          <a:lstStyle/>
          <a:p>
            <a:pPr algn="ctr"/>
            <a:endParaRPr lang="en-US"/>
          </a:p>
        </p:txBody>
      </p:sp>
      <p:sp>
        <p:nvSpPr>
          <p:cNvPr id="18" name="TextBox 17"/>
          <p:cNvSpPr txBox="1"/>
          <p:nvPr/>
        </p:nvSpPr>
        <p:spPr>
          <a:xfrm>
            <a:off x="4868594"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Translate semantics; establish runners, secrets, environments, and approvals.</a:t>
            </a:r>
          </a:p>
        </p:txBody>
      </p:sp>
      <p:sp>
        <p:nvSpPr>
          <p:cNvPr id="19" name="TextBox 18"/>
          <p:cNvSpPr txBox="1"/>
          <p:nvPr/>
        </p:nvSpPr>
        <p:spPr>
          <a:xfrm>
            <a:off x="7127162"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4</a:t>
            </a:r>
          </a:p>
        </p:txBody>
      </p:sp>
      <p:sp>
        <p:nvSpPr>
          <p:cNvPr id="20" name="TextBox 19"/>
          <p:cNvSpPr txBox="1"/>
          <p:nvPr/>
        </p:nvSpPr>
        <p:spPr>
          <a:xfrm>
            <a:off x="7127162"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Prove equivalence</a:t>
            </a:r>
          </a:p>
        </p:txBody>
      </p:sp>
      <p:sp>
        <p:nvSpPr>
          <p:cNvPr id="21" name="Oval 20"/>
          <p:cNvSpPr>
            <a:spLocks/>
          </p:cNvSpPr>
          <p:nvPr/>
        </p:nvSpPr>
        <p:spPr>
          <a:xfrm>
            <a:off x="8023274" y="2570163"/>
            <a:ext cx="219456" cy="219456"/>
          </a:xfrm>
          <a:prstGeom prst="ellipse">
            <a:avLst/>
          </a:prstGeom>
          <a:solidFill>
            <a:srgbClr val="C1440E"/>
          </a:solidFill>
          <a:ln>
            <a:noFill/>
          </a:ln>
        </p:spPr>
        <p:txBody>
          <a:bodyPr rtlCol="0" anchor="ctr"/>
          <a:lstStyle/>
          <a:p>
            <a:pPr algn="ctr"/>
            <a:endParaRPr lang="en-US"/>
          </a:p>
        </p:txBody>
      </p:sp>
      <p:sp>
        <p:nvSpPr>
          <p:cNvPr id="22" name="TextBox 21"/>
          <p:cNvSpPr txBox="1">
            <a:spLocks/>
          </p:cNvSpPr>
          <p:nvPr/>
        </p:nvSpPr>
        <p:spPr>
          <a:xfrm>
            <a:off x="7145450"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Compare artifacts and behavior; test security, deployability, and operability.</a:t>
            </a:r>
          </a:p>
        </p:txBody>
      </p:sp>
      <p:sp>
        <p:nvSpPr>
          <p:cNvPr id="23" name="TextBox 22"/>
          <p:cNvSpPr txBox="1"/>
          <p:nvPr/>
        </p:nvSpPr>
        <p:spPr>
          <a:xfrm>
            <a:off x="9404018"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5</a:t>
            </a:r>
          </a:p>
        </p:txBody>
      </p:sp>
      <p:sp>
        <p:nvSpPr>
          <p:cNvPr id="24" name="TextBox 23"/>
          <p:cNvSpPr txBox="1"/>
          <p:nvPr/>
        </p:nvSpPr>
        <p:spPr>
          <a:xfrm>
            <a:off x="9404018"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Cut over reversibly</a:t>
            </a:r>
          </a:p>
        </p:txBody>
      </p:sp>
      <p:sp>
        <p:nvSpPr>
          <p:cNvPr id="25" name="Oval 24"/>
          <p:cNvSpPr>
            <a:spLocks/>
          </p:cNvSpPr>
          <p:nvPr/>
        </p:nvSpPr>
        <p:spPr>
          <a:xfrm>
            <a:off x="10300130" y="2570163"/>
            <a:ext cx="219456" cy="219456"/>
          </a:xfrm>
          <a:prstGeom prst="ellipse">
            <a:avLst/>
          </a:prstGeom>
          <a:solidFill>
            <a:srgbClr val="C1440E"/>
          </a:solidFill>
          <a:ln>
            <a:noFill/>
          </a:ln>
        </p:spPr>
        <p:txBody>
          <a:bodyPr rtlCol="0" anchor="ctr"/>
          <a:lstStyle/>
          <a:p>
            <a:pPr algn="ctr"/>
            <a:endParaRPr lang="en-US"/>
          </a:p>
        </p:txBody>
      </p:sp>
      <p:sp>
        <p:nvSpPr>
          <p:cNvPr id="26" name="TextBox 25"/>
          <p:cNvSpPr txBox="1"/>
          <p:nvPr/>
        </p:nvSpPr>
        <p:spPr>
          <a:xfrm>
            <a:off x="9422306"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Schedule cutover, monitor, keep rollback ready, then decommission deliberately.</a:t>
            </a:r>
          </a:p>
        </p:txBody>
      </p:sp>
      <p:sp>
        <p:nvSpPr>
          <p:cNvPr id="27" name="TextBox 26"/>
          <p:cNvSpPr txBox="1"/>
          <p:nvPr/>
        </p:nvSpPr>
        <p:spPr>
          <a:xfrm>
            <a:off x="525194" y="4681725"/>
            <a:ext cx="11091672" cy="365760"/>
          </a:xfrm>
          <a:prstGeom prst="rect">
            <a:avLst/>
          </a:prstGeom>
          <a:noFill/>
        </p:spPr>
        <p:txBody>
          <a:bodyPr wrap="square" lIns="73152" tIns="73152" rIns="73152" bIns="73152" anchor="t">
            <a:spAutoFit/>
          </a:bodyPr>
          <a:lstStyle/>
          <a:p>
            <a:pPr algn="ctr"/>
            <a:r>
              <a:rPr lang="en-US" sz="1800" b="1" i="1">
                <a:solidFill>
                  <a:srgbClr val="1F3D2C"/>
                </a:solidFill>
                <a:latin typeface="Cambria"/>
              </a:rPr>
              <a:t>A green build is evidence—not acceptance.</a:t>
            </a:r>
          </a:p>
        </p:txBody>
      </p:sp>
      <p:sp>
        <p:nvSpPr>
          <p:cNvPr id="28" name="Rectangle 27"/>
          <p:cNvSpPr/>
          <p:nvPr/>
        </p:nvSpPr>
        <p:spPr>
          <a:xfrm>
            <a:off x="548640" y="5257797"/>
            <a:ext cx="11064240" cy="914400"/>
          </a:xfrm>
          <a:prstGeom prst="roundRect">
            <a:avLst>
              <a:gd name="adj" fmla="val 12632"/>
            </a:avLst>
          </a:prstGeom>
          <a:solidFill>
            <a:srgbClr val="1F3D2C"/>
          </a:solidFill>
          <a:ln w="12700">
            <a:noFill/>
          </a:ln>
          <a:effectLst/>
        </p:spPr>
        <p:txBody>
          <a:bodyPr rtlCol="0" anchor="ctr"/>
          <a:lstStyle/>
          <a:p>
            <a:pPr algn="ctr"/>
            <a:endParaRPr lang="en-US"/>
          </a:p>
        </p:txBody>
      </p:sp>
      <p:sp>
        <p:nvSpPr>
          <p:cNvPr id="29" name="TextBox 28"/>
          <p:cNvSpPr txBox="1"/>
          <p:nvPr/>
        </p:nvSpPr>
        <p:spPr>
          <a:xfrm>
            <a:off x="548640" y="5257797"/>
            <a:ext cx="11064240" cy="91440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Finish line: first verified delivery — equivalent artifact + controlled deployment + traceability + rollback.</a:t>
            </a:r>
          </a:p>
        </p:txBody>
      </p:sp>
      <p:sp>
        <p:nvSpPr>
          <p:cNvPr id="30" name="Slide Number Placeholder"/>
          <p:cNvSpPr>
            <a:spLocks noGrp="1"/>
          </p:cNvSpPr>
          <p:nvPr>
            <p:ph type="sldNum" sz="quarter" idx="10"/>
          </p:nvPr>
        </p:nvSpPr>
        <p:spPr/>
        <p:txBody>
          <a:bodyPr/>
          <a:lstStyle/>
          <a:p>
            <a:fld id="{BCB632DE-6AD4-40F1-944C-28C0E9BF62DC}"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ghtbulb-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“Migrated” Is a Checklist, Not a Repository URL</a:t>
            </a:r>
            <a:endParaRPr lang="en-US" sz="3200" dirty="0"/>
          </a:p>
        </p:txBody>
      </p:sp>
      <p:sp>
        <p:nvSpPr>
          <p:cNvPr id="6" name="Rectangle 5"/>
          <p:cNvSpPr/>
          <p:nvPr/>
        </p:nvSpPr>
        <p:spPr>
          <a:xfrm>
            <a:off x="548640" y="1508760"/>
            <a:ext cx="3493008" cy="3886200"/>
          </a:xfrm>
          <a:prstGeom prst="roundRect">
            <a:avLst>
              <a:gd name="adj" fmla="val 314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Box 6"/>
          <p:cNvSpPr txBox="1"/>
          <p:nvPr/>
        </p:nvSpPr>
        <p:spPr>
          <a:xfrm>
            <a:off x="749808"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REPOSITORY DATA</a:t>
            </a:r>
          </a:p>
        </p:txBody>
      </p:sp>
      <p:sp>
        <p:nvSpPr>
          <p:cNvPr id="8" name="TextBox 7"/>
          <p:cNvSpPr txBox="1">
            <a:spLocks/>
          </p:cNvSpPr>
          <p:nvPr/>
        </p:nvSpPr>
        <p:spPr>
          <a:xfrm>
            <a:off x="768096" y="2304288"/>
            <a:ext cx="3054096" cy="2697480"/>
          </a:xfrm>
          <a:prstGeom prst="rect">
            <a:avLst/>
          </a:prstGeom>
          <a:noFill/>
        </p:spPr>
        <p:txBody>
          <a:bodyPr wrap="square" lIns="36576" tIns="27432" rIns="36576" bIns="27432">
            <a:spAutoFit/>
          </a:bodyPr>
          <a:lstStyle/>
          <a:p>
            <a:pPr>
              <a:spcAft>
                <a:spcPts val="500"/>
              </a:spcAft>
            </a:pPr>
            <a:r>
              <a:rPr lang="en-US" sz="1400" dirty="0">
                <a:solidFill>
                  <a:srgbClr val="2B2B2B"/>
                </a:solidFill>
                <a:latin typeface="Calibri"/>
              </a:rPr>
              <a:t>•  Branches, tags, and sampled commits reconciled</a:t>
            </a:r>
          </a:p>
          <a:p>
            <a:pPr>
              <a:spcAft>
                <a:spcPts val="500"/>
              </a:spcAft>
            </a:pPr>
            <a:r>
              <a:rPr lang="en-US" sz="1400" dirty="0">
                <a:solidFill>
                  <a:srgbClr val="2B2B2B"/>
                </a:solidFill>
                <a:latin typeface="Calibri"/>
              </a:rPr>
              <a:t>•  PR history and attachments sampled</a:t>
            </a:r>
          </a:p>
          <a:p>
            <a:pPr>
              <a:spcAft>
                <a:spcPts val="500"/>
              </a:spcAft>
            </a:pPr>
            <a:r>
              <a:rPr lang="en-US" sz="1400" dirty="0">
                <a:solidFill>
                  <a:srgbClr val="2B2B2B"/>
                </a:solidFill>
                <a:latin typeface="Calibri"/>
              </a:rPr>
              <a:t>•  Identity, teams, permissions, and visibility verified</a:t>
            </a:r>
          </a:p>
          <a:p>
            <a:pPr>
              <a:spcAft>
                <a:spcPts val="500"/>
              </a:spcAft>
            </a:pPr>
            <a:r>
              <a:rPr lang="en-US" sz="1400" dirty="0">
                <a:solidFill>
                  <a:srgbClr val="2B2B2B"/>
                </a:solidFill>
                <a:latin typeface="Calibri"/>
              </a:rPr>
              <a:t>•  Policies, LFS, and large-file behavior checked</a:t>
            </a:r>
          </a:p>
        </p:txBody>
      </p:sp>
      <p:sp>
        <p:nvSpPr>
          <p:cNvPr id="9" name="Rectangle 8"/>
          <p:cNvSpPr>
            <a:spLocks/>
          </p:cNvSpPr>
          <p:nvPr/>
        </p:nvSpPr>
        <p:spPr>
          <a:xfrm>
            <a:off x="4279392"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4480559"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AUTOMATION</a:t>
            </a:r>
          </a:p>
        </p:txBody>
      </p:sp>
      <p:sp>
        <p:nvSpPr>
          <p:cNvPr id="11" name="TextBox 10"/>
          <p:cNvSpPr txBox="1"/>
          <p:nvPr/>
        </p:nvSpPr>
        <p:spPr>
          <a:xfrm>
            <a:off x="4498848" y="2304288"/>
            <a:ext cx="3054096" cy="1540422"/>
          </a:xfrm>
          <a:prstGeom prst="rect">
            <a:avLst/>
          </a:prstGeom>
          <a:noFill/>
        </p:spPr>
        <p:txBody>
          <a:bodyPr wrap="square" lIns="36576" tIns="27432" rIns="36576" bIns="27432">
            <a:spAutoFit/>
          </a:bodyPr>
          <a:lstStyle/>
          <a:p>
            <a:pPr>
              <a:spcAft>
                <a:spcPts val="500"/>
              </a:spcAft>
            </a:pPr>
            <a:r>
              <a:rPr sz="1400">
                <a:latin typeface="Calibri"/>
              </a:rPr>
              <a:t>•  Equivalent build artifact produced</a:t>
            </a:r>
          </a:p>
          <a:p>
            <a:pPr>
              <a:spcAft>
                <a:spcPts val="500"/>
              </a:spcAft>
            </a:pPr>
            <a:r>
              <a:rPr sz="1400">
                <a:latin typeface="Calibri"/>
              </a:rPr>
              <a:t>•  Secrets, OIDC, and permissions reviewed</a:t>
            </a:r>
          </a:p>
          <a:p>
            <a:pPr>
              <a:spcAft>
                <a:spcPts val="500"/>
              </a:spcAft>
            </a:pPr>
            <a:r>
              <a:rPr sz="1400">
                <a:latin typeface="Calibri"/>
              </a:rPr>
              <a:t>•  Runner and network path proven</a:t>
            </a:r>
          </a:p>
          <a:p>
            <a:pPr>
              <a:spcAft>
                <a:spcPts val="500"/>
              </a:spcAft>
            </a:pPr>
            <a:r>
              <a:rPr sz="1400">
                <a:latin typeface="Calibri"/>
              </a:rPr>
              <a:t>•  Environments, approvals, and deployment exercised</a:t>
            </a:r>
          </a:p>
        </p:txBody>
      </p:sp>
      <p:sp>
        <p:nvSpPr>
          <p:cNvPr id="12" name="Rectangle 11"/>
          <p:cNvSpPr/>
          <p:nvPr/>
        </p:nvSpPr>
        <p:spPr>
          <a:xfrm>
            <a:off x="8010144"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a:p>
        </p:txBody>
      </p:sp>
      <p:sp>
        <p:nvSpPr>
          <p:cNvPr id="13" name="TextBox 12"/>
          <p:cNvSpPr txBox="1"/>
          <p:nvPr/>
        </p:nvSpPr>
        <p:spPr>
          <a:xfrm>
            <a:off x="8211312" y="1737360"/>
            <a:ext cx="3090672" cy="347472"/>
          </a:xfrm>
          <a:prstGeom prst="rect">
            <a:avLst/>
          </a:prstGeom>
          <a:noFill/>
        </p:spPr>
        <p:txBody>
          <a:bodyPr wrap="square" lIns="73152" tIns="73152" rIns="73152" bIns="73152" anchor="t">
            <a:spAutoFit/>
          </a:bodyPr>
          <a:lstStyle/>
          <a:p>
            <a:pPr algn="ctr"/>
            <a:r>
              <a:rPr sz="1450" b="1" i="0">
                <a:solidFill>
                  <a:srgbClr val="C1440E"/>
                </a:solidFill>
                <a:latin typeface="Calibri"/>
              </a:rPr>
              <a:t>VALIDATION &amp; CUTOVER</a:t>
            </a:r>
          </a:p>
        </p:txBody>
      </p:sp>
      <p:sp>
        <p:nvSpPr>
          <p:cNvPr id="14" name="TextBox 13"/>
          <p:cNvSpPr txBox="1"/>
          <p:nvPr/>
        </p:nvSpPr>
        <p:spPr>
          <a:xfrm>
            <a:off x="8229600" y="2304288"/>
            <a:ext cx="3054096" cy="2697480"/>
          </a:xfrm>
          <a:prstGeom prst="rect">
            <a:avLst/>
          </a:prstGeom>
          <a:noFill/>
        </p:spPr>
        <p:txBody>
          <a:bodyPr wrap="square" lIns="36576" tIns="27432" rIns="36576" bIns="27432">
            <a:spAutoFit/>
          </a:bodyPr>
          <a:lstStyle/>
          <a:p>
            <a:pPr>
              <a:spcAft>
                <a:spcPts val="500"/>
              </a:spcAft>
            </a:pPr>
            <a:r>
              <a:rPr sz="1400">
                <a:solidFill>
                  <a:srgbClr val="2B2B2B"/>
                </a:solidFill>
                <a:latin typeface="Calibri"/>
              </a:rPr>
              <a:t>•  Behavior, security, and performance accepted</a:t>
            </a:r>
          </a:p>
          <a:p>
            <a:pPr>
              <a:spcAft>
                <a:spcPts val="500"/>
              </a:spcAft>
            </a:pPr>
            <a:r>
              <a:rPr sz="1400">
                <a:solidFill>
                  <a:srgbClr val="2B2B2B"/>
                </a:solidFill>
                <a:latin typeface="Calibri"/>
              </a:rPr>
              <a:t>•  Observability and notifications confirmed</a:t>
            </a:r>
          </a:p>
          <a:p>
            <a:pPr>
              <a:spcAft>
                <a:spcPts val="500"/>
              </a:spcAft>
            </a:pPr>
            <a:r>
              <a:rPr sz="1400">
                <a:solidFill>
                  <a:srgbClr val="2B2B2B"/>
                </a:solidFill>
                <a:latin typeface="Calibri"/>
              </a:rPr>
              <a:t>•  Rollback owner and procedure documented</a:t>
            </a:r>
          </a:p>
          <a:p>
            <a:pPr>
              <a:spcAft>
                <a:spcPts val="500"/>
              </a:spcAft>
            </a:pPr>
            <a:r>
              <a:rPr sz="1400">
                <a:solidFill>
                  <a:srgbClr val="2B2B2B"/>
                </a:solidFill>
                <a:latin typeface="Calibri"/>
              </a:rPr>
              <a:t>•  Legacy repo read-only; decommission date defined</a:t>
            </a:r>
          </a:p>
        </p:txBody>
      </p:sp>
      <p:sp>
        <p:nvSpPr>
          <p:cNvPr id="16" name="Rounded Rectangle 15"/>
          <p:cNvSpPr/>
          <p:nvPr/>
        </p:nvSpPr>
        <p:spPr>
          <a:xfrm>
            <a:off x="548640" y="5449824"/>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15" name="TextBox 14"/>
          <p:cNvSpPr txBox="1"/>
          <p:nvPr/>
        </p:nvSpPr>
        <p:spPr>
          <a:xfrm>
            <a:off x="548640" y="5449824"/>
            <a:ext cx="11064240" cy="73152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Definition of done: verified delivery, traceability, operational ownership, and reversibility.</a:t>
            </a:r>
          </a:p>
        </p:txBody>
      </p:sp>
      <p:sp>
        <p:nvSpPr>
          <p:cNvPr id="17" name="Slide Number Placeholder"/>
          <p:cNvSpPr>
            <a:spLocks noGrp="1"/>
          </p:cNvSpPr>
          <p:nvPr>
            <p:ph type="sldNum" sz="quarter" idx="10"/>
          </p:nvPr>
        </p:nvSpPr>
        <p:spPr/>
        <p:txBody>
          <a:bodyPr/>
          <a:lstStyle/>
          <a:p>
            <a:fld id="{BCB632DE-6AD4-40F1-944C-28C0E9BF62DC}"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3 — Crossing the River</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29</a:t>
            </a:fld>
            <a:endParaRPr lang="en-US">
              <a:solidFill>
                <a:srgbClr val="E0B85C"/>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30</a:t>
            </a:fld>
            <a:endParaRPr lang="en-US">
              <a:solidFill>
                <a:srgbClr val="E0B85C"/>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ProjectDiagram-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t"/>
          <a:lstStyle/>
          <a:p>
            <a:pPr marL="0" indent="0">
              <a:buNone/>
            </a:pPr>
            <a:r>
              <a:rPr lang="en-US" sz="3200" b="1" dirty="0">
                <a:solidFill>
                  <a:srgbClr val="1F3D2C"/>
                </a:solidFill>
                <a:latin typeface="Cambria" pitchFamily="34" charset="0"/>
                <a:ea typeface="Cambria" pitchFamily="34" charset="-122"/>
                <a:cs typeface="Cambria" pitchFamily="34" charset="-120"/>
              </a:rPr>
              <a:t>Boards and Projects Are Two Different Models</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28800"/>
            <a:ext cx="10332720" cy="164592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Azure Boards is a work-tracking system built around a process template. GitHub Projects is a planning layer built around custom fields and views.</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133088"/>
            <a:ext cx="4800600" cy="457200"/>
          </a:xfrm>
          <a:prstGeom prst="rect">
            <a:avLst/>
          </a:prstGeom>
          <a:noFill/>
          <a:ln/>
        </p:spPr>
        <p:txBody>
          <a:bodyPr wrap="square" lIns="0" tIns="0" rIns="0" bIns="0" rtlCol="0" anchor="ctr"/>
          <a:lstStyle/>
          <a:p>
            <a:pPr marL="0" indent="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133088"/>
            <a:ext cx="480060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Field-driven planning layer on Issues</a:t>
            </a:r>
            <a:endParaRPr lang="en-US" sz="1600" dirty="0"/>
          </a:p>
        </p:txBody>
      </p:sp>
      <p:sp>
        <p:nvSpPr>
          <p:cNvPr id="14" name="Slide Number Placeholder"/>
          <p:cNvSpPr>
            <a:spLocks noGrp="1"/>
          </p:cNvSpPr>
          <p:nvPr>
            <p:ph type="sldNum" sz="quarter" idx="10"/>
          </p:nvPr>
        </p:nvSpPr>
        <p:spPr/>
        <p:txBody>
          <a:bodyPr/>
          <a:lstStyle/>
          <a:p>
            <a:fld id="{BCB632DE-6AD4-40F1-944C-28C0E9BF62DC}" type="slidenum">
              <a:rPr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Site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Each Tool on Its Own Terms</a:t>
            </a:r>
            <a:endParaRPr lang="en-US" sz="3200" dirty="0"/>
          </a:p>
        </p:txBody>
      </p:sp>
      <p:sp>
        <p:nvSpPr>
          <p:cNvPr id="6" name="Shape 3"/>
          <p:cNvSpPr/>
          <p:nvPr/>
        </p:nvSpPr>
        <p:spPr>
          <a:xfrm>
            <a:off x="54864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3 right"/>
          <p:cNvSpPr/>
          <p:nvPr/>
        </p:nvSpPr>
        <p:spPr>
          <a:xfrm>
            <a:off x="617220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55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ORGANIZES BY </a:t>
            </a:r>
            <a:r>
              <a:rPr sz="1500" b="0">
                <a:solidFill>
                  <a:srgbClr val="F5F5F0"/>
                </a:solidFill>
                <a:latin typeface="Calibri"/>
              </a:rPr>
              <a:t>Boards: Project → Team → Area Path.   Projects: custom fields and iterations, org-wide across repositories.</a:t>
            </a:r>
            <a:endParaRPr lang="en-US" sz="1600" dirty="0"/>
          </a:p>
        </p:txBody>
      </p:sp>
      <p:sp>
        <p:nvSpPr>
          <p:cNvPr id="11" name="Header left"/>
          <p:cNvSpPr txBox="1"/>
          <p:nvPr/>
        </p:nvSpPr>
        <p:spPr>
          <a:xfrm>
            <a:off x="86868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Azure Boards</a:t>
            </a:r>
            <a:endParaRPr lang="en-US" sz="2000" dirty="0"/>
          </a:p>
        </p:txBody>
      </p:sp>
      <p:sp>
        <p:nvSpPr>
          <p:cNvPr id="12" name="Header right"/>
          <p:cNvSpPr txBox="1"/>
          <p:nvPr/>
        </p:nvSpPr>
        <p:spPr>
          <a:xfrm>
            <a:off x="649224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4 right"/>
          <p:cNvSpPr txBox="1"/>
          <p:nvPr/>
        </p:nvSpPr>
        <p:spPr>
          <a:xfrm>
            <a:off x="649224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Custom fields instead of a fixed process: iteration, single-select, date, number</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Lives next to the issues and PRs it tracks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Fast daily triage, with no context switch to a separate system</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Sub-issues, issue types and dependencies (all GA); roadmap layout; built-in or Actions automation</a:t>
            </a:r>
            <a:endParaRPr lang="en-US" sz="1900" dirty="0"/>
          </a:p>
        </p:txBody>
      </p:sp>
      <p:sp>
        <p:nvSpPr>
          <p:cNvPr id="14" name="Slide Number Placeholder"/>
          <p:cNvSpPr>
            <a:spLocks noGrp="1"/>
          </p:cNvSpPr>
          <p:nvPr>
            <p:ph type="sldNum" sz="quarter" idx="10"/>
          </p:nvPr>
        </p:nvSpPr>
        <p:spPr/>
        <p:txBody>
          <a:bodyPr/>
          <a:lstStyle/>
          <a:p>
            <a:fld id="{BCB632DE-6AD4-40F1-944C-28C0E9BF62DC}"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n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Sprint history and capacity data</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Custom process fields and work-item rules</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process template itself: no Agile/Scrum/CMMI equivalent, no built-in capacity or burndown</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Project → Team → Area Path structure (parent–child links can map to sub-issues)</a:t>
            </a:r>
            <a:endParaRPr lang="en-US" sz="1900" dirty="0"/>
          </a:p>
        </p:txBody>
      </p:sp>
      <p:sp>
        <p:nvSpPr>
          <p:cNvPr id="8" name="Shape 5"/>
          <p:cNvSpPr/>
          <p:nvPr/>
        </p:nvSpPr>
        <p:spPr>
          <a:xfrm>
            <a:off x="548640" y="480060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800600"/>
            <a:ext cx="11064240" cy="150876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There’s no first-party tool that moves Azure Boards work items into GitHub Issues, and the data models don’t line up. Budget real manual mapping: this is a project, not a script you run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65960"/>
            <a:ext cx="10515600" cy="822960"/>
          </a:xfrm>
          <a:prstGeom prst="rect">
            <a:avLst/>
          </a:prstGeom>
          <a:noFill/>
          <a:ln/>
        </p:spPr>
        <p:txBody>
          <a:bodyPr wrap="square" lIns="0" tIns="0" rIns="0" bIns="0" rtlCol="0" anchor="ctr"/>
          <a:lstStyle/>
          <a:p>
            <a:pPr marL="0" indent="0" algn="ctr">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marL="0" indent="0" algn="ctr">
              <a:buNone/>
            </a:pPr>
            <a:r>
              <a:rPr lang="en-US" sz="1600" dirty="0">
                <a:solidFill>
                  <a:srgbClr val="E0B85C"/>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822960" y="4206240"/>
            <a:ext cx="10515600" cy="1097280"/>
          </a:xfrm>
          <a:prstGeom prst="rect">
            <a:avLst/>
          </a:prstGeom>
          <a:noFill/>
          <a:ln/>
        </p:spPr>
        <p:txBody>
          <a:bodyPr wrap="square" lIns="0" tIns="0" rIns="0" bIns="0" rtlCol="0" anchor="ctr"/>
          <a:lstStyle/>
          <a:p>
            <a:pPr marL="0" indent="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2" name="Rounded Rectangle 11"/>
          <p:cNvSpPr/>
          <p:nvPr/>
        </p:nvSpPr>
        <p:spPr>
          <a:xfrm>
            <a:off x="548640" y="556869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1" name="Text 8"/>
          <p:cNvSpPr txBox="1"/>
          <p:nvPr/>
        </p:nvSpPr>
        <p:spPr>
          <a:xfrm>
            <a:off x="548640" y="5568696"/>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Sometimes “it doesn’t move, and that’s fine” is the honest answer.</a:t>
            </a:r>
            <a:endParaRPr lang="en-US" sz="1900" dirty="0"/>
          </a:p>
        </p:txBody>
      </p:sp>
      <p:sp>
        <p:nvSpPr>
          <p:cNvPr id="13" name="Slide Number Placeholder"/>
          <p:cNvSpPr>
            <a:spLocks noGrp="1"/>
          </p:cNvSpPr>
          <p:nvPr>
            <p:ph type="sldNum" sz="quarter" idx="10"/>
          </p:nvPr>
        </p:nvSpPr>
        <p:spPr/>
        <p:txBody>
          <a:bodyPr/>
          <a:lstStyle/>
          <a:p>
            <a:fld id="{BCB632DE-6AD4-40F1-944C-28C0E9BF62DC}"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Connect Boards to GitHub; migrate work items only if planning is simple.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2560320"/>
            <a:ext cx="4800600" cy="50292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446520" y="2560320"/>
            <a:ext cx="4800600" cy="50292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4" name="Rounded Rectangle 13"/>
          <p:cNvSpPr/>
          <p:nvPr/>
        </p:nvSpPr>
        <p:spPr>
          <a:xfrm>
            <a:off x="548640" y="5111496"/>
            <a:ext cx="11064240" cy="905256"/>
          </a:xfrm>
          <a:prstGeom prst="roundRect">
            <a:avLst>
              <a:gd name="adj" fmla="val 12632"/>
            </a:avLst>
          </a:prstGeom>
          <a:solidFill>
            <a:srgbClr val="1F3D2C"/>
          </a:solidFill>
          <a:ln>
            <a:noFill/>
          </a:ln>
          <a:effectLst/>
        </p:spPr>
        <p:txBody>
          <a:bodyPr rtlCol="0" anchor="ctr"/>
          <a:lstStyle/>
          <a:p>
            <a:pPr algn="ctr"/>
            <a:endParaRPr/>
          </a:p>
        </p:txBody>
      </p:sp>
      <p:sp>
        <p:nvSpPr>
          <p:cNvPr id="13" name="Text 10"/>
          <p:cNvSpPr txBox="1"/>
          <p:nvPr/>
        </p:nvSpPr>
        <p:spPr>
          <a:xfrm>
            <a:off x="548640" y="5111496"/>
            <a:ext cx="11064240" cy="90525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Not “Azure Boards forever”: just don’t default to GitHub Issues because the code moved. Where you plan work is a separate decision from where the code lives.</a:t>
            </a:r>
            <a:endParaRPr lang="en-US" sz="1800" dirty="0"/>
          </a:p>
        </p:txBody>
      </p:sp>
      <p:sp>
        <p:nvSpPr>
          <p:cNvPr id="15" name="Slide Number Placeholder"/>
          <p:cNvSpPr>
            <a:spLocks noGrp="1"/>
          </p:cNvSpPr>
          <p:nvPr>
            <p:ph type="sldNum" sz="quarter" idx="10"/>
          </p:nvPr>
        </p:nvSpPr>
        <p:spPr/>
        <p:txBody>
          <a:bodyPr/>
          <a:lstStyle/>
          <a:p>
            <a:fld id="{BCB632DE-6AD4-40F1-944C-28C0E9BF62DC}"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4 — Watch as the Scrum Master Approaches Carefully</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36</a:t>
            </a:fld>
            <a:endParaRPr lang="en-US">
              <a:solidFill>
                <a:srgbClr val="E0B85C"/>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37</a:t>
            </a:fld>
            <a:endParaRPr lang="en-US">
              <a:solidFill>
                <a:srgbClr val="E0B85C"/>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eaterM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74520"/>
            <a:ext cx="10515600" cy="1554480"/>
          </a:xfrm>
          <a:prstGeom prst="rect">
            <a:avLst/>
          </a:prstGeom>
          <a:noFill/>
          <a:ln/>
        </p:spPr>
        <p:txBody>
          <a:bodyPr wrap="square" lIns="0" tIns="0" rIns="0" bIns="0" rtlCol="0" anchor="ctr"/>
          <a:lstStyle/>
          <a:p>
            <a:pPr marL="0" indent="0">
              <a:lnSpc>
                <a:spcPct val="125000"/>
              </a:lnSpc>
              <a:buNone/>
            </a:pPr>
            <a:r>
              <a:rPr lang="en-US" sz="2000" b="1" dirty="0">
                <a:solidFill>
                  <a:srgbClr val="2B2B2B"/>
                </a:solidFill>
                <a:latin typeface="Calibri" pitchFamily="34" charset="0"/>
                <a:ea typeface="Calibri" pitchFamily="34" charset="-122"/>
                <a:cs typeface="Calibri" pitchFamily="34" charset="-120"/>
              </a:rPr>
              <a:t>Most migrations that fail don’t fail in the converter. </a:t>
            </a: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 starting with the people.</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00507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822960" y="496519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22960" y="592531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
        <p:nvSpPr>
          <p:cNvPr id="14" name="Slide Number Placeholder"/>
          <p:cNvSpPr>
            <a:spLocks noGrp="1"/>
          </p:cNvSpPr>
          <p:nvPr>
            <p:ph type="sldNum" sz="quarter" idx="10"/>
          </p:nvPr>
        </p:nvSpPr>
        <p:spPr/>
        <p:txBody>
          <a:bodyPr/>
          <a:lstStyle/>
          <a:p>
            <a:fld id="{BCB632DE-6AD4-40F1-944C-28C0E9BF62DC}"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Choose With Evidence, Then Pilot on Defaults</a:t>
            </a:r>
            <a:endParaRPr lang="en-US" sz="3200" dirty="0"/>
          </a:p>
        </p:txBody>
      </p:sp>
      <p:sp>
        <p:nvSpPr>
          <p:cNvPr id="6" name="Shape 3"/>
          <p:cNvSpPr/>
          <p:nvPr/>
        </p:nvSpPr>
        <p:spPr>
          <a:xfrm>
            <a:off x="548640" y="1554480"/>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618488"/>
            <a:ext cx="585216" cy="585216"/>
          </a:xfrm>
          <a:prstGeom prst="ellipse">
            <a:avLst/>
          </a:prstGeom>
          <a:solidFill>
            <a:srgbClr val="C1440E"/>
          </a:solidFill>
          <a:ln/>
        </p:spPr>
        <p:txBody>
          <a:bodyPr/>
          <a:lstStyle/>
          <a:p>
            <a:endParaRPr lang="en-US"/>
          </a:p>
        </p:txBody>
      </p:sp>
      <p:sp>
        <p:nvSpPr>
          <p:cNvPr id="8" name="Text 5"/>
          <p:cNvSpPr txBox="1"/>
          <p:nvPr/>
        </p:nvSpPr>
        <p:spPr>
          <a:xfrm>
            <a:off x="777240" y="1618488"/>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591056"/>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591056"/>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What each option has to do, not what would be nice.</a:t>
            </a:r>
            <a:endParaRPr lang="en-US" sz="1350" dirty="0"/>
          </a:p>
        </p:txBody>
      </p:sp>
      <p:sp>
        <p:nvSpPr>
          <p:cNvPr id="11" name="Shape 8"/>
          <p:cNvSpPr/>
          <p:nvPr/>
        </p:nvSpPr>
        <p:spPr>
          <a:xfrm>
            <a:off x="548640" y="2359152"/>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777240" y="2423160"/>
            <a:ext cx="585216" cy="585216"/>
          </a:xfrm>
          <a:prstGeom prst="ellipse">
            <a:avLst/>
          </a:prstGeom>
          <a:solidFill>
            <a:srgbClr val="C1440E"/>
          </a:solidFill>
          <a:ln/>
        </p:spPr>
        <p:txBody>
          <a:bodyPr/>
          <a:lstStyle/>
          <a:p>
            <a:endParaRPr lang="en-US"/>
          </a:p>
        </p:txBody>
      </p:sp>
      <p:sp>
        <p:nvSpPr>
          <p:cNvPr id="13" name="Text 10"/>
          <p:cNvSpPr txBox="1"/>
          <p:nvPr/>
        </p:nvSpPr>
        <p:spPr>
          <a:xfrm>
            <a:off x="777240" y="2423160"/>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395728"/>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395728"/>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163824"/>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777240" y="3227832"/>
            <a:ext cx="585216" cy="585216"/>
          </a:xfrm>
          <a:prstGeom prst="ellipse">
            <a:avLst/>
          </a:prstGeom>
          <a:solidFill>
            <a:srgbClr val="C1440E"/>
          </a:solidFill>
          <a:ln/>
        </p:spPr>
        <p:txBody>
          <a:bodyPr/>
          <a:lstStyle/>
          <a:p>
            <a:endParaRPr lang="en-US"/>
          </a:p>
        </p:txBody>
      </p:sp>
      <p:sp>
        <p:nvSpPr>
          <p:cNvPr id="18" name="Text 15"/>
          <p:cNvSpPr txBox="1"/>
          <p:nvPr/>
        </p:nvSpPr>
        <p:spPr>
          <a:xfrm>
            <a:off x="777240" y="3227832"/>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200400"/>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200400"/>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In each candidate option: a real slice of real work, not a vendor demo.</a:t>
            </a:r>
            <a:endParaRPr lang="en-US" sz="1350" dirty="0"/>
          </a:p>
        </p:txBody>
      </p:sp>
      <p:sp>
        <p:nvSpPr>
          <p:cNvPr id="21" name="Shape 18"/>
          <p:cNvSpPr/>
          <p:nvPr/>
        </p:nvSpPr>
        <p:spPr>
          <a:xfrm>
            <a:off x="548640" y="3968496"/>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777240" y="4032504"/>
            <a:ext cx="585216" cy="585216"/>
          </a:xfrm>
          <a:prstGeom prst="ellipse">
            <a:avLst/>
          </a:prstGeom>
          <a:solidFill>
            <a:srgbClr val="C1440E"/>
          </a:solidFill>
          <a:ln/>
        </p:spPr>
        <p:txBody>
          <a:bodyPr/>
          <a:lstStyle/>
          <a:p>
            <a:endParaRPr lang="en-US"/>
          </a:p>
        </p:txBody>
      </p:sp>
      <p:sp>
        <p:nvSpPr>
          <p:cNvPr id="23" name="Text 20"/>
          <p:cNvSpPr txBox="1"/>
          <p:nvPr/>
        </p:nvSpPr>
        <p:spPr>
          <a:xfrm>
            <a:off x="777240" y="4032504"/>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005072"/>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005072"/>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4773168"/>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4"/>
          <p:cNvSpPr/>
          <p:nvPr/>
        </p:nvSpPr>
        <p:spPr>
          <a:xfrm>
            <a:off x="777240" y="4837176"/>
            <a:ext cx="585216" cy="585216"/>
          </a:xfrm>
          <a:prstGeom prst="ellipse">
            <a:avLst/>
          </a:prstGeom>
          <a:solidFill>
            <a:srgbClr val="C1440E"/>
          </a:solidFill>
          <a:ln/>
        </p:spPr>
        <p:txBody>
          <a:bodyPr/>
          <a:lstStyle/>
          <a:p>
            <a:endParaRPr lang="en-US"/>
          </a:p>
        </p:txBody>
      </p:sp>
      <p:sp>
        <p:nvSpPr>
          <p:cNvPr id="28" name="Text 25"/>
          <p:cNvSpPr txBox="1"/>
          <p:nvPr/>
        </p:nvSpPr>
        <p:spPr>
          <a:xfrm>
            <a:off x="777240" y="4837176"/>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4809744"/>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Pilot on defaults</a:t>
            </a:r>
            <a:endParaRPr lang="en-US" sz="1600" dirty="0"/>
          </a:p>
        </p:txBody>
      </p:sp>
      <p:sp>
        <p:nvSpPr>
          <p:cNvPr id="30" name="Text 27"/>
          <p:cNvSpPr txBox="1"/>
          <p:nvPr/>
        </p:nvSpPr>
        <p:spPr>
          <a:xfrm>
            <a:off x="4892040" y="4809744"/>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4–6 weeks, outcomes decided in advance. Customize only after, with real usage data.</a:t>
            </a:r>
            <a:endParaRPr lang="en-US" sz="1350" dirty="0"/>
          </a:p>
        </p:txBody>
      </p:sp>
      <p:sp>
        <p:nvSpPr>
          <p:cNvPr id="31" name="Takeaway bar"/>
          <p:cNvSpPr/>
          <p:nvPr/>
        </p:nvSpPr>
        <p:spPr>
          <a:xfrm>
            <a:off x="548640" y="5669280"/>
            <a:ext cx="11064240" cy="77724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2" name="Takeaway text"/>
          <p:cNvSpPr txBox="1"/>
          <p:nvPr/>
        </p:nvSpPr>
        <p:spPr>
          <a:xfrm>
            <a:off x="548640" y="5669280"/>
            <a:ext cx="11064240" cy="77724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Every customization made before the pilot is a bet placed with the least information you’ll ever have.</a:t>
            </a:r>
            <a:endParaRPr lang="en-US" sz="1700" dirty="0"/>
          </a:p>
        </p:txBody>
      </p:sp>
      <p:sp>
        <p:nvSpPr>
          <p:cNvPr id="33" name="Slide Number Placeholder"/>
          <p:cNvSpPr>
            <a:spLocks noGrp="1"/>
          </p:cNvSpPr>
          <p:nvPr>
            <p:ph type="sldNum" sz="quarter" idx="10"/>
          </p:nvPr>
        </p:nvSpPr>
        <p:spPr/>
        <p:txBody>
          <a:bodyPr/>
          <a:lstStyle/>
          <a:p>
            <a:fld id="{BCB632DE-6AD4-40F1-944C-28C0E9BF62DC}" type="slidenum">
              <a:rPr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547872"/>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920240"/>
            <a:ext cx="457200" cy="457200"/>
          </a:xfrm>
          <a:prstGeom prst="ellipse">
            <a:avLst/>
          </a:prstGeom>
          <a:solidFill>
            <a:srgbClr val="C1440E"/>
          </a:solidFill>
          <a:ln/>
        </p:spPr>
        <p:txBody>
          <a:bodyPr/>
          <a:lstStyle/>
          <a:p>
            <a:endParaRPr lang="en-US"/>
          </a:p>
        </p:txBody>
      </p:sp>
      <p:sp>
        <p:nvSpPr>
          <p:cNvPr id="8" name="Text 5"/>
          <p:cNvSpPr txBox="1"/>
          <p:nvPr/>
        </p:nvSpPr>
        <p:spPr>
          <a:xfrm>
            <a:off x="77724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Define authority &amp; traceability</a:t>
            </a:r>
            <a:endParaRPr lang="en-US" sz="155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marL="0" indent="0" algn="l">
              <a:lnSpc>
                <a:spcPct val="110000"/>
              </a:lnSpc>
              <a:buNone/>
            </a:pPr>
            <a:r>
              <a:rPr lang="en-US" sz="1400" dirty="0">
                <a:solidFill>
                  <a:srgbClr val="2B2B2B"/>
                </a:solidFill>
                <a:latin typeface="Calibri"/>
              </a:rPr>
              <a:t>Connect Boards, name the source of truth, owners, and rollback authority.</a:t>
            </a:r>
            <a:endParaRPr lang="en-US" sz="1250" dirty="0"/>
          </a:p>
        </p:txBody>
      </p:sp>
      <p:sp>
        <p:nvSpPr>
          <p:cNvPr id="11" name="Shape 8"/>
          <p:cNvSpPr/>
          <p:nvPr/>
        </p:nvSpPr>
        <p:spPr>
          <a:xfrm>
            <a:off x="3337560" y="1691640"/>
            <a:ext cx="2560320" cy="3547872"/>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3566160" y="1920240"/>
            <a:ext cx="457200" cy="457200"/>
          </a:xfrm>
          <a:prstGeom prst="ellipse">
            <a:avLst/>
          </a:prstGeom>
          <a:solidFill>
            <a:srgbClr val="C1440E"/>
          </a:solidFill>
          <a:ln/>
        </p:spPr>
        <p:txBody>
          <a:bodyPr/>
          <a:lstStyle/>
          <a:p>
            <a:endParaRPr lang="en-US"/>
          </a:p>
        </p:txBody>
      </p:sp>
      <p:sp>
        <p:nvSpPr>
          <p:cNvPr id="13" name="Text 10"/>
          <p:cNvSpPr txBox="1"/>
          <p:nvPr/>
        </p:nvSpPr>
        <p:spPr>
          <a:xfrm>
            <a:off x="356616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Trial one repo end-to-end</a:t>
            </a:r>
            <a:endParaRPr lang="en-US" sz="155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Exercise repository data, automation, and validation before scaling.</a:t>
            </a:r>
            <a:endParaRPr lang="en-US" sz="1250"/>
          </a:p>
        </p:txBody>
      </p:sp>
      <p:sp>
        <p:nvSpPr>
          <p:cNvPr id="16" name="Shape 13"/>
          <p:cNvSpPr/>
          <p:nvPr/>
        </p:nvSpPr>
        <p:spPr>
          <a:xfrm>
            <a:off x="6126480" y="1691640"/>
            <a:ext cx="2560320" cy="3547872"/>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6355080" y="1920240"/>
            <a:ext cx="457200" cy="457200"/>
          </a:xfrm>
          <a:prstGeom prst="ellipse">
            <a:avLst/>
          </a:prstGeom>
          <a:solidFill>
            <a:srgbClr val="C1440E"/>
          </a:solidFill>
          <a:ln/>
        </p:spPr>
        <p:txBody>
          <a:bodyPr/>
          <a:lstStyle/>
          <a:p>
            <a:endParaRPr lang="en-US"/>
          </a:p>
        </p:txBody>
      </p:sp>
      <p:sp>
        <p:nvSpPr>
          <p:cNvPr id="18" name="Text 15"/>
          <p:cNvSpPr txBox="1"/>
          <p:nvPr/>
        </p:nvSpPr>
        <p:spPr>
          <a:xfrm>
            <a:off x="635508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Migrate in evidence-based waves</a:t>
            </a:r>
            <a:endParaRPr lang="en-US" sz="155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Entry criteria: identity ready, pipeline classified, runner path and rollback defined.</a:t>
            </a:r>
            <a:endParaRPr lang="en-US" sz="1250"/>
          </a:p>
        </p:txBody>
      </p:sp>
      <p:sp>
        <p:nvSpPr>
          <p:cNvPr id="21" name="Shape 18"/>
          <p:cNvSpPr/>
          <p:nvPr/>
        </p:nvSpPr>
        <p:spPr>
          <a:xfrm>
            <a:off x="8915400" y="1691640"/>
            <a:ext cx="2560320" cy="3547872"/>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9144000" y="1920240"/>
            <a:ext cx="457200" cy="457200"/>
          </a:xfrm>
          <a:prstGeom prst="ellipse">
            <a:avLst/>
          </a:prstGeom>
          <a:solidFill>
            <a:srgbClr val="C1440E"/>
          </a:solidFill>
          <a:ln/>
        </p:spPr>
        <p:txBody>
          <a:bodyPr/>
          <a:lstStyle/>
          <a:p>
            <a:endParaRPr lang="en-US"/>
          </a:p>
        </p:txBody>
      </p:sp>
      <p:sp>
        <p:nvSpPr>
          <p:cNvPr id="23" name="Text 20"/>
          <p:cNvSpPr txBox="1"/>
          <p:nvPr/>
        </p:nvSpPr>
        <p:spPr>
          <a:xfrm>
            <a:off x="914400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Cut over, monitor, decommission</a:t>
            </a:r>
            <a:endParaRPr lang="en-US" sz="155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Make the old repo read-only; retire it only after long-tail checks pass.</a:t>
            </a:r>
            <a:endParaRPr lang="en-US" sz="1250"/>
          </a:p>
        </p:txBody>
      </p:sp>
      <p:sp>
        <p:nvSpPr>
          <p:cNvPr id="27" name="Rounded Rectangle 26"/>
          <p:cNvSpPr/>
          <p:nvPr/>
        </p:nvSpPr>
        <p:spPr>
          <a:xfrm>
            <a:off x="548640" y="5522976"/>
            <a:ext cx="11064240" cy="813816"/>
          </a:xfrm>
          <a:prstGeom prst="roundRect">
            <a:avLst>
              <a:gd name="adj" fmla="val 12632"/>
            </a:avLst>
          </a:prstGeom>
          <a:solidFill>
            <a:srgbClr val="1F3D2C"/>
          </a:solidFill>
          <a:ln>
            <a:noFill/>
          </a:ln>
          <a:effectLst/>
        </p:spPr>
        <p:txBody>
          <a:bodyPr rtlCol="0" anchor="ctr"/>
          <a:lstStyle/>
          <a:p>
            <a:pPr algn="ctr"/>
            <a:endParaRPr/>
          </a:p>
        </p:txBody>
      </p:sp>
      <p:sp>
        <p:nvSpPr>
          <p:cNvPr id="26" name="Text 23"/>
          <p:cNvSpPr txBox="1"/>
          <p:nvPr/>
        </p:nvSpPr>
        <p:spPr>
          <a:xfrm>
            <a:off x="548640" y="5522976"/>
            <a:ext cx="11064240" cy="81381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Sequencing, entry criteria, evidence, and ownership are the change-management plan.</a:t>
            </a:r>
            <a:endParaRPr lang="en-US" sz="1600" dirty="0"/>
          </a:p>
        </p:txBody>
      </p:sp>
      <p:sp>
        <p:nvSpPr>
          <p:cNvPr id="28" name="Slide Number Placeholder"/>
          <p:cNvSpPr>
            <a:spLocks noGrp="1"/>
          </p:cNvSpPr>
          <p:nvPr>
            <p:ph type="sldNum" sz="quarter" idx="10"/>
          </p:nvPr>
        </p:nvSpPr>
        <p:spPr/>
        <p:txBody>
          <a:bodyPr/>
          <a:lstStyle/>
          <a:p>
            <a:fld id="{BCB632DE-6AD4-40F1-944C-28C0E9BF62DC}" type="slidenum">
              <a:rPr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g-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10515600" cy="23774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r>
              <a:rPr lang="en-US" sz="1900" dirty="0">
                <a:solidFill>
                  <a:srgbClr val="2B2B2B"/>
                </a:solidFill>
                <a:latin typeface="Calibri" pitchFamily="34" charset="0"/>
                <a:ea typeface="Calibri" pitchFamily="34" charset="-122"/>
                <a:cs typeface="Calibri" pitchFamily="34" charset="-120"/>
              </a:rPr>
              <a:t>licensing tiers, GitHub Secret Protection and Code Security as add-ons, runner and compute minutes, and the admin and migration effort it actually takes to get there.</a:t>
            </a:r>
            <a:endParaRPr lang="en-US" sz="1900" dirty="0"/>
          </a:p>
        </p:txBody>
      </p:sp>
      <p:sp>
        <p:nvSpPr>
          <p:cNvPr id="8" name="Shape 5"/>
          <p:cNvSpPr/>
          <p:nvPr/>
        </p:nvSpPr>
        <p:spPr>
          <a:xfrm>
            <a:off x="548640" y="4526280"/>
            <a:ext cx="11064240" cy="8686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2628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Price the migration and the steady state separately, and count the months when both platforms are billing at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Actually Gates the AI Payoff</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sz="1800" b="1" dirty="0">
                <a:solidFill>
                  <a:srgbClr val="2B2B2B"/>
                </a:solidFill>
                <a:latin typeface="Calibri"/>
              </a:rPr>
              <a:t>Moving the code unlocks the tooling. Four other things decide whether it pays off</a:t>
            </a:r>
            <a:r>
              <a:rPr lang="en-US" sz="1800" b="1" dirty="0">
                <a:solidFill>
                  <a:srgbClr val="2B2B2B"/>
                </a:solidFill>
                <a:latin typeface="Calibri"/>
              </a:rPr>
              <a:t>:</a:t>
            </a:r>
            <a:endParaRPr lang="en-US" sz="2000" dirty="0"/>
          </a:p>
          <a:p>
            <a:pPr marL="285750" indent="-285750">
              <a:spcBef>
                <a:spcPts val="900"/>
              </a:spcBef>
              <a:spcAft>
                <a:spcPts val="800"/>
              </a:spcAft>
              <a:buFont typeface="Arial" panose="020B0604020202020204" pitchFamily="34" charset="0"/>
              <a:buChar char="•"/>
            </a:pPr>
            <a:r>
              <a:rPr sz="1550" b="0" dirty="0">
                <a:solidFill>
                  <a:srgbClr val="2B2B2B"/>
                </a:solidFill>
                <a:latin typeface="Calibri"/>
              </a:rPr>
              <a:t>Work items worth reading — from Azure Boards the agent captures the description, repro steps and last 50 comments. The work item is the prompt.</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Conventions written down — copilot-instructions.md or AGENTS.md, or the agent guesses your house style.</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Tests you would trust to gate a merge — otherwise agent output is capped by human review capacity.</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Licenses and enablement — a paid Copilot plan, cloud agent enabled per repository, Boards app installed by an org owner.</a:t>
            </a:r>
            <a:endParaRPr lang="en-US" sz="2000" dirty="0"/>
          </a:p>
        </p:txBody>
      </p:sp>
      <p:sp>
        <p:nvSpPr>
          <p:cNvPr id="8" name="Shape 5"/>
          <p:cNvSpPr/>
          <p:nvPr/>
        </p:nvSpPr>
        <p:spPr>
          <a:xfrm>
            <a:off x="548640" y="5212079"/>
            <a:ext cx="11064240" cy="82296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212079"/>
            <a:ext cx="11064240" cy="822960"/>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E0B85C"/>
                </a:solidFill>
                <a:latin typeface="Calibri"/>
              </a:rPr>
              <a:t>TAKEAWAY </a:t>
            </a:r>
            <a:r>
              <a:rPr sz="1500" b="0" dirty="0">
                <a:solidFill>
                  <a:srgbClr val="F5F5F0"/>
                </a:solidFill>
                <a:latin typeface="Calibri"/>
              </a:rPr>
              <a:t>These are preconditions, not nice-to-haves. Budget for them before you promise anyone the AI payoff.</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lanceSca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Startups &amp; 1–3 teams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448056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Scaled agile, regulated, multi-team</a:t>
            </a:r>
            <a:endParaRPr lang="en-US" sz="1600" dirty="0">
              <a:solidFill>
                <a:srgbClr val="1F3D2C"/>
              </a:solidFill>
            </a:endParaRPr>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373636"/>
                </a:solidFill>
                <a:latin typeface="Calibri" pitchFamily="34" charset="0"/>
                <a:ea typeface="Calibri" pitchFamily="34" charset="-122"/>
                <a:cs typeface="Calibri" pitchFamily="34" charset="-120"/>
              </a:rPr>
              <a:t>Azure Boards’ hierarchy and reporting earn their keep here.</a:t>
            </a:r>
            <a:endParaRPr lang="en-US" sz="1350" dirty="0">
              <a:solidFill>
                <a:srgbClr val="373636"/>
              </a:solidFill>
            </a:endParaRPr>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18388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952198"/>
            <a:ext cx="11064240" cy="895149"/>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6" name="Text 13"/>
          <p:cNvSpPr txBox="1"/>
          <p:nvPr/>
        </p:nvSpPr>
        <p:spPr>
          <a:xfrm>
            <a:off x="548640" y="4901665"/>
            <a:ext cx="11064240" cy="1032309"/>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C1440E"/>
                </a:solidFill>
                <a:latin typeface="Calibri"/>
              </a:rPr>
              <a:t>ASIDE </a:t>
            </a:r>
            <a:r>
              <a:rPr sz="1500" b="0" dirty="0">
                <a:solidFill>
                  <a:srgbClr val="2B2B2B"/>
                </a:solidFill>
                <a:latin typeface="Calibri"/>
              </a:rPr>
              <a:t>The Senior Engineer guarding that ancient pipeline isn’t wrong to be cautious — they’re defending it with the wrong argument (“it’s always worked”) instead of the right one (“here’s what the audit says”).</a:t>
            </a:r>
            <a:endParaRPr lang="en-US" sz="1450" dirty="0"/>
          </a:p>
        </p:txBody>
      </p:sp>
      <p:sp>
        <p:nvSpPr>
          <p:cNvPr id="17" name="Slide Number Placeholder"/>
          <p:cNvSpPr>
            <a:spLocks noGrp="1"/>
          </p:cNvSpPr>
          <p:nvPr>
            <p:ph type="sldNum" sz="quarter" idx="10"/>
          </p:nvPr>
        </p:nvSpPr>
        <p:spPr/>
        <p:txBody>
          <a:bodyPr/>
          <a:lstStyle/>
          <a:p>
            <a:fld id="{BCB632DE-6AD4-40F1-944C-28C0E9BF62DC}"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5 — The Senior Engineer Defends an Ancient Pipeline</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44</a:t>
            </a:fld>
            <a:endParaRPr lang="en-US">
              <a:solidFill>
                <a:srgbClr val="E0B85C"/>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icPr>
            <a:picLocks noChangeAspect="1"/>
          </p:cNvPicPr>
          <p:nvPr/>
        </p:nvPicPr>
        <p:blipFill>
          <a:blip r:embed="rId3">
            <a:alphaModFix amt="85000"/>
          </a:blip>
          <a:stretch>
            <a:fillRect/>
          </a:stretch>
        </p:blipFill>
        <p:spPr>
          <a:xfrm>
            <a:off x="10154652"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45</a:t>
            </a:fld>
            <a:endParaRPr lang="en-US">
              <a:solidFill>
                <a:srgbClr val="E0B85C"/>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996696"/>
          </a:xfrm>
          <a:prstGeom prst="roundRect">
            <a:avLst>
              <a:gd name="adj" fmla="val 7742"/>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0515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2595492"/>
            <a:ext cx="11064240" cy="621792"/>
          </a:xfrm>
          <a:prstGeom prst="roundRect">
            <a:avLst>
              <a:gd name="adj" fmla="val 14706"/>
            </a:avLst>
          </a:prstGeom>
          <a:solidFill>
            <a:srgbClr val="1F3D2C"/>
          </a:solidFill>
          <a:ln/>
        </p:spPr>
        <p:txBody>
          <a:bodyPr/>
          <a:lstStyle/>
          <a:p>
            <a:endParaRPr lang="en-US"/>
          </a:p>
        </p:txBody>
      </p:sp>
      <p:sp>
        <p:nvSpPr>
          <p:cNvPr id="9" name="Text 6"/>
          <p:cNvSpPr txBox="1"/>
          <p:nvPr/>
        </p:nvSpPr>
        <p:spPr>
          <a:xfrm>
            <a:off x="868680" y="259549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327012"/>
            <a:ext cx="11064240" cy="621792"/>
          </a:xfrm>
          <a:prstGeom prst="roundRect">
            <a:avLst>
              <a:gd name="adj" fmla="val 14706"/>
            </a:avLst>
          </a:prstGeom>
          <a:solidFill>
            <a:srgbClr val="1F3D2C"/>
          </a:solidFill>
          <a:ln/>
        </p:spPr>
        <p:txBody>
          <a:bodyPr/>
          <a:lstStyle/>
          <a:p>
            <a:endParaRPr lang="en-US"/>
          </a:p>
        </p:txBody>
      </p:sp>
      <p:sp>
        <p:nvSpPr>
          <p:cNvPr id="11" name="Text 8"/>
          <p:cNvSpPr txBox="1"/>
          <p:nvPr/>
        </p:nvSpPr>
        <p:spPr>
          <a:xfrm>
            <a:off x="868680" y="332701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058532"/>
            <a:ext cx="11064240" cy="621792"/>
          </a:xfrm>
          <a:prstGeom prst="roundRect">
            <a:avLst>
              <a:gd name="adj" fmla="val 14706"/>
            </a:avLst>
          </a:prstGeom>
          <a:solidFill>
            <a:srgbClr val="1F3D2C"/>
          </a:solidFill>
          <a:ln/>
        </p:spPr>
        <p:txBody>
          <a:bodyPr/>
          <a:lstStyle/>
          <a:p>
            <a:endParaRPr lang="en-US"/>
          </a:p>
        </p:txBody>
      </p:sp>
      <p:sp>
        <p:nvSpPr>
          <p:cNvPr id="13" name="Text 10"/>
          <p:cNvSpPr txBox="1"/>
          <p:nvPr/>
        </p:nvSpPr>
        <p:spPr>
          <a:xfrm>
            <a:off x="868680" y="405853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READMEs, bookmarks, wikis, onboarding docs — "clone from dev.azure.com/..."</a:t>
            </a:r>
            <a:endParaRPr lang="en-US" sz="1600" dirty="0"/>
          </a:p>
        </p:txBody>
      </p:sp>
      <p:sp>
        <p:nvSpPr>
          <p:cNvPr id="14" name="Shape 11"/>
          <p:cNvSpPr/>
          <p:nvPr/>
        </p:nvSpPr>
        <p:spPr>
          <a:xfrm>
            <a:off x="548640" y="4790052"/>
            <a:ext cx="11064240" cy="621792"/>
          </a:xfrm>
          <a:prstGeom prst="roundRect">
            <a:avLst>
              <a:gd name="adj" fmla="val 14706"/>
            </a:avLst>
          </a:prstGeom>
          <a:solidFill>
            <a:srgbClr val="1F3D2C"/>
          </a:solidFill>
          <a:ln/>
        </p:spPr>
        <p:txBody>
          <a:bodyPr/>
          <a:lstStyle/>
          <a:p>
            <a:endParaRPr lang="en-US"/>
          </a:p>
        </p:txBody>
      </p:sp>
      <p:sp>
        <p:nvSpPr>
          <p:cNvPr id="15" name="Text 12"/>
          <p:cNvSpPr txBox="1"/>
          <p:nvPr/>
        </p:nvSpPr>
        <p:spPr>
          <a:xfrm>
            <a:off x="868680" y="479005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marL="0" indent="0">
              <a:buNone/>
            </a:pPr>
            <a:r>
              <a:rPr sz="1250" b="1" spc="120" dirty="0">
                <a:solidFill>
                  <a:srgbClr val="C1440E"/>
                </a:solidFill>
                <a:latin typeface="Calibri"/>
              </a:rPr>
              <a:t>DO THIS </a:t>
            </a:r>
            <a:r>
              <a:rPr sz="1300" dirty="0">
                <a:solidFill>
                  <a:srgbClr val="2B2B2B"/>
                </a:solidFill>
                <a:latin typeface="Calibri"/>
              </a:rPr>
              <a:t>Budget a real sweep before cutover — then a second one a month later, once the things that only run monthly have had a chance to fail.</a:t>
            </a:r>
            <a:endParaRPr lang="en-US" sz="1500" dirty="0"/>
          </a:p>
        </p:txBody>
      </p:sp>
      <p:sp>
        <p:nvSpPr>
          <p:cNvPr id="19" name="Shape 11">
            <a:extLst>
              <a:ext uri="{FF2B5EF4-FFF2-40B4-BE49-F238E27FC236}">
                <a16:creationId xmlns:a16="http://schemas.microsoft.com/office/drawing/2014/main" id="{43EFC940-AD93-832E-323E-B207986FF96F}"/>
              </a:ext>
            </a:extLst>
          </p:cNvPr>
          <p:cNvSpPr/>
          <p:nvPr/>
        </p:nvSpPr>
        <p:spPr>
          <a:xfrm>
            <a:off x="548640" y="5521572"/>
            <a:ext cx="11064240" cy="621792"/>
          </a:xfrm>
          <a:prstGeom prst="roundRect">
            <a:avLst>
              <a:gd name="adj" fmla="val 14706"/>
            </a:avLst>
          </a:prstGeom>
          <a:solidFill>
            <a:srgbClr val="1F3D2C"/>
          </a:solidFill>
          <a:ln/>
        </p:spPr>
        <p:txBody>
          <a:bodyPr/>
          <a:lstStyle/>
          <a:p>
            <a:endParaRPr lang="en-US"/>
          </a:p>
        </p:txBody>
      </p:sp>
      <p:sp>
        <p:nvSpPr>
          <p:cNvPr id="21" name="Text 12">
            <a:extLst>
              <a:ext uri="{FF2B5EF4-FFF2-40B4-BE49-F238E27FC236}">
                <a16:creationId xmlns:a16="http://schemas.microsoft.com/office/drawing/2014/main" id="{F848DF5D-8B12-CF1E-580B-ED55723015C5}"/>
              </a:ext>
            </a:extLst>
          </p:cNvPr>
          <p:cNvSpPr txBox="1"/>
          <p:nvPr/>
        </p:nvSpPr>
        <p:spPr>
          <a:xfrm>
            <a:off x="868680" y="552157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Local repo remote URLs — everyone’s got a repo copy, someone will forget to update it</a:t>
            </a:r>
            <a:endParaRPr lang="en-US" sz="1600" dirty="0"/>
          </a:p>
        </p:txBody>
      </p:sp>
      <p:sp>
        <p:nvSpPr>
          <p:cNvPr id="22" name="Slide Number Placeholder"/>
          <p:cNvSpPr>
            <a:spLocks noGrp="1"/>
          </p:cNvSpPr>
          <p:nvPr>
            <p:ph type="sldNum" sz="quarter" idx="10"/>
          </p:nvPr>
        </p:nvSpPr>
        <p:spPr/>
        <p:txBody>
          <a:bodyPr/>
          <a:lstStyle/>
          <a:p>
            <a:fld id="{BCB632DE-6AD4-40F1-944C-28C0E9BF62DC}"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ecre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792702"/>
            <a:ext cx="11064240" cy="1097280"/>
          </a:xfrm>
          <a:prstGeom prst="roundRect">
            <a:avLst>
              <a:gd name="adj" fmla="val 685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948150"/>
            <a:ext cx="10424160" cy="8229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3072862"/>
            <a:ext cx="11064240" cy="1280160"/>
          </a:xfrm>
          <a:prstGeom prst="roundRect">
            <a:avLst>
              <a:gd name="adj" fmla="val 6486"/>
            </a:avLst>
          </a:prstGeom>
          <a:solidFill>
            <a:srgbClr val="8C6A3F"/>
          </a:solidFill>
          <a:ln/>
        </p:spPr>
        <p:txBody>
          <a:bodyPr/>
          <a:lstStyle/>
          <a:p>
            <a:endParaRPr lang="en-US"/>
          </a:p>
        </p:txBody>
      </p:sp>
      <p:sp>
        <p:nvSpPr>
          <p:cNvPr id="9" name="Text 6"/>
          <p:cNvSpPr txBox="1"/>
          <p:nvPr/>
        </p:nvSpPr>
        <p:spPr>
          <a:xfrm>
            <a:off x="868680" y="3237454"/>
            <a:ext cx="10424160" cy="960120"/>
          </a:xfrm>
          <a:prstGeom prst="rect">
            <a:avLst/>
          </a:prstGeom>
          <a:noFill/>
          <a:ln/>
        </p:spPr>
        <p:txBody>
          <a:bodyPr wrap="square" lIns="0" tIns="0" rIns="0" bIns="0" rtlCol="0" anchor="t"/>
          <a:lstStyle/>
          <a:p>
            <a:pPr marL="0" indent="0">
              <a:buNone/>
            </a:pPr>
            <a:r>
              <a:rPr lang="en-US" sz="1700" dirty="0">
                <a:solidFill>
                  <a:srgbClr val="FFFFFF"/>
                </a:solidFill>
                <a:latin typeface="Calibri" pitchFamily="34" charset="0"/>
                <a:ea typeface="Calibri" pitchFamily="34" charset="-122"/>
                <a:cs typeface="Calibri" pitchFamily="34" charset="-120"/>
              </a:rPr>
              <a:t>Everything except Git commits — pull-request authorship, comments and reviews — stays on the mannequin until it is reclaimed. An organization owner sends the attribution invitation, but nothing is reattributed until the person accepts it.</a:t>
            </a:r>
          </a:p>
        </p:txBody>
      </p:sp>
      <p:sp>
        <p:nvSpPr>
          <p:cNvPr id="13" name="Rounded Rectangle 12"/>
          <p:cNvSpPr/>
          <p:nvPr/>
        </p:nvSpPr>
        <p:spPr>
          <a:xfrm>
            <a:off x="548640" y="4535902"/>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0" name="Text 7"/>
          <p:cNvSpPr txBox="1"/>
          <p:nvPr/>
        </p:nvSpPr>
        <p:spPr>
          <a:xfrm>
            <a:off x="548640" y="4535902"/>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fix isn’t clever: plan the identity mapping before migration, not after. Remapping later is the harder path.</a:t>
            </a:r>
            <a:endParaRPr lang="en-US" sz="1600" dirty="0"/>
          </a:p>
        </p:txBody>
      </p:sp>
      <p:sp>
        <p:nvSpPr>
          <p:cNvPr id="11" name="Shape 8"/>
          <p:cNvSpPr/>
          <p:nvPr/>
        </p:nvSpPr>
        <p:spPr>
          <a:xfrm>
            <a:off x="563880" y="5897880"/>
            <a:ext cx="11064240" cy="0"/>
          </a:xfrm>
          <a:prstGeom prst="line">
            <a:avLst/>
          </a:prstGeom>
          <a:noFill/>
          <a:ln w="9525">
            <a:solidFill>
              <a:srgbClr val="DDD8CC"/>
            </a:solidFill>
            <a:prstDash val="dash"/>
          </a:ln>
        </p:spPr>
        <p:txBody>
          <a:bodyPr/>
          <a:lstStyle/>
          <a:p>
            <a:endParaRPr lang="en-US"/>
          </a:p>
        </p:txBody>
      </p:sp>
      <p:sp>
        <p:nvSpPr>
          <p:cNvPr id="12" name="Text 9"/>
          <p:cNvSpPr txBox="1"/>
          <p:nvPr/>
        </p:nvSpPr>
        <p:spPr>
          <a:xfrm>
            <a:off x="563880" y="6007608"/>
            <a:ext cx="11064240" cy="640080"/>
          </a:xfrm>
          <a:prstGeom prst="rect">
            <a:avLst/>
          </a:prstGeom>
          <a:noFill/>
          <a:ln/>
        </p:spPr>
        <p:txBody>
          <a:bodyPr wrap="square" lIns="0" tIns="0" rIns="0" bIns="0" rtlCol="0" anchor="ctr"/>
          <a:lstStyle/>
          <a:p>
            <a:pPr marL="0" indent="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
        <p:nvSpPr>
          <p:cNvPr id="14" name="Slide Number Placeholder"/>
          <p:cNvSpPr>
            <a:spLocks noGrp="1"/>
          </p:cNvSpPr>
          <p:nvPr>
            <p:ph type="sldNum" sz="quarter" idx="10"/>
          </p:nvPr>
        </p:nvSpPr>
        <p:spPr/>
        <p:txBody>
          <a:bodyPr/>
          <a:lstStyle/>
          <a:p>
            <a:fld id="{BCB632DE-6AD4-40F1-944C-28C0E9BF62DC}"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7" name="Shape 4"/>
          <p:cNvSpPr/>
          <p:nvPr/>
        </p:nvSpPr>
        <p:spPr>
          <a:xfrm>
            <a:off x="777240" y="1559052"/>
            <a:ext cx="402336" cy="402336"/>
          </a:xfrm>
          <a:prstGeom prst="ellipse">
            <a:avLst/>
          </a:prstGeom>
          <a:solidFill>
            <a:srgbClr val="C1440E"/>
          </a:solidFill>
          <a:ln/>
        </p:spPr>
        <p:txBody>
          <a:bodyPr/>
          <a:lstStyle/>
          <a:p>
            <a:endParaRPr lang="en-US"/>
          </a:p>
        </p:txBody>
      </p:sp>
      <p:sp>
        <p:nvSpPr>
          <p:cNvPr id="8" name="Text 5"/>
          <p:cNvSpPr txBox="1"/>
          <p:nvPr/>
        </p:nvSpPr>
        <p:spPr>
          <a:xfrm>
            <a:off x="777240" y="15590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AI is one of the real reasons — but it needs planning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12" name="Shape 9"/>
          <p:cNvSpPr/>
          <p:nvPr/>
        </p:nvSpPr>
        <p:spPr>
          <a:xfrm>
            <a:off x="777240" y="2336292"/>
            <a:ext cx="402336" cy="402336"/>
          </a:xfrm>
          <a:prstGeom prst="ellipse">
            <a:avLst/>
          </a:prstGeom>
          <a:solidFill>
            <a:srgbClr val="C1440E"/>
          </a:solidFill>
          <a:ln/>
        </p:spPr>
        <p:txBody>
          <a:bodyPr/>
          <a:lstStyle/>
          <a:p>
            <a:endParaRPr lang="en-US"/>
          </a:p>
        </p:txBody>
      </p:sp>
      <p:sp>
        <p:nvSpPr>
          <p:cNvPr id="13" name="Text 10"/>
          <p:cNvSpPr txBox="1"/>
          <p:nvPr/>
        </p:nvSpPr>
        <p:spPr>
          <a:xfrm>
            <a:off x="777240" y="233629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What travels clean vs. what lingers</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Repos and Git-backed content travel most cleanly. Pipelines require conversion and validation. Test Plans stays behind.</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17" name="Shape 14"/>
          <p:cNvSpPr/>
          <p:nvPr/>
        </p:nvSpPr>
        <p:spPr>
          <a:xfrm>
            <a:off x="777240" y="3113532"/>
            <a:ext cx="402336" cy="402336"/>
          </a:xfrm>
          <a:prstGeom prst="ellipse">
            <a:avLst/>
          </a:prstGeom>
          <a:solidFill>
            <a:srgbClr val="C1440E"/>
          </a:solidFill>
          <a:ln/>
        </p:spPr>
        <p:txBody>
          <a:bodyPr/>
          <a:lstStyle/>
          <a:p>
            <a:endParaRPr lang="en-US"/>
          </a:p>
        </p:txBody>
      </p:sp>
      <p:sp>
        <p:nvSpPr>
          <p:cNvPr id="18" name="Text 15"/>
          <p:cNvSpPr txBox="1"/>
          <p:nvPr/>
        </p:nvSpPr>
        <p:spPr>
          <a:xfrm>
            <a:off x="777240" y="311353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Three migration planes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Repository data, automation, and validation — each uses manual judgment, official tooling, and AI assistance.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22" name="Shape 19"/>
          <p:cNvSpPr/>
          <p:nvPr/>
        </p:nvSpPr>
        <p:spPr>
          <a:xfrm>
            <a:off x="777240" y="3890772"/>
            <a:ext cx="402336" cy="402336"/>
          </a:xfrm>
          <a:prstGeom prst="ellipse">
            <a:avLst/>
          </a:prstGeom>
          <a:solidFill>
            <a:srgbClr val="C1440E"/>
          </a:solidFill>
          <a:ln/>
        </p:spPr>
        <p:txBody>
          <a:bodyPr/>
          <a:lstStyle/>
          <a:p>
            <a:endParaRPr lang="en-US"/>
          </a:p>
        </p:txBody>
      </p:sp>
      <p:sp>
        <p:nvSpPr>
          <p:cNvPr id="23" name="Text 20"/>
          <p:cNvSpPr txBox="1"/>
          <p:nvPr/>
        </p:nvSpPr>
        <p:spPr>
          <a:xfrm>
            <a:off x="777240" y="389077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27" name="Shape 24"/>
          <p:cNvSpPr/>
          <p:nvPr/>
        </p:nvSpPr>
        <p:spPr>
          <a:xfrm>
            <a:off x="777240" y="4668012"/>
            <a:ext cx="402336" cy="402336"/>
          </a:xfrm>
          <a:prstGeom prst="ellipse">
            <a:avLst/>
          </a:prstGeom>
          <a:solidFill>
            <a:srgbClr val="C1440E"/>
          </a:solidFill>
          <a:ln/>
        </p:spPr>
        <p:txBody>
          <a:bodyPr/>
          <a:lstStyle/>
          <a:p>
            <a:endParaRPr lang="en-US"/>
          </a:p>
        </p:txBody>
      </p:sp>
      <p:sp>
        <p:nvSpPr>
          <p:cNvPr id="28" name="Text 25"/>
          <p:cNvSpPr txBox="1"/>
          <p:nvPr/>
        </p:nvSpPr>
        <p:spPr>
          <a:xfrm>
            <a:off x="777240" y="466801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Migration as an operating model</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Ownership, wave criteria, validation, rollback, and decommissioning matter as much as conversion tooling.</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32" name="Shape 29"/>
          <p:cNvSpPr/>
          <p:nvPr/>
        </p:nvSpPr>
        <p:spPr>
          <a:xfrm>
            <a:off x="777240" y="5445252"/>
            <a:ext cx="402336" cy="402336"/>
          </a:xfrm>
          <a:prstGeom prst="ellipse">
            <a:avLst/>
          </a:prstGeom>
          <a:solidFill>
            <a:srgbClr val="C1440E"/>
          </a:solidFill>
          <a:ln/>
        </p:spPr>
        <p:txBody>
          <a:bodyPr/>
          <a:lstStyle/>
          <a:p>
            <a:endParaRPr lang="en-US"/>
          </a:p>
        </p:txBody>
      </p:sp>
      <p:sp>
        <p:nvSpPr>
          <p:cNvPr id="33" name="Text 30"/>
          <p:cNvSpPr txBox="1"/>
          <p:nvPr/>
        </p:nvSpPr>
        <p:spPr>
          <a:xfrm>
            <a:off x="777240" y="54452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
        <p:nvSpPr>
          <p:cNvPr id="36" name="Slide Number Placeholder"/>
          <p:cNvSpPr>
            <a:spLocks noGrp="1"/>
          </p:cNvSpPr>
          <p:nvPr>
            <p:ph type="sldNum" sz="quarter" idx="10"/>
          </p:nvPr>
        </p:nvSpPr>
        <p:spPr/>
        <p:txBody>
          <a:bodyPr/>
          <a:lstStyle/>
          <a:p>
            <a:fld id="{BCB632DE-6AD4-40F1-944C-28C0E9BF62DC}" type="slidenum">
              <a:rPr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502920"/>
            <a:ext cx="10058400" cy="320040"/>
          </a:xfrm>
          <a:prstGeom prst="rect">
            <a:avLst/>
          </a:prstGeom>
          <a:noFill/>
          <a:ln/>
        </p:spPr>
        <p:txBody>
          <a:bodyPr wrap="square" lIns="0" tIns="0" rIns="0" bIns="0" rtlCol="0" anchor="t"/>
          <a:lstStyle/>
          <a:p>
            <a:pPr marL="0" indent="0" algn="l">
              <a:buNone/>
            </a:pPr>
            <a:r>
              <a:rPr sz="1500" b="1">
                <a:solidFill>
                  <a:srgbClr val="C1440E"/>
                </a:solidFill>
                <a:latin typeface="Calibri"/>
              </a:rPr>
              <a:t>THE WATERING HOLE NOBODY TOLD TO MOVE</a:t>
            </a:r>
            <a:endParaRPr lang="en-US" sz="1700" dirty="0"/>
          </a:p>
        </p:txBody>
      </p:sp>
      <p:sp>
        <p:nvSpPr>
          <p:cNvPr id="6" name="Text 3"/>
          <p:cNvSpPr txBox="1"/>
          <p:nvPr/>
        </p:nvSpPr>
        <p:spPr>
          <a:xfrm>
            <a:off x="1069848" y="2395728"/>
            <a:ext cx="10058400" cy="2560320"/>
          </a:xfrm>
          <a:prstGeom prst="rect">
            <a:avLst/>
          </a:prstGeom>
          <a:noFill/>
          <a:ln/>
        </p:spPr>
        <p:txBody>
          <a:bodyPr wrap="square" lIns="0" tIns="0" rIns="0" bIns="0" rtlCol="0" anchor="t"/>
          <a:lstStyle/>
          <a:p>
            <a:pPr marL="0" indent="0" algn="ctr">
              <a:buNone/>
            </a:pPr>
            <a:r>
              <a:rPr sz="3000" b="1">
                <a:solidFill>
                  <a:srgbClr val="1F3D2C"/>
                </a:solidFill>
                <a:latin typeface="Cambria"/>
              </a:rPr>
              <a:t>Most migrations aren’t dramatic. They’re a checklist, run carefully, with a few things that broke in ways nobody predicted,</a:t>
            </a:r>
            <a:endParaRPr lang="en-US" sz="2100" dirty="0"/>
          </a:p>
          <a:p>
            <a:pPr algn="ctr">
              <a:spcBef>
                <a:spcPts val="1600"/>
              </a:spcBef>
            </a:pPr>
            <a:r>
              <a:rPr sz="3000" b="1">
                <a:solidFill>
                  <a:srgbClr val="C1440E"/>
                </a:solidFill>
                <a:latin typeface="Cambria"/>
              </a:rPr>
              <a:t>and got fixed by people in the room.</a:t>
            </a:r>
          </a:p>
        </p:txBody>
      </p:sp>
      <p:sp>
        <p:nvSpPr>
          <p:cNvPr id="7" name="Slide Number Placeholder"/>
          <p:cNvSpPr>
            <a:spLocks noGrp="1"/>
          </p:cNvSpPr>
          <p:nvPr>
            <p:ph type="sldNum" sz="quarter" idx="10"/>
          </p:nvPr>
        </p:nvSpPr>
        <p:spPr/>
        <p:txBody>
          <a:bodyPr/>
          <a:lstStyle/>
          <a:p>
            <a:fld id="{BCB632DE-6AD4-40F1-944C-28C0E9BF62DC}" type="slidenum">
              <a:rPr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0"/>
            <a:ext cx="12191695" cy="128016"/>
          </a:xfrm>
          <a:prstGeom prst="rect">
            <a:avLst/>
          </a:prstGeom>
          <a:solidFill>
            <a:srgbClr val="C1440E"/>
          </a:solidFill>
          <a:ln/>
        </p:spPr>
        <p:txBody>
          <a:bodyPr/>
          <a:lstStyle/>
          <a:p>
            <a:endParaRPr lang="en-US"/>
          </a:p>
        </p:txBody>
      </p:sp>
      <p:sp>
        <p:nvSpPr>
          <p:cNvPr id="4" name="Text 2"/>
          <p:cNvSpPr txBox="1"/>
          <p:nvPr/>
        </p:nvSpPr>
        <p:spPr>
          <a:xfrm>
            <a:off x="1188720" y="2103120"/>
            <a:ext cx="9784080" cy="2926080"/>
          </a:xfrm>
          <a:prstGeom prst="rect">
            <a:avLst/>
          </a:prstGeom>
          <a:noFill/>
          <a:ln/>
        </p:spPr>
        <p:txBody>
          <a:bodyPr wrap="square" lIns="0" tIns="0" rIns="0" bIns="0" rtlCol="0" anchor="ctr"/>
          <a:lstStyle/>
          <a:p>
            <a:pPr marL="0" indent="0" algn="ctr">
              <a:buNone/>
            </a:pPr>
            <a:r>
              <a:rPr sz="2800" b="1">
                <a:solidFill>
                  <a:srgbClr val="F5F5F0"/>
                </a:solidFill>
                <a:latin typeface="Cambria"/>
              </a:rPr>
              <a:t>The herd has crossed. The builds are green. The watering hole is quiet.</a:t>
            </a:r>
            <a:endParaRPr lang="en-US" sz="3000" dirty="0"/>
          </a:p>
          <a:p>
            <a:pPr algn="ctr">
              <a:spcBef>
                <a:spcPts val="1400"/>
              </a:spcBef>
            </a:pPr>
            <a:r>
              <a:rPr sz="2800" b="1">
                <a:solidFill>
                  <a:srgbClr val="F5F5F0"/>
                </a:solidFill>
                <a:latin typeface="Cambria"/>
              </a:rPr>
              <a:t>On the far bank, one pipeline still runs every Tuesday at 3 a.m. — triggered by nothing, owned by no one.</a:t>
            </a:r>
          </a:p>
          <a:p>
            <a:pPr algn="ctr">
              <a:spcBef>
                <a:spcPts val="1400"/>
              </a:spcBef>
            </a:pPr>
            <a:r>
              <a:rPr sz="2800" b="1">
                <a:solidFill>
                  <a:srgbClr val="F5F5F0"/>
                </a:solidFill>
                <a:latin typeface="Cambria"/>
              </a:rPr>
              <a:t>Nobody told it the herd had moved.</a:t>
            </a:r>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marL="0" indent="0" algn="ctr">
              <a:buNone/>
            </a:pPr>
            <a:r>
              <a:rPr sz="1300">
                <a:solidFill>
                  <a:srgbClr val="E0B85C"/>
                </a:solidFill>
                <a:latin typeface="Calibri"/>
              </a:rPr>
              <a:t>— CLOSING NARRATION, FROM THE FAR BANK</a:t>
            </a:r>
            <a:endParaRPr lang="en-US" sz="1300" dirty="0"/>
          </a:p>
        </p:txBody>
      </p:sp>
      <p:sp>
        <p:nvSpPr>
          <p:cNvPr id="6" name="Slide Number Placeholder"/>
          <p:cNvSpPr>
            <a:spLocks noGrp="1"/>
          </p:cNvSpPr>
          <p:nvPr>
            <p:ph type="sldNum" sz="quarter" idx="10"/>
          </p:nvPr>
        </p:nvSpPr>
        <p:spPr/>
        <p:txBody>
          <a:bodyPr/>
          <a:lstStyle/>
          <a:p>
            <a:fld id="{BCB632DE-6AD4-40F1-944C-28C0E9BF62DC}" type="slidenum">
              <a:rPr lang="en-US">
                <a:solidFill>
                  <a:srgbClr val="E0B85C"/>
                </a:solidFill>
              </a:rPr>
              <a:t>50</a:t>
            </a:fld>
            <a:endParaRPr lang="en-US">
              <a:solidFill>
                <a:srgbClr val="E0B85C"/>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txBody>
          <a:bodyPr/>
          <a:lstStyle/>
          <a:p>
            <a:endParaRPr lang="en-US"/>
          </a:p>
        </p:txBody>
      </p:sp>
      <p:sp>
        <p:nvSpPr>
          <p:cNvPr id="3" name="Text 1"/>
          <p:cNvSpPr txBox="1"/>
          <p:nvPr/>
        </p:nvSpPr>
        <p:spPr>
          <a:xfrm>
            <a:off x="777240" y="1783080"/>
            <a:ext cx="6035040" cy="1051560"/>
          </a:xfrm>
          <a:prstGeom prst="rect">
            <a:avLst/>
          </a:prstGeom>
          <a:noFill/>
          <a:ln/>
        </p:spPr>
        <p:txBody>
          <a:bodyPr wrap="square" lIns="0" tIns="0" rIns="0" bIns="0" rtlCol="0" anchor="ctr"/>
          <a:lstStyle/>
          <a:p>
            <a:pPr marL="0" indent="0" algn="l">
              <a:buNone/>
            </a:pPr>
            <a:r>
              <a:rPr sz="5400" b="1">
                <a:solidFill>
                  <a:srgbClr val="1F3D2C"/>
                </a:solidFill>
                <a:latin typeface="Cambria"/>
              </a:rPr>
              <a:t>Thank You</a:t>
            </a:r>
            <a:endParaRPr lang="en-US" sz="5400" dirty="0"/>
          </a:p>
        </p:txBody>
      </p:sp>
      <p:sp>
        <p:nvSpPr>
          <p:cNvPr id="4" name="Text 2"/>
          <p:cNvSpPr txBox="1"/>
          <p:nvPr/>
        </p:nvSpPr>
        <p:spPr>
          <a:xfrm>
            <a:off x="777240" y="2776886"/>
            <a:ext cx="6035040" cy="731520"/>
          </a:xfrm>
          <a:prstGeom prst="rect">
            <a:avLst/>
          </a:prstGeom>
          <a:noFill/>
          <a:ln/>
        </p:spPr>
        <p:txBody>
          <a:bodyPr wrap="square" lIns="0" tIns="0" rIns="0" bIns="0" rtlCol="0" anchor="ctr"/>
          <a:lstStyle/>
          <a:p>
            <a:pPr marL="0" indent="0" algn="l">
              <a:buNone/>
            </a:pPr>
            <a:r>
              <a:rPr sz="1800" b="0" dirty="0">
                <a:solidFill>
                  <a:srgbClr val="6B6B63"/>
                </a:solidFill>
                <a:latin typeface="Calibri"/>
              </a:rPr>
              <a:t>Azure DevOps to GitHub Enterprise: The Great Migration</a:t>
            </a:r>
            <a:endParaRPr lang="en-US" sz="1800" dirty="0"/>
          </a:p>
        </p:txBody>
      </p:sp>
      <p:sp>
        <p:nvSpPr>
          <p:cNvPr id="6" name="Text 4"/>
          <p:cNvSpPr txBox="1"/>
          <p:nvPr/>
        </p:nvSpPr>
        <p:spPr>
          <a:xfrm>
            <a:off x="777240" y="3656066"/>
            <a:ext cx="6035040" cy="411480"/>
          </a:xfrm>
          <a:prstGeom prst="rect">
            <a:avLst/>
          </a:prstGeom>
          <a:noFill/>
          <a:ln/>
        </p:spPr>
        <p:txBody>
          <a:bodyPr wrap="square" lIns="0" tIns="0" rIns="0" bIns="0" rtlCol="0" anchor="ctr"/>
          <a:lstStyle/>
          <a:p>
            <a:pPr marL="0" indent="0" algn="l">
              <a:buNone/>
            </a:pPr>
            <a:r>
              <a:rPr sz="2000" b="1" dirty="0">
                <a:solidFill>
                  <a:srgbClr val="1F3D2C"/>
                </a:solidFill>
                <a:latin typeface="Cambria"/>
              </a:rPr>
              <a:t>Kevin Neumann</a:t>
            </a:r>
            <a:endParaRPr lang="en-US" sz="2000" dirty="0"/>
          </a:p>
        </p:txBody>
      </p:sp>
      <p:sp>
        <p:nvSpPr>
          <p:cNvPr id="7" name="Text 5"/>
          <p:cNvSpPr txBox="1"/>
          <p:nvPr/>
        </p:nvSpPr>
        <p:spPr>
          <a:xfrm>
            <a:off x="777240" y="4094978"/>
            <a:ext cx="6035040" cy="365760"/>
          </a:xfrm>
          <a:prstGeom prst="rect">
            <a:avLst/>
          </a:prstGeom>
          <a:noFill/>
          <a:ln/>
        </p:spPr>
        <p:txBody>
          <a:bodyPr wrap="square" lIns="0" tIns="0" rIns="0" bIns="0" rtlCol="0" anchor="ctr"/>
          <a:lstStyle/>
          <a:p>
            <a:pPr marL="0" indent="0" algn="l">
              <a:buNone/>
            </a:pPr>
            <a:r>
              <a:rPr sz="1500" b="0" dirty="0">
                <a:solidFill>
                  <a:srgbClr val="2B2B2B"/>
                </a:solidFill>
                <a:latin typeface="Calibri"/>
              </a:rPr>
              <a:t>kneumann@hunter.com</a:t>
            </a:r>
            <a:endParaRPr lang="en-US" sz="1500" dirty="0"/>
          </a:p>
        </p:txBody>
      </p:sp>
      <p:sp>
        <p:nvSpPr>
          <p:cNvPr id="10" name="Text 7"/>
          <p:cNvSpPr txBox="1"/>
          <p:nvPr/>
        </p:nvSpPr>
        <p:spPr>
          <a:xfrm>
            <a:off x="777240" y="4786465"/>
            <a:ext cx="6035040" cy="411480"/>
          </a:xfrm>
          <a:prstGeom prst="rect">
            <a:avLst/>
          </a:prstGeom>
          <a:noFill/>
          <a:ln/>
        </p:spPr>
        <p:txBody>
          <a:bodyPr wrap="square" lIns="0" tIns="0" rIns="0" bIns="0" rtlCol="0" anchor="ctr"/>
          <a:lstStyle/>
          <a:p>
            <a:pPr marL="0" indent="0" algn="l">
              <a:buNone/>
            </a:pPr>
            <a:r>
              <a:rPr sz="1700" b="0" dirty="0">
                <a:solidFill>
                  <a:srgbClr val="C1440E"/>
                </a:solidFill>
                <a:latin typeface="Calibri"/>
              </a:rPr>
              <a:t>Open floor — questions welcome.</a:t>
            </a:r>
            <a:endParaRPr lang="en-US" sz="1700" dirty="0"/>
          </a:p>
        </p:txBody>
      </p:sp>
      <p:sp>
        <p:nvSpPr>
          <p:cNvPr id="11" name="Rounded Rectangle 10"/>
          <p:cNvSpPr/>
          <p:nvPr/>
        </p:nvSpPr>
        <p:spPr>
          <a:xfrm>
            <a:off x="7443196" y="1433090"/>
            <a:ext cx="4297680" cy="5059150"/>
          </a:xfrm>
          <a:prstGeom prst="roundRect">
            <a:avLst>
              <a:gd name="adj" fmla="val 4000"/>
            </a:avLst>
          </a:prstGeom>
          <a:solidFill>
            <a:srgbClr val="F7F6F2"/>
          </a:solidFill>
          <a:ln>
            <a:noFill/>
          </a:ln>
          <a:effectLst/>
        </p:spPr>
        <p:txBody>
          <a:bodyPr rtlCol="0" anchor="ctr"/>
          <a:lstStyle/>
          <a:p>
            <a:endParaRPr/>
          </a:p>
        </p:txBody>
      </p:sp>
      <p:sp>
        <p:nvSpPr>
          <p:cNvPr id="12" name="TextBox 11"/>
          <p:cNvSpPr txBox="1"/>
          <p:nvPr/>
        </p:nvSpPr>
        <p:spPr>
          <a:xfrm>
            <a:off x="7443196" y="2184110"/>
            <a:ext cx="4297680" cy="292608"/>
          </a:xfrm>
          <a:prstGeom prst="rect">
            <a:avLst/>
          </a:prstGeom>
          <a:noFill/>
        </p:spPr>
        <p:txBody>
          <a:bodyPr wrap="square">
            <a:spAutoFit/>
          </a:bodyPr>
          <a:lstStyle/>
          <a:p>
            <a:pPr algn="ctr"/>
            <a:r>
              <a:rPr sz="1300" b="1" dirty="0">
                <a:solidFill>
                  <a:srgbClr val="C1440E"/>
                </a:solidFill>
                <a:latin typeface="Calibri"/>
              </a:rPr>
              <a:t>EVERYTHING FROM THIS TALK</a:t>
            </a:r>
          </a:p>
        </p:txBody>
      </p:sp>
      <p:pic>
        <p:nvPicPr>
          <p:cNvPr id="9" name="Image 0" descr="/home/claude/pptx-build/assets/qr-section6-thankyou.png"/>
          <p:cNvPicPr>
            <a:picLocks noChangeAspect="1"/>
          </p:cNvPicPr>
          <p:nvPr/>
        </p:nvPicPr>
        <p:blipFill>
          <a:blip r:embed="rId3"/>
          <a:stretch>
            <a:fillRect/>
          </a:stretch>
        </p:blipFill>
        <p:spPr>
          <a:xfrm>
            <a:off x="8540476" y="2549870"/>
            <a:ext cx="2103120" cy="2103120"/>
          </a:xfrm>
          <a:prstGeom prst="rect">
            <a:avLst/>
          </a:prstGeom>
        </p:spPr>
      </p:pic>
      <p:sp>
        <p:nvSpPr>
          <p:cNvPr id="13" name="TextBox 12"/>
          <p:cNvSpPr txBox="1"/>
          <p:nvPr/>
        </p:nvSpPr>
        <p:spPr>
          <a:xfrm>
            <a:off x="7443196" y="4771862"/>
            <a:ext cx="4297680" cy="292608"/>
          </a:xfrm>
          <a:prstGeom prst="rect">
            <a:avLst/>
          </a:prstGeom>
          <a:noFill/>
        </p:spPr>
        <p:txBody>
          <a:bodyPr wrap="square">
            <a:spAutoFit/>
          </a:bodyPr>
          <a:lstStyle/>
          <a:p>
            <a:pPr algn="ctr"/>
            <a:r>
              <a:rPr sz="1200" b="0">
                <a:solidFill>
                  <a:srgbClr val="6B6B63"/>
                </a:solidFill>
                <a:latin typeface="Calibri"/>
              </a:rPr>
              <a:t>neumann1990/Azure_DevOps_To_GitHub</a:t>
            </a:r>
          </a:p>
        </p:txBody>
      </p:sp>
      <p:sp>
        <p:nvSpPr>
          <p:cNvPr id="14" name="TextBox 13"/>
          <p:cNvSpPr txBox="1"/>
          <p:nvPr/>
        </p:nvSpPr>
        <p:spPr>
          <a:xfrm>
            <a:off x="7626076" y="5165054"/>
            <a:ext cx="3931920" cy="700192"/>
          </a:xfrm>
          <a:prstGeom prst="rect">
            <a:avLst/>
          </a:prstGeom>
          <a:noFill/>
        </p:spPr>
        <p:txBody>
          <a:bodyPr wrap="square">
            <a:spAutoFit/>
          </a:bodyPr>
          <a:lstStyle/>
          <a:p>
            <a:pPr algn="ctr"/>
            <a:r>
              <a:rPr sz="1150" b="0" dirty="0">
                <a:solidFill>
                  <a:srgbClr val="2B2B2B"/>
                </a:solidFill>
                <a:latin typeface="Calibri"/>
              </a:rPr>
              <a:t>Azure Pipelines → Actions migration docs</a:t>
            </a:r>
          </a:p>
          <a:p>
            <a:pPr algn="ctr">
              <a:spcBef>
                <a:spcPts val="300"/>
              </a:spcBef>
            </a:pPr>
            <a:r>
              <a:rPr sz="1150" b="0" dirty="0">
                <a:solidFill>
                  <a:srgbClr val="2B2B2B"/>
                </a:solidFill>
                <a:latin typeface="Calibri"/>
              </a:rPr>
              <a:t>gh-ado2gh  ·  </a:t>
            </a:r>
            <a:r>
              <a:rPr sz="1150" b="0" dirty="0" err="1">
                <a:solidFill>
                  <a:srgbClr val="2B2B2B"/>
                </a:solidFill>
                <a:latin typeface="Calibri"/>
              </a:rPr>
              <a:t>gh</a:t>
            </a:r>
            <a:r>
              <a:rPr sz="1150" b="0" dirty="0">
                <a:solidFill>
                  <a:srgbClr val="2B2B2B"/>
                </a:solidFill>
                <a:latin typeface="Calibri"/>
              </a:rPr>
              <a:t>-actions-importer</a:t>
            </a:r>
          </a:p>
          <a:p>
            <a:pPr algn="ctr">
              <a:spcBef>
                <a:spcPts val="300"/>
              </a:spcBef>
            </a:pPr>
            <a:r>
              <a:rPr sz="1150" b="0" dirty="0">
                <a:solidFill>
                  <a:srgbClr val="2B2B2B"/>
                </a:solidFill>
                <a:latin typeface="Calibri"/>
              </a:rPr>
              <a:t>Every note behind this talk</a:t>
            </a:r>
          </a:p>
        </p:txBody>
      </p:sp>
      <p:sp>
        <p:nvSpPr>
          <p:cNvPr id="15" name="Slide Number Placeholder"/>
          <p:cNvSpPr>
            <a:spLocks noGrp="1"/>
          </p:cNvSpPr>
          <p:nvPr>
            <p:ph type="sldNum" sz="quarter" idx="10"/>
          </p:nvPr>
        </p:nvSpPr>
        <p:spPr/>
        <p:txBody>
          <a:bodyPr/>
          <a:lstStyle/>
          <a:p>
            <a:fld id="{BCB632DE-6AD4-40F1-944C-28C0E9BF62DC}" type="slidenum">
              <a:rPr lang="en-US"/>
              <a:t>51</a:t>
            </a:fld>
            <a:endParaRPr lang="en-US"/>
          </a:p>
        </p:txBody>
      </p:sp>
      <p:sp>
        <p:nvSpPr>
          <p:cNvPr id="20" name="Text 5">
            <a:extLst>
              <a:ext uri="{FF2B5EF4-FFF2-40B4-BE49-F238E27FC236}">
                <a16:creationId xmlns:a16="http://schemas.microsoft.com/office/drawing/2014/main" id="{CB8717A8-9D3F-256D-9992-560C6C010532}"/>
              </a:ext>
            </a:extLst>
          </p:cNvPr>
          <p:cNvSpPr txBox="1"/>
          <p:nvPr/>
        </p:nvSpPr>
        <p:spPr>
          <a:xfrm>
            <a:off x="2044969" y="5939697"/>
            <a:ext cx="1443170" cy="365760"/>
          </a:xfrm>
          <a:prstGeom prst="rect">
            <a:avLst/>
          </a:prstGeom>
          <a:noFill/>
          <a:ln/>
        </p:spPr>
        <p:txBody>
          <a:bodyPr wrap="square" lIns="0" tIns="0" rIns="0" bIns="0" rtlCol="0" anchor="ctr"/>
          <a:lstStyle/>
          <a:p>
            <a:pPr marL="0" indent="0" algn="l">
              <a:buNone/>
            </a:pPr>
            <a:r>
              <a:rPr lang="en-US" sz="1500" dirty="0"/>
              <a:t>Careers @ Hunter</a:t>
            </a:r>
          </a:p>
        </p:txBody>
      </p:sp>
      <p:pic>
        <p:nvPicPr>
          <p:cNvPr id="22" name="Picture 21">
            <a:extLst>
              <a:ext uri="{FF2B5EF4-FFF2-40B4-BE49-F238E27FC236}">
                <a16:creationId xmlns:a16="http://schemas.microsoft.com/office/drawing/2014/main" id="{3D11451F-32AE-DE63-753E-822486F5602F}"/>
              </a:ext>
            </a:extLst>
          </p:cNvPr>
          <p:cNvPicPr>
            <a:picLocks noChangeAspect="1"/>
          </p:cNvPicPr>
          <p:nvPr/>
        </p:nvPicPr>
        <p:blipFill>
          <a:blip r:embed="rId4"/>
          <a:stretch>
            <a:fillRect/>
          </a:stretch>
        </p:blipFill>
        <p:spPr>
          <a:xfrm>
            <a:off x="736332" y="5523672"/>
            <a:ext cx="1197811" cy="119781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3296</TotalTime>
  <Words>11391</Words>
  <Application>Microsoft Office PowerPoint</Application>
  <PresentationFormat>Widescreen</PresentationFormat>
  <Paragraphs>810</Paragraphs>
  <Slides>51</Slides>
  <Notes>51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51</vt:i4>
      </vt:variant>
    </vt:vector>
  </HeadingPairs>
  <TitlesOfParts>
    <vt:vector size="58" baseType="lpstr">
      <vt:lpstr>Aptos</vt:lpstr>
      <vt:lpstr>Arial</vt:lpstr>
      <vt:lpstr>Calibri</vt:lpstr>
      <vt:lpstr>Cambria</vt:lpstr>
      <vt:lpstr>Cascadia Code</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Neumann, Kevin</cp:lastModifiedBy>
  <cp:revision>28</cp:revision>
  <dcterms:created xsi:type="dcterms:W3CDTF">2026-09-21T19:07:56Z</dcterms:created>
  <dcterms:modified xsi:type="dcterms:W3CDTF">2026-09-29T14:48:27Z</dcterms:modified>
</cp:coreProperties>
</file>