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5" r:id="rId9"/>
    <p:sldId id="267" r:id="rId10"/>
    <p:sldId id="268" r:id="rId11"/>
    <p:sldId id="269" r:id="rId12"/>
    <p:sldId id="270" r:id="rId13"/>
    <p:sldId id="271" r:id="rId14"/>
    <p:sldId id="272" r:id="rId15"/>
    <p:sldId id="273" r:id="rId16"/>
    <p:sldId id="264" r:id="rId17"/>
    <p:sldId id="274" r:id="rId18"/>
    <p:sldId id="275" r:id="rId19"/>
    <p:sldId id="276" r:id="rId20"/>
    <p:sldId id="277" r:id="rId21"/>
    <p:sldId id="278" r:id="rId22"/>
    <p:sldId id="279" r:id="rId23"/>
    <p:sldId id="280" r:id="rId24"/>
    <p:sldId id="282" r:id="rId25"/>
    <p:sldId id="281" r:id="rId26"/>
    <p:sldId id="313" r:id="rId27"/>
    <p:sldId id="283" r:id="rId28"/>
    <p:sldId id="284" r:id="rId29"/>
    <p:sldId id="285" r:id="rId30"/>
    <p:sldId id="286" r:id="rId31"/>
    <p:sldId id="287" r:id="rId32"/>
    <p:sldId id="288" r:id="rId33"/>
    <p:sldId id="289" r:id="rId34"/>
    <p:sldId id="290" r:id="rId35"/>
    <p:sldId id="314" r:id="rId36"/>
    <p:sldId id="291" r:id="rId37"/>
    <p:sldId id="292" r:id="rId38"/>
    <p:sldId id="293" r:id="rId39"/>
    <p:sldId id="294" r:id="rId40"/>
    <p:sldId id="295" r:id="rId41"/>
    <p:sldId id="296" r:id="rId42"/>
    <p:sldId id="297" r:id="rId43"/>
    <p:sldId id="298" r:id="rId44"/>
    <p:sldId id="299" r:id="rId45"/>
    <p:sldId id="301" r:id="rId46"/>
    <p:sldId id="300" r:id="rId47"/>
    <p:sldId id="302" r:id="rId48"/>
    <p:sldId id="303" r:id="rId49"/>
    <p:sldId id="304" r:id="rId50"/>
    <p:sldId id="305" r:id="rId51"/>
    <p:sldId id="306" r:id="rId52"/>
    <p:sldId id="307" r:id="rId53"/>
    <p:sldId id="309" r:id="rId54"/>
    <p:sldId id="308" r:id="rId55"/>
    <p:sldId id="311" r:id="rId56"/>
    <p:sldId id="312"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8701" autoAdjust="0"/>
  </p:normalViewPr>
  <p:slideViewPr>
    <p:cSldViewPr snapToGrid="0" snapToObjects="1">
      <p:cViewPr varScale="1">
        <p:scale>
          <a:sx n="76" d="100"/>
          <a:sy n="76" d="100"/>
        </p:scale>
        <p:origin x="191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5112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 no 'hi, I'm Kevin' throat-clearing. Let the title sit for a beat, then deliver the tagline in the documentary voice (calm, declarative, faintly awed — never winking). That's the only line spoken in that register on this slide; the rest of the intro is normal conference delivery. This sets up the conceit for the whole talk: six section-opener cards plus a closer, all in this voice, everything else played straight.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sponsor-thanks slide — event organizer will tell you if this is required and what logos go here. Placeholder only; swap in real sponsor logos once the summit sends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Straight delivery. Walk the six-leg structure quickly — roughly 13–16 min each, ~80 min of content plus small Q&amp;A pockets between sections and one 10-minute Q&amp;A block at the end. </a:t>
            </a:r>
            <a:br>
              <a:rPr lang="en-US" dirty="0"/>
            </a:br>
            <a:br>
              <a:rPr lang="en-US" dirty="0"/>
            </a:br>
            <a:r>
              <a:rPr lang="en-US" sz="1200" b="0" i="0" kern="1200" dirty="0">
                <a:solidFill>
                  <a:schemeClr val="tx1"/>
                </a:solidFill>
                <a:effectLst/>
                <a:latin typeface="+mn-lt"/>
                <a:ea typeface="+mn-ea"/>
                <a:cs typeface="+mn-cs"/>
              </a:rPr>
              <a:t>This is not a GitHub sales pitch. It is a field guide to what transfers cleanly, what must be redesigned, and what should deliberately remain in Azure DevOps.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Do not wink at the joke. This is the first of six opener cards plus a closer — it establishes the conceit. Pause after delivering the line before moving to slide 4, where we go straight back to normal delivery.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Name the real reason teams migrate before the polite reasons: AI investment is concentrated on GitHub — Chat, Coding Agent, Autofix, Agentic Code Review, Agent HQ all shipped there first. Be fair to Microsoft here: Azure DevOps is getting AI features too, just on a slower cadence and a thinner feature set today — don't overstate the gap as 'Azure DevOps has none.' The point isn't that Azure DevOps has nothing, it's that the frontier is on GitHub right now. Sets up the Copilot capability list next and the AI-approach payoff in section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 the slide by getting ahead of the heckle: “Field guides go out of date, and so do capability tables. Everything here has a shelf life measured in sprints.” Then walk four rows, not nine.</a:t>
            </a:r>
          </a:p>
          <a:p>
            <a:endParaRPr lang="en-US" dirty="0"/>
          </a:p>
          <a:p>
            <a:r>
              <a:rPr dirty="0"/>
              <a:t>Speaker emphasis:</a:t>
            </a:r>
          </a:p>
          <a:p>
            <a:r>
              <a:rPr dirty="0"/>
              <a:t>Do not frame this as “GitHub has AI and Azure DevOps does not.” Frame it as a difference in native depth, integration, and repository dependency.</a:t>
            </a:r>
          </a:p>
          <a:p>
            <a:endParaRPr dirty="0"/>
          </a:p>
          <a:p>
            <a:r>
              <a:rPr dirty="0"/>
              <a:t>The capability gap is real, but it is neither absolute nor static. As of September 21, 2026: Azure DevOps Remote MCP Server is generally available; Copilot Code Review for Azure Repos is in public preview; Copilot </a:t>
            </a:r>
            <a:r>
              <a:rPr dirty="0" err="1"/>
              <a:t>Autofix</a:t>
            </a:r>
            <a:r>
              <a:rPr dirty="0"/>
              <a:t> for Azure DevOps remains in limited public preview; and GitHub Copilot cloud agent still requires a GitHub-hosted repository even when initiated from Azure Boards.</a:t>
            </a:r>
          </a:p>
          <a:p>
            <a:endParaRPr dirty="0"/>
          </a:p>
          <a:p>
            <a:r>
              <a:rPr dirty="0"/>
              <a:t>Sources (accessed September 21, 2026): GitHub Docs — About GitHub Copilot cloud agent; Integrating Copilot cloud agent with Azure Boards; About agent management; About </a:t>
            </a:r>
            <a:r>
              <a:rPr dirty="0" err="1"/>
              <a:t>autofix</a:t>
            </a:r>
            <a:r>
              <a:rPr dirty="0"/>
              <a:t> for code scanning. Microsoft Learn — Azure DevOps Sprint 278 and Sprint 279 release notes; Azure DevOps MCP Server overview; Copilot code review for Azure Repos; Copilot </a:t>
            </a:r>
            <a:r>
              <a:rPr dirty="0" err="1"/>
              <a:t>Autofix</a:t>
            </a:r>
            <a:r>
              <a:rPr dirty="0"/>
              <a:t> for GitHub Advanced Security for Azure DevOps. GitHub Changelog — Copilot code review now runs on an agentic architecture (March 5, 2026).</a:t>
            </a:r>
          </a:p>
          <a:p>
            <a:endParaRPr dirty="0"/>
          </a:p>
          <a:p>
            <a:r>
              <a:rPr dirty="0"/>
              <a:t>* Azure DevOps MCP Server itself is free; normal Azure DevOps pricing and AI-platform usage charges may still apply.</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and keep it brisk — this is a framing slide, not a deep dive.</a:t>
            </a:r>
          </a:p>
          <a:p>
            <a:endParaRPr/>
          </a:p>
          <a:p>
            <a:r>
              <a:t>Somebody in the room is thinking “we added MCP, so the platform question went away.” It didn't. What MCP genuinely changes: agents reach more enterprise systems, cross-tool workflows need less bespoke integration, and platform boundaries are more permeable. Say that plainly and generously — it is real.</a:t>
            </a:r>
          </a:p>
          <a:p>
            <a:endParaRPr/>
          </a:p>
          <a:p>
            <a:r>
              <a:t>What it does not change: where pull-request automation runs, where repository security analysis runs, which policies can be enforced natively, which platform owns repository governance, and where code-centric agent workflows execute. All of those still follow the code.</a:t>
            </a:r>
          </a:p>
          <a:p>
            <a:endParaRPr/>
          </a:p>
          <a:p>
            <a:r>
              <a:t>Land the closing line as written — the platform decision did not disappear, it merely acquired more adapters. If asked: the Azure DevOps Remote MCP Server is GA and the server itself is free, though normal Azure DevOps and AI-platform usage charges still apply.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move quickly — five rows, roughly fifteen seconds each, do not read them verbatim. Frame it up front as “even if you delete the entire AI argument, here is why teams still move.”</a:t>
            </a:r>
          </a:p>
          <a:p>
            <a:endParaRPr/>
          </a:p>
          <a:p>
            <a:r>
              <a:t>The 180M+ figure is GitHub's own Octoverse number and is current. On the marketplace row, the honest comparison is breadth of third-party actions versus the Azure Pipelines task catalogue — claim volume, not quality.</a:t>
            </a:r>
          </a:p>
          <a:p>
            <a:endParaRPr/>
          </a:p>
          <a:p>
            <a:r>
              <a:t>CAVEAT THE LAST ROW before someone in the room does it for you. act runs workflows in containers, not the VMs GitHub uses; Linux runners only; faithful images are 18 GB+; and it ignores or does not support concurrency, GITHUB_STEP_SUMMARY, job-level permissions, timeout-minutes, continue-on-error, environment — and OIDC, which means no cloud-auth workflow actually runs locally. Frame it as fast feedback on syntax and the job graph, never as “if it passes in act it passes in CI.”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same conceit as section 1's opener. Pause after the line, then go straight back to normal delivery for the scorecard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This is the spoiler slide — the full seven-subsystem scorecard for the whole talk, not just section 2. Two travel clean (Repos, Wiki), four need a decision (Packages/Artifacts, Pipelines, Dashboards, Boards), one stays behind entirely (Test Plans).</a:t>
            </a:r>
          </a:p>
          <a:p>
            <a:endParaRPr/>
          </a:p>
          <a:p>
            <a:r>
              <a:t>Don't over-explain each row yet. Pipelines gets all of section 3; Boards and Test Plans get all of section 4. This slide's job is just to set the map before the detailed stops. Repos, Wiki, Packages/Artifacts and Dashboards get their own slides in the rest of this section.</a:t>
            </a:r>
          </a:p>
          <a:p>
            <a:endParaRPr/>
          </a:p>
          <a:p>
            <a:r>
              <a:t>The Boards row is deliberately the only place Boards appears before section 4. Read it, say “we come back to this properly in section 4,” and move on — if you let the room open a Boards-versus-Projects debate here you will spend section 4's time twice.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Git is git (so commit history is easy), and PRs most branch policies migrate without much drama via tooling.</a:t>
            </a:r>
          </a:p>
          <a:p>
            <a:endParaRPr lang="en-US" dirty="0"/>
          </a:p>
          <a:p>
            <a:r>
              <a:rPr lang="en-US" dirty="0"/>
              <a:t>The asterisk is what doesn’t: </a:t>
            </a:r>
          </a:p>
          <a:p>
            <a:pPr marL="171450" indent="-171450">
              <a:buFontTx/>
              <a:buChar char="-"/>
            </a:pPr>
            <a:r>
              <a:rPr lang="en-US" dirty="0"/>
              <a:t>repo permissions get rebuilt as two GitHub teams per team project</a:t>
            </a:r>
          </a:p>
          <a:p>
            <a:pPr marL="171450" indent="-171450">
              <a:buFontTx/>
              <a:buChar char="-"/>
            </a:pPr>
            <a:r>
              <a:rPr lang="en-US" dirty="0"/>
              <a:t>Git LFS objects need their own handling, user-scoped or cross-repo branch policies need manual rebuilding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i="0" kern="1200" dirty="0">
                <a:solidFill>
                  <a:schemeClr val="tx1"/>
                </a:solidFill>
                <a:effectLst/>
                <a:latin typeface="+mn-lt"/>
                <a:ea typeface="+mn-ea"/>
                <a:cs typeface="+mn-cs"/>
              </a:rPr>
              <a:t>Verify target visibility during the trial migration. Migration scripts can preserve or explicitly set visibility, but enterprise policies and managed-user configurations may constrain the available choices.</a:t>
            </a:r>
          </a:p>
          <a:p>
            <a:pPr marL="171450" indent="-171450">
              <a:buFontTx/>
              <a:buChar char="-"/>
            </a:pPr>
            <a:endParaRPr lang="en-US" dirty="0"/>
          </a:p>
          <a:p>
            <a:pPr marL="0" indent="0">
              <a:buFontTx/>
              <a:buNone/>
            </a:pPr>
            <a:r>
              <a:rPr lang="en-US" dirty="0"/>
              <a:t>Worth a quick mention of the four hard size limits too if there's time (2 GiB/commit, 2 GiB/push, 100 MiB/file, 40 GiB/repo) but don't let the slide's bullets run long reciting them — they're in the written notes if anyone asks.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quick — this is the shortest stop in the section because there's genuinely not much to it. Both wikis are Git repos, so it's clone-and-push, full stop. The only real conversation is permissions: Azure DevOps' per-page permission model is richer than GitHub wiki's, and you lose the tight integration with Boards and pipelines that Azure DevOps wiki has. Land the pull-quote line — content migration is trivial, permissions is the whole conversation — it's the one-sentence takeaway.</a:t>
            </a:r>
          </a:p>
          <a:p>
            <a:endParaRPr/>
          </a:p>
          <a:p>
            <a:r>
              <a:t>OPTIONAL LAUGH LINE — keeps the wildlife frame alive in a section that otherwise has none between the openers: “Every field guide has one species that just walks across the river without drama. This is it. Enjoy it — the slide is forty seconds long.”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Unlike Repos or Wiki, this one isn't a clean migration path — it's a genuine three-way decision: keep Azure Artifacts as-is, move fully to GitHub Packages, or dual-publish during a transition window. The realistic PoC target for most enterprises is the first option done well: GitHub Actions publishing to and consuming from an existing Azure Artifacts feed, because repointing every downstream consumer at cutover usually isn't realistic. This is a decision, not a rewrite — say that line plainly, it's the slide's title for a reason.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and lead with the correction rather than burying it: GitHub does not ship a DORA dashboard.</a:t>
            </a:r>
          </a:p>
          <a:p>
            <a:endParaRPr/>
          </a:p>
          <a:p>
            <a:r>
              <a:t>Verified September 2026 — there is no GitHub product reporting deployment frequency, lead time for changes, change failure rate or time to restore. What exists is narrower and differently named: Copilot metrics and the Copilot impact dashboard (PRs merged, median merge velocity — explicitly not DORA), Actions performance metrics, a Code Quality org dashboard in public preview, and Security overview. None of it approaches Boards Analytics plus the Power BI report most enterprises have built up over years.</a:t>
            </a:r>
          </a:p>
          <a:p>
            <a:endParaRPr/>
          </a:p>
          <a:p>
            <a:r>
              <a:t>The reframe is what saves the slide, and it is stronger for the correction: neither platform hands you DORA, so stop comparing widgets, agree on the four metrics as the shared language, and instrument them yourselves — third-party tool or your own pipeline. That work outlives the migration whichever platform you land 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deliberately slow — this line is the whole talk in one sentence, worth letting it land before moving on. Everything that's file-based and version-controlled — repos, wiki — travels cleanly because Git is Git on both sides. Everything backed by a proprietary database with its own data model — dashboards here, and Boards plus Test Plans in the next section — needs either a rewrite, a decision, or in Test Plans' case, doesn't come at all. This sets up sections 3 and 4 directly.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Straight delivery, land this one deliberately — it's the thesis the whole talk hangs on. Three audiences, one pattern: developers move to GitHub and get Copilot + Actions; managers keep Azure Boards, capacity charts, and Power BI exactly as-is; and the budget conversation is easy because GHEC includes free Azure DevOps Basic access. Explicitly reframe: this is the shape the rest of the talk builds toward, not a fallback — section 4 comes back to this exact point on Boards vs. Projects.</a:t>
            </a:r>
            <a:br>
              <a:rPr lang="en-US" dirty="0"/>
            </a:br>
            <a:br>
              <a:rPr lang="en-US" dirty="0"/>
            </a:br>
            <a:r>
              <a:rPr lang="en-US" dirty="0"/>
              <a:t>T</a:t>
            </a:r>
            <a:r>
              <a:rPr lang="en-US" sz="1200" b="0" i="0" kern="1200" dirty="0">
                <a:solidFill>
                  <a:schemeClr val="tx1"/>
                </a:solidFill>
                <a:effectLst/>
                <a:latin typeface="+mn-lt"/>
                <a:ea typeface="+mn-ea"/>
                <a:cs typeface="+mn-cs"/>
              </a:rPr>
              <a:t>est Plans, Copilot, Advanced Security, Actions overages, larger runners, and migration work are separate cost considerations.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into section 3. The real Q&amp;A time is banked for the 10-minute block at the end.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DOCUMENTARY VOICE — deliver slowly and deadpan. The new metaphor introduces three migration planes: repository data, automation, and validation. Pause, then return to straight technical delivery. This is the heaviest section, so keep the framing concise.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and take this one slowly — the rest of the section depends on the distinction.</a:t>
            </a:r>
          </a:p>
          <a:p>
            <a:endParaRPr/>
          </a:p>
          <a:p>
            <a:r>
              <a:t>Repository data, automation, and validation are the architectural planes: the three places migration risk actually lives. Manual judgment, official tooling, and AI assistance are methods, and any of them can operate inside any plane. They are not a fourth plane, and they are not three competing migration strategies — which is how most migration talks get this wrong.</a:t>
            </a:r>
          </a:p>
          <a:p>
            <a:endParaRPr/>
          </a:p>
          <a:p>
            <a:r>
              <a:t>Everything from here follows the planes.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Read by row, not by column. Repository data uses GEI or ELM but still needs human decisions and troubleshooting. Automation uses Actions Importer plus engineering and AI reasoning. Validation uses deterministic evidence and accountable human decisions; AI can assist but cannot declare the migration complete.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slide — “Both platforms use YAML, in the same way that Java and JavaScript both contain the word ‘Java.’”</a:t>
            </a:r>
            <a:br>
              <a:rPr lang="en-US" dirty="0"/>
            </a:br>
            <a:br>
              <a:rPr lang="en-US" dirty="0"/>
            </a:br>
            <a:r>
              <a:rPr dirty="0"/>
              <a:t>Straight delivery. Use the table as a vocabulary guide, not a transliteration recipe. Ask what security or lifecycle boundary each stage represented. Manual judgment is needed where service connections, templates, approvals, runners, conditions, and failure behavior do not map one-to-one.</a:t>
            </a:r>
          </a:p>
          <a:p>
            <a:endParaRPr dirty="0"/>
          </a:p>
          <a:p>
            <a:r>
              <a:rPr dirty="0"/>
              <a:t>OPTIONAL LAUGH LINE — stop on the Service Connection row and say: “Four words on the left, four words on the right, and about three weeks in between.” This is the driest stretch of the deck and this is the row the whole room has personally lost a sprint to.</a:t>
            </a:r>
          </a:p>
          <a:p>
            <a:endParaRPr dirty="0"/>
          </a:p>
          <a:p>
            <a:r>
              <a:rPr dirty="0"/>
              <a:t>It gets the laugh and it is also the slide's entire thesis: same syntax, different language. Say it once and move 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Spend twenty seconds getting the naming right, because the docs don't and everyone who goes looking afterwards hits the same confusion.</a:t>
            </a:r>
          </a:p>
          <a:p>
            <a:endParaRPr/>
          </a:p>
          <a:p>
            <a:r>
              <a:t>GitHub's own wording: “GitHub Enterprise Importer is a collection of extensions for GitHub CLI.” So GEI is not a service sitting underneath gh-ado2gh — gh-ado2gh IS GEI, the Azure DevOps one. Its siblings are gh-gei (GitHub to GitHub) and gh-bbs2gh (Bitbucket Server). Install is `gh extension install github/gh-ado2gh`. The repository copy itself runs server-side through GitHub's migration API; the extension inventories the estate, generates the script and drives those calls.</a:t>
            </a:r>
          </a:p>
          <a:p>
            <a:endParaRPr/>
          </a:p>
          <a:p>
            <a:r>
              <a:t>Do not describe GEI and gh-ado2gh as two layers with a boundary between them — an earlier draft of this slide did, and somebody who has read the docs will pick it up. The real boundaries are the other three bullets: pipeline logic belongs to Actions Importer, and LFS and identity are separate work.</a:t>
            </a:r>
          </a:p>
          <a:p>
            <a:endParaRPr/>
          </a:p>
          <a:p>
            <a:r>
              <a:t>The --all flag adds team creation, Boards integration and pipeline reference rewiring, but it does not convert pipeline logic. Worth knowing before you demo: there is an open gh-gei issue where --all omits the rewire step unless the tooling can resolve pipelines and a service connection.</a:t>
            </a:r>
          </a:p>
          <a:p>
            <a:endParaRPr/>
          </a:p>
          <a:p>
            <a:r>
              <a:t>Review the generated PowerShell as migration code, not disposable output — that is the bottom line on the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Keep the non-negotiable order: install the Azure Pipelines GitHub App first and plan identity mapping before mannequins are created. Also decide account model, team structure, repository naming and visibility, system-of-record during transition, change freeze or reconciliation, and failure ownership before the first production run.</a:t>
            </a:r>
          </a:p>
          <a:p>
            <a:endParaRPr/>
          </a:p>
          <a:p>
            <a:r>
              <a:t>OPTIONAL LAUGH LINE — after reading the six decisions: “You are going to make all six of these decisions either way. The only question is whether you make them now, or at two in the morning, under pressure, by accident.”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Straight delivery. Say the full name out loud the first time — Enterprise Live Migrations — and note it also appeared on the methods table a few slides back.</a:t>
            </a:r>
          </a:p>
          <a:p>
            <a:endParaRPr dirty="0"/>
          </a:p>
          <a:p>
            <a:r>
              <a:rPr dirty="0"/>
              <a:t>STATUS, stated precisely, because the two paths differ: GitHub Enterprise Server to GHEC-with-data-residency went GA on 1 September 2026, but the AZURE DEVOPS path — the only one that matters here — is still public preview. Say “public preview for the Azure DevOps path,” not just “preview,” or somebody who read the GA changelog will correct you.</a:t>
            </a:r>
          </a:p>
          <a:p>
            <a:endParaRPr dirty="0"/>
          </a:p>
          <a:p>
            <a:r>
              <a:rPr dirty="0"/>
              <a:t>It is also research-only for us: Hunter's current tenant does not meet the data-residency prerequisite, so we have not run it.</a:t>
            </a:r>
          </a:p>
          <a:p>
            <a:endParaRPr dirty="0"/>
          </a:p>
          <a:p>
            <a:r>
              <a:rPr dirty="0"/>
              <a:t>THE CAPS ARE THE POINT. Thirty repositories total — twenty initial, ten incremental — and the cutover has to complete within twenty-one days of starting. Repositories only: no work items, pipelines, wikis, test plans or artifacts. That reframes ELM from “the better option” to “a pilot mechanism,” which is the more useful thing for this room to hear. If anyone is picturing it as the way to move a thousand repositories, the 30-repo cap answers that before they build a plan around it.</a:t>
            </a:r>
          </a:p>
          <a:p>
            <a:endParaRPr dirty="0"/>
          </a:p>
          <a:p>
            <a:r>
              <a:rPr dirty="0"/>
              <a:t>Keep the GEI comparison honest: gh-ado2gh --all already does the configuration work. What ELM genuinely adds is continuous delta synchroni</a:t>
            </a:r>
            <a:r>
              <a:rPr lang="en-US" dirty="0"/>
              <a:t>z</a:t>
            </a:r>
            <a:r>
              <a:rPr dirty="0"/>
              <a:t>ation and a scheduled cutover with a read-only window under thirty minutes. Pipeline logic and non-repository systems still need separate migration and validation — that is the takeaway line.</a:t>
            </a:r>
            <a:endParaRPr lang="en-US" dirty="0"/>
          </a:p>
          <a:p>
            <a:endParaRPr lang="en-US" dirty="0"/>
          </a:p>
          <a:p>
            <a:r>
              <a:rPr lang="en-US" sz="1200" b="1" kern="1200" dirty="0">
                <a:solidFill>
                  <a:schemeClr val="tx1"/>
                </a:solidFill>
                <a:effectLst/>
                <a:latin typeface="+mn-lt"/>
                <a:ea typeface="+mn-ea"/>
                <a:cs typeface="+mn-cs"/>
              </a:rPr>
              <a:t>GitHub Enterprise Cloud (GHEC) with Data Residency</a:t>
            </a:r>
            <a:r>
              <a:rPr lang="en-US" sz="1200" kern="1200" dirty="0">
                <a:solidFill>
                  <a:schemeClr val="tx1"/>
                </a:solidFill>
                <a:effectLst/>
                <a:latin typeface="+mn-lt"/>
                <a:ea typeface="+mn-ea"/>
                <a:cs typeface="+mn-cs"/>
              </a:rPr>
              <a:t> is a distinct deployment model where:</a:t>
            </a:r>
          </a:p>
          <a:p>
            <a:pPr lvl="0" rtl="0" fontAlgn="ctr"/>
            <a:r>
              <a:rPr lang="en-US" sz="1200" kern="1200" dirty="0">
                <a:solidFill>
                  <a:schemeClr val="tx1"/>
                </a:solidFill>
                <a:effectLst/>
                <a:latin typeface="+mn-lt"/>
                <a:ea typeface="+mn-ea"/>
                <a:cs typeface="+mn-cs"/>
              </a:rPr>
              <a:t> - Your enterprise is hosted on a dedicated ghe.com subdomain (instead of github.com&lt;org&gt;).</a:t>
            </a:r>
          </a:p>
          <a:p>
            <a:pPr lvl="0" rtl="0" fontAlgn="ctr"/>
            <a:r>
              <a:rPr lang="en-US" sz="1200" kern="1200" dirty="0">
                <a:solidFill>
                  <a:schemeClr val="tx1"/>
                </a:solidFill>
                <a:effectLst/>
                <a:latin typeface="+mn-lt"/>
                <a:ea typeface="+mn-ea"/>
                <a:cs typeface="+mn-cs"/>
              </a:rPr>
              <a:t> - You choose the geographic region where your code and repository data are stored (currently including U.S., EU, Australia, and Japan).</a:t>
            </a:r>
          </a:p>
          <a:p>
            <a:pPr lvl="0" rtl="0" fontAlgn="ctr"/>
            <a:r>
              <a:rPr lang="en-US" sz="1200" kern="1200" dirty="0">
                <a:solidFill>
                  <a:schemeClr val="tx1"/>
                </a:solidFill>
                <a:effectLst/>
                <a:latin typeface="+mn-lt"/>
                <a:ea typeface="+mn-ea"/>
                <a:cs typeface="+mn-cs"/>
              </a:rPr>
              <a:t> - The environment is isolated from the broader github.com ecosystem.</a:t>
            </a:r>
          </a:p>
          <a:p>
            <a:pPr lvl="0" rtl="0" fontAlgn="ctr"/>
            <a:r>
              <a:rPr lang="en-US" sz="1200" kern="1200" dirty="0">
                <a:solidFill>
                  <a:schemeClr val="tx1"/>
                </a:solidFill>
                <a:effectLst/>
                <a:latin typeface="+mn-lt"/>
                <a:ea typeface="+mn-ea"/>
                <a:cs typeface="+mn-cs"/>
              </a:rPr>
              <a:t> - It requires </a:t>
            </a:r>
            <a:r>
              <a:rPr lang="en-US" sz="1200" b="1" kern="1200" dirty="0">
                <a:solidFill>
                  <a:schemeClr val="tx1"/>
                </a:solidFill>
                <a:effectLst/>
                <a:latin typeface="+mn-lt"/>
                <a:ea typeface="+mn-ea"/>
                <a:cs typeface="+mn-cs"/>
              </a:rPr>
              <a:t>Enterprise Managed Users (EMU)</a:t>
            </a:r>
            <a:r>
              <a:rPr lang="en-US" sz="1200" kern="1200" dirty="0">
                <a:solidFill>
                  <a:schemeClr val="tx1"/>
                </a:solidFill>
                <a:effectLst/>
                <a:latin typeface="+mn-lt"/>
                <a:ea typeface="+mn-ea"/>
                <a:cs typeface="+mn-cs"/>
              </a:rPr>
              <a:t>. </a:t>
            </a:r>
          </a:p>
          <a:p>
            <a:endParaRPr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This is the automation-plane tool. The audit breakdown is the planning artifact: it turns “this looks hard” into a backlog with counts.</a:t>
            </a:r>
          </a:p>
          <a:p>
            <a:endParaRPr/>
          </a:p>
          <a:p>
            <a:r>
              <a:t>Use the tool's own four buckets — successful, partially successful, unsupported, failed — and make the point that unsupported and failed are different problems. Unsupported means the construct has no Actions equivalent and somebody has to make a design decision. Failed means the importer choked and somebody has to go look. Those land in different columns of the backlog.</a:t>
            </a:r>
          </a:p>
          <a:p>
            <a:endParaRPr/>
          </a:p>
          <a:p>
            <a:r>
              <a:t>Conversion still leaves secrets, service connections, runner and network strategy, environments, approvals, custom tasks, and unsupported triggers for engineering judgment and validation.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dirty="0"/>
              <a:t>Straight delivery, and slow down here — for an enterprise room this is the slide that separates a migration talk from a migration.</a:t>
            </a:r>
          </a:p>
          <a:p>
            <a:endParaRPr dirty="0"/>
          </a:p>
          <a:p>
            <a:r>
              <a:rPr dirty="0"/>
              <a:t>The setup: Actions Importer just told you the YAML converts. That is the easy half. The execution environment is the half that does not travel, and it is where regulated and on-prem estates actually stall.</a:t>
            </a:r>
          </a:p>
          <a:p>
            <a:endParaRPr dirty="0"/>
          </a:p>
          <a:p>
            <a:r>
              <a:rPr dirty="0"/>
              <a:t>Walk the left column as decisions, not tasks — each one has an owner and a cost attached. The two that bite hardest are the network path to private endpoints, and who operates self-hosted runners once the migration team goes away.</a:t>
            </a:r>
          </a:p>
          <a:p>
            <a:endParaRPr dirty="0"/>
          </a:p>
          <a:p>
            <a:r>
              <a:rPr dirty="0"/>
              <a:t>Walk the right column as evidence. Nobody gets to call the automation plane done on a green build; they get to call it done when an internal feed resolved, OIDC issued a real token, and something actually deployed.</a:t>
            </a:r>
          </a:p>
          <a:p>
            <a:endParaRPr dirty="0"/>
          </a:p>
          <a:p>
            <a:r>
              <a:rPr dirty="0"/>
              <a:t>LAND THE BOTTOM LINE AS THE JOKE IT IS — “the workflow converted successfully, it merely has no credentials, no network route, and nowhere to deploy.” Deliver it flat. Everyone who has done this will laugh, because everyone who has done this has shipped exactly that workflow. It is also the only real laugh in this stretch of the deck, so do not rush past it.</a:t>
            </a:r>
          </a:p>
          <a:p>
            <a:endParaRPr dirty="0"/>
          </a:p>
          <a:p>
            <a:r>
              <a:rPr dirty="0"/>
              <a:t>If asked about act: it runs workflows in containers rather than GitHub's VMs, Linux runners only, and it does not support OIDC — so it will never prove any of the right-hand column.</a:t>
            </a:r>
          </a:p>
        </p:txBody>
      </p:sp>
      <p:sp>
        <p:nvSpPr>
          <p:cNvPr id="4" name="Slide Number Placeholder 3"/>
          <p:cNvSpPr>
            <a:spLocks noGrp="1"/>
          </p:cNvSpPr>
          <p:nvPr>
            <p:ph type="sldNum" sz="quarter" idx="10"/>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Straight delivery. AI is assistance inside the automation and validation planes, not a third migration path. Analyze first, convert second, then validate in fresh context with an explicit checklist and—where possible—a different reviewer or model. Deterministic tests and accountable engineering acceptance remain the authority. Preserve the honest status: the prompts have not yet been validated against a production pipeline.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Walk the five steps across all three planes. Inventory before moving; trial-migrate repository data; rebuild automation semantics and the execution environment; prove equivalence and deployability; then cut over with monitoring and rollback ready.</a:t>
            </a:r>
          </a:p>
          <a:p>
            <a:endParaRPr/>
          </a:p>
          <a:p>
            <a:r>
              <a:t>Say the finish-line distinction out loud: first verified delivery, not first green build. A green build proves the workflow ran. It proves nothing about the artifact, the deployment, traceability, or your ability to go back.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This is a reusable acceptance checklist — tell the room to photograph it, it is the most portable thing in the talk.</a:t>
            </a:r>
          </a:p>
          <a:p>
            <a:endParaRPr/>
          </a:p>
          <a:p>
            <a:r>
              <a:t>Emphasize that acceptance spans all three planes: repository data, automation, and validation/cutover. A repository URL and a green build do not prove identity, policy, artifact, deployment, observability, traceability, or rollback readiness.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30 seconds given how much ground this section covers. Take one quick question if a hand is up, otherwise move straight into section 4. The real Q&amp;A time is banked for the 10-minute block at the end.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same conceit as the earlier section openers. Pause after the line, then go straight back to normal delivery for the Boards-vs-Projects framing slide. This is the shortest section in the deck — keep every slide brisk, the payoff is the Test Plans slide and the recommendation, not length.</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Frame this before comparing feature by feature — Azure Boards and GitHub Projects are not two competitors in one category, they are two different models.</a:t>
            </a:r>
          </a:p>
          <a:p>
            <a:endParaRPr/>
          </a:p>
          <a:p>
            <a:r>
              <a:t>Azure Boards is a full enterprise work-tracking system organized around a process template: hierarchy, states, rules, capacity, cross-team reporting. GitHub Projects is a real planning layer organized around custom fields and views — org-level, spanning repositories, with sub-issues, issue types and dependencies all GA.</a:t>
            </a:r>
          </a:p>
          <a:p>
            <a:endParaRPr/>
          </a:p>
          <a:p>
            <a:r>
              <a:t>Do NOT call Projects a lightweight kanban board. That was fair a few years ago and this room will know it isn't now; understating it makes the Boards recommendation later sound motivated rather than reasoned. Naming the difference as two models rather than a feature gap is what stops the next two slides reading as a scored competition.</a:t>
            </a:r>
          </a:p>
          <a:p>
            <a:endParaRPr/>
          </a:p>
          <a:p>
            <a:r>
              <a:t>The next two slides take each tool on its own terms before comparing what's lost in a migration — say that as a transition, don't put it on the slide.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enterprise case, stated plainly and without hedging: hierarchical work items from Epics down to Tasks, built-in sprint planning and capacity management, Delivery Plans for dependencies that cross team boundaries, and Boards Analytics feeding Power BI for reporting that goes well beyond a single team's board. It organizes around Project, Team, and Area Path — a structure built for portfolios, not just one team's kanban.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and give Projects real credit here — the recommendation in a few slides only carries weight if this slide was honest.</a:t>
            </a:r>
          </a:p>
          <a:p>
            <a:endParaRPr/>
          </a:p>
          <a:p>
            <a:r>
              <a:t>Projects is organized around custom fields (iteration, single-select, date, number) rather than a fixed process template. Sub-issues, issue types and dependencies are all GA, there are three layouts including roadmap, and automation comes either built in or through Actions. Crucially it is org-level, not repo-scoped — a single project spans repositories.</a:t>
            </a:r>
          </a:p>
          <a:p>
            <a:endParaRPr/>
          </a:p>
          <a:p>
            <a:r>
              <a:t>It lives next to the issues and PRs it tracks rather than in a separate system, which is the whole argument. The structural contrast with the previous slide is process template versus fields and views — not enterprise versus toy.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Original 'Projects' shipped 2016 as simple Trello-like kanban cards (free-text or linked to issues/PRs). 'Projects (beta)' launched 2020 as a full rewrite on a spreadsheet-like data model (items x fields, multiple saved views). Went GA in 2022 as the current 'Projects'; the old version was renamed 'Projects (classic)' and is on a deprecation path -- new projects default to the current version.
DELIVERY NOTE: the right card is the one that surprises Azure DevOps veterans -- not that Projects is worse, but that GitHub deliberately ships no opinion on process. Teams coming from Agile/Scrum templates feel the gap as 'less structured' until they rebuild it with custom fields themselves.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Be concrete about the loss rather than vague: sprint history, capacity data, custom process fields, and the entire Project/Team/Area Path hierarchy don't have a clean landing spot in GitHub Projects. There is open-source help — azure-devops-migration-tools can move work items over — but set expectations honestly: this is real manual-mapping work because the two data models don't line up, not a one-command migration. This sets up the Test Plans slide and the hybrid-pattern resolution that follows.</a:t>
            </a:r>
          </a:p>
          <a:p>
            <a:endParaRPr/>
          </a:p>
          <a:p>
            <a:r>
              <a:t>OPTIONAL LAUGH LINE — on losing sprint history and capacity data: “Nobody has ever asked to see sprint history from three years ago. They will ask exactly once, about six weeks after you delete it.”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and let this one land plainly — it's probably the best-received slide in the whole deck precisely because it doesn't try to spin anything. There is no native GitHub Projects or Issues equivalent for structured manual and exploratory testing, full stop. In a regulated environment, that alone can be sufficient reason to keep Azure DevOps around. This is the shortest slide in the section on purpose — sometimes the honest answer is just 'it doesn't move, and that's fine,' and saying it plainly builds more credibility than manufacturing a workaround.</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section 1's hybrid pattern coming back around, applied specifically to Boards vs. Projects: connect Azure Boards to GitHub repos before touching anything else. Developers get to work in GitHub, right next to Copilot and the issues that matter to them day to day; managers keep the sprint hub, capacity charts, and Power BI reporting exactly where they already are. The framing matters — Microsoft designed this as the intended shape for mixed estates, not a stopgap. Internally, call it the answer, not the fallback.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explicit takeaway slide for the section — say it plainly. Don't migrate to GitHub Issues unless your PM needs are genuinely simple; for most teams past a handful of people, keep Azure Boards connected rather than replaced. Important nuance worth saying out loud: this isn't an argument for Azure Boards forever, it's an argument against defaulting to GitHub Issues just because the code moved. Where you plan work is a separate decision from where your code lives — leave that door open.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into section 5. The real Q&amp;A time is banked for the 10-minute block at the end.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same conceit as the earlier section openers. Pause after the line, then go straight back to normal delivery for the thesis slide. This section's closing slide comes back to this exact character — plant it here without over-explaining, the payoff lands later.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section's thesis statement — land it early and come back to it. Migrations that fail almost never fail because the tooling didn't work; gh-ado2gh and gh-actions-importer do what they say. They fail because of three predictable human failures: no real selection process (the tool got picked by momentum, not evaluated on merit), customization starting before anyone actually understood the new tool, and a rollout that felt like it was done TO people rather than WITH them. Everything else in this section is about avoiding those three things specifically.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walking the five steps: “In most organizations the real selection process is that somebody senior used it at their last job.” Reliable laugh, and it is precisely failure mode one from the previous slide, so it earns its place.</a:t>
            </a:r>
          </a:p>
          <a:p>
            <a:endParaRPr lang="en-US" dirty="0"/>
          </a:p>
          <a:p>
            <a:r>
              <a:rPr dirty="0"/>
              <a:t>Straight delivery, walk this quickly — it's five steps, don't dwell on any one. Define must-haves before shopping, assess real constraints like data residency and compliance, model one real increment of actual work in each candidate tool rather than watching a vendor demo, score the results with a weighted rubric so the decision is defensible later, and run a real 4–6 week pilot with outcomes decided in advance. This is the antidote to the first failure mode from the thesis slide — no real selection process.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antidote to the second failure mode — customization starting before anyone understood the new tool. Every custom field, automation rule, or process tweak added before the pilot is a decision made with the least information the team will ever have about how the tool actually gets used. Run the pilot on defaults first, then customize afterward with real usage data instead of guesses about what people will need.</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Straight delivery. Align the rollout with the three-plane model. Define authority and traceability first, prove one repository end-to-end, then scale in waves with explicit entry criteria. Cut over only with validation and rollback ready; decommission after long-tail checks, not immediately after migration.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Sticker-price comparisons are the easiest way to make a bad decision look rigorous. Compare the whole bill: licensing tiers, GitHub Advanced Security as an add-on rather than bundled, runner and compute minutes, and the real admin and migration effort to get there — that last one is easy to leave off a spreadsheet entirely. The rule of thumb: past roughly 100 engineers, governance and reporting time saved usually outweighs a modest per-seat price difference, but say plainly that this is a rule of thumb, not a substitute for running the actual math against your own numbers.</a:t>
            </a:r>
          </a:p>
          <a:p>
            <a:endParaRPr/>
          </a:p>
          <a:p>
            <a:r>
              <a:t>OPTIONAL LAUGH LINE — on the last item of the cost model: “Every migration business case has a line called *migration effort*, and it is always the number nobody wanted to be the person to estimate.”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This is the counterweight to section 1. AI is the honest reason most teams are migrating — this slide is where you pay that argument down so it reads as analysis rather than a pitch. Frame the four as a to-do list, not as reasons to doubt the move.</a:t>
            </a:r>
          </a:p>
          <a:p>
            <a:endParaRPr/>
          </a:p>
          <a:p>
            <a:r>
              <a:t>1. WORK ITEMS. Verified behaviour, and it closes the loop with the Boards recommendation two sections back: when the Copilot cloud agent is triggered from an Azure Boards work item it captures the text fields — description, repro steps — plus the last 50 comments. So keeping Boards does not cost you the AI payoff; it just means the Boards item literally is the prompt.</a:t>
            </a:r>
          </a:p>
          <a:p>
            <a:endParaRPr/>
          </a:p>
          <a:p>
            <a:r>
              <a:t>   WORTH SAYING FOR A REGULATED ROOM: that captured context is stored in the pull request and is visible to anyone with access to the repository. A work item that was private in Azure DevOps becomes readable in GitHub the moment an agent picks it up. Most people have not thought about that, and for anyone with compliance obligations it is the most useful thirty seconds on the slide.</a:t>
            </a:r>
          </a:p>
          <a:p>
            <a:endParaRPr/>
          </a:p>
          <a:p>
            <a:r>
              <a:t>2. CONVENTIONS. Three supported files: .github/copilot-instructions.md repository-wide, path-specific NAME.instructions.md under .github/instructions (cloud agent and code review only), and AGENTS.md anywhere in the tree, nearest one winning. Without them the agent infers house style from whatever it can see, which on a large legacy repo is whatever is oldest.</a:t>
            </a:r>
          </a:p>
          <a:p>
            <a:endParaRPr/>
          </a:p>
          <a:p>
            <a:r>
              <a:t>3. TESTS. Tie this back to the crossing section — a green build is evidence, not acceptance. Agent throughput is capped by human review capacity until CI carries real weight, so teams with thin or flaky suites do not get faster, they just move the bottleneck onto reviewers.</a:t>
            </a:r>
          </a:p>
          <a:p>
            <a:endParaRPr/>
          </a:p>
          <a:p>
            <a:r>
              <a:t>4. LICENSING. Moving the repository turns nothing on. The cloud agent needs a paid Copilot plan, it must be enabled on each connected repository, and an organisation owner has to install the Azure Boards GitHub app before anyone can use the integration.</a:t>
            </a:r>
          </a:p>
          <a:p>
            <a:endParaRPr/>
          </a:p>
          <a:p>
            <a:r>
              <a:t>OPTIONAL LAUGH LINE — after “a vague ticket produces a vague PR”: “Garbage in, garbage out — except now the garbage arrives with unit tests and a confident summary.”</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aside — same voice as the opener cards, played for a beat, then straight delivery resumes. This is the section's closing synthesis: startups and one-to-three-squad teams should just take GitHub Projects' lightweight fit, no enterprise overhead needed. Scaled agile, regulated industries, and multi-team portfolios are exactly where Azure Boards' hierarchy and reporting earn their keep. Mixed estates get the hybrid pattern, deliberately — a fit, not a compromise. Then the documentary callback: the Senior Engineer from the opener card isn't wrong to be cautious about change, they're just defending the old pipeline with the wrong argument ('it's always worked') instead of the right one ('here's the rubric score'). Land this warmly, not as a dunk — the point is to hear the objection out and then hand them the data from the selection process a few slides back.</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into section 6, the final section. The real Q&amp;A time is banked for the 10-minute block at the end.</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spoken live, not read. This is the section opener: slow down, let the metaphor land. We are closing the loop on the "field guide to a new habitat" framing from the whole talk — this section is about what still limps back to the old watering hole after everyone else has moved on.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practical, checklist-voiced part of the section. The four rows are meant to be read as "here is where these hide" — invite the room to mentally add their own fifth row, because every org has one nobody else would guess.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Two registers on this one slide. STRAIGHT for the top two cards — this is real mechanical risk, say it plainly.</a:t>
            </a:r>
          </a:p>
          <a:p>
            <a:endParaRPr dirty="0"/>
          </a:p>
          <a:p>
            <a:r>
              <a:rPr dirty="0"/>
              <a:t>The precision that matters: an org owner sends the attribution invitation, but nothing is reattributed until the person accepts it. Which means your reclaim rate depends on people reading email — that is its own migration risk, and it usually gets a laugh because everyone knows it is true. Enterprise Managed Users are the exception, where the reclaim completes immediately without an invitation. Git commits are attributed by email and are unaffected either way.</a:t>
            </a:r>
          </a:p>
          <a:p>
            <a:endParaRPr dirty="0"/>
          </a:p>
          <a:p>
            <a:r>
              <a:rPr dirty="0"/>
              <a:t>Then shift into DOCUMENTARY VOICE for the on-slide aside at the bottom, read as written, then straight back to conference delivery. The mannequin framing is the callback that ties this section's watering-hole metaphor to identity specifically.</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briskly. For item three, recap the three planes and the cross-plane methods. For item five, reinforce that migration is an operating model: ownership, entry criteria, evidence, rollback, and decommissioning—not merely a tooling sequence.</a:t>
            </a:r>
          </a:p>
          <a:p>
            <a:endParaRPr/>
          </a:p>
          <a:p>
            <a:r>
              <a:t>Then hand straight off to the Unglamorous Truth slide. The recap is the list; that slide is the point. Do not editorialise between the two — just turn the page.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and let it land quieter than anything around it. This is the deck's thesis in one sentence, and it now sits where it earns the most: the recap just handed them six things to remember, and this is the one thing to feel.</a:t>
            </a:r>
          </a:p>
          <a:p>
            <a:endParaRPr/>
          </a:p>
          <a:p>
            <a:r>
              <a:t>The slide is built as a statement, not a section card — light ground, no motif, sentence centred, nothing on it competing with the line. Deliver the first sentence flat, then pause before the last clause. “And got fixed by people in the room” is the payoff and it is set in the accent colour for exactly that reason: land it on the people, not the checklist.</a:t>
            </a:r>
          </a:p>
          <a:p>
            <a:endParaRPr/>
          </a:p>
          <a:p>
            <a:r>
              <a:t>Then go straight into the documentary closer. These two are twins — the same thought in two registers, plain-spoken in light, documentary in dark — so do not take a long pause here and another one there. This slide sets the closer up; the closer gets the silence.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DOCUMENTARY VOICE — spoken live, slower than anything else in the deck.</a:t>
            </a:r>
          </a:p>
          <a:p>
            <a:endParaRPr/>
          </a:p>
          <a:p>
            <a:r>
              <a:t>Three beats, and they are paced differently. The first line is calm and satisfied: everything worked. The second is where the joke builds — take your time on “every Tuesday at 3 a.m., triggered by nothing, owned by no one,” because the specificity is what makes it funny. Then a real pause, and the last line flat: “Nobody told it the herd had moved.”</a:t>
            </a:r>
          </a:p>
          <a:p>
            <a:endParaRPr/>
          </a:p>
          <a:p>
            <a:r>
              <a:t>That last line is the callback to section 6's title, so it should land as a click rather than a punchline. Let the silence sit for two full seconds before advancing — do not rush into the thank-you slide, and do not add another joke on top of it.</a:t>
            </a:r>
          </a:p>
          <a:p>
            <a:endParaRPr/>
          </a:p>
          <a:p>
            <a:r>
              <a:t>Note the division of labour with the Unglamorous Truth slide two back: that one is the sincere version in your own voice, this one is the funny version in the documentary voice. Sincerity first, laugh last.</a:t>
            </a:r>
          </a:p>
          <a:p>
            <a:endParaRPr/>
          </a:p>
          <a:p>
            <a:r>
              <a:t>---- ALTERNATE CLOSER, if this one doesn't fit on the night ----</a:t>
            </a:r>
          </a:p>
          <a:p>
            <a:endParaRPr/>
          </a:p>
          <a:p>
            <a:r>
              <a:t>WARMER: “The herd has crossed. They pause on the far bank, survey the new territory — and immediately begin recreating the folder structure they left behind. They will learn. They always do.”  (Use if you want to end on warmth rather than a laugh. Overlaps slightly with the Unglamorous Truth slide.)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delivery, warm. This is the handoff into the single 10-minute final Q&amp;A block — there has been no interim pocket since section 5, so the room has been banking questions. Invite them explicitly rather than just stopping talking.</a:t>
            </a:r>
          </a:p>
          <a:p>
            <a:endParaRPr/>
          </a:p>
          <a:p>
            <a:r>
              <a:t>The QR now lives here instead of on its own slide, which means it stays on screen for the whole Q&amp;A instead of flashing past. Say once what is behind it — GitHub's official Azure Pipelines to Actions guide, gh-ado2gh, gh-actions-importer, the AI analyze / convert / validate prompts, and every note behind this talk, all public — then stop talking about it and take questions. People will scan while somebody else is asking.</a:t>
            </a:r>
          </a:p>
          <a:p>
            <a:endParaRPr/>
          </a:p>
          <a:p>
            <a:r>
              <a:t>If a question needs more than the time you have, point at the code: the long answer is almost certainly already in the repo.</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7.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D2C"/>
          </a:solidFill>
          <a:ln/>
        </p:spPr>
        <p:txBody>
          <a:bodyPr/>
          <a:lstStyle/>
          <a:p>
            <a:endParaRPr lang="en-US"/>
          </a:p>
        </p:txBody>
      </p:sp>
      <p:sp>
        <p:nvSpPr>
          <p:cNvPr id="3" name="Shape 1"/>
          <p:cNvSpPr/>
          <p:nvPr/>
        </p:nvSpPr>
        <p:spPr>
          <a:xfrm>
            <a:off x="0" y="5120640"/>
            <a:ext cx="12191695" cy="1737360"/>
          </a:xfrm>
          <a:prstGeom prst="rect">
            <a:avLst/>
          </a:prstGeom>
          <a:solidFill>
            <a:srgbClr val="142A1D"/>
          </a:solidFill>
          <a:ln/>
        </p:spPr>
        <p:txBody>
          <a:bodyPr/>
          <a:lstStyle/>
          <a:p>
            <a:endParaRPr lang="en-US"/>
          </a:p>
        </p:txBody>
      </p:sp>
      <p:pic>
        <p:nvPicPr>
          <p:cNvPr id="4" name="Image 0" descr="/home/claude/pptx-build/assets/icons/FaCompass-8C6A3F-400.png"/>
          <p:cNvPicPr>
            <a:picLocks noChangeAspect="1"/>
          </p:cNvPicPr>
          <p:nvPr/>
        </p:nvPicPr>
        <p:blipFill>
          <a:blip r:embed="rId3">
            <a:alphaModFix amt="80000"/>
          </a:blip>
          <a:stretch>
            <a:fillRect/>
          </a:stretch>
        </p:blipFill>
        <p:spPr>
          <a:xfrm>
            <a:off x="9601200" y="640080"/>
            <a:ext cx="1920240" cy="1920240"/>
          </a:xfrm>
          <a:prstGeom prst="rect">
            <a:avLst/>
          </a:prstGeom>
        </p:spPr>
      </p:pic>
      <p:sp>
        <p:nvSpPr>
          <p:cNvPr id="5" name="Text 2"/>
          <p:cNvSpPr txBox="1"/>
          <p:nvPr/>
        </p:nvSpPr>
        <p:spPr>
          <a:xfrm>
            <a:off x="640080" y="1828800"/>
            <a:ext cx="10058400" cy="457200"/>
          </a:xfrm>
          <a:prstGeom prst="rect">
            <a:avLst/>
          </a:prstGeom>
          <a:noFill/>
          <a:ln/>
        </p:spPr>
        <p:txBody>
          <a:bodyPr wrap="square" lIns="0" tIns="0" rIns="0" bIns="0" rtlCol="0" anchor="ctr"/>
          <a:lstStyle/>
          <a:p>
            <a:pPr marL="0" indent="0">
              <a:buNone/>
            </a:pPr>
            <a:r>
              <a:rPr lang="en-US" sz="1800" b="1" kern="0" spc="300" dirty="0">
                <a:solidFill>
                  <a:srgbClr val="8C6A3F"/>
                </a:solidFill>
                <a:latin typeface="Calibri" pitchFamily="34" charset="0"/>
                <a:ea typeface="Calibri" pitchFamily="34" charset="-122"/>
                <a:cs typeface="Calibri" pitchFamily="34" charset="-120"/>
              </a:rPr>
              <a:t>AZURE DEVOPS → GITHUB ENTERPRISE</a:t>
            </a:r>
            <a:endParaRPr lang="en-US" sz="1800" dirty="0"/>
          </a:p>
        </p:txBody>
      </p:sp>
      <p:sp>
        <p:nvSpPr>
          <p:cNvPr id="6" name="Text 3"/>
          <p:cNvSpPr txBox="1"/>
          <p:nvPr/>
        </p:nvSpPr>
        <p:spPr>
          <a:xfrm>
            <a:off x="640080" y="2286000"/>
            <a:ext cx="10515600" cy="1463040"/>
          </a:xfrm>
          <a:prstGeom prst="rect">
            <a:avLst/>
          </a:prstGeom>
          <a:noFill/>
          <a:ln/>
        </p:spPr>
        <p:txBody>
          <a:bodyPr wrap="square" lIns="0" tIns="0" rIns="0" bIns="0" rtlCol="0" anchor="ctr"/>
          <a:lstStyle/>
          <a:p>
            <a:pPr marL="0" indent="0">
              <a:buNone/>
            </a:pPr>
            <a:r>
              <a:rPr lang="en-US" sz="5600" b="1" dirty="0">
                <a:solidFill>
                  <a:srgbClr val="F5F5F0"/>
                </a:solidFill>
                <a:latin typeface="Cambria" pitchFamily="34" charset="0"/>
                <a:ea typeface="Cambria" pitchFamily="34" charset="-122"/>
                <a:cs typeface="Cambria" pitchFamily="34" charset="-120"/>
              </a:rPr>
              <a:t>The Great Migration</a:t>
            </a:r>
            <a:endParaRPr lang="en-US" sz="5600" dirty="0"/>
          </a:p>
        </p:txBody>
      </p:sp>
      <p:sp>
        <p:nvSpPr>
          <p:cNvPr id="7" name="Text 4"/>
          <p:cNvSpPr txBox="1"/>
          <p:nvPr/>
        </p:nvSpPr>
        <p:spPr>
          <a:xfrm>
            <a:off x="640080" y="5349240"/>
            <a:ext cx="10058400" cy="822960"/>
          </a:xfrm>
          <a:prstGeom prst="rect">
            <a:avLst/>
          </a:prstGeom>
          <a:noFill/>
          <a:ln/>
        </p:spPr>
        <p:txBody>
          <a:bodyPr wrap="square" lIns="0" tIns="0" rIns="0" bIns="0" rtlCol="0" anchor="ctr"/>
          <a:lstStyle/>
          <a:p>
            <a:pPr marL="0" indent="0">
              <a:buNone/>
            </a:pPr>
            <a:r>
              <a:rPr lang="en-US" sz="2400" i="1" dirty="0">
                <a:solidFill>
                  <a:srgbClr val="8C6A3F"/>
                </a:solidFill>
                <a:latin typeface="Cambria" pitchFamily="34" charset="0"/>
                <a:ea typeface="Cambria" pitchFamily="34" charset="-122"/>
                <a:cs typeface="Cambria" pitchFamily="34" charset="-120"/>
              </a:rPr>
              <a:t>“Observe the DevOps Engineer in their natural habitat.”</a:t>
            </a:r>
            <a:endParaRPr lang="en-US" sz="2400" dirty="0"/>
          </a:p>
        </p:txBody>
      </p:sp>
      <p:sp>
        <p:nvSpPr>
          <p:cNvPr id="8" name="Text 5"/>
          <p:cNvSpPr txBox="1"/>
          <p:nvPr/>
        </p:nvSpPr>
        <p:spPr>
          <a:xfrm>
            <a:off x="640080" y="6172200"/>
            <a:ext cx="10058400" cy="365760"/>
          </a:xfrm>
          <a:prstGeom prst="rect">
            <a:avLst/>
          </a:prstGeom>
          <a:noFill/>
          <a:ln/>
        </p:spPr>
        <p:txBody>
          <a:bodyPr wrap="square" lIns="0" tIns="0" rIns="0" bIns="0" rtlCol="0" anchor="ctr"/>
          <a:lstStyle/>
          <a:p>
            <a:pPr marL="0" indent="0">
              <a:buNone/>
            </a:pPr>
            <a:r>
              <a:rPr lang="en-US" sz="1500" dirty="0">
                <a:solidFill>
                  <a:srgbClr val="F5F5F0"/>
                </a:solidFill>
                <a:latin typeface="Calibri" pitchFamily="34" charset="0"/>
                <a:ea typeface="Calibri" pitchFamily="34" charset="-122"/>
                <a:cs typeface="Calibri" pitchFamily="34" charset="-120"/>
              </a:rPr>
              <a:t>Kevin Neumann  •  Cloud &amp; AI Summit  •  September 30,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0515600" cy="68580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Thank You to Our Sponsors</a:t>
            </a:r>
            <a:endParaRPr lang="en-US" sz="3200" dirty="0"/>
          </a:p>
        </p:txBody>
      </p:sp>
      <p:sp>
        <p:nvSpPr>
          <p:cNvPr id="3" name="Shape 1"/>
          <p:cNvSpPr/>
          <p:nvPr/>
        </p:nvSpPr>
        <p:spPr>
          <a:xfrm>
            <a:off x="548640" y="1645920"/>
            <a:ext cx="11064240" cy="3931920"/>
          </a:xfrm>
          <a:prstGeom prst="roundRect">
            <a:avLst>
              <a:gd name="adj" fmla="val 2791"/>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4" name="Text 2"/>
          <p:cNvSpPr txBox="1"/>
          <p:nvPr/>
        </p:nvSpPr>
        <p:spPr>
          <a:xfrm>
            <a:off x="914400" y="3200400"/>
            <a:ext cx="10332720" cy="640080"/>
          </a:xfrm>
          <a:prstGeom prst="rect">
            <a:avLst/>
          </a:prstGeom>
          <a:noFill/>
          <a:ln/>
        </p:spPr>
        <p:txBody>
          <a:bodyPr wrap="square" lIns="0" tIns="0" rIns="0" bIns="0" rtlCol="0" anchor="ctr"/>
          <a:lstStyle/>
          <a:p>
            <a:pPr marL="0" indent="0" algn="ctr">
              <a:buNone/>
            </a:pPr>
            <a:r>
              <a:rPr lang="en-US" sz="2000" i="1" dirty="0">
                <a:solidFill>
                  <a:srgbClr val="6B6B63"/>
                </a:solidFill>
                <a:latin typeface="Calibri" pitchFamily="34" charset="0"/>
                <a:ea typeface="Calibri" pitchFamily="34" charset="-122"/>
                <a:cs typeface="Calibri" pitchFamily="34" charset="-120"/>
              </a:rPr>
              <a:t>[PLACEHOLDER — drop in actual sponsor logos before the talk]</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Map-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AGENDA</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Six Legs of the Expedition</a:t>
            </a:r>
            <a:endParaRPr lang="en-US" sz="3200" dirty="0"/>
          </a:p>
        </p:txBody>
      </p:sp>
      <p:sp>
        <p:nvSpPr>
          <p:cNvPr id="6" name="Shape 3"/>
          <p:cNvSpPr/>
          <p:nvPr/>
        </p:nvSpPr>
        <p:spPr>
          <a:xfrm>
            <a:off x="548640" y="1554480"/>
            <a:ext cx="6790006" cy="4434840"/>
          </a:xfrm>
          <a:prstGeom prst="roundRect">
            <a:avLst>
              <a:gd name="adj" fmla="val 2474"/>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777240" y="1783080"/>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1</a:t>
            </a:r>
            <a:endParaRPr lang="en-US" sz="2400" dirty="0"/>
          </a:p>
        </p:txBody>
      </p:sp>
      <p:sp>
        <p:nvSpPr>
          <p:cNvPr id="8" name="Text 5"/>
          <p:cNvSpPr txBox="1"/>
          <p:nvPr/>
        </p:nvSpPr>
        <p:spPr>
          <a:xfrm>
            <a:off x="1371600" y="1783080"/>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Why Leave the Herd — the case for migrating</a:t>
            </a:r>
            <a:endParaRPr lang="en-US" sz="1700" dirty="0"/>
          </a:p>
        </p:txBody>
      </p:sp>
      <p:sp>
        <p:nvSpPr>
          <p:cNvPr id="9" name="Text 6"/>
          <p:cNvSpPr txBox="1"/>
          <p:nvPr/>
        </p:nvSpPr>
        <p:spPr>
          <a:xfrm>
            <a:off x="777240" y="2496312"/>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2</a:t>
            </a:r>
            <a:endParaRPr lang="en-US" sz="2400" dirty="0"/>
          </a:p>
        </p:txBody>
      </p:sp>
      <p:sp>
        <p:nvSpPr>
          <p:cNvPr id="10" name="Text 7"/>
          <p:cNvSpPr txBox="1"/>
          <p:nvPr/>
        </p:nvSpPr>
        <p:spPr>
          <a:xfrm>
            <a:off x="1371600" y="2496312"/>
            <a:ext cx="585216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A Field Guide to the Local Species — what concepts natively thrive</a:t>
            </a:r>
            <a:endParaRPr lang="en-US" sz="1700" dirty="0"/>
          </a:p>
        </p:txBody>
      </p:sp>
      <p:sp>
        <p:nvSpPr>
          <p:cNvPr id="11" name="Text 8"/>
          <p:cNvSpPr txBox="1"/>
          <p:nvPr/>
        </p:nvSpPr>
        <p:spPr>
          <a:xfrm>
            <a:off x="777240" y="3209544"/>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3</a:t>
            </a:r>
            <a:endParaRPr lang="en-US" sz="2400" dirty="0"/>
          </a:p>
        </p:txBody>
      </p:sp>
      <p:sp>
        <p:nvSpPr>
          <p:cNvPr id="12" name="Text 9"/>
          <p:cNvSpPr txBox="1"/>
          <p:nvPr/>
        </p:nvSpPr>
        <p:spPr>
          <a:xfrm>
            <a:off x="1371600" y="3209544"/>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Crossing the River — </a:t>
            </a:r>
            <a:r>
              <a:rPr lang="en-US" sz="1700">
                <a:solidFill>
                  <a:srgbClr val="2B2B2B"/>
                </a:solidFill>
                <a:latin typeface="Calibri" pitchFamily="34" charset="0"/>
                <a:ea typeface="Calibri" pitchFamily="34" charset="-122"/>
                <a:cs typeface="Calibri" pitchFamily="34" charset="-120"/>
              </a:rPr>
              <a:t>repository data, automation, validation</a:t>
            </a:r>
            <a:endParaRPr lang="en-US" sz="1700" dirty="0"/>
          </a:p>
        </p:txBody>
      </p:sp>
      <p:sp>
        <p:nvSpPr>
          <p:cNvPr id="13" name="Text 10"/>
          <p:cNvSpPr txBox="1"/>
          <p:nvPr/>
        </p:nvSpPr>
        <p:spPr>
          <a:xfrm>
            <a:off x="777240" y="3922776"/>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4</a:t>
            </a:r>
            <a:endParaRPr lang="en-US" sz="2400" dirty="0"/>
          </a:p>
        </p:txBody>
      </p:sp>
      <p:sp>
        <p:nvSpPr>
          <p:cNvPr id="14" name="Text 11"/>
          <p:cNvSpPr txBox="1"/>
          <p:nvPr/>
        </p:nvSpPr>
        <p:spPr>
          <a:xfrm>
            <a:off x="1371600" y="3922776"/>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Sprint Planning in Its Natural Habitat — Boards vs. Projects</a:t>
            </a:r>
            <a:endParaRPr lang="en-US" sz="1700" dirty="0"/>
          </a:p>
        </p:txBody>
      </p:sp>
      <p:sp>
        <p:nvSpPr>
          <p:cNvPr id="15" name="Text 12"/>
          <p:cNvSpPr txBox="1"/>
          <p:nvPr/>
        </p:nvSpPr>
        <p:spPr>
          <a:xfrm>
            <a:off x="777240" y="4636008"/>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5</a:t>
            </a:r>
            <a:endParaRPr lang="en-US" sz="2400" dirty="0"/>
          </a:p>
        </p:txBody>
      </p:sp>
      <p:sp>
        <p:nvSpPr>
          <p:cNvPr id="16" name="Text 13"/>
          <p:cNvSpPr txBox="1"/>
          <p:nvPr/>
        </p:nvSpPr>
        <p:spPr>
          <a:xfrm>
            <a:off x="1371600" y="4636008"/>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Preventing the Uprising — change management</a:t>
            </a:r>
            <a:endParaRPr lang="en-US" sz="1700" dirty="0"/>
          </a:p>
        </p:txBody>
      </p:sp>
      <p:sp>
        <p:nvSpPr>
          <p:cNvPr id="17" name="Text 14"/>
          <p:cNvSpPr txBox="1"/>
          <p:nvPr/>
        </p:nvSpPr>
        <p:spPr>
          <a:xfrm>
            <a:off x="777240" y="5349240"/>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6</a:t>
            </a:r>
            <a:endParaRPr lang="en-US" sz="2400" dirty="0"/>
          </a:p>
        </p:txBody>
      </p:sp>
      <p:sp>
        <p:nvSpPr>
          <p:cNvPr id="18" name="Text 15"/>
          <p:cNvSpPr txBox="1"/>
          <p:nvPr/>
        </p:nvSpPr>
        <p:spPr>
          <a:xfrm>
            <a:off x="1371600" y="5349240"/>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The Watering Hole Nobody Told to Move — the long tail</a:t>
            </a:r>
            <a:endParaRPr lang="en-US" sz="1700" dirty="0"/>
          </a:p>
        </p:txBody>
      </p:sp>
      <p:sp>
        <p:nvSpPr>
          <p:cNvPr id="19" name="Shape 16"/>
          <p:cNvSpPr/>
          <p:nvPr/>
        </p:nvSpPr>
        <p:spPr>
          <a:xfrm>
            <a:off x="7452360" y="1554480"/>
            <a:ext cx="4160520" cy="4434840"/>
          </a:xfrm>
          <a:prstGeom prst="roundRect">
            <a:avLst>
              <a:gd name="adj" fmla="val 2637"/>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0" name="Text 17"/>
          <p:cNvSpPr txBox="1"/>
          <p:nvPr/>
        </p:nvSpPr>
        <p:spPr>
          <a:xfrm>
            <a:off x="7726680" y="1737360"/>
            <a:ext cx="3657600" cy="502920"/>
          </a:xfrm>
          <a:prstGeom prst="rect">
            <a:avLst/>
          </a:prstGeom>
          <a:noFill/>
          <a:ln/>
        </p:spPr>
        <p:txBody>
          <a:bodyPr wrap="square" lIns="0" tIns="0" rIns="0" bIns="0" rtlCol="0" anchor="ctr"/>
          <a:lstStyle/>
          <a:p>
            <a:pPr marL="0" indent="0">
              <a:buNone/>
            </a:pPr>
            <a:r>
              <a:rPr lang="en-US" sz="1900" b="1" dirty="0">
                <a:solidFill>
                  <a:srgbClr val="F5F5F0"/>
                </a:solidFill>
                <a:latin typeface="Cambria" pitchFamily="34" charset="0"/>
                <a:ea typeface="Cambria" pitchFamily="34" charset="-122"/>
                <a:cs typeface="Cambria" pitchFamily="34" charset="-120"/>
              </a:rPr>
              <a:t>Trails We’re Not Hiking</a:t>
            </a:r>
            <a:endParaRPr lang="en-US" sz="1900" dirty="0"/>
          </a:p>
        </p:txBody>
      </p:sp>
      <p:sp>
        <p:nvSpPr>
          <p:cNvPr id="21" name="Text 18"/>
          <p:cNvSpPr txBox="1"/>
          <p:nvPr/>
        </p:nvSpPr>
        <p:spPr>
          <a:xfrm>
            <a:off x="7726680" y="2331720"/>
            <a:ext cx="3657600" cy="3520440"/>
          </a:xfrm>
          <a:prstGeom prst="rect">
            <a:avLst/>
          </a:prstGeom>
          <a:noFill/>
          <a:ln/>
        </p:spPr>
        <p:txBody>
          <a:bodyPr wrap="square" lIns="0" tIns="0" rIns="0" bIns="0" rtlCol="0" anchor="ctr"/>
          <a:lstStyle/>
          <a:p>
            <a:pPr>
              <a:lnSpc>
                <a:spcPct val="115000"/>
              </a:lnSpc>
              <a:buSzPct val="100000"/>
            </a:pPr>
            <a:r>
              <a:rPr lang="en-US" sz="1500" b="1" dirty="0">
                <a:solidFill>
                  <a:srgbClr val="F5F5F0"/>
                </a:solidFill>
                <a:latin typeface="Calibri" pitchFamily="34" charset="0"/>
                <a:ea typeface="Calibri" pitchFamily="34" charset="-122"/>
                <a:cs typeface="Calibri" pitchFamily="34" charset="-120"/>
              </a:rPr>
              <a:t>Non-goal: comparing GitHub with every competing platform.</a:t>
            </a:r>
          </a:p>
          <a:p>
            <a:pPr>
              <a:lnSpc>
                <a:spcPct val="115000"/>
              </a:lnSpc>
              <a:buSzPct val="100000"/>
            </a:pPr>
            <a:endParaRPr lang="en-US" sz="1500" b="1" i="1" dirty="0">
              <a:solidFill>
                <a:srgbClr val="F5F5F0"/>
              </a:solidFill>
              <a:latin typeface="Calibri" pitchFamily="34" charset="0"/>
              <a:ea typeface="Calibri" pitchFamily="34" charset="-122"/>
              <a:cs typeface="Calibri" pitchFamily="34" charset="-120"/>
            </a:endParaRPr>
          </a:p>
          <a:p>
            <a:pPr>
              <a:lnSpc>
                <a:spcPct val="115000"/>
              </a:lnSpc>
              <a:buSzPct val="100000"/>
            </a:pPr>
            <a:endParaRPr lang="en-US" sz="1500" b="1" i="1" dirty="0">
              <a:solidFill>
                <a:srgbClr val="F5F5F0"/>
              </a:solidFill>
              <a:latin typeface="Calibri" pitchFamily="34" charset="0"/>
              <a:ea typeface="Calibri" pitchFamily="34" charset="-122"/>
              <a:cs typeface="Calibri" pitchFamily="34" charset="-120"/>
            </a:endParaRPr>
          </a:p>
          <a:p>
            <a:pPr>
              <a:lnSpc>
                <a:spcPct val="115000"/>
              </a:lnSpc>
              <a:buSzPct val="100000"/>
            </a:pPr>
            <a:r>
              <a:rPr lang="en-US" sz="1500" i="1" dirty="0">
                <a:solidFill>
                  <a:srgbClr val="F5F5F0"/>
                </a:solidFill>
                <a:latin typeface="Calibri" pitchFamily="34" charset="0"/>
                <a:ea typeface="Calibri" pitchFamily="34" charset="-122"/>
                <a:cs typeface="Calibri" pitchFamily="34" charset="-120"/>
              </a:rPr>
              <a:t>Good news for fellow travelers: much of this trail works no matter which CI/CD platform you’re hiking toward.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1</a:t>
            </a:r>
            <a:endParaRPr lang="en-US" sz="1700" dirty="0"/>
          </a:p>
        </p:txBody>
      </p:sp>
      <p:pic>
        <p:nvPicPr>
          <p:cNvPr id="4" name="Image 0" descr="/home/claude/pptx-build/assets/icons/FaFeatherAlt-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Why Leave the Herd </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Across the enterprise, teams gather at the edge of a familiar ecosystem and prepare to move toward a repository that has learned to act on its own.</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Robo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Why Repository Location Matters</a:t>
            </a:r>
            <a:endParaRPr lang="en-US" sz="3200" dirty="0"/>
          </a:p>
        </p:txBody>
      </p:sp>
      <p:sp>
        <p:nvSpPr>
          <p:cNvPr id="6" name="Shape 3"/>
          <p:cNvSpPr/>
          <p:nvPr/>
        </p:nvSpPr>
        <p:spPr>
          <a:xfrm>
            <a:off x="548640" y="1645920"/>
            <a:ext cx="11064240" cy="2286000"/>
          </a:xfrm>
          <a:prstGeom prst="roundRect">
            <a:avLst>
              <a:gd name="adj" fmla="val 48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dirty="0"/>
          </a:p>
        </p:txBody>
      </p:sp>
      <p:sp>
        <p:nvSpPr>
          <p:cNvPr id="7" name="Text 4"/>
          <p:cNvSpPr txBox="1"/>
          <p:nvPr/>
        </p:nvSpPr>
        <p:spPr>
          <a:xfrm>
            <a:off x="914400" y="1828800"/>
            <a:ext cx="10332720" cy="2011680"/>
          </a:xfrm>
          <a:prstGeom prst="rect">
            <a:avLst/>
          </a:prstGeom>
          <a:noFill/>
          <a:ln/>
        </p:spPr>
        <p:txBody>
          <a:bodyPr wrap="square" lIns="0" tIns="0" rIns="0" bIns="0" rtlCol="0" anchor="ctr"/>
          <a:lstStyle/>
          <a:p>
            <a:pPr marL="0" indent="0">
              <a:lnSpc>
                <a:spcPct val="100000"/>
              </a:lnSpc>
              <a:buNone/>
            </a:pPr>
            <a:r>
              <a:rPr lang="en-US" sz="2000" dirty="0">
                <a:solidFill>
                  <a:srgbClr val="2B2B2B"/>
                </a:solidFill>
                <a:latin typeface="Calibri" pitchFamily="34" charset="0"/>
                <a:ea typeface="Calibri" pitchFamily="34" charset="-122"/>
                <a:cs typeface="Calibri" pitchFamily="34" charset="-120"/>
              </a:rPr>
              <a:t>Every dollar of Copilot investment </a:t>
            </a:r>
            <a:r>
              <a:rPr lang="en-US" sz="2000" b="1" dirty="0">
                <a:solidFill>
                  <a:srgbClr val="2B2B2B"/>
                </a:solidFill>
                <a:latin typeface="Calibri" pitchFamily="34" charset="0"/>
                <a:ea typeface="Calibri" pitchFamily="34" charset="-122"/>
                <a:cs typeface="Calibri" pitchFamily="34" charset="-120"/>
              </a:rPr>
              <a:t>lands on GitHub first. </a:t>
            </a:r>
          </a:p>
          <a:p>
            <a:pPr marL="0" indent="0">
              <a:lnSpc>
                <a:spcPct val="100000"/>
              </a:lnSpc>
              <a:buNone/>
            </a:pPr>
            <a:endParaRPr lang="en-US" sz="2000" b="1" dirty="0">
              <a:solidFill>
                <a:srgbClr val="2B2B2B"/>
              </a:solidFill>
              <a:latin typeface="Calibri" pitchFamily="34" charset="0"/>
              <a:ea typeface="Calibri" pitchFamily="34" charset="-122"/>
              <a:cs typeface="Calibri" pitchFamily="34" charset="-120"/>
            </a:endParaRPr>
          </a:p>
          <a:p>
            <a:pPr marL="0" indent="0">
              <a:lnSpc>
                <a:spcPct val="100000"/>
              </a:lnSpc>
              <a:buNone/>
            </a:pPr>
            <a:r>
              <a:rPr lang="en-US" sz="2000" dirty="0">
                <a:solidFill>
                  <a:srgbClr val="2B2B2B"/>
                </a:solidFill>
                <a:latin typeface="Calibri" pitchFamily="34" charset="0"/>
                <a:ea typeface="Calibri" pitchFamily="34" charset="-122"/>
                <a:cs typeface="Calibri" pitchFamily="34" charset="-120"/>
              </a:rPr>
              <a:t>Azure DevOps continues to gain AI capabilities, but repository location still determines which workflows are available natively.</a:t>
            </a:r>
            <a:endParaRPr lang="en-US" sz="2000" dirty="0"/>
          </a:p>
        </p:txBody>
      </p:sp>
      <p:sp>
        <p:nvSpPr>
          <p:cNvPr id="8" name="Shape 5"/>
          <p:cNvSpPr/>
          <p:nvPr/>
        </p:nvSpPr>
        <p:spPr>
          <a:xfrm>
            <a:off x="548640" y="4114800"/>
            <a:ext cx="5349240" cy="1508760"/>
          </a:xfrm>
          <a:prstGeom prst="roundRect">
            <a:avLst>
              <a:gd name="adj" fmla="val 7273"/>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251960"/>
            <a:ext cx="4800600" cy="502920"/>
          </a:xfrm>
          <a:prstGeom prst="rect">
            <a:avLst/>
          </a:prstGeom>
          <a:noFill/>
          <a:ln/>
        </p:spPr>
        <p:txBody>
          <a:bodyPr wrap="square" lIns="0" tIns="0" rIns="0" bIns="0" rtlCol="0" anchor="ctr"/>
          <a:lstStyle/>
          <a:p>
            <a:pPr marL="0" indent="0">
              <a:buNone/>
            </a:pPr>
            <a:r>
              <a:rPr lang="en-US" sz="1900" b="1" dirty="0">
                <a:solidFill>
                  <a:srgbClr val="F5F5F0"/>
                </a:solidFill>
                <a:latin typeface="Cambria" pitchFamily="34" charset="0"/>
                <a:ea typeface="Cambria" pitchFamily="34" charset="-122"/>
                <a:cs typeface="Cambria" pitchFamily="34" charset="-120"/>
              </a:rPr>
              <a:t>GitHub</a:t>
            </a:r>
            <a:endParaRPr lang="en-US" sz="1900" dirty="0"/>
          </a:p>
        </p:txBody>
      </p:sp>
      <p:sp>
        <p:nvSpPr>
          <p:cNvPr id="10" name="Text 7"/>
          <p:cNvSpPr txBox="1"/>
          <p:nvPr/>
        </p:nvSpPr>
        <p:spPr>
          <a:xfrm>
            <a:off x="822960" y="4773168"/>
            <a:ext cx="4800600" cy="777240"/>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Full agentic Copilot suite, shipping now</a:t>
            </a:r>
            <a:endParaRPr lang="en-US" sz="1600" dirty="0"/>
          </a:p>
        </p:txBody>
      </p:sp>
      <p:sp>
        <p:nvSpPr>
          <p:cNvPr id="11" name="Shape 8"/>
          <p:cNvSpPr/>
          <p:nvPr/>
        </p:nvSpPr>
        <p:spPr>
          <a:xfrm>
            <a:off x="6172200" y="4114800"/>
            <a:ext cx="5349240" cy="1508760"/>
          </a:xfrm>
          <a:prstGeom prst="roundRect">
            <a:avLst>
              <a:gd name="adj" fmla="val 727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9"/>
          <p:cNvSpPr txBox="1"/>
          <p:nvPr/>
        </p:nvSpPr>
        <p:spPr>
          <a:xfrm>
            <a:off x="6446520" y="4251960"/>
            <a:ext cx="4800600" cy="502920"/>
          </a:xfrm>
          <a:prstGeom prst="rect">
            <a:avLst/>
          </a:prstGeom>
          <a:noFill/>
          <a:ln/>
        </p:spPr>
        <p:txBody>
          <a:bodyPr wrap="square" lIns="0" tIns="0" rIns="0" bIns="0" rtlCol="0" anchor="ctr"/>
          <a:lstStyle/>
          <a:p>
            <a:pPr marL="0" indent="0">
              <a:buNone/>
            </a:pPr>
            <a:r>
              <a:rPr lang="en-US" sz="1900" b="1" dirty="0">
                <a:solidFill>
                  <a:srgbClr val="1F3D2C"/>
                </a:solidFill>
                <a:latin typeface="Cambria" pitchFamily="34" charset="0"/>
                <a:ea typeface="Cambria" pitchFamily="34" charset="-122"/>
                <a:cs typeface="Cambria" pitchFamily="34" charset="-120"/>
              </a:rPr>
              <a:t>Azure DevOps</a:t>
            </a:r>
            <a:endParaRPr lang="en-US" sz="1900" dirty="0"/>
          </a:p>
        </p:txBody>
      </p:sp>
      <p:sp>
        <p:nvSpPr>
          <p:cNvPr id="13" name="Text 10"/>
          <p:cNvSpPr txBox="1"/>
          <p:nvPr/>
        </p:nvSpPr>
        <p:spPr>
          <a:xfrm>
            <a:off x="6446520" y="4773168"/>
            <a:ext cx="4800600" cy="7772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AI features arriving, roadmap still catching up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sp>
        <p:nvSpPr>
          <p:cNvPr id="4" name="Text 1"/>
          <p:cNvSpPr txBox="1"/>
          <p:nvPr/>
        </p:nvSpPr>
        <p:spPr>
          <a:xfrm>
            <a:off x="1234440" y="420624"/>
            <a:ext cx="9875520" cy="320040"/>
          </a:xfrm>
          <a:prstGeom prst="rect">
            <a:avLst/>
          </a:prstGeom>
          <a:noFill/>
          <a:ln/>
        </p:spPr>
        <p:txBody>
          <a:bodyPr wrap="square" lIns="0" tIns="0" rIns="0" bIns="0" rtlCol="0" anchor="ctr"/>
          <a:lstStyle/>
          <a:p>
            <a:r>
              <a:rPr lang="en-US" sz="1500" b="1" kern="0" spc="20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31520"/>
            <a:ext cx="10469880" cy="566928"/>
          </a:xfrm>
          <a:prstGeom prst="rect">
            <a:avLst/>
          </a:prstGeom>
          <a:noFill/>
          <a:ln/>
        </p:spPr>
        <p:txBody>
          <a:bodyPr wrap="square" lIns="0" tIns="0" rIns="0" bIns="0" rtlCol="0" anchor="ctr"/>
          <a:lstStyle/>
          <a:p>
            <a:r>
              <a:rPr lang="en-US" sz="3200" b="1" dirty="0">
                <a:solidFill>
                  <a:srgbClr val="1F3D2C"/>
                </a:solidFill>
                <a:latin typeface="Cambria" pitchFamily="34" charset="0"/>
                <a:ea typeface="Cambria" pitchFamily="34" charset="-122"/>
                <a:cs typeface="Cambria" pitchFamily="34" charset="-120"/>
              </a:rPr>
              <a:t>Why Repository Location Matters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807384260"/>
              </p:ext>
            </p:extLst>
          </p:nvPr>
        </p:nvGraphicFramePr>
        <p:xfrm>
          <a:off x="548640" y="1417320"/>
          <a:ext cx="11064240" cy="4389120"/>
        </p:xfrm>
        <a:graphic>
          <a:graphicData uri="http://schemas.openxmlformats.org/drawingml/2006/table">
            <a:tbl>
              <a:tblPr/>
              <a:tblGrid>
                <a:gridCol w="233172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487680">
                <a:tc>
                  <a:txBody>
                    <a:bodyPr/>
                    <a:lstStyle/>
                    <a:p>
                      <a:pPr marL="0" indent="0">
                        <a:lnSpc>
                          <a:spcPct val="92000"/>
                        </a:lnSpc>
                        <a:buNone/>
                      </a:pPr>
                      <a:r>
                        <a:rPr lang="en-US" sz="1400" b="1">
                          <a:solidFill>
                            <a:srgbClr val="F5F5F0"/>
                          </a:solidFill>
                          <a:latin typeface="Calibri"/>
                        </a:rPr>
                        <a:t>Capability</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lnSpc>
                          <a:spcPct val="92000"/>
                        </a:lnSpc>
                        <a:buNone/>
                      </a:pPr>
                      <a:r>
                        <a:rPr lang="en-US" sz="1400" b="1" dirty="0">
                          <a:solidFill>
                            <a:srgbClr val="F5F5F0"/>
                          </a:solidFill>
                          <a:latin typeface="Calibri"/>
                        </a:rPr>
                        <a:t>GitHub </a:t>
                      </a:r>
                      <a:endParaRPr lang="en-US" sz="1400" dirty="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lnSpc>
                          <a:spcPct val="92000"/>
                        </a:lnSpc>
                        <a:buNone/>
                      </a:pPr>
                      <a:r>
                        <a:rPr lang="en-US" sz="1400" b="1" dirty="0">
                          <a:solidFill>
                            <a:srgbClr val="F5F5F0"/>
                          </a:solidFill>
                          <a:latin typeface="Calibri"/>
                        </a:rPr>
                        <a:t>Azure DevOps</a:t>
                      </a:r>
                      <a:endParaRPr lang="en-US" sz="1400" dirty="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extLst>
                  <a:ext uri="{0D108BD9-81ED-4DB2-BD59-A6C34878D82A}">
                    <a16:rowId xmlns:a16="http://schemas.microsoft.com/office/drawing/2014/main" val="10000"/>
                  </a:ext>
                </a:extLst>
              </a:tr>
              <a:tr h="487680">
                <a:tc>
                  <a:txBody>
                    <a:bodyPr/>
                    <a:lstStyle/>
                    <a:p>
                      <a:pPr marL="0" indent="0">
                        <a:lnSpc>
                          <a:spcPct val="92000"/>
                        </a:lnSpc>
                        <a:buNone/>
                      </a:pPr>
                      <a:r>
                        <a:rPr lang="en-US" sz="1400" b="1">
                          <a:solidFill>
                            <a:srgbClr val="1F3D2C"/>
                          </a:solidFill>
                          <a:latin typeface="Cambria"/>
                        </a:rPr>
                        <a:t>Repository-aware chat</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Native workspace and repository context</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Local repo context; Azure DevOps service context through MCP</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487680">
                <a:tc>
                  <a:txBody>
                    <a:bodyPr/>
                    <a:lstStyle/>
                    <a:p>
                      <a:pPr marL="0" indent="0">
                        <a:lnSpc>
                          <a:spcPct val="92000"/>
                        </a:lnSpc>
                        <a:buNone/>
                      </a:pPr>
                      <a:r>
                        <a:rPr lang="en-US" sz="1400" b="1">
                          <a:solidFill>
                            <a:srgbClr val="1F3D2C"/>
                          </a:solidFill>
                          <a:latin typeface="Cambria"/>
                        </a:rPr>
                        <a:t>Autonomous coding agents</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lang="en-US" sz="1400" b="0">
                          <a:solidFill>
                            <a:srgbClr val="2B2B2B"/>
                          </a:solidFill>
                          <a:latin typeface="Calibri"/>
                        </a:rPr>
                        <a:t>Cloud agent changes code and opens pull requests</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lang="en-US" sz="1400" b="0">
                          <a:solidFill>
                            <a:srgbClr val="2B2B2B"/>
                          </a:solidFill>
                          <a:latin typeface="Calibri"/>
                        </a:rPr>
                        <a:t>Azure Boards can trigger it, but output must be GitHub-hosted</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7680">
                <a:tc>
                  <a:txBody>
                    <a:bodyPr/>
                    <a:lstStyle/>
                    <a:p>
                      <a:pPr marL="0" indent="0">
                        <a:lnSpc>
                          <a:spcPct val="92000"/>
                        </a:lnSpc>
                        <a:buNone/>
                      </a:pPr>
                      <a:r>
                        <a:rPr lang="en-US" sz="1400" b="1">
                          <a:solidFill>
                            <a:srgbClr val="1F3D2C"/>
                          </a:solidFill>
                          <a:latin typeface="Cambria"/>
                        </a:rPr>
                        <a:t>Security remediation</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Autofix GA; agentic Autofix in public preview</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Autofix in limited preview through GitHub Code Security</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487680">
                <a:tc>
                  <a:txBody>
                    <a:bodyPr/>
                    <a:lstStyle/>
                    <a:p>
                      <a:pPr marL="0" indent="0">
                        <a:lnSpc>
                          <a:spcPct val="92000"/>
                        </a:lnSpc>
                        <a:buNone/>
                      </a:pPr>
                      <a:r>
                        <a:rPr lang="en-US" sz="1400" b="1">
                          <a:solidFill>
                            <a:srgbClr val="1F3D2C"/>
                          </a:solidFill>
                          <a:latin typeface="Cambria"/>
                        </a:rPr>
                        <a:t>Agentic code review</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lang="en-US" sz="1400" b="0">
                          <a:solidFill>
                            <a:srgbClr val="2B2B2B"/>
                          </a:solidFill>
                          <a:latin typeface="Calibri"/>
                        </a:rPr>
                        <a:t>Agentic Copilot code review is GA</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lang="en-US" sz="1400" b="0">
                          <a:solidFill>
                            <a:srgbClr val="2B2B2B"/>
                          </a:solidFill>
                          <a:latin typeface="Calibri"/>
                        </a:rPr>
                        <a:t>Copilot Code Review for Azure Repos is in public preview</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7680">
                <a:tc>
                  <a:txBody>
                    <a:bodyPr/>
                    <a:lstStyle/>
                    <a:p>
                      <a:pPr marL="0" indent="0">
                        <a:lnSpc>
                          <a:spcPct val="92000"/>
                        </a:lnSpc>
                        <a:buNone/>
                      </a:pPr>
                      <a:r>
                        <a:rPr lang="en-US" sz="1400" b="1">
                          <a:solidFill>
                            <a:srgbClr val="1F3D2C"/>
                          </a:solidFill>
                          <a:latin typeface="Cambria"/>
                        </a:rPr>
                        <a:t>Multi-agent orchestration</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Central hub; parallel Copilot, Claude, and Codex sessions</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No native equivalent; external agents can connect through MCP</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r h="487680">
                <a:tc>
                  <a:txBody>
                    <a:bodyPr/>
                    <a:lstStyle/>
                    <a:p>
                      <a:pPr marL="0" indent="0">
                        <a:lnSpc>
                          <a:spcPct val="92000"/>
                        </a:lnSpc>
                        <a:buNone/>
                      </a:pPr>
                      <a:r>
                        <a:rPr sz="1400" b="1">
                          <a:solidFill>
                            <a:srgbClr val="1F3D2C"/>
                          </a:solidFill>
                          <a:latin typeface="Cambria"/>
                        </a:rPr>
                        <a:t>Azure DevOps context through MCP</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sz="1400" b="0">
                          <a:solidFill>
                            <a:srgbClr val="2B2B2B"/>
                          </a:solidFill>
                          <a:latin typeface="Calibri"/>
                        </a:rPr>
                        <a:t>GitHub agents can consume Azure DevOps MCP context</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sz="1400" b="0">
                          <a:solidFill>
                            <a:srgbClr val="2B2B2B"/>
                          </a:solidFill>
                          <a:latin typeface="Calibri"/>
                        </a:rPr>
                        <a:t>Remote MCP Server is GA; hosted and free*</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940428834"/>
                  </a:ext>
                </a:extLst>
              </a:tr>
              <a:tr h="487680">
                <a:tc>
                  <a:txBody>
                    <a:bodyPr/>
                    <a:lstStyle/>
                    <a:p>
                      <a:pPr marL="0" indent="0">
                        <a:lnSpc>
                          <a:spcPct val="92000"/>
                        </a:lnSpc>
                        <a:buNone/>
                      </a:pPr>
                      <a:r>
                        <a:rPr sz="1400" b="1">
                          <a:solidFill>
                            <a:srgbClr val="1F3D2C"/>
                          </a:solidFill>
                          <a:latin typeface="Cambria"/>
                        </a:rPr>
                        <a:t>Repository hosting requirement</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sz="1400" b="0">
                          <a:solidFill>
                            <a:srgbClr val="2B2B2B"/>
                          </a:solidFill>
                          <a:latin typeface="Calibri"/>
                        </a:rPr>
                        <a:t>Copilot cloud agent requires a GitHub-hosted repository</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sz="1400" b="0">
                          <a:solidFill>
                            <a:srgbClr val="2B2B2B"/>
                          </a:solidFill>
                          <a:latin typeface="Calibri"/>
                        </a:rPr>
                        <a:t>Review, Autofix, and MCP support Azure Repos; cloud agent does not</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55000397"/>
                  </a:ext>
                </a:extLst>
              </a:tr>
              <a:tr h="487680">
                <a:tc>
                  <a:txBody>
                    <a:bodyPr/>
                    <a:lstStyle/>
                    <a:p>
                      <a:pPr marL="0" indent="0">
                        <a:lnSpc>
                          <a:spcPct val="92000"/>
                        </a:lnSpc>
                        <a:buNone/>
                      </a:pPr>
                      <a:r>
                        <a:rPr sz="1400" b="1">
                          <a:solidFill>
                            <a:srgbClr val="1F3D2C"/>
                          </a:solidFill>
                          <a:latin typeface="Cambria"/>
                        </a:rPr>
                        <a:t>Licensing and preview status</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sz="1400" b="0">
                          <a:solidFill>
                            <a:srgbClr val="2B2B2B"/>
                          </a:solidFill>
                          <a:latin typeface="Calibri"/>
                        </a:rPr>
                        <a:t>Paid Copilot for agents/review; Code Security where required</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sz="1400" b="0" dirty="0">
                          <a:solidFill>
                            <a:srgbClr val="2B2B2B"/>
                          </a:solidFill>
                          <a:latin typeface="Calibri"/>
                        </a:rPr>
                        <a:t>MCP GA; review preview; </a:t>
                      </a:r>
                      <a:r>
                        <a:rPr sz="1400" b="0" dirty="0" err="1">
                          <a:solidFill>
                            <a:srgbClr val="2B2B2B"/>
                          </a:solidFill>
                          <a:latin typeface="Calibri"/>
                        </a:rPr>
                        <a:t>Autofix</a:t>
                      </a:r>
                      <a:r>
                        <a:rPr sz="1400" b="0" dirty="0">
                          <a:solidFill>
                            <a:srgbClr val="2B2B2B"/>
                          </a:solidFill>
                          <a:latin typeface="Calibri"/>
                        </a:rPr>
                        <a:t> limited preview + Code Security</a:t>
                      </a:r>
                      <a:endParaRPr lang="en-US" sz="1400" dirty="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456293908"/>
                  </a:ext>
                </a:extLst>
              </a:tr>
            </a:tbl>
          </a:graphicData>
        </a:graphic>
      </p:graphicFrame>
      <p:sp>
        <p:nvSpPr>
          <p:cNvPr id="6" name="Shape 3"/>
          <p:cNvSpPr/>
          <p:nvPr/>
        </p:nvSpPr>
        <p:spPr>
          <a:xfrm>
            <a:off x="548640" y="5943600"/>
            <a:ext cx="11064240" cy="640080"/>
          </a:xfrm>
          <a:prstGeom prst="roundRect">
            <a:avLst>
              <a:gd name="adj" fmla="val 12632"/>
            </a:avLst>
          </a:prstGeom>
          <a:solidFill>
            <a:srgbClr val="F7F6F2"/>
          </a:solidFill>
          <a:ln w="12700">
            <a:noFill/>
            <a:prstDash val="solid"/>
          </a:ln>
          <a:effectLst>
            <a:outerShdw blurRad="76200" dist="25400" dir="5400000" algn="bl" rotWithShape="0">
              <a:srgbClr val="000000">
                <a:alpha val="12000"/>
              </a:srgbClr>
            </a:outerShdw>
          </a:effectLst>
        </p:spPr>
        <p:txBody>
          <a:bodyPr wrap="square" lIns="256032" tIns="54864" rIns="256032" bIns="54864" anchor="ctr"/>
          <a:lstStyle/>
          <a:p>
            <a:pPr algn="l"/>
            <a:r>
              <a:rPr sz="1050" b="1" spc="120">
                <a:solidFill>
                  <a:srgbClr val="C1440E"/>
                </a:solidFill>
                <a:latin typeface="Calibri"/>
              </a:rPr>
              <a:t>VERIFY </a:t>
            </a:r>
            <a:r>
              <a:rPr sz="1500" b="0">
                <a:solidFill>
                  <a:srgbClr val="2B2B2B"/>
                </a:solidFill>
                <a:latin typeface="Calibri"/>
              </a:rPr>
              <a:t>Capability status, licensing and repository requirements change quickly — verify against the target tenant before planning around any single feature.</a:t>
            </a:r>
          </a:p>
        </p:txBody>
      </p:sp>
      <p:pic>
        <p:nvPicPr>
          <p:cNvPr id="12" name="Image 0" descr="/home/claude/pptx-build/assets/icons/FaRobot-FFFFFF-200.png">
            <a:extLst>
              <a:ext uri="{FF2B5EF4-FFF2-40B4-BE49-F238E27FC236}">
                <a16:creationId xmlns:a16="http://schemas.microsoft.com/office/drawing/2014/main" id="{C7D30FB2-0922-A6D6-BCA5-6BA66AED0F45}"/>
              </a:ext>
            </a:extLst>
          </p:cNvPr>
          <p:cNvPicPr>
            <a:picLocks noChangeAspect="1"/>
          </p:cNvPicPr>
          <p:nvPr/>
        </p:nvPicPr>
        <p:blipFill>
          <a:blip r:embed="rId3"/>
          <a:stretch>
            <a:fillRect/>
          </a:stretch>
        </p:blipFill>
        <p:spPr>
          <a:xfrm>
            <a:off x="685800" y="594360"/>
            <a:ext cx="292608" cy="2926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MapSign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MCP Changed the Boundary, Not the Decision</a:t>
            </a:r>
            <a:endParaRPr lang="en-US" sz="3200" dirty="0"/>
          </a:p>
        </p:txBody>
      </p:sp>
      <p:sp>
        <p:nvSpPr>
          <p:cNvPr id="6" name="Shape 3"/>
          <p:cNvSpPr/>
          <p:nvPr/>
        </p:nvSpPr>
        <p:spPr>
          <a:xfrm>
            <a:off x="822960" y="5504688"/>
            <a:ext cx="10561320" cy="0"/>
          </a:xfrm>
          <a:prstGeom prst="line">
            <a:avLst/>
          </a:prstGeom>
          <a:noFill/>
          <a:ln w="19050">
            <a:solidFill>
              <a:srgbClr val="DDD8CC"/>
            </a:solidFill>
            <a:prstDash val="solid"/>
          </a:ln>
        </p:spPr>
        <p:txBody>
          <a:bodyPr/>
          <a:lstStyle/>
          <a:p>
            <a:endParaRPr lang="en-US"/>
          </a:p>
        </p:txBody>
      </p:sp>
      <p:sp>
        <p:nvSpPr>
          <p:cNvPr id="22" name="Text 19"/>
          <p:cNvSpPr txBox="1"/>
          <p:nvPr/>
        </p:nvSpPr>
        <p:spPr>
          <a:xfrm>
            <a:off x="822960" y="1325880"/>
            <a:ext cx="10561320" cy="566928"/>
          </a:xfrm>
          <a:prstGeom prst="rect">
            <a:avLst/>
          </a:prstGeom>
          <a:noFill/>
          <a:ln/>
        </p:spPr>
        <p:txBody>
          <a:bodyPr wrap="square" lIns="0" tIns="0" rIns="0" bIns="0" rtlCol="0" anchor="ctr"/>
          <a:lstStyle/>
          <a:p>
            <a:pPr marL="0" indent="0" algn="ctr">
              <a:buNone/>
            </a:pPr>
            <a:r>
              <a:rPr lang="en-US" sz="1800" i="0" dirty="0">
                <a:solidFill>
                  <a:srgbClr val="1F3D2C"/>
                </a:solidFill>
              </a:rPr>
              <a:t>MCP reduces the need for custom point-to-point integrations, but repository-native development and governance capabilities still depend on where the code resides.</a:t>
            </a:r>
            <a:endParaRPr lang="en-US" sz="1900" dirty="0"/>
          </a:p>
        </p:txBody>
      </p:sp>
      <p:sp>
        <p:nvSpPr>
          <p:cNvPr id="23" name="Shape 20"/>
          <p:cNvSpPr/>
          <p:nvPr/>
        </p:nvSpPr>
        <p:spPr>
          <a:xfrm>
            <a:off x="548640" y="2103120"/>
            <a:ext cx="5440680" cy="3200400"/>
          </a:xfrm>
          <a:prstGeom prst="roundRect">
            <a:avLst>
              <a:gd name="adj" fmla="val 4615"/>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4" name="Text 21"/>
          <p:cNvSpPr txBox="1"/>
          <p:nvPr/>
        </p:nvSpPr>
        <p:spPr>
          <a:xfrm>
            <a:off x="822960" y="2313432"/>
            <a:ext cx="4892040" cy="384048"/>
          </a:xfrm>
          <a:prstGeom prst="rect">
            <a:avLst/>
          </a:prstGeom>
          <a:noFill/>
          <a:ln/>
        </p:spPr>
        <p:txBody>
          <a:bodyPr wrap="square" lIns="0" tIns="0" rIns="0" bIns="0" rtlCol="0" anchor="ctr"/>
          <a:lstStyle/>
          <a:p>
            <a:pPr marL="0" indent="0">
              <a:buNone/>
            </a:pPr>
            <a:r>
              <a:rPr lang="en-US" sz="2000" b="1">
                <a:solidFill>
                  <a:srgbClr val="1F3D2C"/>
                </a:solidFill>
                <a:latin typeface="Cambria"/>
              </a:rPr>
              <a:t>What MCP changes</a:t>
            </a:r>
            <a:endParaRPr lang="en-US" sz="1600" dirty="0"/>
          </a:p>
        </p:txBody>
      </p:sp>
      <p:sp>
        <p:nvSpPr>
          <p:cNvPr id="25" name="Text 22"/>
          <p:cNvSpPr txBox="1"/>
          <p:nvPr/>
        </p:nvSpPr>
        <p:spPr>
          <a:xfrm>
            <a:off x="822960" y="2816352"/>
            <a:ext cx="4892040" cy="2148840"/>
          </a:xfrm>
          <a:prstGeom prst="rect">
            <a:avLst/>
          </a:prstGeom>
          <a:noFill/>
          <a:ln/>
        </p:spPr>
        <p:txBody>
          <a:bodyPr wrap="square" lIns="0" tIns="0" rIns="0" bIns="0" rtlCol="0" anchor="t"/>
          <a:lstStyle/>
          <a:p>
            <a:pPr marL="342900" indent="-342900">
              <a:lnSpc>
                <a:spcPct val="108000"/>
              </a:lnSpc>
              <a:spcAft>
                <a:spcPts val="1000"/>
              </a:spcAft>
              <a:buSzPct val="100000"/>
            </a:pPr>
            <a:r>
              <a:rPr lang="en-US" sz="1700" dirty="0">
                <a:solidFill>
                  <a:srgbClr val="2B2B2B"/>
                </a:solidFill>
                <a:latin typeface="Calibri"/>
              </a:rPr>
              <a:t>•  Agents can reach more enterprise systems.</a:t>
            </a:r>
            <a:endParaRPr lang="en-US" sz="1350" dirty="0"/>
          </a:p>
          <a:p>
            <a:pPr>
              <a:lnSpc>
                <a:spcPct val="108000"/>
              </a:lnSpc>
              <a:spcAft>
                <a:spcPts val="1000"/>
              </a:spcAft>
            </a:pPr>
            <a:r>
              <a:rPr lang="en-US" sz="1700" dirty="0">
                <a:solidFill>
                  <a:srgbClr val="2B2B2B"/>
                </a:solidFill>
                <a:latin typeface="Calibri"/>
              </a:rPr>
              <a:t>•  Cross-tool workflows require less bespoke integration.</a:t>
            </a:r>
          </a:p>
          <a:p>
            <a:pPr>
              <a:lnSpc>
                <a:spcPct val="108000"/>
              </a:lnSpc>
              <a:spcAft>
                <a:spcPts val="1000"/>
              </a:spcAft>
            </a:pPr>
            <a:r>
              <a:rPr lang="en-US" sz="1700" dirty="0">
                <a:solidFill>
                  <a:srgbClr val="2B2B2B"/>
                </a:solidFill>
                <a:latin typeface="Calibri"/>
              </a:rPr>
              <a:t>•  Platform boundaries are more permeable.</a:t>
            </a:r>
          </a:p>
        </p:txBody>
      </p:sp>
      <p:sp>
        <p:nvSpPr>
          <p:cNvPr id="26" name="Shape 23"/>
          <p:cNvSpPr/>
          <p:nvPr/>
        </p:nvSpPr>
        <p:spPr>
          <a:xfrm>
            <a:off x="6199632" y="2103120"/>
            <a:ext cx="5440680" cy="3200400"/>
          </a:xfrm>
          <a:prstGeom prst="roundRect">
            <a:avLst>
              <a:gd name="adj" fmla="val 4615"/>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7" name="Text 24"/>
          <p:cNvSpPr txBox="1"/>
          <p:nvPr/>
        </p:nvSpPr>
        <p:spPr>
          <a:xfrm>
            <a:off x="6473952" y="2313432"/>
            <a:ext cx="4892040" cy="384048"/>
          </a:xfrm>
          <a:prstGeom prst="rect">
            <a:avLst/>
          </a:prstGeom>
          <a:noFill/>
          <a:ln/>
        </p:spPr>
        <p:txBody>
          <a:bodyPr wrap="square" lIns="0" tIns="0" rIns="0" bIns="0" rtlCol="0" anchor="ctr"/>
          <a:lstStyle/>
          <a:p>
            <a:pPr marL="0" indent="0">
              <a:buNone/>
            </a:pPr>
            <a:r>
              <a:rPr lang="en-US" sz="2000" b="1">
                <a:solidFill>
                  <a:srgbClr val="F5F5F0"/>
                </a:solidFill>
                <a:latin typeface="Cambria"/>
              </a:rPr>
              <a:t>What MCP does not change</a:t>
            </a:r>
            <a:endParaRPr lang="en-US" sz="1600" dirty="0"/>
          </a:p>
        </p:txBody>
      </p:sp>
      <p:sp>
        <p:nvSpPr>
          <p:cNvPr id="28" name="Text 25"/>
          <p:cNvSpPr txBox="1"/>
          <p:nvPr/>
        </p:nvSpPr>
        <p:spPr>
          <a:xfrm>
            <a:off x="6473952" y="2816352"/>
            <a:ext cx="4892040" cy="2148840"/>
          </a:xfrm>
          <a:prstGeom prst="rect">
            <a:avLst/>
          </a:prstGeom>
          <a:noFill/>
          <a:ln/>
        </p:spPr>
        <p:txBody>
          <a:bodyPr wrap="square" lIns="0" tIns="0" rIns="0" bIns="0" rtlCol="0" anchor="t"/>
          <a:lstStyle/>
          <a:p>
            <a:pPr marL="0" indent="0">
              <a:lnSpc>
                <a:spcPct val="108000"/>
              </a:lnSpc>
              <a:spcAft>
                <a:spcPts val="600"/>
              </a:spcAft>
              <a:buNone/>
            </a:pPr>
            <a:r>
              <a:rPr lang="en-US" sz="1600" dirty="0">
                <a:solidFill>
                  <a:srgbClr val="F5F5F0"/>
                </a:solidFill>
                <a:latin typeface="Calibri"/>
              </a:rPr>
              <a:t>•  Where pull-request automation runs.</a:t>
            </a:r>
            <a:endParaRPr lang="en-US" sz="1300" dirty="0"/>
          </a:p>
          <a:p>
            <a:pPr>
              <a:lnSpc>
                <a:spcPct val="108000"/>
              </a:lnSpc>
              <a:spcAft>
                <a:spcPts val="600"/>
              </a:spcAft>
            </a:pPr>
            <a:r>
              <a:rPr lang="en-US" sz="1600" dirty="0">
                <a:solidFill>
                  <a:srgbClr val="F5F5F0"/>
                </a:solidFill>
                <a:latin typeface="Calibri"/>
              </a:rPr>
              <a:t>•  Where repository security analysis runs.</a:t>
            </a:r>
          </a:p>
          <a:p>
            <a:pPr>
              <a:lnSpc>
                <a:spcPct val="108000"/>
              </a:lnSpc>
              <a:spcAft>
                <a:spcPts val="600"/>
              </a:spcAft>
            </a:pPr>
            <a:r>
              <a:rPr lang="en-US" sz="1600" dirty="0">
                <a:solidFill>
                  <a:srgbClr val="F5F5F0"/>
                </a:solidFill>
                <a:latin typeface="Calibri"/>
              </a:rPr>
              <a:t>•  Which policies can be enforced natively.</a:t>
            </a:r>
          </a:p>
          <a:p>
            <a:pPr>
              <a:lnSpc>
                <a:spcPct val="108000"/>
              </a:lnSpc>
              <a:spcAft>
                <a:spcPts val="600"/>
              </a:spcAft>
            </a:pPr>
            <a:r>
              <a:rPr lang="en-US" sz="1600" dirty="0">
                <a:solidFill>
                  <a:srgbClr val="F5F5F0"/>
                </a:solidFill>
                <a:latin typeface="Calibri"/>
              </a:rPr>
              <a:t>•  Which platform owns repository governance.</a:t>
            </a:r>
          </a:p>
          <a:p>
            <a:pPr>
              <a:lnSpc>
                <a:spcPct val="108000"/>
              </a:lnSpc>
              <a:spcAft>
                <a:spcPts val="600"/>
              </a:spcAft>
            </a:pPr>
            <a:r>
              <a:rPr lang="en-US" sz="1600" dirty="0">
                <a:solidFill>
                  <a:srgbClr val="F5F5F0"/>
                </a:solidFill>
                <a:latin typeface="Calibri"/>
              </a:rPr>
              <a:t>•  Where code-centric agent workflows execute.</a:t>
            </a:r>
          </a:p>
        </p:txBody>
      </p:sp>
      <p:sp>
        <p:nvSpPr>
          <p:cNvPr id="31" name="Shape 15">
            <a:extLst>
              <a:ext uri="{FF2B5EF4-FFF2-40B4-BE49-F238E27FC236}">
                <a16:creationId xmlns:a16="http://schemas.microsoft.com/office/drawing/2014/main" id="{401AB940-2564-8BDF-3229-16D3A54BCA41}"/>
              </a:ext>
            </a:extLst>
          </p:cNvPr>
          <p:cNvSpPr/>
          <p:nvPr/>
        </p:nvSpPr>
        <p:spPr>
          <a:xfrm>
            <a:off x="548640" y="5756147"/>
            <a:ext cx="11064240" cy="868680"/>
          </a:xfrm>
          <a:prstGeom prst="roundRect">
            <a:avLst>
              <a:gd name="adj" fmla="val 12632"/>
            </a:avLst>
          </a:prstGeom>
          <a:solidFill>
            <a:srgbClr val="1F3D2C"/>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33" name="Text 16">
            <a:extLst>
              <a:ext uri="{FF2B5EF4-FFF2-40B4-BE49-F238E27FC236}">
                <a16:creationId xmlns:a16="http://schemas.microsoft.com/office/drawing/2014/main" id="{9A7AECBA-1DA9-B352-68CE-3A2D1E3E15FE}"/>
              </a:ext>
            </a:extLst>
          </p:cNvPr>
          <p:cNvSpPr txBox="1"/>
          <p:nvPr/>
        </p:nvSpPr>
        <p:spPr>
          <a:xfrm>
            <a:off x="548640" y="5756147"/>
            <a:ext cx="11064240" cy="868680"/>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TAKEAWAY </a:t>
            </a:r>
            <a:r>
              <a:rPr sz="1500" b="0">
                <a:solidFill>
                  <a:srgbClr val="F5F5F0"/>
                </a:solidFill>
                <a:latin typeface="Calibri"/>
              </a:rPr>
              <a:t>The platform decision did not disappear. It merely acquired more adapters.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User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Non-AI Reasons for GitHub</a:t>
            </a:r>
            <a:endParaRPr lang="en-US" sz="3200" dirty="0"/>
          </a:p>
        </p:txBody>
      </p:sp>
      <p:sp>
        <p:nvSpPr>
          <p:cNvPr id="6" name="Shape 3"/>
          <p:cNvSpPr/>
          <p:nvPr/>
        </p:nvSpPr>
        <p:spPr>
          <a:xfrm>
            <a:off x="548640" y="1600200"/>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822960" y="1746504"/>
            <a:ext cx="566928" cy="566928"/>
          </a:xfrm>
          <a:prstGeom prst="ellipse">
            <a:avLst/>
          </a:prstGeom>
          <a:solidFill>
            <a:srgbClr val="C1440E"/>
          </a:solidFill>
          <a:ln/>
        </p:spPr>
        <p:txBody>
          <a:bodyPr/>
          <a:lstStyle/>
          <a:p>
            <a:endParaRPr lang="en-US"/>
          </a:p>
        </p:txBody>
      </p:sp>
      <p:pic>
        <p:nvPicPr>
          <p:cNvPr id="8" name="Image 1" descr="/home/claude/pptx-build/assets/icons/FaUsers-FFFFFF-200.png"/>
          <p:cNvPicPr>
            <a:picLocks noChangeAspect="1"/>
          </p:cNvPicPr>
          <p:nvPr/>
        </p:nvPicPr>
        <p:blipFill>
          <a:blip r:embed="rId3"/>
          <a:stretch>
            <a:fillRect/>
          </a:stretch>
        </p:blipFill>
        <p:spPr>
          <a:xfrm>
            <a:off x="960120" y="1883664"/>
            <a:ext cx="292608" cy="292608"/>
          </a:xfrm>
          <a:prstGeom prst="rect">
            <a:avLst/>
          </a:prstGeom>
        </p:spPr>
      </p:pic>
      <p:sp>
        <p:nvSpPr>
          <p:cNvPr id="9" name="Text 5"/>
          <p:cNvSpPr txBox="1"/>
          <p:nvPr/>
        </p:nvSpPr>
        <p:spPr>
          <a:xfrm>
            <a:off x="1600200" y="1673352"/>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180M+ developers already on GitHub</a:t>
            </a:r>
            <a:endParaRPr lang="en-US" sz="1650" dirty="0"/>
          </a:p>
        </p:txBody>
      </p:sp>
      <p:sp>
        <p:nvSpPr>
          <p:cNvPr id="10" name="Text 6"/>
          <p:cNvSpPr txBox="1"/>
          <p:nvPr/>
        </p:nvSpPr>
        <p:spPr>
          <a:xfrm>
            <a:off x="5029200" y="1673352"/>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The ecosystem is already there.</a:t>
            </a:r>
            <a:endParaRPr lang="en-US" sz="1400" dirty="0"/>
          </a:p>
        </p:txBody>
      </p:sp>
      <p:sp>
        <p:nvSpPr>
          <p:cNvPr id="11" name="Shape 7"/>
          <p:cNvSpPr/>
          <p:nvPr/>
        </p:nvSpPr>
        <p:spPr>
          <a:xfrm>
            <a:off x="548640" y="2532888"/>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822960" y="2679192"/>
            <a:ext cx="566928" cy="566928"/>
          </a:xfrm>
          <a:prstGeom prst="ellipse">
            <a:avLst/>
          </a:prstGeom>
          <a:solidFill>
            <a:srgbClr val="C1440E"/>
          </a:solidFill>
          <a:ln/>
        </p:spPr>
        <p:txBody>
          <a:bodyPr/>
          <a:lstStyle/>
          <a:p>
            <a:endParaRPr lang="en-US"/>
          </a:p>
        </p:txBody>
      </p:sp>
      <p:pic>
        <p:nvPicPr>
          <p:cNvPr id="13" name="Image 2" descr="/home/claude/pptx-build/assets/icons/FaCubes-FFFFFF-200.png"/>
          <p:cNvPicPr>
            <a:picLocks noChangeAspect="1"/>
          </p:cNvPicPr>
          <p:nvPr/>
        </p:nvPicPr>
        <p:blipFill>
          <a:blip r:embed="rId4"/>
          <a:stretch>
            <a:fillRect/>
          </a:stretch>
        </p:blipFill>
        <p:spPr>
          <a:xfrm>
            <a:off x="960120" y="2816352"/>
            <a:ext cx="292608" cy="292608"/>
          </a:xfrm>
          <a:prstGeom prst="rect">
            <a:avLst/>
          </a:prstGeom>
        </p:spPr>
      </p:pic>
      <p:sp>
        <p:nvSpPr>
          <p:cNvPr id="14" name="Text 9"/>
          <p:cNvSpPr txBox="1"/>
          <p:nvPr/>
        </p:nvSpPr>
        <p:spPr>
          <a:xfrm>
            <a:off x="1600200" y="2606040"/>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Large public Actions ecosystem and marketplace</a:t>
            </a:r>
            <a:endParaRPr lang="en-US" sz="1650" dirty="0"/>
          </a:p>
        </p:txBody>
      </p:sp>
      <p:sp>
        <p:nvSpPr>
          <p:cNvPr id="15" name="Text 10"/>
          <p:cNvSpPr txBox="1"/>
          <p:nvPr/>
        </p:nvSpPr>
        <p:spPr>
          <a:xfrm>
            <a:off x="5029200" y="2606040"/>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A far bigger marketplace than Azure Pipelines’ task catalogue.</a:t>
            </a:r>
            <a:endParaRPr lang="en-US" sz="1400" dirty="0"/>
          </a:p>
        </p:txBody>
      </p:sp>
      <p:sp>
        <p:nvSpPr>
          <p:cNvPr id="16" name="Shape 11"/>
          <p:cNvSpPr/>
          <p:nvPr/>
        </p:nvSpPr>
        <p:spPr>
          <a:xfrm>
            <a:off x="548640" y="3465576"/>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2"/>
          <p:cNvSpPr/>
          <p:nvPr/>
        </p:nvSpPr>
        <p:spPr>
          <a:xfrm>
            <a:off x="822960" y="3611880"/>
            <a:ext cx="566928" cy="566928"/>
          </a:xfrm>
          <a:prstGeom prst="ellipse">
            <a:avLst/>
          </a:prstGeom>
          <a:solidFill>
            <a:srgbClr val="C1440E"/>
          </a:solidFill>
          <a:ln/>
        </p:spPr>
        <p:txBody>
          <a:bodyPr/>
          <a:lstStyle/>
          <a:p>
            <a:endParaRPr lang="en-US"/>
          </a:p>
        </p:txBody>
      </p:sp>
      <p:pic>
        <p:nvPicPr>
          <p:cNvPr id="18" name="Image 3" descr="/home/claude/pptx-build/assets/icons/FaHandshake-FFFFFF-200.png"/>
          <p:cNvPicPr>
            <a:picLocks noChangeAspect="1"/>
          </p:cNvPicPr>
          <p:nvPr/>
        </p:nvPicPr>
        <p:blipFill>
          <a:blip r:embed="rId5"/>
          <a:stretch>
            <a:fillRect/>
          </a:stretch>
        </p:blipFill>
        <p:spPr>
          <a:xfrm>
            <a:off x="960120" y="3749040"/>
            <a:ext cx="292608" cy="292608"/>
          </a:xfrm>
          <a:prstGeom prst="rect">
            <a:avLst/>
          </a:prstGeom>
        </p:spPr>
      </p:pic>
      <p:sp>
        <p:nvSpPr>
          <p:cNvPr id="19" name="Text 13"/>
          <p:cNvSpPr txBox="1"/>
          <p:nvPr/>
        </p:nvSpPr>
        <p:spPr>
          <a:xfrm>
            <a:off x="1600200" y="3538728"/>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Open-source &amp; external contributors</a:t>
            </a:r>
            <a:endParaRPr lang="en-US" sz="1650" dirty="0"/>
          </a:p>
        </p:txBody>
      </p:sp>
      <p:sp>
        <p:nvSpPr>
          <p:cNvPr id="20" name="Text 14"/>
          <p:cNvSpPr txBox="1"/>
          <p:nvPr/>
        </p:nvSpPr>
        <p:spPr>
          <a:xfrm>
            <a:off x="5029200" y="3538728"/>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Already default to GitHub — no extra onboarding friction.</a:t>
            </a:r>
            <a:endParaRPr lang="en-US" sz="1400" dirty="0"/>
          </a:p>
        </p:txBody>
      </p:sp>
      <p:sp>
        <p:nvSpPr>
          <p:cNvPr id="21" name="Shape 15"/>
          <p:cNvSpPr/>
          <p:nvPr/>
        </p:nvSpPr>
        <p:spPr>
          <a:xfrm>
            <a:off x="548640" y="4398264"/>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6"/>
          <p:cNvSpPr/>
          <p:nvPr/>
        </p:nvSpPr>
        <p:spPr>
          <a:xfrm>
            <a:off x="822960" y="4544568"/>
            <a:ext cx="566928" cy="566928"/>
          </a:xfrm>
          <a:prstGeom prst="ellipse">
            <a:avLst/>
          </a:prstGeom>
          <a:solidFill>
            <a:srgbClr val="C1440E"/>
          </a:solidFill>
          <a:ln/>
        </p:spPr>
        <p:txBody>
          <a:bodyPr/>
          <a:lstStyle/>
          <a:p>
            <a:endParaRPr lang="en-US"/>
          </a:p>
        </p:txBody>
      </p:sp>
      <p:pic>
        <p:nvPicPr>
          <p:cNvPr id="23" name="Image 4" descr="/home/claude/pptx-build/assets/icons/FaSlidersH-FFFFFF-200.png"/>
          <p:cNvPicPr>
            <a:picLocks noChangeAspect="1"/>
          </p:cNvPicPr>
          <p:nvPr/>
        </p:nvPicPr>
        <p:blipFill>
          <a:blip r:embed="rId6"/>
          <a:stretch>
            <a:fillRect/>
          </a:stretch>
        </p:blipFill>
        <p:spPr>
          <a:xfrm>
            <a:off x="960120" y="4681728"/>
            <a:ext cx="292608" cy="292608"/>
          </a:xfrm>
          <a:prstGeom prst="rect">
            <a:avLst/>
          </a:prstGeom>
        </p:spPr>
      </p:pic>
      <p:sp>
        <p:nvSpPr>
          <p:cNvPr id="24" name="Text 17"/>
          <p:cNvSpPr txBox="1"/>
          <p:nvPr/>
        </p:nvSpPr>
        <p:spPr>
          <a:xfrm>
            <a:off x="1600200" y="4471416"/>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GitHub Actions flexibility</a:t>
            </a:r>
            <a:endParaRPr lang="en-US" sz="1650" dirty="0"/>
          </a:p>
        </p:txBody>
      </p:sp>
      <p:sp>
        <p:nvSpPr>
          <p:cNvPr id="25" name="Text 18"/>
          <p:cNvSpPr txBox="1"/>
          <p:nvPr/>
        </p:nvSpPr>
        <p:spPr>
          <a:xfrm>
            <a:off x="5029200" y="4471416"/>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Reusable workflows, matrix builds, a huge marketplace of pre-built steps, and self-hosted runners when you need them.</a:t>
            </a:r>
            <a:endParaRPr lang="en-US" sz="1400" dirty="0"/>
          </a:p>
        </p:txBody>
      </p:sp>
      <p:sp>
        <p:nvSpPr>
          <p:cNvPr id="26" name="Shape 19"/>
          <p:cNvSpPr/>
          <p:nvPr/>
        </p:nvSpPr>
        <p:spPr>
          <a:xfrm>
            <a:off x="548640" y="5330952"/>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7" name="Shape 20"/>
          <p:cNvSpPr/>
          <p:nvPr/>
        </p:nvSpPr>
        <p:spPr>
          <a:xfrm>
            <a:off x="822960" y="5477256"/>
            <a:ext cx="566928" cy="566928"/>
          </a:xfrm>
          <a:prstGeom prst="ellipse">
            <a:avLst/>
          </a:prstGeom>
          <a:solidFill>
            <a:srgbClr val="C1440E"/>
          </a:solidFill>
          <a:ln/>
        </p:spPr>
        <p:txBody>
          <a:bodyPr/>
          <a:lstStyle/>
          <a:p>
            <a:endParaRPr lang="en-US"/>
          </a:p>
        </p:txBody>
      </p:sp>
      <p:pic>
        <p:nvPicPr>
          <p:cNvPr id="28" name="Image 5" descr="/home/claude/pptx-build/assets/icons/FaTerminal-FFFFFF-200.png"/>
          <p:cNvPicPr>
            <a:picLocks noChangeAspect="1"/>
          </p:cNvPicPr>
          <p:nvPr/>
        </p:nvPicPr>
        <p:blipFill>
          <a:blip r:embed="rId7"/>
          <a:stretch>
            <a:fillRect/>
          </a:stretch>
        </p:blipFill>
        <p:spPr>
          <a:xfrm>
            <a:off x="960120" y="5614416"/>
            <a:ext cx="292608" cy="292608"/>
          </a:xfrm>
          <a:prstGeom prst="rect">
            <a:avLst/>
          </a:prstGeom>
        </p:spPr>
      </p:pic>
      <p:sp>
        <p:nvSpPr>
          <p:cNvPr id="29" name="Text 21"/>
          <p:cNvSpPr txBox="1"/>
          <p:nvPr/>
        </p:nvSpPr>
        <p:spPr>
          <a:xfrm>
            <a:off x="1600200" y="5404104"/>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Run a workflow locally to troubleshoot</a:t>
            </a:r>
            <a:endParaRPr lang="en-US" sz="1650" dirty="0"/>
          </a:p>
        </p:txBody>
      </p:sp>
      <p:sp>
        <p:nvSpPr>
          <p:cNvPr id="30" name="Text 22"/>
          <p:cNvSpPr txBox="1"/>
          <p:nvPr/>
        </p:nvSpPr>
        <p:spPr>
          <a:xfrm>
            <a:off x="5029200" y="5404104"/>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Tools like `act` execute a specific Actions definition right on your machine — debug without waiting on a hosted-runner queue.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2</a:t>
            </a:r>
            <a:endParaRPr lang="en-US" sz="1700" dirty="0"/>
          </a:p>
        </p:txBody>
      </p:sp>
      <p:pic>
        <p:nvPicPr>
          <p:cNvPr id="4" name="Image 0" descr="/home/claude/pptx-build/assets/icons/FaBinoculars-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A Field Guide to the Local Species</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Before the crossing, a survey of the terrain: which subsystems travel clean, which need a second look, and which never leave the old ground at all.</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lipboardLis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Scorecard — Full Reveal</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2784227124"/>
              </p:ext>
            </p:extLst>
          </p:nvPr>
        </p:nvGraphicFramePr>
        <p:xfrm>
          <a:off x="548640" y="1554480"/>
          <a:ext cx="11064240" cy="4404360"/>
        </p:xfrm>
        <a:graphic>
          <a:graphicData uri="http://schemas.openxmlformats.org/drawingml/2006/table">
            <a:tbl>
              <a:tblPr/>
              <a:tblGrid>
                <a:gridCol w="23317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537210">
                <a:tc>
                  <a:txBody>
                    <a:bodyPr/>
                    <a:lstStyle/>
                    <a:p>
                      <a:pPr marL="0" indent="0">
                        <a:buNone/>
                      </a:pPr>
                      <a:r>
                        <a:rPr lang="en-US" sz="1500" b="1" dirty="0">
                          <a:solidFill>
                            <a:srgbClr val="F5F5F0"/>
                          </a:solidFill>
                          <a:latin typeface="Calibri" pitchFamily="34" charset="0"/>
                          <a:ea typeface="Calibri" pitchFamily="34" charset="-122"/>
                          <a:cs typeface="Calibri" pitchFamily="34" charset="-120"/>
                        </a:rPr>
                        <a:t>Subsystem</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lgn="ctr">
                        <a:buNone/>
                      </a:pPr>
                      <a:r>
                        <a:rPr lang="en-US" sz="1500" b="1" dirty="0">
                          <a:solidFill>
                            <a:srgbClr val="F5F5F0"/>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buNone/>
                      </a:pPr>
                      <a:r>
                        <a:rPr lang="en-US" sz="1500" b="1" dirty="0">
                          <a:solidFill>
                            <a:srgbClr val="F5F5F0"/>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extLst>
                  <a:ext uri="{0D108BD9-81ED-4DB2-BD59-A6C34878D82A}">
                    <a16:rowId xmlns:a16="http://schemas.microsoft.com/office/drawing/2014/main" val="10000"/>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Repos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PORTABLE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Git history moves natively; supported PR metadata and repository-scoped policies move through GitHub Enterprise Importer (GEI).</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Wiki</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PORTABLE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Content travels; behavior needs review</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Packages / Artifacts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RETAIN OR REPLACE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Keep Azure Artifacts, move to GitHub Packages, or both during transition</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Pipelines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RETAIN OR REPLACE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Same YAML shell, different concepts underneath — budget real rewrite time</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Dashboards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RETAIN OR REPLACE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No native DORA dashboard; GitHub's built-ins are narrower than Boards Analytics + Power BI</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Boards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RETAIN OR REPLACE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Both are enterprise-capable, but the data models don’t line up — no clean migration path, so replaced history stays in the legacy system</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Test Plans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NO NATIVE DESTINATION</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C1440E"/>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No native GitHub equivalent for structured manual and exploratory test management.</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odeBranch-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Repos: The Asterisk</a:t>
            </a:r>
            <a:endParaRPr lang="en-US" sz="3200" dirty="0"/>
          </a:p>
        </p:txBody>
      </p:sp>
      <p:sp>
        <p:nvSpPr>
          <p:cNvPr id="6" name="Shape 3"/>
          <p:cNvSpPr/>
          <p:nvPr/>
        </p:nvSpPr>
        <p:spPr>
          <a:xfrm>
            <a:off x="548640" y="1645920"/>
            <a:ext cx="5349240" cy="4114800"/>
          </a:xfrm>
          <a:prstGeom prst="roundRect">
            <a:avLst>
              <a:gd name="adj" fmla="val 2667"/>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4800600" cy="457200"/>
          </a:xfrm>
          <a:prstGeom prst="rect">
            <a:avLst/>
          </a:prstGeom>
          <a:noFill/>
          <a:ln/>
        </p:spPr>
        <p:txBody>
          <a:bodyPr wrap="square" lIns="0" tIns="0" rIns="0" bIns="0" rtlCol="0" anchor="ctr"/>
          <a:lstStyle/>
          <a:p>
            <a:pPr marL="0" indent="0">
              <a:buNone/>
            </a:pPr>
            <a:r>
              <a:rPr lang="en-US" sz="2100" b="1" dirty="0">
                <a:solidFill>
                  <a:srgbClr val="1F3D2C"/>
                </a:solidFill>
                <a:latin typeface="Cambria" pitchFamily="34" charset="0"/>
                <a:ea typeface="Cambria" pitchFamily="34" charset="-122"/>
                <a:cs typeface="Cambria" pitchFamily="34" charset="-120"/>
              </a:rPr>
              <a:t>What Travels Clean</a:t>
            </a:r>
            <a:endParaRPr lang="en-US" sz="2100" dirty="0"/>
          </a:p>
        </p:txBody>
      </p:sp>
      <p:sp>
        <p:nvSpPr>
          <p:cNvPr id="8" name="Text 5"/>
          <p:cNvSpPr txBox="1"/>
          <p:nvPr/>
        </p:nvSpPr>
        <p:spPr>
          <a:xfrm>
            <a:off x="822960" y="2423160"/>
            <a:ext cx="4800600" cy="32004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600" dirty="0">
                <a:solidFill>
                  <a:srgbClr val="2B2B2B"/>
                </a:solidFill>
                <a:latin typeface="Calibri" pitchFamily="34" charset="0"/>
                <a:ea typeface="Calibri" pitchFamily="34" charset="-122"/>
                <a:cs typeface="Calibri" pitchFamily="34" charset="-120"/>
              </a:rPr>
              <a:t>Full commit history, branches, and tags come natively</a:t>
            </a:r>
            <a:endParaRPr lang="en-US" sz="1600" dirty="0"/>
          </a:p>
          <a:p>
            <a:pPr marL="342900" indent="-342900">
              <a:lnSpc>
                <a:spcPct val="115000"/>
              </a:lnSpc>
              <a:spcAft>
                <a:spcPts val="1200"/>
              </a:spcAft>
              <a:buSzPct val="100000"/>
              <a:buChar char="•"/>
            </a:pPr>
            <a:r>
              <a:rPr lang="en-US" sz="1600" dirty="0">
                <a:solidFill>
                  <a:srgbClr val="2B2B2B"/>
                </a:solidFill>
                <a:latin typeface="Calibri" pitchFamily="34" charset="0"/>
                <a:ea typeface="Calibri" pitchFamily="34" charset="-122"/>
                <a:cs typeface="Calibri" pitchFamily="34" charset="-120"/>
              </a:rPr>
              <a:t>Pull requests, with their comments, attachments, and review history (via GitHub Enterprise Importer)</a:t>
            </a:r>
            <a:endParaRPr lang="en-US" sz="1600" dirty="0"/>
          </a:p>
          <a:p>
            <a:pPr marL="342900" indent="-342900">
              <a:lnSpc>
                <a:spcPct val="115000"/>
              </a:lnSpc>
              <a:buSzPct val="100000"/>
              <a:buChar char="•"/>
            </a:pPr>
            <a:r>
              <a:rPr lang="en-US" sz="1600" dirty="0">
                <a:solidFill>
                  <a:srgbClr val="2B2B2B"/>
                </a:solidFill>
                <a:latin typeface="Calibri" pitchFamily="34" charset="0"/>
                <a:ea typeface="Calibri" pitchFamily="34" charset="-122"/>
                <a:cs typeface="Calibri" pitchFamily="34" charset="-120"/>
              </a:rPr>
              <a:t>Most branch policies — the ones scoped to a single repo</a:t>
            </a:r>
            <a:endParaRPr lang="en-US" sz="1600" dirty="0"/>
          </a:p>
        </p:txBody>
      </p:sp>
      <p:sp>
        <p:nvSpPr>
          <p:cNvPr id="9" name="Shape 6"/>
          <p:cNvSpPr/>
          <p:nvPr/>
        </p:nvSpPr>
        <p:spPr>
          <a:xfrm>
            <a:off x="6263640" y="1645920"/>
            <a:ext cx="5349240" cy="4114800"/>
          </a:xfrm>
          <a:prstGeom prst="roundRect">
            <a:avLst>
              <a:gd name="adj" fmla="val 2667"/>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6537960" y="1828800"/>
            <a:ext cx="4800600" cy="457200"/>
          </a:xfrm>
          <a:prstGeom prst="rect">
            <a:avLst/>
          </a:prstGeom>
          <a:noFill/>
          <a:ln/>
        </p:spPr>
        <p:txBody>
          <a:bodyPr wrap="square" lIns="0" tIns="0" rIns="0" bIns="0" rtlCol="0" anchor="ctr"/>
          <a:lstStyle/>
          <a:p>
            <a:pPr marL="0" indent="0">
              <a:buNone/>
            </a:pPr>
            <a:r>
              <a:rPr lang="en-US" sz="2100" b="1" dirty="0">
                <a:solidFill>
                  <a:srgbClr val="F5F5F0"/>
                </a:solidFill>
                <a:latin typeface="Cambria" pitchFamily="34" charset="0"/>
                <a:ea typeface="Cambria" pitchFamily="34" charset="-122"/>
                <a:cs typeface="Cambria" pitchFamily="34" charset="-120"/>
              </a:rPr>
              <a:t>The Asterisk</a:t>
            </a:r>
            <a:endParaRPr lang="en-US" sz="2100" dirty="0"/>
          </a:p>
        </p:txBody>
      </p:sp>
      <p:sp>
        <p:nvSpPr>
          <p:cNvPr id="11" name="Text 8"/>
          <p:cNvSpPr txBox="1"/>
          <p:nvPr/>
        </p:nvSpPr>
        <p:spPr>
          <a:xfrm>
            <a:off x="6537960" y="2423160"/>
            <a:ext cx="4800600" cy="320040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Repo permissions rebuilt as two GitHub teams per team project</a:t>
            </a:r>
            <a:endParaRPr lang="en-US" sz="1600" dirty="0"/>
          </a:p>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Git LFS objects might not come along for free</a:t>
            </a:r>
            <a:endParaRPr lang="en-US" sz="1600" dirty="0"/>
          </a:p>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User-scoped and cross-repo branch policies need to be rebuilt by hand</a:t>
            </a:r>
            <a:endParaRPr lang="en-US" sz="1600" dirty="0"/>
          </a:p>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TFVC repos need converting to Git first — no direct path</a:t>
            </a:r>
          </a:p>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Identities carried over as mannequins </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oo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Wiki: Travels Clean — Same Git Underneath</a:t>
            </a:r>
            <a:endParaRPr lang="en-US" sz="3200" dirty="0"/>
          </a:p>
        </p:txBody>
      </p:sp>
      <p:sp>
        <p:nvSpPr>
          <p:cNvPr id="6" name="Shape 3"/>
          <p:cNvSpPr/>
          <p:nvPr/>
        </p:nvSpPr>
        <p:spPr>
          <a:xfrm>
            <a:off x="548640" y="1737360"/>
            <a:ext cx="11064240" cy="2834640"/>
          </a:xfrm>
          <a:prstGeom prst="roundRect">
            <a:avLst>
              <a:gd name="adj" fmla="val 3871"/>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965960"/>
            <a:ext cx="10332720" cy="2377440"/>
          </a:xfrm>
          <a:prstGeom prst="rect">
            <a:avLst/>
          </a:prstGeom>
          <a:noFill/>
          <a:ln/>
        </p:spPr>
        <p:txBody>
          <a:bodyPr wrap="square" lIns="0" tIns="0" rIns="0" bIns="0" rtlCol="0" anchor="ctr"/>
          <a:lstStyle/>
          <a:p>
            <a:pPr marL="0" indent="0">
              <a:lnSpc>
                <a:spcPct val="130000"/>
              </a:lnSpc>
              <a:buNone/>
            </a:pPr>
            <a:r>
              <a:rPr lang="en-US" sz="2000" dirty="0">
                <a:solidFill>
                  <a:srgbClr val="2B2B2B"/>
                </a:solidFill>
                <a:latin typeface="Calibri" pitchFamily="34" charset="0"/>
                <a:ea typeface="Calibri" pitchFamily="34" charset="-122"/>
                <a:cs typeface="Calibri" pitchFamily="34" charset="-120"/>
              </a:rPr>
              <a:t>Both Azure DevOps wiki and GitHub wiki are Git repos under the hood — clone-and-push is the whole migration. </a:t>
            </a:r>
            <a:r>
              <a:rPr lang="en-US" sz="2000" b="1" dirty="0">
                <a:solidFill>
                  <a:srgbClr val="2B2B2B"/>
                </a:solidFill>
                <a:latin typeface="Calibri" pitchFamily="34" charset="0"/>
                <a:ea typeface="Calibri" pitchFamily="34" charset="-122"/>
                <a:cs typeface="Calibri" pitchFamily="34" charset="-120"/>
              </a:rPr>
              <a:t>What doesn’t come along: </a:t>
            </a:r>
            <a:r>
              <a:rPr lang="en-US" sz="2000" dirty="0">
                <a:solidFill>
                  <a:srgbClr val="2B2B2B"/>
                </a:solidFill>
                <a:latin typeface="Calibri" pitchFamily="34" charset="0"/>
                <a:ea typeface="Calibri" pitchFamily="34" charset="-122"/>
                <a:cs typeface="Calibri" pitchFamily="34" charset="-120"/>
              </a:rPr>
              <a:t>Azure DevOps’ richer per-page permissions, its tight integration with Boards and pipelines, navigation, embedded content, …</a:t>
            </a:r>
            <a:endParaRPr lang="en-US" sz="2000" dirty="0"/>
          </a:p>
        </p:txBody>
      </p:sp>
      <p:sp>
        <p:nvSpPr>
          <p:cNvPr id="10" name="Rounded Rectangle 30">
            <a:extLst>
              <a:ext uri="{FF2B5EF4-FFF2-40B4-BE49-F238E27FC236}">
                <a16:creationId xmlns:a16="http://schemas.microsoft.com/office/drawing/2014/main" id="{4C79931A-18FB-2E06-7724-BDDB838DEA87}"/>
              </a:ext>
            </a:extLst>
          </p:cNvPr>
          <p:cNvSpPr/>
          <p:nvPr/>
        </p:nvSpPr>
        <p:spPr>
          <a:xfrm>
            <a:off x="548640" y="4965192"/>
            <a:ext cx="11064240" cy="713232"/>
          </a:xfrm>
          <a:prstGeom prst="roundRect">
            <a:avLst>
              <a:gd name="adj" fmla="val 12632"/>
            </a:avLst>
          </a:prstGeom>
          <a:solidFill>
            <a:srgbClr val="1F3D2C"/>
          </a:solidFill>
          <a:ln>
            <a:noFill/>
          </a:ln>
          <a:effectLst/>
        </p:spPr>
        <p:txBody>
          <a:bodyPr wrap="square" lIns="256032" tIns="54864" rIns="256032" bIns="54864" rtlCol="0" anchor="ctr"/>
          <a:lstStyle/>
          <a:p>
            <a:pPr algn="l">
              <a:spcBef>
                <a:spcPts val="0"/>
              </a:spcBef>
              <a:spcAft>
                <a:spcPts val="0"/>
              </a:spcAft>
            </a:pPr>
            <a:r>
              <a:rPr sz="1050" b="1" spc="120">
                <a:solidFill>
                  <a:srgbClr val="8C6A3F"/>
                </a:solidFill>
                <a:latin typeface="Calibri"/>
              </a:rPr>
              <a:t>TAKEAWAY </a:t>
            </a:r>
            <a:r>
              <a:rPr sz="1500" b="0">
                <a:solidFill>
                  <a:srgbClr val="F5F5F0"/>
                </a:solidFill>
                <a:latin typeface="Calibri"/>
              </a:rPr>
              <a:t>Content migration is trivial. Permissions and integrations are the whole conversation.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oxOpen-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Packages &amp; Artifacts: A Decision, Not a Rewrite</a:t>
            </a:r>
            <a:endParaRPr lang="en-US" sz="3200" dirty="0"/>
          </a:p>
        </p:txBody>
      </p:sp>
      <p:sp>
        <p:nvSpPr>
          <p:cNvPr id="6" name="Shape 3"/>
          <p:cNvSpPr/>
          <p:nvPr/>
        </p:nvSpPr>
        <p:spPr>
          <a:xfrm>
            <a:off x="548640" y="1691640"/>
            <a:ext cx="3429000" cy="3383280"/>
          </a:xfrm>
          <a:prstGeom prst="roundRect">
            <a:avLst>
              <a:gd name="adj" fmla="val 324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822960" y="1920240"/>
            <a:ext cx="603504" cy="603504"/>
          </a:xfrm>
          <a:prstGeom prst="ellipse">
            <a:avLst/>
          </a:prstGeom>
          <a:solidFill>
            <a:srgbClr val="C1440E"/>
          </a:solidFill>
          <a:ln/>
        </p:spPr>
        <p:txBody>
          <a:bodyPr/>
          <a:lstStyle/>
          <a:p>
            <a:endParaRPr lang="en-US"/>
          </a:p>
        </p:txBody>
      </p:sp>
      <p:pic>
        <p:nvPicPr>
          <p:cNvPr id="8" name="Image 1" descr="/home/claude/pptx-build/assets/icons/FaBoxOpen-FFFFFF-200.png"/>
          <p:cNvPicPr>
            <a:picLocks noChangeAspect="1"/>
          </p:cNvPicPr>
          <p:nvPr/>
        </p:nvPicPr>
        <p:blipFill>
          <a:blip r:embed="rId3"/>
          <a:stretch>
            <a:fillRect/>
          </a:stretch>
        </p:blipFill>
        <p:spPr>
          <a:xfrm>
            <a:off x="969264" y="2066544"/>
            <a:ext cx="310896" cy="310896"/>
          </a:xfrm>
          <a:prstGeom prst="rect">
            <a:avLst/>
          </a:prstGeom>
        </p:spPr>
      </p:pic>
      <p:sp>
        <p:nvSpPr>
          <p:cNvPr id="9" name="Text 5"/>
          <p:cNvSpPr txBox="1"/>
          <p:nvPr/>
        </p:nvSpPr>
        <p:spPr>
          <a:xfrm>
            <a:off x="822960" y="2670048"/>
            <a:ext cx="2880360" cy="685800"/>
          </a:xfrm>
          <a:prstGeom prst="rect">
            <a:avLst/>
          </a:prstGeom>
          <a:noFill/>
          <a:ln/>
        </p:spPr>
        <p:txBody>
          <a:bodyPr wrap="square" lIns="0" tIns="0" rIns="0" bIns="0" rtlCol="0" anchor="ctr"/>
          <a:lstStyle/>
          <a:p>
            <a:pPr marL="0" indent="0">
              <a:buNone/>
            </a:pPr>
            <a:r>
              <a:rPr lang="en-US" sz="1700" b="1" dirty="0">
                <a:solidFill>
                  <a:srgbClr val="1F3D2C"/>
                </a:solidFill>
                <a:latin typeface="Cambria" pitchFamily="34" charset="0"/>
                <a:ea typeface="Cambria" pitchFamily="34" charset="-122"/>
                <a:cs typeface="Cambria" pitchFamily="34" charset="-120"/>
              </a:rPr>
              <a:t>Keep Azure Artifacts</a:t>
            </a:r>
            <a:endParaRPr lang="en-US" sz="1700" dirty="0"/>
          </a:p>
        </p:txBody>
      </p:sp>
      <p:sp>
        <p:nvSpPr>
          <p:cNvPr id="10" name="Text 6"/>
          <p:cNvSpPr txBox="1"/>
          <p:nvPr/>
        </p:nvSpPr>
        <p:spPr>
          <a:xfrm>
            <a:off x="822960" y="3364992"/>
            <a:ext cx="2880360" cy="160020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Change nothing. GitHub Actions can publish to and consume from an existing Azure Artifacts feed.</a:t>
            </a:r>
            <a:endParaRPr lang="en-US" sz="1400" dirty="0"/>
          </a:p>
        </p:txBody>
      </p:sp>
      <p:sp>
        <p:nvSpPr>
          <p:cNvPr id="11" name="Shape 7"/>
          <p:cNvSpPr/>
          <p:nvPr/>
        </p:nvSpPr>
        <p:spPr>
          <a:xfrm>
            <a:off x="4251960" y="1691640"/>
            <a:ext cx="3429000" cy="3383280"/>
          </a:xfrm>
          <a:prstGeom prst="roundRect">
            <a:avLst>
              <a:gd name="adj" fmla="val 324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526280" y="1920240"/>
            <a:ext cx="603504" cy="603504"/>
          </a:xfrm>
          <a:prstGeom prst="ellipse">
            <a:avLst/>
          </a:prstGeom>
          <a:solidFill>
            <a:srgbClr val="C1440E"/>
          </a:solidFill>
          <a:ln/>
        </p:spPr>
        <p:txBody>
          <a:bodyPr/>
          <a:lstStyle/>
          <a:p>
            <a:endParaRPr lang="en-US"/>
          </a:p>
        </p:txBody>
      </p:sp>
      <p:pic>
        <p:nvPicPr>
          <p:cNvPr id="13" name="Image 2" descr="/home/claude/pptx-build/assets/icons/FaGithub-FFFFFF-200.png"/>
          <p:cNvPicPr>
            <a:picLocks noChangeAspect="1"/>
          </p:cNvPicPr>
          <p:nvPr/>
        </p:nvPicPr>
        <p:blipFill>
          <a:blip r:embed="rId4"/>
          <a:stretch>
            <a:fillRect/>
          </a:stretch>
        </p:blipFill>
        <p:spPr>
          <a:xfrm>
            <a:off x="4672584" y="2066544"/>
            <a:ext cx="310896" cy="310896"/>
          </a:xfrm>
          <a:prstGeom prst="rect">
            <a:avLst/>
          </a:prstGeom>
        </p:spPr>
      </p:pic>
      <p:sp>
        <p:nvSpPr>
          <p:cNvPr id="14" name="Text 9"/>
          <p:cNvSpPr txBox="1"/>
          <p:nvPr/>
        </p:nvSpPr>
        <p:spPr>
          <a:xfrm>
            <a:off x="4526280" y="2670048"/>
            <a:ext cx="2880360" cy="685800"/>
          </a:xfrm>
          <a:prstGeom prst="rect">
            <a:avLst/>
          </a:prstGeom>
          <a:noFill/>
          <a:ln/>
        </p:spPr>
        <p:txBody>
          <a:bodyPr wrap="square" lIns="0" tIns="0" rIns="0" bIns="0" rtlCol="0" anchor="ctr"/>
          <a:lstStyle/>
          <a:p>
            <a:pPr marL="0" indent="0">
              <a:buNone/>
            </a:pPr>
            <a:r>
              <a:rPr lang="en-US" sz="1700" b="1" dirty="0">
                <a:solidFill>
                  <a:srgbClr val="1F3D2C"/>
                </a:solidFill>
                <a:latin typeface="Cambria" pitchFamily="34" charset="0"/>
                <a:ea typeface="Cambria" pitchFamily="34" charset="-122"/>
                <a:cs typeface="Cambria" pitchFamily="34" charset="-120"/>
              </a:rPr>
              <a:t>Move to GitHub Packages</a:t>
            </a:r>
            <a:endParaRPr lang="en-US" sz="1700" dirty="0"/>
          </a:p>
        </p:txBody>
      </p:sp>
      <p:sp>
        <p:nvSpPr>
          <p:cNvPr id="15" name="Text 10"/>
          <p:cNvSpPr txBox="1"/>
          <p:nvPr/>
        </p:nvSpPr>
        <p:spPr>
          <a:xfrm>
            <a:off x="4526280" y="3364992"/>
            <a:ext cx="2880360" cy="160020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Consolidate onto one platform — the right call for teams starting fresh or already small.</a:t>
            </a:r>
            <a:endParaRPr lang="en-US" sz="1400" dirty="0"/>
          </a:p>
        </p:txBody>
      </p:sp>
      <p:sp>
        <p:nvSpPr>
          <p:cNvPr id="16" name="Shape 11"/>
          <p:cNvSpPr/>
          <p:nvPr/>
        </p:nvSpPr>
        <p:spPr>
          <a:xfrm>
            <a:off x="7955280" y="1691640"/>
            <a:ext cx="3429000" cy="3383280"/>
          </a:xfrm>
          <a:prstGeom prst="roundRect">
            <a:avLst>
              <a:gd name="adj" fmla="val 324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2"/>
          <p:cNvSpPr/>
          <p:nvPr/>
        </p:nvSpPr>
        <p:spPr>
          <a:xfrm>
            <a:off x="8229600" y="1920240"/>
            <a:ext cx="603504" cy="603504"/>
          </a:xfrm>
          <a:prstGeom prst="ellipse">
            <a:avLst/>
          </a:prstGeom>
          <a:solidFill>
            <a:srgbClr val="C1440E"/>
          </a:solidFill>
          <a:ln/>
        </p:spPr>
        <p:txBody>
          <a:bodyPr/>
          <a:lstStyle/>
          <a:p>
            <a:endParaRPr lang="en-US"/>
          </a:p>
        </p:txBody>
      </p:sp>
      <p:pic>
        <p:nvPicPr>
          <p:cNvPr id="18" name="Image 3" descr="/home/claude/pptx-build/assets/icons/FaExchangeAlt-FFFFFF-200.png"/>
          <p:cNvPicPr>
            <a:picLocks noChangeAspect="1"/>
          </p:cNvPicPr>
          <p:nvPr/>
        </p:nvPicPr>
        <p:blipFill>
          <a:blip r:embed="rId5"/>
          <a:stretch>
            <a:fillRect/>
          </a:stretch>
        </p:blipFill>
        <p:spPr>
          <a:xfrm>
            <a:off x="8375904" y="2066544"/>
            <a:ext cx="310896" cy="310896"/>
          </a:xfrm>
          <a:prstGeom prst="rect">
            <a:avLst/>
          </a:prstGeom>
        </p:spPr>
      </p:pic>
      <p:sp>
        <p:nvSpPr>
          <p:cNvPr id="19" name="Text 13"/>
          <p:cNvSpPr txBox="1"/>
          <p:nvPr/>
        </p:nvSpPr>
        <p:spPr>
          <a:xfrm>
            <a:off x="8229600" y="2670048"/>
            <a:ext cx="2880360" cy="685800"/>
          </a:xfrm>
          <a:prstGeom prst="rect">
            <a:avLst/>
          </a:prstGeom>
          <a:noFill/>
          <a:ln/>
        </p:spPr>
        <p:txBody>
          <a:bodyPr wrap="square" lIns="0" tIns="0" rIns="0" bIns="0" rtlCol="0" anchor="ctr"/>
          <a:lstStyle/>
          <a:p>
            <a:pPr marL="0" indent="0">
              <a:buNone/>
            </a:pPr>
            <a:r>
              <a:rPr lang="en-US" sz="1700" b="1" dirty="0">
                <a:solidFill>
                  <a:srgbClr val="1F3D2C"/>
                </a:solidFill>
                <a:latin typeface="Cambria" pitchFamily="34" charset="0"/>
                <a:ea typeface="Cambria" pitchFamily="34" charset="-122"/>
                <a:cs typeface="Cambria" pitchFamily="34" charset="-120"/>
              </a:rPr>
              <a:t>Both, during transition</a:t>
            </a:r>
            <a:endParaRPr lang="en-US" sz="1700" dirty="0"/>
          </a:p>
        </p:txBody>
      </p:sp>
      <p:sp>
        <p:nvSpPr>
          <p:cNvPr id="20" name="Text 14"/>
          <p:cNvSpPr txBox="1"/>
          <p:nvPr/>
        </p:nvSpPr>
        <p:spPr>
          <a:xfrm>
            <a:off x="8229600" y="3364992"/>
            <a:ext cx="2880360" cy="160020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Dual-publish while consumers migrate at their own pace. Buys time, costs a little duplication.</a:t>
            </a:r>
            <a:endParaRPr lang="en-US" sz="1400" dirty="0"/>
          </a:p>
        </p:txBody>
      </p:sp>
      <p:sp>
        <p:nvSpPr>
          <p:cNvPr id="21" name="Shape 15"/>
          <p:cNvSpPr/>
          <p:nvPr/>
        </p:nvSpPr>
        <p:spPr>
          <a:xfrm>
            <a:off x="548640" y="5257800"/>
            <a:ext cx="11064240" cy="868680"/>
          </a:xfrm>
          <a:prstGeom prst="roundRect">
            <a:avLst>
              <a:gd name="adj" fmla="val 12632"/>
            </a:avLst>
          </a:prstGeom>
          <a:solidFill>
            <a:srgbClr val="1F3D2C"/>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22" name="Text 16"/>
          <p:cNvSpPr txBox="1"/>
          <p:nvPr/>
        </p:nvSpPr>
        <p:spPr>
          <a:xfrm>
            <a:off x="548640" y="5257800"/>
            <a:ext cx="11064240" cy="868680"/>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TAKEAWAY </a:t>
            </a:r>
            <a:r>
              <a:rPr sz="1500" b="0">
                <a:solidFill>
                  <a:srgbClr val="F5F5F0"/>
                </a:solidFill>
                <a:latin typeface="Calibri"/>
              </a:rPr>
              <a:t>The realistic target: GitHub Actions publishing to an existing Azure Artifacts feed — the answer for teams that can’t repoint every consumer at cutover.</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hartBar-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Dashboards: A Partial Equivalent</a:t>
            </a:r>
            <a:endParaRPr lang="en-US" sz="3200" dirty="0"/>
          </a:p>
        </p:txBody>
      </p:sp>
      <p:sp>
        <p:nvSpPr>
          <p:cNvPr id="6" name="Shape 3"/>
          <p:cNvSpPr/>
          <p:nvPr/>
        </p:nvSpPr>
        <p:spPr>
          <a:xfrm>
            <a:off x="548640" y="1691640"/>
            <a:ext cx="11064240" cy="2651760"/>
          </a:xfrm>
          <a:prstGeom prst="roundRect">
            <a:avLst>
              <a:gd name="adj" fmla="val 4138"/>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920240"/>
            <a:ext cx="10332720" cy="2194560"/>
          </a:xfrm>
          <a:prstGeom prst="rect">
            <a:avLst/>
          </a:prstGeom>
          <a:noFill/>
          <a:ln/>
        </p:spPr>
        <p:txBody>
          <a:bodyPr wrap="square" lIns="0" tIns="0" rIns="0" bIns="0" rtlCol="0" anchor="ctr"/>
          <a:lstStyle/>
          <a:p>
            <a:pPr marL="0" indent="0">
              <a:lnSpc>
                <a:spcPct val="125000"/>
              </a:lnSpc>
              <a:buNone/>
            </a:pPr>
            <a:r>
              <a:rPr lang="en-US" sz="1900" dirty="0">
                <a:solidFill>
                  <a:srgbClr val="2B2B2B"/>
                </a:solidFill>
                <a:latin typeface="Calibri" pitchFamily="34" charset="0"/>
                <a:ea typeface="Calibri" pitchFamily="34" charset="-122"/>
                <a:cs typeface="Calibri" pitchFamily="34" charset="-120"/>
              </a:rPr>
              <a:t>GitHub ships no DORA dashboard. What exists is narrower and differently named: Copilot metrics and the Copilot impact dashboard, Actions performance metrics, a Code Quality dashboard in public preview, and Security overview. None of it matches Boards Analytics plus a dedicated Power BI report.</a:t>
            </a:r>
            <a:endParaRPr lang="en-US" sz="1900" dirty="0"/>
          </a:p>
        </p:txBody>
      </p:sp>
      <p:sp>
        <p:nvSpPr>
          <p:cNvPr id="8" name="Shape 5"/>
          <p:cNvSpPr/>
          <p:nvPr/>
        </p:nvSpPr>
        <p:spPr>
          <a:xfrm>
            <a:off x="548640" y="4572000"/>
            <a:ext cx="11064240" cy="1417320"/>
          </a:xfrm>
          <a:prstGeom prst="roundRect">
            <a:avLst>
              <a:gd name="adj" fmla="val 12632"/>
            </a:avLst>
          </a:prstGeom>
          <a:solidFill>
            <a:srgbClr val="1F3D2C"/>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48640" y="4572000"/>
            <a:ext cx="11064240" cy="1417320"/>
          </a:xfrm>
          <a:prstGeom prst="rect">
            <a:avLst/>
          </a:prstGeom>
          <a:noFill/>
          <a:ln/>
        </p:spPr>
        <p:txBody>
          <a:bodyPr wrap="square" lIns="256032" tIns="54864" rIns="256032" bIns="54864" rtlCol="0" anchor="ctr"/>
          <a:lstStyle/>
          <a:p>
            <a:pPr marL="0" indent="0" algn="l">
              <a:lnSpc>
                <a:spcPct val="115000"/>
              </a:lnSpc>
              <a:buNone/>
            </a:pPr>
            <a:r>
              <a:rPr sz="1050" b="1" spc="120">
                <a:solidFill>
                  <a:srgbClr val="8C6A3F"/>
                </a:solidFill>
                <a:latin typeface="Calibri"/>
              </a:rPr>
              <a:t>TAKEAWAY </a:t>
            </a:r>
            <a:r>
              <a:rPr sz="1500" b="0">
                <a:solidFill>
                  <a:srgbClr val="F5F5F0"/>
                </a:solidFill>
                <a:latin typeface="Calibri"/>
              </a:rPr>
              <a:t>The reframe: neither platform hands you DORA. Stop comparing widgets one-for-one — agree on deployment frequency, lead time, change failure rate and time to restore, then instrument them yourselves. That baseline language outlives the migration either way.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ayerGroup-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Pattern</a:t>
            </a:r>
            <a:endParaRPr lang="en-US" sz="3200" dirty="0"/>
          </a:p>
        </p:txBody>
      </p:sp>
      <p:sp>
        <p:nvSpPr>
          <p:cNvPr id="6" name="Text 3"/>
          <p:cNvSpPr txBox="1"/>
          <p:nvPr/>
        </p:nvSpPr>
        <p:spPr>
          <a:xfrm>
            <a:off x="548640" y="1691640"/>
            <a:ext cx="11064240" cy="1005840"/>
          </a:xfrm>
          <a:prstGeom prst="rect">
            <a:avLst/>
          </a:prstGeom>
          <a:noFill/>
          <a:ln/>
        </p:spPr>
        <p:txBody>
          <a:bodyPr wrap="square" lIns="0" tIns="0" rIns="0" bIns="0" rtlCol="0" anchor="ctr"/>
          <a:lstStyle/>
          <a:p>
            <a:pPr marL="0" indent="0" algn="ctr">
              <a:buNone/>
            </a:pPr>
            <a:r>
              <a:rPr lang="en-US" sz="2000" b="1" i="1" dirty="0">
                <a:solidFill>
                  <a:srgbClr val="1F3D2C"/>
                </a:solidFill>
                <a:ea typeface="Cambria" pitchFamily="34" charset="-122"/>
                <a:cs typeface="Cambria" pitchFamily="34" charset="-120"/>
              </a:rPr>
              <a:t>Portable, standards-based artifacts usually travel best. Platform-specific behavior and data models create the real migration work.</a:t>
            </a:r>
            <a:endParaRPr lang="en-US" sz="2000" dirty="0"/>
          </a:p>
        </p:txBody>
      </p:sp>
      <p:sp>
        <p:nvSpPr>
          <p:cNvPr id="7" name="Shape 4"/>
          <p:cNvSpPr/>
          <p:nvPr/>
        </p:nvSpPr>
        <p:spPr>
          <a:xfrm>
            <a:off x="548640" y="2971800"/>
            <a:ext cx="5349240" cy="2880360"/>
          </a:xfrm>
          <a:prstGeom prst="roundRect">
            <a:avLst>
              <a:gd name="adj" fmla="val 381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822960" y="3154680"/>
            <a:ext cx="4800600" cy="457200"/>
          </a:xfrm>
          <a:prstGeom prst="rect">
            <a:avLst/>
          </a:prstGeom>
          <a:noFill/>
          <a:ln/>
        </p:spPr>
        <p:txBody>
          <a:bodyPr wrap="square" lIns="0" tIns="0" rIns="0" bIns="0" rtlCol="0" anchor="ctr"/>
          <a:lstStyle/>
          <a:p>
            <a:pPr marL="0" indent="0">
              <a:buNone/>
            </a:pPr>
            <a:r>
              <a:rPr lang="en-US" sz="1900" b="1" dirty="0">
                <a:solidFill>
                  <a:srgbClr val="1F3D2C"/>
                </a:solidFill>
                <a:latin typeface="Cambria" pitchFamily="34" charset="0"/>
                <a:ea typeface="Cambria" pitchFamily="34" charset="-122"/>
              </a:rPr>
              <a:t>Portable</a:t>
            </a:r>
            <a:endParaRPr lang="en-US" sz="1900" dirty="0"/>
          </a:p>
        </p:txBody>
      </p:sp>
      <p:sp>
        <p:nvSpPr>
          <p:cNvPr id="9" name="Text 6"/>
          <p:cNvSpPr txBox="1"/>
          <p:nvPr/>
        </p:nvSpPr>
        <p:spPr>
          <a:xfrm>
            <a:off x="822960" y="3703320"/>
            <a:ext cx="4800600" cy="2011680"/>
          </a:xfrm>
          <a:prstGeom prst="rect">
            <a:avLst/>
          </a:prstGeom>
          <a:noFill/>
          <a:ln/>
        </p:spPr>
        <p:txBody>
          <a:bodyPr wrap="square" lIns="0" tIns="0" rIns="0" bIns="0" rtlCol="0" anchor="ctr"/>
          <a:lstStyle/>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Repos — it’s Git on both sides</a:t>
            </a:r>
            <a:endParaRPr lang="en-US" sz="1650" dirty="0"/>
          </a:p>
          <a:p>
            <a:pPr marL="342900" indent="-342900">
              <a:buSzPct val="100000"/>
              <a:buChar char="•"/>
            </a:pPr>
            <a:r>
              <a:rPr lang="en-US" sz="1650" dirty="0">
                <a:solidFill>
                  <a:srgbClr val="2B2B2B"/>
                </a:solidFill>
                <a:latin typeface="Calibri" pitchFamily="34" charset="0"/>
                <a:ea typeface="Calibri" pitchFamily="34" charset="-122"/>
                <a:cs typeface="Calibri" pitchFamily="34" charset="-120"/>
              </a:rPr>
              <a:t>Wiki — also Git on both sides</a:t>
            </a:r>
            <a:endParaRPr lang="en-US" sz="1650" dirty="0"/>
          </a:p>
        </p:txBody>
      </p:sp>
      <p:sp>
        <p:nvSpPr>
          <p:cNvPr id="10" name="Shape 7"/>
          <p:cNvSpPr/>
          <p:nvPr/>
        </p:nvSpPr>
        <p:spPr>
          <a:xfrm>
            <a:off x="6263640" y="2971800"/>
            <a:ext cx="5349240" cy="2880360"/>
          </a:xfrm>
          <a:prstGeom prst="roundRect">
            <a:avLst>
              <a:gd name="adj" fmla="val 381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6537960" y="3154680"/>
            <a:ext cx="4800600" cy="457200"/>
          </a:xfrm>
          <a:prstGeom prst="rect">
            <a:avLst/>
          </a:prstGeom>
          <a:noFill/>
          <a:ln/>
        </p:spPr>
        <p:txBody>
          <a:bodyPr wrap="square" lIns="0" tIns="0" rIns="0" bIns="0" rtlCol="0" anchor="ctr"/>
          <a:lstStyle/>
          <a:p>
            <a:pPr marL="0" indent="0">
              <a:buNone/>
            </a:pPr>
            <a:r>
              <a:rPr lang="en-US" sz="1900" b="1" dirty="0">
                <a:solidFill>
                  <a:srgbClr val="F5F5F0"/>
                </a:solidFill>
                <a:latin typeface="Cambria" pitchFamily="34" charset="0"/>
                <a:ea typeface="Cambria" pitchFamily="34" charset="-122"/>
                <a:cs typeface="Cambria" pitchFamily="34" charset="-120"/>
              </a:rPr>
              <a:t>Platform-specific</a:t>
            </a:r>
            <a:endParaRPr lang="en-US" sz="1900" dirty="0"/>
          </a:p>
        </p:txBody>
      </p:sp>
      <p:sp>
        <p:nvSpPr>
          <p:cNvPr id="12" name="Text 9"/>
          <p:cNvSpPr txBox="1"/>
          <p:nvPr/>
        </p:nvSpPr>
        <p:spPr>
          <a:xfrm>
            <a:off x="6537960" y="3703320"/>
            <a:ext cx="4800600" cy="2011680"/>
          </a:xfrm>
          <a:prstGeom prst="rect">
            <a:avLst/>
          </a:prstGeom>
          <a:noFill/>
          <a:ln/>
        </p:spPr>
        <p:txBody>
          <a:bodyPr wrap="square" lIns="0" tIns="0" rIns="0" bIns="0" rtlCol="0" anchor="ctr"/>
          <a:lstStyle/>
          <a:p>
            <a:pPr marL="342900" indent="-342900">
              <a:spcAft>
                <a:spcPts val="1000"/>
              </a:spcAft>
              <a:buSzPct val="100000"/>
              <a:buChar char="•"/>
            </a:pPr>
            <a:r>
              <a:rPr lang="en-US" sz="1650" dirty="0">
                <a:solidFill>
                  <a:srgbClr val="F5F5F0"/>
                </a:solidFill>
                <a:latin typeface="Calibri" pitchFamily="34" charset="0"/>
                <a:ea typeface="Calibri" pitchFamily="34" charset="-122"/>
                <a:cs typeface="Calibri" pitchFamily="34" charset="-120"/>
              </a:rPr>
              <a:t>Dashboards — partial equivalent, this section</a:t>
            </a:r>
            <a:endParaRPr lang="en-US" sz="1650" dirty="0"/>
          </a:p>
          <a:p>
            <a:pPr marL="342900" indent="-342900">
              <a:buSzPct val="100000"/>
              <a:buChar char="•"/>
            </a:pPr>
            <a:r>
              <a:rPr lang="en-US" sz="1650" dirty="0">
                <a:solidFill>
                  <a:srgbClr val="F5F5F0"/>
                </a:solidFill>
                <a:latin typeface="Calibri" pitchFamily="34" charset="0"/>
                <a:ea typeface="Calibri" pitchFamily="34" charset="-122"/>
                <a:cs typeface="Calibri" pitchFamily="34" charset="-120"/>
              </a:rPr>
              <a:t>Boards &amp; Test Plans — the whole next section</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n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39" y="749808"/>
            <a:ext cx="10746545"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Hybrid – Leave What Makes Sense</a:t>
            </a:r>
            <a:endParaRPr lang="en-US" sz="3200" dirty="0"/>
          </a:p>
        </p:txBody>
      </p:sp>
      <p:sp>
        <p:nvSpPr>
          <p:cNvPr id="6" name="TextBox 5"/>
          <p:cNvSpPr txBox="1"/>
          <p:nvPr/>
        </p:nvSpPr>
        <p:spPr>
          <a:xfrm>
            <a:off x="548640" y="1525708"/>
            <a:ext cx="11064240" cy="276999"/>
          </a:xfrm>
          <a:prstGeom prst="rect">
            <a:avLst/>
          </a:prstGeom>
          <a:noFill/>
        </p:spPr>
        <p:txBody>
          <a:bodyPr wrap="square" lIns="0" tIns="0" rIns="0" bIns="0" anchor="ctr">
            <a:spAutoFit/>
          </a:bodyPr>
          <a:lstStyle/>
          <a:p>
            <a:pPr algn="l"/>
            <a:r>
              <a:rPr lang="en-US" sz="1800" b="1" i="0" dirty="0">
                <a:solidFill>
                  <a:srgbClr val="1F3D2C"/>
                </a:solidFill>
              </a:rPr>
              <a:t>Move repository-centric workflows to GitHub—retain Azure DevOps where it still provides material value.</a:t>
            </a:r>
          </a:p>
        </p:txBody>
      </p:sp>
      <p:sp>
        <p:nvSpPr>
          <p:cNvPr id="7" name="Rounded Rectangle 6"/>
          <p:cNvSpPr/>
          <p:nvPr/>
        </p:nvSpPr>
        <p:spPr>
          <a:xfrm>
            <a:off x="548640" y="2011680"/>
            <a:ext cx="5349240" cy="2377440"/>
          </a:xfrm>
          <a:prstGeom prst="roundRect">
            <a:avLst>
              <a:gd name="adj" fmla="val 8000"/>
            </a:avLst>
          </a:prstGeom>
          <a:solidFill>
            <a:srgbClr val="F7F6F2"/>
          </a:solidFill>
          <a:ln w="12700">
            <a:solidFill>
              <a:srgbClr val="DDD8CC"/>
            </a:solidFill>
          </a:ln>
        </p:spPr>
        <p:txBody>
          <a:bodyPr rtlCol="0" anchor="ctr"/>
          <a:lstStyle/>
          <a:p>
            <a:pPr algn="ctr"/>
            <a:endParaRPr lang="en-US"/>
          </a:p>
        </p:txBody>
      </p:sp>
      <p:sp>
        <p:nvSpPr>
          <p:cNvPr id="8" name="Rounded Rectangle 7"/>
          <p:cNvSpPr/>
          <p:nvPr/>
        </p:nvSpPr>
        <p:spPr>
          <a:xfrm>
            <a:off x="6263640" y="2011680"/>
            <a:ext cx="5349240" cy="2377440"/>
          </a:xfrm>
          <a:prstGeom prst="roundRect">
            <a:avLst>
              <a:gd name="adj" fmla="val 8000"/>
            </a:avLst>
          </a:prstGeom>
          <a:solidFill>
            <a:srgbClr val="F7F6F2"/>
          </a:solidFill>
          <a:ln w="12700">
            <a:solidFill>
              <a:srgbClr val="DDD8CC"/>
            </a:solidFill>
          </a:ln>
        </p:spPr>
        <p:txBody>
          <a:bodyPr rtlCol="0" anchor="ctr"/>
          <a:lstStyle/>
          <a:p>
            <a:pPr algn="ctr"/>
            <a:endParaRPr lang="en-US"/>
          </a:p>
        </p:txBody>
      </p:sp>
      <p:sp>
        <p:nvSpPr>
          <p:cNvPr id="9" name="TextBox 8"/>
          <p:cNvSpPr txBox="1"/>
          <p:nvPr/>
        </p:nvSpPr>
        <p:spPr>
          <a:xfrm>
            <a:off x="822960" y="2212848"/>
            <a:ext cx="4754880" cy="347472"/>
          </a:xfrm>
          <a:prstGeom prst="rect">
            <a:avLst/>
          </a:prstGeom>
          <a:noFill/>
        </p:spPr>
        <p:txBody>
          <a:bodyPr wrap="square" lIns="0" tIns="0" rIns="0" bIns="0" anchor="t">
            <a:spAutoFit/>
          </a:bodyPr>
          <a:lstStyle/>
          <a:p>
            <a:pPr algn="l"/>
            <a:r>
              <a:rPr sz="2200" b="1" i="0">
                <a:solidFill>
                  <a:srgbClr val="1F3D2C"/>
                </a:solidFill>
                <a:latin typeface="Cambria"/>
              </a:rPr>
              <a:t>GitHub</a:t>
            </a:r>
          </a:p>
        </p:txBody>
      </p:sp>
      <p:sp>
        <p:nvSpPr>
          <p:cNvPr id="10" name="TextBox 9"/>
          <p:cNvSpPr txBox="1"/>
          <p:nvPr/>
        </p:nvSpPr>
        <p:spPr>
          <a:xfrm>
            <a:off x="822960" y="2560320"/>
            <a:ext cx="4754880" cy="274320"/>
          </a:xfrm>
          <a:prstGeom prst="rect">
            <a:avLst/>
          </a:prstGeom>
          <a:noFill/>
        </p:spPr>
        <p:txBody>
          <a:bodyPr wrap="square" lIns="0" tIns="0" rIns="0" bIns="0" anchor="t">
            <a:spAutoFit/>
          </a:bodyPr>
          <a:lstStyle/>
          <a:p>
            <a:pPr algn="l"/>
            <a:r>
              <a:rPr lang="en-US" sz="1450" b="1" i="1">
                <a:solidFill>
                  <a:srgbClr val="C1440E"/>
                </a:solidFill>
                <a:latin typeface="Calibri"/>
              </a:rPr>
              <a:t>Repository + code workflows</a:t>
            </a:r>
          </a:p>
        </p:txBody>
      </p:sp>
      <p:sp>
        <p:nvSpPr>
          <p:cNvPr id="11" name="TextBox 10"/>
          <p:cNvSpPr txBox="1"/>
          <p:nvPr/>
        </p:nvSpPr>
        <p:spPr>
          <a:xfrm>
            <a:off x="822960" y="2907792"/>
            <a:ext cx="4709160" cy="1298448"/>
          </a:xfrm>
          <a:prstGeom prst="rect">
            <a:avLst/>
          </a:prstGeom>
          <a:noFill/>
        </p:spPr>
        <p:txBody>
          <a:bodyPr wrap="square" lIns="0" tIns="0" rIns="0" bIns="0" anchor="t">
            <a:spAutoFit/>
          </a:bodyPr>
          <a:lstStyle/>
          <a:p>
            <a:pPr algn="l">
              <a:lnSpc>
                <a:spcPts val="1750"/>
              </a:lnSpc>
              <a:spcAft>
                <a:spcPts val="400"/>
              </a:spcAft>
            </a:pPr>
            <a:r>
              <a:rPr lang="en-US" sz="1450">
                <a:solidFill>
                  <a:srgbClr val="2B2B2B"/>
                </a:solidFill>
                <a:latin typeface="Calibri"/>
              </a:rPr>
              <a:t>•  GitHub repositories</a:t>
            </a:r>
          </a:p>
          <a:p>
            <a:pPr algn="l">
              <a:lnSpc>
                <a:spcPts val="1750"/>
              </a:lnSpc>
              <a:spcAft>
                <a:spcPts val="400"/>
              </a:spcAft>
            </a:pPr>
            <a:r>
              <a:rPr lang="en-US" sz="1450">
                <a:solidFill>
                  <a:srgbClr val="2B2B2B"/>
                </a:solidFill>
                <a:latin typeface="Calibri"/>
              </a:rPr>
              <a:t>•  Pull requests and code review</a:t>
            </a:r>
          </a:p>
          <a:p>
            <a:pPr algn="l">
              <a:lnSpc>
                <a:spcPts val="1750"/>
              </a:lnSpc>
              <a:spcAft>
                <a:spcPts val="400"/>
              </a:spcAft>
            </a:pPr>
            <a:r>
              <a:rPr lang="en-US" sz="1450">
                <a:solidFill>
                  <a:srgbClr val="2B2B2B"/>
                </a:solidFill>
                <a:latin typeface="Calibri"/>
              </a:rPr>
              <a:t>•  Repository-native Copilot capabilities</a:t>
            </a:r>
          </a:p>
          <a:p>
            <a:pPr algn="l">
              <a:lnSpc>
                <a:spcPts val="1750"/>
              </a:lnSpc>
              <a:spcAft>
                <a:spcPts val="400"/>
              </a:spcAft>
            </a:pPr>
            <a:r>
              <a:rPr lang="en-US" sz="1450">
                <a:solidFill>
                  <a:srgbClr val="2B2B2B"/>
                </a:solidFill>
                <a:latin typeface="Calibri"/>
              </a:rPr>
              <a:t>•  GitHub Actions, where appropriate</a:t>
            </a:r>
          </a:p>
          <a:p>
            <a:pPr algn="l">
              <a:lnSpc>
                <a:spcPts val="1750"/>
              </a:lnSpc>
              <a:spcAft>
                <a:spcPts val="400"/>
              </a:spcAft>
            </a:pPr>
            <a:r>
              <a:rPr lang="en-US" sz="1450">
                <a:solidFill>
                  <a:srgbClr val="2B2B2B"/>
                </a:solidFill>
                <a:latin typeface="Calibri"/>
              </a:rPr>
              <a:t>•  Repository security and policy controls</a:t>
            </a:r>
          </a:p>
        </p:txBody>
      </p:sp>
      <p:sp>
        <p:nvSpPr>
          <p:cNvPr id="12" name="TextBox 11"/>
          <p:cNvSpPr txBox="1">
            <a:spLocks/>
          </p:cNvSpPr>
          <p:nvPr/>
        </p:nvSpPr>
        <p:spPr>
          <a:xfrm>
            <a:off x="6537960" y="2212848"/>
            <a:ext cx="4754880" cy="347472"/>
          </a:xfrm>
          <a:prstGeom prst="rect">
            <a:avLst/>
          </a:prstGeom>
          <a:noFill/>
        </p:spPr>
        <p:txBody>
          <a:bodyPr wrap="square" lIns="0" tIns="0" rIns="0" bIns="0" anchor="t">
            <a:spAutoFit/>
          </a:bodyPr>
          <a:lstStyle/>
          <a:p>
            <a:pPr algn="l"/>
            <a:r>
              <a:rPr lang="en-US" sz="2200" b="1" i="0">
                <a:solidFill>
                  <a:srgbClr val="1F3D2C"/>
                </a:solidFill>
                <a:latin typeface="Cambria"/>
              </a:rPr>
              <a:t>Azure DevOps</a:t>
            </a:r>
          </a:p>
        </p:txBody>
      </p:sp>
      <p:sp>
        <p:nvSpPr>
          <p:cNvPr id="13" name="TextBox 12"/>
          <p:cNvSpPr txBox="1">
            <a:spLocks/>
          </p:cNvSpPr>
          <p:nvPr/>
        </p:nvSpPr>
        <p:spPr>
          <a:xfrm>
            <a:off x="6537960" y="2560320"/>
            <a:ext cx="4754880" cy="274320"/>
          </a:xfrm>
          <a:prstGeom prst="rect">
            <a:avLst/>
          </a:prstGeom>
          <a:noFill/>
        </p:spPr>
        <p:txBody>
          <a:bodyPr wrap="square" lIns="0" tIns="0" rIns="0" bIns="0" anchor="t">
            <a:spAutoFit/>
          </a:bodyPr>
          <a:lstStyle/>
          <a:p>
            <a:pPr algn="l"/>
            <a:r>
              <a:rPr lang="en-US" sz="1450" b="1" i="1">
                <a:solidFill>
                  <a:srgbClr val="C1440E"/>
                </a:solidFill>
                <a:latin typeface="Calibri"/>
              </a:rPr>
              <a:t>Planning, portfolio + testing workflows</a:t>
            </a:r>
          </a:p>
        </p:txBody>
      </p:sp>
      <p:sp>
        <p:nvSpPr>
          <p:cNvPr id="14" name="TextBox 13"/>
          <p:cNvSpPr txBox="1"/>
          <p:nvPr/>
        </p:nvSpPr>
        <p:spPr>
          <a:xfrm>
            <a:off x="6537960" y="2907792"/>
            <a:ext cx="4709160" cy="1298448"/>
          </a:xfrm>
          <a:prstGeom prst="rect">
            <a:avLst/>
          </a:prstGeom>
          <a:noFill/>
        </p:spPr>
        <p:txBody>
          <a:bodyPr wrap="square" lIns="0" tIns="0" rIns="0" bIns="0" anchor="t">
            <a:spAutoFit/>
          </a:bodyPr>
          <a:lstStyle/>
          <a:p>
            <a:pPr algn="l">
              <a:lnSpc>
                <a:spcPts val="1750"/>
              </a:lnSpc>
              <a:spcAft>
                <a:spcPts val="400"/>
              </a:spcAft>
            </a:pPr>
            <a:r>
              <a:rPr sz="1450">
                <a:solidFill>
                  <a:srgbClr val="2B2B2B"/>
                </a:solidFill>
                <a:latin typeface="Calibri"/>
              </a:rPr>
              <a:t>•  Azure Boards—formal planning and reporting</a:t>
            </a:r>
          </a:p>
          <a:p>
            <a:pPr algn="l">
              <a:lnSpc>
                <a:spcPts val="1750"/>
              </a:lnSpc>
              <a:spcAft>
                <a:spcPts val="400"/>
              </a:spcAft>
            </a:pPr>
            <a:r>
              <a:rPr sz="1450">
                <a:solidFill>
                  <a:srgbClr val="2B2B2B"/>
                </a:solidFill>
                <a:latin typeface="Calibri"/>
              </a:rPr>
              <a:t>•  Azure Test Plans—structured manual testing</a:t>
            </a:r>
          </a:p>
          <a:p>
            <a:pPr algn="l">
              <a:lnSpc>
                <a:spcPts val="1750"/>
              </a:lnSpc>
              <a:spcAft>
                <a:spcPts val="400"/>
              </a:spcAft>
            </a:pPr>
            <a:r>
              <a:rPr sz="1450">
                <a:solidFill>
                  <a:srgbClr val="2B2B2B"/>
                </a:solidFill>
                <a:latin typeface="Calibri"/>
              </a:rPr>
              <a:t>•  Azure Pipelines—retained temporarily or deliberately</a:t>
            </a:r>
          </a:p>
        </p:txBody>
      </p:sp>
      <p:sp>
        <p:nvSpPr>
          <p:cNvPr id="15" name="Rectangle 14"/>
          <p:cNvSpPr>
            <a:spLocks/>
          </p:cNvSpPr>
          <p:nvPr/>
        </p:nvSpPr>
        <p:spPr>
          <a:xfrm>
            <a:off x="548640" y="4599432"/>
            <a:ext cx="11064240" cy="32004"/>
          </a:xfrm>
          <a:prstGeom prst="rect">
            <a:avLst/>
          </a:prstGeom>
          <a:solidFill>
            <a:srgbClr val="C1440E"/>
          </a:solidFill>
          <a:ln>
            <a:noFill/>
          </a:ln>
        </p:spPr>
        <p:txBody>
          <a:bodyPr rtlCol="0" anchor="ctr"/>
          <a:lstStyle/>
          <a:p>
            <a:pPr algn="ctr"/>
            <a:endParaRPr lang="en-US"/>
          </a:p>
        </p:txBody>
      </p:sp>
      <p:sp>
        <p:nvSpPr>
          <p:cNvPr id="16" name="TextBox 15"/>
          <p:cNvSpPr txBox="1"/>
          <p:nvPr/>
        </p:nvSpPr>
        <p:spPr>
          <a:xfrm>
            <a:off x="548640" y="4718304"/>
            <a:ext cx="2286000" cy="292608"/>
          </a:xfrm>
          <a:prstGeom prst="rect">
            <a:avLst/>
          </a:prstGeom>
          <a:noFill/>
        </p:spPr>
        <p:txBody>
          <a:bodyPr wrap="square" lIns="0" tIns="0" rIns="0" bIns="0" anchor="t">
            <a:spAutoFit/>
          </a:bodyPr>
          <a:lstStyle/>
          <a:p>
            <a:pPr algn="l"/>
            <a:r>
              <a:rPr lang="en-US" sz="1800" b="1" i="0">
                <a:solidFill>
                  <a:srgbClr val="1F3D2C"/>
                </a:solidFill>
                <a:latin typeface="Cambria"/>
              </a:rPr>
              <a:t>Integration layer</a:t>
            </a:r>
          </a:p>
        </p:txBody>
      </p:sp>
      <p:sp>
        <p:nvSpPr>
          <p:cNvPr id="17" name="TextBox 16"/>
          <p:cNvSpPr txBox="1">
            <a:spLocks/>
          </p:cNvSpPr>
          <p:nvPr/>
        </p:nvSpPr>
        <p:spPr>
          <a:xfrm>
            <a:off x="2788920" y="4727448"/>
            <a:ext cx="8823960" cy="256032"/>
          </a:xfrm>
          <a:prstGeom prst="rect">
            <a:avLst/>
          </a:prstGeom>
          <a:noFill/>
        </p:spPr>
        <p:txBody>
          <a:bodyPr wrap="square" lIns="0" tIns="0" rIns="0" bIns="0" anchor="t">
            <a:spAutoFit/>
          </a:bodyPr>
          <a:lstStyle/>
          <a:p>
            <a:pPr algn="l"/>
            <a:r>
              <a:rPr lang="en-US" sz="1400" b="0" i="0">
                <a:solidFill>
                  <a:srgbClr val="2B2B2B"/>
                </a:solidFill>
                <a:latin typeface="Calibri"/>
              </a:rPr>
              <a:t>The connective tissue that keeps planning, code, delivery, and reporting coherent.</a:t>
            </a:r>
          </a:p>
        </p:txBody>
      </p:sp>
      <p:sp>
        <p:nvSpPr>
          <p:cNvPr id="18" name="TextBox 17"/>
          <p:cNvSpPr txBox="1">
            <a:spLocks/>
          </p:cNvSpPr>
          <p:nvPr/>
        </p:nvSpPr>
        <p:spPr>
          <a:xfrm>
            <a:off x="548640" y="5102352"/>
            <a:ext cx="2011680" cy="512064"/>
          </a:xfrm>
          <a:prstGeom prst="rect">
            <a:avLst/>
          </a:prstGeom>
          <a:noFill/>
        </p:spPr>
        <p:txBody>
          <a:bodyPr wrap="square" lIns="0" tIns="0" rIns="0" bIns="0" anchor="ctr">
            <a:spAutoFit/>
          </a:bodyPr>
          <a:lstStyle/>
          <a:p>
            <a:pPr algn="ctr">
              <a:lnSpc>
                <a:spcPts val="1600"/>
              </a:lnSpc>
            </a:pPr>
            <a:r>
              <a:rPr lang="en-US" sz="1450" b="1" i="0">
                <a:solidFill>
                  <a:srgbClr val="1F3D2C"/>
                </a:solidFill>
                <a:latin typeface="Calibri"/>
              </a:rPr>
              <a:t>Work-item
traceability</a:t>
            </a:r>
          </a:p>
        </p:txBody>
      </p:sp>
      <p:sp>
        <p:nvSpPr>
          <p:cNvPr id="19" name="Rectangle 18"/>
          <p:cNvSpPr/>
          <p:nvPr/>
        </p:nvSpPr>
        <p:spPr>
          <a:xfrm>
            <a:off x="2686050" y="5175504"/>
            <a:ext cx="10972" cy="365760"/>
          </a:xfrm>
          <a:prstGeom prst="rect">
            <a:avLst/>
          </a:prstGeom>
          <a:solidFill>
            <a:srgbClr val="DDD8CC"/>
          </a:solidFill>
          <a:ln>
            <a:noFill/>
          </a:ln>
        </p:spPr>
        <p:txBody>
          <a:bodyPr rtlCol="0" anchor="ctr"/>
          <a:lstStyle/>
          <a:p>
            <a:pPr algn="ctr"/>
            <a:endParaRPr/>
          </a:p>
        </p:txBody>
      </p:sp>
      <p:sp>
        <p:nvSpPr>
          <p:cNvPr id="20" name="TextBox 19"/>
          <p:cNvSpPr txBox="1"/>
          <p:nvPr/>
        </p:nvSpPr>
        <p:spPr>
          <a:xfrm>
            <a:off x="2811780" y="5102352"/>
            <a:ext cx="2011680" cy="512064"/>
          </a:xfrm>
          <a:prstGeom prst="rect">
            <a:avLst/>
          </a:prstGeom>
          <a:noFill/>
        </p:spPr>
        <p:txBody>
          <a:bodyPr wrap="square" lIns="0" tIns="0" rIns="0" bIns="0" anchor="ctr">
            <a:spAutoFit/>
          </a:bodyPr>
          <a:lstStyle/>
          <a:p>
            <a:pPr algn="ctr">
              <a:lnSpc>
                <a:spcPts val="1600"/>
              </a:lnSpc>
            </a:pPr>
            <a:r>
              <a:rPr lang="en-US" sz="1450" b="1" i="0">
                <a:solidFill>
                  <a:srgbClr val="1F3D2C"/>
                </a:solidFill>
                <a:latin typeface="Calibri"/>
              </a:rPr>
              <a:t>Commit + pull-request
links</a:t>
            </a:r>
          </a:p>
        </p:txBody>
      </p:sp>
      <p:sp>
        <p:nvSpPr>
          <p:cNvPr id="21" name="Rectangle 20"/>
          <p:cNvSpPr>
            <a:spLocks/>
          </p:cNvSpPr>
          <p:nvPr/>
        </p:nvSpPr>
        <p:spPr>
          <a:xfrm>
            <a:off x="4949190" y="5175504"/>
            <a:ext cx="10972" cy="365760"/>
          </a:xfrm>
          <a:prstGeom prst="rect">
            <a:avLst/>
          </a:prstGeom>
          <a:solidFill>
            <a:srgbClr val="DDD8CC"/>
          </a:solidFill>
          <a:ln>
            <a:noFill/>
          </a:ln>
        </p:spPr>
        <p:txBody>
          <a:bodyPr rtlCol="0" anchor="ctr"/>
          <a:lstStyle/>
          <a:p>
            <a:pPr algn="ctr"/>
            <a:endParaRPr lang="en-US"/>
          </a:p>
        </p:txBody>
      </p:sp>
      <p:sp>
        <p:nvSpPr>
          <p:cNvPr id="22" name="TextBox 21"/>
          <p:cNvSpPr txBox="1"/>
          <p:nvPr/>
        </p:nvSpPr>
        <p:spPr>
          <a:xfrm>
            <a:off x="5074920" y="5102352"/>
            <a:ext cx="2011680" cy="512064"/>
          </a:xfrm>
          <a:prstGeom prst="rect">
            <a:avLst/>
          </a:prstGeom>
          <a:noFill/>
        </p:spPr>
        <p:txBody>
          <a:bodyPr wrap="square" lIns="0" tIns="0" rIns="0" bIns="0" anchor="ctr">
            <a:spAutoFit/>
          </a:bodyPr>
          <a:lstStyle/>
          <a:p>
            <a:pPr algn="ctr">
              <a:lnSpc>
                <a:spcPts val="1600"/>
              </a:lnSpc>
            </a:pPr>
            <a:r>
              <a:rPr lang="en-US" sz="1450" b="1" i="0">
                <a:solidFill>
                  <a:srgbClr val="1F3D2C"/>
                </a:solidFill>
                <a:latin typeface="Calibri"/>
              </a:rPr>
              <a:t>Pipeline
integration</a:t>
            </a:r>
          </a:p>
        </p:txBody>
      </p:sp>
      <p:sp>
        <p:nvSpPr>
          <p:cNvPr id="23" name="Rectangle 22"/>
          <p:cNvSpPr/>
          <p:nvPr/>
        </p:nvSpPr>
        <p:spPr>
          <a:xfrm>
            <a:off x="7212330" y="5175504"/>
            <a:ext cx="10972" cy="365760"/>
          </a:xfrm>
          <a:prstGeom prst="rect">
            <a:avLst/>
          </a:prstGeom>
          <a:solidFill>
            <a:srgbClr val="DDD8CC"/>
          </a:solidFill>
          <a:ln>
            <a:noFill/>
          </a:ln>
        </p:spPr>
        <p:txBody>
          <a:bodyPr rtlCol="0" anchor="ctr"/>
          <a:lstStyle/>
          <a:p>
            <a:pPr algn="ctr"/>
            <a:endParaRPr/>
          </a:p>
        </p:txBody>
      </p:sp>
      <p:sp>
        <p:nvSpPr>
          <p:cNvPr id="24" name="TextBox 23"/>
          <p:cNvSpPr txBox="1"/>
          <p:nvPr/>
        </p:nvSpPr>
        <p:spPr>
          <a:xfrm>
            <a:off x="7338060" y="5102352"/>
            <a:ext cx="2011680" cy="512064"/>
          </a:xfrm>
          <a:prstGeom prst="rect">
            <a:avLst/>
          </a:prstGeom>
          <a:noFill/>
        </p:spPr>
        <p:txBody>
          <a:bodyPr wrap="square" lIns="0" tIns="0" rIns="0" bIns="0" anchor="ctr">
            <a:spAutoFit/>
          </a:bodyPr>
          <a:lstStyle/>
          <a:p>
            <a:pPr algn="ctr">
              <a:lnSpc>
                <a:spcPts val="1600"/>
              </a:lnSpc>
            </a:pPr>
            <a:r>
              <a:rPr sz="1450" b="1" i="0">
                <a:solidFill>
                  <a:srgbClr val="1F3D2C"/>
                </a:solidFill>
                <a:latin typeface="Calibri"/>
              </a:rPr>
              <a:t>Identity
mapping</a:t>
            </a:r>
          </a:p>
        </p:txBody>
      </p:sp>
      <p:sp>
        <p:nvSpPr>
          <p:cNvPr id="25" name="Rectangle 24"/>
          <p:cNvSpPr/>
          <p:nvPr/>
        </p:nvSpPr>
        <p:spPr>
          <a:xfrm>
            <a:off x="9475470" y="5175504"/>
            <a:ext cx="10972" cy="365760"/>
          </a:xfrm>
          <a:prstGeom prst="rect">
            <a:avLst/>
          </a:prstGeom>
          <a:solidFill>
            <a:srgbClr val="DDD8CC"/>
          </a:solidFill>
          <a:ln>
            <a:noFill/>
          </a:ln>
        </p:spPr>
        <p:txBody>
          <a:bodyPr rtlCol="0" anchor="ctr"/>
          <a:lstStyle/>
          <a:p>
            <a:pPr algn="ctr"/>
            <a:endParaRPr/>
          </a:p>
        </p:txBody>
      </p:sp>
      <p:sp>
        <p:nvSpPr>
          <p:cNvPr id="26" name="TextBox 25"/>
          <p:cNvSpPr txBox="1"/>
          <p:nvPr/>
        </p:nvSpPr>
        <p:spPr>
          <a:xfrm>
            <a:off x="9601200" y="5102352"/>
            <a:ext cx="2011680" cy="512064"/>
          </a:xfrm>
          <a:prstGeom prst="rect">
            <a:avLst/>
          </a:prstGeom>
          <a:noFill/>
        </p:spPr>
        <p:txBody>
          <a:bodyPr wrap="square" lIns="0" tIns="0" rIns="0" bIns="0" anchor="ctr">
            <a:spAutoFit/>
          </a:bodyPr>
          <a:lstStyle/>
          <a:p>
            <a:pPr algn="ctr">
              <a:lnSpc>
                <a:spcPts val="1600"/>
              </a:lnSpc>
            </a:pPr>
            <a:r>
              <a:rPr sz="1450" b="1" i="0">
                <a:solidFill>
                  <a:srgbClr val="1F3D2C"/>
                </a:solidFill>
                <a:latin typeface="Calibri"/>
              </a:rPr>
              <a:t>Cross-platform
reporting</a:t>
            </a:r>
          </a:p>
        </p:txBody>
      </p:sp>
      <p:sp>
        <p:nvSpPr>
          <p:cNvPr id="34" name="Rounded Rectangle 30">
            <a:extLst>
              <a:ext uri="{FF2B5EF4-FFF2-40B4-BE49-F238E27FC236}">
                <a16:creationId xmlns:a16="http://schemas.microsoft.com/office/drawing/2014/main" id="{D1646937-CBCF-B3A5-B8E6-40CE73EF90E5}"/>
              </a:ext>
            </a:extLst>
          </p:cNvPr>
          <p:cNvSpPr/>
          <p:nvPr/>
        </p:nvSpPr>
        <p:spPr>
          <a:xfrm>
            <a:off x="548640" y="5864093"/>
            <a:ext cx="11064240" cy="713232"/>
          </a:xfrm>
          <a:prstGeom prst="roundRect">
            <a:avLst>
              <a:gd name="adj" fmla="val 12632"/>
            </a:avLst>
          </a:prstGeom>
          <a:solidFill>
            <a:srgbClr val="1F3D2C"/>
          </a:solidFill>
          <a:ln>
            <a:noFill/>
          </a:ln>
          <a:effectLst/>
        </p:spPr>
        <p:txBody>
          <a:bodyPr wrap="square" lIns="256032" tIns="54864" rIns="256032" bIns="54864" rtlCol="0" anchor="ctr"/>
          <a:lstStyle/>
          <a:p>
            <a:pPr algn="l">
              <a:spcBef>
                <a:spcPts val="0"/>
              </a:spcBef>
              <a:spcAft>
                <a:spcPts val="0"/>
              </a:spcAft>
            </a:pPr>
            <a:r>
              <a:rPr sz="1050" b="1" spc="120">
                <a:solidFill>
                  <a:srgbClr val="8C6A3F"/>
                </a:solidFill>
                <a:latin typeface="Calibri"/>
              </a:rPr>
              <a:t>TAKEAWAY </a:t>
            </a:r>
            <a:r>
              <a:rPr sz="1500" b="0">
                <a:solidFill>
                  <a:srgbClr val="F5F5F0"/>
                </a:solidFill>
                <a:latin typeface="Calibri"/>
              </a:rPr>
              <a:t>Hybrid is not a temporary failure to finish the migration. It can be the intended architecture.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1F3D2C"/>
        </a:solidFill>
        <a:effectLst/>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marL="0" indent="0" algn="ctr">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marL="0" indent="0" algn="ctr">
              <a:buNone/>
            </a:pPr>
            <a:r>
              <a:rPr lang="en-US" sz="1900" i="1" dirty="0">
                <a:solidFill>
                  <a:srgbClr val="8C6A3F"/>
                </a:solidFill>
                <a:latin typeface="Calibri" pitchFamily="34" charset="0"/>
                <a:ea typeface="Calibri" pitchFamily="34" charset="-122"/>
                <a:cs typeface="Calibri" pitchFamily="34" charset="-120"/>
              </a:rPr>
              <a:t>One quick question before we leave Section 2 — A Field Guide to the Local Species</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3</a:t>
            </a:r>
            <a:endParaRPr lang="en-US" sz="1700" dirty="0"/>
          </a:p>
        </p:txBody>
      </p:sp>
      <p:pic>
        <p:nvPicPr>
          <p:cNvPr id="4" name="Image 0" descr="/home/claude/pptx-build/assets/icons/FaShip-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Crossing the River </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a:solidFill>
                  <a:srgbClr val="8C6A3F"/>
                </a:solidFill>
                <a:latin typeface="Calibri"/>
              </a:rPr>
              <a:t>The river is crossed in layers: first the cargo, then the machinery that moves it, then the proof that it still works on the far bank.</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ExclamationTriangl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a:solidFill>
                  <a:srgbClr val="1F3D2C"/>
                </a:solidFill>
                <a:latin typeface="Cambria"/>
              </a:rPr>
              <a:t>Migration Risk Lives in Three Planes</a:t>
            </a:r>
            <a:endParaRPr lang="en-US" sz="3200" dirty="0"/>
          </a:p>
        </p:txBody>
      </p:sp>
      <p:sp>
        <p:nvSpPr>
          <p:cNvPr id="6" name="Rectangle 5"/>
          <p:cNvSpPr/>
          <p:nvPr/>
        </p:nvSpPr>
        <p:spPr>
          <a:xfrm>
            <a:off x="548640" y="1508760"/>
            <a:ext cx="11091672" cy="1143000"/>
          </a:xfrm>
          <a:prstGeom prst="rect">
            <a:avLst/>
          </a:prstGeom>
          <a:solidFill>
            <a:srgbClr val="F7F6F2"/>
          </a:solidFill>
          <a:ln w="12700">
            <a:solidFill>
              <a:srgbClr val="DDD8CC"/>
            </a:solidFill>
          </a:ln>
        </p:spPr>
        <p:txBody>
          <a:bodyPr rtlCol="0" anchor="ctr"/>
          <a:lstStyle/>
          <a:p>
            <a:pPr algn="ctr"/>
            <a:endParaRPr lang="en-US"/>
          </a:p>
        </p:txBody>
      </p:sp>
      <p:sp>
        <p:nvSpPr>
          <p:cNvPr id="7" name="TextBox 6"/>
          <p:cNvSpPr txBox="1"/>
          <p:nvPr/>
        </p:nvSpPr>
        <p:spPr>
          <a:xfrm>
            <a:off x="777240" y="1664207"/>
            <a:ext cx="2743200" cy="329184"/>
          </a:xfrm>
          <a:prstGeom prst="rect">
            <a:avLst/>
          </a:prstGeom>
          <a:noFill/>
        </p:spPr>
        <p:txBody>
          <a:bodyPr wrap="square" lIns="73152" tIns="73152" rIns="73152" bIns="73152" anchor="t">
            <a:spAutoFit/>
          </a:bodyPr>
          <a:lstStyle/>
          <a:p>
            <a:pPr algn="l"/>
            <a:r>
              <a:rPr lang="en-US" sz="1500" b="1" i="0">
                <a:solidFill>
                  <a:srgbClr val="C1440E"/>
                </a:solidFill>
                <a:latin typeface="Calibri"/>
              </a:rPr>
              <a:t>01  REPOSITORY DATA PLANE</a:t>
            </a:r>
          </a:p>
        </p:txBody>
      </p:sp>
      <p:sp>
        <p:nvSpPr>
          <p:cNvPr id="8" name="TextBox 7"/>
          <p:cNvSpPr txBox="1">
            <a:spLocks/>
          </p:cNvSpPr>
          <p:nvPr/>
        </p:nvSpPr>
        <p:spPr>
          <a:xfrm>
            <a:off x="3337560" y="1691639"/>
            <a:ext cx="7955279" cy="658368"/>
          </a:xfrm>
          <a:prstGeom prst="rect">
            <a:avLst/>
          </a:prstGeom>
          <a:noFill/>
        </p:spPr>
        <p:txBody>
          <a:bodyPr wrap="square" lIns="73152" tIns="73152" rIns="73152" bIns="73152" anchor="ctr">
            <a:spAutoFit/>
          </a:bodyPr>
          <a:lstStyle/>
          <a:p>
            <a:pPr algn="l"/>
            <a:r>
              <a:rPr lang="en-US" sz="1900" b="1" i="0">
                <a:solidFill>
                  <a:srgbClr val="2B2B2B"/>
                </a:solidFill>
                <a:latin typeface="Cambria"/>
              </a:rPr>
              <a:t>Git history  •  PR metadata  •  branch policies  •  identity attribution</a:t>
            </a:r>
          </a:p>
        </p:txBody>
      </p:sp>
      <p:sp>
        <p:nvSpPr>
          <p:cNvPr id="9" name="Rectangle 8"/>
          <p:cNvSpPr>
            <a:spLocks/>
          </p:cNvSpPr>
          <p:nvPr/>
        </p:nvSpPr>
        <p:spPr>
          <a:xfrm>
            <a:off x="548640" y="2862072"/>
            <a:ext cx="11091672" cy="1143000"/>
          </a:xfrm>
          <a:prstGeom prst="rect">
            <a:avLst/>
          </a:prstGeom>
          <a:solidFill>
            <a:srgbClr val="F7F6F2"/>
          </a:solidFill>
          <a:ln w="12700">
            <a:solidFill>
              <a:srgbClr val="DDD8CC"/>
            </a:solidFill>
          </a:ln>
        </p:spPr>
        <p:txBody>
          <a:bodyPr rtlCol="0" anchor="ctr"/>
          <a:lstStyle/>
          <a:p>
            <a:pPr algn="ctr"/>
            <a:endParaRPr lang="en-US"/>
          </a:p>
        </p:txBody>
      </p:sp>
      <p:sp>
        <p:nvSpPr>
          <p:cNvPr id="10" name="TextBox 9"/>
          <p:cNvSpPr txBox="1"/>
          <p:nvPr/>
        </p:nvSpPr>
        <p:spPr>
          <a:xfrm>
            <a:off x="777240" y="3017520"/>
            <a:ext cx="2743200" cy="329184"/>
          </a:xfrm>
          <a:prstGeom prst="rect">
            <a:avLst/>
          </a:prstGeom>
          <a:noFill/>
        </p:spPr>
        <p:txBody>
          <a:bodyPr wrap="square" lIns="73152" tIns="73152" rIns="73152" bIns="73152" anchor="t">
            <a:spAutoFit/>
          </a:bodyPr>
          <a:lstStyle/>
          <a:p>
            <a:pPr algn="l"/>
            <a:r>
              <a:rPr lang="en-US" sz="1500" b="1" i="0">
                <a:solidFill>
                  <a:srgbClr val="C1440E"/>
                </a:solidFill>
                <a:latin typeface="Calibri"/>
              </a:rPr>
              <a:t>02  AUTOMATION PLANE</a:t>
            </a:r>
          </a:p>
        </p:txBody>
      </p:sp>
      <p:sp>
        <p:nvSpPr>
          <p:cNvPr id="11" name="TextBox 10"/>
          <p:cNvSpPr txBox="1">
            <a:spLocks/>
          </p:cNvSpPr>
          <p:nvPr/>
        </p:nvSpPr>
        <p:spPr>
          <a:xfrm>
            <a:off x="3337560" y="3007882"/>
            <a:ext cx="7955279" cy="732508"/>
          </a:xfrm>
          <a:prstGeom prst="rect">
            <a:avLst/>
          </a:prstGeom>
          <a:noFill/>
        </p:spPr>
        <p:txBody>
          <a:bodyPr wrap="square" lIns="73152" tIns="73152" rIns="73152" bIns="73152" anchor="ctr">
            <a:spAutoFit/>
          </a:bodyPr>
          <a:lstStyle/>
          <a:p>
            <a:r>
              <a:rPr lang="en-US" sz="1900" b="1" dirty="0">
                <a:solidFill>
                  <a:srgbClr val="2B2B2B"/>
                </a:solidFill>
                <a:latin typeface="Cambria"/>
              </a:rPr>
              <a:t>Builds  •  deployments  •  approvals  •  secrets  •  runners  •  environments</a:t>
            </a:r>
          </a:p>
        </p:txBody>
      </p:sp>
      <p:sp>
        <p:nvSpPr>
          <p:cNvPr id="12" name="Rectangle 11"/>
          <p:cNvSpPr>
            <a:spLocks/>
          </p:cNvSpPr>
          <p:nvPr/>
        </p:nvSpPr>
        <p:spPr>
          <a:xfrm>
            <a:off x="548640" y="4215384"/>
            <a:ext cx="11091672" cy="1143000"/>
          </a:xfrm>
          <a:prstGeom prst="rect">
            <a:avLst/>
          </a:prstGeom>
          <a:solidFill>
            <a:srgbClr val="F7F6F2"/>
          </a:solidFill>
          <a:ln w="12700">
            <a:solidFill>
              <a:srgbClr val="DDD8CC"/>
            </a:solidFill>
          </a:ln>
        </p:spPr>
        <p:txBody>
          <a:bodyPr rtlCol="0" anchor="ctr"/>
          <a:lstStyle/>
          <a:p>
            <a:pPr algn="ctr"/>
            <a:endParaRPr lang="en-US"/>
          </a:p>
        </p:txBody>
      </p:sp>
      <p:sp>
        <p:nvSpPr>
          <p:cNvPr id="13" name="TextBox 12"/>
          <p:cNvSpPr txBox="1"/>
          <p:nvPr/>
        </p:nvSpPr>
        <p:spPr>
          <a:xfrm>
            <a:off x="777240" y="4370832"/>
            <a:ext cx="2743200" cy="329184"/>
          </a:xfrm>
          <a:prstGeom prst="rect">
            <a:avLst/>
          </a:prstGeom>
          <a:noFill/>
        </p:spPr>
        <p:txBody>
          <a:bodyPr wrap="square" lIns="73152" tIns="73152" rIns="73152" bIns="73152" anchor="t">
            <a:spAutoFit/>
          </a:bodyPr>
          <a:lstStyle/>
          <a:p>
            <a:pPr algn="l"/>
            <a:r>
              <a:rPr lang="en-US" sz="1500" b="1" i="0">
                <a:solidFill>
                  <a:srgbClr val="C1440E"/>
                </a:solidFill>
                <a:latin typeface="Calibri"/>
              </a:rPr>
              <a:t>03  VALIDATION PLANE</a:t>
            </a:r>
          </a:p>
        </p:txBody>
      </p:sp>
      <p:sp>
        <p:nvSpPr>
          <p:cNvPr id="14" name="TextBox 13"/>
          <p:cNvSpPr txBox="1"/>
          <p:nvPr/>
        </p:nvSpPr>
        <p:spPr>
          <a:xfrm>
            <a:off x="3337560" y="4398264"/>
            <a:ext cx="7955279" cy="658368"/>
          </a:xfrm>
          <a:prstGeom prst="rect">
            <a:avLst/>
          </a:prstGeom>
          <a:noFill/>
        </p:spPr>
        <p:txBody>
          <a:bodyPr wrap="square" lIns="73152" tIns="73152" rIns="73152" bIns="73152" anchor="ctr">
            <a:spAutoFit/>
          </a:bodyPr>
          <a:lstStyle/>
          <a:p>
            <a:pPr algn="l"/>
            <a:r>
              <a:rPr lang="en-US" sz="1900" b="1" i="0" dirty="0">
                <a:solidFill>
                  <a:srgbClr val="2B2B2B"/>
                </a:solidFill>
                <a:latin typeface="Cambria"/>
              </a:rPr>
              <a:t>Behavioral equivalence  •  security  •  performance  •  rollback  •  operability</a:t>
            </a:r>
          </a:p>
        </p:txBody>
      </p:sp>
      <p:sp>
        <p:nvSpPr>
          <p:cNvPr id="15" name="TextBox 14"/>
          <p:cNvSpPr txBox="1"/>
          <p:nvPr/>
        </p:nvSpPr>
        <p:spPr>
          <a:xfrm>
            <a:off x="566928" y="5623560"/>
            <a:ext cx="11064240" cy="411480"/>
          </a:xfrm>
          <a:prstGeom prst="rect">
            <a:avLst/>
          </a:prstGeom>
          <a:noFill/>
        </p:spPr>
        <p:txBody>
          <a:bodyPr wrap="square" lIns="73152" tIns="73152" rIns="73152" bIns="73152" anchor="t">
            <a:spAutoFit/>
          </a:bodyPr>
          <a:lstStyle/>
          <a:p>
            <a:pPr algn="ctr"/>
            <a:r>
              <a:rPr sz="1500" b="0" i="1" dirty="0">
                <a:solidFill>
                  <a:srgbClr val="8C6A3F"/>
                </a:solidFill>
                <a:latin typeface="Calibri"/>
              </a:rPr>
              <a:t>Manual judgment, official tooling, and AI assistance can contribute within every plane.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Rout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a:rPr>
              <a:t>Migration methods</a:t>
            </a:r>
            <a:endParaRPr lang="en-US" sz="3200" dirty="0"/>
          </a:p>
        </p:txBody>
      </p:sp>
      <p:graphicFrame>
        <p:nvGraphicFramePr>
          <p:cNvPr id="6" name="Table 5"/>
          <p:cNvGraphicFramePr>
            <a:graphicFrameLocks noGrp="1"/>
          </p:cNvGraphicFramePr>
          <p:nvPr>
            <p:extLst>
              <p:ext uri="{D42A27DB-BD31-4B8C-83A1-F6EECF244321}">
                <p14:modId xmlns:p14="http://schemas.microsoft.com/office/powerpoint/2010/main" val="3373412851"/>
              </p:ext>
            </p:extLst>
          </p:nvPr>
        </p:nvGraphicFramePr>
        <p:xfrm>
          <a:off x="548640" y="1508760"/>
          <a:ext cx="11091672" cy="4160520"/>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576072">
                <a:tc>
                  <a:txBody>
                    <a:bodyPr/>
                    <a:lstStyle/>
                    <a:p>
                      <a:pPr algn="l"/>
                      <a:r>
                        <a:rPr sz="1400" b="1">
                          <a:solidFill>
                            <a:srgbClr val="F5F5F0"/>
                          </a:solidFill>
                          <a:latin typeface="Calibri"/>
                        </a:rPr>
                        <a:t>MIGRATION PLANE</a:t>
                      </a:r>
                    </a:p>
                  </a:txBody>
                  <a:tcPr marT="64008" marB="64008" anchor="ctr">
                    <a:solidFill>
                      <a:srgbClr val="1F3D2C"/>
                    </a:solidFill>
                  </a:tcPr>
                </a:tc>
                <a:tc>
                  <a:txBody>
                    <a:bodyPr/>
                    <a:lstStyle/>
                    <a:p>
                      <a:pPr algn="l"/>
                      <a:r>
                        <a:rPr sz="1400" b="1">
                          <a:solidFill>
                            <a:srgbClr val="F5F5F0"/>
                          </a:solidFill>
                          <a:latin typeface="Calibri"/>
                        </a:rPr>
                        <a:t>MANUAL JUDGMENT</a:t>
                      </a:r>
                    </a:p>
                  </a:txBody>
                  <a:tcPr marT="64008" marB="64008" anchor="ctr">
                    <a:solidFill>
                      <a:srgbClr val="1F3D2C"/>
                    </a:solidFill>
                  </a:tcPr>
                </a:tc>
                <a:tc>
                  <a:txBody>
                    <a:bodyPr/>
                    <a:lstStyle/>
                    <a:p>
                      <a:pPr algn="l"/>
                      <a:r>
                        <a:rPr sz="1400" b="1">
                          <a:solidFill>
                            <a:srgbClr val="F5F5F0"/>
                          </a:solidFill>
                          <a:latin typeface="Calibri"/>
                        </a:rPr>
                        <a:t>OFFICIAL TOOLING</a:t>
                      </a:r>
                    </a:p>
                  </a:txBody>
                  <a:tcPr marT="64008" marB="64008" anchor="ctr">
                    <a:solidFill>
                      <a:srgbClr val="1F3D2C"/>
                    </a:solidFill>
                  </a:tcPr>
                </a:tc>
                <a:tc>
                  <a:txBody>
                    <a:bodyPr/>
                    <a:lstStyle/>
                    <a:p>
                      <a:pPr algn="l"/>
                      <a:r>
                        <a:rPr sz="1400" b="1">
                          <a:solidFill>
                            <a:srgbClr val="F5F5F0"/>
                          </a:solidFill>
                          <a:latin typeface="Calibri"/>
                        </a:rPr>
                        <a:t>AI ASSISTANCE</a:t>
                      </a:r>
                    </a:p>
                  </a:txBody>
                  <a:tcPr marT="64008" marB="64008" anchor="ctr">
                    <a:solidFill>
                      <a:srgbClr val="1F3D2C"/>
                    </a:solidFill>
                  </a:tcPr>
                </a:tc>
                <a:extLst>
                  <a:ext uri="{0D108BD9-81ED-4DB2-BD59-A6C34878D82A}">
                    <a16:rowId xmlns:a16="http://schemas.microsoft.com/office/drawing/2014/main" val="10000"/>
                  </a:ext>
                </a:extLst>
              </a:tr>
              <a:tr h="1188720">
                <a:tc>
                  <a:txBody>
                    <a:bodyPr/>
                    <a:lstStyle/>
                    <a:p>
                      <a:pPr algn="l"/>
                      <a:r>
                        <a:rPr sz="1400" b="1">
                          <a:solidFill>
                            <a:srgbClr val="C1440E"/>
                          </a:solidFill>
                          <a:latin typeface="Calibri"/>
                        </a:rPr>
                        <a:t>Repository data</a:t>
                      </a:r>
                    </a:p>
                  </a:txBody>
                  <a:tcPr marT="64008" marB="64008" anchor="ctr">
                    <a:solidFill>
                      <a:srgbClr val="F7F6F2"/>
                    </a:solidFill>
                  </a:tcPr>
                </a:tc>
                <a:tc>
                  <a:txBody>
                    <a:bodyPr/>
                    <a:lstStyle/>
                    <a:p>
                      <a:pPr algn="l"/>
                      <a:r>
                        <a:rPr sz="1400" b="0">
                          <a:solidFill>
                            <a:srgbClr val="2B2B2B"/>
                          </a:solidFill>
                          <a:latin typeface="Calibri"/>
                        </a:rPr>
                        <a:t>Resolve identity, permissions, visibility, and policy exceptions.</a:t>
                      </a:r>
                    </a:p>
                  </a:txBody>
                  <a:tcPr marT="64008" marB="64008" anchor="ctr">
                    <a:solidFill>
                      <a:srgbClr val="F7F6F2"/>
                    </a:solidFill>
                  </a:tcPr>
                </a:tc>
                <a:tc>
                  <a:txBody>
                    <a:bodyPr/>
                    <a:lstStyle/>
                    <a:p>
                      <a:pPr algn="l"/>
                      <a:r>
                        <a:rPr sz="1400" b="0">
                          <a:solidFill>
                            <a:srgbClr val="2B2B2B"/>
                          </a:solidFill>
                          <a:latin typeface="Calibri"/>
                        </a:rPr>
                        <a:t>GEI / gh-ado2gh; Enterprise Live Migrations (ELM) where eligible.</a:t>
                      </a:r>
                    </a:p>
                  </a:txBody>
                  <a:tcPr marT="64008" marB="64008" anchor="ctr">
                    <a:solidFill>
                      <a:srgbClr val="F7F6F2"/>
                    </a:solidFill>
                  </a:tcPr>
                </a:tc>
                <a:tc>
                  <a:txBody>
                    <a:bodyPr/>
                    <a:lstStyle/>
                    <a:p>
                      <a:pPr algn="l"/>
                      <a:r>
                        <a:rPr sz="1400" b="0">
                          <a:solidFill>
                            <a:srgbClr val="2B2B2B"/>
                          </a:solidFill>
                          <a:latin typeface="Calibri"/>
                        </a:rPr>
                        <a:t>Triage inventory and explain migration-log failures.</a:t>
                      </a:r>
                    </a:p>
                  </a:txBody>
                  <a:tcPr marT="64008" marB="64008" anchor="ctr">
                    <a:solidFill>
                      <a:srgbClr val="F7F6F2"/>
                    </a:solidFill>
                  </a:tcPr>
                </a:tc>
                <a:extLst>
                  <a:ext uri="{0D108BD9-81ED-4DB2-BD59-A6C34878D82A}">
                    <a16:rowId xmlns:a16="http://schemas.microsoft.com/office/drawing/2014/main" val="10001"/>
                  </a:ext>
                </a:extLst>
              </a:tr>
              <a:tr h="1188720">
                <a:tc>
                  <a:txBody>
                    <a:bodyPr/>
                    <a:lstStyle/>
                    <a:p>
                      <a:pPr algn="l"/>
                      <a:r>
                        <a:rPr sz="1400" b="1" dirty="0">
                          <a:solidFill>
                            <a:srgbClr val="C1440E"/>
                          </a:solidFill>
                          <a:latin typeface="Calibri"/>
                        </a:rPr>
                        <a:t>Automation</a:t>
                      </a:r>
                    </a:p>
                  </a:txBody>
                  <a:tcPr marT="64008" marB="64008" anchor="ctr">
                    <a:solidFill>
                      <a:srgbClr val="FFFFFF"/>
                    </a:solidFill>
                  </a:tcPr>
                </a:tc>
                <a:tc>
                  <a:txBody>
                    <a:bodyPr/>
                    <a:lstStyle/>
                    <a:p>
                      <a:pPr algn="l"/>
                      <a:r>
                        <a:rPr sz="1400" b="0">
                          <a:solidFill>
                            <a:srgbClr val="2B2B2B"/>
                          </a:solidFill>
                          <a:latin typeface="Calibri"/>
                        </a:rPr>
                        <a:t>Redesign approvals, secrets, runners, environments, and lifecycle boundaries.</a:t>
                      </a:r>
                    </a:p>
                  </a:txBody>
                  <a:tcPr marT="64008" marB="64008" anchor="ctr">
                    <a:solidFill>
                      <a:srgbClr val="FFFFFF"/>
                    </a:solidFill>
                  </a:tcPr>
                </a:tc>
                <a:tc>
                  <a:txBody>
                    <a:bodyPr/>
                    <a:lstStyle/>
                    <a:p>
                      <a:pPr algn="l"/>
                      <a:r>
                        <a:rPr sz="1400" b="0" dirty="0">
                          <a:solidFill>
                            <a:srgbClr val="2B2B2B"/>
                          </a:solidFill>
                          <a:latin typeface="Calibri"/>
                        </a:rPr>
                        <a:t>Actions Importer audits and converts supported constructs.</a:t>
                      </a:r>
                    </a:p>
                  </a:txBody>
                  <a:tcPr marT="64008" marB="64008" anchor="ctr">
                    <a:solidFill>
                      <a:srgbClr val="FFFFFF"/>
                    </a:solidFill>
                  </a:tcPr>
                </a:tc>
                <a:tc>
                  <a:txBody>
                    <a:bodyPr/>
                    <a:lstStyle/>
                    <a:p>
                      <a:pPr algn="l"/>
                      <a:r>
                        <a:rPr sz="1400" b="0" dirty="0">
                          <a:solidFill>
                            <a:srgbClr val="2B2B2B"/>
                          </a:solidFill>
                          <a:latin typeface="Calibri"/>
                        </a:rPr>
                        <a:t>Analyze intent, draft semantic conversions, and explain deltas.</a:t>
                      </a:r>
                    </a:p>
                  </a:txBody>
                  <a:tcPr marT="64008" marB="64008" anchor="ctr">
                    <a:solidFill>
                      <a:srgbClr val="FFFFFF"/>
                    </a:solidFill>
                  </a:tcPr>
                </a:tc>
                <a:extLst>
                  <a:ext uri="{0D108BD9-81ED-4DB2-BD59-A6C34878D82A}">
                    <a16:rowId xmlns:a16="http://schemas.microsoft.com/office/drawing/2014/main" val="10002"/>
                  </a:ext>
                </a:extLst>
              </a:tr>
              <a:tr h="1207008">
                <a:tc>
                  <a:txBody>
                    <a:bodyPr/>
                    <a:lstStyle/>
                    <a:p>
                      <a:pPr algn="l"/>
                      <a:r>
                        <a:rPr sz="1400" b="1">
                          <a:solidFill>
                            <a:srgbClr val="C1440E"/>
                          </a:solidFill>
                          <a:latin typeface="Calibri"/>
                        </a:rPr>
                        <a:t>Validation</a:t>
                      </a:r>
                    </a:p>
                  </a:txBody>
                  <a:tcPr marT="64008" marB="64008" anchor="ctr">
                    <a:solidFill>
                      <a:srgbClr val="F7F6F2"/>
                    </a:solidFill>
                  </a:tcPr>
                </a:tc>
                <a:tc>
                  <a:txBody>
                    <a:bodyPr/>
                    <a:lstStyle/>
                    <a:p>
                      <a:pPr algn="l"/>
                      <a:r>
                        <a:rPr sz="1400" b="0" dirty="0">
                          <a:solidFill>
                            <a:srgbClr val="2B2B2B"/>
                          </a:solidFill>
                          <a:latin typeface="Calibri"/>
                        </a:rPr>
                        <a:t>Own acceptance criteria, risk decisions, cutover, and rollback.</a:t>
                      </a:r>
                    </a:p>
                  </a:txBody>
                  <a:tcPr marT="64008" marB="64008" anchor="ctr">
                    <a:solidFill>
                      <a:srgbClr val="F7F6F2"/>
                    </a:solidFill>
                  </a:tcPr>
                </a:tc>
                <a:tc>
                  <a:txBody>
                    <a:bodyPr/>
                    <a:lstStyle/>
                    <a:p>
                      <a:pPr algn="l"/>
                      <a:r>
                        <a:rPr sz="1400" b="0" dirty="0">
                          <a:solidFill>
                            <a:srgbClr val="2B2B2B"/>
                          </a:solidFill>
                          <a:latin typeface="Calibri"/>
                        </a:rPr>
                        <a:t>Tests, scanners, deployment gates, and observability.</a:t>
                      </a:r>
                    </a:p>
                  </a:txBody>
                  <a:tcPr marT="64008" marB="64008" anchor="ctr">
                    <a:solidFill>
                      <a:srgbClr val="F7F6F2"/>
                    </a:solidFill>
                  </a:tcPr>
                </a:tc>
                <a:tc>
                  <a:txBody>
                    <a:bodyPr/>
                    <a:lstStyle/>
                    <a:p>
                      <a:pPr algn="l"/>
                      <a:r>
                        <a:rPr sz="1400" b="0" dirty="0">
                          <a:solidFill>
                            <a:srgbClr val="2B2B2B"/>
                          </a:solidFill>
                          <a:latin typeface="Calibri"/>
                        </a:rPr>
                        <a:t>Generate test hypotheses, compare behavior, and triage failures.</a:t>
                      </a:r>
                    </a:p>
                  </a:txBody>
                  <a:tcPr marT="64008" marB="64008" anchor="ctr">
                    <a:solidFill>
                      <a:srgbClr val="F7F6F2"/>
                    </a:solidFill>
                  </a:tcPr>
                </a:tc>
                <a:extLst>
                  <a:ext uri="{0D108BD9-81ED-4DB2-BD59-A6C34878D82A}">
                    <a16:rowId xmlns:a16="http://schemas.microsoft.com/office/drawing/2014/main" val="10003"/>
                  </a:ext>
                </a:extLst>
              </a:tr>
            </a:tbl>
          </a:graphicData>
        </a:graphic>
      </p:graphicFrame>
      <p:sp>
        <p:nvSpPr>
          <p:cNvPr id="8" name="Rounded Rectangle 7"/>
          <p:cNvSpPr/>
          <p:nvPr/>
        </p:nvSpPr>
        <p:spPr>
          <a:xfrm>
            <a:off x="548640" y="5568696"/>
            <a:ext cx="11064240" cy="731520"/>
          </a:xfrm>
          <a:prstGeom prst="roundRect">
            <a:avLst>
              <a:gd name="adj" fmla="val 12632"/>
            </a:avLst>
          </a:prstGeom>
          <a:solidFill>
            <a:srgbClr val="1F3D2C"/>
          </a:solidFill>
          <a:ln>
            <a:noFill/>
          </a:ln>
          <a:effectLst/>
        </p:spPr>
        <p:txBody>
          <a:bodyPr rtlCol="0" anchor="ctr"/>
          <a:lstStyle/>
          <a:p>
            <a:pPr algn="ctr"/>
            <a:endParaRPr/>
          </a:p>
        </p:txBody>
      </p:sp>
      <p:sp>
        <p:nvSpPr>
          <p:cNvPr id="7" name="TextBox 6"/>
          <p:cNvSpPr txBox="1">
            <a:spLocks/>
          </p:cNvSpPr>
          <p:nvPr/>
        </p:nvSpPr>
        <p:spPr>
          <a:xfrm>
            <a:off x="548640" y="5568696"/>
            <a:ext cx="11064240" cy="731520"/>
          </a:xfrm>
          <a:prstGeom prst="rect">
            <a:avLst/>
          </a:prstGeom>
          <a:noFill/>
        </p:spPr>
        <p:txBody>
          <a:bodyPr wrap="square" lIns="256032" tIns="54864" rIns="256032" bIns="54864" anchor="ctr">
            <a:spAutoFit/>
          </a:bodyPr>
          <a:lstStyle/>
          <a:p>
            <a:pPr algn="l"/>
            <a:r>
              <a:rPr sz="1050" b="1" spc="120">
                <a:solidFill>
                  <a:srgbClr val="8C6A3F"/>
                </a:solidFill>
                <a:latin typeface="Calibri"/>
              </a:rPr>
              <a:t>TAKEAWAY </a:t>
            </a:r>
            <a:r>
              <a:rPr sz="1500" b="0">
                <a:solidFill>
                  <a:srgbClr val="F5F5F0"/>
                </a:solidFill>
                <a:latin typeface="Calibri"/>
              </a:rPr>
              <a:t>The methods are complementary. None is a substitute for evidence in the validation plane.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HandPaper-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a:solidFill>
                  <a:srgbClr val="1F3D2C"/>
                </a:solidFill>
                <a:latin typeface="Cambria"/>
              </a:rPr>
              <a:t>Manual Mapping Exposes the Semantic Gaps</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2748089721"/>
              </p:ext>
            </p:extLst>
          </p:nvPr>
        </p:nvGraphicFramePr>
        <p:xfrm>
          <a:off x="548640" y="1508760"/>
          <a:ext cx="11064240" cy="3931920"/>
        </p:xfrm>
        <a:graphic>
          <a:graphicData uri="http://schemas.openxmlformats.org/drawingml/2006/table">
            <a:tbl>
              <a:tblPr/>
              <a:tblGrid>
                <a:gridCol w="553212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tblGrid>
              <a:tr h="491490">
                <a:tc>
                  <a:txBody>
                    <a:bodyPr/>
                    <a:lstStyle/>
                    <a:p>
                      <a:pPr marL="0" indent="0">
                        <a:buNone/>
                      </a:pPr>
                      <a:r>
                        <a:rPr lang="en-US" sz="1500" b="1" dirty="0">
                          <a:solidFill>
                            <a:srgbClr val="F5F5F0"/>
                          </a:solidFill>
                          <a:latin typeface="Calibri" pitchFamily="34" charset="0"/>
                          <a:ea typeface="Calibri" pitchFamily="34" charset="-122"/>
                          <a:cs typeface="Calibri" pitchFamily="34" charset="-120"/>
                        </a:rPr>
                        <a:t>Azure Pipelines</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buNone/>
                      </a:pPr>
                      <a:r>
                        <a:rPr lang="en-US" sz="1500" b="1" dirty="0">
                          <a:solidFill>
                            <a:srgbClr val="F5F5F0"/>
                          </a:solidFill>
                          <a:latin typeface="Calibri" pitchFamily="34" charset="0"/>
                          <a:ea typeface="Calibri" pitchFamily="34" charset="-122"/>
                          <a:cs typeface="Calibri" pitchFamily="34" charset="-120"/>
                        </a:rPr>
                        <a:t>GitHub Actions</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extLst>
                  <a:ext uri="{0D108BD9-81ED-4DB2-BD59-A6C34878D82A}">
                    <a16:rowId xmlns:a16="http://schemas.microsoft.com/office/drawing/2014/main" val="10000"/>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Pipeline</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Workflow</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Agent Pool</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Runner</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Service Connection</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OIDC / secrets</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Variable Group</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Secrets &amp; variables</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Task</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Action</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condition</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if</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dependsOn</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needs</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7"/>
                  </a:ext>
                </a:extLst>
              </a:tr>
            </a:tbl>
          </a:graphicData>
        </a:graphic>
      </p:graphicFrame>
      <p:sp>
        <p:nvSpPr>
          <p:cNvPr id="7" name="Shape 3"/>
          <p:cNvSpPr/>
          <p:nvPr/>
        </p:nvSpPr>
        <p:spPr>
          <a:xfrm>
            <a:off x="548640" y="5577840"/>
            <a:ext cx="11064240" cy="960120"/>
          </a:xfrm>
          <a:prstGeom prst="roundRect">
            <a:avLst>
              <a:gd name="adj" fmla="val 12632"/>
            </a:avLst>
          </a:prstGeom>
          <a:solidFill>
            <a:srgbClr val="1F3D2C"/>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8" name="Text 4"/>
          <p:cNvSpPr txBox="1"/>
          <p:nvPr/>
        </p:nvSpPr>
        <p:spPr>
          <a:xfrm>
            <a:off x="548640" y="5577840"/>
            <a:ext cx="11064240" cy="960120"/>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TAKEAWAY </a:t>
            </a:r>
            <a:r>
              <a:rPr sz="1500" b="0">
                <a:solidFill>
                  <a:srgbClr val="F5F5F0"/>
                </a:solidFill>
                <a:latin typeface="Calibri"/>
              </a:rPr>
              <a:t>Translation is a design exercise: preserve the original security and lifecycle intent, then validate `if`, `needs`, shell and error handling, approvals, runners and environment behaviour.</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Databas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868680"/>
          </a:xfrm>
          <a:prstGeom prst="rect">
            <a:avLst/>
          </a:prstGeom>
          <a:noFill/>
          <a:ln/>
        </p:spPr>
        <p:txBody>
          <a:bodyPr wrap="square" lIns="0" tIns="0" rIns="0" bIns="0" rtlCol="0" anchor="t"/>
          <a:lstStyle/>
          <a:p>
            <a:pPr marL="0" indent="0">
              <a:buNone/>
            </a:pPr>
            <a:r>
              <a:rPr lang="en-US" sz="3200" b="1">
                <a:solidFill>
                  <a:srgbClr val="1F3D2C"/>
                </a:solidFill>
                <a:latin typeface="Cambria"/>
              </a:rPr>
              <a:t>Repository Plane — gh-ado2gh Orchestrates the Move</a:t>
            </a:r>
            <a:endParaRPr lang="en-US" sz="3200" dirty="0"/>
          </a:p>
        </p:txBody>
      </p:sp>
      <p:sp>
        <p:nvSpPr>
          <p:cNvPr id="6" name="Shape 3"/>
          <p:cNvSpPr/>
          <p:nvPr/>
        </p:nvSpPr>
        <p:spPr>
          <a:xfrm>
            <a:off x="548640" y="1645920"/>
            <a:ext cx="5349240" cy="3429000"/>
          </a:xfrm>
          <a:prstGeom prst="roundRect">
            <a:avLst>
              <a:gd name="adj" fmla="val 32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4800600" cy="457200"/>
          </a:xfrm>
          <a:prstGeom prst="rect">
            <a:avLst/>
          </a:prstGeom>
          <a:noFill/>
          <a:ln/>
        </p:spPr>
        <p:txBody>
          <a:bodyPr wrap="square" lIns="0" tIns="0" rIns="0" bIns="0" rtlCol="0" anchor="ctr"/>
          <a:lstStyle/>
          <a:p>
            <a:pPr marL="0" indent="0">
              <a:buNone/>
            </a:pPr>
            <a:r>
              <a:rPr lang="en-US" sz="1900" b="1">
                <a:solidFill>
                  <a:srgbClr val="1F3D2C"/>
                </a:solidFill>
                <a:latin typeface="Cambria"/>
              </a:rPr>
              <a:t>What It Does</a:t>
            </a:r>
            <a:endParaRPr lang="en-US" sz="1900" dirty="0"/>
          </a:p>
        </p:txBody>
      </p:sp>
      <p:sp>
        <p:nvSpPr>
          <p:cNvPr id="8" name="Text 5"/>
          <p:cNvSpPr txBox="1"/>
          <p:nvPr/>
        </p:nvSpPr>
        <p:spPr>
          <a:xfrm>
            <a:off x="822960" y="2331720"/>
            <a:ext cx="4800600" cy="2651760"/>
          </a:xfrm>
          <a:prstGeom prst="rect">
            <a:avLst/>
          </a:prstGeom>
          <a:noFill/>
          <a:ln/>
        </p:spPr>
        <p:txBody>
          <a:bodyPr wrap="square" lIns="0" tIns="0" rIns="0" bIns="0" rtlCol="0" anchor="ctr"/>
          <a:lstStyle/>
          <a:p>
            <a:pPr marL="285750" indent="-285750">
              <a:lnSpc>
                <a:spcPct val="110000"/>
              </a:lnSpc>
              <a:spcAft>
                <a:spcPts val="800"/>
              </a:spcAft>
              <a:buSzPct val="100000"/>
              <a:buFont typeface="Arial" panose="020B0604020202020204" pitchFamily="34" charset="0"/>
              <a:buChar char="•"/>
            </a:pPr>
            <a:r>
              <a:rPr lang="en-US" sz="1450" dirty="0">
                <a:solidFill>
                  <a:srgbClr val="2B2B2B"/>
                </a:solidFill>
                <a:latin typeface="Cascadia Mono" panose="020B0609020000020004" pitchFamily="49" charset="0"/>
                <a:ea typeface="Cascadia Mono" panose="020B0609020000020004" pitchFamily="49" charset="0"/>
                <a:cs typeface="Cascadia Mono" panose="020B0609020000020004" pitchFamily="49" charset="0"/>
              </a:rPr>
              <a:t>inventory-report</a:t>
            </a:r>
            <a:r>
              <a:rPr lang="en-US" sz="1450" dirty="0">
                <a:solidFill>
                  <a:srgbClr val="2B2B2B"/>
                </a:solidFill>
                <a:latin typeface="Calibri"/>
              </a:rPr>
              <a:t> profiles repositories and PR volume</a:t>
            </a:r>
            <a:endParaRPr lang="en-US" sz="1450" dirty="0"/>
          </a:p>
          <a:p>
            <a:pPr marL="285750" indent="-285750">
              <a:spcAft>
                <a:spcPts val="800"/>
              </a:spcAft>
              <a:buFont typeface="Arial" panose="020B0604020202020204" pitchFamily="34" charset="0"/>
              <a:buChar char="•"/>
            </a:pPr>
            <a:r>
              <a:rPr lang="en-US" sz="1450" dirty="0">
                <a:solidFill>
                  <a:srgbClr val="2B2B2B"/>
                </a:solidFill>
                <a:latin typeface="Cascadia Mono" panose="020B0609020000020004" pitchFamily="49" charset="0"/>
                <a:ea typeface="Cascadia Mono" panose="020B0609020000020004" pitchFamily="49" charset="0"/>
                <a:cs typeface="Cascadia Mono" panose="020B0609020000020004" pitchFamily="49" charset="0"/>
              </a:rPr>
              <a:t>generate-script</a:t>
            </a:r>
            <a:r>
              <a:rPr lang="en-US" sz="1450" dirty="0">
                <a:solidFill>
                  <a:srgbClr val="2B2B2B"/>
                </a:solidFill>
                <a:latin typeface="Calibri"/>
              </a:rPr>
              <a:t> creates reviewable migration code</a:t>
            </a:r>
          </a:p>
          <a:p>
            <a:pPr marL="285750" indent="-285750">
              <a:spcAft>
                <a:spcPts val="800"/>
              </a:spcAft>
              <a:buFont typeface="Arial" panose="020B0604020202020204" pitchFamily="34" charset="0"/>
              <a:buChar char="•"/>
            </a:pPr>
            <a:r>
              <a:rPr lang="en-US" sz="1450" dirty="0">
                <a:solidFill>
                  <a:srgbClr val="2B2B2B"/>
                </a:solidFill>
                <a:latin typeface="Cascadia Mono" panose="020B0609020000020004" pitchFamily="49" charset="0"/>
                <a:ea typeface="Cascadia Mono" panose="020B0609020000020004" pitchFamily="49" charset="0"/>
                <a:cs typeface="Cascadia Mono" panose="020B0609020000020004" pitchFamily="49" charset="0"/>
              </a:rPr>
              <a:t>--all </a:t>
            </a:r>
            <a:r>
              <a:rPr lang="en-US" sz="1450" dirty="0">
                <a:solidFill>
                  <a:srgbClr val="2B2B2B"/>
                </a:solidFill>
                <a:latin typeface="Calibri"/>
              </a:rPr>
              <a:t>adds team creation, Boards integration, and pipeline rewiring</a:t>
            </a:r>
          </a:p>
        </p:txBody>
      </p:sp>
      <p:sp>
        <p:nvSpPr>
          <p:cNvPr id="9" name="Shape 6"/>
          <p:cNvSpPr/>
          <p:nvPr/>
        </p:nvSpPr>
        <p:spPr>
          <a:xfrm>
            <a:off x="6263640" y="1645920"/>
            <a:ext cx="5349240" cy="3429000"/>
          </a:xfrm>
          <a:prstGeom prst="roundRect">
            <a:avLst>
              <a:gd name="adj" fmla="val 32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6537960" y="1828800"/>
            <a:ext cx="4800600" cy="457200"/>
          </a:xfrm>
          <a:prstGeom prst="rect">
            <a:avLst/>
          </a:prstGeom>
          <a:noFill/>
          <a:ln/>
        </p:spPr>
        <p:txBody>
          <a:bodyPr wrap="square" lIns="0" tIns="0" rIns="0" bIns="0" rtlCol="0" anchor="ctr"/>
          <a:lstStyle/>
          <a:p>
            <a:pPr marL="0" indent="0">
              <a:buNone/>
            </a:pPr>
            <a:r>
              <a:rPr lang="en-US" sz="1900" b="1" dirty="0">
                <a:solidFill>
                  <a:srgbClr val="F5F5F0"/>
                </a:solidFill>
                <a:latin typeface="Cambria"/>
              </a:rPr>
              <a:t>Where the Boundary Is</a:t>
            </a:r>
            <a:endParaRPr lang="en-US" sz="1900" dirty="0"/>
          </a:p>
        </p:txBody>
      </p:sp>
      <p:sp>
        <p:nvSpPr>
          <p:cNvPr id="11" name="Text 8"/>
          <p:cNvSpPr txBox="1"/>
          <p:nvPr/>
        </p:nvSpPr>
        <p:spPr>
          <a:xfrm>
            <a:off x="6537960" y="2331720"/>
            <a:ext cx="4800600" cy="2651760"/>
          </a:xfrm>
          <a:prstGeom prst="rect">
            <a:avLst/>
          </a:prstGeom>
          <a:noFill/>
          <a:ln/>
        </p:spPr>
        <p:txBody>
          <a:bodyPr wrap="square" lIns="0" tIns="0" rIns="0" bIns="0" rtlCol="0" anchor="ctr"/>
          <a:lstStyle/>
          <a:p>
            <a:pPr marL="285750" indent="-285750">
              <a:lnSpc>
                <a:spcPct val="110000"/>
              </a:lnSpc>
              <a:spcAft>
                <a:spcPts val="800"/>
              </a:spcAft>
              <a:buSzPct val="100000"/>
              <a:buFont typeface="Arial" panose="020B0604020202020204" pitchFamily="34" charset="0"/>
              <a:buChar char="•"/>
            </a:pPr>
            <a:r>
              <a:rPr sz="1450">
                <a:solidFill>
                  <a:srgbClr val="F5F5F0"/>
                </a:solidFill>
                <a:latin typeface="Calibri"/>
              </a:rPr>
              <a:t>GitHub Enterprise Importer (GEI) is a set of GitHub CLI extensions</a:t>
            </a:r>
            <a:endParaRPr lang="en-US" sz="1450" dirty="0"/>
          </a:p>
          <a:p>
            <a:pPr>
              <a:spcBef>
                <a:spcPts val="800"/>
              </a:spcBef>
            </a:pPr>
            <a:r>
              <a:rPr sz="1450">
                <a:solidFill>
                  <a:srgbClr val="F5F5F0"/>
                </a:solidFill>
                <a:latin typeface="Calibri"/>
              </a:rPr>
              <a:t>gh-ado2gh is GEI’s Azure DevOps extension — not a separate tool</a:t>
            </a:r>
          </a:p>
          <a:p>
            <a:pPr>
              <a:spcBef>
                <a:spcPts val="800"/>
              </a:spcBef>
            </a:pPr>
            <a:r>
              <a:rPr sz="1450">
                <a:solidFill>
                  <a:srgbClr val="F5F5F0"/>
                </a:solidFill>
                <a:latin typeface="Calibri"/>
              </a:rPr>
              <a:t>Pipeline-logic conversion belongs to Actions Importer</a:t>
            </a:r>
          </a:p>
          <a:p>
            <a:pPr>
              <a:spcBef>
                <a:spcPts val="800"/>
              </a:spcBef>
            </a:pPr>
            <a:r>
              <a:rPr sz="1450">
                <a:solidFill>
                  <a:srgbClr val="F5F5F0"/>
                </a:solidFill>
                <a:latin typeface="Calibri"/>
              </a:rPr>
              <a:t>LFS transfer and identity decisions remain separate work</a:t>
            </a:r>
          </a:p>
        </p:txBody>
      </p:sp>
      <p:sp>
        <p:nvSpPr>
          <p:cNvPr id="12" name="Shape 9"/>
          <p:cNvSpPr/>
          <p:nvPr/>
        </p:nvSpPr>
        <p:spPr>
          <a:xfrm>
            <a:off x="548640" y="5257800"/>
            <a:ext cx="11064240" cy="1234440"/>
          </a:xfrm>
          <a:prstGeom prst="roundRect">
            <a:avLst>
              <a:gd name="adj" fmla="val 12632"/>
            </a:avLst>
          </a:prstGeom>
          <a:solidFill>
            <a:srgbClr val="F7F6F2"/>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548640" y="5257800"/>
            <a:ext cx="11064240" cy="1234440"/>
          </a:xfrm>
          <a:prstGeom prst="rect">
            <a:avLst/>
          </a:prstGeom>
          <a:noFill/>
          <a:ln/>
        </p:spPr>
        <p:txBody>
          <a:bodyPr wrap="square" lIns="256032" tIns="54864" rIns="256032" bIns="54864" rtlCol="0" anchor="ctr"/>
          <a:lstStyle/>
          <a:p>
            <a:pPr marL="0" indent="0" algn="l">
              <a:lnSpc>
                <a:spcPct val="110000"/>
              </a:lnSpc>
              <a:buNone/>
            </a:pPr>
            <a:r>
              <a:rPr sz="1050" b="1" spc="120">
                <a:solidFill>
                  <a:srgbClr val="C1440E"/>
                </a:solidFill>
                <a:latin typeface="Calibri"/>
              </a:rPr>
              <a:t>DO THIS </a:t>
            </a:r>
            <a:r>
              <a:rPr sz="1500" b="0">
                <a:solidFill>
                  <a:srgbClr val="2B2B2B"/>
                </a:solidFill>
                <a:latin typeface="Calibri"/>
              </a:rPr>
              <a:t>Treat the generated script as production migration code: review it, version it, and make ownership explicit.</a:t>
            </a:r>
            <a:endParaRPr lang="en-US" sz="1450" dirty="0"/>
          </a:p>
        </p:txBody>
      </p:sp>
      <p:sp>
        <p:nvSpPr>
          <p:cNvPr id="14" name="Shape 11"/>
          <p:cNvSpPr/>
          <p:nvPr/>
        </p:nvSpPr>
        <p:spPr>
          <a:xfrm>
            <a:off x="10351008" y="5340096"/>
            <a:ext cx="923544" cy="923544"/>
          </a:xfrm>
          <a:prstGeom prst="roundRect">
            <a:avLst>
              <a:gd name="adj" fmla="val 5941"/>
            </a:avLst>
          </a:prstGeom>
          <a:solidFill>
            <a:srgbClr val="FFFFFF"/>
          </a:solidFill>
          <a:ln w="15875">
            <a:solidFill>
              <a:srgbClr val="1F3D2C"/>
            </a:solidFill>
            <a:prstDash val="solid"/>
          </a:ln>
        </p:spPr>
        <p:txBody>
          <a:bodyPr/>
          <a:lstStyle/>
          <a:p>
            <a:endParaRPr lang="en-US"/>
          </a:p>
        </p:txBody>
      </p:sp>
      <p:pic>
        <p:nvPicPr>
          <p:cNvPr id="15" name="Image 1" descr="/home/claude/pptx-build/assets/qr-sec3-ado2gh.png"/>
          <p:cNvPicPr>
            <a:picLocks noChangeAspect="1"/>
          </p:cNvPicPr>
          <p:nvPr/>
        </p:nvPicPr>
        <p:blipFill>
          <a:blip r:embed="rId4"/>
          <a:stretch>
            <a:fillRect/>
          </a:stretch>
        </p:blipFill>
        <p:spPr>
          <a:xfrm>
            <a:off x="10424160" y="5413248"/>
            <a:ext cx="777240" cy="7772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stOl-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868680"/>
          </a:xfrm>
          <a:prstGeom prst="rect">
            <a:avLst/>
          </a:prstGeom>
          <a:noFill/>
          <a:ln/>
        </p:spPr>
        <p:txBody>
          <a:bodyPr wrap="square" lIns="0" tIns="0" rIns="0" bIns="0" rtlCol="0" anchor="t"/>
          <a:lstStyle/>
          <a:p>
            <a:pPr marL="0" indent="0">
              <a:buNone/>
            </a:pPr>
            <a:r>
              <a:rPr lang="en-US" sz="3200" b="1">
                <a:solidFill>
                  <a:srgbClr val="1F3D2C"/>
                </a:solidFill>
                <a:latin typeface="Cambria"/>
              </a:rPr>
              <a:t>Repository Plane — Decide Before the First Migration</a:t>
            </a:r>
            <a:endParaRPr lang="en-US" sz="3200" dirty="0"/>
          </a:p>
        </p:txBody>
      </p:sp>
      <p:sp>
        <p:nvSpPr>
          <p:cNvPr id="6" name="Shape 3"/>
          <p:cNvSpPr/>
          <p:nvPr/>
        </p:nvSpPr>
        <p:spPr>
          <a:xfrm>
            <a:off x="548640" y="1691640"/>
            <a:ext cx="11064240" cy="2651760"/>
          </a:xfrm>
          <a:prstGeom prst="roundRect">
            <a:avLst>
              <a:gd name="adj" fmla="val 4138"/>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20240"/>
            <a:ext cx="10332720" cy="2194560"/>
          </a:xfrm>
          <a:prstGeom prst="rect">
            <a:avLst/>
          </a:prstGeom>
          <a:noFill/>
          <a:ln/>
        </p:spPr>
        <p:txBody>
          <a:bodyPr wrap="square" lIns="0" tIns="0" rIns="0" bIns="0" rtlCol="0" anchor="ctr"/>
          <a:lstStyle/>
          <a:p>
            <a:pPr marL="0" indent="0">
              <a:lnSpc>
                <a:spcPct val="130000"/>
              </a:lnSpc>
              <a:buNone/>
            </a:pPr>
            <a:r>
              <a:rPr lang="en-US" sz="1850" b="0">
                <a:solidFill>
                  <a:srgbClr val="2B2B2B"/>
                </a:solidFill>
                <a:latin typeface="Calibri"/>
              </a:rPr>
              <a:t>Install the Azure Pipelines GitHub App before migrating repositories. That enables migration orchestration to reconnect pipeline references; it does not convert the pipeline logic itself.</a:t>
            </a:r>
            <a:endParaRPr lang="en-US" sz="1900" dirty="0"/>
          </a:p>
        </p:txBody>
      </p:sp>
      <p:sp>
        <p:nvSpPr>
          <p:cNvPr id="8" name="Shape 5"/>
          <p:cNvSpPr/>
          <p:nvPr/>
        </p:nvSpPr>
        <p:spPr>
          <a:xfrm>
            <a:off x="548640" y="4572000"/>
            <a:ext cx="11064240" cy="1417320"/>
          </a:xfrm>
          <a:prstGeom prst="roundRect">
            <a:avLst>
              <a:gd name="adj" fmla="val 7742"/>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736592"/>
            <a:ext cx="10515600" cy="1097280"/>
          </a:xfrm>
          <a:prstGeom prst="rect">
            <a:avLst/>
          </a:prstGeom>
          <a:noFill/>
          <a:ln/>
        </p:spPr>
        <p:txBody>
          <a:bodyPr wrap="square" lIns="0" tIns="0" rIns="0" bIns="0" rtlCol="0" anchor="ctr"/>
          <a:lstStyle/>
          <a:p>
            <a:pPr marL="0" indent="0">
              <a:lnSpc>
                <a:spcPct val="115000"/>
              </a:lnSpc>
              <a:buNone/>
            </a:pPr>
            <a:r>
              <a:rPr lang="en-US" sz="1450" b="0" dirty="0">
                <a:solidFill>
                  <a:srgbClr val="F5F5F0"/>
                </a:solidFill>
                <a:latin typeface="Calibri"/>
              </a:rPr>
              <a:t>Before the first run: target enterprise and organization model  •  authentication and identity mapping  •  team and visibility policy  •  Boards/Pipelines integration  •  freeze or change-reconciliation approach  •  owner for migration failures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Flas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868680"/>
          </a:xfrm>
          <a:prstGeom prst="rect">
            <a:avLst/>
          </a:prstGeom>
          <a:noFill/>
          <a:ln/>
        </p:spPr>
        <p:txBody>
          <a:bodyPr wrap="square" lIns="0" tIns="0" rIns="0" bIns="0" rtlCol="0" anchor="t"/>
          <a:lstStyle/>
          <a:p>
            <a:pPr marL="0" indent="0">
              <a:buNone/>
            </a:pPr>
            <a:r>
              <a:rPr lang="en-US" sz="3200" b="1">
                <a:solidFill>
                  <a:srgbClr val="1F3D2C"/>
                </a:solidFill>
                <a:latin typeface="Cambria"/>
              </a:rPr>
              <a:t>Repository Plane — ELM Reduces Cutover Disruption</a:t>
            </a:r>
            <a:endParaRPr lang="en-US" sz="3200" dirty="0"/>
          </a:p>
        </p:txBody>
      </p:sp>
      <p:sp>
        <p:nvSpPr>
          <p:cNvPr id="6" name="Shape 3"/>
          <p:cNvSpPr/>
          <p:nvPr/>
        </p:nvSpPr>
        <p:spPr>
          <a:xfrm>
            <a:off x="548640" y="1531034"/>
            <a:ext cx="11064240" cy="813816"/>
          </a:xfrm>
          <a:prstGeom prst="roundRect">
            <a:avLst>
              <a:gd name="adj" fmla="val 8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430450"/>
            <a:ext cx="10515600" cy="1097280"/>
          </a:xfrm>
          <a:prstGeom prst="rect">
            <a:avLst/>
          </a:prstGeom>
          <a:noFill/>
          <a:ln/>
        </p:spPr>
        <p:txBody>
          <a:bodyPr wrap="square" lIns="0" tIns="0" rIns="0" bIns="0" rtlCol="0" anchor="ctr"/>
          <a:lstStyle/>
          <a:p>
            <a:pPr marL="0" indent="0">
              <a:lnSpc>
                <a:spcPct val="115000"/>
              </a:lnSpc>
              <a:buNone/>
            </a:pPr>
            <a:r>
              <a:rPr lang="en-US" sz="1650" b="0" dirty="0">
                <a:solidFill>
                  <a:srgbClr val="2B2B2B"/>
                </a:solidFill>
                <a:latin typeface="Calibri"/>
              </a:rPr>
              <a:t>Enterprise Live Migrations (ELM) is in public preview for the Azure DevOps path, targeting GitHub Enterprise Cloud with data residency. Its differentiator is continuous sync plus a customer-scheduled cutover.</a:t>
            </a:r>
            <a:endParaRPr lang="en-US" sz="1700" dirty="0"/>
          </a:p>
        </p:txBody>
      </p:sp>
      <p:sp>
        <p:nvSpPr>
          <p:cNvPr id="8" name="Shape 5"/>
          <p:cNvSpPr/>
          <p:nvPr/>
        </p:nvSpPr>
        <p:spPr>
          <a:xfrm>
            <a:off x="548640" y="2527730"/>
            <a:ext cx="5349240" cy="2912950"/>
          </a:xfrm>
          <a:prstGeom prst="roundRect">
            <a:avLst>
              <a:gd name="adj" fmla="val 48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99160" y="2749765"/>
            <a:ext cx="4800600" cy="411480"/>
          </a:xfrm>
          <a:prstGeom prst="rect">
            <a:avLst/>
          </a:prstGeom>
          <a:noFill/>
          <a:ln/>
        </p:spPr>
        <p:txBody>
          <a:bodyPr wrap="square" lIns="0" tIns="0" rIns="0" bIns="0" rtlCol="0" anchor="ctr"/>
          <a:lstStyle/>
          <a:p>
            <a:pPr marL="0" indent="0">
              <a:buNone/>
            </a:pPr>
            <a:r>
              <a:rPr lang="en-US" sz="1700" b="1" dirty="0">
                <a:solidFill>
                  <a:srgbClr val="1F3D2C"/>
                </a:solidFill>
                <a:latin typeface="Cambria"/>
              </a:rPr>
              <a:t>What It Adds</a:t>
            </a:r>
            <a:endParaRPr lang="en-US" sz="1700" dirty="0"/>
          </a:p>
        </p:txBody>
      </p:sp>
      <p:sp>
        <p:nvSpPr>
          <p:cNvPr id="10" name="Text 7"/>
          <p:cNvSpPr txBox="1"/>
          <p:nvPr/>
        </p:nvSpPr>
        <p:spPr>
          <a:xfrm>
            <a:off x="822960" y="3161245"/>
            <a:ext cx="4800600" cy="2233715"/>
          </a:xfrm>
          <a:prstGeom prst="rect">
            <a:avLst/>
          </a:prstGeom>
          <a:noFill/>
          <a:ln/>
        </p:spPr>
        <p:txBody>
          <a:bodyPr wrap="square" lIns="0" tIns="0" rIns="0" bIns="0" rtlCol="0" anchor="t"/>
          <a:lstStyle/>
          <a:p>
            <a:pPr marL="285750" indent="-285750">
              <a:lnSpc>
                <a:spcPct val="105000"/>
              </a:lnSpc>
              <a:spcAft>
                <a:spcPts val="800"/>
              </a:spcAft>
              <a:buSzPct val="100000"/>
              <a:buFont typeface="Arial" panose="020B0604020202020204" pitchFamily="34" charset="0"/>
              <a:buChar char="•"/>
            </a:pPr>
            <a:r>
              <a:rPr lang="en-US" sz="1400" dirty="0">
                <a:solidFill>
                  <a:srgbClr val="2B2B2B"/>
                </a:solidFill>
                <a:latin typeface="Calibri"/>
              </a:rPr>
              <a:t>Pre-migration checks and target creation</a:t>
            </a:r>
            <a:endParaRPr lang="en-US" sz="1350" dirty="0"/>
          </a:p>
          <a:p>
            <a:pPr marL="285750" indent="-285750">
              <a:spcAft>
                <a:spcPts val="800"/>
              </a:spcAft>
              <a:buFont typeface="Arial" panose="020B0604020202020204" pitchFamily="34" charset="0"/>
              <a:buChar char="•"/>
            </a:pPr>
            <a:r>
              <a:rPr lang="en-US" sz="1400" dirty="0">
                <a:solidFill>
                  <a:srgbClr val="2B2B2B"/>
                </a:solidFill>
                <a:latin typeface="Calibri"/>
              </a:rPr>
              <a:t>Git, PR, and policy delta synchronization</a:t>
            </a:r>
          </a:p>
          <a:p>
            <a:pPr marL="285750" indent="-285750">
              <a:spcAft>
                <a:spcPts val="800"/>
              </a:spcAft>
              <a:buFont typeface="Arial" panose="020B0604020202020204" pitchFamily="34" charset="0"/>
              <a:buChar char="•"/>
            </a:pPr>
            <a:r>
              <a:rPr lang="en-US" sz="1400" dirty="0">
                <a:solidFill>
                  <a:srgbClr val="2B2B2B"/>
                </a:solidFill>
                <a:latin typeface="Calibri"/>
              </a:rPr>
              <a:t>Boards connection and pipeline rewiring</a:t>
            </a:r>
          </a:p>
          <a:p>
            <a:pPr marL="285750" indent="-285750">
              <a:spcAft>
                <a:spcPts val="800"/>
              </a:spcAft>
              <a:buFont typeface="Arial" panose="020B0604020202020204" pitchFamily="34" charset="0"/>
              <a:buChar char="•"/>
            </a:pPr>
            <a:r>
              <a:rPr lang="en-US" sz="1400" dirty="0">
                <a:solidFill>
                  <a:srgbClr val="2B2B2B"/>
                </a:solidFill>
                <a:latin typeface="Calibri"/>
              </a:rPr>
              <a:t>A scheduled read-only cutover window under 30 minutes</a:t>
            </a:r>
          </a:p>
        </p:txBody>
      </p:sp>
      <p:sp>
        <p:nvSpPr>
          <p:cNvPr id="11" name="Shape 8"/>
          <p:cNvSpPr/>
          <p:nvPr/>
        </p:nvSpPr>
        <p:spPr>
          <a:xfrm>
            <a:off x="6263640" y="2527730"/>
            <a:ext cx="5349240" cy="2912950"/>
          </a:xfrm>
          <a:prstGeom prst="roundRect">
            <a:avLst>
              <a:gd name="adj" fmla="val 48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9"/>
          <p:cNvSpPr txBox="1"/>
          <p:nvPr/>
        </p:nvSpPr>
        <p:spPr>
          <a:xfrm>
            <a:off x="6492240" y="2749765"/>
            <a:ext cx="4800600" cy="411480"/>
          </a:xfrm>
          <a:prstGeom prst="rect">
            <a:avLst/>
          </a:prstGeom>
          <a:noFill/>
          <a:ln/>
        </p:spPr>
        <p:txBody>
          <a:bodyPr wrap="square" lIns="0" tIns="0" rIns="0" bIns="0" rtlCol="0" anchor="ctr"/>
          <a:lstStyle/>
          <a:p>
            <a:pPr marL="0" indent="0">
              <a:buNone/>
            </a:pPr>
            <a:r>
              <a:rPr lang="en-US" sz="1700" b="1" dirty="0">
                <a:solidFill>
                  <a:srgbClr val="F5F5F0"/>
                </a:solidFill>
                <a:latin typeface="Cambria"/>
              </a:rPr>
              <a:t>Limits and What Remains</a:t>
            </a:r>
            <a:endParaRPr lang="en-US" sz="1700" dirty="0"/>
          </a:p>
        </p:txBody>
      </p:sp>
      <p:sp>
        <p:nvSpPr>
          <p:cNvPr id="13" name="Text 10"/>
          <p:cNvSpPr txBox="1"/>
          <p:nvPr/>
        </p:nvSpPr>
        <p:spPr>
          <a:xfrm>
            <a:off x="6537960" y="3161245"/>
            <a:ext cx="4800600" cy="2233715"/>
          </a:xfrm>
          <a:prstGeom prst="rect">
            <a:avLst/>
          </a:prstGeom>
          <a:noFill/>
          <a:ln/>
        </p:spPr>
        <p:txBody>
          <a:bodyPr wrap="square" lIns="0" tIns="0" rIns="0" bIns="0" rtlCol="0" anchor="t"/>
          <a:lstStyle/>
          <a:p>
            <a:pPr marL="285750" indent="-285750">
              <a:lnSpc>
                <a:spcPct val="105000"/>
              </a:lnSpc>
              <a:spcAft>
                <a:spcPts val="800"/>
              </a:spcAft>
              <a:buSzPct val="100000"/>
              <a:buFont typeface="Arial" panose="020B0604020202020204" pitchFamily="34" charset="0"/>
              <a:buChar char="•"/>
            </a:pPr>
            <a:r>
              <a:rPr lang="en-US" sz="1400" dirty="0">
                <a:solidFill>
                  <a:srgbClr val="F5F5F0"/>
                </a:solidFill>
                <a:latin typeface="Calibri"/>
              </a:rPr>
              <a:t>Repositories only — 30 max (20 initial + 10 more)</a:t>
            </a:r>
            <a:endParaRPr lang="en-US" sz="1350" dirty="0"/>
          </a:p>
          <a:p>
            <a:pPr marL="285750" indent="-285750">
              <a:spcAft>
                <a:spcPts val="800"/>
              </a:spcAft>
              <a:buFont typeface="Arial" panose="020B0604020202020204" pitchFamily="34" charset="0"/>
              <a:buChar char="•"/>
            </a:pPr>
            <a:r>
              <a:rPr lang="en-US" sz="1400" dirty="0">
                <a:solidFill>
                  <a:srgbClr val="F5F5F0"/>
                </a:solidFill>
                <a:latin typeface="Calibri"/>
              </a:rPr>
              <a:t>Cutover must finish within 21 days of starting</a:t>
            </a:r>
          </a:p>
          <a:p>
            <a:pPr marL="285750" indent="-285750">
              <a:spcAft>
                <a:spcPts val="800"/>
              </a:spcAft>
              <a:buFont typeface="Arial" panose="020B0604020202020204" pitchFamily="34" charset="0"/>
              <a:buChar char="•"/>
            </a:pPr>
            <a:r>
              <a:rPr lang="en-US" sz="1400" dirty="0">
                <a:solidFill>
                  <a:srgbClr val="F5F5F0"/>
                </a:solidFill>
                <a:latin typeface="Calibri"/>
              </a:rPr>
              <a:t>Access, permissions, and ruleset verification</a:t>
            </a:r>
          </a:p>
          <a:p>
            <a:pPr marL="285750" indent="-285750">
              <a:spcAft>
                <a:spcPts val="800"/>
              </a:spcAft>
              <a:buFont typeface="Arial" panose="020B0604020202020204" pitchFamily="34" charset="0"/>
              <a:buChar char="•"/>
            </a:pPr>
            <a:r>
              <a:rPr lang="en-US" sz="1400" dirty="0">
                <a:solidFill>
                  <a:srgbClr val="F5F5F0"/>
                </a:solidFill>
                <a:latin typeface="Calibri"/>
              </a:rPr>
              <a:t>Hardcoded URLs and other long-tail cleanup</a:t>
            </a:r>
          </a:p>
          <a:p>
            <a:pPr marL="285750" indent="-285750">
              <a:spcAft>
                <a:spcPts val="800"/>
              </a:spcAft>
              <a:buFont typeface="Arial" panose="020B0604020202020204" pitchFamily="34" charset="0"/>
              <a:buChar char="•"/>
            </a:pPr>
            <a:r>
              <a:rPr lang="en-US" sz="1400" dirty="0">
                <a:solidFill>
                  <a:srgbClr val="F5F5F0"/>
                </a:solidFill>
                <a:latin typeface="Calibri"/>
              </a:rPr>
              <a:t>Pipeline logic, work items, wikis, and other non-repository data</a:t>
            </a:r>
          </a:p>
          <a:p>
            <a:pPr marL="285750" indent="-285750">
              <a:spcAft>
                <a:spcPts val="800"/>
              </a:spcAft>
              <a:buFont typeface="Arial" panose="020B0604020202020204" pitchFamily="34" charset="0"/>
              <a:buChar char="•"/>
            </a:pPr>
            <a:r>
              <a:rPr lang="en-US" sz="1400" dirty="0">
                <a:solidFill>
                  <a:srgbClr val="F5F5F0"/>
                </a:solidFill>
                <a:latin typeface="Calibri"/>
              </a:rPr>
              <a:t>Post-cutover validation and decommissioning</a:t>
            </a:r>
          </a:p>
        </p:txBody>
      </p:sp>
      <p:sp>
        <p:nvSpPr>
          <p:cNvPr id="16" name="Shape 3">
            <a:extLst>
              <a:ext uri="{FF2B5EF4-FFF2-40B4-BE49-F238E27FC236}">
                <a16:creationId xmlns:a16="http://schemas.microsoft.com/office/drawing/2014/main" id="{2FACEC23-AB46-4DCB-0463-00C487B44704}"/>
              </a:ext>
            </a:extLst>
          </p:cNvPr>
          <p:cNvSpPr/>
          <p:nvPr/>
        </p:nvSpPr>
        <p:spPr>
          <a:xfrm>
            <a:off x="548640" y="5628132"/>
            <a:ext cx="11064240" cy="960120"/>
          </a:xfrm>
          <a:prstGeom prst="roundRect">
            <a:avLst>
              <a:gd name="adj" fmla="val 12632"/>
            </a:avLst>
          </a:prstGeom>
          <a:solidFill>
            <a:srgbClr val="1F3D2C"/>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18" name="Text 4">
            <a:extLst>
              <a:ext uri="{FF2B5EF4-FFF2-40B4-BE49-F238E27FC236}">
                <a16:creationId xmlns:a16="http://schemas.microsoft.com/office/drawing/2014/main" id="{DA49AD78-DE17-95B0-86BA-23572C08058F}"/>
              </a:ext>
            </a:extLst>
          </p:cNvPr>
          <p:cNvSpPr txBox="1"/>
          <p:nvPr/>
        </p:nvSpPr>
        <p:spPr>
          <a:xfrm>
            <a:off x="548640" y="5628132"/>
            <a:ext cx="11064240" cy="960120"/>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TAKEAWAY </a:t>
            </a:r>
            <a:r>
              <a:rPr sz="1500">
                <a:solidFill>
                  <a:srgbClr val="F5F5F0"/>
                </a:solidFill>
                <a:latin typeface="Calibri"/>
              </a:rPr>
              <a:t>ELM changes the synchronisation and cutover experience — not the boundaries of what must be migrated and validated.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lipboardChec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a:rPr>
              <a:t>Automation Plane — Actions Importer</a:t>
            </a:r>
            <a:endParaRPr lang="en-US" sz="3200" dirty="0"/>
          </a:p>
        </p:txBody>
      </p:sp>
      <p:sp>
        <p:nvSpPr>
          <p:cNvPr id="6" name="Shape 3"/>
          <p:cNvSpPr/>
          <p:nvPr/>
        </p:nvSpPr>
        <p:spPr>
          <a:xfrm>
            <a:off x="548640" y="1645920"/>
            <a:ext cx="5349240" cy="3429000"/>
          </a:xfrm>
          <a:prstGeom prst="roundRect">
            <a:avLst>
              <a:gd name="adj" fmla="val 32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4800600" cy="457200"/>
          </a:xfrm>
          <a:prstGeom prst="rect">
            <a:avLst/>
          </a:prstGeom>
          <a:noFill/>
          <a:ln/>
        </p:spPr>
        <p:txBody>
          <a:bodyPr wrap="square" lIns="0" tIns="0" rIns="0" bIns="0" rtlCol="0" anchor="ctr"/>
          <a:lstStyle/>
          <a:p>
            <a:pPr marL="0" indent="0">
              <a:buNone/>
            </a:pPr>
            <a:r>
              <a:rPr lang="en-US" sz="1900" b="1">
                <a:solidFill>
                  <a:srgbClr val="1F3D2C"/>
                </a:solidFill>
                <a:latin typeface="Cambria"/>
              </a:rPr>
              <a:t>What It Does</a:t>
            </a:r>
            <a:endParaRPr lang="en-US" sz="1900" dirty="0"/>
          </a:p>
        </p:txBody>
      </p:sp>
      <p:sp>
        <p:nvSpPr>
          <p:cNvPr id="8" name="Text 5"/>
          <p:cNvSpPr txBox="1"/>
          <p:nvPr/>
        </p:nvSpPr>
        <p:spPr>
          <a:xfrm>
            <a:off x="822960" y="2331720"/>
            <a:ext cx="4800600" cy="2651760"/>
          </a:xfrm>
          <a:prstGeom prst="rect">
            <a:avLst/>
          </a:prstGeom>
          <a:noFill/>
          <a:ln/>
        </p:spPr>
        <p:txBody>
          <a:bodyPr wrap="square" lIns="0" tIns="0" rIns="0" bIns="0" rtlCol="0" anchor="ctr"/>
          <a:lstStyle/>
          <a:p>
            <a:pPr marL="285750" indent="-285750">
              <a:lnSpc>
                <a:spcPct val="110000"/>
              </a:lnSpc>
              <a:spcAft>
                <a:spcPts val="800"/>
              </a:spcAft>
              <a:buSzPct val="100000"/>
              <a:buFont typeface="Arial" panose="020B0604020202020204" pitchFamily="34" charset="0"/>
              <a:buChar char="•"/>
            </a:pPr>
            <a:r>
              <a:rPr lang="en-US" sz="1450" dirty="0">
                <a:solidFill>
                  <a:srgbClr val="2B2B2B"/>
                </a:solidFill>
                <a:latin typeface="Calibri"/>
              </a:rPr>
              <a:t>audit buckets pipelines: successful, partially successful, unsupported, failed</a:t>
            </a:r>
            <a:endParaRPr lang="en-US" sz="1450" dirty="0"/>
          </a:p>
          <a:p>
            <a:pPr marL="285750" indent="-285750">
              <a:spcAft>
                <a:spcPts val="800"/>
              </a:spcAft>
              <a:buFont typeface="Arial" panose="020B0604020202020204" pitchFamily="34" charset="0"/>
              <a:buChar char="•"/>
            </a:pPr>
            <a:r>
              <a:rPr lang="en-US" sz="1450" dirty="0">
                <a:solidFill>
                  <a:srgbClr val="2B2B2B"/>
                </a:solidFill>
                <a:latin typeface="Calibri"/>
              </a:rPr>
              <a:t>dry-run shows the candidate workflow before commit</a:t>
            </a:r>
          </a:p>
          <a:p>
            <a:pPr marL="285750" indent="-285750">
              <a:spcAft>
                <a:spcPts val="800"/>
              </a:spcAft>
              <a:buFont typeface="Arial" panose="020B0604020202020204" pitchFamily="34" charset="0"/>
              <a:buChar char="•"/>
            </a:pPr>
            <a:r>
              <a:rPr lang="en-US" sz="1450" dirty="0">
                <a:solidFill>
                  <a:srgbClr val="2B2B2B"/>
                </a:solidFill>
                <a:latin typeface="Calibri"/>
              </a:rPr>
              <a:t>conversion handles supported constructs</a:t>
            </a:r>
          </a:p>
        </p:txBody>
      </p:sp>
      <p:sp>
        <p:nvSpPr>
          <p:cNvPr id="9" name="Shape 6"/>
          <p:cNvSpPr/>
          <p:nvPr/>
        </p:nvSpPr>
        <p:spPr>
          <a:xfrm>
            <a:off x="6263640" y="1645920"/>
            <a:ext cx="5349240" cy="3429000"/>
          </a:xfrm>
          <a:prstGeom prst="roundRect">
            <a:avLst>
              <a:gd name="adj" fmla="val 32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6537960" y="1828800"/>
            <a:ext cx="4800600" cy="457200"/>
          </a:xfrm>
          <a:prstGeom prst="rect">
            <a:avLst/>
          </a:prstGeom>
          <a:noFill/>
          <a:ln/>
        </p:spPr>
        <p:txBody>
          <a:bodyPr wrap="square" lIns="0" tIns="0" rIns="0" bIns="0" rtlCol="0" anchor="ctr"/>
          <a:lstStyle/>
          <a:p>
            <a:pPr marL="0" indent="0">
              <a:buNone/>
            </a:pPr>
            <a:r>
              <a:rPr lang="en-US" sz="1900" b="1" dirty="0">
                <a:solidFill>
                  <a:srgbClr val="F5F5F0"/>
                </a:solidFill>
                <a:latin typeface="Cambria"/>
              </a:rPr>
              <a:t>What Remains</a:t>
            </a:r>
            <a:endParaRPr lang="en-US" sz="1900" dirty="0"/>
          </a:p>
        </p:txBody>
      </p:sp>
      <p:sp>
        <p:nvSpPr>
          <p:cNvPr id="11" name="Text 8"/>
          <p:cNvSpPr txBox="1"/>
          <p:nvPr/>
        </p:nvSpPr>
        <p:spPr>
          <a:xfrm>
            <a:off x="6537960" y="2331720"/>
            <a:ext cx="5074920" cy="2651760"/>
          </a:xfrm>
          <a:prstGeom prst="rect">
            <a:avLst/>
          </a:prstGeom>
          <a:noFill/>
          <a:ln/>
        </p:spPr>
        <p:txBody>
          <a:bodyPr wrap="square" lIns="0" tIns="0" rIns="0" bIns="0" rtlCol="0" anchor="ctr"/>
          <a:lstStyle/>
          <a:p>
            <a:pPr marL="285750" indent="-285750">
              <a:lnSpc>
                <a:spcPct val="110000"/>
              </a:lnSpc>
              <a:spcAft>
                <a:spcPts val="800"/>
              </a:spcAft>
              <a:buSzPct val="100000"/>
              <a:buFont typeface="Arial" panose="020B0604020202020204" pitchFamily="34" charset="0"/>
              <a:buChar char="•"/>
            </a:pPr>
            <a:r>
              <a:rPr lang="en-US" sz="1420" dirty="0">
                <a:solidFill>
                  <a:srgbClr val="F5F5F0"/>
                </a:solidFill>
                <a:latin typeface="Calibri"/>
              </a:rPr>
              <a:t>Secrets and service connections</a:t>
            </a:r>
            <a:endParaRPr lang="en-US" sz="1450" dirty="0"/>
          </a:p>
          <a:p>
            <a:pPr marL="285750" indent="-285750">
              <a:spcAft>
                <a:spcPts val="800"/>
              </a:spcAft>
              <a:buFont typeface="Arial" panose="020B0604020202020204" pitchFamily="34" charset="0"/>
              <a:buChar char="•"/>
            </a:pPr>
            <a:r>
              <a:rPr lang="en-US" sz="1420" dirty="0">
                <a:solidFill>
                  <a:srgbClr val="F5F5F0"/>
                </a:solidFill>
                <a:latin typeface="Calibri"/>
              </a:rPr>
              <a:t>Runners, private networks, and toolchains</a:t>
            </a:r>
          </a:p>
          <a:p>
            <a:pPr marL="285750" indent="-285750">
              <a:spcAft>
                <a:spcPts val="800"/>
              </a:spcAft>
              <a:buFont typeface="Arial" panose="020B0604020202020204" pitchFamily="34" charset="0"/>
              <a:buChar char="•"/>
            </a:pPr>
            <a:r>
              <a:rPr lang="en-US" sz="1420" dirty="0">
                <a:solidFill>
                  <a:srgbClr val="F5F5F0"/>
                </a:solidFill>
                <a:latin typeface="Calibri"/>
              </a:rPr>
              <a:t>Environments, approvals, gates, custom tasks, and unsupported triggers</a:t>
            </a:r>
          </a:p>
        </p:txBody>
      </p:sp>
      <p:sp>
        <p:nvSpPr>
          <p:cNvPr id="12" name="Shape 9"/>
          <p:cNvSpPr/>
          <p:nvPr/>
        </p:nvSpPr>
        <p:spPr>
          <a:xfrm>
            <a:off x="548640" y="5257800"/>
            <a:ext cx="11064240" cy="1234440"/>
          </a:xfrm>
          <a:prstGeom prst="roundRect">
            <a:avLst>
              <a:gd name="adj" fmla="val 12632"/>
            </a:avLst>
          </a:prstGeom>
          <a:solidFill>
            <a:srgbClr val="F7F6F2"/>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548640" y="5257800"/>
            <a:ext cx="11064240" cy="1234440"/>
          </a:xfrm>
          <a:prstGeom prst="rect">
            <a:avLst/>
          </a:prstGeom>
          <a:noFill/>
          <a:ln/>
        </p:spPr>
        <p:txBody>
          <a:bodyPr wrap="square" lIns="256032" tIns="54864" rIns="256032" bIns="54864" rtlCol="0" anchor="ctr"/>
          <a:lstStyle/>
          <a:p>
            <a:pPr marL="0" indent="0" algn="l">
              <a:lnSpc>
                <a:spcPct val="110000"/>
              </a:lnSpc>
              <a:buNone/>
            </a:pPr>
            <a:r>
              <a:rPr sz="1050" b="1" spc="120">
                <a:solidFill>
                  <a:srgbClr val="C1440E"/>
                </a:solidFill>
                <a:latin typeface="Calibri"/>
              </a:rPr>
              <a:t>DO THIS </a:t>
            </a:r>
            <a:r>
              <a:rPr sz="1500" b="0">
                <a:solidFill>
                  <a:srgbClr val="2B2B2B"/>
                </a:solidFill>
                <a:latin typeface="Calibri"/>
              </a:rPr>
              <a:t>Use the audit output to build the migration backlog and recalibrate the planning estimate with evidence.</a:t>
            </a:r>
            <a:endParaRPr lang="en-US" sz="1450" dirty="0"/>
          </a:p>
        </p:txBody>
      </p:sp>
      <p:sp>
        <p:nvSpPr>
          <p:cNvPr id="14" name="Shape 11"/>
          <p:cNvSpPr/>
          <p:nvPr/>
        </p:nvSpPr>
        <p:spPr>
          <a:xfrm>
            <a:off x="10351008" y="5340096"/>
            <a:ext cx="923544" cy="923544"/>
          </a:xfrm>
          <a:prstGeom prst="roundRect">
            <a:avLst>
              <a:gd name="adj" fmla="val 5941"/>
            </a:avLst>
          </a:prstGeom>
          <a:solidFill>
            <a:srgbClr val="FFFFFF"/>
          </a:solidFill>
          <a:ln w="15875">
            <a:solidFill>
              <a:srgbClr val="1F3D2C"/>
            </a:solidFill>
            <a:prstDash val="solid"/>
          </a:ln>
        </p:spPr>
        <p:txBody>
          <a:bodyPr/>
          <a:lstStyle/>
          <a:p>
            <a:endParaRPr lang="en-US"/>
          </a:p>
        </p:txBody>
      </p:sp>
      <p:pic>
        <p:nvPicPr>
          <p:cNvPr id="15" name="Image 1" descr="/home/claude/pptx-build/assets/qr-sec3-actions-importer.png"/>
          <p:cNvPicPr>
            <a:picLocks noChangeAspect="1"/>
          </p:cNvPicPr>
          <p:nvPr/>
        </p:nvPicPr>
        <p:blipFill>
          <a:blip r:embed="rId4"/>
          <a:stretch>
            <a:fillRect/>
          </a:stretch>
        </p:blipFill>
        <p:spPr>
          <a:xfrm>
            <a:off x="10424160" y="5413248"/>
            <a:ext cx="777240" cy="7772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57200"/>
            <a:ext cx="566928" cy="566928"/>
          </a:xfrm>
          <a:prstGeom prst="ellipse">
            <a:avLst/>
          </a:prstGeom>
          <a:solidFill>
            <a:srgbClr val="C1440E"/>
          </a:solidFill>
          <a:ln>
            <a:noFill/>
          </a:ln>
          <a:effectLst/>
        </p:spPr>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685800" y="594360"/>
            <a:ext cx="292608" cy="292608"/>
          </a:xfrm>
          <a:prstGeom prst="rect">
            <a:avLst/>
          </a:prstGeom>
        </p:spPr>
      </p:pic>
      <p:sp>
        <p:nvSpPr>
          <p:cNvPr id="4" name="TextBox 3"/>
          <p:cNvSpPr txBox="1"/>
          <p:nvPr/>
        </p:nvSpPr>
        <p:spPr>
          <a:xfrm>
            <a:off x="1234440" y="420624"/>
            <a:ext cx="9875520" cy="320040"/>
          </a:xfrm>
          <a:prstGeom prst="rect">
            <a:avLst/>
          </a:prstGeom>
          <a:noFill/>
        </p:spPr>
        <p:txBody>
          <a:bodyPr wrap="square" anchor="t">
            <a:spAutoFit/>
          </a:bodyPr>
          <a:lstStyle/>
          <a:p>
            <a:pPr algn="l"/>
            <a:r>
              <a:rPr sz="1500" b="1">
                <a:solidFill>
                  <a:srgbClr val="C1440E"/>
                </a:solidFill>
                <a:latin typeface="Calibri"/>
              </a:rPr>
              <a:t>CROSSING THE RIVER</a:t>
            </a:r>
          </a:p>
        </p:txBody>
      </p:sp>
      <p:sp>
        <p:nvSpPr>
          <p:cNvPr id="5" name="TextBox 4"/>
          <p:cNvSpPr txBox="1"/>
          <p:nvPr/>
        </p:nvSpPr>
        <p:spPr>
          <a:xfrm>
            <a:off x="1234440" y="749808"/>
            <a:ext cx="10744200" cy="594360"/>
          </a:xfrm>
          <a:prstGeom prst="rect">
            <a:avLst/>
          </a:prstGeom>
          <a:noFill/>
        </p:spPr>
        <p:txBody>
          <a:bodyPr wrap="square" anchor="t">
            <a:spAutoFit/>
          </a:bodyPr>
          <a:lstStyle/>
          <a:p>
            <a:pPr algn="l"/>
            <a:r>
              <a:rPr sz="3200" b="1">
                <a:solidFill>
                  <a:srgbClr val="1F3D2C"/>
                </a:solidFill>
                <a:latin typeface="Cambria"/>
              </a:rPr>
              <a:t>Automation Plane — Runners, Networks, Secrets</a:t>
            </a:r>
          </a:p>
        </p:txBody>
      </p:sp>
      <p:sp>
        <p:nvSpPr>
          <p:cNvPr id="6" name="TextBox 5"/>
          <p:cNvSpPr txBox="1"/>
          <p:nvPr/>
        </p:nvSpPr>
        <p:spPr>
          <a:xfrm>
            <a:off x="548640" y="1481328"/>
            <a:ext cx="11064240" cy="411480"/>
          </a:xfrm>
          <a:prstGeom prst="rect">
            <a:avLst/>
          </a:prstGeom>
          <a:noFill/>
        </p:spPr>
        <p:txBody>
          <a:bodyPr wrap="square" anchor="t">
            <a:spAutoFit/>
          </a:bodyPr>
          <a:lstStyle/>
          <a:p>
            <a:pPr algn="l"/>
            <a:r>
              <a:rPr sz="1800" b="0">
                <a:solidFill>
                  <a:srgbClr val="2B2B2B"/>
                </a:solidFill>
                <a:latin typeface="Calibri"/>
              </a:rPr>
              <a:t>The YAML converts. The execution environment usually doesn’t — and that is where enterprise migrations stall.</a:t>
            </a:r>
          </a:p>
        </p:txBody>
      </p:sp>
      <p:sp>
        <p:nvSpPr>
          <p:cNvPr id="7" name="Rounded Rectangle 6"/>
          <p:cNvSpPr/>
          <p:nvPr/>
        </p:nvSpPr>
        <p:spPr>
          <a:xfrm>
            <a:off x="548640" y="2029968"/>
            <a:ext cx="5349240" cy="3474720"/>
          </a:xfrm>
          <a:prstGeom prst="roundRect">
            <a:avLst>
              <a:gd name="adj" fmla="val 4000"/>
            </a:avLst>
          </a:prstGeom>
          <a:solidFill>
            <a:srgbClr val="F7F6F2"/>
          </a:solidFill>
          <a:ln>
            <a:noFill/>
          </a:ln>
          <a:effectLst/>
        </p:spPr>
        <p:txBody>
          <a:bodyPr rtlCol="0" anchor="ctr"/>
          <a:lstStyle/>
          <a:p>
            <a:pPr algn="ctr"/>
            <a:endParaRPr/>
          </a:p>
        </p:txBody>
      </p:sp>
      <p:sp>
        <p:nvSpPr>
          <p:cNvPr id="8" name="TextBox 7"/>
          <p:cNvSpPr txBox="1"/>
          <p:nvPr/>
        </p:nvSpPr>
        <p:spPr>
          <a:xfrm>
            <a:off x="822959" y="2231136"/>
            <a:ext cx="4800600" cy="411480"/>
          </a:xfrm>
          <a:prstGeom prst="rect">
            <a:avLst/>
          </a:prstGeom>
          <a:noFill/>
        </p:spPr>
        <p:txBody>
          <a:bodyPr wrap="square" anchor="t">
            <a:spAutoFit/>
          </a:bodyPr>
          <a:lstStyle/>
          <a:p>
            <a:pPr algn="l"/>
            <a:r>
              <a:rPr sz="1900" b="1">
                <a:solidFill>
                  <a:srgbClr val="1F3D2C"/>
                </a:solidFill>
                <a:latin typeface="Cambria"/>
              </a:rPr>
              <a:t>Decide</a:t>
            </a:r>
          </a:p>
        </p:txBody>
      </p:sp>
      <p:sp>
        <p:nvSpPr>
          <p:cNvPr id="9" name="TextBox 8"/>
          <p:cNvSpPr txBox="1"/>
          <p:nvPr/>
        </p:nvSpPr>
        <p:spPr>
          <a:xfrm>
            <a:off x="822959" y="2743200"/>
            <a:ext cx="4800600" cy="2651760"/>
          </a:xfrm>
          <a:prstGeom prst="rect">
            <a:avLst/>
          </a:prstGeom>
          <a:noFill/>
        </p:spPr>
        <p:txBody>
          <a:bodyPr wrap="square" anchor="t">
            <a:spAutoFit/>
          </a:bodyPr>
          <a:lstStyle/>
          <a:p>
            <a:pPr algn="l"/>
            <a:r>
              <a:rPr sz="1450" b="0">
                <a:solidFill>
                  <a:srgbClr val="2B2B2B"/>
                </a:solidFill>
                <a:latin typeface="Calibri"/>
              </a:rPr>
              <a:t>•  Hosted vs self-hosted — and who operates them</a:t>
            </a:r>
          </a:p>
          <a:p>
            <a:pPr algn="l">
              <a:spcBef>
                <a:spcPts val="700"/>
              </a:spcBef>
            </a:pPr>
            <a:r>
              <a:rPr sz="1450" b="0">
                <a:solidFill>
                  <a:srgbClr val="2B2B2B"/>
                </a:solidFill>
                <a:latin typeface="Calibri"/>
              </a:rPr>
              <a:t>•  Network path to private endpoints and internal feeds</a:t>
            </a:r>
          </a:p>
          <a:p>
            <a:pPr algn="l">
              <a:spcBef>
                <a:spcPts val="700"/>
              </a:spcBef>
            </a:pPr>
            <a:r>
              <a:rPr sz="1450" b="0">
                <a:solidFill>
                  <a:srgbClr val="2B2B2B"/>
                </a:solidFill>
                <a:latin typeface="Calibri"/>
              </a:rPr>
              <a:t>•  Toolchain and cache parity with today’s agents</a:t>
            </a:r>
          </a:p>
          <a:p>
            <a:pPr algn="l">
              <a:spcBef>
                <a:spcPts val="700"/>
              </a:spcBef>
            </a:pPr>
            <a:r>
              <a:rPr sz="1450" b="0">
                <a:solidFill>
                  <a:srgbClr val="2B2B2B"/>
                </a:solidFill>
                <a:latin typeface="Calibri"/>
              </a:rPr>
              <a:t>•  Ephemeral vs persistent, and the autoscaling policy</a:t>
            </a:r>
          </a:p>
          <a:p>
            <a:pPr algn="l">
              <a:spcBef>
                <a:spcPts val="700"/>
              </a:spcBef>
            </a:pPr>
            <a:r>
              <a:rPr sz="1450" b="0">
                <a:solidFill>
                  <a:srgbClr val="2B2B2B"/>
                </a:solidFill>
                <a:latin typeface="Calibri"/>
              </a:rPr>
              <a:t>•  Runner groups, and which repositories may use them</a:t>
            </a:r>
          </a:p>
          <a:p>
            <a:pPr algn="l">
              <a:spcBef>
                <a:spcPts val="700"/>
              </a:spcBef>
            </a:pPr>
            <a:r>
              <a:rPr sz="1450" b="0">
                <a:solidFill>
                  <a:srgbClr val="2B2B2B"/>
                </a:solidFill>
                <a:latin typeface="Calibri"/>
              </a:rPr>
              <a:t>•  Minute consumption and larger-runner cost</a:t>
            </a:r>
          </a:p>
        </p:txBody>
      </p:sp>
      <p:sp>
        <p:nvSpPr>
          <p:cNvPr id="10" name="Rounded Rectangle 9"/>
          <p:cNvSpPr/>
          <p:nvPr/>
        </p:nvSpPr>
        <p:spPr>
          <a:xfrm>
            <a:off x="6263640" y="2029968"/>
            <a:ext cx="5349240" cy="3474720"/>
          </a:xfrm>
          <a:prstGeom prst="roundRect">
            <a:avLst>
              <a:gd name="adj" fmla="val 4000"/>
            </a:avLst>
          </a:prstGeom>
          <a:solidFill>
            <a:srgbClr val="F7F6F2"/>
          </a:solidFill>
          <a:ln>
            <a:noFill/>
          </a:ln>
          <a:effectLst/>
        </p:spPr>
        <p:txBody>
          <a:bodyPr rtlCol="0" anchor="ctr"/>
          <a:lstStyle/>
          <a:p>
            <a:pPr algn="ctr"/>
            <a:endParaRPr/>
          </a:p>
        </p:txBody>
      </p:sp>
      <p:sp>
        <p:nvSpPr>
          <p:cNvPr id="11" name="TextBox 10"/>
          <p:cNvSpPr txBox="1"/>
          <p:nvPr/>
        </p:nvSpPr>
        <p:spPr>
          <a:xfrm>
            <a:off x="6537959" y="2231136"/>
            <a:ext cx="4800600" cy="411480"/>
          </a:xfrm>
          <a:prstGeom prst="rect">
            <a:avLst/>
          </a:prstGeom>
          <a:noFill/>
        </p:spPr>
        <p:txBody>
          <a:bodyPr wrap="square" anchor="t">
            <a:spAutoFit/>
          </a:bodyPr>
          <a:lstStyle/>
          <a:p>
            <a:pPr algn="l"/>
            <a:r>
              <a:rPr sz="1900" b="1">
                <a:solidFill>
                  <a:srgbClr val="1F3D2C"/>
                </a:solidFill>
                <a:latin typeface="Cambria"/>
              </a:rPr>
              <a:t>Prove</a:t>
            </a:r>
          </a:p>
        </p:txBody>
      </p:sp>
      <p:sp>
        <p:nvSpPr>
          <p:cNvPr id="12" name="TextBox 11"/>
          <p:cNvSpPr txBox="1"/>
          <p:nvPr/>
        </p:nvSpPr>
        <p:spPr>
          <a:xfrm>
            <a:off x="6537959" y="2743200"/>
            <a:ext cx="4800600" cy="2651760"/>
          </a:xfrm>
          <a:prstGeom prst="rect">
            <a:avLst/>
          </a:prstGeom>
          <a:noFill/>
        </p:spPr>
        <p:txBody>
          <a:bodyPr wrap="square" anchor="t">
            <a:spAutoFit/>
          </a:bodyPr>
          <a:lstStyle/>
          <a:p>
            <a:pPr algn="l"/>
            <a:r>
              <a:rPr sz="1450" b="0">
                <a:solidFill>
                  <a:srgbClr val="2B2B2B"/>
                </a:solidFill>
                <a:latin typeface="Calibri"/>
              </a:rPr>
              <a:t>•  Internal package feeds resolve from the runner</a:t>
            </a:r>
          </a:p>
          <a:p>
            <a:pPr algn="l">
              <a:spcBef>
                <a:spcPts val="700"/>
              </a:spcBef>
            </a:pPr>
            <a:r>
              <a:rPr sz="1450" b="0">
                <a:solidFill>
                  <a:srgbClr val="2B2B2B"/>
                </a:solidFill>
                <a:latin typeface="Calibri"/>
              </a:rPr>
              <a:t>•  Signing infrastructure and deployment targets reachable</a:t>
            </a:r>
          </a:p>
          <a:p>
            <a:pPr algn="l">
              <a:spcBef>
                <a:spcPts val="700"/>
              </a:spcBef>
            </a:pPr>
            <a:r>
              <a:rPr sz="1450" b="0">
                <a:solidFill>
                  <a:srgbClr val="2B2B2B"/>
                </a:solidFill>
                <a:latin typeface="Calibri"/>
              </a:rPr>
              <a:t>•  Firewall, proxy and IP-allowlist rules</a:t>
            </a:r>
          </a:p>
          <a:p>
            <a:pPr algn="l">
              <a:spcBef>
                <a:spcPts val="700"/>
              </a:spcBef>
            </a:pPr>
            <a:r>
              <a:rPr sz="1450" b="0">
                <a:solidFill>
                  <a:srgbClr val="2B2B2B"/>
                </a:solidFill>
                <a:latin typeface="Calibri"/>
              </a:rPr>
              <a:t>•  OIDC federation actually issues a usable token</a:t>
            </a:r>
          </a:p>
          <a:p>
            <a:pPr algn="l">
              <a:spcBef>
                <a:spcPts val="700"/>
              </a:spcBef>
            </a:pPr>
            <a:r>
              <a:rPr sz="1450" b="0">
                <a:solidFill>
                  <a:srgbClr val="2B2B2B"/>
                </a:solidFill>
                <a:latin typeface="Calibri"/>
              </a:rPr>
              <a:t>•  Artifact throughput at real sizes, not sample sizes</a:t>
            </a:r>
          </a:p>
        </p:txBody>
      </p:sp>
      <p:sp>
        <p:nvSpPr>
          <p:cNvPr id="13" name="Rounded Rectangle 12"/>
          <p:cNvSpPr/>
          <p:nvPr/>
        </p:nvSpPr>
        <p:spPr>
          <a:xfrm>
            <a:off x="548640" y="5760720"/>
            <a:ext cx="11064240" cy="786384"/>
          </a:xfrm>
          <a:prstGeom prst="roundRect">
            <a:avLst>
              <a:gd name="adj" fmla="val 12632"/>
            </a:avLst>
          </a:prstGeom>
          <a:solidFill>
            <a:srgbClr val="1F3D2C"/>
          </a:solidFill>
          <a:ln>
            <a:noFill/>
          </a:ln>
          <a:effectLst/>
        </p:spPr>
        <p:txBody>
          <a:bodyPr wrap="square" lIns="256032" tIns="54864" rIns="256032" bIns="54864" rtlCol="0" anchor="ctr"/>
          <a:lstStyle/>
          <a:p>
            <a:pPr algn="l"/>
            <a:r>
              <a:rPr sz="1050" b="1" spc="120">
                <a:solidFill>
                  <a:srgbClr val="8C6A3F"/>
                </a:solidFill>
                <a:latin typeface="Calibri"/>
              </a:rPr>
              <a:t>TAKEAWAY </a:t>
            </a:r>
            <a:r>
              <a:rPr sz="1500">
                <a:solidFill>
                  <a:srgbClr val="F5F5F0"/>
                </a:solidFill>
                <a:latin typeface="Calibri"/>
              </a:rPr>
              <a:t>The workflow converted successfully. It merely has no credentials, no network route, and nowhere to deploy.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rain-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a:solidFill>
                  <a:srgbClr val="1F3D2C"/>
                </a:solidFill>
                <a:latin typeface="Cambria"/>
              </a:rPr>
              <a:t>AI Assistance — Reason About Pipeline Semantics</a:t>
            </a:r>
            <a:endParaRPr lang="en-US" sz="3200" dirty="0"/>
          </a:p>
        </p:txBody>
      </p:sp>
      <p:sp>
        <p:nvSpPr>
          <p:cNvPr id="6" name="Shape 3"/>
          <p:cNvSpPr/>
          <p:nvPr/>
        </p:nvSpPr>
        <p:spPr>
          <a:xfrm>
            <a:off x="548640" y="1691640"/>
            <a:ext cx="3429000" cy="3200400"/>
          </a:xfrm>
          <a:prstGeom prst="roundRect">
            <a:avLst>
              <a:gd name="adj" fmla="val 34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822960" y="1920240"/>
            <a:ext cx="603504" cy="603504"/>
          </a:xfrm>
          <a:prstGeom prst="ellipse">
            <a:avLst/>
          </a:prstGeom>
          <a:solidFill>
            <a:srgbClr val="C1440E"/>
          </a:solidFill>
          <a:ln/>
        </p:spPr>
        <p:txBody>
          <a:bodyPr/>
          <a:lstStyle/>
          <a:p>
            <a:endParaRPr lang="en-US"/>
          </a:p>
        </p:txBody>
      </p:sp>
      <p:pic>
        <p:nvPicPr>
          <p:cNvPr id="8" name="Image 1" descr="/home/claude/pptx-build/assets/icons/FaSearch-FFFFFF-200.png"/>
          <p:cNvPicPr>
            <a:picLocks noChangeAspect="1"/>
          </p:cNvPicPr>
          <p:nvPr/>
        </p:nvPicPr>
        <p:blipFill>
          <a:blip r:embed="rId4"/>
          <a:stretch>
            <a:fillRect/>
          </a:stretch>
        </p:blipFill>
        <p:spPr>
          <a:xfrm>
            <a:off x="969264" y="2066544"/>
            <a:ext cx="310896" cy="310896"/>
          </a:xfrm>
          <a:prstGeom prst="rect">
            <a:avLst/>
          </a:prstGeom>
        </p:spPr>
      </p:pic>
      <p:sp>
        <p:nvSpPr>
          <p:cNvPr id="9" name="Text 5"/>
          <p:cNvSpPr txBox="1"/>
          <p:nvPr/>
        </p:nvSpPr>
        <p:spPr>
          <a:xfrm>
            <a:off x="822960" y="2670048"/>
            <a:ext cx="2880360" cy="457200"/>
          </a:xfrm>
          <a:prstGeom prst="rect">
            <a:avLst/>
          </a:prstGeom>
          <a:noFill/>
          <a:ln/>
        </p:spPr>
        <p:txBody>
          <a:bodyPr wrap="square" lIns="0" tIns="0" rIns="0" bIns="0" rtlCol="0" anchor="ctr"/>
          <a:lstStyle/>
          <a:p>
            <a:pPr marL="0" indent="0">
              <a:buNone/>
            </a:pPr>
            <a:r>
              <a:rPr lang="en-US" sz="1800" b="1" dirty="0">
                <a:solidFill>
                  <a:srgbClr val="1F3D2C"/>
                </a:solidFill>
                <a:latin typeface="Cambria" pitchFamily="34" charset="0"/>
                <a:ea typeface="Cambria" pitchFamily="34" charset="-122"/>
                <a:cs typeface="Cambria" pitchFamily="34" charset="-120"/>
              </a:rPr>
              <a:t>Analyze</a:t>
            </a:r>
            <a:endParaRPr lang="en-US" sz="1800" dirty="0"/>
          </a:p>
        </p:txBody>
      </p:sp>
      <p:sp>
        <p:nvSpPr>
          <p:cNvPr id="10" name="Text 6"/>
          <p:cNvSpPr txBox="1"/>
          <p:nvPr/>
        </p:nvSpPr>
        <p:spPr>
          <a:xfrm>
            <a:off x="822960" y="3182112"/>
            <a:ext cx="2880360" cy="1600200"/>
          </a:xfrm>
          <a:prstGeom prst="rect">
            <a:avLst/>
          </a:prstGeom>
          <a:noFill/>
          <a:ln/>
        </p:spPr>
        <p:txBody>
          <a:bodyPr wrap="square" lIns="0" tIns="0" rIns="0" bIns="0" rtlCol="0" anchor="ctr"/>
          <a:lstStyle/>
          <a:p>
            <a:pPr marL="0" indent="0">
              <a:buNone/>
            </a:pPr>
            <a:r>
              <a:rPr lang="en-US" sz="1400">
                <a:solidFill>
                  <a:srgbClr val="2B2B2B"/>
                </a:solidFill>
                <a:latin typeface="Calibri"/>
              </a:rPr>
              <a:t>Inventory structure, constructs, risk, and open questions before conversion.</a:t>
            </a:r>
            <a:endParaRPr lang="en-US" sz="1400" dirty="0"/>
          </a:p>
        </p:txBody>
      </p:sp>
      <p:sp>
        <p:nvSpPr>
          <p:cNvPr id="11" name="Shape 7"/>
          <p:cNvSpPr/>
          <p:nvPr/>
        </p:nvSpPr>
        <p:spPr>
          <a:xfrm>
            <a:off x="4251960" y="1691640"/>
            <a:ext cx="3429000" cy="3200400"/>
          </a:xfrm>
          <a:prstGeom prst="roundRect">
            <a:avLst>
              <a:gd name="adj" fmla="val 34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526280" y="1920240"/>
            <a:ext cx="603504" cy="603504"/>
          </a:xfrm>
          <a:prstGeom prst="ellipse">
            <a:avLst/>
          </a:prstGeom>
          <a:solidFill>
            <a:srgbClr val="C1440E"/>
          </a:solidFill>
          <a:ln/>
        </p:spPr>
        <p:txBody>
          <a:bodyPr/>
          <a:lstStyle/>
          <a:p>
            <a:endParaRPr lang="en-US"/>
          </a:p>
        </p:txBody>
      </p:sp>
      <p:pic>
        <p:nvPicPr>
          <p:cNvPr id="13" name="Image 2" descr="/home/claude/pptx-build/assets/icons/FaExchangeAlt-FFFFFF-200.png"/>
          <p:cNvPicPr>
            <a:picLocks noChangeAspect="1"/>
          </p:cNvPicPr>
          <p:nvPr/>
        </p:nvPicPr>
        <p:blipFill>
          <a:blip r:embed="rId5"/>
          <a:stretch>
            <a:fillRect/>
          </a:stretch>
        </p:blipFill>
        <p:spPr>
          <a:xfrm>
            <a:off x="4672584" y="2066544"/>
            <a:ext cx="310896" cy="310896"/>
          </a:xfrm>
          <a:prstGeom prst="rect">
            <a:avLst/>
          </a:prstGeom>
        </p:spPr>
      </p:pic>
      <p:sp>
        <p:nvSpPr>
          <p:cNvPr id="14" name="Text 9"/>
          <p:cNvSpPr txBox="1"/>
          <p:nvPr/>
        </p:nvSpPr>
        <p:spPr>
          <a:xfrm>
            <a:off x="4526280" y="2670048"/>
            <a:ext cx="2880360" cy="457200"/>
          </a:xfrm>
          <a:prstGeom prst="rect">
            <a:avLst/>
          </a:prstGeom>
          <a:noFill/>
          <a:ln/>
        </p:spPr>
        <p:txBody>
          <a:bodyPr wrap="square" lIns="0" tIns="0" rIns="0" bIns="0" rtlCol="0" anchor="ctr"/>
          <a:lstStyle/>
          <a:p>
            <a:pPr marL="0" indent="0">
              <a:buNone/>
            </a:pPr>
            <a:r>
              <a:rPr lang="en-US" sz="1800" b="1" dirty="0">
                <a:solidFill>
                  <a:srgbClr val="1F3D2C"/>
                </a:solidFill>
                <a:latin typeface="Cambria" pitchFamily="34" charset="0"/>
                <a:ea typeface="Cambria" pitchFamily="34" charset="-122"/>
                <a:cs typeface="Cambria" pitchFamily="34" charset="-120"/>
              </a:rPr>
              <a:t>Convert</a:t>
            </a:r>
            <a:endParaRPr lang="en-US" sz="1800" dirty="0"/>
          </a:p>
        </p:txBody>
      </p:sp>
      <p:sp>
        <p:nvSpPr>
          <p:cNvPr id="15" name="Text 10"/>
          <p:cNvSpPr txBox="1"/>
          <p:nvPr/>
        </p:nvSpPr>
        <p:spPr>
          <a:xfrm>
            <a:off x="4526280" y="3182112"/>
            <a:ext cx="2880360" cy="1600200"/>
          </a:xfrm>
          <a:prstGeom prst="rect">
            <a:avLst/>
          </a:prstGeom>
          <a:noFill/>
          <a:ln/>
        </p:spPr>
        <p:txBody>
          <a:bodyPr wrap="square" lIns="0" tIns="0" rIns="0" bIns="0" rtlCol="0" anchor="ctr"/>
          <a:lstStyle/>
          <a:p>
            <a:pPr marL="0" indent="0">
              <a:buNone/>
            </a:pPr>
            <a:r>
              <a:rPr lang="en-US" sz="1400">
                <a:solidFill>
                  <a:srgbClr val="2B2B2B"/>
                </a:solidFill>
                <a:latin typeface="Calibri"/>
              </a:rPr>
              <a:t>Draft the Actions workflow and record every judgment call and confidence level.</a:t>
            </a:r>
            <a:endParaRPr lang="en-US" sz="1400" dirty="0"/>
          </a:p>
        </p:txBody>
      </p:sp>
      <p:sp>
        <p:nvSpPr>
          <p:cNvPr id="16" name="Shape 11"/>
          <p:cNvSpPr/>
          <p:nvPr/>
        </p:nvSpPr>
        <p:spPr>
          <a:xfrm>
            <a:off x="7955280" y="1691640"/>
            <a:ext cx="3429000" cy="3200400"/>
          </a:xfrm>
          <a:prstGeom prst="roundRect">
            <a:avLst>
              <a:gd name="adj" fmla="val 34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2"/>
          <p:cNvSpPr/>
          <p:nvPr/>
        </p:nvSpPr>
        <p:spPr>
          <a:xfrm>
            <a:off x="8229600" y="1920240"/>
            <a:ext cx="603504" cy="603504"/>
          </a:xfrm>
          <a:prstGeom prst="ellipse">
            <a:avLst/>
          </a:prstGeom>
          <a:solidFill>
            <a:srgbClr val="C1440E"/>
          </a:solidFill>
          <a:ln/>
        </p:spPr>
        <p:txBody>
          <a:bodyPr/>
          <a:lstStyle/>
          <a:p>
            <a:endParaRPr lang="en-US"/>
          </a:p>
        </p:txBody>
      </p:sp>
      <p:pic>
        <p:nvPicPr>
          <p:cNvPr id="18" name="Image 3" descr="/home/claude/pptx-build/assets/icons/FaCheckCircle-FFFFFF-200.png"/>
          <p:cNvPicPr>
            <a:picLocks noChangeAspect="1"/>
          </p:cNvPicPr>
          <p:nvPr/>
        </p:nvPicPr>
        <p:blipFill>
          <a:blip r:embed="rId6"/>
          <a:stretch>
            <a:fillRect/>
          </a:stretch>
        </p:blipFill>
        <p:spPr>
          <a:xfrm>
            <a:off x="8375904" y="2066544"/>
            <a:ext cx="310896" cy="310896"/>
          </a:xfrm>
          <a:prstGeom prst="rect">
            <a:avLst/>
          </a:prstGeom>
        </p:spPr>
      </p:pic>
      <p:sp>
        <p:nvSpPr>
          <p:cNvPr id="19" name="Text 13"/>
          <p:cNvSpPr txBox="1"/>
          <p:nvPr/>
        </p:nvSpPr>
        <p:spPr>
          <a:xfrm>
            <a:off x="8229600" y="2670048"/>
            <a:ext cx="2880360" cy="457200"/>
          </a:xfrm>
          <a:prstGeom prst="rect">
            <a:avLst/>
          </a:prstGeom>
          <a:noFill/>
          <a:ln/>
        </p:spPr>
        <p:txBody>
          <a:bodyPr wrap="square" lIns="0" tIns="0" rIns="0" bIns="0" rtlCol="0" anchor="ctr"/>
          <a:lstStyle/>
          <a:p>
            <a:pPr marL="0" indent="0">
              <a:buNone/>
            </a:pPr>
            <a:r>
              <a:rPr lang="en-US" sz="1800" b="1" dirty="0">
                <a:solidFill>
                  <a:srgbClr val="1F3D2C"/>
                </a:solidFill>
                <a:latin typeface="Cambria" pitchFamily="34" charset="0"/>
                <a:ea typeface="Cambria" pitchFamily="34" charset="-122"/>
                <a:cs typeface="Cambria" pitchFamily="34" charset="-120"/>
              </a:rPr>
              <a:t>Validate</a:t>
            </a:r>
            <a:endParaRPr lang="en-US" sz="1800" dirty="0"/>
          </a:p>
        </p:txBody>
      </p:sp>
      <p:sp>
        <p:nvSpPr>
          <p:cNvPr id="20" name="Text 14"/>
          <p:cNvSpPr txBox="1"/>
          <p:nvPr/>
        </p:nvSpPr>
        <p:spPr>
          <a:xfrm>
            <a:off x="8229600" y="3182112"/>
            <a:ext cx="2880360" cy="1600200"/>
          </a:xfrm>
          <a:prstGeom prst="rect">
            <a:avLst/>
          </a:prstGeom>
          <a:noFill/>
          <a:ln/>
        </p:spPr>
        <p:txBody>
          <a:bodyPr wrap="square" lIns="0" tIns="0" rIns="0" bIns="0" rtlCol="0" anchor="ctr"/>
          <a:lstStyle/>
          <a:p>
            <a:pPr marL="0" indent="0">
              <a:buNone/>
            </a:pPr>
            <a:r>
              <a:rPr lang="en-US" sz="1400">
                <a:solidFill>
                  <a:srgbClr val="2B2B2B"/>
                </a:solidFill>
                <a:latin typeface="Calibri"/>
              </a:rPr>
              <a:t>Run a fresh checklist with another reviewer or model where possible, then prove it with deterministic tests.</a:t>
            </a:r>
            <a:endParaRPr lang="en-US" sz="1400" dirty="0"/>
          </a:p>
        </p:txBody>
      </p:sp>
      <p:sp>
        <p:nvSpPr>
          <p:cNvPr id="21" name="Shape 15"/>
          <p:cNvSpPr/>
          <p:nvPr/>
        </p:nvSpPr>
        <p:spPr>
          <a:xfrm>
            <a:off x="548640" y="5120640"/>
            <a:ext cx="11064240" cy="1417320"/>
          </a:xfrm>
          <a:prstGeom prst="roundRect">
            <a:avLst>
              <a:gd name="adj" fmla="val 12632"/>
            </a:avLst>
          </a:prstGeom>
          <a:solidFill>
            <a:srgbClr val="F7F6F2"/>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22" name="Text 16"/>
          <p:cNvSpPr txBox="1"/>
          <p:nvPr/>
        </p:nvSpPr>
        <p:spPr>
          <a:xfrm>
            <a:off x="548640" y="5120640"/>
            <a:ext cx="11064240" cy="1417320"/>
          </a:xfrm>
          <a:prstGeom prst="rect">
            <a:avLst/>
          </a:prstGeom>
          <a:noFill/>
          <a:ln/>
        </p:spPr>
        <p:txBody>
          <a:bodyPr wrap="square" lIns="256032" tIns="54864" rIns="256032" bIns="54864" rtlCol="0" anchor="ctr"/>
          <a:lstStyle/>
          <a:p>
            <a:pPr marL="0" indent="0" algn="l">
              <a:lnSpc>
                <a:spcPct val="110000"/>
              </a:lnSpc>
              <a:buNone/>
            </a:pPr>
            <a:r>
              <a:rPr sz="1050" b="1" spc="120">
                <a:solidFill>
                  <a:srgbClr val="C1440E"/>
                </a:solidFill>
                <a:latin typeface="Calibri"/>
              </a:rPr>
              <a:t>DO THIS </a:t>
            </a:r>
            <a:r>
              <a:rPr sz="1500" b="0">
                <a:solidFill>
                  <a:srgbClr val="2B2B2B"/>
                </a:solidFill>
                <a:latin typeface="Calibri"/>
              </a:rPr>
              <a:t>Use AI where the importer reports partially successful or unsupported work: explain intent, draft conversions, and generate test hypotheses. It accelerates judgment; it does not own acceptance.</a:t>
            </a:r>
            <a:endParaRPr lang="en-US" sz="1400" dirty="0"/>
          </a:p>
        </p:txBody>
      </p:sp>
      <p:sp>
        <p:nvSpPr>
          <p:cNvPr id="23" name="Shape 17"/>
          <p:cNvSpPr/>
          <p:nvPr/>
        </p:nvSpPr>
        <p:spPr>
          <a:xfrm>
            <a:off x="10122408" y="5184648"/>
            <a:ext cx="923544" cy="923544"/>
          </a:xfrm>
          <a:prstGeom prst="roundRect">
            <a:avLst>
              <a:gd name="adj" fmla="val 5941"/>
            </a:avLst>
          </a:prstGeom>
          <a:solidFill>
            <a:srgbClr val="FFFFFF"/>
          </a:solidFill>
          <a:ln w="15875">
            <a:solidFill>
              <a:srgbClr val="1F3D2C"/>
            </a:solidFill>
            <a:prstDash val="solid"/>
          </a:ln>
        </p:spPr>
        <p:txBody>
          <a:bodyPr/>
          <a:lstStyle/>
          <a:p>
            <a:endParaRPr lang="en-US"/>
          </a:p>
        </p:txBody>
      </p:sp>
      <p:pic>
        <p:nvPicPr>
          <p:cNvPr id="24" name="Image 4" descr="/home/claude/pptx-build/assets/qr-sec3-ai-prompts.png"/>
          <p:cNvPicPr>
            <a:picLocks noChangeAspect="1"/>
          </p:cNvPicPr>
          <p:nvPr/>
        </p:nvPicPr>
        <p:blipFill>
          <a:blip r:embed="rId7"/>
          <a:stretch>
            <a:fillRect/>
          </a:stretch>
        </p:blipFill>
        <p:spPr>
          <a:xfrm>
            <a:off x="10195560" y="5257800"/>
            <a:ext cx="777240" cy="777240"/>
          </a:xfrm>
          <a:prstGeom prst="rect">
            <a:avLst/>
          </a:prstGeom>
        </p:spPr>
      </p:pic>
      <p:sp>
        <p:nvSpPr>
          <p:cNvPr id="25" name="Text 18"/>
          <p:cNvSpPr txBox="1"/>
          <p:nvPr/>
        </p:nvSpPr>
        <p:spPr>
          <a:xfrm>
            <a:off x="548640" y="6537960"/>
            <a:ext cx="11064240" cy="274320"/>
          </a:xfrm>
          <a:prstGeom prst="rect">
            <a:avLst/>
          </a:prstGeom>
          <a:noFill/>
          <a:ln/>
        </p:spPr>
        <p:txBody>
          <a:bodyPr wrap="square" lIns="0" tIns="0" rIns="0" bIns="0" rtlCol="0" anchor="ctr"/>
          <a:lstStyle/>
          <a:p>
            <a:pPr marL="0" indent="0">
              <a:buNone/>
            </a:pPr>
            <a:r>
              <a:rPr sz="1000" b="1" spc="120">
                <a:solidFill>
                  <a:srgbClr val="C1440E"/>
                </a:solidFill>
                <a:latin typeface="Calibri"/>
              </a:rPr>
              <a:t>STATUS </a:t>
            </a:r>
            <a:r>
              <a:rPr sz="1300">
                <a:solidFill>
                  <a:srgbClr val="2B2B2B"/>
                </a:solidFill>
                <a:latin typeface="Calibri"/>
              </a:rPr>
              <a:t>Prompts drafted and reviewed; not yet validated against a production pipeline.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MapMarkedAl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a:solidFill>
                  <a:srgbClr val="1F3D2C"/>
                </a:solidFill>
                <a:latin typeface="Cambria"/>
              </a:rPr>
              <a:t>The Crossing, Mapped Across the Planes</a:t>
            </a:r>
            <a:endParaRPr lang="en-US" sz="3200" dirty="0"/>
          </a:p>
        </p:txBody>
      </p:sp>
      <p:sp>
        <p:nvSpPr>
          <p:cNvPr id="6" name="Rectangle 5"/>
          <p:cNvSpPr/>
          <p:nvPr/>
        </p:nvSpPr>
        <p:spPr>
          <a:xfrm>
            <a:off x="1375586" y="2698179"/>
            <a:ext cx="9116568" cy="19050"/>
          </a:xfrm>
          <a:prstGeom prst="rect">
            <a:avLst/>
          </a:prstGeom>
          <a:solidFill>
            <a:srgbClr val="DDD8CC"/>
          </a:solidFill>
          <a:ln>
            <a:noFill/>
          </a:ln>
        </p:spPr>
        <p:txBody>
          <a:bodyPr rtlCol="0" anchor="ctr"/>
          <a:lstStyle/>
          <a:p>
            <a:pPr algn="ctr"/>
            <a:endParaRPr lang="en-US"/>
          </a:p>
        </p:txBody>
      </p:sp>
      <p:sp>
        <p:nvSpPr>
          <p:cNvPr id="7" name="TextBox 6"/>
          <p:cNvSpPr txBox="1">
            <a:spLocks/>
          </p:cNvSpPr>
          <p:nvPr/>
        </p:nvSpPr>
        <p:spPr>
          <a:xfrm>
            <a:off x="296594" y="1691637"/>
            <a:ext cx="2011680" cy="256032"/>
          </a:xfrm>
          <a:prstGeom prst="rect">
            <a:avLst/>
          </a:prstGeom>
          <a:noFill/>
        </p:spPr>
        <p:txBody>
          <a:bodyPr wrap="square" lIns="73152" tIns="73152" rIns="73152" bIns="73152" anchor="t">
            <a:spAutoFit/>
          </a:bodyPr>
          <a:lstStyle/>
          <a:p>
            <a:pPr algn="ctr"/>
            <a:r>
              <a:rPr lang="en-US" sz="1400" b="1" i="0">
                <a:solidFill>
                  <a:srgbClr val="C1440E"/>
                </a:solidFill>
                <a:latin typeface="Calibri"/>
              </a:rPr>
              <a:t>STEP 1</a:t>
            </a:r>
          </a:p>
        </p:txBody>
      </p:sp>
      <p:sp>
        <p:nvSpPr>
          <p:cNvPr id="8" name="TextBox 7"/>
          <p:cNvSpPr txBox="1"/>
          <p:nvPr/>
        </p:nvSpPr>
        <p:spPr>
          <a:xfrm>
            <a:off x="296594" y="1938525"/>
            <a:ext cx="2011680" cy="502920"/>
          </a:xfrm>
          <a:prstGeom prst="rect">
            <a:avLst/>
          </a:prstGeom>
          <a:noFill/>
        </p:spPr>
        <p:txBody>
          <a:bodyPr wrap="square" lIns="73152" tIns="73152" rIns="73152" bIns="73152" anchor="ctr">
            <a:spAutoFit/>
          </a:bodyPr>
          <a:lstStyle/>
          <a:p>
            <a:pPr algn="ctr"/>
            <a:r>
              <a:rPr lang="en-US" sz="1550" b="1" i="0">
                <a:solidFill>
                  <a:srgbClr val="1F3D2C"/>
                </a:solidFill>
                <a:latin typeface="Cambria"/>
              </a:rPr>
              <a:t>Inventory &amp; classify</a:t>
            </a:r>
          </a:p>
        </p:txBody>
      </p:sp>
      <p:sp>
        <p:nvSpPr>
          <p:cNvPr id="9" name="Oval 8"/>
          <p:cNvSpPr>
            <a:spLocks/>
          </p:cNvSpPr>
          <p:nvPr/>
        </p:nvSpPr>
        <p:spPr>
          <a:xfrm>
            <a:off x="1192706" y="2570163"/>
            <a:ext cx="219456" cy="219456"/>
          </a:xfrm>
          <a:prstGeom prst="ellipse">
            <a:avLst/>
          </a:prstGeom>
          <a:solidFill>
            <a:srgbClr val="C1440E"/>
          </a:solidFill>
          <a:ln>
            <a:noFill/>
          </a:ln>
        </p:spPr>
        <p:txBody>
          <a:bodyPr rtlCol="0" anchor="ctr"/>
          <a:lstStyle/>
          <a:p>
            <a:pPr algn="ctr"/>
            <a:endParaRPr lang="en-US"/>
          </a:p>
        </p:txBody>
      </p:sp>
      <p:sp>
        <p:nvSpPr>
          <p:cNvPr id="10" name="TextBox 9"/>
          <p:cNvSpPr txBox="1"/>
          <p:nvPr/>
        </p:nvSpPr>
        <p:spPr>
          <a:xfrm>
            <a:off x="314882" y="3045651"/>
            <a:ext cx="1975104" cy="1600200"/>
          </a:xfrm>
          <a:prstGeom prst="rect">
            <a:avLst/>
          </a:prstGeom>
          <a:noFill/>
        </p:spPr>
        <p:txBody>
          <a:bodyPr wrap="square" lIns="73152" tIns="73152" rIns="73152" bIns="73152" anchor="t">
            <a:spAutoFit/>
          </a:bodyPr>
          <a:lstStyle/>
          <a:p>
            <a:pPr algn="ctr"/>
            <a:r>
              <a:rPr lang="en-US" sz="1400" b="0" i="0">
                <a:solidFill>
                  <a:srgbClr val="2B2B2B"/>
                </a:solidFill>
                <a:latin typeface="Calibri"/>
              </a:rPr>
              <a:t>Repository inventory, PR volume, pipeline audit, and dependency map.</a:t>
            </a:r>
          </a:p>
        </p:txBody>
      </p:sp>
      <p:sp>
        <p:nvSpPr>
          <p:cNvPr id="11" name="TextBox 10"/>
          <p:cNvSpPr txBox="1"/>
          <p:nvPr/>
        </p:nvSpPr>
        <p:spPr>
          <a:xfrm>
            <a:off x="2573450" y="1691637"/>
            <a:ext cx="2011680" cy="256032"/>
          </a:xfrm>
          <a:prstGeom prst="rect">
            <a:avLst/>
          </a:prstGeom>
          <a:noFill/>
        </p:spPr>
        <p:txBody>
          <a:bodyPr wrap="square" lIns="73152" tIns="73152" rIns="73152" bIns="73152" anchor="t">
            <a:spAutoFit/>
          </a:bodyPr>
          <a:lstStyle/>
          <a:p>
            <a:pPr algn="ctr"/>
            <a:r>
              <a:rPr lang="en-US" sz="1400" b="1" i="0">
                <a:solidFill>
                  <a:srgbClr val="C1440E"/>
                </a:solidFill>
                <a:latin typeface="Calibri"/>
              </a:rPr>
              <a:t>STEP 2</a:t>
            </a:r>
          </a:p>
        </p:txBody>
      </p:sp>
      <p:sp>
        <p:nvSpPr>
          <p:cNvPr id="12" name="TextBox 11"/>
          <p:cNvSpPr txBox="1">
            <a:spLocks/>
          </p:cNvSpPr>
          <p:nvPr/>
        </p:nvSpPr>
        <p:spPr>
          <a:xfrm>
            <a:off x="2573450" y="1938525"/>
            <a:ext cx="2011680" cy="502920"/>
          </a:xfrm>
          <a:prstGeom prst="rect">
            <a:avLst/>
          </a:prstGeom>
          <a:noFill/>
        </p:spPr>
        <p:txBody>
          <a:bodyPr wrap="square" lIns="73152" tIns="73152" rIns="73152" bIns="73152" anchor="ctr">
            <a:spAutoFit/>
          </a:bodyPr>
          <a:lstStyle/>
          <a:p>
            <a:pPr algn="ctr"/>
            <a:r>
              <a:rPr lang="en-US" sz="1550" b="1" i="0">
                <a:solidFill>
                  <a:srgbClr val="1F3D2C"/>
                </a:solidFill>
                <a:latin typeface="Cambria"/>
              </a:rPr>
              <a:t>Move repository data</a:t>
            </a:r>
          </a:p>
        </p:txBody>
      </p:sp>
      <p:sp>
        <p:nvSpPr>
          <p:cNvPr id="13" name="Oval 12"/>
          <p:cNvSpPr>
            <a:spLocks/>
          </p:cNvSpPr>
          <p:nvPr/>
        </p:nvSpPr>
        <p:spPr>
          <a:xfrm>
            <a:off x="3469562" y="2570163"/>
            <a:ext cx="219456" cy="219456"/>
          </a:xfrm>
          <a:prstGeom prst="ellipse">
            <a:avLst/>
          </a:prstGeom>
          <a:solidFill>
            <a:srgbClr val="C1440E"/>
          </a:solidFill>
          <a:ln>
            <a:noFill/>
          </a:ln>
        </p:spPr>
        <p:txBody>
          <a:bodyPr rtlCol="0" anchor="ctr"/>
          <a:lstStyle/>
          <a:p>
            <a:pPr algn="ctr"/>
            <a:endParaRPr lang="en-US"/>
          </a:p>
        </p:txBody>
      </p:sp>
      <p:sp>
        <p:nvSpPr>
          <p:cNvPr id="14" name="TextBox 13"/>
          <p:cNvSpPr txBox="1"/>
          <p:nvPr/>
        </p:nvSpPr>
        <p:spPr>
          <a:xfrm>
            <a:off x="2591738" y="3045651"/>
            <a:ext cx="1975104" cy="1600200"/>
          </a:xfrm>
          <a:prstGeom prst="rect">
            <a:avLst/>
          </a:prstGeom>
          <a:noFill/>
        </p:spPr>
        <p:txBody>
          <a:bodyPr wrap="square" lIns="73152" tIns="73152" rIns="73152" bIns="73152" anchor="t">
            <a:spAutoFit/>
          </a:bodyPr>
          <a:lstStyle/>
          <a:p>
            <a:pPr algn="ctr"/>
            <a:r>
              <a:rPr lang="en-US" sz="1400" b="0" i="0">
                <a:solidFill>
                  <a:srgbClr val="2B2B2B"/>
                </a:solidFill>
                <a:latin typeface="Calibri"/>
              </a:rPr>
              <a:t>Trial migration, identity mapping, policies, visibility, and metadata.</a:t>
            </a:r>
          </a:p>
        </p:txBody>
      </p:sp>
      <p:sp>
        <p:nvSpPr>
          <p:cNvPr id="15" name="TextBox 14"/>
          <p:cNvSpPr txBox="1"/>
          <p:nvPr/>
        </p:nvSpPr>
        <p:spPr>
          <a:xfrm>
            <a:off x="4850306" y="1691637"/>
            <a:ext cx="2011680" cy="256032"/>
          </a:xfrm>
          <a:prstGeom prst="rect">
            <a:avLst/>
          </a:prstGeom>
          <a:noFill/>
        </p:spPr>
        <p:txBody>
          <a:bodyPr wrap="square" lIns="73152" tIns="73152" rIns="73152" bIns="73152" anchor="t">
            <a:spAutoFit/>
          </a:bodyPr>
          <a:lstStyle/>
          <a:p>
            <a:pPr algn="ctr"/>
            <a:r>
              <a:rPr lang="en-US" sz="1400" b="1" i="0">
                <a:solidFill>
                  <a:srgbClr val="C1440E"/>
                </a:solidFill>
                <a:latin typeface="Calibri"/>
              </a:rPr>
              <a:t>STEP 3</a:t>
            </a:r>
          </a:p>
        </p:txBody>
      </p:sp>
      <p:sp>
        <p:nvSpPr>
          <p:cNvPr id="16" name="TextBox 15"/>
          <p:cNvSpPr txBox="1"/>
          <p:nvPr/>
        </p:nvSpPr>
        <p:spPr>
          <a:xfrm>
            <a:off x="4850306" y="1938525"/>
            <a:ext cx="2011680" cy="502920"/>
          </a:xfrm>
          <a:prstGeom prst="rect">
            <a:avLst/>
          </a:prstGeom>
          <a:noFill/>
        </p:spPr>
        <p:txBody>
          <a:bodyPr wrap="square" lIns="73152" tIns="73152" rIns="73152" bIns="73152" anchor="ctr">
            <a:spAutoFit/>
          </a:bodyPr>
          <a:lstStyle/>
          <a:p>
            <a:pPr algn="ctr"/>
            <a:r>
              <a:rPr lang="en-US" sz="1550" b="1" i="0">
                <a:solidFill>
                  <a:srgbClr val="1F3D2C"/>
                </a:solidFill>
                <a:latin typeface="Cambria"/>
              </a:rPr>
              <a:t>Rebuild automation</a:t>
            </a:r>
          </a:p>
        </p:txBody>
      </p:sp>
      <p:sp>
        <p:nvSpPr>
          <p:cNvPr id="17" name="Oval 16"/>
          <p:cNvSpPr/>
          <p:nvPr/>
        </p:nvSpPr>
        <p:spPr>
          <a:xfrm>
            <a:off x="5746418" y="2570163"/>
            <a:ext cx="219456" cy="219456"/>
          </a:xfrm>
          <a:prstGeom prst="ellipse">
            <a:avLst/>
          </a:prstGeom>
          <a:solidFill>
            <a:srgbClr val="C1440E"/>
          </a:solidFill>
          <a:ln>
            <a:noFill/>
          </a:ln>
        </p:spPr>
        <p:txBody>
          <a:bodyPr rtlCol="0" anchor="ctr"/>
          <a:lstStyle/>
          <a:p>
            <a:pPr algn="ctr"/>
            <a:endParaRPr lang="en-US"/>
          </a:p>
        </p:txBody>
      </p:sp>
      <p:sp>
        <p:nvSpPr>
          <p:cNvPr id="18" name="TextBox 17"/>
          <p:cNvSpPr txBox="1"/>
          <p:nvPr/>
        </p:nvSpPr>
        <p:spPr>
          <a:xfrm>
            <a:off x="4868594" y="3045651"/>
            <a:ext cx="1975104" cy="1600200"/>
          </a:xfrm>
          <a:prstGeom prst="rect">
            <a:avLst/>
          </a:prstGeom>
          <a:noFill/>
        </p:spPr>
        <p:txBody>
          <a:bodyPr wrap="square" lIns="73152" tIns="73152" rIns="73152" bIns="73152" anchor="t">
            <a:spAutoFit/>
          </a:bodyPr>
          <a:lstStyle/>
          <a:p>
            <a:pPr algn="ctr"/>
            <a:r>
              <a:rPr lang="en-US" sz="1400" b="0" i="0">
                <a:solidFill>
                  <a:srgbClr val="2B2B2B"/>
                </a:solidFill>
                <a:latin typeface="Calibri"/>
              </a:rPr>
              <a:t>Translate semantics; establish runners, secrets, environments, and approvals.</a:t>
            </a:r>
          </a:p>
        </p:txBody>
      </p:sp>
      <p:sp>
        <p:nvSpPr>
          <p:cNvPr id="19" name="TextBox 18"/>
          <p:cNvSpPr txBox="1"/>
          <p:nvPr/>
        </p:nvSpPr>
        <p:spPr>
          <a:xfrm>
            <a:off x="7127162" y="1691637"/>
            <a:ext cx="2011680" cy="256032"/>
          </a:xfrm>
          <a:prstGeom prst="rect">
            <a:avLst/>
          </a:prstGeom>
          <a:noFill/>
        </p:spPr>
        <p:txBody>
          <a:bodyPr wrap="square" lIns="73152" tIns="73152" rIns="73152" bIns="73152" anchor="t">
            <a:spAutoFit/>
          </a:bodyPr>
          <a:lstStyle/>
          <a:p>
            <a:pPr algn="ctr"/>
            <a:r>
              <a:rPr lang="en-US" sz="1400" b="1" i="0">
                <a:solidFill>
                  <a:srgbClr val="C1440E"/>
                </a:solidFill>
                <a:latin typeface="Calibri"/>
              </a:rPr>
              <a:t>STEP 4</a:t>
            </a:r>
          </a:p>
        </p:txBody>
      </p:sp>
      <p:sp>
        <p:nvSpPr>
          <p:cNvPr id="20" name="TextBox 19"/>
          <p:cNvSpPr txBox="1"/>
          <p:nvPr/>
        </p:nvSpPr>
        <p:spPr>
          <a:xfrm>
            <a:off x="7127162" y="1938525"/>
            <a:ext cx="2011680" cy="502920"/>
          </a:xfrm>
          <a:prstGeom prst="rect">
            <a:avLst/>
          </a:prstGeom>
          <a:noFill/>
        </p:spPr>
        <p:txBody>
          <a:bodyPr wrap="square" lIns="73152" tIns="73152" rIns="73152" bIns="73152" anchor="ctr">
            <a:spAutoFit/>
          </a:bodyPr>
          <a:lstStyle/>
          <a:p>
            <a:pPr algn="ctr"/>
            <a:r>
              <a:rPr lang="en-US" sz="1550" b="1" i="0">
                <a:solidFill>
                  <a:srgbClr val="1F3D2C"/>
                </a:solidFill>
                <a:latin typeface="Cambria"/>
              </a:rPr>
              <a:t>Prove equivalence</a:t>
            </a:r>
          </a:p>
        </p:txBody>
      </p:sp>
      <p:sp>
        <p:nvSpPr>
          <p:cNvPr id="21" name="Oval 20"/>
          <p:cNvSpPr>
            <a:spLocks/>
          </p:cNvSpPr>
          <p:nvPr/>
        </p:nvSpPr>
        <p:spPr>
          <a:xfrm>
            <a:off x="8023274" y="2570163"/>
            <a:ext cx="219456" cy="219456"/>
          </a:xfrm>
          <a:prstGeom prst="ellipse">
            <a:avLst/>
          </a:prstGeom>
          <a:solidFill>
            <a:srgbClr val="C1440E"/>
          </a:solidFill>
          <a:ln>
            <a:noFill/>
          </a:ln>
        </p:spPr>
        <p:txBody>
          <a:bodyPr rtlCol="0" anchor="ctr"/>
          <a:lstStyle/>
          <a:p>
            <a:pPr algn="ctr"/>
            <a:endParaRPr lang="en-US"/>
          </a:p>
        </p:txBody>
      </p:sp>
      <p:sp>
        <p:nvSpPr>
          <p:cNvPr id="22" name="TextBox 21"/>
          <p:cNvSpPr txBox="1">
            <a:spLocks/>
          </p:cNvSpPr>
          <p:nvPr/>
        </p:nvSpPr>
        <p:spPr>
          <a:xfrm>
            <a:off x="7145450" y="3045651"/>
            <a:ext cx="1975104" cy="1600200"/>
          </a:xfrm>
          <a:prstGeom prst="rect">
            <a:avLst/>
          </a:prstGeom>
          <a:noFill/>
        </p:spPr>
        <p:txBody>
          <a:bodyPr wrap="square" lIns="73152" tIns="73152" rIns="73152" bIns="73152" anchor="t">
            <a:spAutoFit/>
          </a:bodyPr>
          <a:lstStyle/>
          <a:p>
            <a:pPr algn="ctr"/>
            <a:r>
              <a:rPr lang="en-US" sz="1400" b="0" i="0">
                <a:solidFill>
                  <a:srgbClr val="2B2B2B"/>
                </a:solidFill>
                <a:latin typeface="Calibri"/>
              </a:rPr>
              <a:t>Compare artifacts and behavior; test security, deployability, and operability.</a:t>
            </a:r>
          </a:p>
        </p:txBody>
      </p:sp>
      <p:sp>
        <p:nvSpPr>
          <p:cNvPr id="23" name="TextBox 22"/>
          <p:cNvSpPr txBox="1"/>
          <p:nvPr/>
        </p:nvSpPr>
        <p:spPr>
          <a:xfrm>
            <a:off x="9404018" y="1691637"/>
            <a:ext cx="2011680" cy="256032"/>
          </a:xfrm>
          <a:prstGeom prst="rect">
            <a:avLst/>
          </a:prstGeom>
          <a:noFill/>
        </p:spPr>
        <p:txBody>
          <a:bodyPr wrap="square" lIns="73152" tIns="73152" rIns="73152" bIns="73152" anchor="t">
            <a:spAutoFit/>
          </a:bodyPr>
          <a:lstStyle/>
          <a:p>
            <a:pPr algn="ctr"/>
            <a:r>
              <a:rPr lang="en-US" sz="1400" b="1" i="0">
                <a:solidFill>
                  <a:srgbClr val="C1440E"/>
                </a:solidFill>
                <a:latin typeface="Calibri"/>
              </a:rPr>
              <a:t>STEP 5</a:t>
            </a:r>
          </a:p>
        </p:txBody>
      </p:sp>
      <p:sp>
        <p:nvSpPr>
          <p:cNvPr id="24" name="TextBox 23"/>
          <p:cNvSpPr txBox="1"/>
          <p:nvPr/>
        </p:nvSpPr>
        <p:spPr>
          <a:xfrm>
            <a:off x="9404018" y="1938525"/>
            <a:ext cx="2011680" cy="502920"/>
          </a:xfrm>
          <a:prstGeom prst="rect">
            <a:avLst/>
          </a:prstGeom>
          <a:noFill/>
        </p:spPr>
        <p:txBody>
          <a:bodyPr wrap="square" lIns="73152" tIns="73152" rIns="73152" bIns="73152" anchor="ctr">
            <a:spAutoFit/>
          </a:bodyPr>
          <a:lstStyle/>
          <a:p>
            <a:pPr algn="ctr"/>
            <a:r>
              <a:rPr lang="en-US" sz="1550" b="1" i="0">
                <a:solidFill>
                  <a:srgbClr val="1F3D2C"/>
                </a:solidFill>
                <a:latin typeface="Cambria"/>
              </a:rPr>
              <a:t>Cut over reversibly</a:t>
            </a:r>
          </a:p>
        </p:txBody>
      </p:sp>
      <p:sp>
        <p:nvSpPr>
          <p:cNvPr id="25" name="Oval 24"/>
          <p:cNvSpPr>
            <a:spLocks/>
          </p:cNvSpPr>
          <p:nvPr/>
        </p:nvSpPr>
        <p:spPr>
          <a:xfrm>
            <a:off x="10300130" y="2570163"/>
            <a:ext cx="219456" cy="219456"/>
          </a:xfrm>
          <a:prstGeom prst="ellipse">
            <a:avLst/>
          </a:prstGeom>
          <a:solidFill>
            <a:srgbClr val="C1440E"/>
          </a:solidFill>
          <a:ln>
            <a:noFill/>
          </a:ln>
        </p:spPr>
        <p:txBody>
          <a:bodyPr rtlCol="0" anchor="ctr"/>
          <a:lstStyle/>
          <a:p>
            <a:pPr algn="ctr"/>
            <a:endParaRPr lang="en-US"/>
          </a:p>
        </p:txBody>
      </p:sp>
      <p:sp>
        <p:nvSpPr>
          <p:cNvPr id="26" name="TextBox 25"/>
          <p:cNvSpPr txBox="1"/>
          <p:nvPr/>
        </p:nvSpPr>
        <p:spPr>
          <a:xfrm>
            <a:off x="9422306" y="3045651"/>
            <a:ext cx="1975104" cy="1600200"/>
          </a:xfrm>
          <a:prstGeom prst="rect">
            <a:avLst/>
          </a:prstGeom>
          <a:noFill/>
        </p:spPr>
        <p:txBody>
          <a:bodyPr wrap="square" lIns="73152" tIns="73152" rIns="73152" bIns="73152" anchor="t">
            <a:spAutoFit/>
          </a:bodyPr>
          <a:lstStyle/>
          <a:p>
            <a:pPr algn="ctr"/>
            <a:r>
              <a:rPr lang="en-US" sz="1400" b="0" i="0">
                <a:solidFill>
                  <a:srgbClr val="2B2B2B"/>
                </a:solidFill>
                <a:latin typeface="Calibri"/>
              </a:rPr>
              <a:t>Schedule cutover, monitor, keep rollback ready, then decommission deliberately.</a:t>
            </a:r>
          </a:p>
        </p:txBody>
      </p:sp>
      <p:sp>
        <p:nvSpPr>
          <p:cNvPr id="27" name="TextBox 26"/>
          <p:cNvSpPr txBox="1"/>
          <p:nvPr/>
        </p:nvSpPr>
        <p:spPr>
          <a:xfrm>
            <a:off x="525194" y="4681725"/>
            <a:ext cx="11091672" cy="365760"/>
          </a:xfrm>
          <a:prstGeom prst="rect">
            <a:avLst/>
          </a:prstGeom>
          <a:noFill/>
        </p:spPr>
        <p:txBody>
          <a:bodyPr wrap="square" lIns="73152" tIns="73152" rIns="73152" bIns="73152" anchor="t">
            <a:spAutoFit/>
          </a:bodyPr>
          <a:lstStyle/>
          <a:p>
            <a:pPr algn="ctr"/>
            <a:r>
              <a:rPr lang="en-US" sz="1800" b="1" i="1">
                <a:solidFill>
                  <a:srgbClr val="1F3D2C"/>
                </a:solidFill>
                <a:latin typeface="Cambria"/>
              </a:rPr>
              <a:t>A green build is evidence—not acceptance.</a:t>
            </a:r>
          </a:p>
        </p:txBody>
      </p:sp>
      <p:sp>
        <p:nvSpPr>
          <p:cNvPr id="28" name="Rectangle 27"/>
          <p:cNvSpPr/>
          <p:nvPr/>
        </p:nvSpPr>
        <p:spPr>
          <a:xfrm>
            <a:off x="548640" y="5257797"/>
            <a:ext cx="11064240" cy="914400"/>
          </a:xfrm>
          <a:prstGeom prst="roundRect">
            <a:avLst>
              <a:gd name="adj" fmla="val 12632"/>
            </a:avLst>
          </a:prstGeom>
          <a:solidFill>
            <a:srgbClr val="1F3D2C"/>
          </a:solidFill>
          <a:ln w="12700">
            <a:noFill/>
          </a:ln>
          <a:effectLst/>
        </p:spPr>
        <p:txBody>
          <a:bodyPr rtlCol="0" anchor="ctr"/>
          <a:lstStyle/>
          <a:p>
            <a:pPr algn="ctr"/>
            <a:endParaRPr lang="en-US"/>
          </a:p>
        </p:txBody>
      </p:sp>
      <p:sp>
        <p:nvSpPr>
          <p:cNvPr id="29" name="TextBox 28"/>
          <p:cNvSpPr txBox="1"/>
          <p:nvPr/>
        </p:nvSpPr>
        <p:spPr>
          <a:xfrm>
            <a:off x="548640" y="5257797"/>
            <a:ext cx="11064240" cy="914400"/>
          </a:xfrm>
          <a:prstGeom prst="rect">
            <a:avLst/>
          </a:prstGeom>
          <a:noFill/>
        </p:spPr>
        <p:txBody>
          <a:bodyPr wrap="square" lIns="256032" tIns="54864" rIns="256032" bIns="54864" anchor="ctr">
            <a:spAutoFit/>
          </a:bodyPr>
          <a:lstStyle/>
          <a:p>
            <a:pPr algn="l"/>
            <a:r>
              <a:rPr sz="1050" b="1" spc="120">
                <a:solidFill>
                  <a:srgbClr val="8C6A3F"/>
                </a:solidFill>
                <a:latin typeface="Calibri"/>
              </a:rPr>
              <a:t>TAKEAWAY </a:t>
            </a:r>
            <a:r>
              <a:rPr sz="1500" b="0">
                <a:solidFill>
                  <a:srgbClr val="F5F5F0"/>
                </a:solidFill>
                <a:latin typeface="Calibri"/>
              </a:rPr>
              <a:t>Finish line: first verified delivery — equivalent artifact + controlled deployment + traceability + rollback.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ghtbulb-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a:solidFill>
                  <a:srgbClr val="1F3D2C"/>
                </a:solidFill>
                <a:latin typeface="Cambria"/>
              </a:rPr>
              <a:t>“Migrated” Is a Checklist, Not a Repository URL</a:t>
            </a:r>
            <a:endParaRPr lang="en-US" sz="3200" dirty="0"/>
          </a:p>
        </p:txBody>
      </p:sp>
      <p:sp>
        <p:nvSpPr>
          <p:cNvPr id="6" name="Rectangle 5"/>
          <p:cNvSpPr/>
          <p:nvPr/>
        </p:nvSpPr>
        <p:spPr>
          <a:xfrm>
            <a:off x="548640" y="1508760"/>
            <a:ext cx="3493008" cy="3886200"/>
          </a:xfrm>
          <a:prstGeom prst="rect">
            <a:avLst/>
          </a:prstGeom>
          <a:solidFill>
            <a:srgbClr val="F7F6F2"/>
          </a:solidFill>
          <a:ln w="12700">
            <a:solidFill>
              <a:srgbClr val="DDD8CC"/>
            </a:solidFill>
          </a:ln>
        </p:spPr>
        <p:txBody>
          <a:bodyPr rtlCol="0" anchor="ctr"/>
          <a:lstStyle/>
          <a:p>
            <a:pPr algn="ctr"/>
            <a:endParaRPr lang="en-US"/>
          </a:p>
        </p:txBody>
      </p:sp>
      <p:sp>
        <p:nvSpPr>
          <p:cNvPr id="7" name="TextBox 6"/>
          <p:cNvSpPr txBox="1"/>
          <p:nvPr/>
        </p:nvSpPr>
        <p:spPr>
          <a:xfrm>
            <a:off x="749808" y="1737360"/>
            <a:ext cx="3090672" cy="347472"/>
          </a:xfrm>
          <a:prstGeom prst="rect">
            <a:avLst/>
          </a:prstGeom>
          <a:noFill/>
        </p:spPr>
        <p:txBody>
          <a:bodyPr wrap="square" lIns="73152" tIns="73152" rIns="73152" bIns="73152" anchor="t">
            <a:spAutoFit/>
          </a:bodyPr>
          <a:lstStyle/>
          <a:p>
            <a:pPr algn="ctr"/>
            <a:r>
              <a:rPr lang="en-US" sz="1450" b="1" i="0">
                <a:solidFill>
                  <a:srgbClr val="C1440E"/>
                </a:solidFill>
                <a:latin typeface="Calibri"/>
              </a:rPr>
              <a:t>REPOSITORY DATA</a:t>
            </a:r>
          </a:p>
        </p:txBody>
      </p:sp>
      <p:sp>
        <p:nvSpPr>
          <p:cNvPr id="8" name="TextBox 7"/>
          <p:cNvSpPr txBox="1">
            <a:spLocks/>
          </p:cNvSpPr>
          <p:nvPr/>
        </p:nvSpPr>
        <p:spPr>
          <a:xfrm>
            <a:off x="768096" y="2304288"/>
            <a:ext cx="3054096" cy="2697480"/>
          </a:xfrm>
          <a:prstGeom prst="rect">
            <a:avLst/>
          </a:prstGeom>
          <a:noFill/>
        </p:spPr>
        <p:txBody>
          <a:bodyPr wrap="square" lIns="36576" tIns="27432" rIns="36576" bIns="27432">
            <a:spAutoFit/>
          </a:bodyPr>
          <a:lstStyle/>
          <a:p>
            <a:pPr>
              <a:spcAft>
                <a:spcPts val="500"/>
              </a:spcAft>
            </a:pPr>
            <a:r>
              <a:rPr lang="en-US" sz="1400">
                <a:solidFill>
                  <a:srgbClr val="2B2B2B"/>
                </a:solidFill>
                <a:latin typeface="Calibri"/>
              </a:rPr>
              <a:t>•  Branches, tags, and sampled commits reconciled</a:t>
            </a:r>
          </a:p>
          <a:p>
            <a:pPr>
              <a:spcAft>
                <a:spcPts val="500"/>
              </a:spcAft>
            </a:pPr>
            <a:r>
              <a:rPr lang="en-US" sz="1400">
                <a:solidFill>
                  <a:srgbClr val="2B2B2B"/>
                </a:solidFill>
                <a:latin typeface="Calibri"/>
              </a:rPr>
              <a:t>•  PR history and attachments sampled</a:t>
            </a:r>
          </a:p>
          <a:p>
            <a:pPr>
              <a:spcAft>
                <a:spcPts val="500"/>
              </a:spcAft>
            </a:pPr>
            <a:r>
              <a:rPr lang="en-US" sz="1400">
                <a:solidFill>
                  <a:srgbClr val="2B2B2B"/>
                </a:solidFill>
                <a:latin typeface="Calibri"/>
              </a:rPr>
              <a:t>•  Identity, teams, permissions, and visibility verified</a:t>
            </a:r>
          </a:p>
          <a:p>
            <a:pPr>
              <a:spcAft>
                <a:spcPts val="500"/>
              </a:spcAft>
            </a:pPr>
            <a:r>
              <a:rPr lang="en-US" sz="1400">
                <a:solidFill>
                  <a:srgbClr val="2B2B2B"/>
                </a:solidFill>
                <a:latin typeface="Calibri"/>
              </a:rPr>
              <a:t>•  Policies, LFS, and large-file behavior checked</a:t>
            </a:r>
          </a:p>
        </p:txBody>
      </p:sp>
      <p:sp>
        <p:nvSpPr>
          <p:cNvPr id="9" name="Rectangle 8"/>
          <p:cNvSpPr>
            <a:spLocks/>
          </p:cNvSpPr>
          <p:nvPr/>
        </p:nvSpPr>
        <p:spPr>
          <a:xfrm>
            <a:off x="4279392" y="1508760"/>
            <a:ext cx="3493008" cy="3886200"/>
          </a:xfrm>
          <a:prstGeom prst="rect">
            <a:avLst/>
          </a:prstGeom>
          <a:solidFill>
            <a:srgbClr val="1F3D2C"/>
          </a:solidFill>
          <a:ln w="12700">
            <a:solidFill>
              <a:srgbClr val="DDD8CC"/>
            </a:solidFill>
          </a:ln>
        </p:spPr>
        <p:txBody>
          <a:bodyPr rtlCol="0" anchor="ctr"/>
          <a:lstStyle/>
          <a:p>
            <a:pPr algn="ctr"/>
            <a:endParaRPr lang="en-US"/>
          </a:p>
        </p:txBody>
      </p:sp>
      <p:sp>
        <p:nvSpPr>
          <p:cNvPr id="10" name="TextBox 9"/>
          <p:cNvSpPr txBox="1"/>
          <p:nvPr/>
        </p:nvSpPr>
        <p:spPr>
          <a:xfrm>
            <a:off x="4480559" y="1737360"/>
            <a:ext cx="3090672" cy="347472"/>
          </a:xfrm>
          <a:prstGeom prst="rect">
            <a:avLst/>
          </a:prstGeom>
          <a:noFill/>
        </p:spPr>
        <p:txBody>
          <a:bodyPr wrap="square" lIns="73152" tIns="73152" rIns="73152" bIns="73152" anchor="t">
            <a:spAutoFit/>
          </a:bodyPr>
          <a:lstStyle/>
          <a:p>
            <a:pPr algn="ctr"/>
            <a:r>
              <a:rPr lang="en-US" sz="1450" b="1" i="0">
                <a:solidFill>
                  <a:srgbClr val="C1440E"/>
                </a:solidFill>
                <a:latin typeface="Calibri"/>
              </a:rPr>
              <a:t>AUTOMATION</a:t>
            </a:r>
          </a:p>
        </p:txBody>
      </p:sp>
      <p:sp>
        <p:nvSpPr>
          <p:cNvPr id="11" name="TextBox 10"/>
          <p:cNvSpPr txBox="1"/>
          <p:nvPr/>
        </p:nvSpPr>
        <p:spPr>
          <a:xfrm>
            <a:off x="4498848" y="2304288"/>
            <a:ext cx="3054096" cy="2697480"/>
          </a:xfrm>
          <a:prstGeom prst="rect">
            <a:avLst/>
          </a:prstGeom>
          <a:noFill/>
        </p:spPr>
        <p:txBody>
          <a:bodyPr wrap="square" lIns="36576" tIns="27432" rIns="36576" bIns="27432">
            <a:spAutoFit/>
          </a:bodyPr>
          <a:lstStyle/>
          <a:p>
            <a:pPr>
              <a:spcAft>
                <a:spcPts val="500"/>
              </a:spcAft>
            </a:pPr>
            <a:r>
              <a:rPr sz="1400">
                <a:solidFill>
                  <a:srgbClr val="F5F5F0"/>
                </a:solidFill>
                <a:latin typeface="Calibri"/>
              </a:rPr>
              <a:t>•  Equivalent build artifact produced</a:t>
            </a:r>
          </a:p>
          <a:p>
            <a:pPr>
              <a:spcAft>
                <a:spcPts val="500"/>
              </a:spcAft>
            </a:pPr>
            <a:r>
              <a:rPr sz="1400">
                <a:solidFill>
                  <a:srgbClr val="F5F5F0"/>
                </a:solidFill>
                <a:latin typeface="Calibri"/>
              </a:rPr>
              <a:t>•  Secrets, OIDC, and permissions reviewed</a:t>
            </a:r>
          </a:p>
          <a:p>
            <a:pPr>
              <a:spcAft>
                <a:spcPts val="500"/>
              </a:spcAft>
            </a:pPr>
            <a:r>
              <a:rPr sz="1400">
                <a:solidFill>
                  <a:srgbClr val="F5F5F0"/>
                </a:solidFill>
                <a:latin typeface="Calibri"/>
              </a:rPr>
              <a:t>•  Runner and network path proven</a:t>
            </a:r>
          </a:p>
          <a:p>
            <a:pPr>
              <a:spcAft>
                <a:spcPts val="500"/>
              </a:spcAft>
            </a:pPr>
            <a:r>
              <a:rPr sz="1400">
                <a:solidFill>
                  <a:srgbClr val="F5F5F0"/>
                </a:solidFill>
                <a:latin typeface="Calibri"/>
              </a:rPr>
              <a:t>•  Environments, approvals, and deployment exercised</a:t>
            </a:r>
          </a:p>
        </p:txBody>
      </p:sp>
      <p:sp>
        <p:nvSpPr>
          <p:cNvPr id="12" name="Rectangle 11"/>
          <p:cNvSpPr/>
          <p:nvPr/>
        </p:nvSpPr>
        <p:spPr>
          <a:xfrm>
            <a:off x="8010144" y="1508760"/>
            <a:ext cx="3493008" cy="3886200"/>
          </a:xfrm>
          <a:prstGeom prst="rect">
            <a:avLst/>
          </a:prstGeom>
          <a:solidFill>
            <a:srgbClr val="F7F6F2"/>
          </a:solidFill>
          <a:ln w="12700">
            <a:solidFill>
              <a:srgbClr val="DDD8CC"/>
            </a:solidFill>
          </a:ln>
        </p:spPr>
        <p:txBody>
          <a:bodyPr rtlCol="0" anchor="ctr"/>
          <a:lstStyle/>
          <a:p>
            <a:pPr algn="ctr"/>
            <a:endParaRPr/>
          </a:p>
        </p:txBody>
      </p:sp>
      <p:sp>
        <p:nvSpPr>
          <p:cNvPr id="13" name="TextBox 12"/>
          <p:cNvSpPr txBox="1"/>
          <p:nvPr/>
        </p:nvSpPr>
        <p:spPr>
          <a:xfrm>
            <a:off x="8211312" y="1737360"/>
            <a:ext cx="3090672" cy="347472"/>
          </a:xfrm>
          <a:prstGeom prst="rect">
            <a:avLst/>
          </a:prstGeom>
          <a:noFill/>
        </p:spPr>
        <p:txBody>
          <a:bodyPr wrap="square" lIns="73152" tIns="73152" rIns="73152" bIns="73152" anchor="t">
            <a:spAutoFit/>
          </a:bodyPr>
          <a:lstStyle/>
          <a:p>
            <a:pPr algn="ctr"/>
            <a:r>
              <a:rPr sz="1450" b="1" i="0">
                <a:solidFill>
                  <a:srgbClr val="C1440E"/>
                </a:solidFill>
                <a:latin typeface="Calibri"/>
              </a:rPr>
              <a:t>VALIDATION &amp; CUTOVER</a:t>
            </a:r>
          </a:p>
        </p:txBody>
      </p:sp>
      <p:sp>
        <p:nvSpPr>
          <p:cNvPr id="14" name="TextBox 13"/>
          <p:cNvSpPr txBox="1"/>
          <p:nvPr/>
        </p:nvSpPr>
        <p:spPr>
          <a:xfrm>
            <a:off x="8229600" y="2304288"/>
            <a:ext cx="3054096" cy="2697480"/>
          </a:xfrm>
          <a:prstGeom prst="rect">
            <a:avLst/>
          </a:prstGeom>
          <a:noFill/>
        </p:spPr>
        <p:txBody>
          <a:bodyPr wrap="square" lIns="36576" tIns="27432" rIns="36576" bIns="27432">
            <a:spAutoFit/>
          </a:bodyPr>
          <a:lstStyle/>
          <a:p>
            <a:pPr>
              <a:spcAft>
                <a:spcPts val="500"/>
              </a:spcAft>
            </a:pPr>
            <a:r>
              <a:rPr sz="1400">
                <a:solidFill>
                  <a:srgbClr val="2B2B2B"/>
                </a:solidFill>
                <a:latin typeface="Calibri"/>
              </a:rPr>
              <a:t>•  Behavior, security, and performance accepted</a:t>
            </a:r>
          </a:p>
          <a:p>
            <a:pPr>
              <a:spcAft>
                <a:spcPts val="500"/>
              </a:spcAft>
            </a:pPr>
            <a:r>
              <a:rPr sz="1400">
                <a:solidFill>
                  <a:srgbClr val="2B2B2B"/>
                </a:solidFill>
                <a:latin typeface="Calibri"/>
              </a:rPr>
              <a:t>•  Observability and notifications confirmed</a:t>
            </a:r>
          </a:p>
          <a:p>
            <a:pPr>
              <a:spcAft>
                <a:spcPts val="500"/>
              </a:spcAft>
            </a:pPr>
            <a:r>
              <a:rPr sz="1400">
                <a:solidFill>
                  <a:srgbClr val="2B2B2B"/>
                </a:solidFill>
                <a:latin typeface="Calibri"/>
              </a:rPr>
              <a:t>•  Rollback owner and procedure documented</a:t>
            </a:r>
          </a:p>
          <a:p>
            <a:pPr>
              <a:spcAft>
                <a:spcPts val="500"/>
              </a:spcAft>
            </a:pPr>
            <a:r>
              <a:rPr sz="1400">
                <a:solidFill>
                  <a:srgbClr val="2B2B2B"/>
                </a:solidFill>
                <a:latin typeface="Calibri"/>
              </a:rPr>
              <a:t>•  Legacy repo read-only; decommission date defined</a:t>
            </a:r>
          </a:p>
        </p:txBody>
      </p:sp>
      <p:sp>
        <p:nvSpPr>
          <p:cNvPr id="16" name="Rounded Rectangle 15"/>
          <p:cNvSpPr/>
          <p:nvPr/>
        </p:nvSpPr>
        <p:spPr>
          <a:xfrm>
            <a:off x="548640" y="5449824"/>
            <a:ext cx="11064240" cy="731520"/>
          </a:xfrm>
          <a:prstGeom prst="roundRect">
            <a:avLst>
              <a:gd name="adj" fmla="val 12632"/>
            </a:avLst>
          </a:prstGeom>
          <a:solidFill>
            <a:srgbClr val="1F3D2C"/>
          </a:solidFill>
          <a:ln>
            <a:noFill/>
          </a:ln>
          <a:effectLst/>
        </p:spPr>
        <p:txBody>
          <a:bodyPr rtlCol="0" anchor="ctr"/>
          <a:lstStyle/>
          <a:p>
            <a:pPr algn="ctr"/>
            <a:endParaRPr/>
          </a:p>
        </p:txBody>
      </p:sp>
      <p:sp>
        <p:nvSpPr>
          <p:cNvPr id="15" name="TextBox 14"/>
          <p:cNvSpPr txBox="1"/>
          <p:nvPr/>
        </p:nvSpPr>
        <p:spPr>
          <a:xfrm>
            <a:off x="548640" y="5449824"/>
            <a:ext cx="11064240" cy="731520"/>
          </a:xfrm>
          <a:prstGeom prst="rect">
            <a:avLst/>
          </a:prstGeom>
          <a:noFill/>
        </p:spPr>
        <p:txBody>
          <a:bodyPr wrap="square" lIns="256032" tIns="54864" rIns="256032" bIns="54864" anchor="ctr">
            <a:spAutoFit/>
          </a:bodyPr>
          <a:lstStyle/>
          <a:p>
            <a:pPr algn="l"/>
            <a:r>
              <a:rPr sz="1050" b="1" spc="120">
                <a:solidFill>
                  <a:srgbClr val="8C6A3F"/>
                </a:solidFill>
                <a:latin typeface="Calibri"/>
              </a:rPr>
              <a:t>TAKEAWAY </a:t>
            </a:r>
            <a:r>
              <a:rPr sz="1500" b="0">
                <a:solidFill>
                  <a:srgbClr val="F5F5F0"/>
                </a:solidFill>
                <a:latin typeface="Calibri"/>
              </a:rPr>
              <a:t>Definition of done: verified delivery, traceability, operational ownership, and reversibility.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1F3D2C"/>
        </a:solidFill>
        <a:effectLst/>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marL="0" indent="0" algn="ctr">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marL="0" indent="0" algn="ctr">
              <a:buNone/>
            </a:pPr>
            <a:r>
              <a:rPr lang="en-US" sz="1900" i="1" dirty="0">
                <a:solidFill>
                  <a:srgbClr val="8C6A3F"/>
                </a:solidFill>
                <a:latin typeface="Calibri" pitchFamily="34" charset="0"/>
                <a:ea typeface="Calibri" pitchFamily="34" charset="-122"/>
                <a:cs typeface="Calibri" pitchFamily="34" charset="-120"/>
              </a:rPr>
              <a:t>One quick question before we leave Section 3 — Crossing the River</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4</a:t>
            </a:r>
            <a:endParaRPr lang="en-US" sz="1700" dirty="0"/>
          </a:p>
        </p:txBody>
      </p:sp>
      <p:pic>
        <p:nvPicPr>
          <p:cNvPr id="4" name="Image 0" descr="/home/claude/pptx-build/assets/icons/FaPaw-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Watch as the Scrum Master Approaches Carefully</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Sprint planning is a creature of habit, most comfortable in the enclosure it was raised in. Moving it means understanding exactly what it needs to survive the move.</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ProjectDiagram-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804672"/>
            <a:ext cx="10515600" cy="658368"/>
          </a:xfrm>
          <a:prstGeom prst="rect">
            <a:avLst/>
          </a:prstGeom>
          <a:noFill/>
          <a:ln/>
        </p:spPr>
        <p:txBody>
          <a:bodyPr wrap="square" lIns="0" tIns="0" rIns="0" bIns="0" rtlCol="0" anchor="t"/>
          <a:lstStyle/>
          <a:p>
            <a:pPr marL="0" indent="0">
              <a:buNone/>
            </a:pPr>
            <a:r>
              <a:rPr lang="en-US" sz="2800" b="1" dirty="0">
                <a:solidFill>
                  <a:srgbClr val="1F3D2C"/>
                </a:solidFill>
                <a:latin typeface="Cambria" pitchFamily="34" charset="0"/>
                <a:ea typeface="Cambria" pitchFamily="34" charset="-122"/>
                <a:cs typeface="Cambria" pitchFamily="34" charset="-120"/>
              </a:rPr>
              <a:t>Boards: Not an Easy Transplant — Where the Gap Is Widest</a:t>
            </a:r>
            <a:endParaRPr lang="en-US" sz="3200" dirty="0"/>
          </a:p>
        </p:txBody>
      </p:sp>
      <p:sp>
        <p:nvSpPr>
          <p:cNvPr id="6" name="Shape 3"/>
          <p:cNvSpPr/>
          <p:nvPr/>
        </p:nvSpPr>
        <p:spPr>
          <a:xfrm>
            <a:off x="548640" y="1645920"/>
            <a:ext cx="11064240" cy="2011680"/>
          </a:xfrm>
          <a:prstGeom prst="roundRect">
            <a:avLst>
              <a:gd name="adj" fmla="val 5455"/>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28800"/>
            <a:ext cx="10332720" cy="1645920"/>
          </a:xfrm>
          <a:prstGeom prst="rect">
            <a:avLst/>
          </a:prstGeom>
          <a:noFill/>
          <a:ln/>
        </p:spPr>
        <p:txBody>
          <a:bodyPr wrap="square" lIns="0" tIns="0" rIns="0" bIns="0" rtlCol="0" anchor="ctr"/>
          <a:lstStyle/>
          <a:p>
            <a:pPr marL="0" indent="0">
              <a:lnSpc>
                <a:spcPct val="125000"/>
              </a:lnSpc>
              <a:buNone/>
            </a:pPr>
            <a:r>
              <a:rPr lang="en-US" sz="1900" dirty="0">
                <a:solidFill>
                  <a:srgbClr val="2B2B2B"/>
                </a:solidFill>
                <a:latin typeface="Calibri" pitchFamily="34" charset="0"/>
                <a:ea typeface="Calibri" pitchFamily="34" charset="-122"/>
                <a:cs typeface="Calibri" pitchFamily="34" charset="-120"/>
              </a:rPr>
              <a:t>Azure Boards is a full enterprise work-tracking system built around a process template. GitHub Projects is a real planning layer built around custom fields and views. This isn’t a feature gap so much as two different models.</a:t>
            </a:r>
            <a:endParaRPr lang="en-US" sz="1900" dirty="0"/>
          </a:p>
        </p:txBody>
      </p:sp>
      <p:sp>
        <p:nvSpPr>
          <p:cNvPr id="8" name="Shape 5"/>
          <p:cNvSpPr/>
          <p:nvPr/>
        </p:nvSpPr>
        <p:spPr>
          <a:xfrm>
            <a:off x="548640" y="3977640"/>
            <a:ext cx="5349240" cy="1463040"/>
          </a:xfrm>
          <a:prstGeom prst="roundRect">
            <a:avLst>
              <a:gd name="adj" fmla="val 75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133088"/>
            <a:ext cx="4800600" cy="457200"/>
          </a:xfrm>
          <a:prstGeom prst="rect">
            <a:avLst/>
          </a:prstGeom>
          <a:noFill/>
          <a:ln/>
        </p:spPr>
        <p:txBody>
          <a:bodyPr wrap="square" lIns="0" tIns="0" rIns="0" bIns="0" rtlCol="0" anchor="ctr"/>
          <a:lstStyle/>
          <a:p>
            <a:pPr marL="0" indent="0">
              <a:buNone/>
            </a:pPr>
            <a:r>
              <a:rPr lang="en-US" sz="2000" b="1" dirty="0">
                <a:solidFill>
                  <a:srgbClr val="F5F5F0"/>
                </a:solidFill>
                <a:latin typeface="Cambria" pitchFamily="34" charset="0"/>
                <a:ea typeface="Cambria" pitchFamily="34" charset="-122"/>
                <a:cs typeface="Cambria" pitchFamily="34" charset="-120"/>
              </a:rPr>
              <a:t>Azure Boards</a:t>
            </a:r>
            <a:endParaRPr lang="en-US" sz="2000" dirty="0"/>
          </a:p>
        </p:txBody>
      </p:sp>
      <p:sp>
        <p:nvSpPr>
          <p:cNvPr id="10" name="Text 7"/>
          <p:cNvSpPr txBox="1"/>
          <p:nvPr/>
        </p:nvSpPr>
        <p:spPr>
          <a:xfrm>
            <a:off x="822960" y="4645152"/>
            <a:ext cx="4800600" cy="640080"/>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Enterprise work-tracking system</a:t>
            </a:r>
            <a:endParaRPr lang="en-US" sz="1600" dirty="0"/>
          </a:p>
        </p:txBody>
      </p:sp>
      <p:sp>
        <p:nvSpPr>
          <p:cNvPr id="11" name="Shape 8"/>
          <p:cNvSpPr/>
          <p:nvPr/>
        </p:nvSpPr>
        <p:spPr>
          <a:xfrm>
            <a:off x="6172200" y="3977640"/>
            <a:ext cx="5349240" cy="1463040"/>
          </a:xfrm>
          <a:prstGeom prst="roundRect">
            <a:avLst>
              <a:gd name="adj" fmla="val 75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9"/>
          <p:cNvSpPr txBox="1"/>
          <p:nvPr/>
        </p:nvSpPr>
        <p:spPr>
          <a:xfrm>
            <a:off x="6446520" y="4133088"/>
            <a:ext cx="4800600" cy="457200"/>
          </a:xfrm>
          <a:prstGeom prst="rect">
            <a:avLst/>
          </a:prstGeom>
          <a:noFill/>
          <a:ln/>
        </p:spPr>
        <p:txBody>
          <a:bodyPr wrap="square" lIns="0" tIns="0" rIns="0" bIns="0" rtlCol="0" anchor="ctr"/>
          <a:lstStyle/>
          <a:p>
            <a:pPr marL="0" indent="0">
              <a:buNone/>
            </a:pPr>
            <a:r>
              <a:rPr lang="en-US" sz="2000" b="1" dirty="0">
                <a:solidFill>
                  <a:srgbClr val="1F3D2C"/>
                </a:solidFill>
                <a:latin typeface="Cambria" pitchFamily="34" charset="0"/>
                <a:ea typeface="Cambria" pitchFamily="34" charset="-122"/>
                <a:cs typeface="Cambria" pitchFamily="34" charset="-120"/>
              </a:rPr>
              <a:t>GitHub Projects</a:t>
            </a:r>
            <a:endParaRPr lang="en-US" sz="2000" dirty="0"/>
          </a:p>
        </p:txBody>
      </p:sp>
      <p:sp>
        <p:nvSpPr>
          <p:cNvPr id="13" name="Text 10"/>
          <p:cNvSpPr txBox="1"/>
          <p:nvPr/>
        </p:nvSpPr>
        <p:spPr>
          <a:xfrm>
            <a:off x="6446520" y="4645152"/>
            <a:ext cx="4800600" cy="64008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Field-driven planning layer on Issues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Sitemap-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Azure Boards’ Strengths</a:t>
            </a:r>
            <a:endParaRPr lang="en-US" sz="3200" dirty="0"/>
          </a:p>
        </p:txBody>
      </p:sp>
      <p:sp>
        <p:nvSpPr>
          <p:cNvPr id="6" name="Shape 3"/>
          <p:cNvSpPr/>
          <p:nvPr/>
        </p:nvSpPr>
        <p:spPr>
          <a:xfrm>
            <a:off x="548640" y="1645920"/>
            <a:ext cx="11064240" cy="3566160"/>
          </a:xfrm>
          <a:prstGeom prst="roundRect">
            <a:avLst>
              <a:gd name="adj" fmla="val 3077"/>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74520"/>
            <a:ext cx="10332720" cy="320040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Hierarchical work items — Epics → Features → Stories → Tasks</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Sprint planning and capacity management, built in</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Delivery Plans for cross-team dependencies</a:t>
            </a:r>
            <a:endParaRPr lang="en-US" sz="1900" dirty="0"/>
          </a:p>
          <a:p>
            <a:pPr marL="342900" indent="-342900">
              <a:lnSpc>
                <a:spcPct val="115000"/>
              </a:lnSpc>
              <a:buSzPct val="100000"/>
              <a:buChar char="•"/>
            </a:pPr>
            <a:r>
              <a:rPr lang="en-US" sz="1900" dirty="0">
                <a:solidFill>
                  <a:srgbClr val="2B2B2B"/>
                </a:solidFill>
                <a:latin typeface="Calibri" pitchFamily="34" charset="0"/>
                <a:ea typeface="Calibri" pitchFamily="34" charset="-122"/>
                <a:cs typeface="Calibri" pitchFamily="34" charset="-120"/>
              </a:rPr>
              <a:t>Boards Analytics plus Power BI reporting</a:t>
            </a:r>
            <a:endParaRPr lang="en-US" sz="1900" dirty="0"/>
          </a:p>
        </p:txBody>
      </p:sp>
      <p:sp>
        <p:nvSpPr>
          <p:cNvPr id="8" name="Shape 5"/>
          <p:cNvSpPr/>
          <p:nvPr/>
        </p:nvSpPr>
        <p:spPr>
          <a:xfrm>
            <a:off x="548640" y="5440680"/>
            <a:ext cx="11064240" cy="868680"/>
          </a:xfrm>
          <a:prstGeom prst="roundRect">
            <a:avLst>
              <a:gd name="adj" fmla="val 12632"/>
            </a:avLst>
          </a:prstGeom>
          <a:solidFill>
            <a:srgbClr val="1F3D2C"/>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48640" y="5440680"/>
            <a:ext cx="11064240" cy="868680"/>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ORGANIZES BY </a:t>
            </a:r>
            <a:r>
              <a:rPr sz="1500" b="0">
                <a:solidFill>
                  <a:srgbClr val="F5F5F0"/>
                </a:solidFill>
                <a:latin typeface="Calibri"/>
              </a:rPr>
              <a:t>Project → Team → Area Path</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olumn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GitHub Projects’ Strengths</a:t>
            </a:r>
            <a:endParaRPr lang="en-US" sz="3200" dirty="0"/>
          </a:p>
        </p:txBody>
      </p:sp>
      <p:sp>
        <p:nvSpPr>
          <p:cNvPr id="6" name="Shape 3"/>
          <p:cNvSpPr/>
          <p:nvPr/>
        </p:nvSpPr>
        <p:spPr>
          <a:xfrm>
            <a:off x="548640" y="1645920"/>
            <a:ext cx="11064240" cy="3566160"/>
          </a:xfrm>
          <a:prstGeom prst="roundRect">
            <a:avLst>
              <a:gd name="adj" fmla="val 3077"/>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74520"/>
            <a:ext cx="10332720" cy="320040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Custom fields rather than a fixed process — iteration, single-select, date, number</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Lives right next to the actual issues and PRs it tracks</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Fast for small-team daily triage — no context switch to a separate system</a:t>
            </a:r>
            <a:endParaRPr lang="en-US" sz="1900" dirty="0"/>
          </a:p>
          <a:p>
            <a:pPr marL="342900" indent="-342900">
              <a:lnSpc>
                <a:spcPct val="115000"/>
              </a:lnSpc>
              <a:buSzPct val="100000"/>
              <a:buChar char="•"/>
            </a:pPr>
            <a:r>
              <a:rPr lang="en-US" sz="1900" dirty="0">
                <a:solidFill>
                  <a:srgbClr val="2B2B2B"/>
                </a:solidFill>
                <a:latin typeface="Calibri" pitchFamily="34" charset="0"/>
                <a:ea typeface="Calibri" pitchFamily="34" charset="-122"/>
                <a:cs typeface="Calibri" pitchFamily="34" charset="-120"/>
              </a:rPr>
              <a:t>Sub-issues, issue types and dependencies (all GA); roadmap layout; built-in or Actions-driven automation</a:t>
            </a:r>
            <a:endParaRPr lang="en-US" sz="1900" dirty="0"/>
          </a:p>
        </p:txBody>
      </p:sp>
      <p:sp>
        <p:nvSpPr>
          <p:cNvPr id="8" name="Shape 5"/>
          <p:cNvSpPr/>
          <p:nvPr/>
        </p:nvSpPr>
        <p:spPr>
          <a:xfrm>
            <a:off x="548640" y="5440680"/>
            <a:ext cx="11064240" cy="868680"/>
          </a:xfrm>
          <a:prstGeom prst="roundRect">
            <a:avLst>
              <a:gd name="adj" fmla="val 12632"/>
            </a:avLst>
          </a:prstGeom>
          <a:solidFill>
            <a:srgbClr val="1F3D2C"/>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48640" y="5440680"/>
            <a:ext cx="11064240" cy="868680"/>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ORGANIZES BY </a:t>
            </a:r>
            <a:r>
              <a:rPr sz="1500" b="0">
                <a:solidFill>
                  <a:srgbClr val="F5F5F0"/>
                </a:solidFill>
                <a:latin typeface="Calibri"/>
              </a:rPr>
              <a:t>Custom fields and iterations — org-level, spanning repositories</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roundRect">
            <a:avLst>
              <a:gd name="adj" fmla="val 16129"/>
            </a:avLst>
          </a:prstGeom>
          <a:solidFill>
            <a:srgbClr val="C1440E"/>
          </a:solidFill>
          <a:ln/>
        </p:spPr>
        <p:txBody>
          <a:bodyPr/>
          <a:lstStyle/>
          <a:p>
            <a:endParaRPr lang="en-US"/>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200" b="1" dirty="0">
                <a:solidFill>
                  <a:srgbClr val="F5F5F0"/>
                </a:solidFill>
                <a:latin typeface="Calibri" pitchFamily="34" charset="0"/>
                <a:ea typeface="Calibri" pitchFamily="34" charset="-122"/>
                <a:cs typeface="Calibri" pitchFamily="34" charset="-120"/>
              </a:rPr>
              <a:t>⊞</a:t>
            </a:r>
            <a:endParaRPr lang="en-US" sz="2200" dirty="0"/>
          </a:p>
        </p:txBody>
      </p:sp>
      <p:sp>
        <p:nvSpPr>
          <p:cNvPr id="4" name="Text 2"/>
          <p:cNvSpPr txBox="1"/>
          <p:nvPr/>
        </p:nvSpPr>
        <p:spPr>
          <a:xfrm>
            <a:off x="1234440" y="420624"/>
            <a:ext cx="7315200" cy="320040"/>
          </a:xfrm>
          <a:prstGeom prst="rect">
            <a:avLst/>
          </a:prstGeom>
          <a:noFill/>
          <a:ln/>
        </p:spPr>
        <p:txBody>
          <a:bodyPr wrap="square" lIns="0" tIns="0" rIns="0" bIns="0" rtlCol="0" anchor="ctr"/>
          <a:lstStyle/>
          <a:p>
            <a:pPr marL="0" indent="0">
              <a:buNone/>
            </a:pPr>
            <a:r>
              <a:rPr lang="en-US" sz="1500" b="1" kern="0" spc="100" dirty="0">
                <a:solidFill>
                  <a:srgbClr val="C1440E"/>
                </a:solidFill>
                <a:latin typeface="Calibri" pitchFamily="34" charset="0"/>
                <a:ea typeface="Calibri" pitchFamily="34" charset="-122"/>
                <a:cs typeface="Calibri" pitchFamily="34" charset="-120"/>
              </a:rPr>
              <a:t>PLANNING &amp; TRACKING</a:t>
            </a:r>
            <a:endParaRPr lang="en-US" sz="1500" dirty="0"/>
          </a:p>
        </p:txBody>
      </p:sp>
      <p:sp>
        <p:nvSpPr>
          <p:cNvPr id="5" name="Text 3"/>
          <p:cNvSpPr txBox="1"/>
          <p:nvPr/>
        </p:nvSpPr>
        <p:spPr>
          <a:xfrm>
            <a:off x="1234440" y="749808"/>
            <a:ext cx="10515600" cy="658368"/>
          </a:xfrm>
          <a:prstGeom prst="rect">
            <a:avLst/>
          </a:prstGeom>
          <a:noFill/>
          <a:ln/>
        </p:spPr>
        <p:txBody>
          <a:bodyPr wrap="square" lIns="0" tIns="0" rIns="0" bIns="0" rtlCol="0" anchor="t"/>
          <a:lstStyle/>
          <a:p>
            <a:pPr marL="0" indent="0">
              <a:buNone/>
            </a:pPr>
            <a:r>
              <a:rPr lang="en-US" sz="3200" b="1" dirty="0">
                <a:solidFill>
                  <a:srgbClr val="1F3D2C"/>
                </a:solidFill>
                <a:latin typeface="Cambria" pitchFamily="34" charset="0"/>
                <a:ea typeface="Cambria" pitchFamily="34" charset="-122"/>
                <a:cs typeface="Cambria" pitchFamily="34" charset="-120"/>
              </a:rPr>
              <a:t>Azure Boards vs. GitHub Projects</a:t>
            </a:r>
            <a:endParaRPr lang="en-US" sz="3200" dirty="0"/>
          </a:p>
        </p:txBody>
      </p:sp>
      <p:sp>
        <p:nvSpPr>
          <p:cNvPr id="6" name="Shape 4"/>
          <p:cNvSpPr/>
          <p:nvPr/>
        </p:nvSpPr>
        <p:spPr>
          <a:xfrm>
            <a:off x="548640" y="1417320"/>
            <a:ext cx="5257800" cy="3794760"/>
          </a:xfrm>
          <a:prstGeom prst="roundRect">
            <a:avLst>
              <a:gd name="adj" fmla="val 1558"/>
            </a:avLst>
          </a:prstGeom>
          <a:solidFill>
            <a:srgbClr val="F7F6F2"/>
          </a:solidFill>
          <a:ln/>
        </p:spPr>
        <p:txBody>
          <a:bodyPr/>
          <a:lstStyle/>
          <a:p>
            <a:endParaRPr lang="en-US"/>
          </a:p>
        </p:txBody>
      </p:sp>
      <p:sp>
        <p:nvSpPr>
          <p:cNvPr id="7" name="Text 5"/>
          <p:cNvSpPr txBox="1"/>
          <p:nvPr/>
        </p:nvSpPr>
        <p:spPr>
          <a:xfrm>
            <a:off x="804672" y="1673352"/>
            <a:ext cx="4617720" cy="411480"/>
          </a:xfrm>
          <a:prstGeom prst="rect">
            <a:avLst/>
          </a:prstGeom>
          <a:noFill/>
          <a:ln/>
        </p:spPr>
        <p:txBody>
          <a:bodyPr wrap="square" lIns="0" tIns="0" rIns="0" bIns="0" rtlCol="0" anchor="t"/>
          <a:lstStyle/>
          <a:p>
            <a:pPr marL="0" indent="0">
              <a:buNone/>
            </a:pPr>
            <a:r>
              <a:rPr lang="en-US" sz="1700" b="1" dirty="0">
                <a:solidFill>
                  <a:srgbClr val="1F3D2C"/>
                </a:solidFill>
                <a:latin typeface="Cambria" pitchFamily="34" charset="0"/>
                <a:ea typeface="Cambria" pitchFamily="34" charset="-122"/>
                <a:cs typeface="Cambria" pitchFamily="34" charset="-120"/>
              </a:rPr>
              <a:t>What Carries Over</a:t>
            </a:r>
            <a:endParaRPr lang="en-US" sz="1700" dirty="0"/>
          </a:p>
        </p:txBody>
      </p:sp>
      <p:sp>
        <p:nvSpPr>
          <p:cNvPr id="8" name="Text 6"/>
          <p:cNvSpPr txBox="1"/>
          <p:nvPr/>
        </p:nvSpPr>
        <p:spPr>
          <a:xfrm>
            <a:off x="868680" y="2057400"/>
            <a:ext cx="4617720" cy="292608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Kanban board, table, and roadmap views of the same underlying items</a:t>
            </a:r>
            <a:endParaRPr lang="en-US" sz="1400" dirty="0"/>
          </a:p>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Custom fields — single-select, number, date, iteration — up to 50 per project</a:t>
            </a:r>
            <a:endParaRPr lang="en-US" sz="1400" dirty="0"/>
          </a:p>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Drag-and-drop status changes that sync back to the issue or PR</a:t>
            </a:r>
            <a:endParaRPr lang="en-US" sz="1400" dirty="0"/>
          </a:p>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Cross-repo, cross-org rollups into one view</a:t>
            </a:r>
            <a:endParaRPr lang="en-US" sz="1400" dirty="0"/>
          </a:p>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Automation rules (e.g., auto-close on merge) — same instinct as Boards' state links</a:t>
            </a:r>
            <a:endParaRPr lang="en-US" sz="1400" dirty="0"/>
          </a:p>
        </p:txBody>
      </p:sp>
      <p:sp>
        <p:nvSpPr>
          <p:cNvPr id="9" name="Shape 7"/>
          <p:cNvSpPr/>
          <p:nvPr/>
        </p:nvSpPr>
        <p:spPr>
          <a:xfrm>
            <a:off x="6355080" y="1417320"/>
            <a:ext cx="5257800" cy="3794760"/>
          </a:xfrm>
          <a:prstGeom prst="roundRect">
            <a:avLst>
              <a:gd name="adj" fmla="val 1558"/>
            </a:avLst>
          </a:prstGeom>
          <a:solidFill>
            <a:srgbClr val="F7F6F2"/>
          </a:solidFill>
          <a:ln/>
        </p:spPr>
        <p:txBody>
          <a:bodyPr/>
          <a:lstStyle/>
          <a:p>
            <a:endParaRPr lang="en-US"/>
          </a:p>
        </p:txBody>
      </p:sp>
      <p:sp>
        <p:nvSpPr>
          <p:cNvPr id="10" name="Text 8"/>
          <p:cNvSpPr txBox="1"/>
          <p:nvPr/>
        </p:nvSpPr>
        <p:spPr>
          <a:xfrm>
            <a:off x="6675120" y="1645920"/>
            <a:ext cx="4617720" cy="411480"/>
          </a:xfrm>
          <a:prstGeom prst="rect">
            <a:avLst/>
          </a:prstGeom>
          <a:noFill/>
          <a:ln/>
        </p:spPr>
        <p:txBody>
          <a:bodyPr wrap="square" lIns="0" tIns="0" rIns="0" bIns="0" rtlCol="0" anchor="t"/>
          <a:lstStyle/>
          <a:p>
            <a:pPr marL="0" indent="0">
              <a:buNone/>
            </a:pPr>
            <a:r>
              <a:rPr lang="en-US" sz="1700" b="1" dirty="0">
                <a:solidFill>
                  <a:srgbClr val="C1440E"/>
                </a:solidFill>
                <a:latin typeface="Cambria" pitchFamily="34" charset="0"/>
                <a:ea typeface="Cambria" pitchFamily="34" charset="-122"/>
                <a:cs typeface="Cambria" pitchFamily="34" charset="-120"/>
              </a:rPr>
              <a:t>What You Rebuild Yourself</a:t>
            </a:r>
            <a:endParaRPr lang="en-US" sz="1700" dirty="0"/>
          </a:p>
        </p:txBody>
      </p:sp>
      <p:sp>
        <p:nvSpPr>
          <p:cNvPr id="11" name="Text 9"/>
          <p:cNvSpPr txBox="1"/>
          <p:nvPr/>
        </p:nvSpPr>
        <p:spPr>
          <a:xfrm>
            <a:off x="6675120" y="2084832"/>
            <a:ext cx="4617720" cy="2898648"/>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No typed work items — everything is an issue, a PR, or a draft issue</a:t>
            </a:r>
            <a:endParaRPr lang="en-US" sz="1400" dirty="0"/>
          </a:p>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No process templates (Agile/Scrum/CMMI) — no enforced Epic → Feature → Story</a:t>
            </a:r>
            <a:endParaRPr lang="en-US" sz="1400" dirty="0"/>
          </a:p>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No native sprints — "iteration" is a field you configure, with no built-in capacity or burndown</a:t>
            </a:r>
            <a:endParaRPr lang="en-US" sz="1400" dirty="0"/>
          </a:p>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Hierarchy is manual, via "Tracks / Tracked by" links, not a structural backlog level</a:t>
            </a:r>
            <a:endParaRPr lang="en-US" sz="1400" dirty="0"/>
          </a:p>
          <a:p>
            <a:pPr marL="228600" indent="-2286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Analytics are thin — no Azure DevOps-style dashboards or cumulative flow out of the box</a:t>
            </a:r>
            <a:endParaRPr lang="en-US" sz="1400" dirty="0"/>
          </a:p>
        </p:txBody>
      </p:sp>
      <p:sp>
        <p:nvSpPr>
          <p:cNvPr id="12" name="Shape 10"/>
          <p:cNvSpPr/>
          <p:nvPr/>
        </p:nvSpPr>
        <p:spPr>
          <a:xfrm>
            <a:off x="548640" y="5440680"/>
            <a:ext cx="11064240" cy="868680"/>
          </a:xfrm>
          <a:prstGeom prst="roundRect">
            <a:avLst/>
          </a:prstGeom>
          <a:solidFill>
            <a:srgbClr val="1F3D2C"/>
          </a:solidFill>
          <a:ln/>
        </p:spPr>
        <p:txBody>
          <a:bodyPr/>
          <a:lstStyle/>
          <a:p>
            <a:endParaRPr lang="en-US"/>
          </a:p>
        </p:txBody>
      </p:sp>
      <p:sp>
        <p:nvSpPr>
          <p:cNvPr id="13" name="Shape 11"/>
          <p:cNvSpPr/>
          <p:nvPr/>
        </p:nvSpPr>
        <p:spPr>
          <a:xfrm>
            <a:off x="548640" y="5440680"/>
            <a:ext cx="11064240" cy="868680"/>
          </a:xfrm>
          <a:prstGeom prst="roundRect">
            <a:avLst>
              <a:gd name="adj" fmla="val 12632"/>
            </a:avLst>
          </a:prstGeom>
          <a:solidFill>
            <a:srgbClr val="1F3D2C"/>
          </a:solidFill>
          <a:ln/>
        </p:spPr>
        <p:txBody>
          <a:bodyPr/>
          <a:lstStyle/>
          <a:p>
            <a:endParaRPr lang="en-US"/>
          </a:p>
        </p:txBody>
      </p:sp>
      <p:sp>
        <p:nvSpPr>
          <p:cNvPr id="14" name="Text 12"/>
          <p:cNvSpPr txBox="1"/>
          <p:nvPr/>
        </p:nvSpPr>
        <p:spPr>
          <a:xfrm>
            <a:off x="804672" y="5440680"/>
            <a:ext cx="1463040" cy="868680"/>
          </a:xfrm>
          <a:prstGeom prst="rect">
            <a:avLst/>
          </a:prstGeom>
          <a:noFill/>
          <a:ln/>
        </p:spPr>
        <p:txBody>
          <a:bodyPr wrap="square" lIns="0" tIns="0" rIns="0" bIns="0" rtlCol="0" anchor="ctr"/>
          <a:lstStyle/>
          <a:p>
            <a:pPr marL="0" indent="0">
              <a:buNone/>
            </a:pPr>
            <a:r>
              <a:rPr lang="en-US" sz="1050" b="1" kern="0" spc="100" dirty="0">
                <a:solidFill>
                  <a:srgbClr val="8C6A3F"/>
                </a:solidFill>
                <a:latin typeface="Calibri" pitchFamily="34" charset="0"/>
                <a:ea typeface="Calibri" pitchFamily="34" charset="-122"/>
                <a:cs typeface="Calibri" pitchFamily="34" charset="-120"/>
              </a:rPr>
              <a:t>TAKEAWAY</a:t>
            </a:r>
            <a:endParaRPr lang="en-US" sz="1050" dirty="0"/>
          </a:p>
        </p:txBody>
      </p:sp>
      <p:sp>
        <p:nvSpPr>
          <p:cNvPr id="15" name="Text 13"/>
          <p:cNvSpPr txBox="1"/>
          <p:nvPr/>
        </p:nvSpPr>
        <p:spPr>
          <a:xfrm>
            <a:off x="2148840" y="5440680"/>
            <a:ext cx="9189720" cy="868680"/>
          </a:xfrm>
          <a:prstGeom prst="rect">
            <a:avLst/>
          </a:prstGeom>
          <a:noFill/>
          <a:ln/>
        </p:spPr>
        <p:txBody>
          <a:bodyPr wrap="square" lIns="0" tIns="0" rIns="0" bIns="0" rtlCol="0" anchor="ctr"/>
          <a:lstStyle/>
          <a:p>
            <a:pPr marL="0" indent="0">
              <a:buNone/>
            </a:pPr>
            <a:r>
              <a:rPr lang="en-US" sz="1500" dirty="0">
                <a:solidFill>
                  <a:srgbClr val="F5F5F0"/>
                </a:solidFill>
                <a:latin typeface="Calibri" pitchFamily="34" charset="0"/>
                <a:ea typeface="Calibri" pitchFamily="34" charset="-122"/>
                <a:cs typeface="Calibri" pitchFamily="34" charset="-120"/>
              </a:rPr>
              <a:t>Azure Boards ships a data model. GitHub Projects ships a spreadsheet — you build the model yourself.</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Unlin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What You Lose Migrating Work Items</a:t>
            </a:r>
            <a:endParaRPr lang="en-US" sz="3200" dirty="0"/>
          </a:p>
        </p:txBody>
      </p:sp>
      <p:sp>
        <p:nvSpPr>
          <p:cNvPr id="6" name="Shape 3"/>
          <p:cNvSpPr/>
          <p:nvPr/>
        </p:nvSpPr>
        <p:spPr>
          <a:xfrm>
            <a:off x="548640" y="1645920"/>
            <a:ext cx="11064240" cy="2926080"/>
          </a:xfrm>
          <a:prstGeom prst="roundRect">
            <a:avLst>
              <a:gd name="adj" fmla="val 375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74520"/>
            <a:ext cx="10332720" cy="256032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900" dirty="0">
                <a:solidFill>
                  <a:srgbClr val="2B2B2B"/>
                </a:solidFill>
                <a:latin typeface="Calibri" pitchFamily="34" charset="0"/>
                <a:ea typeface="Calibri" pitchFamily="34" charset="-122"/>
                <a:cs typeface="Calibri" pitchFamily="34" charset="-120"/>
              </a:rPr>
              <a:t>Sprint history</a:t>
            </a:r>
            <a:endParaRPr lang="en-US" sz="1900" dirty="0"/>
          </a:p>
          <a:p>
            <a:pPr marL="342900" indent="-342900">
              <a:lnSpc>
                <a:spcPct val="120000"/>
              </a:lnSpc>
              <a:spcAft>
                <a:spcPts val="1200"/>
              </a:spcAft>
              <a:buSzPct val="100000"/>
              <a:buChar char="•"/>
            </a:pPr>
            <a:r>
              <a:rPr lang="en-US" sz="1900" dirty="0">
                <a:solidFill>
                  <a:srgbClr val="2B2B2B"/>
                </a:solidFill>
                <a:latin typeface="Calibri" pitchFamily="34" charset="0"/>
                <a:ea typeface="Calibri" pitchFamily="34" charset="-122"/>
                <a:cs typeface="Calibri" pitchFamily="34" charset="-120"/>
              </a:rPr>
              <a:t>Capacity data</a:t>
            </a:r>
            <a:endParaRPr lang="en-US" sz="1900" dirty="0"/>
          </a:p>
          <a:p>
            <a:pPr marL="342900" indent="-342900">
              <a:lnSpc>
                <a:spcPct val="120000"/>
              </a:lnSpc>
              <a:spcAft>
                <a:spcPts val="1200"/>
              </a:spcAft>
              <a:buSzPct val="100000"/>
              <a:buChar char="•"/>
            </a:pPr>
            <a:r>
              <a:rPr lang="en-US" sz="1900" dirty="0">
                <a:solidFill>
                  <a:srgbClr val="2B2B2B"/>
                </a:solidFill>
                <a:latin typeface="Calibri" pitchFamily="34" charset="0"/>
                <a:ea typeface="Calibri" pitchFamily="34" charset="-122"/>
                <a:cs typeface="Calibri" pitchFamily="34" charset="-120"/>
              </a:rPr>
              <a:t>Custom process fields</a:t>
            </a:r>
            <a:endParaRPr lang="en-US" sz="1900" dirty="0"/>
          </a:p>
          <a:p>
            <a:pPr marL="342900" indent="-342900">
              <a:lnSpc>
                <a:spcPct val="120000"/>
              </a:lnSpc>
              <a:buSzPct val="100000"/>
              <a:buChar char="•"/>
            </a:pPr>
            <a:r>
              <a:rPr lang="en-US" sz="1900" dirty="0">
                <a:solidFill>
                  <a:srgbClr val="2B2B2B"/>
                </a:solidFill>
                <a:latin typeface="Calibri" pitchFamily="34" charset="0"/>
                <a:ea typeface="Calibri" pitchFamily="34" charset="-122"/>
                <a:cs typeface="Calibri" pitchFamily="34" charset="-120"/>
              </a:rPr>
              <a:t>The whole Project → Team → Area Path hierarchy</a:t>
            </a:r>
            <a:endParaRPr lang="en-US" sz="1900" dirty="0"/>
          </a:p>
        </p:txBody>
      </p:sp>
      <p:sp>
        <p:nvSpPr>
          <p:cNvPr id="8" name="Shape 5"/>
          <p:cNvSpPr/>
          <p:nvPr/>
        </p:nvSpPr>
        <p:spPr>
          <a:xfrm>
            <a:off x="548640" y="4800600"/>
            <a:ext cx="11064240" cy="1508760"/>
          </a:xfrm>
          <a:prstGeom prst="roundRect">
            <a:avLst>
              <a:gd name="adj" fmla="val 12632"/>
            </a:avLst>
          </a:prstGeom>
          <a:solidFill>
            <a:srgbClr val="F7F6F2"/>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48640" y="4800600"/>
            <a:ext cx="11064240" cy="1508760"/>
          </a:xfrm>
          <a:prstGeom prst="rect">
            <a:avLst/>
          </a:prstGeom>
          <a:noFill/>
          <a:ln/>
        </p:spPr>
        <p:txBody>
          <a:bodyPr wrap="square" lIns="256032" tIns="54864" rIns="256032" bIns="54864" rtlCol="0" anchor="ctr"/>
          <a:lstStyle/>
          <a:p>
            <a:pPr marL="0" indent="0" algn="l">
              <a:lnSpc>
                <a:spcPct val="115000"/>
              </a:lnSpc>
              <a:buNone/>
            </a:pPr>
            <a:r>
              <a:rPr sz="1050" b="1" spc="120">
                <a:solidFill>
                  <a:srgbClr val="C1440E"/>
                </a:solidFill>
                <a:latin typeface="Calibri"/>
              </a:rPr>
              <a:t>CAVEAT </a:t>
            </a:r>
            <a:r>
              <a:rPr sz="1500" b="0">
                <a:solidFill>
                  <a:srgbClr val="2B2B2B"/>
                </a:solidFill>
                <a:latin typeface="Calibri"/>
              </a:rPr>
              <a:t>`azure-devops-migration-tools` can move work items, but the two data models don’t line up — budget real manual-mapping time. This is a project, not a script you run once.</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an-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Test Plans: Stays Behind</a:t>
            </a:r>
            <a:endParaRPr lang="en-US" sz="3200" dirty="0"/>
          </a:p>
        </p:txBody>
      </p:sp>
      <p:sp>
        <p:nvSpPr>
          <p:cNvPr id="6" name="Shape 3"/>
          <p:cNvSpPr/>
          <p:nvPr/>
        </p:nvSpPr>
        <p:spPr>
          <a:xfrm>
            <a:off x="548640" y="1691640"/>
            <a:ext cx="11064240" cy="2011680"/>
          </a:xfrm>
          <a:prstGeom prst="roundRect">
            <a:avLst>
              <a:gd name="adj" fmla="val 5455"/>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65960"/>
            <a:ext cx="10515600" cy="822960"/>
          </a:xfrm>
          <a:prstGeom prst="rect">
            <a:avLst/>
          </a:prstGeom>
          <a:noFill/>
          <a:ln/>
        </p:spPr>
        <p:txBody>
          <a:bodyPr wrap="square" lIns="0" tIns="0" rIns="0" bIns="0" rtlCol="0" anchor="ctr"/>
          <a:lstStyle/>
          <a:p>
            <a:pPr marL="0" indent="0" algn="ctr">
              <a:buNone/>
            </a:pPr>
            <a:r>
              <a:rPr lang="en-US" sz="3000" b="1" dirty="0">
                <a:solidFill>
                  <a:srgbClr val="F5F5F0"/>
                </a:solidFill>
                <a:latin typeface="Cambria" pitchFamily="34" charset="0"/>
                <a:ea typeface="Cambria" pitchFamily="34" charset="-122"/>
                <a:cs typeface="Cambria" pitchFamily="34" charset="-120"/>
              </a:rPr>
              <a:t>No GitHub equivalent. Full stop.</a:t>
            </a:r>
            <a:endParaRPr lang="en-US" sz="3000" dirty="0"/>
          </a:p>
        </p:txBody>
      </p:sp>
      <p:sp>
        <p:nvSpPr>
          <p:cNvPr id="8" name="Text 5"/>
          <p:cNvSpPr txBox="1"/>
          <p:nvPr/>
        </p:nvSpPr>
        <p:spPr>
          <a:xfrm>
            <a:off x="822960" y="2788920"/>
            <a:ext cx="10515600" cy="731520"/>
          </a:xfrm>
          <a:prstGeom prst="rect">
            <a:avLst/>
          </a:prstGeom>
          <a:noFill/>
          <a:ln/>
        </p:spPr>
        <p:txBody>
          <a:bodyPr wrap="square" lIns="0" tIns="0" rIns="0" bIns="0" rtlCol="0" anchor="ctr"/>
          <a:lstStyle/>
          <a:p>
            <a:pPr marL="0" indent="0" algn="ctr">
              <a:buNone/>
            </a:pPr>
            <a:r>
              <a:rPr lang="en-US" sz="1600" dirty="0">
                <a:solidFill>
                  <a:srgbClr val="8C6A3F"/>
                </a:solidFill>
                <a:latin typeface="Calibri" pitchFamily="34" charset="0"/>
                <a:ea typeface="Calibri" pitchFamily="34" charset="-122"/>
                <a:cs typeface="Calibri" pitchFamily="34" charset="-120"/>
              </a:rPr>
              <a:t>No native GitHub Projects or Issues equivalent for structured manual and exploratory testing.</a:t>
            </a:r>
            <a:endParaRPr lang="en-US" sz="1600" dirty="0"/>
          </a:p>
        </p:txBody>
      </p:sp>
      <p:sp>
        <p:nvSpPr>
          <p:cNvPr id="9" name="Shape 6"/>
          <p:cNvSpPr/>
          <p:nvPr/>
        </p:nvSpPr>
        <p:spPr>
          <a:xfrm>
            <a:off x="548640" y="4069080"/>
            <a:ext cx="11064240" cy="1371600"/>
          </a:xfrm>
          <a:prstGeom prst="roundRect">
            <a:avLst>
              <a:gd name="adj" fmla="val 8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822960" y="4206240"/>
            <a:ext cx="10515600" cy="1097280"/>
          </a:xfrm>
          <a:prstGeom prst="rect">
            <a:avLst/>
          </a:prstGeom>
          <a:noFill/>
          <a:ln/>
        </p:spPr>
        <p:txBody>
          <a:bodyPr wrap="square" lIns="0" tIns="0" rIns="0" bIns="0" rtlCol="0" anchor="ctr"/>
          <a:lstStyle/>
          <a:p>
            <a:pPr marL="0" indent="0">
              <a:buNone/>
            </a:pPr>
            <a:r>
              <a:rPr lang="en-US" sz="1800" dirty="0">
                <a:solidFill>
                  <a:srgbClr val="2B2B2B"/>
                </a:solidFill>
                <a:latin typeface="Calibri" pitchFamily="34" charset="0"/>
                <a:ea typeface="Calibri" pitchFamily="34" charset="-122"/>
                <a:cs typeface="Calibri" pitchFamily="34" charset="-120"/>
              </a:rPr>
              <a:t>In a regulated environment, this alone can be a reason to keep Azure DevOps in the picture.</a:t>
            </a:r>
            <a:endParaRPr lang="en-US" sz="1800" dirty="0"/>
          </a:p>
        </p:txBody>
      </p:sp>
      <p:sp>
        <p:nvSpPr>
          <p:cNvPr id="12" name="Rounded Rectangle 11"/>
          <p:cNvSpPr/>
          <p:nvPr/>
        </p:nvSpPr>
        <p:spPr>
          <a:xfrm>
            <a:off x="548640" y="5568696"/>
            <a:ext cx="11064240" cy="859536"/>
          </a:xfrm>
          <a:prstGeom prst="roundRect">
            <a:avLst>
              <a:gd name="adj" fmla="val 12632"/>
            </a:avLst>
          </a:prstGeom>
          <a:solidFill>
            <a:srgbClr val="1F3D2C"/>
          </a:solidFill>
          <a:ln>
            <a:noFill/>
          </a:ln>
          <a:effectLst/>
        </p:spPr>
        <p:txBody>
          <a:bodyPr rtlCol="0" anchor="ctr"/>
          <a:lstStyle/>
          <a:p>
            <a:pPr algn="ctr"/>
            <a:endParaRPr/>
          </a:p>
        </p:txBody>
      </p:sp>
      <p:sp>
        <p:nvSpPr>
          <p:cNvPr id="11" name="Text 8"/>
          <p:cNvSpPr txBox="1"/>
          <p:nvPr/>
        </p:nvSpPr>
        <p:spPr>
          <a:xfrm>
            <a:off x="548640" y="5568696"/>
            <a:ext cx="11064240" cy="859536"/>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TAKEAWAY </a:t>
            </a:r>
            <a:r>
              <a:rPr sz="1500" b="0">
                <a:solidFill>
                  <a:srgbClr val="F5F5F0"/>
                </a:solidFill>
                <a:latin typeface="Calibri"/>
              </a:rPr>
              <a:t>Sometimes “it doesn’t move, and that’s fine” is the honest answer.</a:t>
            </a:r>
            <a:endParaRPr lang="en-US" sz="1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n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804672"/>
            <a:ext cx="10515600" cy="658368"/>
          </a:xfrm>
          <a:prstGeom prst="rect">
            <a:avLst/>
          </a:prstGeom>
          <a:noFill/>
          <a:ln/>
        </p:spPr>
        <p:txBody>
          <a:bodyPr wrap="square" lIns="0" tIns="0" rIns="0" bIns="0" rtlCol="0" anchor="t"/>
          <a:lstStyle/>
          <a:p>
            <a:pPr marL="0" indent="0">
              <a:buNone/>
            </a:pPr>
            <a:r>
              <a:rPr lang="en-US" sz="2800" b="1" dirty="0">
                <a:solidFill>
                  <a:srgbClr val="1F3D2C"/>
                </a:solidFill>
                <a:latin typeface="Cambria" pitchFamily="34" charset="0"/>
                <a:ea typeface="Cambria" pitchFamily="34" charset="-122"/>
                <a:cs typeface="Cambria" pitchFamily="34" charset="-120"/>
              </a:rPr>
              <a:t>The Hybrid Pattern — the Resolution, Not the Compromise</a:t>
            </a:r>
            <a:endParaRPr lang="en-US" sz="3200" dirty="0"/>
          </a:p>
        </p:txBody>
      </p:sp>
      <p:sp>
        <p:nvSpPr>
          <p:cNvPr id="6" name="Text 3"/>
          <p:cNvSpPr txBox="1"/>
          <p:nvPr/>
        </p:nvSpPr>
        <p:spPr>
          <a:xfrm>
            <a:off x="548640" y="1600200"/>
            <a:ext cx="11064240" cy="594360"/>
          </a:xfrm>
          <a:prstGeom prst="rect">
            <a:avLst/>
          </a:prstGeom>
          <a:noFill/>
          <a:ln/>
        </p:spPr>
        <p:txBody>
          <a:bodyPr wrap="square" lIns="0" tIns="0" rIns="0" bIns="0" rtlCol="0" anchor="ctr"/>
          <a:lstStyle/>
          <a:p>
            <a:pPr marL="0" indent="0">
              <a:buNone/>
            </a:pPr>
            <a:r>
              <a:rPr lang="en-US" sz="2100" b="1" dirty="0">
                <a:solidFill>
                  <a:srgbClr val="1F3D2C"/>
                </a:solidFill>
                <a:latin typeface="Cambria" pitchFamily="34" charset="0"/>
                <a:ea typeface="Cambria" pitchFamily="34" charset="-122"/>
                <a:cs typeface="Cambria" pitchFamily="34" charset="-120"/>
              </a:rPr>
              <a:t>Connect Azure Boards to GitHub repos before touching anything else.</a:t>
            </a:r>
            <a:endParaRPr lang="en-US" sz="2100" dirty="0"/>
          </a:p>
        </p:txBody>
      </p:sp>
      <p:sp>
        <p:nvSpPr>
          <p:cNvPr id="7" name="Shape 4"/>
          <p:cNvSpPr/>
          <p:nvPr/>
        </p:nvSpPr>
        <p:spPr>
          <a:xfrm>
            <a:off x="548640" y="2377440"/>
            <a:ext cx="5349240" cy="2606040"/>
          </a:xfrm>
          <a:prstGeom prst="roundRect">
            <a:avLst>
              <a:gd name="adj" fmla="val 4211"/>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822960" y="2560320"/>
            <a:ext cx="4800600" cy="502920"/>
          </a:xfrm>
          <a:prstGeom prst="rect">
            <a:avLst/>
          </a:prstGeom>
          <a:noFill/>
          <a:ln/>
        </p:spPr>
        <p:txBody>
          <a:bodyPr wrap="square" lIns="0" tIns="0" rIns="0" bIns="0" rtlCol="0" anchor="ctr"/>
          <a:lstStyle/>
          <a:p>
            <a:pPr marL="0" indent="0">
              <a:buNone/>
            </a:pPr>
            <a:r>
              <a:rPr lang="en-US" sz="2100" b="1" dirty="0">
                <a:solidFill>
                  <a:srgbClr val="F5F5F0"/>
                </a:solidFill>
                <a:latin typeface="Cambria" pitchFamily="34" charset="0"/>
                <a:ea typeface="Cambria" pitchFamily="34" charset="-122"/>
                <a:cs typeface="Cambria" pitchFamily="34" charset="-120"/>
              </a:rPr>
              <a:t>Developers</a:t>
            </a:r>
            <a:endParaRPr lang="en-US" sz="2100" dirty="0"/>
          </a:p>
        </p:txBody>
      </p:sp>
      <p:sp>
        <p:nvSpPr>
          <p:cNvPr id="9" name="Text 6"/>
          <p:cNvSpPr txBox="1"/>
          <p:nvPr/>
        </p:nvSpPr>
        <p:spPr>
          <a:xfrm>
            <a:off x="822960" y="3127248"/>
            <a:ext cx="4800600" cy="1737360"/>
          </a:xfrm>
          <a:prstGeom prst="rect">
            <a:avLst/>
          </a:prstGeom>
          <a:noFill/>
          <a:ln/>
        </p:spPr>
        <p:txBody>
          <a:bodyPr wrap="square" lIns="0" tIns="0" rIns="0" bIns="0" rtlCol="0" anchor="ctr"/>
          <a:lstStyle/>
          <a:p>
            <a:pPr marL="0" indent="0">
              <a:lnSpc>
                <a:spcPct val="115000"/>
              </a:lnSpc>
              <a:buNone/>
            </a:pPr>
            <a:r>
              <a:rPr lang="en-US" sz="1700" dirty="0">
                <a:solidFill>
                  <a:srgbClr val="F5F5F0"/>
                </a:solidFill>
                <a:latin typeface="Calibri" pitchFamily="34" charset="0"/>
                <a:ea typeface="Calibri" pitchFamily="34" charset="-122"/>
                <a:cs typeface="Calibri" pitchFamily="34" charset="-120"/>
              </a:rPr>
              <a:t>Work in GitHub — code, PRs, and Copilot, right next to the issues that matter to them.</a:t>
            </a:r>
            <a:endParaRPr lang="en-US" sz="1700" dirty="0"/>
          </a:p>
        </p:txBody>
      </p:sp>
      <p:sp>
        <p:nvSpPr>
          <p:cNvPr id="10" name="Shape 7"/>
          <p:cNvSpPr/>
          <p:nvPr/>
        </p:nvSpPr>
        <p:spPr>
          <a:xfrm>
            <a:off x="6172200" y="2377440"/>
            <a:ext cx="5349240" cy="2606040"/>
          </a:xfrm>
          <a:prstGeom prst="roundRect">
            <a:avLst>
              <a:gd name="adj" fmla="val 4211"/>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6446520" y="2560320"/>
            <a:ext cx="4800600" cy="502920"/>
          </a:xfrm>
          <a:prstGeom prst="rect">
            <a:avLst/>
          </a:prstGeom>
          <a:noFill/>
          <a:ln/>
        </p:spPr>
        <p:txBody>
          <a:bodyPr wrap="square" lIns="0" tIns="0" rIns="0" bIns="0" rtlCol="0" anchor="ctr"/>
          <a:lstStyle/>
          <a:p>
            <a:pPr marL="0" indent="0">
              <a:buNone/>
            </a:pPr>
            <a:r>
              <a:rPr lang="en-US" sz="2100" b="1" dirty="0">
                <a:solidFill>
                  <a:srgbClr val="1F3D2C"/>
                </a:solidFill>
                <a:latin typeface="Cambria" pitchFamily="34" charset="0"/>
                <a:ea typeface="Cambria" pitchFamily="34" charset="-122"/>
                <a:cs typeface="Cambria" pitchFamily="34" charset="-120"/>
              </a:rPr>
              <a:t>Managers</a:t>
            </a:r>
            <a:endParaRPr lang="en-US" sz="2100" dirty="0"/>
          </a:p>
        </p:txBody>
      </p:sp>
      <p:sp>
        <p:nvSpPr>
          <p:cNvPr id="12" name="Text 9"/>
          <p:cNvSpPr txBox="1"/>
          <p:nvPr/>
        </p:nvSpPr>
        <p:spPr>
          <a:xfrm>
            <a:off x="6446520" y="3127248"/>
            <a:ext cx="4800600" cy="1737360"/>
          </a:xfrm>
          <a:prstGeom prst="rect">
            <a:avLst/>
          </a:prstGeom>
          <a:noFill/>
          <a:ln/>
        </p:spPr>
        <p:txBody>
          <a:bodyPr wrap="square" lIns="0" tIns="0" rIns="0" bIns="0" rtlCol="0" anchor="ctr"/>
          <a:lstStyle/>
          <a:p>
            <a:pPr marL="0" indent="0">
              <a:lnSpc>
                <a:spcPct val="115000"/>
              </a:lnSpc>
              <a:buNone/>
            </a:pPr>
            <a:r>
              <a:rPr lang="en-US" sz="1700" dirty="0">
                <a:solidFill>
                  <a:srgbClr val="2B2B2B"/>
                </a:solidFill>
                <a:latin typeface="Calibri" pitchFamily="34" charset="0"/>
                <a:ea typeface="Calibri" pitchFamily="34" charset="-122"/>
                <a:cs typeface="Calibri" pitchFamily="34" charset="-120"/>
              </a:rPr>
              <a:t>Keep the sprint hub, capacity charts, and Power BI reporting exactly where they already are.</a:t>
            </a:r>
            <a:endParaRPr lang="en-US" sz="1700" dirty="0"/>
          </a:p>
        </p:txBody>
      </p:sp>
      <p:sp>
        <p:nvSpPr>
          <p:cNvPr id="14" name="Rounded Rectangle 13"/>
          <p:cNvSpPr/>
          <p:nvPr/>
        </p:nvSpPr>
        <p:spPr>
          <a:xfrm>
            <a:off x="548640" y="5111496"/>
            <a:ext cx="11064240" cy="905256"/>
          </a:xfrm>
          <a:prstGeom prst="roundRect">
            <a:avLst>
              <a:gd name="adj" fmla="val 12632"/>
            </a:avLst>
          </a:prstGeom>
          <a:solidFill>
            <a:srgbClr val="1F3D2C"/>
          </a:solidFill>
          <a:ln>
            <a:noFill/>
          </a:ln>
          <a:effectLst/>
        </p:spPr>
        <p:txBody>
          <a:bodyPr rtlCol="0" anchor="ctr"/>
          <a:lstStyle/>
          <a:p>
            <a:pPr algn="ctr"/>
            <a:endParaRPr/>
          </a:p>
        </p:txBody>
      </p:sp>
      <p:sp>
        <p:nvSpPr>
          <p:cNvPr id="13" name="Text 10"/>
          <p:cNvSpPr txBox="1"/>
          <p:nvPr/>
        </p:nvSpPr>
        <p:spPr>
          <a:xfrm>
            <a:off x="548640" y="5111496"/>
            <a:ext cx="11064240" cy="905256"/>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TAKEAWAY </a:t>
            </a:r>
            <a:r>
              <a:rPr sz="1500" b="0">
                <a:solidFill>
                  <a:srgbClr val="F5F5F0"/>
                </a:solidFill>
                <a:latin typeface="Calibri"/>
              </a:rPr>
              <a:t>Microsoft designed this as the intended shape. Call it the answer, not the fallback.</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ThumbsUp-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804672"/>
            <a:ext cx="10515600" cy="658368"/>
          </a:xfrm>
          <a:prstGeom prst="rect">
            <a:avLst/>
          </a:prstGeom>
          <a:noFill/>
          <a:ln/>
        </p:spPr>
        <p:txBody>
          <a:bodyPr wrap="square" lIns="0" tIns="0" rIns="0" bIns="0" rtlCol="0" anchor="t"/>
          <a:lstStyle/>
          <a:p>
            <a:pPr marL="0" indent="0">
              <a:buNone/>
            </a:pPr>
            <a:r>
              <a:rPr lang="en-US" sz="2800" b="1" dirty="0">
                <a:solidFill>
                  <a:srgbClr val="1F3D2C"/>
                </a:solidFill>
                <a:latin typeface="Cambria" pitchFamily="34" charset="0"/>
                <a:ea typeface="Cambria" pitchFamily="34" charset="-122"/>
                <a:cs typeface="Cambria" pitchFamily="34" charset="-120"/>
              </a:rPr>
              <a:t>Recommendation: Connect Boards, Don’t Migrate Work Items</a:t>
            </a:r>
            <a:endParaRPr lang="en-US" sz="3200" dirty="0"/>
          </a:p>
        </p:txBody>
      </p:sp>
      <p:sp>
        <p:nvSpPr>
          <p:cNvPr id="6" name="Shape 3"/>
          <p:cNvSpPr/>
          <p:nvPr/>
        </p:nvSpPr>
        <p:spPr>
          <a:xfrm>
            <a:off x="548640" y="1691640"/>
            <a:ext cx="11064240" cy="2286000"/>
          </a:xfrm>
          <a:prstGeom prst="roundRect">
            <a:avLst>
              <a:gd name="adj" fmla="val 48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20240"/>
            <a:ext cx="10332720" cy="1920240"/>
          </a:xfrm>
          <a:prstGeom prst="rect">
            <a:avLst/>
          </a:prstGeom>
          <a:noFill/>
          <a:ln/>
        </p:spPr>
        <p:txBody>
          <a:bodyPr wrap="square" lIns="0" tIns="0" rIns="0" bIns="0" rtlCol="0" anchor="ctr"/>
          <a:lstStyle/>
          <a:p>
            <a:pPr marL="0" indent="0">
              <a:lnSpc>
                <a:spcPct val="125000"/>
              </a:lnSpc>
              <a:buNone/>
            </a:pPr>
            <a:r>
              <a:rPr lang="en-US" sz="1900" b="1" dirty="0">
                <a:solidFill>
                  <a:srgbClr val="2B2B2B"/>
                </a:solidFill>
                <a:latin typeface="Calibri" pitchFamily="34" charset="0"/>
                <a:ea typeface="Calibri" pitchFamily="34" charset="-122"/>
                <a:cs typeface="Calibri" pitchFamily="34" charset="-120"/>
              </a:rPr>
              <a:t>Don’t migrate to GitHub Issues unless your PM needs are genuinely simple. </a:t>
            </a:r>
            <a:r>
              <a:rPr lang="en-US" sz="1900" dirty="0">
                <a:solidFill>
                  <a:srgbClr val="2B2B2B"/>
                </a:solidFill>
                <a:latin typeface="Calibri" pitchFamily="34" charset="0"/>
                <a:ea typeface="Calibri" pitchFamily="34" charset="-122"/>
                <a:cs typeface="Calibri" pitchFamily="34" charset="-120"/>
              </a:rPr>
              <a:t>For most teams past a handful of people, the hierarchy, capacity planning, and reporting Azure Boards already gives you are worth keeping — connect it instead of replacing it.</a:t>
            </a:r>
            <a:endParaRPr lang="en-US" sz="1900" dirty="0"/>
          </a:p>
        </p:txBody>
      </p:sp>
      <p:sp>
        <p:nvSpPr>
          <p:cNvPr id="8" name="Shape 5"/>
          <p:cNvSpPr/>
          <p:nvPr/>
        </p:nvSpPr>
        <p:spPr>
          <a:xfrm>
            <a:off x="548640" y="4206240"/>
            <a:ext cx="11064240" cy="1691640"/>
          </a:xfrm>
          <a:prstGeom prst="roundRect">
            <a:avLst>
              <a:gd name="adj" fmla="val 12632"/>
            </a:avLst>
          </a:prstGeom>
          <a:solidFill>
            <a:srgbClr val="F7F6F2"/>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48640" y="4206240"/>
            <a:ext cx="11064240" cy="1691640"/>
          </a:xfrm>
          <a:prstGeom prst="rect">
            <a:avLst/>
          </a:prstGeom>
          <a:noFill/>
          <a:ln/>
        </p:spPr>
        <p:txBody>
          <a:bodyPr wrap="square" lIns="256032" tIns="54864" rIns="256032" bIns="54864" rtlCol="0" anchor="ctr"/>
          <a:lstStyle/>
          <a:p>
            <a:pPr marL="0" indent="0" algn="l">
              <a:lnSpc>
                <a:spcPct val="115000"/>
              </a:lnSpc>
              <a:buNone/>
            </a:pPr>
            <a:r>
              <a:rPr sz="1050" b="1" spc="120">
                <a:solidFill>
                  <a:srgbClr val="C1440E"/>
                </a:solidFill>
                <a:latin typeface="Calibri"/>
              </a:rPr>
              <a:t>CAVEAT </a:t>
            </a:r>
            <a:r>
              <a:rPr sz="1500" b="0">
                <a:solidFill>
                  <a:srgbClr val="2B2B2B"/>
                </a:solidFill>
                <a:latin typeface="Calibri"/>
              </a:rPr>
              <a:t>This isn’t “Azure Boards forever.” It’s “don’t default to GitHub Issues just because the code moved.” Where you plan work is a separate decision from where it lives.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3D2C"/>
        </a:solidFill>
        <a:effectLst/>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marL="0" indent="0" algn="ctr">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marL="0" indent="0" algn="ctr">
              <a:buNone/>
            </a:pPr>
            <a:r>
              <a:rPr lang="en-US" sz="1900" i="1" dirty="0">
                <a:solidFill>
                  <a:srgbClr val="8C6A3F"/>
                </a:solidFill>
                <a:latin typeface="Calibri" pitchFamily="34" charset="0"/>
                <a:ea typeface="Calibri" pitchFamily="34" charset="-122"/>
                <a:cs typeface="Calibri" pitchFamily="34" charset="-120"/>
              </a:rPr>
              <a:t>One quick question before we leave Section 4 — Sprint Planning in Its Natural Habitat</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5</a:t>
            </a:r>
            <a:endParaRPr lang="en-US" sz="1700" dirty="0"/>
          </a:p>
        </p:txBody>
      </p:sp>
      <p:pic>
        <p:nvPicPr>
          <p:cNvPr id="4" name="Image 0" descr="/home/claude/pptx-build/assets/icons/FaShieldAlt-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The Senior Engineer Defends an Ancient Pipeline</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It has survived three reorgs, two failed migrations, and one engineer who swore they’d rewrite it “this quarter.” It is loved. It is also the reason nothing else can change.</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TheaterMask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804672"/>
            <a:ext cx="10515600" cy="658368"/>
          </a:xfrm>
          <a:prstGeom prst="rect">
            <a:avLst/>
          </a:prstGeom>
          <a:noFill/>
          <a:ln/>
        </p:spPr>
        <p:txBody>
          <a:bodyPr wrap="square" lIns="0" tIns="0" rIns="0" bIns="0" rtlCol="0" anchor="t"/>
          <a:lstStyle/>
          <a:p>
            <a:pPr marL="0" indent="0">
              <a:buNone/>
            </a:pPr>
            <a:r>
              <a:rPr lang="en-US" sz="2800" b="1" dirty="0">
                <a:solidFill>
                  <a:srgbClr val="1F3D2C"/>
                </a:solidFill>
                <a:latin typeface="Cambria" pitchFamily="34" charset="0"/>
                <a:ea typeface="Cambria" pitchFamily="34" charset="-122"/>
                <a:cs typeface="Cambria" pitchFamily="34" charset="-120"/>
              </a:rPr>
              <a:t>This Is Change Management Wearing an Engineering Costume</a:t>
            </a:r>
            <a:endParaRPr lang="en-US" sz="3200" dirty="0"/>
          </a:p>
        </p:txBody>
      </p:sp>
      <p:sp>
        <p:nvSpPr>
          <p:cNvPr id="6" name="Shape 3"/>
          <p:cNvSpPr/>
          <p:nvPr/>
        </p:nvSpPr>
        <p:spPr>
          <a:xfrm>
            <a:off x="548640" y="1691640"/>
            <a:ext cx="11064240" cy="1920240"/>
          </a:xfrm>
          <a:prstGeom prst="roundRect">
            <a:avLst>
              <a:gd name="adj" fmla="val 5714"/>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74520"/>
            <a:ext cx="10515600" cy="1554480"/>
          </a:xfrm>
          <a:prstGeom prst="rect">
            <a:avLst/>
          </a:prstGeom>
          <a:noFill/>
          <a:ln/>
        </p:spPr>
        <p:txBody>
          <a:bodyPr wrap="square" lIns="0" tIns="0" rIns="0" bIns="0" rtlCol="0" anchor="ctr"/>
          <a:lstStyle/>
          <a:p>
            <a:pPr marL="0" indent="0">
              <a:lnSpc>
                <a:spcPct val="125000"/>
              </a:lnSpc>
              <a:buNone/>
            </a:pPr>
            <a:r>
              <a:rPr lang="en-US" sz="2000" b="1" dirty="0">
                <a:solidFill>
                  <a:srgbClr val="2B2B2B"/>
                </a:solidFill>
                <a:latin typeface="Calibri" pitchFamily="34" charset="0"/>
                <a:ea typeface="Calibri" pitchFamily="34" charset="-122"/>
                <a:cs typeface="Calibri" pitchFamily="34" charset="-120"/>
              </a:rPr>
              <a:t>Migrations that fail, fail on change management, not mechanics. </a:t>
            </a:r>
            <a:r>
              <a:rPr lang="en-US" sz="2000" dirty="0">
                <a:solidFill>
                  <a:srgbClr val="2B2B2B"/>
                </a:solidFill>
                <a:latin typeface="Calibri" pitchFamily="34" charset="0"/>
                <a:ea typeface="Calibri" pitchFamily="34" charset="-122"/>
                <a:cs typeface="Calibri" pitchFamily="34" charset="-120"/>
              </a:rPr>
              <a:t>The tooling almost always works. What breaks is everything around it.</a:t>
            </a:r>
            <a:endParaRPr lang="en-US" sz="2000" dirty="0"/>
          </a:p>
        </p:txBody>
      </p:sp>
      <p:sp>
        <p:nvSpPr>
          <p:cNvPr id="8" name="Shape 5"/>
          <p:cNvSpPr/>
          <p:nvPr/>
        </p:nvSpPr>
        <p:spPr>
          <a:xfrm>
            <a:off x="548640" y="3886200"/>
            <a:ext cx="11064240" cy="777240"/>
          </a:xfrm>
          <a:prstGeom prst="roundRect">
            <a:avLst>
              <a:gd name="adj" fmla="val 14118"/>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005072"/>
            <a:ext cx="10515600" cy="548640"/>
          </a:xfrm>
          <a:prstGeom prst="rect">
            <a:avLst/>
          </a:prstGeom>
          <a:noFill/>
          <a:ln/>
        </p:spPr>
        <p:txBody>
          <a:bodyPr wrap="square" lIns="0" tIns="0" rIns="0" bIns="0" rtlCol="0" anchor="ctr"/>
          <a:lstStyle/>
          <a:p>
            <a:pPr marL="0" indent="0">
              <a:buNone/>
            </a:pPr>
            <a:r>
              <a:rPr lang="en-US" sz="1700" dirty="0">
                <a:solidFill>
                  <a:srgbClr val="F5F5F0"/>
                </a:solidFill>
                <a:latin typeface="Calibri" pitchFamily="34" charset="0"/>
                <a:ea typeface="Calibri" pitchFamily="34" charset="-122"/>
                <a:cs typeface="Calibri" pitchFamily="34" charset="-120"/>
              </a:rPr>
              <a:t>No real selection process — the tool got picked, not evaluated</a:t>
            </a:r>
            <a:endParaRPr lang="en-US" sz="1700" dirty="0"/>
          </a:p>
        </p:txBody>
      </p:sp>
      <p:sp>
        <p:nvSpPr>
          <p:cNvPr id="10" name="Shape 7"/>
          <p:cNvSpPr/>
          <p:nvPr/>
        </p:nvSpPr>
        <p:spPr>
          <a:xfrm>
            <a:off x="548640" y="4846320"/>
            <a:ext cx="11064240" cy="777240"/>
          </a:xfrm>
          <a:prstGeom prst="roundRect">
            <a:avLst>
              <a:gd name="adj" fmla="val 14118"/>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822960" y="4965192"/>
            <a:ext cx="10515600" cy="548640"/>
          </a:xfrm>
          <a:prstGeom prst="rect">
            <a:avLst/>
          </a:prstGeom>
          <a:noFill/>
          <a:ln/>
        </p:spPr>
        <p:txBody>
          <a:bodyPr wrap="square" lIns="0" tIns="0" rIns="0" bIns="0" rtlCol="0" anchor="ctr"/>
          <a:lstStyle/>
          <a:p>
            <a:pPr marL="0" indent="0">
              <a:buNone/>
            </a:pPr>
            <a:r>
              <a:rPr lang="en-US" sz="1700" dirty="0">
                <a:solidFill>
                  <a:srgbClr val="F5F5F0"/>
                </a:solidFill>
                <a:latin typeface="Calibri" pitchFamily="34" charset="0"/>
                <a:ea typeface="Calibri" pitchFamily="34" charset="-122"/>
                <a:cs typeface="Calibri" pitchFamily="34" charset="-120"/>
              </a:rPr>
              <a:t>Customization started before anyone understood the new tool</a:t>
            </a:r>
            <a:endParaRPr lang="en-US" sz="1700" dirty="0"/>
          </a:p>
        </p:txBody>
      </p:sp>
      <p:sp>
        <p:nvSpPr>
          <p:cNvPr id="12" name="Shape 9"/>
          <p:cNvSpPr/>
          <p:nvPr/>
        </p:nvSpPr>
        <p:spPr>
          <a:xfrm>
            <a:off x="548640" y="5806440"/>
            <a:ext cx="11064240" cy="777240"/>
          </a:xfrm>
          <a:prstGeom prst="roundRect">
            <a:avLst>
              <a:gd name="adj" fmla="val 14118"/>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822960" y="5925312"/>
            <a:ext cx="10515600" cy="548640"/>
          </a:xfrm>
          <a:prstGeom prst="rect">
            <a:avLst/>
          </a:prstGeom>
          <a:noFill/>
          <a:ln/>
        </p:spPr>
        <p:txBody>
          <a:bodyPr wrap="square" lIns="0" tIns="0" rIns="0" bIns="0" rtlCol="0" anchor="ctr"/>
          <a:lstStyle/>
          <a:p>
            <a:pPr marL="0" indent="0">
              <a:buNone/>
            </a:pPr>
            <a:r>
              <a:rPr lang="en-US" sz="1700" dirty="0">
                <a:solidFill>
                  <a:srgbClr val="F5F5F0"/>
                </a:solidFill>
                <a:latin typeface="Calibri" pitchFamily="34" charset="0"/>
                <a:ea typeface="Calibri" pitchFamily="34" charset="-122"/>
                <a:cs typeface="Calibri" pitchFamily="34" charset="-120"/>
              </a:rPr>
              <a:t>The rollout felt done to people, not with them</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Task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Disciplined Selection Process</a:t>
            </a:r>
            <a:endParaRPr lang="en-US" sz="3200" dirty="0"/>
          </a:p>
        </p:txBody>
      </p:sp>
      <p:sp>
        <p:nvSpPr>
          <p:cNvPr id="6" name="Shape 3"/>
          <p:cNvSpPr/>
          <p:nvPr/>
        </p:nvSpPr>
        <p:spPr>
          <a:xfrm>
            <a:off x="548640" y="1645920"/>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777240" y="1746504"/>
            <a:ext cx="585216" cy="585216"/>
          </a:xfrm>
          <a:prstGeom prst="ellipse">
            <a:avLst/>
          </a:prstGeom>
          <a:solidFill>
            <a:srgbClr val="C1440E"/>
          </a:solidFill>
          <a:ln/>
        </p:spPr>
        <p:txBody>
          <a:bodyPr/>
          <a:lstStyle/>
          <a:p>
            <a:endParaRPr lang="en-US"/>
          </a:p>
        </p:txBody>
      </p:sp>
      <p:sp>
        <p:nvSpPr>
          <p:cNvPr id="8" name="Text 5"/>
          <p:cNvSpPr txBox="1"/>
          <p:nvPr/>
        </p:nvSpPr>
        <p:spPr>
          <a:xfrm>
            <a:off x="777240" y="1746504"/>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1</a:t>
            </a:r>
            <a:endParaRPr lang="en-US" sz="2000" dirty="0"/>
          </a:p>
        </p:txBody>
      </p:sp>
      <p:sp>
        <p:nvSpPr>
          <p:cNvPr id="9" name="Text 6"/>
          <p:cNvSpPr txBox="1"/>
          <p:nvPr/>
        </p:nvSpPr>
        <p:spPr>
          <a:xfrm>
            <a:off x="1554480" y="1719072"/>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Define must-haves</a:t>
            </a:r>
            <a:endParaRPr lang="en-US" sz="1600" dirty="0"/>
          </a:p>
        </p:txBody>
      </p:sp>
      <p:sp>
        <p:nvSpPr>
          <p:cNvPr id="10" name="Text 7"/>
          <p:cNvSpPr txBox="1"/>
          <p:nvPr/>
        </p:nvSpPr>
        <p:spPr>
          <a:xfrm>
            <a:off x="4892040" y="1719072"/>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What the tool has to do, not what would be nice.</a:t>
            </a:r>
            <a:endParaRPr lang="en-US" sz="1350" dirty="0"/>
          </a:p>
        </p:txBody>
      </p:sp>
      <p:sp>
        <p:nvSpPr>
          <p:cNvPr id="11" name="Shape 8"/>
          <p:cNvSpPr/>
          <p:nvPr/>
        </p:nvSpPr>
        <p:spPr>
          <a:xfrm>
            <a:off x="548640" y="2487168"/>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9"/>
          <p:cNvSpPr/>
          <p:nvPr/>
        </p:nvSpPr>
        <p:spPr>
          <a:xfrm>
            <a:off x="777240" y="2587752"/>
            <a:ext cx="585216" cy="585216"/>
          </a:xfrm>
          <a:prstGeom prst="ellipse">
            <a:avLst/>
          </a:prstGeom>
          <a:solidFill>
            <a:srgbClr val="C1440E"/>
          </a:solidFill>
          <a:ln/>
        </p:spPr>
        <p:txBody>
          <a:bodyPr/>
          <a:lstStyle/>
          <a:p>
            <a:endParaRPr lang="en-US"/>
          </a:p>
        </p:txBody>
      </p:sp>
      <p:sp>
        <p:nvSpPr>
          <p:cNvPr id="13" name="Text 10"/>
          <p:cNvSpPr txBox="1"/>
          <p:nvPr/>
        </p:nvSpPr>
        <p:spPr>
          <a:xfrm>
            <a:off x="777240" y="2587752"/>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2</a:t>
            </a:r>
            <a:endParaRPr lang="en-US" sz="2000" dirty="0"/>
          </a:p>
        </p:txBody>
      </p:sp>
      <p:sp>
        <p:nvSpPr>
          <p:cNvPr id="14" name="Text 11"/>
          <p:cNvSpPr txBox="1"/>
          <p:nvPr/>
        </p:nvSpPr>
        <p:spPr>
          <a:xfrm>
            <a:off x="1554480" y="2560320"/>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Assess constraints</a:t>
            </a:r>
            <a:endParaRPr lang="en-US" sz="1600" dirty="0"/>
          </a:p>
        </p:txBody>
      </p:sp>
      <p:sp>
        <p:nvSpPr>
          <p:cNvPr id="15" name="Text 12"/>
          <p:cNvSpPr txBox="1"/>
          <p:nvPr/>
        </p:nvSpPr>
        <p:spPr>
          <a:xfrm>
            <a:off x="4892040" y="2560320"/>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Current toolchain, data-residency needs, compliance requirements.</a:t>
            </a:r>
            <a:endParaRPr lang="en-US" sz="1350" dirty="0"/>
          </a:p>
        </p:txBody>
      </p:sp>
      <p:sp>
        <p:nvSpPr>
          <p:cNvPr id="16" name="Shape 13"/>
          <p:cNvSpPr/>
          <p:nvPr/>
        </p:nvSpPr>
        <p:spPr>
          <a:xfrm>
            <a:off x="548640" y="3328416"/>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4"/>
          <p:cNvSpPr/>
          <p:nvPr/>
        </p:nvSpPr>
        <p:spPr>
          <a:xfrm>
            <a:off x="777240" y="3429000"/>
            <a:ext cx="585216" cy="585216"/>
          </a:xfrm>
          <a:prstGeom prst="ellipse">
            <a:avLst/>
          </a:prstGeom>
          <a:solidFill>
            <a:srgbClr val="C1440E"/>
          </a:solidFill>
          <a:ln/>
        </p:spPr>
        <p:txBody>
          <a:bodyPr/>
          <a:lstStyle/>
          <a:p>
            <a:endParaRPr lang="en-US"/>
          </a:p>
        </p:txBody>
      </p:sp>
      <p:sp>
        <p:nvSpPr>
          <p:cNvPr id="18" name="Text 15"/>
          <p:cNvSpPr txBox="1"/>
          <p:nvPr/>
        </p:nvSpPr>
        <p:spPr>
          <a:xfrm>
            <a:off x="777240" y="3429000"/>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3</a:t>
            </a:r>
            <a:endParaRPr lang="en-US" sz="2000" dirty="0"/>
          </a:p>
        </p:txBody>
      </p:sp>
      <p:sp>
        <p:nvSpPr>
          <p:cNvPr id="19" name="Text 16"/>
          <p:cNvSpPr txBox="1"/>
          <p:nvPr/>
        </p:nvSpPr>
        <p:spPr>
          <a:xfrm>
            <a:off x="1554480" y="3401568"/>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Model one real increment</a:t>
            </a:r>
            <a:endParaRPr lang="en-US" sz="1600" dirty="0"/>
          </a:p>
        </p:txBody>
      </p:sp>
      <p:sp>
        <p:nvSpPr>
          <p:cNvPr id="20" name="Text 17"/>
          <p:cNvSpPr txBox="1"/>
          <p:nvPr/>
        </p:nvSpPr>
        <p:spPr>
          <a:xfrm>
            <a:off x="4892040" y="3401568"/>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In each candidate tool — a real slice of real work, not a vendor demo.</a:t>
            </a:r>
            <a:endParaRPr lang="en-US" sz="1350" dirty="0"/>
          </a:p>
        </p:txBody>
      </p:sp>
      <p:sp>
        <p:nvSpPr>
          <p:cNvPr id="21" name="Shape 18"/>
          <p:cNvSpPr/>
          <p:nvPr/>
        </p:nvSpPr>
        <p:spPr>
          <a:xfrm>
            <a:off x="548640" y="4169664"/>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9"/>
          <p:cNvSpPr/>
          <p:nvPr/>
        </p:nvSpPr>
        <p:spPr>
          <a:xfrm>
            <a:off x="777240" y="4270248"/>
            <a:ext cx="585216" cy="585216"/>
          </a:xfrm>
          <a:prstGeom prst="ellipse">
            <a:avLst/>
          </a:prstGeom>
          <a:solidFill>
            <a:srgbClr val="C1440E"/>
          </a:solidFill>
          <a:ln/>
        </p:spPr>
        <p:txBody>
          <a:bodyPr/>
          <a:lstStyle/>
          <a:p>
            <a:endParaRPr lang="en-US"/>
          </a:p>
        </p:txBody>
      </p:sp>
      <p:sp>
        <p:nvSpPr>
          <p:cNvPr id="23" name="Text 20"/>
          <p:cNvSpPr txBox="1"/>
          <p:nvPr/>
        </p:nvSpPr>
        <p:spPr>
          <a:xfrm>
            <a:off x="777240" y="4270248"/>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4</a:t>
            </a:r>
            <a:endParaRPr lang="en-US" sz="2000" dirty="0"/>
          </a:p>
        </p:txBody>
      </p:sp>
      <p:sp>
        <p:nvSpPr>
          <p:cNvPr id="24" name="Text 21"/>
          <p:cNvSpPr txBox="1"/>
          <p:nvPr/>
        </p:nvSpPr>
        <p:spPr>
          <a:xfrm>
            <a:off x="1554480" y="4242816"/>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Score with a weighted rubric</a:t>
            </a:r>
            <a:endParaRPr lang="en-US" sz="1600" dirty="0"/>
          </a:p>
        </p:txBody>
      </p:sp>
      <p:sp>
        <p:nvSpPr>
          <p:cNvPr id="25" name="Text 22"/>
          <p:cNvSpPr txBox="1"/>
          <p:nvPr/>
        </p:nvSpPr>
        <p:spPr>
          <a:xfrm>
            <a:off x="4892040" y="4242816"/>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Turns gut feel into something you can defend in a room.</a:t>
            </a:r>
            <a:endParaRPr lang="en-US" sz="1350" dirty="0"/>
          </a:p>
        </p:txBody>
      </p:sp>
      <p:sp>
        <p:nvSpPr>
          <p:cNvPr id="26" name="Shape 23"/>
          <p:cNvSpPr/>
          <p:nvPr/>
        </p:nvSpPr>
        <p:spPr>
          <a:xfrm>
            <a:off x="548640" y="5010912"/>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7" name="Shape 24"/>
          <p:cNvSpPr/>
          <p:nvPr/>
        </p:nvSpPr>
        <p:spPr>
          <a:xfrm>
            <a:off x="777240" y="5111496"/>
            <a:ext cx="585216" cy="585216"/>
          </a:xfrm>
          <a:prstGeom prst="ellipse">
            <a:avLst/>
          </a:prstGeom>
          <a:solidFill>
            <a:srgbClr val="C1440E"/>
          </a:solidFill>
          <a:ln/>
        </p:spPr>
        <p:txBody>
          <a:bodyPr/>
          <a:lstStyle/>
          <a:p>
            <a:endParaRPr lang="en-US"/>
          </a:p>
        </p:txBody>
      </p:sp>
      <p:sp>
        <p:nvSpPr>
          <p:cNvPr id="28" name="Text 25"/>
          <p:cNvSpPr txBox="1"/>
          <p:nvPr/>
        </p:nvSpPr>
        <p:spPr>
          <a:xfrm>
            <a:off x="777240" y="5111496"/>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5</a:t>
            </a:r>
            <a:endParaRPr lang="en-US" sz="2000" dirty="0"/>
          </a:p>
        </p:txBody>
      </p:sp>
      <p:sp>
        <p:nvSpPr>
          <p:cNvPr id="29" name="Text 26"/>
          <p:cNvSpPr txBox="1"/>
          <p:nvPr/>
        </p:nvSpPr>
        <p:spPr>
          <a:xfrm>
            <a:off x="1554480" y="5084064"/>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Run a 4–6 week pilot</a:t>
            </a:r>
            <a:endParaRPr lang="en-US" sz="1600" dirty="0"/>
          </a:p>
        </p:txBody>
      </p:sp>
      <p:sp>
        <p:nvSpPr>
          <p:cNvPr id="30" name="Text 27"/>
          <p:cNvSpPr txBox="1"/>
          <p:nvPr/>
        </p:nvSpPr>
        <p:spPr>
          <a:xfrm>
            <a:off x="4892040" y="5084064"/>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With measurable outcomes decided in advance, not vibes after the fact.</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Flas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868680"/>
          </a:xfrm>
          <a:prstGeom prst="rect">
            <a:avLst/>
          </a:prstGeom>
          <a:noFill/>
          <a:ln/>
        </p:spPr>
        <p:txBody>
          <a:bodyPr wrap="square" lIns="0" tIns="0" rIns="0" bIns="0" rtlCol="0" anchor="t"/>
          <a:lstStyle/>
          <a:p>
            <a:pPr marL="0" indent="0">
              <a:buNone/>
            </a:pPr>
            <a:r>
              <a:rPr lang="en-US" sz="3200" b="1" dirty="0">
                <a:solidFill>
                  <a:srgbClr val="1F3D2C"/>
                </a:solidFill>
                <a:latin typeface="Cambria" pitchFamily="34" charset="0"/>
                <a:ea typeface="Cambria" pitchFamily="34" charset="-122"/>
                <a:cs typeface="Cambria" pitchFamily="34" charset="-120"/>
              </a:rPr>
              <a:t>Run the Pilot First — Delay Customization Until After</a:t>
            </a:r>
            <a:endParaRPr lang="en-US" sz="3200" dirty="0"/>
          </a:p>
        </p:txBody>
      </p:sp>
      <p:sp>
        <p:nvSpPr>
          <p:cNvPr id="6" name="Shape 3"/>
          <p:cNvSpPr/>
          <p:nvPr/>
        </p:nvSpPr>
        <p:spPr>
          <a:xfrm>
            <a:off x="548640" y="1737360"/>
            <a:ext cx="11064240" cy="2743200"/>
          </a:xfrm>
          <a:prstGeom prst="roundRect">
            <a:avLst>
              <a:gd name="adj" fmla="val 4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20240"/>
            <a:ext cx="10515600" cy="2377440"/>
          </a:xfrm>
          <a:prstGeom prst="rect">
            <a:avLst/>
          </a:prstGeom>
          <a:noFill/>
          <a:ln/>
        </p:spPr>
        <p:txBody>
          <a:bodyPr wrap="square" lIns="0" tIns="0" rIns="0" bIns="0" rtlCol="0" anchor="ctr"/>
          <a:lstStyle/>
          <a:p>
            <a:pPr marL="0" indent="0">
              <a:lnSpc>
                <a:spcPct val="130000"/>
              </a:lnSpc>
              <a:buNone/>
            </a:pPr>
            <a:r>
              <a:rPr lang="en-US" sz="2000" b="1" dirty="0">
                <a:solidFill>
                  <a:srgbClr val="2B2B2B"/>
                </a:solidFill>
                <a:latin typeface="Calibri" pitchFamily="34" charset="0"/>
                <a:ea typeface="Calibri" pitchFamily="34" charset="-122"/>
                <a:cs typeface="Calibri" pitchFamily="34" charset="-120"/>
              </a:rPr>
              <a:t>Customizing on day one locks in decisions </a:t>
            </a:r>
            <a:r>
              <a:rPr lang="en-US" sz="2000" dirty="0">
                <a:solidFill>
                  <a:srgbClr val="2B2B2B"/>
                </a:solidFill>
                <a:latin typeface="Calibri" pitchFamily="34" charset="0"/>
                <a:ea typeface="Calibri" pitchFamily="34" charset="-122"/>
                <a:cs typeface="Calibri" pitchFamily="34" charset="-120"/>
              </a:rPr>
              <a:t>made by people who didn’t understand the tool yet. Every custom field, every automation rule, every process tweak added before the pilot is a bet placed with the least information you’ll ever have.</a:t>
            </a:r>
            <a:endParaRPr lang="en-US" sz="2000" dirty="0"/>
          </a:p>
        </p:txBody>
      </p:sp>
      <p:sp>
        <p:nvSpPr>
          <p:cNvPr id="8" name="Shape 5"/>
          <p:cNvSpPr/>
          <p:nvPr/>
        </p:nvSpPr>
        <p:spPr>
          <a:xfrm>
            <a:off x="548640" y="4709160"/>
            <a:ext cx="11064240" cy="1325880"/>
          </a:xfrm>
          <a:prstGeom prst="roundRect">
            <a:avLst>
              <a:gd name="adj" fmla="val 12632"/>
            </a:avLst>
          </a:prstGeom>
          <a:solidFill>
            <a:srgbClr val="1F3D2C"/>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48640" y="4709160"/>
            <a:ext cx="11064240" cy="1325880"/>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TAKEAWAY </a:t>
            </a:r>
            <a:r>
              <a:rPr sz="1500" b="0">
                <a:solidFill>
                  <a:srgbClr val="F5F5F0"/>
                </a:solidFill>
                <a:latin typeface="Calibri"/>
              </a:rPr>
              <a:t>Run the pilot with defaults. Customize afterward, with real usage data instead of guesses.</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Rout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804672"/>
            <a:ext cx="10515600" cy="658368"/>
          </a:xfrm>
          <a:prstGeom prst="rect">
            <a:avLst/>
          </a:prstGeom>
          <a:noFill/>
          <a:ln/>
        </p:spPr>
        <p:txBody>
          <a:bodyPr wrap="square" lIns="0" tIns="0" rIns="0" bIns="0" rtlCol="0" anchor="t"/>
          <a:lstStyle/>
          <a:p>
            <a:pPr marL="0" indent="0">
              <a:buNone/>
            </a:pPr>
            <a:r>
              <a:rPr lang="en-US" sz="2800" b="1" dirty="0">
                <a:solidFill>
                  <a:srgbClr val="1F3D2C"/>
                </a:solidFill>
                <a:latin typeface="Cambria" pitchFamily="34" charset="0"/>
                <a:ea typeface="Cambria" pitchFamily="34" charset="-122"/>
                <a:cs typeface="Cambria" pitchFamily="34" charset="-120"/>
              </a:rPr>
              <a:t>The Migration Sequence Is the Change-Management Plan</a:t>
            </a:r>
            <a:endParaRPr lang="en-US" sz="3200" dirty="0"/>
          </a:p>
        </p:txBody>
      </p:sp>
      <p:sp>
        <p:nvSpPr>
          <p:cNvPr id="6" name="Shape 3"/>
          <p:cNvSpPr/>
          <p:nvPr/>
        </p:nvSpPr>
        <p:spPr>
          <a:xfrm>
            <a:off x="548640" y="1691640"/>
            <a:ext cx="2560320" cy="3794760"/>
          </a:xfrm>
          <a:prstGeom prst="roundRect">
            <a:avLst>
              <a:gd name="adj" fmla="val 428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777240" y="1920240"/>
            <a:ext cx="457200" cy="457200"/>
          </a:xfrm>
          <a:prstGeom prst="ellipse">
            <a:avLst/>
          </a:prstGeom>
          <a:solidFill>
            <a:srgbClr val="C1440E"/>
          </a:solidFill>
          <a:ln/>
        </p:spPr>
        <p:txBody>
          <a:bodyPr/>
          <a:lstStyle/>
          <a:p>
            <a:endParaRPr lang="en-US"/>
          </a:p>
        </p:txBody>
      </p:sp>
      <p:sp>
        <p:nvSpPr>
          <p:cNvPr id="8" name="Text 5"/>
          <p:cNvSpPr txBox="1"/>
          <p:nvPr/>
        </p:nvSpPr>
        <p:spPr>
          <a:xfrm>
            <a:off x="777240" y="1920240"/>
            <a:ext cx="457200" cy="457200"/>
          </a:xfrm>
          <a:prstGeom prst="rect">
            <a:avLst/>
          </a:prstGeom>
          <a:noFill/>
          <a:ln/>
        </p:spPr>
        <p:txBody>
          <a:bodyPr wrap="square" lIns="0" tIns="0" rIns="0" bIns="0" rtlCol="0" anchor="ctr"/>
          <a:lstStyle/>
          <a:p>
            <a:pPr marL="0" indent="0" algn="ctr">
              <a:buNone/>
            </a:pPr>
            <a:r>
              <a:rPr lang="en-US" sz="1700" b="1" dirty="0">
                <a:solidFill>
                  <a:srgbClr val="F5F5F0"/>
                </a:solidFill>
                <a:latin typeface="Cambria" pitchFamily="34" charset="0"/>
                <a:ea typeface="Cambria" pitchFamily="34" charset="-122"/>
                <a:cs typeface="Cambria" pitchFamily="34" charset="-120"/>
              </a:rPr>
              <a:t>1</a:t>
            </a:r>
            <a:endParaRPr lang="en-US" sz="1700" dirty="0"/>
          </a:p>
        </p:txBody>
      </p:sp>
      <p:sp>
        <p:nvSpPr>
          <p:cNvPr id="9" name="Text 6"/>
          <p:cNvSpPr txBox="1"/>
          <p:nvPr/>
        </p:nvSpPr>
        <p:spPr>
          <a:xfrm>
            <a:off x="731520" y="2514600"/>
            <a:ext cx="2194560" cy="822960"/>
          </a:xfrm>
          <a:prstGeom prst="rect">
            <a:avLst/>
          </a:prstGeom>
          <a:noFill/>
          <a:ln/>
        </p:spPr>
        <p:txBody>
          <a:bodyPr wrap="square" lIns="0" tIns="0" rIns="0" bIns="0" rtlCol="0" anchor="ctr"/>
          <a:lstStyle/>
          <a:p>
            <a:pPr marL="0" indent="0" algn="l">
              <a:buNone/>
            </a:pPr>
            <a:r>
              <a:rPr lang="en-US" sz="1470" b="1">
                <a:solidFill>
                  <a:srgbClr val="1F3D2C"/>
                </a:solidFill>
                <a:latin typeface="Cambria"/>
              </a:rPr>
              <a:t>Define authority &amp; traceability</a:t>
            </a:r>
            <a:endParaRPr lang="en-US" sz="1550"/>
          </a:p>
        </p:txBody>
      </p:sp>
      <p:sp>
        <p:nvSpPr>
          <p:cNvPr id="10" name="Text 7"/>
          <p:cNvSpPr txBox="1"/>
          <p:nvPr/>
        </p:nvSpPr>
        <p:spPr>
          <a:xfrm>
            <a:off x="731520" y="3337560"/>
            <a:ext cx="2194560" cy="2011680"/>
          </a:xfrm>
          <a:prstGeom prst="rect">
            <a:avLst/>
          </a:prstGeom>
          <a:noFill/>
          <a:ln/>
        </p:spPr>
        <p:txBody>
          <a:bodyPr wrap="square" lIns="0" tIns="0" rIns="0" bIns="0" rtlCol="0" anchor="ctr"/>
          <a:lstStyle/>
          <a:p>
            <a:pPr marL="0" indent="0" algn="l">
              <a:lnSpc>
                <a:spcPct val="110000"/>
              </a:lnSpc>
              <a:buNone/>
            </a:pPr>
            <a:r>
              <a:rPr lang="en-US" sz="1400">
                <a:solidFill>
                  <a:srgbClr val="2B2B2B"/>
                </a:solidFill>
                <a:latin typeface="Calibri"/>
              </a:rPr>
              <a:t>Connect Boards, name the source of truth, owners, and rollback authority.</a:t>
            </a:r>
            <a:endParaRPr lang="en-US" sz="1250"/>
          </a:p>
        </p:txBody>
      </p:sp>
      <p:sp>
        <p:nvSpPr>
          <p:cNvPr id="11" name="Shape 8"/>
          <p:cNvSpPr/>
          <p:nvPr/>
        </p:nvSpPr>
        <p:spPr>
          <a:xfrm>
            <a:off x="3337560" y="1691640"/>
            <a:ext cx="2560320" cy="3794760"/>
          </a:xfrm>
          <a:prstGeom prst="roundRect">
            <a:avLst>
              <a:gd name="adj" fmla="val 428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9"/>
          <p:cNvSpPr/>
          <p:nvPr/>
        </p:nvSpPr>
        <p:spPr>
          <a:xfrm>
            <a:off x="3566160" y="1920240"/>
            <a:ext cx="457200" cy="457200"/>
          </a:xfrm>
          <a:prstGeom prst="ellipse">
            <a:avLst/>
          </a:prstGeom>
          <a:solidFill>
            <a:srgbClr val="C1440E"/>
          </a:solidFill>
          <a:ln/>
        </p:spPr>
        <p:txBody>
          <a:bodyPr/>
          <a:lstStyle/>
          <a:p>
            <a:endParaRPr lang="en-US"/>
          </a:p>
        </p:txBody>
      </p:sp>
      <p:sp>
        <p:nvSpPr>
          <p:cNvPr id="13" name="Text 10"/>
          <p:cNvSpPr txBox="1"/>
          <p:nvPr/>
        </p:nvSpPr>
        <p:spPr>
          <a:xfrm>
            <a:off x="3566160" y="1920240"/>
            <a:ext cx="457200" cy="457200"/>
          </a:xfrm>
          <a:prstGeom prst="rect">
            <a:avLst/>
          </a:prstGeom>
          <a:noFill/>
          <a:ln/>
        </p:spPr>
        <p:txBody>
          <a:bodyPr wrap="square" lIns="0" tIns="0" rIns="0" bIns="0" rtlCol="0" anchor="ctr"/>
          <a:lstStyle/>
          <a:p>
            <a:pPr marL="0" indent="0" algn="ctr">
              <a:buNone/>
            </a:pPr>
            <a:r>
              <a:rPr lang="en-US" sz="1700" b="1" dirty="0">
                <a:solidFill>
                  <a:srgbClr val="F5F5F0"/>
                </a:solidFill>
                <a:latin typeface="Cambria" pitchFamily="34" charset="0"/>
                <a:ea typeface="Cambria" pitchFamily="34" charset="-122"/>
                <a:cs typeface="Cambria" pitchFamily="34" charset="-120"/>
              </a:rPr>
              <a:t>2</a:t>
            </a:r>
            <a:endParaRPr lang="en-US" sz="1700" dirty="0"/>
          </a:p>
        </p:txBody>
      </p:sp>
      <p:sp>
        <p:nvSpPr>
          <p:cNvPr id="14" name="Text 11"/>
          <p:cNvSpPr txBox="1"/>
          <p:nvPr/>
        </p:nvSpPr>
        <p:spPr>
          <a:xfrm>
            <a:off x="3520440" y="2514600"/>
            <a:ext cx="2194560" cy="822960"/>
          </a:xfrm>
          <a:prstGeom prst="rect">
            <a:avLst/>
          </a:prstGeom>
          <a:noFill/>
          <a:ln/>
        </p:spPr>
        <p:txBody>
          <a:bodyPr wrap="square" lIns="0" tIns="0" rIns="0" bIns="0" rtlCol="0" anchor="ctr"/>
          <a:lstStyle/>
          <a:p>
            <a:pPr marL="0" indent="0" algn="l">
              <a:buNone/>
            </a:pPr>
            <a:r>
              <a:rPr lang="en-US" sz="1470" b="1">
                <a:solidFill>
                  <a:srgbClr val="1F3D2C"/>
                </a:solidFill>
                <a:latin typeface="Cambria"/>
              </a:rPr>
              <a:t>Trial one repo end-to-end</a:t>
            </a:r>
            <a:endParaRPr lang="en-US" sz="1550"/>
          </a:p>
        </p:txBody>
      </p:sp>
      <p:sp>
        <p:nvSpPr>
          <p:cNvPr id="15" name="Text 12"/>
          <p:cNvSpPr txBox="1"/>
          <p:nvPr/>
        </p:nvSpPr>
        <p:spPr>
          <a:xfrm>
            <a:off x="3520440" y="3337560"/>
            <a:ext cx="2194560" cy="2011680"/>
          </a:xfrm>
          <a:prstGeom prst="rect">
            <a:avLst/>
          </a:prstGeom>
          <a:noFill/>
          <a:ln/>
        </p:spPr>
        <p:txBody>
          <a:bodyPr wrap="square" lIns="0" tIns="0" rIns="0" bIns="0" rtlCol="0" anchor="ctr"/>
          <a:lstStyle/>
          <a:p>
            <a:pPr marL="0" indent="0" algn="l">
              <a:lnSpc>
                <a:spcPct val="110000"/>
              </a:lnSpc>
              <a:buNone/>
            </a:pPr>
            <a:r>
              <a:rPr lang="en-US" sz="1400">
                <a:solidFill>
                  <a:srgbClr val="2B2B2B"/>
                </a:solidFill>
                <a:latin typeface="Calibri"/>
              </a:rPr>
              <a:t>Exercise repository data, automation, and validation before scaling.</a:t>
            </a:r>
            <a:endParaRPr lang="en-US" sz="1250"/>
          </a:p>
        </p:txBody>
      </p:sp>
      <p:sp>
        <p:nvSpPr>
          <p:cNvPr id="16" name="Shape 13"/>
          <p:cNvSpPr/>
          <p:nvPr/>
        </p:nvSpPr>
        <p:spPr>
          <a:xfrm>
            <a:off x="6126480" y="1691640"/>
            <a:ext cx="2560320" cy="3794760"/>
          </a:xfrm>
          <a:prstGeom prst="roundRect">
            <a:avLst>
              <a:gd name="adj" fmla="val 428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4"/>
          <p:cNvSpPr/>
          <p:nvPr/>
        </p:nvSpPr>
        <p:spPr>
          <a:xfrm>
            <a:off x="6355080" y="1920240"/>
            <a:ext cx="457200" cy="457200"/>
          </a:xfrm>
          <a:prstGeom prst="ellipse">
            <a:avLst/>
          </a:prstGeom>
          <a:solidFill>
            <a:srgbClr val="C1440E"/>
          </a:solidFill>
          <a:ln/>
        </p:spPr>
        <p:txBody>
          <a:bodyPr/>
          <a:lstStyle/>
          <a:p>
            <a:endParaRPr lang="en-US"/>
          </a:p>
        </p:txBody>
      </p:sp>
      <p:sp>
        <p:nvSpPr>
          <p:cNvPr id="18" name="Text 15"/>
          <p:cNvSpPr txBox="1"/>
          <p:nvPr/>
        </p:nvSpPr>
        <p:spPr>
          <a:xfrm>
            <a:off x="6355080" y="1920240"/>
            <a:ext cx="457200" cy="457200"/>
          </a:xfrm>
          <a:prstGeom prst="rect">
            <a:avLst/>
          </a:prstGeom>
          <a:noFill/>
          <a:ln/>
        </p:spPr>
        <p:txBody>
          <a:bodyPr wrap="square" lIns="0" tIns="0" rIns="0" bIns="0" rtlCol="0" anchor="ctr"/>
          <a:lstStyle/>
          <a:p>
            <a:pPr marL="0" indent="0" algn="ctr">
              <a:buNone/>
            </a:pPr>
            <a:r>
              <a:rPr lang="en-US" sz="1700" b="1" dirty="0">
                <a:solidFill>
                  <a:srgbClr val="F5F5F0"/>
                </a:solidFill>
                <a:latin typeface="Cambria" pitchFamily="34" charset="0"/>
                <a:ea typeface="Cambria" pitchFamily="34" charset="-122"/>
                <a:cs typeface="Cambria" pitchFamily="34" charset="-120"/>
              </a:rPr>
              <a:t>3</a:t>
            </a:r>
            <a:endParaRPr lang="en-US" sz="1700" dirty="0"/>
          </a:p>
        </p:txBody>
      </p:sp>
      <p:sp>
        <p:nvSpPr>
          <p:cNvPr id="19" name="Text 16"/>
          <p:cNvSpPr txBox="1"/>
          <p:nvPr/>
        </p:nvSpPr>
        <p:spPr>
          <a:xfrm>
            <a:off x="6309360" y="2514600"/>
            <a:ext cx="2194560" cy="822960"/>
          </a:xfrm>
          <a:prstGeom prst="rect">
            <a:avLst/>
          </a:prstGeom>
          <a:noFill/>
          <a:ln/>
        </p:spPr>
        <p:txBody>
          <a:bodyPr wrap="square" lIns="0" tIns="0" rIns="0" bIns="0" rtlCol="0" anchor="ctr"/>
          <a:lstStyle/>
          <a:p>
            <a:pPr marL="0" indent="0" algn="l">
              <a:buNone/>
            </a:pPr>
            <a:r>
              <a:rPr lang="en-US" sz="1470" b="1">
                <a:solidFill>
                  <a:srgbClr val="1F3D2C"/>
                </a:solidFill>
                <a:latin typeface="Cambria"/>
              </a:rPr>
              <a:t>Migrate in evidence-based waves</a:t>
            </a:r>
            <a:endParaRPr lang="en-US" sz="1550"/>
          </a:p>
        </p:txBody>
      </p:sp>
      <p:sp>
        <p:nvSpPr>
          <p:cNvPr id="20" name="Text 17"/>
          <p:cNvSpPr txBox="1"/>
          <p:nvPr/>
        </p:nvSpPr>
        <p:spPr>
          <a:xfrm>
            <a:off x="6309360" y="3337560"/>
            <a:ext cx="2194560" cy="2011680"/>
          </a:xfrm>
          <a:prstGeom prst="rect">
            <a:avLst/>
          </a:prstGeom>
          <a:noFill/>
          <a:ln/>
        </p:spPr>
        <p:txBody>
          <a:bodyPr wrap="square" lIns="0" tIns="0" rIns="0" bIns="0" rtlCol="0" anchor="ctr"/>
          <a:lstStyle/>
          <a:p>
            <a:pPr marL="0" indent="0" algn="l">
              <a:lnSpc>
                <a:spcPct val="110000"/>
              </a:lnSpc>
              <a:buNone/>
            </a:pPr>
            <a:r>
              <a:rPr lang="en-US" sz="1400">
                <a:solidFill>
                  <a:srgbClr val="2B2B2B"/>
                </a:solidFill>
                <a:latin typeface="Calibri"/>
              </a:rPr>
              <a:t>Entry criteria: identity ready, pipeline classified, runner path and rollback defined.</a:t>
            </a:r>
            <a:endParaRPr lang="en-US" sz="1250"/>
          </a:p>
        </p:txBody>
      </p:sp>
      <p:sp>
        <p:nvSpPr>
          <p:cNvPr id="21" name="Shape 18"/>
          <p:cNvSpPr/>
          <p:nvPr/>
        </p:nvSpPr>
        <p:spPr>
          <a:xfrm>
            <a:off x="8915400" y="1691640"/>
            <a:ext cx="2560320" cy="3794760"/>
          </a:xfrm>
          <a:prstGeom prst="roundRect">
            <a:avLst>
              <a:gd name="adj" fmla="val 428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9"/>
          <p:cNvSpPr/>
          <p:nvPr/>
        </p:nvSpPr>
        <p:spPr>
          <a:xfrm>
            <a:off x="9144000" y="1920240"/>
            <a:ext cx="457200" cy="457200"/>
          </a:xfrm>
          <a:prstGeom prst="ellipse">
            <a:avLst/>
          </a:prstGeom>
          <a:solidFill>
            <a:srgbClr val="C1440E"/>
          </a:solidFill>
          <a:ln/>
        </p:spPr>
        <p:txBody>
          <a:bodyPr/>
          <a:lstStyle/>
          <a:p>
            <a:endParaRPr lang="en-US"/>
          </a:p>
        </p:txBody>
      </p:sp>
      <p:sp>
        <p:nvSpPr>
          <p:cNvPr id="23" name="Text 20"/>
          <p:cNvSpPr txBox="1"/>
          <p:nvPr/>
        </p:nvSpPr>
        <p:spPr>
          <a:xfrm>
            <a:off x="9144000" y="1920240"/>
            <a:ext cx="457200" cy="457200"/>
          </a:xfrm>
          <a:prstGeom prst="rect">
            <a:avLst/>
          </a:prstGeom>
          <a:noFill/>
          <a:ln/>
        </p:spPr>
        <p:txBody>
          <a:bodyPr wrap="square" lIns="0" tIns="0" rIns="0" bIns="0" rtlCol="0" anchor="ctr"/>
          <a:lstStyle/>
          <a:p>
            <a:pPr marL="0" indent="0" algn="ctr">
              <a:buNone/>
            </a:pPr>
            <a:r>
              <a:rPr lang="en-US" sz="1700" b="1" dirty="0">
                <a:solidFill>
                  <a:srgbClr val="F5F5F0"/>
                </a:solidFill>
                <a:latin typeface="Cambria" pitchFamily="34" charset="0"/>
                <a:ea typeface="Cambria" pitchFamily="34" charset="-122"/>
                <a:cs typeface="Cambria" pitchFamily="34" charset="-120"/>
              </a:rPr>
              <a:t>4</a:t>
            </a:r>
            <a:endParaRPr lang="en-US" sz="1700" dirty="0"/>
          </a:p>
        </p:txBody>
      </p:sp>
      <p:sp>
        <p:nvSpPr>
          <p:cNvPr id="24" name="Text 21"/>
          <p:cNvSpPr txBox="1"/>
          <p:nvPr/>
        </p:nvSpPr>
        <p:spPr>
          <a:xfrm>
            <a:off x="9098280" y="2514600"/>
            <a:ext cx="2194560" cy="822960"/>
          </a:xfrm>
          <a:prstGeom prst="rect">
            <a:avLst/>
          </a:prstGeom>
          <a:noFill/>
          <a:ln/>
        </p:spPr>
        <p:txBody>
          <a:bodyPr wrap="square" lIns="0" tIns="0" rIns="0" bIns="0" rtlCol="0" anchor="ctr"/>
          <a:lstStyle/>
          <a:p>
            <a:pPr marL="0" indent="0" algn="l">
              <a:buNone/>
            </a:pPr>
            <a:r>
              <a:rPr lang="en-US" sz="1470" b="1">
                <a:solidFill>
                  <a:srgbClr val="1F3D2C"/>
                </a:solidFill>
                <a:latin typeface="Cambria"/>
              </a:rPr>
              <a:t>Cut over, monitor, decommission</a:t>
            </a:r>
            <a:endParaRPr lang="en-US" sz="1550"/>
          </a:p>
        </p:txBody>
      </p:sp>
      <p:sp>
        <p:nvSpPr>
          <p:cNvPr id="25" name="Text 22"/>
          <p:cNvSpPr txBox="1"/>
          <p:nvPr/>
        </p:nvSpPr>
        <p:spPr>
          <a:xfrm>
            <a:off x="9098280" y="3337560"/>
            <a:ext cx="2194560" cy="2011680"/>
          </a:xfrm>
          <a:prstGeom prst="rect">
            <a:avLst/>
          </a:prstGeom>
          <a:noFill/>
          <a:ln/>
        </p:spPr>
        <p:txBody>
          <a:bodyPr wrap="square" lIns="0" tIns="0" rIns="0" bIns="0" rtlCol="0" anchor="ctr"/>
          <a:lstStyle/>
          <a:p>
            <a:pPr marL="0" indent="0" algn="l">
              <a:lnSpc>
                <a:spcPct val="110000"/>
              </a:lnSpc>
              <a:buNone/>
            </a:pPr>
            <a:r>
              <a:rPr lang="en-US" sz="1400">
                <a:solidFill>
                  <a:srgbClr val="2B2B2B"/>
                </a:solidFill>
                <a:latin typeface="Calibri"/>
              </a:rPr>
              <a:t>Make the old repo read-only; retire it only after long-tail checks pass.</a:t>
            </a:r>
            <a:endParaRPr lang="en-US" sz="1250"/>
          </a:p>
        </p:txBody>
      </p:sp>
      <p:sp>
        <p:nvSpPr>
          <p:cNvPr id="27" name="Rounded Rectangle 26"/>
          <p:cNvSpPr/>
          <p:nvPr/>
        </p:nvSpPr>
        <p:spPr>
          <a:xfrm>
            <a:off x="548640" y="5522976"/>
            <a:ext cx="11064240" cy="813816"/>
          </a:xfrm>
          <a:prstGeom prst="roundRect">
            <a:avLst>
              <a:gd name="adj" fmla="val 12632"/>
            </a:avLst>
          </a:prstGeom>
          <a:solidFill>
            <a:srgbClr val="1F3D2C"/>
          </a:solidFill>
          <a:ln>
            <a:noFill/>
          </a:ln>
          <a:effectLst/>
        </p:spPr>
        <p:txBody>
          <a:bodyPr rtlCol="0" anchor="ctr"/>
          <a:lstStyle/>
          <a:p>
            <a:pPr algn="ctr"/>
            <a:endParaRPr/>
          </a:p>
        </p:txBody>
      </p:sp>
      <p:sp>
        <p:nvSpPr>
          <p:cNvPr id="26" name="Text 23"/>
          <p:cNvSpPr txBox="1"/>
          <p:nvPr/>
        </p:nvSpPr>
        <p:spPr>
          <a:xfrm>
            <a:off x="548640" y="5522976"/>
            <a:ext cx="11064240" cy="813816"/>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TAKEAWAY </a:t>
            </a:r>
            <a:r>
              <a:rPr sz="1500" b="0">
                <a:solidFill>
                  <a:srgbClr val="F5F5F0"/>
                </a:solidFill>
                <a:latin typeface="Calibri"/>
              </a:rPr>
              <a:t>Sequencing, entry criteria, evidence, and ownership are the change-management plan.</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Tag-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Don’t Judge on Sticker Price Alone</a:t>
            </a:r>
            <a:endParaRPr lang="en-US" sz="3200" dirty="0"/>
          </a:p>
        </p:txBody>
      </p:sp>
      <p:sp>
        <p:nvSpPr>
          <p:cNvPr id="6" name="Shape 3"/>
          <p:cNvSpPr/>
          <p:nvPr/>
        </p:nvSpPr>
        <p:spPr>
          <a:xfrm>
            <a:off x="548640" y="1645920"/>
            <a:ext cx="11064240" cy="2743200"/>
          </a:xfrm>
          <a:prstGeom prst="roundRect">
            <a:avLst>
              <a:gd name="adj" fmla="val 4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10515600" cy="2377440"/>
          </a:xfrm>
          <a:prstGeom prst="rect">
            <a:avLst/>
          </a:prstGeom>
          <a:noFill/>
          <a:ln/>
        </p:spPr>
        <p:txBody>
          <a:bodyPr wrap="square" lIns="0" tIns="0" rIns="0" bIns="0" rtlCol="0" anchor="ctr"/>
          <a:lstStyle/>
          <a:p>
            <a:pPr marL="0" indent="0">
              <a:lnSpc>
                <a:spcPct val="125000"/>
              </a:lnSpc>
              <a:buNone/>
            </a:pPr>
            <a:r>
              <a:rPr lang="en-US" sz="1900" b="1" dirty="0">
                <a:solidFill>
                  <a:srgbClr val="2B2B2B"/>
                </a:solidFill>
                <a:latin typeface="Calibri" pitchFamily="34" charset="0"/>
                <a:ea typeface="Calibri" pitchFamily="34" charset="-122"/>
                <a:cs typeface="Calibri" pitchFamily="34" charset="-120"/>
              </a:rPr>
              <a:t>Compare the whole bill, not the license line: </a:t>
            </a:r>
            <a:r>
              <a:rPr lang="en-US" sz="1900" dirty="0">
                <a:solidFill>
                  <a:srgbClr val="2B2B2B"/>
                </a:solidFill>
                <a:latin typeface="Calibri" pitchFamily="34" charset="0"/>
                <a:ea typeface="Calibri" pitchFamily="34" charset="-122"/>
                <a:cs typeface="Calibri" pitchFamily="34" charset="-120"/>
              </a:rPr>
              <a:t>licensing tiers, GitHub Advanced Security as an add-on, runner and compute minutes, and the admin and migration effort it actually takes to get there.</a:t>
            </a:r>
            <a:endParaRPr lang="en-US" sz="1900" dirty="0"/>
          </a:p>
        </p:txBody>
      </p:sp>
      <p:sp>
        <p:nvSpPr>
          <p:cNvPr id="8" name="Shape 5"/>
          <p:cNvSpPr/>
          <p:nvPr/>
        </p:nvSpPr>
        <p:spPr>
          <a:xfrm>
            <a:off x="548640" y="4526280"/>
            <a:ext cx="11064240" cy="1508760"/>
          </a:xfrm>
          <a:prstGeom prst="roundRect">
            <a:avLst>
              <a:gd name="adj" fmla="val 12632"/>
            </a:avLst>
          </a:prstGeom>
          <a:solidFill>
            <a:srgbClr val="F7F6F2"/>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48640" y="4526280"/>
            <a:ext cx="11064240" cy="1508760"/>
          </a:xfrm>
          <a:prstGeom prst="rect">
            <a:avLst/>
          </a:prstGeom>
          <a:noFill/>
          <a:ln/>
        </p:spPr>
        <p:txBody>
          <a:bodyPr wrap="square" lIns="256032" tIns="54864" rIns="256032" bIns="54864" rtlCol="0" anchor="ctr"/>
          <a:lstStyle/>
          <a:p>
            <a:pPr marL="0" indent="0" algn="l">
              <a:lnSpc>
                <a:spcPct val="115000"/>
              </a:lnSpc>
              <a:buNone/>
            </a:pPr>
            <a:r>
              <a:rPr sz="1050" b="1" spc="120">
                <a:solidFill>
                  <a:srgbClr val="C1440E"/>
                </a:solidFill>
                <a:latin typeface="Calibri"/>
              </a:rPr>
              <a:t>CAVEAT </a:t>
            </a:r>
            <a:r>
              <a:rPr sz="1500" b="0">
                <a:solidFill>
                  <a:srgbClr val="2B2B2B"/>
                </a:solidFill>
                <a:latin typeface="Calibri"/>
              </a:rPr>
              <a:t>A rule of thumb, not a model: past roughly 100 engineers the governance and reporting time saved usually outweighs a modest per-seat difference. Run your own numbers.</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Robo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What Actually Gates the AI Payoff</a:t>
            </a:r>
            <a:endParaRPr lang="en-US" sz="3200" dirty="0"/>
          </a:p>
        </p:txBody>
      </p:sp>
      <p:sp>
        <p:nvSpPr>
          <p:cNvPr id="6" name="Shape 3"/>
          <p:cNvSpPr/>
          <p:nvPr/>
        </p:nvSpPr>
        <p:spPr>
          <a:xfrm>
            <a:off x="548640" y="1737360"/>
            <a:ext cx="11064240" cy="2743200"/>
          </a:xfrm>
          <a:prstGeom prst="roundRect">
            <a:avLst>
              <a:gd name="adj" fmla="val 4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20240"/>
            <a:ext cx="10515600" cy="2377440"/>
          </a:xfrm>
          <a:prstGeom prst="rect">
            <a:avLst/>
          </a:prstGeom>
          <a:noFill/>
          <a:ln/>
        </p:spPr>
        <p:txBody>
          <a:bodyPr wrap="square" lIns="0" tIns="0" rIns="0" bIns="0" rtlCol="0" anchor="ctr"/>
          <a:lstStyle/>
          <a:p>
            <a:pPr marL="0" indent="0">
              <a:lnSpc>
                <a:spcPct val="130000"/>
              </a:lnSpc>
              <a:buNone/>
            </a:pPr>
            <a:r>
              <a:rPr sz="1800" b="1" dirty="0">
                <a:solidFill>
                  <a:srgbClr val="2B2B2B"/>
                </a:solidFill>
                <a:latin typeface="Calibri"/>
              </a:rPr>
              <a:t>Moving the code unlocks the tooling. Four other things decide whether it pays off.</a:t>
            </a:r>
            <a:endParaRPr lang="en-US" sz="2000" dirty="0"/>
          </a:p>
          <a:p>
            <a:pPr marL="285750" indent="-285750">
              <a:spcBef>
                <a:spcPts val="900"/>
              </a:spcBef>
              <a:spcAft>
                <a:spcPts val="800"/>
              </a:spcAft>
              <a:buFont typeface="Arial" panose="020B0604020202020204" pitchFamily="34" charset="0"/>
              <a:buChar char="•"/>
            </a:pPr>
            <a:r>
              <a:rPr sz="1550" b="0" dirty="0">
                <a:solidFill>
                  <a:srgbClr val="2B2B2B"/>
                </a:solidFill>
                <a:latin typeface="Calibri"/>
              </a:rPr>
              <a:t>Work items worth reading — from Azure Boards the agent captures the description, repro steps and last 50 comments. The work item is the prompt.</a:t>
            </a:r>
            <a:endParaRPr lang="en-US" sz="2000" dirty="0"/>
          </a:p>
          <a:p>
            <a:pPr marL="285750" indent="-285750">
              <a:spcBef>
                <a:spcPts val="500"/>
              </a:spcBef>
              <a:spcAft>
                <a:spcPts val="800"/>
              </a:spcAft>
              <a:buFont typeface="Arial" panose="020B0604020202020204" pitchFamily="34" charset="0"/>
              <a:buChar char="•"/>
            </a:pPr>
            <a:r>
              <a:rPr sz="1550" b="0" dirty="0">
                <a:solidFill>
                  <a:srgbClr val="2B2B2B"/>
                </a:solidFill>
                <a:latin typeface="Calibri"/>
              </a:rPr>
              <a:t>Conventions written down — copilot-instructions.md or AGENTS.md, or the agent guesses your house style.</a:t>
            </a:r>
            <a:endParaRPr lang="en-US" sz="2000" dirty="0"/>
          </a:p>
          <a:p>
            <a:pPr marL="285750" indent="-285750">
              <a:spcBef>
                <a:spcPts val="500"/>
              </a:spcBef>
              <a:spcAft>
                <a:spcPts val="800"/>
              </a:spcAft>
              <a:buFont typeface="Arial" panose="020B0604020202020204" pitchFamily="34" charset="0"/>
              <a:buChar char="•"/>
            </a:pPr>
            <a:r>
              <a:rPr sz="1550" b="0" dirty="0">
                <a:solidFill>
                  <a:srgbClr val="2B2B2B"/>
                </a:solidFill>
                <a:latin typeface="Calibri"/>
              </a:rPr>
              <a:t>Tests you would trust to gate a merge — otherwise agent output is capped by human review capacity.</a:t>
            </a:r>
            <a:endParaRPr lang="en-US" sz="2000" dirty="0"/>
          </a:p>
          <a:p>
            <a:pPr marL="285750" indent="-285750">
              <a:spcBef>
                <a:spcPts val="500"/>
              </a:spcBef>
              <a:spcAft>
                <a:spcPts val="800"/>
              </a:spcAft>
              <a:buFont typeface="Arial" panose="020B0604020202020204" pitchFamily="34" charset="0"/>
              <a:buChar char="•"/>
            </a:pPr>
            <a:r>
              <a:rPr sz="1550" b="0" dirty="0">
                <a:solidFill>
                  <a:srgbClr val="2B2B2B"/>
                </a:solidFill>
                <a:latin typeface="Calibri"/>
              </a:rPr>
              <a:t>Licenses and enablement — a paid Copilot plan, cloud agent enabled per repository, Boards app installed by an org owner.</a:t>
            </a:r>
            <a:endParaRPr lang="en-US" sz="2000" dirty="0"/>
          </a:p>
        </p:txBody>
      </p:sp>
      <p:sp>
        <p:nvSpPr>
          <p:cNvPr id="8" name="Shape 5"/>
          <p:cNvSpPr/>
          <p:nvPr/>
        </p:nvSpPr>
        <p:spPr>
          <a:xfrm>
            <a:off x="548640" y="5212079"/>
            <a:ext cx="11064240" cy="822960"/>
          </a:xfrm>
          <a:prstGeom prst="roundRect">
            <a:avLst>
              <a:gd name="adj" fmla="val 12632"/>
            </a:avLst>
          </a:prstGeom>
          <a:solidFill>
            <a:srgbClr val="1F3D2C"/>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48640" y="5212079"/>
            <a:ext cx="11064240" cy="822960"/>
          </a:xfrm>
          <a:prstGeom prst="rect">
            <a:avLst/>
          </a:prstGeom>
          <a:noFill/>
          <a:ln/>
        </p:spPr>
        <p:txBody>
          <a:bodyPr wrap="square" lIns="256032" tIns="54864" rIns="256032" bIns="54864" rtlCol="0" anchor="ctr"/>
          <a:lstStyle/>
          <a:p>
            <a:pPr marL="0" indent="0" algn="l">
              <a:lnSpc>
                <a:spcPct val="115000"/>
              </a:lnSpc>
              <a:buNone/>
            </a:pPr>
            <a:r>
              <a:rPr sz="1050" b="1" spc="120" dirty="0">
                <a:solidFill>
                  <a:srgbClr val="8C6A3F"/>
                </a:solidFill>
                <a:latin typeface="Calibri"/>
              </a:rPr>
              <a:t>TAKEAWAY </a:t>
            </a:r>
            <a:r>
              <a:rPr sz="1500" b="0" dirty="0">
                <a:solidFill>
                  <a:srgbClr val="F5F5F0"/>
                </a:solidFill>
                <a:latin typeface="Calibri"/>
              </a:rPr>
              <a:t>These are preconditions, not nice-to-haves. Budget for them before you promise anyone the AI payoff.</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alanceScal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Match the Tool to Context, Not the Trend</a:t>
            </a:r>
            <a:endParaRPr lang="en-US" sz="3200" dirty="0"/>
          </a:p>
        </p:txBody>
      </p:sp>
      <p:sp>
        <p:nvSpPr>
          <p:cNvPr id="6" name="Shape 3"/>
          <p:cNvSpPr/>
          <p:nvPr/>
        </p:nvSpPr>
        <p:spPr>
          <a:xfrm>
            <a:off x="548640" y="1691640"/>
            <a:ext cx="3429000" cy="2651760"/>
          </a:xfrm>
          <a:prstGeom prst="roundRect">
            <a:avLst>
              <a:gd name="adj" fmla="val 4138"/>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777240" y="1874520"/>
            <a:ext cx="2971800" cy="77724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Startups &amp; 1–3 squads</a:t>
            </a:r>
            <a:endParaRPr lang="en-US" sz="1600" dirty="0"/>
          </a:p>
        </p:txBody>
      </p:sp>
      <p:sp>
        <p:nvSpPr>
          <p:cNvPr id="8" name="Text 5"/>
          <p:cNvSpPr txBox="1"/>
          <p:nvPr/>
        </p:nvSpPr>
        <p:spPr>
          <a:xfrm>
            <a:off x="777240" y="2697480"/>
            <a:ext cx="2971800" cy="1508760"/>
          </a:xfrm>
          <a:prstGeom prst="rect">
            <a:avLst/>
          </a:prstGeom>
          <a:noFill/>
          <a:ln/>
        </p:spPr>
        <p:txBody>
          <a:bodyPr wrap="square" lIns="0" tIns="0" rIns="0" bIns="0" rtlCol="0" anchor="ctr"/>
          <a:lstStyle/>
          <a:p>
            <a:pPr marL="0" indent="0">
              <a:lnSpc>
                <a:spcPct val="110000"/>
              </a:lnSpc>
              <a:buNone/>
            </a:pPr>
            <a:r>
              <a:rPr lang="en-US" sz="1350" dirty="0">
                <a:solidFill>
                  <a:srgbClr val="2B2B2B"/>
                </a:solidFill>
                <a:latin typeface="Calibri" pitchFamily="34" charset="0"/>
                <a:ea typeface="Calibri" pitchFamily="34" charset="-122"/>
                <a:cs typeface="Calibri" pitchFamily="34" charset="-120"/>
              </a:rPr>
              <a:t>GitHub Projects’ lightweight fit wins — no reason to carry enterprise overhead.</a:t>
            </a:r>
            <a:endParaRPr lang="en-US" sz="1350" dirty="0"/>
          </a:p>
        </p:txBody>
      </p:sp>
      <p:sp>
        <p:nvSpPr>
          <p:cNvPr id="9" name="Shape 6"/>
          <p:cNvSpPr/>
          <p:nvPr/>
        </p:nvSpPr>
        <p:spPr>
          <a:xfrm>
            <a:off x="4251960" y="1691640"/>
            <a:ext cx="3429000" cy="2651760"/>
          </a:xfrm>
          <a:prstGeom prst="roundRect">
            <a:avLst>
              <a:gd name="adj" fmla="val 4138"/>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4480560" y="1874520"/>
            <a:ext cx="2971800" cy="777240"/>
          </a:xfrm>
          <a:prstGeom prst="rect">
            <a:avLst/>
          </a:prstGeom>
          <a:noFill/>
          <a:ln/>
        </p:spPr>
        <p:txBody>
          <a:bodyPr wrap="square" lIns="0" tIns="0" rIns="0" bIns="0" rtlCol="0" anchor="ctr"/>
          <a:lstStyle/>
          <a:p>
            <a:pPr marL="0" indent="0">
              <a:buNone/>
            </a:pPr>
            <a:r>
              <a:rPr lang="en-US" sz="1600" b="1" dirty="0">
                <a:solidFill>
                  <a:srgbClr val="F5F5F0"/>
                </a:solidFill>
                <a:latin typeface="Cambria" pitchFamily="34" charset="0"/>
                <a:ea typeface="Cambria" pitchFamily="34" charset="-122"/>
                <a:cs typeface="Cambria" pitchFamily="34" charset="-120"/>
              </a:rPr>
              <a:t>Scaled agile, regulated, multi-team</a:t>
            </a:r>
            <a:endParaRPr lang="en-US" sz="1600" dirty="0"/>
          </a:p>
        </p:txBody>
      </p:sp>
      <p:sp>
        <p:nvSpPr>
          <p:cNvPr id="11" name="Text 8"/>
          <p:cNvSpPr txBox="1"/>
          <p:nvPr/>
        </p:nvSpPr>
        <p:spPr>
          <a:xfrm>
            <a:off x="4480560" y="2697480"/>
            <a:ext cx="2971800" cy="1508760"/>
          </a:xfrm>
          <a:prstGeom prst="rect">
            <a:avLst/>
          </a:prstGeom>
          <a:noFill/>
          <a:ln/>
        </p:spPr>
        <p:txBody>
          <a:bodyPr wrap="square" lIns="0" tIns="0" rIns="0" bIns="0" rtlCol="0" anchor="ctr"/>
          <a:lstStyle/>
          <a:p>
            <a:pPr marL="0" indent="0">
              <a:lnSpc>
                <a:spcPct val="110000"/>
              </a:lnSpc>
              <a:buNone/>
            </a:pPr>
            <a:r>
              <a:rPr lang="en-US" sz="1350" dirty="0">
                <a:solidFill>
                  <a:srgbClr val="F5F5F0"/>
                </a:solidFill>
                <a:latin typeface="Calibri" pitchFamily="34" charset="0"/>
                <a:ea typeface="Calibri" pitchFamily="34" charset="-122"/>
                <a:cs typeface="Calibri" pitchFamily="34" charset="-120"/>
              </a:rPr>
              <a:t>Azure Boards’ hierarchy and reporting earn their keep here.</a:t>
            </a:r>
            <a:endParaRPr lang="en-US" sz="1350" dirty="0"/>
          </a:p>
        </p:txBody>
      </p:sp>
      <p:sp>
        <p:nvSpPr>
          <p:cNvPr id="12" name="Shape 9"/>
          <p:cNvSpPr/>
          <p:nvPr/>
        </p:nvSpPr>
        <p:spPr>
          <a:xfrm>
            <a:off x="7955280" y="1691640"/>
            <a:ext cx="3429000" cy="2651760"/>
          </a:xfrm>
          <a:prstGeom prst="roundRect">
            <a:avLst>
              <a:gd name="adj" fmla="val 4138"/>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8183880" y="1874520"/>
            <a:ext cx="2971800" cy="77724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Mixed estates</a:t>
            </a:r>
            <a:endParaRPr lang="en-US" sz="1600" dirty="0"/>
          </a:p>
        </p:txBody>
      </p:sp>
      <p:sp>
        <p:nvSpPr>
          <p:cNvPr id="14" name="Text 11"/>
          <p:cNvSpPr txBox="1"/>
          <p:nvPr/>
        </p:nvSpPr>
        <p:spPr>
          <a:xfrm>
            <a:off x="8183880" y="2697480"/>
            <a:ext cx="2971800" cy="1508760"/>
          </a:xfrm>
          <a:prstGeom prst="rect">
            <a:avLst/>
          </a:prstGeom>
          <a:noFill/>
          <a:ln/>
        </p:spPr>
        <p:txBody>
          <a:bodyPr wrap="square" lIns="0" tIns="0" rIns="0" bIns="0" rtlCol="0" anchor="ctr"/>
          <a:lstStyle/>
          <a:p>
            <a:pPr marL="0" indent="0">
              <a:lnSpc>
                <a:spcPct val="110000"/>
              </a:lnSpc>
              <a:buNone/>
            </a:pPr>
            <a:r>
              <a:rPr lang="en-US" sz="1350" dirty="0">
                <a:solidFill>
                  <a:srgbClr val="2B2B2B"/>
                </a:solidFill>
                <a:latin typeface="Calibri" pitchFamily="34" charset="0"/>
                <a:ea typeface="Calibri" pitchFamily="34" charset="-122"/>
                <a:cs typeface="Calibri" pitchFamily="34" charset="-120"/>
              </a:rPr>
              <a:t>Hybrid, deliberately — a fit, not a compromise.</a:t>
            </a:r>
            <a:endParaRPr lang="en-US" sz="1350" dirty="0"/>
          </a:p>
        </p:txBody>
      </p:sp>
      <p:sp>
        <p:nvSpPr>
          <p:cNvPr id="15" name="Shape 12"/>
          <p:cNvSpPr/>
          <p:nvPr/>
        </p:nvSpPr>
        <p:spPr>
          <a:xfrm>
            <a:off x="548640" y="4617720"/>
            <a:ext cx="11064240" cy="1600200"/>
          </a:xfrm>
          <a:prstGeom prst="roundRect">
            <a:avLst>
              <a:gd name="adj" fmla="val 12632"/>
            </a:avLst>
          </a:prstGeom>
          <a:solidFill>
            <a:srgbClr val="F7F6F2"/>
          </a:solidFill>
          <a:ln w="12700">
            <a:noFill/>
            <a:prstDash val="solid"/>
          </a:ln>
          <a:effectLst>
            <a:outerShdw blurRad="76200" dist="25400" dir="5400000" algn="bl" rotWithShape="0">
              <a:srgbClr val="000000">
                <a:alpha val="12000"/>
              </a:srgbClr>
            </a:outerShdw>
          </a:effectLst>
        </p:spPr>
        <p:txBody>
          <a:bodyPr/>
          <a:lstStyle/>
          <a:p>
            <a:endParaRPr lang="en-US"/>
          </a:p>
        </p:txBody>
      </p:sp>
      <p:sp>
        <p:nvSpPr>
          <p:cNvPr id="16" name="Text 13"/>
          <p:cNvSpPr txBox="1"/>
          <p:nvPr/>
        </p:nvSpPr>
        <p:spPr>
          <a:xfrm>
            <a:off x="548640" y="4617720"/>
            <a:ext cx="11064240" cy="1600200"/>
          </a:xfrm>
          <a:prstGeom prst="rect">
            <a:avLst/>
          </a:prstGeom>
          <a:noFill/>
          <a:ln/>
        </p:spPr>
        <p:txBody>
          <a:bodyPr wrap="square" lIns="256032" tIns="54864" rIns="256032" bIns="54864" rtlCol="0" anchor="ctr"/>
          <a:lstStyle/>
          <a:p>
            <a:pPr marL="0" indent="0" algn="l">
              <a:lnSpc>
                <a:spcPct val="115000"/>
              </a:lnSpc>
              <a:buNone/>
            </a:pPr>
            <a:r>
              <a:rPr sz="1050" b="1" spc="120">
                <a:solidFill>
                  <a:srgbClr val="C1440E"/>
                </a:solidFill>
                <a:latin typeface="Calibri"/>
              </a:rPr>
              <a:t>ASIDE </a:t>
            </a:r>
            <a:r>
              <a:rPr sz="1500" b="0">
                <a:solidFill>
                  <a:srgbClr val="2B2B2B"/>
                </a:solidFill>
                <a:latin typeface="Calibri"/>
              </a:rPr>
              <a:t>The Senior Engineer guarding that ancient pipeline isn’t wrong to be cautious — they’re defending it with the wrong argument (“it’s always worked”) instead of the right one (“here’s the rubric score”).</a:t>
            </a:r>
            <a:endParaRPr lang="en-US" sz="14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F3D2C"/>
        </a:solidFill>
        <a:effectLst/>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marL="0" indent="0" algn="ctr">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marL="0" indent="0" algn="ctr">
              <a:buNone/>
            </a:pPr>
            <a:r>
              <a:rPr lang="en-US" sz="1900" i="1" dirty="0">
                <a:solidFill>
                  <a:srgbClr val="8C6A3F"/>
                </a:solidFill>
                <a:latin typeface="Calibri" pitchFamily="34" charset="0"/>
                <a:ea typeface="Calibri" pitchFamily="34" charset="-122"/>
                <a:cs typeface="Calibri" pitchFamily="34" charset="-120"/>
              </a:rPr>
              <a:t>One quick question before we leave Section 5 — Preventing the Uprising</a:t>
            </a:r>
            <a:endParaRPr lang="en-US" sz="1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6</a:t>
            </a:r>
            <a:endParaRPr lang="en-US" sz="1700" dirty="0"/>
          </a:p>
        </p:txBody>
      </p:sp>
      <p:pic>
        <p:nvPicPr>
          <p:cNvPr id="4" name="Image 0" descr="/home/claude/pptx-build/assets/icons/FaWater-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The Watering Hole Nobody Told to Move</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Every migration leaves a watering hole behind — the place everything used to gather. Some animals find the new one. Some keep showing up at the old one out of habit, confused it went dry.</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n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THE WATERING HOLE NOBODY TOLD TO MOVE</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Long Tail: Hardcoded Azure DevOps URLs</a:t>
            </a:r>
            <a:endParaRPr lang="en-US" sz="3200" dirty="0"/>
          </a:p>
        </p:txBody>
      </p:sp>
      <p:sp>
        <p:nvSpPr>
          <p:cNvPr id="6" name="Shape 3"/>
          <p:cNvSpPr/>
          <p:nvPr/>
        </p:nvSpPr>
        <p:spPr>
          <a:xfrm>
            <a:off x="548640" y="1417320"/>
            <a:ext cx="11064240" cy="996696"/>
          </a:xfrm>
          <a:prstGeom prst="roundRect">
            <a:avLst>
              <a:gd name="adj" fmla="val 7742"/>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68680" y="1600200"/>
            <a:ext cx="10424160" cy="1051560"/>
          </a:xfrm>
          <a:prstGeom prst="rect">
            <a:avLst/>
          </a:prstGeom>
          <a:noFill/>
          <a:ln/>
        </p:spPr>
        <p:txBody>
          <a:bodyPr wrap="square" lIns="0" tIns="0" rIns="0" bIns="0" rtlCol="0" anchor="t"/>
          <a:lstStyle/>
          <a:p>
            <a:pPr marL="0" indent="0">
              <a:buNone/>
            </a:pPr>
            <a:r>
              <a:rPr lang="en-US" sz="1800" b="1" dirty="0">
                <a:solidFill>
                  <a:srgbClr val="2B2B2B"/>
                </a:solidFill>
                <a:latin typeface="Calibri" pitchFamily="34" charset="0"/>
                <a:ea typeface="Calibri" pitchFamily="34" charset="-122"/>
                <a:cs typeface="Calibri" pitchFamily="34" charset="-120"/>
              </a:rPr>
              <a:t>The single most reliable source of post-migration tickets. </a:t>
            </a:r>
            <a:r>
              <a:rPr lang="en-US" sz="1800" dirty="0">
                <a:solidFill>
                  <a:srgbClr val="2B2B2B"/>
                </a:solidFill>
                <a:latin typeface="Calibri" pitchFamily="34" charset="0"/>
                <a:ea typeface="Calibri" pitchFamily="34" charset="-122"/>
                <a:cs typeface="Calibri" pitchFamily="34" charset="-120"/>
              </a:rPr>
              <a:t>Not the migration itself — the references to it, buried everywhere nobody thought to look.</a:t>
            </a:r>
            <a:endParaRPr lang="en-US" sz="1800" dirty="0"/>
          </a:p>
        </p:txBody>
      </p:sp>
      <p:sp>
        <p:nvSpPr>
          <p:cNvPr id="8" name="Shape 5"/>
          <p:cNvSpPr/>
          <p:nvPr/>
        </p:nvSpPr>
        <p:spPr>
          <a:xfrm>
            <a:off x="548640" y="2595492"/>
            <a:ext cx="11064240" cy="621792"/>
          </a:xfrm>
          <a:prstGeom prst="roundRect">
            <a:avLst>
              <a:gd name="adj" fmla="val 14706"/>
            </a:avLst>
          </a:prstGeom>
          <a:solidFill>
            <a:srgbClr val="1F3D2C"/>
          </a:solidFill>
          <a:ln/>
        </p:spPr>
        <p:txBody>
          <a:bodyPr/>
          <a:lstStyle/>
          <a:p>
            <a:endParaRPr lang="en-US"/>
          </a:p>
        </p:txBody>
      </p:sp>
      <p:sp>
        <p:nvSpPr>
          <p:cNvPr id="9" name="Text 6"/>
          <p:cNvSpPr txBox="1"/>
          <p:nvPr/>
        </p:nvSpPr>
        <p:spPr>
          <a:xfrm>
            <a:off x="868680" y="2595492"/>
            <a:ext cx="10424160" cy="621792"/>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Build &amp; release pipeline YAML — service connections, task inputs, artifact feed URLs</a:t>
            </a:r>
            <a:endParaRPr lang="en-US" sz="1600" dirty="0"/>
          </a:p>
        </p:txBody>
      </p:sp>
      <p:sp>
        <p:nvSpPr>
          <p:cNvPr id="10" name="Shape 7"/>
          <p:cNvSpPr/>
          <p:nvPr/>
        </p:nvSpPr>
        <p:spPr>
          <a:xfrm>
            <a:off x="548640" y="3327012"/>
            <a:ext cx="11064240" cy="621792"/>
          </a:xfrm>
          <a:prstGeom prst="roundRect">
            <a:avLst>
              <a:gd name="adj" fmla="val 14706"/>
            </a:avLst>
          </a:prstGeom>
          <a:solidFill>
            <a:srgbClr val="1F3D2C"/>
          </a:solidFill>
          <a:ln/>
        </p:spPr>
        <p:txBody>
          <a:bodyPr/>
          <a:lstStyle/>
          <a:p>
            <a:endParaRPr lang="en-US"/>
          </a:p>
        </p:txBody>
      </p:sp>
      <p:sp>
        <p:nvSpPr>
          <p:cNvPr id="11" name="Text 8"/>
          <p:cNvSpPr txBox="1"/>
          <p:nvPr/>
        </p:nvSpPr>
        <p:spPr>
          <a:xfrm>
            <a:off x="868680" y="3327012"/>
            <a:ext cx="10424160" cy="621792"/>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Infrastructure-as-code — Terraform/Bicep referencing an Azure DevOps repo or feed</a:t>
            </a:r>
            <a:endParaRPr lang="en-US" sz="1600" dirty="0"/>
          </a:p>
        </p:txBody>
      </p:sp>
      <p:sp>
        <p:nvSpPr>
          <p:cNvPr id="12" name="Shape 9"/>
          <p:cNvSpPr/>
          <p:nvPr/>
        </p:nvSpPr>
        <p:spPr>
          <a:xfrm>
            <a:off x="548640" y="4058532"/>
            <a:ext cx="11064240" cy="621792"/>
          </a:xfrm>
          <a:prstGeom prst="roundRect">
            <a:avLst>
              <a:gd name="adj" fmla="val 14706"/>
            </a:avLst>
          </a:prstGeom>
          <a:solidFill>
            <a:srgbClr val="1F3D2C"/>
          </a:solidFill>
          <a:ln/>
        </p:spPr>
        <p:txBody>
          <a:bodyPr/>
          <a:lstStyle/>
          <a:p>
            <a:endParaRPr lang="en-US"/>
          </a:p>
        </p:txBody>
      </p:sp>
      <p:sp>
        <p:nvSpPr>
          <p:cNvPr id="13" name="Text 10"/>
          <p:cNvSpPr txBox="1"/>
          <p:nvPr/>
        </p:nvSpPr>
        <p:spPr>
          <a:xfrm>
            <a:off x="868680" y="4058532"/>
            <a:ext cx="10424160" cy="621792"/>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READMEs, bookmarks, wikis, onboarding docs — "clone from dev.azure.com/..."</a:t>
            </a:r>
            <a:endParaRPr lang="en-US" sz="1600" dirty="0"/>
          </a:p>
        </p:txBody>
      </p:sp>
      <p:sp>
        <p:nvSpPr>
          <p:cNvPr id="14" name="Shape 11"/>
          <p:cNvSpPr/>
          <p:nvPr/>
        </p:nvSpPr>
        <p:spPr>
          <a:xfrm>
            <a:off x="548640" y="4790052"/>
            <a:ext cx="11064240" cy="621792"/>
          </a:xfrm>
          <a:prstGeom prst="roundRect">
            <a:avLst>
              <a:gd name="adj" fmla="val 14706"/>
            </a:avLst>
          </a:prstGeom>
          <a:solidFill>
            <a:srgbClr val="1F3D2C"/>
          </a:solidFill>
          <a:ln/>
        </p:spPr>
        <p:txBody>
          <a:bodyPr/>
          <a:lstStyle/>
          <a:p>
            <a:endParaRPr lang="en-US"/>
          </a:p>
        </p:txBody>
      </p:sp>
      <p:sp>
        <p:nvSpPr>
          <p:cNvPr id="15" name="Text 12"/>
          <p:cNvSpPr txBox="1"/>
          <p:nvPr/>
        </p:nvSpPr>
        <p:spPr>
          <a:xfrm>
            <a:off x="868680" y="4790052"/>
            <a:ext cx="10424160" cy="621792"/>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Forgotten internal tools — the one script three people know exists</a:t>
            </a:r>
            <a:endParaRPr lang="en-US" sz="1600" dirty="0"/>
          </a:p>
        </p:txBody>
      </p:sp>
      <p:sp>
        <p:nvSpPr>
          <p:cNvPr id="16" name="Text 13"/>
          <p:cNvSpPr txBox="1"/>
          <p:nvPr/>
        </p:nvSpPr>
        <p:spPr>
          <a:xfrm>
            <a:off x="548640" y="6172200"/>
            <a:ext cx="11064240" cy="502920"/>
          </a:xfrm>
          <a:prstGeom prst="rect">
            <a:avLst/>
          </a:prstGeom>
          <a:noFill/>
          <a:ln/>
        </p:spPr>
        <p:txBody>
          <a:bodyPr wrap="square" lIns="0" tIns="0" rIns="0" bIns="0" rtlCol="0" anchor="ctr"/>
          <a:lstStyle/>
          <a:p>
            <a:pPr marL="0" indent="0">
              <a:buNone/>
            </a:pPr>
            <a:r>
              <a:rPr sz="1000" b="1" spc="120">
                <a:solidFill>
                  <a:srgbClr val="C1440E"/>
                </a:solidFill>
                <a:latin typeface="Calibri"/>
              </a:rPr>
              <a:t>DO THIS </a:t>
            </a:r>
            <a:r>
              <a:rPr sz="1300">
                <a:solidFill>
                  <a:srgbClr val="2B2B2B"/>
                </a:solidFill>
                <a:latin typeface="Calibri"/>
              </a:rPr>
              <a:t>Budget a real sweep before cutover — then a second one a month later, once the things that only run monthly have had a chance to fail.</a:t>
            </a:r>
            <a:endParaRPr lang="en-US" sz="1500" dirty="0"/>
          </a:p>
        </p:txBody>
      </p:sp>
      <p:sp>
        <p:nvSpPr>
          <p:cNvPr id="19" name="Shape 11">
            <a:extLst>
              <a:ext uri="{FF2B5EF4-FFF2-40B4-BE49-F238E27FC236}">
                <a16:creationId xmlns:a16="http://schemas.microsoft.com/office/drawing/2014/main" id="{43EFC940-AD93-832E-323E-B207986FF96F}"/>
              </a:ext>
            </a:extLst>
          </p:cNvPr>
          <p:cNvSpPr/>
          <p:nvPr/>
        </p:nvSpPr>
        <p:spPr>
          <a:xfrm>
            <a:off x="548640" y="5521572"/>
            <a:ext cx="11064240" cy="621792"/>
          </a:xfrm>
          <a:prstGeom prst="roundRect">
            <a:avLst>
              <a:gd name="adj" fmla="val 14706"/>
            </a:avLst>
          </a:prstGeom>
          <a:solidFill>
            <a:srgbClr val="1F3D2C"/>
          </a:solidFill>
          <a:ln/>
        </p:spPr>
        <p:txBody>
          <a:bodyPr/>
          <a:lstStyle/>
          <a:p>
            <a:endParaRPr lang="en-US"/>
          </a:p>
        </p:txBody>
      </p:sp>
      <p:sp>
        <p:nvSpPr>
          <p:cNvPr id="21" name="Text 12">
            <a:extLst>
              <a:ext uri="{FF2B5EF4-FFF2-40B4-BE49-F238E27FC236}">
                <a16:creationId xmlns:a16="http://schemas.microsoft.com/office/drawing/2014/main" id="{F848DF5D-8B12-CF1E-580B-ED55723015C5}"/>
              </a:ext>
            </a:extLst>
          </p:cNvPr>
          <p:cNvSpPr txBox="1"/>
          <p:nvPr/>
        </p:nvSpPr>
        <p:spPr>
          <a:xfrm>
            <a:off x="868680" y="5521572"/>
            <a:ext cx="10424160" cy="621792"/>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Local repo remote URLs — everyone’s got a repo copy, someone will forget to update it</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UserSecre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THE WATERING HOLE NOBODY TOLD TO MOVE</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Mannequins Nobody Claimed</a:t>
            </a:r>
            <a:endParaRPr lang="en-US" sz="3200" dirty="0"/>
          </a:p>
        </p:txBody>
      </p:sp>
      <p:sp>
        <p:nvSpPr>
          <p:cNvPr id="6" name="Shape 3"/>
          <p:cNvSpPr/>
          <p:nvPr/>
        </p:nvSpPr>
        <p:spPr>
          <a:xfrm>
            <a:off x="548640" y="1417320"/>
            <a:ext cx="11064240" cy="1600200"/>
          </a:xfrm>
          <a:prstGeom prst="roundRect">
            <a:avLst>
              <a:gd name="adj" fmla="val 6857"/>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68680" y="1600200"/>
            <a:ext cx="10424160" cy="1234440"/>
          </a:xfrm>
          <a:prstGeom prst="rect">
            <a:avLst/>
          </a:prstGeom>
          <a:noFill/>
          <a:ln/>
        </p:spPr>
        <p:txBody>
          <a:bodyPr wrap="square" lIns="0" tIns="0" rIns="0" bIns="0" rtlCol="0" anchor="t"/>
          <a:lstStyle/>
          <a:p>
            <a:pPr marL="0" indent="0">
              <a:buNone/>
            </a:pPr>
            <a:r>
              <a:rPr lang="en-US" sz="1800" b="1" dirty="0">
                <a:solidFill>
                  <a:srgbClr val="2B2B2B"/>
                </a:solidFill>
                <a:latin typeface="Calibri" pitchFamily="34" charset="0"/>
                <a:ea typeface="Calibri" pitchFamily="34" charset="-122"/>
                <a:cs typeface="Calibri" pitchFamily="34" charset="-120"/>
              </a:rPr>
              <a:t>Every Azure DevOps user becomes a mannequin at migration time — </a:t>
            </a:r>
            <a:r>
              <a:rPr lang="en-US" sz="1800" dirty="0">
                <a:solidFill>
                  <a:srgbClr val="2B2B2B"/>
                </a:solidFill>
                <a:latin typeface="Calibri" pitchFamily="34" charset="0"/>
                <a:ea typeface="Calibri" pitchFamily="34" charset="-122"/>
                <a:cs typeface="Calibri" pitchFamily="34" charset="-120"/>
              </a:rPr>
              <a:t>a placeholder account standing in for a real person until someone claims it.</a:t>
            </a:r>
            <a:endParaRPr lang="en-US" sz="1800" dirty="0"/>
          </a:p>
        </p:txBody>
      </p:sp>
      <p:sp>
        <p:nvSpPr>
          <p:cNvPr id="8" name="Shape 5"/>
          <p:cNvSpPr/>
          <p:nvPr/>
        </p:nvSpPr>
        <p:spPr>
          <a:xfrm>
            <a:off x="548640" y="3246120"/>
            <a:ext cx="11064240" cy="1691640"/>
          </a:xfrm>
          <a:prstGeom prst="roundRect">
            <a:avLst>
              <a:gd name="adj" fmla="val 6486"/>
            </a:avLst>
          </a:prstGeom>
          <a:solidFill>
            <a:srgbClr val="8C6A3F"/>
          </a:solidFill>
          <a:ln/>
        </p:spPr>
        <p:txBody>
          <a:bodyPr/>
          <a:lstStyle/>
          <a:p>
            <a:endParaRPr lang="en-US"/>
          </a:p>
        </p:txBody>
      </p:sp>
      <p:sp>
        <p:nvSpPr>
          <p:cNvPr id="9" name="Text 6"/>
          <p:cNvSpPr txBox="1"/>
          <p:nvPr/>
        </p:nvSpPr>
        <p:spPr>
          <a:xfrm>
            <a:off x="868680" y="3429000"/>
            <a:ext cx="10424160" cy="137160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Everything except Git commits — issue comments, PR reviews, work-item history — stays on the mannequin until it is reclaimed. An organization owner sends the attribution invitation, but nothing is reattributed until the person accepts it. </a:t>
            </a:r>
          </a:p>
          <a:p>
            <a:pPr marL="0" indent="0">
              <a:buNone/>
            </a:pPr>
            <a:endParaRPr lang="en-US" sz="1700" dirty="0">
              <a:solidFill>
                <a:srgbClr val="FFFFFF"/>
              </a:solidFill>
              <a:latin typeface="Calibri" pitchFamily="34" charset="0"/>
              <a:ea typeface="Calibri" pitchFamily="34" charset="-122"/>
              <a:cs typeface="Calibri" pitchFamily="34" charset="-120"/>
            </a:endParaRPr>
          </a:p>
          <a:p>
            <a:pPr marL="0" indent="0">
              <a:buNone/>
            </a:pPr>
            <a:r>
              <a:rPr lang="en-US" sz="1700" dirty="0">
                <a:solidFill>
                  <a:srgbClr val="FFFFFF"/>
                </a:solidFill>
                <a:latin typeface="Calibri" pitchFamily="34" charset="0"/>
                <a:ea typeface="Calibri" pitchFamily="34" charset="-122"/>
                <a:cs typeface="Calibri" pitchFamily="34" charset="-120"/>
              </a:rPr>
              <a:t>Enterprise Managed Users are the exception: there it completes immediately, without an invitation.</a:t>
            </a:r>
            <a:endParaRPr lang="en-US" sz="1700" dirty="0"/>
          </a:p>
        </p:txBody>
      </p:sp>
      <p:sp>
        <p:nvSpPr>
          <p:cNvPr id="13" name="Rounded Rectangle 12"/>
          <p:cNvSpPr/>
          <p:nvPr/>
        </p:nvSpPr>
        <p:spPr>
          <a:xfrm>
            <a:off x="548640" y="5065776"/>
            <a:ext cx="11064240" cy="859536"/>
          </a:xfrm>
          <a:prstGeom prst="roundRect">
            <a:avLst>
              <a:gd name="adj" fmla="val 12632"/>
            </a:avLst>
          </a:prstGeom>
          <a:solidFill>
            <a:srgbClr val="1F3D2C"/>
          </a:solidFill>
          <a:ln>
            <a:noFill/>
          </a:ln>
          <a:effectLst/>
        </p:spPr>
        <p:txBody>
          <a:bodyPr rtlCol="0" anchor="ctr"/>
          <a:lstStyle/>
          <a:p>
            <a:pPr algn="ctr"/>
            <a:endParaRPr/>
          </a:p>
        </p:txBody>
      </p:sp>
      <p:sp>
        <p:nvSpPr>
          <p:cNvPr id="10" name="Text 7"/>
          <p:cNvSpPr txBox="1"/>
          <p:nvPr/>
        </p:nvSpPr>
        <p:spPr>
          <a:xfrm>
            <a:off x="548640" y="5065776"/>
            <a:ext cx="11064240" cy="859536"/>
          </a:xfrm>
          <a:prstGeom prst="rect">
            <a:avLst/>
          </a:prstGeom>
          <a:noFill/>
          <a:ln/>
        </p:spPr>
        <p:txBody>
          <a:bodyPr wrap="square" lIns="256032" tIns="54864" rIns="256032" bIns="54864" rtlCol="0" anchor="ctr"/>
          <a:lstStyle/>
          <a:p>
            <a:pPr marL="0" indent="0" algn="l">
              <a:buNone/>
            </a:pPr>
            <a:r>
              <a:rPr sz="1050" b="1" spc="120">
                <a:solidFill>
                  <a:srgbClr val="8C6A3F"/>
                </a:solidFill>
                <a:latin typeface="Calibri"/>
              </a:rPr>
              <a:t>TAKEAWAY </a:t>
            </a:r>
            <a:r>
              <a:rPr sz="1500" b="0">
                <a:solidFill>
                  <a:srgbClr val="F5F5F0"/>
                </a:solidFill>
                <a:latin typeface="Calibri"/>
              </a:rPr>
              <a:t>The fix isn’t clever: plan the identity mapping before migration, not after. Remapping later is the harder path.</a:t>
            </a:r>
            <a:endParaRPr lang="en-US" sz="1600" dirty="0"/>
          </a:p>
        </p:txBody>
      </p:sp>
      <p:sp>
        <p:nvSpPr>
          <p:cNvPr id="11" name="Shape 8"/>
          <p:cNvSpPr/>
          <p:nvPr/>
        </p:nvSpPr>
        <p:spPr>
          <a:xfrm>
            <a:off x="548640" y="5989320"/>
            <a:ext cx="11064240" cy="0"/>
          </a:xfrm>
          <a:prstGeom prst="line">
            <a:avLst/>
          </a:prstGeom>
          <a:noFill/>
          <a:ln w="9525">
            <a:solidFill>
              <a:srgbClr val="DDD8CC"/>
            </a:solidFill>
            <a:prstDash val="dash"/>
          </a:ln>
        </p:spPr>
        <p:txBody>
          <a:bodyPr/>
          <a:lstStyle/>
          <a:p>
            <a:endParaRPr lang="en-US"/>
          </a:p>
        </p:txBody>
      </p:sp>
      <p:sp>
        <p:nvSpPr>
          <p:cNvPr id="12" name="Text 9"/>
          <p:cNvSpPr txBox="1"/>
          <p:nvPr/>
        </p:nvSpPr>
        <p:spPr>
          <a:xfrm>
            <a:off x="548640" y="6108192"/>
            <a:ext cx="11064240" cy="640080"/>
          </a:xfrm>
          <a:prstGeom prst="rect">
            <a:avLst/>
          </a:prstGeom>
          <a:noFill/>
          <a:ln/>
        </p:spPr>
        <p:txBody>
          <a:bodyPr wrap="square" lIns="0" tIns="0" rIns="0" bIns="0" rtlCol="0" anchor="ctr"/>
          <a:lstStyle/>
          <a:p>
            <a:pPr marL="0" indent="0">
              <a:buNone/>
            </a:pPr>
            <a:r>
              <a:rPr lang="en-US" sz="1300" i="1" dirty="0">
                <a:solidFill>
                  <a:srgbClr val="6B6B63"/>
                </a:solidFill>
                <a:latin typeface="Calibri" pitchFamily="34" charset="0"/>
                <a:ea typeface="Calibri" pitchFamily="34" charset="-122"/>
                <a:cs typeface="Calibri" pitchFamily="34" charset="-120"/>
              </a:rPr>
              <a:t>DOCUMENTARY ASIDE — a herd of placeholder accounts, grazing quietly in the repo’s activity feed at this section’s watering hole, waiting for someone to notice they’re there.</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stAl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THE WATERING HOLE NOBODY TOLD TO MOVE</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Takeaways Recap</a:t>
            </a:r>
            <a:endParaRPr lang="en-US" sz="3200" dirty="0"/>
          </a:p>
        </p:txBody>
      </p:sp>
      <p:sp>
        <p:nvSpPr>
          <p:cNvPr id="6" name="Shape 3"/>
          <p:cNvSpPr/>
          <p:nvPr/>
        </p:nvSpPr>
        <p:spPr>
          <a:xfrm>
            <a:off x="548640" y="1417320"/>
            <a:ext cx="11064240" cy="685800"/>
          </a:xfrm>
          <a:prstGeom prst="roundRect">
            <a:avLst>
              <a:gd name="adj" fmla="val 10667"/>
            </a:avLst>
          </a:prstGeom>
          <a:solidFill>
            <a:srgbClr val="F7F6F2"/>
          </a:solidFill>
          <a:ln w="9525">
            <a:solidFill>
              <a:srgbClr val="DDD8CC"/>
            </a:solidFill>
            <a:prstDash val="solid"/>
          </a:ln>
        </p:spPr>
        <p:txBody>
          <a:bodyPr/>
          <a:lstStyle/>
          <a:p>
            <a:endParaRPr lang="en-US"/>
          </a:p>
        </p:txBody>
      </p:sp>
      <p:sp>
        <p:nvSpPr>
          <p:cNvPr id="7" name="Shape 4"/>
          <p:cNvSpPr/>
          <p:nvPr/>
        </p:nvSpPr>
        <p:spPr>
          <a:xfrm>
            <a:off x="777240" y="1559052"/>
            <a:ext cx="402336" cy="402336"/>
          </a:xfrm>
          <a:prstGeom prst="ellipse">
            <a:avLst/>
          </a:prstGeom>
          <a:solidFill>
            <a:srgbClr val="C1440E"/>
          </a:solidFill>
          <a:ln/>
        </p:spPr>
        <p:txBody>
          <a:bodyPr/>
          <a:lstStyle/>
          <a:p>
            <a:endParaRPr lang="en-US"/>
          </a:p>
        </p:txBody>
      </p:sp>
      <p:sp>
        <p:nvSpPr>
          <p:cNvPr id="8" name="Text 5"/>
          <p:cNvSpPr txBox="1"/>
          <p:nvPr/>
        </p:nvSpPr>
        <p:spPr>
          <a:xfrm>
            <a:off x="777240" y="155905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1417320" y="141732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Why teams migrate</a:t>
            </a:r>
            <a:endParaRPr lang="en-US" sz="1450" dirty="0"/>
          </a:p>
        </p:txBody>
      </p:sp>
      <p:sp>
        <p:nvSpPr>
          <p:cNvPr id="10" name="Text 7"/>
          <p:cNvSpPr txBox="1"/>
          <p:nvPr/>
        </p:nvSpPr>
        <p:spPr>
          <a:xfrm>
            <a:off x="4800600" y="141732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AI is one of the real reasons — but it needs structured work items to pay off.</a:t>
            </a:r>
            <a:endParaRPr lang="en-US" sz="1350" dirty="0"/>
          </a:p>
        </p:txBody>
      </p:sp>
      <p:sp>
        <p:nvSpPr>
          <p:cNvPr id="11" name="Shape 8"/>
          <p:cNvSpPr/>
          <p:nvPr/>
        </p:nvSpPr>
        <p:spPr>
          <a:xfrm>
            <a:off x="548640" y="2194560"/>
            <a:ext cx="11064240" cy="685800"/>
          </a:xfrm>
          <a:prstGeom prst="roundRect">
            <a:avLst>
              <a:gd name="adj" fmla="val 10667"/>
            </a:avLst>
          </a:prstGeom>
          <a:solidFill>
            <a:srgbClr val="FFFFFF"/>
          </a:solidFill>
          <a:ln w="9525">
            <a:solidFill>
              <a:srgbClr val="DDD8CC"/>
            </a:solidFill>
            <a:prstDash val="solid"/>
          </a:ln>
        </p:spPr>
        <p:txBody>
          <a:bodyPr/>
          <a:lstStyle/>
          <a:p>
            <a:endParaRPr lang="en-US"/>
          </a:p>
        </p:txBody>
      </p:sp>
      <p:sp>
        <p:nvSpPr>
          <p:cNvPr id="12" name="Shape 9"/>
          <p:cNvSpPr/>
          <p:nvPr/>
        </p:nvSpPr>
        <p:spPr>
          <a:xfrm>
            <a:off x="777240" y="2336292"/>
            <a:ext cx="402336" cy="402336"/>
          </a:xfrm>
          <a:prstGeom prst="ellipse">
            <a:avLst/>
          </a:prstGeom>
          <a:solidFill>
            <a:srgbClr val="C1440E"/>
          </a:solidFill>
          <a:ln/>
        </p:spPr>
        <p:txBody>
          <a:bodyPr/>
          <a:lstStyle/>
          <a:p>
            <a:endParaRPr lang="en-US"/>
          </a:p>
        </p:txBody>
      </p:sp>
      <p:sp>
        <p:nvSpPr>
          <p:cNvPr id="13" name="Text 10"/>
          <p:cNvSpPr txBox="1"/>
          <p:nvPr/>
        </p:nvSpPr>
        <p:spPr>
          <a:xfrm>
            <a:off x="777240" y="23362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1417320" y="219456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What travels clean vs. what lingers</a:t>
            </a:r>
            <a:endParaRPr lang="en-US" sz="1450" dirty="0"/>
          </a:p>
        </p:txBody>
      </p:sp>
      <p:sp>
        <p:nvSpPr>
          <p:cNvPr id="15" name="Text 12"/>
          <p:cNvSpPr txBox="1"/>
          <p:nvPr/>
        </p:nvSpPr>
        <p:spPr>
          <a:xfrm>
            <a:off x="4800600" y="219456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Repos and Git-backed content travel most cleanly. Pipelines require conversion and validation. Test Plans stays behind.</a:t>
            </a:r>
            <a:endParaRPr lang="en-US" sz="1350" dirty="0"/>
          </a:p>
        </p:txBody>
      </p:sp>
      <p:sp>
        <p:nvSpPr>
          <p:cNvPr id="16" name="Shape 13"/>
          <p:cNvSpPr/>
          <p:nvPr/>
        </p:nvSpPr>
        <p:spPr>
          <a:xfrm>
            <a:off x="548640" y="2971800"/>
            <a:ext cx="11064240" cy="685800"/>
          </a:xfrm>
          <a:prstGeom prst="roundRect">
            <a:avLst>
              <a:gd name="adj" fmla="val 10667"/>
            </a:avLst>
          </a:prstGeom>
          <a:solidFill>
            <a:srgbClr val="F7F6F2"/>
          </a:solidFill>
          <a:ln w="9525">
            <a:solidFill>
              <a:srgbClr val="DDD8CC"/>
            </a:solidFill>
            <a:prstDash val="solid"/>
          </a:ln>
        </p:spPr>
        <p:txBody>
          <a:bodyPr/>
          <a:lstStyle/>
          <a:p>
            <a:endParaRPr lang="en-US"/>
          </a:p>
        </p:txBody>
      </p:sp>
      <p:sp>
        <p:nvSpPr>
          <p:cNvPr id="17" name="Shape 14"/>
          <p:cNvSpPr/>
          <p:nvPr/>
        </p:nvSpPr>
        <p:spPr>
          <a:xfrm>
            <a:off x="777240" y="3113532"/>
            <a:ext cx="402336" cy="402336"/>
          </a:xfrm>
          <a:prstGeom prst="ellipse">
            <a:avLst/>
          </a:prstGeom>
          <a:solidFill>
            <a:srgbClr val="C1440E"/>
          </a:solidFill>
          <a:ln/>
        </p:spPr>
        <p:txBody>
          <a:bodyPr/>
          <a:lstStyle/>
          <a:p>
            <a:endParaRPr lang="en-US"/>
          </a:p>
        </p:txBody>
      </p:sp>
      <p:sp>
        <p:nvSpPr>
          <p:cNvPr id="18" name="Text 15"/>
          <p:cNvSpPr txBox="1"/>
          <p:nvPr/>
        </p:nvSpPr>
        <p:spPr>
          <a:xfrm>
            <a:off x="777240" y="311353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6"/>
          <p:cNvSpPr txBox="1"/>
          <p:nvPr/>
        </p:nvSpPr>
        <p:spPr>
          <a:xfrm>
            <a:off x="1417320" y="2971800"/>
            <a:ext cx="3246120" cy="685800"/>
          </a:xfrm>
          <a:prstGeom prst="rect">
            <a:avLst/>
          </a:prstGeom>
          <a:noFill/>
          <a:ln/>
        </p:spPr>
        <p:txBody>
          <a:bodyPr wrap="square" lIns="0" tIns="0" rIns="0" bIns="0" rtlCol="0" anchor="ctr"/>
          <a:lstStyle/>
          <a:p>
            <a:pPr marL="0" indent="0">
              <a:buNone/>
            </a:pPr>
            <a:r>
              <a:rPr lang="en-US" sz="1450" b="1">
                <a:solidFill>
                  <a:srgbClr val="1F3D2C"/>
                </a:solidFill>
                <a:latin typeface="Cambria"/>
              </a:rPr>
              <a:t>Three migration planes</a:t>
            </a:r>
            <a:endParaRPr lang="en-US" sz="1450" dirty="0"/>
          </a:p>
        </p:txBody>
      </p:sp>
      <p:sp>
        <p:nvSpPr>
          <p:cNvPr id="20" name="Text 17"/>
          <p:cNvSpPr txBox="1"/>
          <p:nvPr/>
        </p:nvSpPr>
        <p:spPr>
          <a:xfrm>
            <a:off x="4800600" y="2971800"/>
            <a:ext cx="6675120" cy="685800"/>
          </a:xfrm>
          <a:prstGeom prst="rect">
            <a:avLst/>
          </a:prstGeom>
          <a:noFill/>
          <a:ln/>
        </p:spPr>
        <p:txBody>
          <a:bodyPr wrap="square" lIns="0" tIns="0" rIns="0" bIns="0" rtlCol="0" anchor="ctr"/>
          <a:lstStyle/>
          <a:p>
            <a:pPr marL="0" indent="0">
              <a:buNone/>
            </a:pPr>
            <a:r>
              <a:rPr lang="en-US" sz="1400">
                <a:solidFill>
                  <a:srgbClr val="2B2B2B"/>
                </a:solidFill>
                <a:latin typeface="Calibri"/>
              </a:rPr>
              <a:t>Repository data, automation, and validation — each uses manual judgment, official tooling, and AI assistance.</a:t>
            </a:r>
            <a:endParaRPr lang="en-US" sz="1350" dirty="0"/>
          </a:p>
        </p:txBody>
      </p:sp>
      <p:sp>
        <p:nvSpPr>
          <p:cNvPr id="21" name="Shape 18"/>
          <p:cNvSpPr/>
          <p:nvPr/>
        </p:nvSpPr>
        <p:spPr>
          <a:xfrm>
            <a:off x="548640" y="3749040"/>
            <a:ext cx="11064240" cy="685800"/>
          </a:xfrm>
          <a:prstGeom prst="roundRect">
            <a:avLst>
              <a:gd name="adj" fmla="val 10667"/>
            </a:avLst>
          </a:prstGeom>
          <a:solidFill>
            <a:srgbClr val="FFFFFF"/>
          </a:solidFill>
          <a:ln w="9525">
            <a:solidFill>
              <a:srgbClr val="DDD8CC"/>
            </a:solidFill>
            <a:prstDash val="solid"/>
          </a:ln>
        </p:spPr>
        <p:txBody>
          <a:bodyPr/>
          <a:lstStyle/>
          <a:p>
            <a:endParaRPr lang="en-US"/>
          </a:p>
        </p:txBody>
      </p:sp>
      <p:sp>
        <p:nvSpPr>
          <p:cNvPr id="22" name="Shape 19"/>
          <p:cNvSpPr/>
          <p:nvPr/>
        </p:nvSpPr>
        <p:spPr>
          <a:xfrm>
            <a:off x="777240" y="3890772"/>
            <a:ext cx="402336" cy="402336"/>
          </a:xfrm>
          <a:prstGeom prst="ellipse">
            <a:avLst/>
          </a:prstGeom>
          <a:solidFill>
            <a:srgbClr val="C1440E"/>
          </a:solidFill>
          <a:ln/>
        </p:spPr>
        <p:txBody>
          <a:bodyPr/>
          <a:lstStyle/>
          <a:p>
            <a:endParaRPr lang="en-US"/>
          </a:p>
        </p:txBody>
      </p:sp>
      <p:sp>
        <p:nvSpPr>
          <p:cNvPr id="23" name="Text 20"/>
          <p:cNvSpPr txBox="1"/>
          <p:nvPr/>
        </p:nvSpPr>
        <p:spPr>
          <a:xfrm>
            <a:off x="777240" y="389077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1"/>
          <p:cNvSpPr txBox="1"/>
          <p:nvPr/>
        </p:nvSpPr>
        <p:spPr>
          <a:xfrm>
            <a:off x="1417320" y="374904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Why Boards stays hybrid</a:t>
            </a:r>
            <a:endParaRPr lang="en-US" sz="1450" dirty="0"/>
          </a:p>
        </p:txBody>
      </p:sp>
      <p:sp>
        <p:nvSpPr>
          <p:cNvPr id="25" name="Text 22"/>
          <p:cNvSpPr txBox="1"/>
          <p:nvPr/>
        </p:nvSpPr>
        <p:spPr>
          <a:xfrm>
            <a:off x="4800600" y="374904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Connect Azure Boards, don’t migrate work items — the door stays open, it doesn’t force a choice.</a:t>
            </a:r>
            <a:endParaRPr lang="en-US" sz="1350" dirty="0"/>
          </a:p>
        </p:txBody>
      </p:sp>
      <p:sp>
        <p:nvSpPr>
          <p:cNvPr id="26" name="Shape 23"/>
          <p:cNvSpPr/>
          <p:nvPr/>
        </p:nvSpPr>
        <p:spPr>
          <a:xfrm>
            <a:off x="548640" y="4526280"/>
            <a:ext cx="11064240" cy="685800"/>
          </a:xfrm>
          <a:prstGeom prst="roundRect">
            <a:avLst>
              <a:gd name="adj" fmla="val 10667"/>
            </a:avLst>
          </a:prstGeom>
          <a:solidFill>
            <a:srgbClr val="F7F6F2"/>
          </a:solidFill>
          <a:ln w="9525">
            <a:solidFill>
              <a:srgbClr val="DDD8CC"/>
            </a:solidFill>
            <a:prstDash val="solid"/>
          </a:ln>
        </p:spPr>
        <p:txBody>
          <a:bodyPr/>
          <a:lstStyle/>
          <a:p>
            <a:endParaRPr lang="en-US"/>
          </a:p>
        </p:txBody>
      </p:sp>
      <p:sp>
        <p:nvSpPr>
          <p:cNvPr id="27" name="Shape 24"/>
          <p:cNvSpPr/>
          <p:nvPr/>
        </p:nvSpPr>
        <p:spPr>
          <a:xfrm>
            <a:off x="777240" y="4668012"/>
            <a:ext cx="402336" cy="402336"/>
          </a:xfrm>
          <a:prstGeom prst="ellipse">
            <a:avLst/>
          </a:prstGeom>
          <a:solidFill>
            <a:srgbClr val="C1440E"/>
          </a:solidFill>
          <a:ln/>
        </p:spPr>
        <p:txBody>
          <a:bodyPr/>
          <a:lstStyle/>
          <a:p>
            <a:endParaRPr lang="en-US"/>
          </a:p>
        </p:txBody>
      </p:sp>
      <p:sp>
        <p:nvSpPr>
          <p:cNvPr id="28" name="Text 25"/>
          <p:cNvSpPr txBox="1"/>
          <p:nvPr/>
        </p:nvSpPr>
        <p:spPr>
          <a:xfrm>
            <a:off x="777240" y="466801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6"/>
          <p:cNvSpPr txBox="1"/>
          <p:nvPr/>
        </p:nvSpPr>
        <p:spPr>
          <a:xfrm>
            <a:off x="1417320" y="4526280"/>
            <a:ext cx="3246120" cy="685800"/>
          </a:xfrm>
          <a:prstGeom prst="rect">
            <a:avLst/>
          </a:prstGeom>
          <a:noFill/>
          <a:ln/>
        </p:spPr>
        <p:txBody>
          <a:bodyPr wrap="square" lIns="0" tIns="0" rIns="0" bIns="0" rtlCol="0" anchor="ctr"/>
          <a:lstStyle/>
          <a:p>
            <a:pPr marL="0" indent="0">
              <a:buNone/>
            </a:pPr>
            <a:r>
              <a:rPr lang="en-US" sz="1450" b="1">
                <a:solidFill>
                  <a:srgbClr val="1F3D2C"/>
                </a:solidFill>
                <a:latin typeface="Cambria"/>
              </a:rPr>
              <a:t>Migration as an operating model</a:t>
            </a:r>
            <a:endParaRPr lang="en-US" sz="1450" dirty="0"/>
          </a:p>
        </p:txBody>
      </p:sp>
      <p:sp>
        <p:nvSpPr>
          <p:cNvPr id="30" name="Text 27"/>
          <p:cNvSpPr txBox="1"/>
          <p:nvPr/>
        </p:nvSpPr>
        <p:spPr>
          <a:xfrm>
            <a:off x="4800600" y="4526280"/>
            <a:ext cx="6675120" cy="685800"/>
          </a:xfrm>
          <a:prstGeom prst="rect">
            <a:avLst/>
          </a:prstGeom>
          <a:noFill/>
          <a:ln/>
        </p:spPr>
        <p:txBody>
          <a:bodyPr wrap="square" lIns="0" tIns="0" rIns="0" bIns="0" rtlCol="0" anchor="ctr"/>
          <a:lstStyle/>
          <a:p>
            <a:pPr marL="0" indent="0">
              <a:buNone/>
            </a:pPr>
            <a:r>
              <a:rPr lang="en-US" sz="1400">
                <a:solidFill>
                  <a:srgbClr val="2B2B2B"/>
                </a:solidFill>
                <a:latin typeface="Calibri"/>
              </a:rPr>
              <a:t>Ownership, wave criteria, validation, rollback, and decommissioning matter as much as conversion tooling.</a:t>
            </a:r>
            <a:endParaRPr lang="en-US" sz="1350" dirty="0"/>
          </a:p>
        </p:txBody>
      </p:sp>
      <p:sp>
        <p:nvSpPr>
          <p:cNvPr id="31" name="Shape 28"/>
          <p:cNvSpPr/>
          <p:nvPr/>
        </p:nvSpPr>
        <p:spPr>
          <a:xfrm>
            <a:off x="548640" y="5303520"/>
            <a:ext cx="11064240" cy="685800"/>
          </a:xfrm>
          <a:prstGeom prst="roundRect">
            <a:avLst>
              <a:gd name="adj" fmla="val 10667"/>
            </a:avLst>
          </a:prstGeom>
          <a:solidFill>
            <a:srgbClr val="FFFFFF"/>
          </a:solidFill>
          <a:ln w="9525">
            <a:solidFill>
              <a:srgbClr val="DDD8CC"/>
            </a:solidFill>
            <a:prstDash val="solid"/>
          </a:ln>
        </p:spPr>
        <p:txBody>
          <a:bodyPr/>
          <a:lstStyle/>
          <a:p>
            <a:endParaRPr lang="en-US"/>
          </a:p>
        </p:txBody>
      </p:sp>
      <p:sp>
        <p:nvSpPr>
          <p:cNvPr id="32" name="Shape 29"/>
          <p:cNvSpPr/>
          <p:nvPr/>
        </p:nvSpPr>
        <p:spPr>
          <a:xfrm>
            <a:off x="777240" y="5445252"/>
            <a:ext cx="402336" cy="402336"/>
          </a:xfrm>
          <a:prstGeom prst="ellipse">
            <a:avLst/>
          </a:prstGeom>
          <a:solidFill>
            <a:srgbClr val="C1440E"/>
          </a:solidFill>
          <a:ln/>
        </p:spPr>
        <p:txBody>
          <a:bodyPr/>
          <a:lstStyle/>
          <a:p>
            <a:endParaRPr lang="en-US"/>
          </a:p>
        </p:txBody>
      </p:sp>
      <p:sp>
        <p:nvSpPr>
          <p:cNvPr id="33" name="Text 30"/>
          <p:cNvSpPr txBox="1"/>
          <p:nvPr/>
        </p:nvSpPr>
        <p:spPr>
          <a:xfrm>
            <a:off x="777240" y="544525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1"/>
          <p:cNvSpPr txBox="1"/>
          <p:nvPr/>
        </p:nvSpPr>
        <p:spPr>
          <a:xfrm>
            <a:off x="1417320" y="530352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The long tail that outlasts the cutover</a:t>
            </a:r>
            <a:endParaRPr lang="en-US" sz="1450" dirty="0"/>
          </a:p>
        </p:txBody>
      </p:sp>
      <p:sp>
        <p:nvSpPr>
          <p:cNvPr id="35" name="Text 32"/>
          <p:cNvSpPr txBox="1"/>
          <p:nvPr/>
        </p:nvSpPr>
        <p:spPr>
          <a:xfrm>
            <a:off x="4800600" y="530352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Hardcoded URLs and unreclaimed identities keep surfacing for months. Plan the sweep and the identity mapping up front.</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502920"/>
            <a:ext cx="10058400" cy="320040"/>
          </a:xfrm>
          <a:prstGeom prst="rect">
            <a:avLst/>
          </a:prstGeom>
          <a:noFill/>
          <a:ln/>
        </p:spPr>
        <p:txBody>
          <a:bodyPr wrap="square" lIns="0" tIns="0" rIns="0" bIns="0" rtlCol="0" anchor="t"/>
          <a:lstStyle/>
          <a:p>
            <a:pPr marL="0" indent="0" algn="l">
              <a:buNone/>
            </a:pPr>
            <a:r>
              <a:rPr sz="1500" b="1">
                <a:solidFill>
                  <a:srgbClr val="C1440E"/>
                </a:solidFill>
                <a:latin typeface="Calibri"/>
              </a:rPr>
              <a:t>THE WATERING HOLE NOBODY TOLD TO MOVE</a:t>
            </a:r>
            <a:endParaRPr lang="en-US" sz="1700" dirty="0"/>
          </a:p>
        </p:txBody>
      </p:sp>
      <p:sp>
        <p:nvSpPr>
          <p:cNvPr id="6" name="Text 3"/>
          <p:cNvSpPr txBox="1"/>
          <p:nvPr/>
        </p:nvSpPr>
        <p:spPr>
          <a:xfrm>
            <a:off x="1069848" y="2395728"/>
            <a:ext cx="10058400" cy="2560320"/>
          </a:xfrm>
          <a:prstGeom prst="rect">
            <a:avLst/>
          </a:prstGeom>
          <a:noFill/>
          <a:ln/>
        </p:spPr>
        <p:txBody>
          <a:bodyPr wrap="square" lIns="0" tIns="0" rIns="0" bIns="0" rtlCol="0" anchor="t"/>
          <a:lstStyle/>
          <a:p>
            <a:pPr marL="0" indent="0" algn="ctr">
              <a:buNone/>
            </a:pPr>
            <a:r>
              <a:rPr sz="3000" b="1">
                <a:solidFill>
                  <a:srgbClr val="1F3D2C"/>
                </a:solidFill>
                <a:latin typeface="Cambria"/>
              </a:rPr>
              <a:t>Most migrations aren’t dramatic. They’re a checklist, run carefully, with a few things that broke in ways nobody predicted,</a:t>
            </a:r>
            <a:endParaRPr lang="en-US" sz="2100" dirty="0"/>
          </a:p>
          <a:p>
            <a:pPr algn="ctr">
              <a:spcBef>
                <a:spcPts val="1600"/>
              </a:spcBef>
            </a:pPr>
            <a:r>
              <a:rPr sz="3000" b="1">
                <a:solidFill>
                  <a:srgbClr val="C1440E"/>
                </a:solidFill>
                <a:latin typeface="Cambria"/>
              </a:rPr>
              <a:t>and got fixed by people in the room.</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bg>
      <p:bgPr>
        <a:solidFill>
          <a:srgbClr val="142A1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D2C"/>
          </a:solidFill>
          <a:ln/>
        </p:spPr>
        <p:txBody>
          <a:bodyPr/>
          <a:lstStyle/>
          <a:p>
            <a:endParaRPr lang="en-US"/>
          </a:p>
        </p:txBody>
      </p:sp>
      <p:sp>
        <p:nvSpPr>
          <p:cNvPr id="3" name="Shape 1"/>
          <p:cNvSpPr/>
          <p:nvPr/>
        </p:nvSpPr>
        <p:spPr>
          <a:xfrm>
            <a:off x="0" y="0"/>
            <a:ext cx="12191695" cy="128016"/>
          </a:xfrm>
          <a:prstGeom prst="rect">
            <a:avLst/>
          </a:prstGeom>
          <a:solidFill>
            <a:srgbClr val="C1440E"/>
          </a:solidFill>
          <a:ln/>
        </p:spPr>
        <p:txBody>
          <a:bodyPr/>
          <a:lstStyle/>
          <a:p>
            <a:endParaRPr lang="en-US"/>
          </a:p>
        </p:txBody>
      </p:sp>
      <p:sp>
        <p:nvSpPr>
          <p:cNvPr id="4" name="Text 2"/>
          <p:cNvSpPr txBox="1"/>
          <p:nvPr/>
        </p:nvSpPr>
        <p:spPr>
          <a:xfrm>
            <a:off x="1188720" y="2103120"/>
            <a:ext cx="9784080" cy="2926080"/>
          </a:xfrm>
          <a:prstGeom prst="rect">
            <a:avLst/>
          </a:prstGeom>
          <a:noFill/>
          <a:ln/>
        </p:spPr>
        <p:txBody>
          <a:bodyPr wrap="square" lIns="0" tIns="0" rIns="0" bIns="0" rtlCol="0" anchor="ctr"/>
          <a:lstStyle/>
          <a:p>
            <a:pPr marL="0" indent="0" algn="ctr">
              <a:buNone/>
            </a:pPr>
            <a:r>
              <a:rPr sz="2800" b="1">
                <a:solidFill>
                  <a:srgbClr val="F5F5F0"/>
                </a:solidFill>
                <a:latin typeface="Cambria"/>
              </a:rPr>
              <a:t>The herd has crossed. The builds are green. The watering hole is quiet.</a:t>
            </a:r>
            <a:endParaRPr lang="en-US" sz="3000" dirty="0"/>
          </a:p>
          <a:p>
            <a:pPr algn="ctr">
              <a:spcBef>
                <a:spcPts val="1400"/>
              </a:spcBef>
            </a:pPr>
            <a:r>
              <a:rPr sz="2800" b="1">
                <a:solidFill>
                  <a:srgbClr val="F5F5F0"/>
                </a:solidFill>
                <a:latin typeface="Cambria"/>
              </a:rPr>
              <a:t>On the far bank, one pipeline still runs every Tuesday at 3 a.m. — triggered by nothing, owned by no one.</a:t>
            </a:r>
          </a:p>
          <a:p>
            <a:pPr algn="ctr">
              <a:spcBef>
                <a:spcPts val="1400"/>
              </a:spcBef>
            </a:pPr>
            <a:r>
              <a:rPr sz="2800" b="1">
                <a:solidFill>
                  <a:srgbClr val="F5F5F0"/>
                </a:solidFill>
                <a:latin typeface="Cambria"/>
              </a:rPr>
              <a:t>Nobody told it the herd had moved.</a:t>
            </a:r>
          </a:p>
        </p:txBody>
      </p:sp>
      <p:sp>
        <p:nvSpPr>
          <p:cNvPr id="5" name="Text 3"/>
          <p:cNvSpPr txBox="1"/>
          <p:nvPr/>
        </p:nvSpPr>
        <p:spPr>
          <a:xfrm>
            <a:off x="548640" y="5989320"/>
            <a:ext cx="11064240" cy="411480"/>
          </a:xfrm>
          <a:prstGeom prst="rect">
            <a:avLst/>
          </a:prstGeom>
          <a:noFill/>
          <a:ln/>
        </p:spPr>
        <p:txBody>
          <a:bodyPr wrap="square" lIns="0" tIns="0" rIns="0" bIns="0" rtlCol="0" anchor="ctr"/>
          <a:lstStyle/>
          <a:p>
            <a:pPr marL="0" indent="0" algn="ctr">
              <a:buNone/>
            </a:pPr>
            <a:r>
              <a:rPr sz="1300">
                <a:solidFill>
                  <a:srgbClr val="8C6A3F"/>
                </a:solidFill>
                <a:latin typeface="Calibri"/>
              </a:rPr>
              <a:t>— CLOSING NARRATION, FROM THE FAR BANK</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0"/>
          </a:xfrm>
          <a:prstGeom prst="rect">
            <a:avLst/>
          </a:prstGeom>
          <a:solidFill>
            <a:srgbClr val="1F3D2C"/>
          </a:solidFill>
          <a:ln/>
        </p:spPr>
        <p:txBody>
          <a:bodyPr/>
          <a:lstStyle/>
          <a:p>
            <a:endParaRPr lang="en-US"/>
          </a:p>
        </p:txBody>
      </p:sp>
      <p:sp>
        <p:nvSpPr>
          <p:cNvPr id="3" name="Text 1"/>
          <p:cNvSpPr txBox="1"/>
          <p:nvPr/>
        </p:nvSpPr>
        <p:spPr>
          <a:xfrm>
            <a:off x="777240" y="1783080"/>
            <a:ext cx="6035040" cy="1051560"/>
          </a:xfrm>
          <a:prstGeom prst="rect">
            <a:avLst/>
          </a:prstGeom>
          <a:noFill/>
          <a:ln/>
        </p:spPr>
        <p:txBody>
          <a:bodyPr wrap="square" lIns="0" tIns="0" rIns="0" bIns="0" rtlCol="0" anchor="ctr"/>
          <a:lstStyle/>
          <a:p>
            <a:pPr marL="0" indent="0" algn="l">
              <a:buNone/>
            </a:pPr>
            <a:r>
              <a:rPr sz="5400" b="1">
                <a:solidFill>
                  <a:srgbClr val="1F3D2C"/>
                </a:solidFill>
                <a:latin typeface="Cambria"/>
              </a:rPr>
              <a:t>Thank You</a:t>
            </a:r>
            <a:endParaRPr lang="en-US" sz="5400" dirty="0"/>
          </a:p>
        </p:txBody>
      </p:sp>
      <p:sp>
        <p:nvSpPr>
          <p:cNvPr id="4" name="Text 2"/>
          <p:cNvSpPr txBox="1"/>
          <p:nvPr/>
        </p:nvSpPr>
        <p:spPr>
          <a:xfrm>
            <a:off x="777240" y="2926080"/>
            <a:ext cx="6035040" cy="731520"/>
          </a:xfrm>
          <a:prstGeom prst="rect">
            <a:avLst/>
          </a:prstGeom>
          <a:noFill/>
          <a:ln/>
        </p:spPr>
        <p:txBody>
          <a:bodyPr wrap="square" lIns="0" tIns="0" rIns="0" bIns="0" rtlCol="0" anchor="ctr"/>
          <a:lstStyle/>
          <a:p>
            <a:pPr marL="0" indent="0" algn="l">
              <a:buNone/>
            </a:pPr>
            <a:r>
              <a:rPr sz="1800" b="0">
                <a:solidFill>
                  <a:srgbClr val="6B6B63"/>
                </a:solidFill>
                <a:latin typeface="Calibri"/>
              </a:rPr>
              <a:t>Azure DevOps to GitHub Enterprise: The Great Migration</a:t>
            </a:r>
            <a:endParaRPr lang="en-US" sz="1800" dirty="0"/>
          </a:p>
        </p:txBody>
      </p:sp>
      <p:sp>
        <p:nvSpPr>
          <p:cNvPr id="6" name="Text 4"/>
          <p:cNvSpPr txBox="1"/>
          <p:nvPr/>
        </p:nvSpPr>
        <p:spPr>
          <a:xfrm>
            <a:off x="777240" y="3931920"/>
            <a:ext cx="6035040" cy="411480"/>
          </a:xfrm>
          <a:prstGeom prst="rect">
            <a:avLst/>
          </a:prstGeom>
          <a:noFill/>
          <a:ln/>
        </p:spPr>
        <p:txBody>
          <a:bodyPr wrap="square" lIns="0" tIns="0" rIns="0" bIns="0" rtlCol="0" anchor="ctr"/>
          <a:lstStyle/>
          <a:p>
            <a:pPr marL="0" indent="0" algn="l">
              <a:buNone/>
            </a:pPr>
            <a:r>
              <a:rPr sz="2000" b="1">
                <a:solidFill>
                  <a:srgbClr val="1F3D2C"/>
                </a:solidFill>
                <a:latin typeface="Cambria"/>
              </a:rPr>
              <a:t>Kevin Neumann</a:t>
            </a:r>
            <a:endParaRPr lang="en-US" sz="2000" dirty="0"/>
          </a:p>
        </p:txBody>
      </p:sp>
      <p:sp>
        <p:nvSpPr>
          <p:cNvPr id="7" name="Text 5"/>
          <p:cNvSpPr txBox="1"/>
          <p:nvPr/>
        </p:nvSpPr>
        <p:spPr>
          <a:xfrm>
            <a:off x="777240" y="4370832"/>
            <a:ext cx="6035040" cy="365760"/>
          </a:xfrm>
          <a:prstGeom prst="rect">
            <a:avLst/>
          </a:prstGeom>
          <a:noFill/>
          <a:ln/>
        </p:spPr>
        <p:txBody>
          <a:bodyPr wrap="square" lIns="0" tIns="0" rIns="0" bIns="0" rtlCol="0" anchor="ctr"/>
          <a:lstStyle/>
          <a:p>
            <a:pPr marL="0" indent="0" algn="l">
              <a:buNone/>
            </a:pPr>
            <a:r>
              <a:rPr sz="1500" b="0">
                <a:solidFill>
                  <a:srgbClr val="2B2B2B"/>
                </a:solidFill>
                <a:latin typeface="Calibri"/>
              </a:rPr>
              <a:t>kneumann@hunter.com</a:t>
            </a:r>
            <a:endParaRPr lang="en-US" sz="1500" dirty="0"/>
          </a:p>
        </p:txBody>
      </p:sp>
      <p:sp>
        <p:nvSpPr>
          <p:cNvPr id="10" name="Text 7"/>
          <p:cNvSpPr txBox="1"/>
          <p:nvPr/>
        </p:nvSpPr>
        <p:spPr>
          <a:xfrm>
            <a:off x="777240" y="5212080"/>
            <a:ext cx="6035040" cy="411480"/>
          </a:xfrm>
          <a:prstGeom prst="rect">
            <a:avLst/>
          </a:prstGeom>
          <a:noFill/>
          <a:ln/>
        </p:spPr>
        <p:txBody>
          <a:bodyPr wrap="square" lIns="0" tIns="0" rIns="0" bIns="0" rtlCol="0" anchor="ctr"/>
          <a:lstStyle/>
          <a:p>
            <a:pPr marL="0" indent="0" algn="l">
              <a:buNone/>
            </a:pPr>
            <a:r>
              <a:rPr sz="1700" b="0">
                <a:solidFill>
                  <a:srgbClr val="C1440E"/>
                </a:solidFill>
                <a:latin typeface="Calibri"/>
              </a:rPr>
              <a:t>Open floor — questions welcome.</a:t>
            </a:r>
            <a:endParaRPr lang="en-US" sz="1700" dirty="0"/>
          </a:p>
        </p:txBody>
      </p:sp>
      <p:sp>
        <p:nvSpPr>
          <p:cNvPr id="11" name="Rounded Rectangle 10"/>
          <p:cNvSpPr/>
          <p:nvPr/>
        </p:nvSpPr>
        <p:spPr>
          <a:xfrm>
            <a:off x="7360920" y="1783080"/>
            <a:ext cx="4297680" cy="4206240"/>
          </a:xfrm>
          <a:prstGeom prst="roundRect">
            <a:avLst>
              <a:gd name="adj" fmla="val 4000"/>
            </a:avLst>
          </a:prstGeom>
          <a:solidFill>
            <a:srgbClr val="F7F6F2"/>
          </a:solidFill>
          <a:ln>
            <a:noFill/>
          </a:ln>
          <a:effectLst/>
        </p:spPr>
        <p:txBody>
          <a:bodyPr rtlCol="0" anchor="ctr"/>
          <a:lstStyle/>
          <a:p>
            <a:endParaRPr/>
          </a:p>
        </p:txBody>
      </p:sp>
      <p:sp>
        <p:nvSpPr>
          <p:cNvPr id="12" name="TextBox 11"/>
          <p:cNvSpPr txBox="1"/>
          <p:nvPr/>
        </p:nvSpPr>
        <p:spPr>
          <a:xfrm>
            <a:off x="7360920" y="1938528"/>
            <a:ext cx="4297680" cy="292608"/>
          </a:xfrm>
          <a:prstGeom prst="rect">
            <a:avLst/>
          </a:prstGeom>
          <a:noFill/>
        </p:spPr>
        <p:txBody>
          <a:bodyPr wrap="square">
            <a:spAutoFit/>
          </a:bodyPr>
          <a:lstStyle/>
          <a:p>
            <a:pPr algn="ctr"/>
            <a:r>
              <a:rPr sz="1100" b="1">
                <a:solidFill>
                  <a:srgbClr val="C1440E"/>
                </a:solidFill>
                <a:latin typeface="Calibri"/>
              </a:rPr>
              <a:t>EVERYTHING FROM THIS TALK</a:t>
            </a:r>
          </a:p>
        </p:txBody>
      </p:sp>
      <p:pic>
        <p:nvPicPr>
          <p:cNvPr id="9" name="Image 0" descr="/home/claude/pptx-build/assets/qr-section6-thankyou.png"/>
          <p:cNvPicPr>
            <a:picLocks noChangeAspect="1"/>
          </p:cNvPicPr>
          <p:nvPr/>
        </p:nvPicPr>
        <p:blipFill>
          <a:blip r:embed="rId3"/>
          <a:stretch>
            <a:fillRect/>
          </a:stretch>
        </p:blipFill>
        <p:spPr>
          <a:xfrm>
            <a:off x="8458200" y="2304288"/>
            <a:ext cx="2103120" cy="2103120"/>
          </a:xfrm>
          <a:prstGeom prst="rect">
            <a:avLst/>
          </a:prstGeom>
        </p:spPr>
      </p:pic>
      <p:sp>
        <p:nvSpPr>
          <p:cNvPr id="13" name="TextBox 12"/>
          <p:cNvSpPr txBox="1"/>
          <p:nvPr/>
        </p:nvSpPr>
        <p:spPr>
          <a:xfrm>
            <a:off x="7360920" y="4526280"/>
            <a:ext cx="4297680" cy="292608"/>
          </a:xfrm>
          <a:prstGeom prst="rect">
            <a:avLst/>
          </a:prstGeom>
          <a:noFill/>
        </p:spPr>
        <p:txBody>
          <a:bodyPr wrap="square">
            <a:spAutoFit/>
          </a:bodyPr>
          <a:lstStyle/>
          <a:p>
            <a:pPr algn="ctr"/>
            <a:r>
              <a:rPr sz="1200" b="0">
                <a:solidFill>
                  <a:srgbClr val="6B6B63"/>
                </a:solidFill>
                <a:latin typeface="Calibri"/>
              </a:rPr>
              <a:t>neumann1990/Azure_DevOps_To_GitHub</a:t>
            </a:r>
          </a:p>
        </p:txBody>
      </p:sp>
      <p:sp>
        <p:nvSpPr>
          <p:cNvPr id="14" name="TextBox 13"/>
          <p:cNvSpPr txBox="1"/>
          <p:nvPr/>
        </p:nvSpPr>
        <p:spPr>
          <a:xfrm>
            <a:off x="7543800" y="4919472"/>
            <a:ext cx="3931920" cy="960120"/>
          </a:xfrm>
          <a:prstGeom prst="rect">
            <a:avLst/>
          </a:prstGeom>
          <a:noFill/>
        </p:spPr>
        <p:txBody>
          <a:bodyPr wrap="square">
            <a:spAutoFit/>
          </a:bodyPr>
          <a:lstStyle/>
          <a:p>
            <a:pPr algn="ctr"/>
            <a:r>
              <a:rPr sz="1150" b="0">
                <a:solidFill>
                  <a:srgbClr val="2B2B2B"/>
                </a:solidFill>
                <a:latin typeface="Calibri"/>
              </a:rPr>
              <a:t>Azure Pipelines → Actions migration docs</a:t>
            </a:r>
          </a:p>
          <a:p>
            <a:pPr algn="ctr">
              <a:spcBef>
                <a:spcPts val="300"/>
              </a:spcBef>
            </a:pPr>
            <a:r>
              <a:rPr sz="1150" b="0">
                <a:solidFill>
                  <a:srgbClr val="2B2B2B"/>
                </a:solidFill>
                <a:latin typeface="Calibri"/>
              </a:rPr>
              <a:t>gh-ado2gh  ·  gh-actions-importer</a:t>
            </a:r>
          </a:p>
          <a:p>
            <a:pPr algn="ctr">
              <a:spcBef>
                <a:spcPts val="300"/>
              </a:spcBef>
            </a:pPr>
            <a:r>
              <a:rPr sz="1150" b="0">
                <a:solidFill>
                  <a:srgbClr val="2B2B2B"/>
                </a:solidFill>
                <a:latin typeface="Calibri"/>
              </a:rPr>
              <a:t>AI analyze / convert / validate prompts</a:t>
            </a:r>
          </a:p>
          <a:p>
            <a:pPr algn="ctr">
              <a:spcBef>
                <a:spcPts val="300"/>
              </a:spcBef>
            </a:pPr>
            <a:r>
              <a:rPr sz="1150" b="0">
                <a:solidFill>
                  <a:srgbClr val="2B2B2B"/>
                </a:solidFill>
                <a:latin typeface="Calibri"/>
              </a:rPr>
              <a:t>Every note behind this talk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1409</TotalTime>
  <Words>11801</Words>
  <Application>Microsoft Office PowerPoint</Application>
  <PresentationFormat>Widescreen</PresentationFormat>
  <Paragraphs>787</Paragraphs>
  <Slides>56</Slides>
  <Notes>56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Cambria</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to GitHub Enterprise: The Great Migration</dc:title>
  <dc:subject>PptxGenJS Presentation</dc:subject>
  <dc:creator>Kevin Neumann</dc:creator>
  <cp:lastModifiedBy>Neumann, Kevin</cp:lastModifiedBy>
  <cp:revision>13</cp:revision>
  <dcterms:created xsi:type="dcterms:W3CDTF">2026-09-21T19:07:56Z</dcterms:created>
  <dcterms:modified xsi:type="dcterms:W3CDTF">2026-09-27T01:27:55Z</dcterms:modified>
</cp:coreProperties>
</file>