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757" autoAdjust="0"/>
  </p:normalViewPr>
  <p:slideViewPr>
    <p:cSldViewPr snapToGrid="0" snapToObjects="1">
      <p:cViewPr varScale="1">
        <p:scale>
          <a:sx n="75" d="100"/>
          <a:sy n="75" d="100"/>
        </p:scale>
        <p:origin x="9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13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no 'hi, I'm Kevin' throat-clearing. Let the title sit for a beat, then deliver the tagline in the documentary voice (calm, declarative, faintly awed — never winking). That's the only line spoken in that register on this slide; the rest of the intro is normal conference delivery. This sets up the conceit for the whole talk: six section-opener cards plus a closer, all in this voice, everything else played straight.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sponsor-thanks slide — event organizer will tell you if this is required and what logos go here. Placeholder only; swap in real sponsor logos once the summit sends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Walk the six-leg structure quickly — roughly 13–16 min each, ~80 min of content plus small Q&amp;A pockets between sections and one 10-minute Q&amp;A block at the end. </a:t>
            </a:r>
          </a:p>
          <a:p>
            <a:endParaRPr lang="en-US" dirty="0"/>
          </a:p>
          <a:p>
            <a:r>
              <a:rPr lang="en-US" dirty="0"/>
              <a:t>Name the two trails we're not hiking today: GitHub vs. other CI/CD platforms, and Copilot vs. other AI tools — the campsite's already picked, this talk is about the hike, not the map debate. Worth a quick aside that most of this trail generalizes to migrating to other CI/CD platforms too, not just GitHub.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Do not wink at the joke. This is the first of six opener cards plus a closer — it establishes the conceit. Pause after delivering the line before moving to slide 4, where we go straight back to normal delivery.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Name the real reason teams migrate before the polite reasons: AI investment is concentrated on GitHub — Chat, Coding Agent, Autofix, Agentic Code Review, Agent HQ all shipped there first. </a:t>
            </a:r>
          </a:p>
          <a:p>
            <a:endParaRPr lang="en-US" dirty="0"/>
          </a:p>
          <a:p>
            <a:r>
              <a:rPr lang="en-US" dirty="0"/>
              <a:t>Be fair to Microsoft here: Azure DevOps is getting AI features too, just on a slower cadence and a thinner feature set today — don't overstate the gap as 'Azure DevOps has none.' The point isn't that Azure DevOps has nothing, it's that the frontier is on GitHub right now. Sets up the Copilot capability list next and the AI-approach payoff in section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quick pace — this is a list slide, don't over-linger. Five capabilities, all GitHub-only today: Chat, Coding Agent, Autofix, Agentic Code Review, Agent HQ. Mention the Copilot desktop app as the orchestration surface tying them together. QR code on this slide points to the Copilot app docs — first of several QR codes throughout the deck, all pointing at something specific named on that slide, not just a wall of links at the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not 'Azure DevOps is dying' — it has an active Microsoft roadmap through 2026 and beyond. It's a split in purpose: Microsoft's own framing is GitHub for AI-native development, Azure DevOps for enterprise orchestration (Boards, Test Plans, release governance). Land this evenly — sets up the hybrid-pattern slide next, which is the resolution, not a concession.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land this one deliberately — it's the thesis the whole talk hangs on. Three audiences, one pattern: developers move to GitHub and get Copilot + Actions; managers keep Azure Boards, capacity charts, and Power BI exactly as-is; and the budget conversation is easy because GHEC includes free Azure DevOps Basic access. Explicitly reframe: this is the shape the rest of the talk builds toward, not a fallback — section 4 comes back to this exact point on Boards vs. Projects.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quick — these are the reasons that would justify the migration even if AI weren't in the picture at all: ecosystem scale (100M+ developers), a much larger community Actions marketplace versus Azure Pipelines' task catalogue, and the fact that open-source / external contributors are already on GitHub by default. Keep this brief — it's supporting evidence, not the main argument.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on. The real Q&amp;A time is banked for the 10-minute block at the very end.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txBody>
          <a:bodyPr/>
          <a:lstStyle/>
          <a:p>
            <a:endParaRPr lang="en-US"/>
          </a:p>
        </p:txBody>
      </p:sp>
      <p:sp>
        <p:nvSpPr>
          <p:cNvPr id="3" name="Shape 1"/>
          <p:cNvSpPr/>
          <p:nvPr/>
        </p:nvSpPr>
        <p:spPr>
          <a:xfrm>
            <a:off x="0" y="5120640"/>
            <a:ext cx="12191695" cy="1737360"/>
          </a:xfrm>
          <a:prstGeom prst="rect">
            <a:avLst/>
          </a:prstGeom>
          <a:solidFill>
            <a:srgbClr val="142A1D"/>
          </a:solidFill>
          <a:ln/>
        </p:spPr>
        <p:txBody>
          <a:bodyPr/>
          <a:lstStyle/>
          <a:p>
            <a:endParaRPr lang="en-US"/>
          </a:p>
        </p:txBody>
      </p:sp>
      <p:pic>
        <p:nvPicPr>
          <p:cNvPr id="4" name="Image 0" descr="/home/claude/pptx-build/assets/icons/FaCompass-8C6A3F-400.png"/>
          <p:cNvPicPr>
            <a:picLocks noChangeAspect="1"/>
          </p:cNvPicPr>
          <p:nvPr/>
        </p:nvPicPr>
        <p:blipFill>
          <a:blip r:embed="rId3">
            <a:alphaModFix amt="80000"/>
          </a:blip>
          <a:stretch>
            <a:fillRect/>
          </a:stretch>
        </p:blipFill>
        <p:spPr>
          <a:xfrm>
            <a:off x="9601200" y="640080"/>
            <a:ext cx="1920240" cy="1920240"/>
          </a:xfrm>
          <a:prstGeom prst="rect">
            <a:avLst/>
          </a:prstGeom>
        </p:spPr>
      </p:pic>
      <p:sp>
        <p:nvSpPr>
          <p:cNvPr id="5" name="Text 2"/>
          <p:cNvSpPr txBox="1"/>
          <p:nvPr/>
        </p:nvSpPr>
        <p:spPr>
          <a:xfrm>
            <a:off x="640080" y="1828800"/>
            <a:ext cx="10058400" cy="457200"/>
          </a:xfrm>
          <a:prstGeom prst="rect">
            <a:avLst/>
          </a:prstGeom>
          <a:noFill/>
          <a:ln/>
        </p:spPr>
        <p:txBody>
          <a:bodyPr wrap="square" lIns="0" tIns="0" rIns="0" bIns="0" rtlCol="0" anchor="ctr"/>
          <a:lstStyle/>
          <a:p>
            <a:pPr marL="0" indent="0">
              <a:buNone/>
            </a:pPr>
            <a:r>
              <a:rPr lang="en-US" sz="1500" b="1" kern="0" spc="300" dirty="0">
                <a:solidFill>
                  <a:srgbClr val="8C6A3F"/>
                </a:solidFill>
                <a:latin typeface="Calibri" pitchFamily="34" charset="0"/>
                <a:ea typeface="Calibri" pitchFamily="34" charset="-122"/>
                <a:cs typeface="Calibri" pitchFamily="34" charset="-120"/>
              </a:rPr>
              <a:t>AZURE DEVOPS → GITHUB ENTERPRISE</a:t>
            </a:r>
            <a:endParaRPr lang="en-US" sz="1500" dirty="0"/>
          </a:p>
        </p:txBody>
      </p:sp>
      <p:sp>
        <p:nvSpPr>
          <p:cNvPr id="6" name="Text 3"/>
          <p:cNvSpPr txBox="1"/>
          <p:nvPr/>
        </p:nvSpPr>
        <p:spPr>
          <a:xfrm>
            <a:off x="640080" y="2286000"/>
            <a:ext cx="10515600" cy="1463040"/>
          </a:xfrm>
          <a:prstGeom prst="rect">
            <a:avLst/>
          </a:prstGeom>
          <a:noFill/>
          <a:ln/>
        </p:spPr>
        <p:txBody>
          <a:bodyPr wrap="square" lIns="0" tIns="0" rIns="0" bIns="0" rtlCol="0" anchor="ctr"/>
          <a:lstStyle/>
          <a:p>
            <a:pPr marL="0" indent="0">
              <a:buNone/>
            </a:pPr>
            <a:r>
              <a:rPr lang="en-US" sz="5400" b="1" dirty="0">
                <a:solidFill>
                  <a:srgbClr val="F5F5F0"/>
                </a:solidFill>
                <a:latin typeface="Cambria" pitchFamily="34" charset="0"/>
                <a:ea typeface="Cambria" pitchFamily="34" charset="-122"/>
                <a:cs typeface="Cambria" pitchFamily="34" charset="-120"/>
              </a:rPr>
              <a:t>The Great Migration</a:t>
            </a:r>
            <a:endParaRPr lang="en-US" sz="5400" dirty="0"/>
          </a:p>
        </p:txBody>
      </p:sp>
      <p:sp>
        <p:nvSpPr>
          <p:cNvPr id="7" name="Text 4"/>
          <p:cNvSpPr txBox="1"/>
          <p:nvPr/>
        </p:nvSpPr>
        <p:spPr>
          <a:xfrm>
            <a:off x="640080" y="5349240"/>
            <a:ext cx="10058400" cy="822960"/>
          </a:xfrm>
          <a:prstGeom prst="rect">
            <a:avLst/>
          </a:prstGeom>
          <a:noFill/>
          <a:ln/>
        </p:spPr>
        <p:txBody>
          <a:bodyPr wrap="square" lIns="0" tIns="0" rIns="0" bIns="0" rtlCol="0" anchor="ctr"/>
          <a:lstStyle/>
          <a:p>
            <a:pPr marL="0" indent="0">
              <a:buNone/>
            </a:pPr>
            <a:r>
              <a:rPr lang="en-US" sz="2000" i="1" dirty="0">
                <a:solidFill>
                  <a:srgbClr val="8C6A3F"/>
                </a:solidFill>
                <a:latin typeface="Cambria" pitchFamily="34" charset="0"/>
                <a:ea typeface="Cambria" pitchFamily="34" charset="-122"/>
                <a:cs typeface="Cambria" pitchFamily="34" charset="-120"/>
              </a:rPr>
              <a:t>“Observe the DevOps Engineer in their natural habitat.”</a:t>
            </a:r>
            <a:endParaRPr lang="en-US" sz="2000" dirty="0"/>
          </a:p>
        </p:txBody>
      </p:sp>
      <p:sp>
        <p:nvSpPr>
          <p:cNvPr id="8" name="Text 5"/>
          <p:cNvSpPr txBox="1"/>
          <p:nvPr/>
        </p:nvSpPr>
        <p:spPr>
          <a:xfrm>
            <a:off x="640080" y="6126480"/>
            <a:ext cx="10058400" cy="365760"/>
          </a:xfrm>
          <a:prstGeom prst="rect">
            <a:avLst/>
          </a:prstGeom>
          <a:noFill/>
          <a:ln/>
        </p:spPr>
        <p:txBody>
          <a:bodyPr wrap="square" lIns="0" tIns="0" rIns="0" bIns="0" rtlCol="0" anchor="ctr"/>
          <a:lstStyle/>
          <a:p>
            <a:pPr marL="0" indent="0">
              <a:buNone/>
            </a:pPr>
            <a:r>
              <a:rPr lang="en-US" sz="1200" dirty="0">
                <a:solidFill>
                  <a:srgbClr val="F5F5F0"/>
                </a:solidFill>
                <a:latin typeface="Calibri" pitchFamily="34" charset="0"/>
                <a:ea typeface="Calibri" pitchFamily="34" charset="-122"/>
                <a:cs typeface="Calibri" pitchFamily="34" charset="-120"/>
              </a:rPr>
              <a:t>Kevin Neumann  •  Cloud &amp; AI Summit  •  30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0332720" cy="64008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Thank You to Our Sponsors</a:t>
            </a:r>
            <a:endParaRPr lang="en-US" sz="2800" dirty="0"/>
          </a:p>
        </p:txBody>
      </p:sp>
      <p:sp>
        <p:nvSpPr>
          <p:cNvPr id="3" name="Shape 1"/>
          <p:cNvSpPr/>
          <p:nvPr/>
        </p:nvSpPr>
        <p:spPr>
          <a:xfrm>
            <a:off x="548640" y="1645920"/>
            <a:ext cx="11064240" cy="3931920"/>
          </a:xfrm>
          <a:prstGeom prst="roundRect">
            <a:avLst>
              <a:gd name="adj" fmla="val 279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2"/>
          <p:cNvSpPr txBox="1"/>
          <p:nvPr/>
        </p:nvSpPr>
        <p:spPr>
          <a:xfrm>
            <a:off x="914400" y="3291840"/>
            <a:ext cx="10332720" cy="548640"/>
          </a:xfrm>
          <a:prstGeom prst="rect">
            <a:avLst/>
          </a:prstGeom>
          <a:noFill/>
          <a:ln/>
        </p:spPr>
        <p:txBody>
          <a:bodyPr wrap="square" lIns="0" tIns="0" rIns="0" bIns="0" rtlCol="0" anchor="ctr"/>
          <a:lstStyle/>
          <a:p>
            <a:pPr marL="0" indent="0" algn="ctr">
              <a:buNone/>
            </a:pPr>
            <a:r>
              <a:rPr lang="en-US" sz="1600" i="1" dirty="0">
                <a:solidFill>
                  <a:srgbClr val="6B6B63"/>
                </a:solidFill>
                <a:latin typeface="Calibri" pitchFamily="34" charset="0"/>
                <a:ea typeface="Calibri" pitchFamily="34" charset="-122"/>
                <a:cs typeface="Calibri" pitchFamily="34" charset="-120"/>
              </a:rPr>
              <a:t>[PLACEHOLDER — drop in actual sponsor logos before the talk]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AGENDA</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Six Legs of the Expedition</a:t>
            </a:r>
            <a:endParaRPr lang="en-US" sz="2800" dirty="0"/>
          </a:p>
        </p:txBody>
      </p:sp>
      <p:sp>
        <p:nvSpPr>
          <p:cNvPr id="6" name="Shape 3"/>
          <p:cNvSpPr/>
          <p:nvPr/>
        </p:nvSpPr>
        <p:spPr>
          <a:xfrm>
            <a:off x="548640" y="1600200"/>
            <a:ext cx="6675120" cy="4297680"/>
          </a:xfrm>
          <a:prstGeom prst="roundRect">
            <a:avLst>
              <a:gd name="adj" fmla="val 25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1325880" y="1828800"/>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Why Leave the Herd — the case for migrating</a:t>
            </a:r>
            <a:endParaRPr lang="en-US" sz="1600" dirty="0"/>
          </a:p>
        </p:txBody>
      </p:sp>
      <p:sp>
        <p:nvSpPr>
          <p:cNvPr id="9" name="Text 6"/>
          <p:cNvSpPr txBox="1"/>
          <p:nvPr/>
        </p:nvSpPr>
        <p:spPr>
          <a:xfrm>
            <a:off x="822960" y="2487168"/>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1325880" y="2487168"/>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 Field Guide to the Local Species — what travels clean</a:t>
            </a:r>
            <a:endParaRPr lang="en-US" sz="1600" dirty="0"/>
          </a:p>
        </p:txBody>
      </p:sp>
      <p:sp>
        <p:nvSpPr>
          <p:cNvPr id="11" name="Text 8"/>
          <p:cNvSpPr txBox="1"/>
          <p:nvPr/>
        </p:nvSpPr>
        <p:spPr>
          <a:xfrm>
            <a:off x="822960" y="3145536"/>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3</a:t>
            </a:r>
            <a:endParaRPr lang="en-US" sz="2000" dirty="0"/>
          </a:p>
        </p:txBody>
      </p:sp>
      <p:sp>
        <p:nvSpPr>
          <p:cNvPr id="12" name="Text 9"/>
          <p:cNvSpPr txBox="1"/>
          <p:nvPr/>
        </p:nvSpPr>
        <p:spPr>
          <a:xfrm>
            <a:off x="1325880" y="3145536"/>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Crossing the River — bringing repos and pipeline across the divide</a:t>
            </a:r>
            <a:endParaRPr lang="en-US" sz="1600" dirty="0"/>
          </a:p>
        </p:txBody>
      </p:sp>
      <p:sp>
        <p:nvSpPr>
          <p:cNvPr id="13" name="Text 10"/>
          <p:cNvSpPr txBox="1"/>
          <p:nvPr/>
        </p:nvSpPr>
        <p:spPr>
          <a:xfrm>
            <a:off x="822960" y="3803904"/>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4</a:t>
            </a:r>
            <a:endParaRPr lang="en-US" sz="2000" dirty="0"/>
          </a:p>
        </p:txBody>
      </p:sp>
      <p:sp>
        <p:nvSpPr>
          <p:cNvPr id="14" name="Text 11"/>
          <p:cNvSpPr txBox="1"/>
          <p:nvPr/>
        </p:nvSpPr>
        <p:spPr>
          <a:xfrm>
            <a:off x="1325880" y="3803904"/>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Sprint Planning in Its Natural Habitat — Boards vs. Projects</a:t>
            </a:r>
            <a:endParaRPr lang="en-US" sz="1600" dirty="0"/>
          </a:p>
        </p:txBody>
      </p:sp>
      <p:sp>
        <p:nvSpPr>
          <p:cNvPr id="15" name="Text 12"/>
          <p:cNvSpPr txBox="1"/>
          <p:nvPr/>
        </p:nvSpPr>
        <p:spPr>
          <a:xfrm>
            <a:off x="822960" y="4462272"/>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5</a:t>
            </a:r>
            <a:endParaRPr lang="en-US" sz="2000" dirty="0"/>
          </a:p>
        </p:txBody>
      </p:sp>
      <p:sp>
        <p:nvSpPr>
          <p:cNvPr id="16" name="Text 13"/>
          <p:cNvSpPr txBox="1"/>
          <p:nvPr/>
        </p:nvSpPr>
        <p:spPr>
          <a:xfrm>
            <a:off x="1325880" y="4462272"/>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Preventing the Uprising — change management</a:t>
            </a:r>
            <a:endParaRPr lang="en-US" sz="1600" dirty="0"/>
          </a:p>
        </p:txBody>
      </p:sp>
      <p:sp>
        <p:nvSpPr>
          <p:cNvPr id="17" name="Text 14"/>
          <p:cNvSpPr txBox="1"/>
          <p:nvPr/>
        </p:nvSpPr>
        <p:spPr>
          <a:xfrm>
            <a:off x="822960" y="5120640"/>
            <a:ext cx="457200" cy="502920"/>
          </a:xfrm>
          <a:prstGeom prst="rect">
            <a:avLst/>
          </a:prstGeom>
          <a:noFill/>
          <a:ln/>
        </p:spPr>
        <p:txBody>
          <a:bodyPr wrap="square" lIns="0" tIns="0" rIns="0" bIns="0" rtlCol="0" anchor="ctr"/>
          <a:lstStyle/>
          <a:p>
            <a:pPr marL="0" indent="0">
              <a:buNone/>
            </a:pPr>
            <a:r>
              <a:rPr lang="en-US" sz="2000" b="1" dirty="0">
                <a:solidFill>
                  <a:srgbClr val="C1440E"/>
                </a:solidFill>
                <a:latin typeface="Cambria" pitchFamily="34" charset="0"/>
                <a:ea typeface="Cambria" pitchFamily="34" charset="-122"/>
                <a:cs typeface="Cambria" pitchFamily="34" charset="-120"/>
              </a:rPr>
              <a:t>6</a:t>
            </a:r>
            <a:endParaRPr lang="en-US" sz="2000" dirty="0"/>
          </a:p>
        </p:txBody>
      </p:sp>
      <p:sp>
        <p:nvSpPr>
          <p:cNvPr id="18" name="Text 15"/>
          <p:cNvSpPr txBox="1"/>
          <p:nvPr/>
        </p:nvSpPr>
        <p:spPr>
          <a:xfrm>
            <a:off x="1325880" y="5120640"/>
            <a:ext cx="5760720" cy="5486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The Watering Hole Nobody Told to Move — the long tail</a:t>
            </a:r>
            <a:endParaRPr lang="en-US" sz="1600" dirty="0"/>
          </a:p>
        </p:txBody>
      </p:sp>
      <p:sp>
        <p:nvSpPr>
          <p:cNvPr id="19" name="Shape 16"/>
          <p:cNvSpPr/>
          <p:nvPr/>
        </p:nvSpPr>
        <p:spPr>
          <a:xfrm>
            <a:off x="7452360" y="1600200"/>
            <a:ext cx="4160520" cy="4297680"/>
          </a:xfrm>
          <a:prstGeom prst="roundRect">
            <a:avLst>
              <a:gd name="adj" fmla="val 2637"/>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7"/>
          <p:cNvSpPr txBox="1"/>
          <p:nvPr/>
        </p:nvSpPr>
        <p:spPr>
          <a:xfrm>
            <a:off x="7726680" y="1828800"/>
            <a:ext cx="3657600" cy="457200"/>
          </a:xfrm>
          <a:prstGeom prst="rect">
            <a:avLst/>
          </a:prstGeom>
          <a:noFill/>
          <a:ln/>
        </p:spPr>
        <p:txBody>
          <a:bodyPr wrap="square" lIns="0" tIns="0" rIns="0" bIns="0" rtlCol="0" anchor="ctr"/>
          <a:lstStyle/>
          <a:p>
            <a:pPr marL="0" indent="0" algn="ctr">
              <a:buNone/>
            </a:pPr>
            <a:r>
              <a:rPr lang="en-US" sz="1600" b="1" dirty="0">
                <a:solidFill>
                  <a:srgbClr val="F5F5F0"/>
                </a:solidFill>
                <a:latin typeface="Cambria" pitchFamily="34" charset="0"/>
                <a:ea typeface="Cambria" pitchFamily="34" charset="-122"/>
                <a:cs typeface="Cambria" pitchFamily="34" charset="-120"/>
              </a:rPr>
              <a:t>Trails We’re Not Hiking</a:t>
            </a:r>
            <a:endParaRPr lang="en-US" sz="1600" dirty="0"/>
          </a:p>
        </p:txBody>
      </p:sp>
      <p:sp>
        <p:nvSpPr>
          <p:cNvPr id="21" name="Text 18"/>
          <p:cNvSpPr txBox="1"/>
          <p:nvPr/>
        </p:nvSpPr>
        <p:spPr>
          <a:xfrm>
            <a:off x="7726680" y="2377440"/>
            <a:ext cx="3657600" cy="3383280"/>
          </a:xfrm>
          <a:prstGeom prst="rect">
            <a:avLst/>
          </a:prstGeom>
          <a:noFill/>
          <a:ln/>
        </p:spPr>
        <p:txBody>
          <a:bodyPr wrap="square" lIns="0" tIns="0" rIns="0" bIns="0" rtlCol="0" anchor="ctr"/>
          <a:lstStyle/>
          <a:p>
            <a:pPr marL="342900" indent="-342900">
              <a:buSzPct val="100000"/>
              <a:buChar char="•"/>
            </a:pPr>
            <a:r>
              <a:rPr lang="en-US" sz="1400" b="1" dirty="0">
                <a:solidFill>
                  <a:srgbClr val="F5F5F0"/>
                </a:solidFill>
                <a:latin typeface="Calibri" pitchFamily="34" charset="0"/>
                <a:ea typeface="Calibri" pitchFamily="34" charset="-122"/>
                <a:cs typeface="Calibri" pitchFamily="34" charset="-120"/>
              </a:rPr>
              <a:t>GitHub vs. other CI/CD platforms</a:t>
            </a:r>
            <a:endParaRPr lang="en-US" sz="1400" dirty="0"/>
          </a:p>
          <a:p>
            <a:pPr marL="0" indent="0">
              <a:spcAft>
                <a:spcPts val="1200"/>
              </a:spcAft>
              <a:buNone/>
            </a:pPr>
            <a:r>
              <a:rPr lang="en-US" sz="1400" dirty="0">
                <a:solidFill>
                  <a:srgbClr val="F5F5F0"/>
                </a:solidFill>
                <a:latin typeface="Calibri" pitchFamily="34" charset="0"/>
                <a:ea typeface="Calibri" pitchFamily="34" charset="-122"/>
                <a:cs typeface="Calibri" pitchFamily="34" charset="-120"/>
              </a:rPr>
              <a:t>The campsite is already picked. We’re not relitigating the map.</a:t>
            </a:r>
            <a:endParaRPr lang="en-US" sz="1400" dirty="0"/>
          </a:p>
          <a:p>
            <a:pPr marL="342900" indent="-342900">
              <a:buSzPct val="100000"/>
              <a:buChar char="•"/>
            </a:pPr>
            <a:r>
              <a:rPr lang="en-US" sz="1400" b="1" dirty="0">
                <a:solidFill>
                  <a:srgbClr val="F5F5F0"/>
                </a:solidFill>
                <a:latin typeface="Calibri" pitchFamily="34" charset="0"/>
                <a:ea typeface="Calibri" pitchFamily="34" charset="-122"/>
                <a:cs typeface="Calibri" pitchFamily="34" charset="-120"/>
              </a:rPr>
              <a:t>Copilot vs. other AI tools</a:t>
            </a:r>
            <a:endParaRPr lang="en-US" sz="1400" dirty="0"/>
          </a:p>
          <a:p>
            <a:pPr marL="0" indent="0">
              <a:spcAft>
                <a:spcPts val="1200"/>
              </a:spcAft>
              <a:buNone/>
            </a:pPr>
            <a:r>
              <a:rPr lang="en-US" sz="1400" dirty="0">
                <a:solidFill>
                  <a:srgbClr val="F5F5F0"/>
                </a:solidFill>
                <a:latin typeface="Calibri" pitchFamily="34" charset="0"/>
                <a:ea typeface="Calibri" pitchFamily="34" charset="-122"/>
                <a:cs typeface="Calibri" pitchFamily="34" charset="-120"/>
              </a:rPr>
              <a:t>Same trailhead debate, potentially different gear. Not today’s hike.</a:t>
            </a:r>
            <a:endParaRPr lang="en-US" sz="1400" dirty="0"/>
          </a:p>
          <a:p>
            <a:pPr marL="0" indent="0">
              <a:buNone/>
            </a:pPr>
            <a:r>
              <a:rPr lang="en-US" sz="1400" i="1" dirty="0">
                <a:solidFill>
                  <a:srgbClr val="F5F5F0"/>
                </a:solidFill>
                <a:latin typeface="Calibri" pitchFamily="34" charset="0"/>
                <a:ea typeface="Calibri" pitchFamily="34" charset="-122"/>
                <a:cs typeface="Calibri" pitchFamily="34" charset="-120"/>
              </a:rPr>
              <a:t>Good news for fellow travelers: most of this trail works no matter which CI/CD platform journeying toward.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84048"/>
            <a:ext cx="9144000" cy="457200"/>
          </a:xfrm>
          <a:prstGeom prst="rect">
            <a:avLst/>
          </a:prstGeom>
          <a:noFill/>
          <a:ln/>
        </p:spPr>
        <p:txBody>
          <a:bodyPr wrap="square" lIns="0" tIns="0" rIns="0" bIns="0" rtlCol="0" anchor="ctr"/>
          <a:lstStyle/>
          <a:p>
            <a:pPr marL="0" indent="0">
              <a:buNone/>
            </a:pPr>
            <a:r>
              <a:rPr lang="en-US" sz="1400" b="1" kern="0" spc="300" dirty="0">
                <a:solidFill>
                  <a:srgbClr val="8C6A3F"/>
                </a:solidFill>
                <a:latin typeface="Calibri" pitchFamily="34" charset="0"/>
                <a:ea typeface="Calibri" pitchFamily="34" charset="-122"/>
                <a:cs typeface="Calibri" pitchFamily="34" charset="-120"/>
              </a:rPr>
              <a:t>SECTION 1</a:t>
            </a:r>
            <a:endParaRPr lang="en-US" sz="1400" dirty="0"/>
          </a:p>
        </p:txBody>
      </p:sp>
      <p:pic>
        <p:nvPicPr>
          <p:cNvPr id="4" name="Image 0" descr="/home/claude/pptx-build/assets/icons/FaFeatherAlt-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77440"/>
            <a:ext cx="8778240" cy="1645920"/>
          </a:xfrm>
          <a:prstGeom prst="rect">
            <a:avLst/>
          </a:prstGeom>
          <a:noFill/>
          <a:ln/>
        </p:spPr>
        <p:txBody>
          <a:bodyPr wrap="square" lIns="0" tIns="0" rIns="0" bIns="0" rtlCol="0" anchor="t"/>
          <a:lstStyle/>
          <a:p>
            <a:pPr marL="0" indent="0">
              <a:buNone/>
            </a:pPr>
            <a:r>
              <a:rPr lang="en-US" sz="4000" b="1" dirty="0">
                <a:solidFill>
                  <a:srgbClr val="F5F5F0"/>
                </a:solidFill>
                <a:latin typeface="Cambria" pitchFamily="34" charset="0"/>
                <a:ea typeface="Cambria" pitchFamily="34" charset="-122"/>
                <a:cs typeface="Cambria" pitchFamily="34" charset="-120"/>
              </a:rPr>
              <a:t>Migration Season Has Begun</a:t>
            </a:r>
            <a:endParaRPr lang="en-US" sz="4000" dirty="0"/>
          </a:p>
        </p:txBody>
      </p:sp>
      <p:sp>
        <p:nvSpPr>
          <p:cNvPr id="6" name="Text 3"/>
          <p:cNvSpPr txBox="1"/>
          <p:nvPr/>
        </p:nvSpPr>
        <p:spPr>
          <a:xfrm>
            <a:off x="548640" y="4114800"/>
            <a:ext cx="8778240" cy="1097280"/>
          </a:xfrm>
          <a:prstGeom prst="rect">
            <a:avLst/>
          </a:prstGeom>
          <a:noFill/>
          <a:ln/>
        </p:spPr>
        <p:txBody>
          <a:bodyPr wrap="square" lIns="0" tIns="0" rIns="0" bIns="0" rtlCol="0" anchor="t"/>
          <a:lstStyle/>
          <a:p>
            <a:pPr marL="0" indent="0">
              <a:buNone/>
            </a:pPr>
            <a:r>
              <a:rPr lang="en-US" sz="1600" i="1" dirty="0">
                <a:solidFill>
                  <a:srgbClr val="8C6A3F"/>
                </a:solidFill>
                <a:latin typeface="Calibri" pitchFamily="34" charset="0"/>
                <a:ea typeface="Calibri" pitchFamily="34" charset="-122"/>
                <a:cs typeface="Calibri" pitchFamily="34" charset="-120"/>
              </a:rPr>
              <a:t>Every year, in enterprises across the world, a familiar pattern repeats: teams gather at the edge of a comfortable ecosystem, and one by one, they explore the long journey toward the source of AI.</a:t>
            </a:r>
            <a:endParaRPr lang="en-US" sz="16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000" dirty="0">
                <a:solidFill>
                  <a:srgbClr val="6B6B63"/>
                </a:solidFill>
                <a:latin typeface="Calibri" pitchFamily="34" charset="0"/>
                <a:ea typeface="Calibri" pitchFamily="34" charset="-122"/>
                <a:cs typeface="Calibri" pitchFamily="34" charset="-120"/>
              </a:rPr>
              <a:t>DOCUMENTARY VOICE — SPOKEN LIVE, NOT READ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bo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WHY LEAVE THE HERD</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The Honest Primary Driver</a:t>
            </a:r>
            <a:endParaRPr lang="en-US" sz="2800" dirty="0"/>
          </a:p>
        </p:txBody>
      </p:sp>
      <p:sp>
        <p:nvSpPr>
          <p:cNvPr id="6" name="Shape 3"/>
          <p:cNvSpPr/>
          <p:nvPr/>
        </p:nvSpPr>
        <p:spPr>
          <a:xfrm>
            <a:off x="548640" y="1645920"/>
            <a:ext cx="11064240" cy="2148840"/>
          </a:xfrm>
          <a:prstGeom prst="roundRect">
            <a:avLst>
              <a:gd name="adj" fmla="val 510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1874520"/>
          </a:xfrm>
          <a:prstGeom prst="rect">
            <a:avLst/>
          </a:prstGeom>
          <a:noFill/>
          <a:ln/>
        </p:spPr>
        <p:txBody>
          <a:bodyPr wrap="square" lIns="0" tIns="0" rIns="0" bIns="0" rtlCol="0" anchor="ctr"/>
          <a:lstStyle/>
          <a:p>
            <a:pPr marL="0" indent="0">
              <a:lnSpc>
                <a:spcPct val="125000"/>
              </a:lnSpc>
              <a:buNone/>
            </a:pPr>
            <a:r>
              <a:rPr lang="en-US" sz="1650" dirty="0">
                <a:solidFill>
                  <a:srgbClr val="2B2B2B"/>
                </a:solidFill>
                <a:latin typeface="Calibri" pitchFamily="34" charset="0"/>
                <a:ea typeface="Calibri" pitchFamily="34" charset="-122"/>
                <a:cs typeface="Calibri" pitchFamily="34" charset="-120"/>
              </a:rPr>
              <a:t>Every dollar of Copilot investment — Chat, Coding Agent, Autofix, Agentic Code Review, Agent HQ — </a:t>
            </a:r>
            <a:r>
              <a:rPr lang="en-US" sz="1650" b="1" dirty="0">
                <a:solidFill>
                  <a:srgbClr val="2B2B2B"/>
                </a:solidFill>
                <a:latin typeface="Calibri" pitchFamily="34" charset="0"/>
                <a:ea typeface="Calibri" pitchFamily="34" charset="-122"/>
                <a:cs typeface="Calibri" pitchFamily="34" charset="-120"/>
              </a:rPr>
              <a:t>lands on GitHub first. </a:t>
            </a:r>
            <a:r>
              <a:rPr lang="en-US" sz="1650" dirty="0">
                <a:solidFill>
                  <a:srgbClr val="2B2B2B"/>
                </a:solidFill>
                <a:latin typeface="Calibri" pitchFamily="34" charset="0"/>
                <a:ea typeface="Calibri" pitchFamily="34" charset="-122"/>
                <a:cs typeface="Calibri" pitchFamily="34" charset="-120"/>
              </a:rPr>
              <a:t>Microsoft is bringing AI into Azure DevOps too, but on a slower timeline and with a thinner feature set today — the frontier still lives on GitHub. If AI-assisted development matters to your org at scale, that’s where your repos need to be.</a:t>
            </a:r>
            <a:endParaRPr lang="en-US" sz="1650" dirty="0"/>
          </a:p>
        </p:txBody>
      </p:sp>
      <p:sp>
        <p:nvSpPr>
          <p:cNvPr id="8" name="Shape 5"/>
          <p:cNvSpPr/>
          <p:nvPr/>
        </p:nvSpPr>
        <p:spPr>
          <a:xfrm>
            <a:off x="548640" y="4023360"/>
            <a:ext cx="5349240" cy="1417320"/>
          </a:xfrm>
          <a:prstGeom prst="roundRect">
            <a:avLst>
              <a:gd name="adj" fmla="val 774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160520"/>
            <a:ext cx="4800600" cy="457200"/>
          </a:xfrm>
          <a:prstGeom prst="rect">
            <a:avLst/>
          </a:prstGeom>
          <a:noFill/>
          <a:ln/>
        </p:spPr>
        <p:txBody>
          <a:bodyPr wrap="square" lIns="0" tIns="0" rIns="0" bIns="0" rtlCol="0" anchor="ctr"/>
          <a:lstStyle/>
          <a:p>
            <a:pPr marL="0" indent="0">
              <a:buNone/>
            </a:pPr>
            <a:r>
              <a:rPr lang="en-US" sz="1600" b="1" dirty="0">
                <a:solidFill>
                  <a:srgbClr val="F5F5F0"/>
                </a:solidFill>
                <a:latin typeface="Cambria" pitchFamily="34" charset="0"/>
                <a:ea typeface="Cambria" pitchFamily="34" charset="-122"/>
                <a:cs typeface="Cambria" pitchFamily="34" charset="-120"/>
              </a:rPr>
              <a:t>GitHub</a:t>
            </a:r>
            <a:endParaRPr lang="en-US" sz="1600" dirty="0"/>
          </a:p>
        </p:txBody>
      </p:sp>
      <p:sp>
        <p:nvSpPr>
          <p:cNvPr id="10" name="Text 7"/>
          <p:cNvSpPr txBox="1"/>
          <p:nvPr/>
        </p:nvSpPr>
        <p:spPr>
          <a:xfrm>
            <a:off x="822960" y="4617720"/>
            <a:ext cx="4800600" cy="685800"/>
          </a:xfrm>
          <a:prstGeom prst="rect">
            <a:avLst/>
          </a:prstGeom>
          <a:noFill/>
          <a:ln/>
        </p:spPr>
        <p:txBody>
          <a:bodyPr wrap="square" lIns="0" tIns="0" rIns="0" bIns="0" rtlCol="0" anchor="ctr"/>
          <a:lstStyle/>
          <a:p>
            <a:pPr marL="0" indent="0">
              <a:buNone/>
            </a:pPr>
            <a:r>
              <a:rPr lang="en-US" sz="1300" dirty="0">
                <a:solidFill>
                  <a:srgbClr val="F5F5F0"/>
                </a:solidFill>
                <a:latin typeface="Calibri" pitchFamily="34" charset="0"/>
                <a:ea typeface="Calibri" pitchFamily="34" charset="-122"/>
                <a:cs typeface="Calibri" pitchFamily="34" charset="-120"/>
              </a:rPr>
              <a:t>Full agentic Copilot suite, shipping now</a:t>
            </a:r>
            <a:endParaRPr lang="en-US" sz="1300" dirty="0"/>
          </a:p>
        </p:txBody>
      </p:sp>
      <p:sp>
        <p:nvSpPr>
          <p:cNvPr id="11" name="Shape 8"/>
          <p:cNvSpPr/>
          <p:nvPr/>
        </p:nvSpPr>
        <p:spPr>
          <a:xfrm>
            <a:off x="6172200" y="4023360"/>
            <a:ext cx="5349240" cy="1417320"/>
          </a:xfrm>
          <a:prstGeom prst="roundRect">
            <a:avLst>
              <a:gd name="adj" fmla="val 7742"/>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160520"/>
            <a:ext cx="4800600" cy="45720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Azure DevOps</a:t>
            </a:r>
            <a:endParaRPr lang="en-US" sz="1600" dirty="0"/>
          </a:p>
        </p:txBody>
      </p:sp>
      <p:sp>
        <p:nvSpPr>
          <p:cNvPr id="13" name="Text 10"/>
          <p:cNvSpPr txBox="1"/>
          <p:nvPr/>
        </p:nvSpPr>
        <p:spPr>
          <a:xfrm>
            <a:off x="6446520" y="4617720"/>
            <a:ext cx="4800600" cy="68580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Limited AI features arriving, roadmap still catching up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stUl-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WHY LEAVE THE HERD</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GitHub-Exclusive Copilot Capabilities</a:t>
            </a:r>
            <a:endParaRPr lang="en-US" sz="2800" dirty="0"/>
          </a:p>
        </p:txBody>
      </p:sp>
      <p:sp>
        <p:nvSpPr>
          <p:cNvPr id="6" name="Shape 3"/>
          <p:cNvSpPr/>
          <p:nvPr/>
        </p:nvSpPr>
        <p:spPr>
          <a:xfrm>
            <a:off x="548640" y="1691640"/>
            <a:ext cx="7863840" cy="713232"/>
          </a:xfrm>
          <a:prstGeom prst="roundRect">
            <a:avLst>
              <a:gd name="adj" fmla="val 1538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691640"/>
            <a:ext cx="2377440" cy="713232"/>
          </a:xfrm>
          <a:prstGeom prst="rect">
            <a:avLst/>
          </a:prstGeom>
          <a:noFill/>
          <a:ln/>
        </p:spPr>
        <p:txBody>
          <a:bodyPr wrap="square" lIns="0" tIns="0" rIns="0" bIns="0" rtlCol="0" anchor="ctr"/>
          <a:lstStyle/>
          <a:p>
            <a:pPr marL="0" indent="0">
              <a:buNone/>
            </a:pPr>
            <a:r>
              <a:rPr lang="en-US" sz="1500" b="1" dirty="0">
                <a:solidFill>
                  <a:srgbClr val="1F3D2C"/>
                </a:solidFill>
                <a:latin typeface="Cambria" pitchFamily="34" charset="0"/>
                <a:ea typeface="Cambria" pitchFamily="34" charset="-122"/>
                <a:cs typeface="Cambria" pitchFamily="34" charset="-120"/>
              </a:rPr>
              <a:t>Copilot Chat</a:t>
            </a:r>
            <a:endParaRPr lang="en-US" sz="1500" dirty="0"/>
          </a:p>
        </p:txBody>
      </p:sp>
      <p:sp>
        <p:nvSpPr>
          <p:cNvPr id="8" name="Text 5"/>
          <p:cNvSpPr txBox="1"/>
          <p:nvPr/>
        </p:nvSpPr>
        <p:spPr>
          <a:xfrm>
            <a:off x="3246120" y="1691640"/>
            <a:ext cx="5029200" cy="713232"/>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In-editor and in-repo conversational assistance</a:t>
            </a:r>
            <a:endParaRPr lang="en-US" sz="1250" dirty="0"/>
          </a:p>
        </p:txBody>
      </p:sp>
      <p:sp>
        <p:nvSpPr>
          <p:cNvPr id="9" name="Shape 6"/>
          <p:cNvSpPr/>
          <p:nvPr/>
        </p:nvSpPr>
        <p:spPr>
          <a:xfrm>
            <a:off x="548640" y="2532888"/>
            <a:ext cx="7863840" cy="713232"/>
          </a:xfrm>
          <a:prstGeom prst="roundRect">
            <a:avLst>
              <a:gd name="adj" fmla="val 1538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822960" y="2532888"/>
            <a:ext cx="2377440" cy="713232"/>
          </a:xfrm>
          <a:prstGeom prst="rect">
            <a:avLst/>
          </a:prstGeom>
          <a:noFill/>
          <a:ln/>
        </p:spPr>
        <p:txBody>
          <a:bodyPr wrap="square" lIns="0" tIns="0" rIns="0" bIns="0" rtlCol="0" anchor="ctr"/>
          <a:lstStyle/>
          <a:p>
            <a:pPr marL="0" indent="0">
              <a:buNone/>
            </a:pPr>
            <a:r>
              <a:rPr lang="en-US" sz="1500" b="1" dirty="0">
                <a:solidFill>
                  <a:srgbClr val="1F3D2C"/>
                </a:solidFill>
                <a:latin typeface="Cambria" pitchFamily="34" charset="0"/>
                <a:ea typeface="Cambria" pitchFamily="34" charset="-122"/>
                <a:cs typeface="Cambria" pitchFamily="34" charset="-120"/>
              </a:rPr>
              <a:t>Coding Agent</a:t>
            </a:r>
            <a:endParaRPr lang="en-US" sz="1500" dirty="0"/>
          </a:p>
        </p:txBody>
      </p:sp>
      <p:sp>
        <p:nvSpPr>
          <p:cNvPr id="11" name="Text 8"/>
          <p:cNvSpPr txBox="1"/>
          <p:nvPr/>
        </p:nvSpPr>
        <p:spPr>
          <a:xfrm>
            <a:off x="3246120" y="2532888"/>
            <a:ext cx="5029200" cy="713232"/>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Assigns issues to an autonomous agent that opens a PR</a:t>
            </a:r>
            <a:endParaRPr lang="en-US" sz="1250" dirty="0"/>
          </a:p>
        </p:txBody>
      </p:sp>
      <p:sp>
        <p:nvSpPr>
          <p:cNvPr id="12" name="Shape 9"/>
          <p:cNvSpPr/>
          <p:nvPr/>
        </p:nvSpPr>
        <p:spPr>
          <a:xfrm>
            <a:off x="548640" y="3374136"/>
            <a:ext cx="7863840" cy="713232"/>
          </a:xfrm>
          <a:prstGeom prst="roundRect">
            <a:avLst>
              <a:gd name="adj" fmla="val 1538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22960" y="3374136"/>
            <a:ext cx="2377440" cy="713232"/>
          </a:xfrm>
          <a:prstGeom prst="rect">
            <a:avLst/>
          </a:prstGeom>
          <a:noFill/>
          <a:ln/>
        </p:spPr>
        <p:txBody>
          <a:bodyPr wrap="square" lIns="0" tIns="0" rIns="0" bIns="0" rtlCol="0" anchor="ctr"/>
          <a:lstStyle/>
          <a:p>
            <a:pPr marL="0" indent="0">
              <a:buNone/>
            </a:pPr>
            <a:r>
              <a:rPr lang="en-US" sz="1500" b="1" dirty="0">
                <a:solidFill>
                  <a:srgbClr val="1F3D2C"/>
                </a:solidFill>
                <a:latin typeface="Cambria" pitchFamily="34" charset="0"/>
                <a:ea typeface="Cambria" pitchFamily="34" charset="-122"/>
                <a:cs typeface="Cambria" pitchFamily="34" charset="-120"/>
              </a:rPr>
              <a:t>Autofix</a:t>
            </a:r>
            <a:endParaRPr lang="en-US" sz="1500" dirty="0"/>
          </a:p>
        </p:txBody>
      </p:sp>
      <p:sp>
        <p:nvSpPr>
          <p:cNvPr id="14" name="Text 11"/>
          <p:cNvSpPr txBox="1"/>
          <p:nvPr/>
        </p:nvSpPr>
        <p:spPr>
          <a:xfrm>
            <a:off x="3246120" y="3374136"/>
            <a:ext cx="5029200" cy="713232"/>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Auto-remediates security findings from code scanning</a:t>
            </a:r>
            <a:endParaRPr lang="en-US" sz="1250" dirty="0"/>
          </a:p>
        </p:txBody>
      </p:sp>
      <p:sp>
        <p:nvSpPr>
          <p:cNvPr id="15" name="Shape 12"/>
          <p:cNvSpPr/>
          <p:nvPr/>
        </p:nvSpPr>
        <p:spPr>
          <a:xfrm>
            <a:off x="548640" y="4215384"/>
            <a:ext cx="7863840" cy="713232"/>
          </a:xfrm>
          <a:prstGeom prst="roundRect">
            <a:avLst>
              <a:gd name="adj" fmla="val 1538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822960" y="4215384"/>
            <a:ext cx="2377440" cy="713232"/>
          </a:xfrm>
          <a:prstGeom prst="rect">
            <a:avLst/>
          </a:prstGeom>
          <a:noFill/>
          <a:ln/>
        </p:spPr>
        <p:txBody>
          <a:bodyPr wrap="square" lIns="0" tIns="0" rIns="0" bIns="0" rtlCol="0" anchor="ctr"/>
          <a:lstStyle/>
          <a:p>
            <a:pPr marL="0" indent="0">
              <a:buNone/>
            </a:pPr>
            <a:r>
              <a:rPr lang="en-US" sz="1500" b="1" dirty="0">
                <a:solidFill>
                  <a:srgbClr val="1F3D2C"/>
                </a:solidFill>
                <a:latin typeface="Cambria" pitchFamily="34" charset="0"/>
                <a:ea typeface="Cambria" pitchFamily="34" charset="-122"/>
                <a:cs typeface="Cambria" pitchFamily="34" charset="-120"/>
              </a:rPr>
              <a:t>Agentic Code Review</a:t>
            </a:r>
            <a:endParaRPr lang="en-US" sz="1500" dirty="0"/>
          </a:p>
        </p:txBody>
      </p:sp>
      <p:sp>
        <p:nvSpPr>
          <p:cNvPr id="17" name="Text 14"/>
          <p:cNvSpPr txBox="1"/>
          <p:nvPr/>
        </p:nvSpPr>
        <p:spPr>
          <a:xfrm>
            <a:off x="3246120" y="4215384"/>
            <a:ext cx="5029200" cy="713232"/>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Reviews PRs with repo-aware context</a:t>
            </a:r>
            <a:endParaRPr lang="en-US" sz="1250" dirty="0"/>
          </a:p>
        </p:txBody>
      </p:sp>
      <p:sp>
        <p:nvSpPr>
          <p:cNvPr id="18" name="Shape 15"/>
          <p:cNvSpPr/>
          <p:nvPr/>
        </p:nvSpPr>
        <p:spPr>
          <a:xfrm>
            <a:off x="548640" y="5056632"/>
            <a:ext cx="7863840" cy="713232"/>
          </a:xfrm>
          <a:prstGeom prst="roundRect">
            <a:avLst>
              <a:gd name="adj" fmla="val 1538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6"/>
          <p:cNvSpPr txBox="1"/>
          <p:nvPr/>
        </p:nvSpPr>
        <p:spPr>
          <a:xfrm>
            <a:off x="822960" y="5056632"/>
            <a:ext cx="2377440" cy="713232"/>
          </a:xfrm>
          <a:prstGeom prst="rect">
            <a:avLst/>
          </a:prstGeom>
          <a:noFill/>
          <a:ln/>
        </p:spPr>
        <p:txBody>
          <a:bodyPr wrap="square" lIns="0" tIns="0" rIns="0" bIns="0" rtlCol="0" anchor="ctr"/>
          <a:lstStyle/>
          <a:p>
            <a:pPr marL="0" indent="0">
              <a:buNone/>
            </a:pPr>
            <a:r>
              <a:rPr lang="en-US" sz="1500" b="1" dirty="0">
                <a:solidFill>
                  <a:srgbClr val="1F3D2C"/>
                </a:solidFill>
                <a:latin typeface="Cambria" pitchFamily="34" charset="0"/>
                <a:ea typeface="Cambria" pitchFamily="34" charset="-122"/>
                <a:cs typeface="Cambria" pitchFamily="34" charset="-120"/>
              </a:rPr>
              <a:t>Agent HQ</a:t>
            </a:r>
            <a:endParaRPr lang="en-US" sz="1500" dirty="0"/>
          </a:p>
        </p:txBody>
      </p:sp>
      <p:sp>
        <p:nvSpPr>
          <p:cNvPr id="20" name="Text 17"/>
          <p:cNvSpPr txBox="1"/>
          <p:nvPr/>
        </p:nvSpPr>
        <p:spPr>
          <a:xfrm>
            <a:off x="3246120" y="5056632"/>
            <a:ext cx="5029200" cy="713232"/>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Orchestration surface for multiple agents across a repo</a:t>
            </a:r>
            <a:endParaRPr lang="en-US" sz="1250" dirty="0"/>
          </a:p>
        </p:txBody>
      </p:sp>
      <p:sp>
        <p:nvSpPr>
          <p:cNvPr id="21" name="Shape 18"/>
          <p:cNvSpPr/>
          <p:nvPr/>
        </p:nvSpPr>
        <p:spPr>
          <a:xfrm>
            <a:off x="8686800" y="1691640"/>
            <a:ext cx="2926080" cy="3977640"/>
          </a:xfrm>
          <a:prstGeom prst="roundRect">
            <a:avLst>
              <a:gd name="adj" fmla="val 375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19"/>
          <p:cNvSpPr txBox="1"/>
          <p:nvPr/>
        </p:nvSpPr>
        <p:spPr>
          <a:xfrm>
            <a:off x="8915400" y="1920240"/>
            <a:ext cx="2468880" cy="914400"/>
          </a:xfrm>
          <a:prstGeom prst="rect">
            <a:avLst/>
          </a:prstGeom>
          <a:noFill/>
          <a:ln/>
        </p:spPr>
        <p:txBody>
          <a:bodyPr wrap="square" lIns="0" tIns="0" rIns="0" bIns="0" rtlCol="0" anchor="ctr"/>
          <a:lstStyle/>
          <a:p>
            <a:pPr marL="0" indent="0">
              <a:buNone/>
            </a:pPr>
            <a:r>
              <a:rPr lang="en-US" sz="1200" dirty="0">
                <a:solidFill>
                  <a:srgbClr val="F5F5F0"/>
                </a:solidFill>
                <a:latin typeface="Calibri" pitchFamily="34" charset="0"/>
                <a:ea typeface="Calibri" pitchFamily="34" charset="-122"/>
                <a:cs typeface="Calibri" pitchFamily="34" charset="-120"/>
              </a:rPr>
              <a:t>Plus: the Copilot desktop app as the agent-orchestration surface.</a:t>
            </a:r>
            <a:endParaRPr lang="en-US" sz="1200" dirty="0"/>
          </a:p>
        </p:txBody>
      </p:sp>
      <p:sp>
        <p:nvSpPr>
          <p:cNvPr id="23" name="Shape 20"/>
          <p:cNvSpPr/>
          <p:nvPr/>
        </p:nvSpPr>
        <p:spPr>
          <a:xfrm>
            <a:off x="9390888" y="2944368"/>
            <a:ext cx="1517904" cy="1517904"/>
          </a:xfrm>
          <a:prstGeom prst="roundRect">
            <a:avLst>
              <a:gd name="adj" fmla="val 3614"/>
            </a:avLst>
          </a:prstGeom>
          <a:solidFill>
            <a:srgbClr val="FFFFFF"/>
          </a:solidFill>
          <a:ln w="15875">
            <a:solidFill>
              <a:srgbClr val="1F3D2C"/>
            </a:solidFill>
            <a:prstDash val="solid"/>
          </a:ln>
        </p:spPr>
        <p:txBody>
          <a:bodyPr/>
          <a:lstStyle/>
          <a:p>
            <a:endParaRPr lang="en-US"/>
          </a:p>
        </p:txBody>
      </p:sp>
      <p:pic>
        <p:nvPicPr>
          <p:cNvPr id="24" name="Image 1" descr="/home/claude/pptx-build/assets/qr-sec1-copilot-app.png"/>
          <p:cNvPicPr>
            <a:picLocks noChangeAspect="1"/>
          </p:cNvPicPr>
          <p:nvPr/>
        </p:nvPicPr>
        <p:blipFill>
          <a:blip r:embed="rId4"/>
          <a:stretch>
            <a:fillRect/>
          </a:stretch>
        </p:blipFill>
        <p:spPr>
          <a:xfrm>
            <a:off x="9464040" y="3017520"/>
            <a:ext cx="1371600" cy="1371600"/>
          </a:xfrm>
          <a:prstGeom prst="rect">
            <a:avLst/>
          </a:prstGeom>
        </p:spPr>
      </p:pic>
      <p:sp>
        <p:nvSpPr>
          <p:cNvPr id="25" name="Text 21"/>
          <p:cNvSpPr txBox="1"/>
          <p:nvPr/>
        </p:nvSpPr>
        <p:spPr>
          <a:xfrm>
            <a:off x="9189720" y="4498848"/>
            <a:ext cx="1920240" cy="457200"/>
          </a:xfrm>
          <a:prstGeom prst="rect">
            <a:avLst/>
          </a:prstGeom>
          <a:noFill/>
          <a:ln/>
        </p:spPr>
        <p:txBody>
          <a:bodyPr wrap="square" lIns="0" tIns="0" rIns="0" bIns="0" rtlCol="0" anchor="ctr"/>
          <a:lstStyle/>
          <a:p>
            <a:pPr marL="0" indent="0" algn="ctr">
              <a:buNone/>
            </a:pPr>
            <a:r>
              <a:rPr lang="en-US" sz="900" dirty="0">
                <a:solidFill>
                  <a:srgbClr val="6B6B63"/>
                </a:solidFill>
                <a:latin typeface="Calibri" pitchFamily="34" charset="0"/>
                <a:ea typeface="Calibri" pitchFamily="34" charset="-122"/>
                <a:cs typeface="Calibri" pitchFamily="34" charset="-120"/>
              </a:rPr>
              <a:t>Copilot app docs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odeBranch-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WHY LEAVE THE HERD</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A Split in Purpose, Not a Replacement</a:t>
            </a:r>
            <a:endParaRPr lang="en-US" sz="2800" dirty="0"/>
          </a:p>
        </p:txBody>
      </p:sp>
      <p:sp>
        <p:nvSpPr>
          <p:cNvPr id="6" name="Shape 3"/>
          <p:cNvSpPr/>
          <p:nvPr/>
        </p:nvSpPr>
        <p:spPr>
          <a:xfrm>
            <a:off x="548640" y="1691640"/>
            <a:ext cx="5349240" cy="3977640"/>
          </a:xfrm>
          <a:prstGeom prst="roundRect">
            <a:avLst>
              <a:gd name="adj" fmla="val 275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74520"/>
            <a:ext cx="475488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GitHub</a:t>
            </a:r>
            <a:endParaRPr lang="en-US" sz="2000" dirty="0"/>
          </a:p>
        </p:txBody>
      </p:sp>
      <p:sp>
        <p:nvSpPr>
          <p:cNvPr id="8" name="Text 5"/>
          <p:cNvSpPr txBox="1"/>
          <p:nvPr/>
        </p:nvSpPr>
        <p:spPr>
          <a:xfrm>
            <a:off x="822960" y="2331720"/>
            <a:ext cx="4754880" cy="365760"/>
          </a:xfrm>
          <a:prstGeom prst="rect">
            <a:avLst/>
          </a:prstGeom>
          <a:noFill/>
          <a:ln/>
        </p:spPr>
        <p:txBody>
          <a:bodyPr wrap="square" lIns="0" tIns="0" rIns="0" bIns="0" rtlCol="0" anchor="ctr"/>
          <a:lstStyle/>
          <a:p>
            <a:pPr marL="0" indent="0">
              <a:buNone/>
            </a:pPr>
            <a:r>
              <a:rPr lang="en-US" sz="1600" b="1" i="1" dirty="0">
                <a:solidFill>
                  <a:srgbClr val="C1440E"/>
                </a:solidFill>
                <a:latin typeface="Calibri" pitchFamily="34" charset="0"/>
                <a:ea typeface="Calibri" pitchFamily="34" charset="-122"/>
                <a:cs typeface="Calibri" pitchFamily="34" charset="-120"/>
              </a:rPr>
              <a:t>AI-native development</a:t>
            </a:r>
            <a:endParaRPr lang="en-US" sz="1600" dirty="0"/>
          </a:p>
        </p:txBody>
      </p:sp>
      <p:sp>
        <p:nvSpPr>
          <p:cNvPr id="9" name="Text 6"/>
          <p:cNvSpPr txBox="1"/>
          <p:nvPr/>
        </p:nvSpPr>
        <p:spPr>
          <a:xfrm>
            <a:off x="822960" y="2834640"/>
            <a:ext cx="4754880" cy="2651760"/>
          </a:xfrm>
          <a:prstGeom prst="rect">
            <a:avLst/>
          </a:prstGeom>
          <a:noFill/>
          <a:ln/>
        </p:spPr>
        <p:txBody>
          <a:bodyPr wrap="square" lIns="0" tIns="0" rIns="0" bIns="0" rtlCol="0" anchor="ctr"/>
          <a:lstStyle/>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Copilot Chat, Coding Agent, Autofix, Agentic Code Review, Agent HQ</a:t>
            </a:r>
            <a:endParaRPr lang="en-US" sz="1600" dirty="0"/>
          </a:p>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100M+ developers already there</a:t>
            </a:r>
            <a:endParaRPr lang="en-US" sz="1600" dirty="0"/>
          </a:p>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20,000+ community Actions</a:t>
            </a:r>
            <a:endParaRPr lang="en-US" sz="1600" dirty="0"/>
          </a:p>
        </p:txBody>
      </p:sp>
      <p:sp>
        <p:nvSpPr>
          <p:cNvPr id="10" name="Shape 7"/>
          <p:cNvSpPr/>
          <p:nvPr/>
        </p:nvSpPr>
        <p:spPr>
          <a:xfrm>
            <a:off x="6263640" y="1691640"/>
            <a:ext cx="5349240" cy="3977640"/>
          </a:xfrm>
          <a:prstGeom prst="roundRect">
            <a:avLst>
              <a:gd name="adj" fmla="val 275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sz="1600"/>
          </a:p>
        </p:txBody>
      </p:sp>
      <p:sp>
        <p:nvSpPr>
          <p:cNvPr id="11" name="Text 8"/>
          <p:cNvSpPr txBox="1"/>
          <p:nvPr/>
        </p:nvSpPr>
        <p:spPr>
          <a:xfrm>
            <a:off x="6537960" y="1874520"/>
            <a:ext cx="475488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Azure DevOps</a:t>
            </a:r>
            <a:endParaRPr lang="en-US" sz="2000" dirty="0"/>
          </a:p>
        </p:txBody>
      </p:sp>
      <p:sp>
        <p:nvSpPr>
          <p:cNvPr id="12" name="Text 9"/>
          <p:cNvSpPr txBox="1"/>
          <p:nvPr/>
        </p:nvSpPr>
        <p:spPr>
          <a:xfrm>
            <a:off x="6537960" y="2331720"/>
            <a:ext cx="4754880" cy="365760"/>
          </a:xfrm>
          <a:prstGeom prst="rect">
            <a:avLst/>
          </a:prstGeom>
          <a:noFill/>
          <a:ln/>
        </p:spPr>
        <p:txBody>
          <a:bodyPr wrap="square" lIns="0" tIns="0" rIns="0" bIns="0" rtlCol="0" anchor="ctr"/>
          <a:lstStyle/>
          <a:p>
            <a:pPr marL="0" indent="0">
              <a:buNone/>
            </a:pPr>
            <a:r>
              <a:rPr lang="en-US" sz="1600" b="1" i="1" dirty="0">
                <a:solidFill>
                  <a:srgbClr val="C1440E"/>
                </a:solidFill>
                <a:latin typeface="Calibri" pitchFamily="34" charset="0"/>
                <a:ea typeface="Calibri" pitchFamily="34" charset="-122"/>
                <a:cs typeface="Calibri" pitchFamily="34" charset="-120"/>
              </a:rPr>
              <a:t>Enterprise orchestration</a:t>
            </a:r>
            <a:endParaRPr lang="en-US" sz="1600" dirty="0"/>
          </a:p>
        </p:txBody>
      </p:sp>
      <p:sp>
        <p:nvSpPr>
          <p:cNvPr id="13" name="Text 10"/>
          <p:cNvSpPr txBox="1"/>
          <p:nvPr/>
        </p:nvSpPr>
        <p:spPr>
          <a:xfrm>
            <a:off x="6537960" y="2834640"/>
            <a:ext cx="4754880" cy="2651760"/>
          </a:xfrm>
          <a:prstGeom prst="rect">
            <a:avLst/>
          </a:prstGeom>
          <a:noFill/>
          <a:ln/>
        </p:spPr>
        <p:txBody>
          <a:bodyPr wrap="square" lIns="0" tIns="0" rIns="0" bIns="0" rtlCol="0" anchor="ctr"/>
          <a:lstStyle/>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Boards, Test Plans, release governance</a:t>
            </a:r>
            <a:endParaRPr lang="en-US" sz="1600" dirty="0"/>
          </a:p>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Active Microsoft roadmap through 2026+</a:t>
            </a:r>
            <a:endParaRPr lang="en-US" sz="1600" dirty="0"/>
          </a:p>
          <a:p>
            <a:pPr marL="342900" indent="-342900">
              <a:buSzPct val="100000"/>
              <a:buChar char="•"/>
            </a:pPr>
            <a:r>
              <a:rPr lang="en-US" sz="1600" dirty="0">
                <a:solidFill>
                  <a:srgbClr val="2B2B2B"/>
                </a:solidFill>
                <a:latin typeface="Calibri" pitchFamily="34" charset="0"/>
                <a:ea typeface="Calibri" pitchFamily="34" charset="-122"/>
                <a:cs typeface="Calibri" pitchFamily="34" charset="-120"/>
              </a:rPr>
              <a:t>Deep fit for regulated, multi-team portfolios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WHY LEAVE THE HERD</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The Hybrid Pattern</a:t>
            </a:r>
            <a:endParaRPr lang="en-US" sz="2800" dirty="0"/>
          </a:p>
        </p:txBody>
      </p:sp>
      <p:sp>
        <p:nvSpPr>
          <p:cNvPr id="6" name="Text 3"/>
          <p:cNvSpPr txBox="1"/>
          <p:nvPr/>
        </p:nvSpPr>
        <p:spPr>
          <a:xfrm>
            <a:off x="548640" y="1554480"/>
            <a:ext cx="1106424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Move source code to GitHub. Keep Azure Boards for planning.</a:t>
            </a:r>
            <a:endParaRPr lang="en-US" sz="1900" dirty="0"/>
          </a:p>
        </p:txBody>
      </p:sp>
      <p:sp>
        <p:nvSpPr>
          <p:cNvPr id="7" name="Shape 4"/>
          <p:cNvSpPr/>
          <p:nvPr/>
        </p:nvSpPr>
        <p:spPr>
          <a:xfrm>
            <a:off x="548640" y="21488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822960" y="2377440"/>
            <a:ext cx="566928" cy="566928"/>
          </a:xfrm>
          <a:prstGeom prst="ellipse">
            <a:avLst/>
          </a:prstGeom>
          <a:solidFill>
            <a:srgbClr val="C1440E"/>
          </a:solidFill>
          <a:ln/>
        </p:spPr>
        <p:txBody>
          <a:bodyPr/>
          <a:lstStyle/>
          <a:p>
            <a:endParaRPr lang="en-US"/>
          </a:p>
        </p:txBody>
      </p:sp>
      <p:pic>
        <p:nvPicPr>
          <p:cNvPr id="9" name="Image 1" descr="/home/claude/pptx-build/assets/icons/FaLaptopCode-FFFFFF-200.png"/>
          <p:cNvPicPr>
            <a:picLocks noChangeAspect="1"/>
          </p:cNvPicPr>
          <p:nvPr/>
        </p:nvPicPr>
        <p:blipFill>
          <a:blip r:embed="rId4"/>
          <a:stretch>
            <a:fillRect/>
          </a:stretch>
        </p:blipFill>
        <p:spPr>
          <a:xfrm>
            <a:off x="960120" y="2514600"/>
            <a:ext cx="292608" cy="292608"/>
          </a:xfrm>
          <a:prstGeom prst="rect">
            <a:avLst/>
          </a:prstGeom>
        </p:spPr>
      </p:pic>
      <p:sp>
        <p:nvSpPr>
          <p:cNvPr id="10" name="Text 6"/>
          <p:cNvSpPr txBox="1"/>
          <p:nvPr/>
        </p:nvSpPr>
        <p:spPr>
          <a:xfrm>
            <a:off x="822960" y="3063240"/>
            <a:ext cx="2880360" cy="4114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Developers</a:t>
            </a:r>
            <a:endParaRPr lang="en-US" sz="1600" dirty="0"/>
          </a:p>
        </p:txBody>
      </p:sp>
      <p:sp>
        <p:nvSpPr>
          <p:cNvPr id="11" name="Text 7"/>
          <p:cNvSpPr txBox="1"/>
          <p:nvPr/>
        </p:nvSpPr>
        <p:spPr>
          <a:xfrm>
            <a:off x="822960" y="3520440"/>
            <a:ext cx="2880360" cy="16916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Move to GitHub, get Copilot + Actions — working where the AI already lives.</a:t>
            </a:r>
            <a:endParaRPr lang="en-US" sz="1400" dirty="0"/>
          </a:p>
        </p:txBody>
      </p:sp>
      <p:sp>
        <p:nvSpPr>
          <p:cNvPr id="12" name="Shape 8"/>
          <p:cNvSpPr/>
          <p:nvPr/>
        </p:nvSpPr>
        <p:spPr>
          <a:xfrm>
            <a:off x="4251960" y="21488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9"/>
          <p:cNvSpPr/>
          <p:nvPr/>
        </p:nvSpPr>
        <p:spPr>
          <a:xfrm>
            <a:off x="4526280" y="2377440"/>
            <a:ext cx="566928" cy="566928"/>
          </a:xfrm>
          <a:prstGeom prst="ellipse">
            <a:avLst/>
          </a:prstGeom>
          <a:solidFill>
            <a:srgbClr val="C1440E"/>
          </a:solidFill>
          <a:ln/>
        </p:spPr>
        <p:txBody>
          <a:bodyPr/>
          <a:lstStyle/>
          <a:p>
            <a:endParaRPr lang="en-US"/>
          </a:p>
        </p:txBody>
      </p:sp>
      <p:pic>
        <p:nvPicPr>
          <p:cNvPr id="14" name="Image 2" descr="/home/claude/pptx-build/assets/icons/FaChartLine-FFFFFF-200.png"/>
          <p:cNvPicPr>
            <a:picLocks noChangeAspect="1"/>
          </p:cNvPicPr>
          <p:nvPr/>
        </p:nvPicPr>
        <p:blipFill>
          <a:blip r:embed="rId5"/>
          <a:stretch>
            <a:fillRect/>
          </a:stretch>
        </p:blipFill>
        <p:spPr>
          <a:xfrm>
            <a:off x="4663440" y="2514600"/>
            <a:ext cx="292608" cy="292608"/>
          </a:xfrm>
          <a:prstGeom prst="rect">
            <a:avLst/>
          </a:prstGeom>
        </p:spPr>
      </p:pic>
      <p:sp>
        <p:nvSpPr>
          <p:cNvPr id="15" name="Text 10"/>
          <p:cNvSpPr txBox="1"/>
          <p:nvPr/>
        </p:nvSpPr>
        <p:spPr>
          <a:xfrm>
            <a:off x="4526280" y="3063240"/>
            <a:ext cx="2880360" cy="4114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Managers</a:t>
            </a:r>
            <a:endParaRPr lang="en-US" sz="1600" dirty="0"/>
          </a:p>
        </p:txBody>
      </p:sp>
      <p:sp>
        <p:nvSpPr>
          <p:cNvPr id="16" name="Text 11"/>
          <p:cNvSpPr txBox="1"/>
          <p:nvPr/>
        </p:nvSpPr>
        <p:spPr>
          <a:xfrm>
            <a:off x="4526280" y="3520440"/>
            <a:ext cx="2880360" cy="16916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Keep Azure Boards — sprint hub, capacity charts, and Power BI reporting stay exactly where they are.</a:t>
            </a:r>
            <a:endParaRPr lang="en-US" sz="1400" dirty="0"/>
          </a:p>
        </p:txBody>
      </p:sp>
      <p:sp>
        <p:nvSpPr>
          <p:cNvPr id="17" name="Shape 12"/>
          <p:cNvSpPr/>
          <p:nvPr/>
        </p:nvSpPr>
        <p:spPr>
          <a:xfrm>
            <a:off x="7955280" y="21488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8" name="Shape 13"/>
          <p:cNvSpPr/>
          <p:nvPr/>
        </p:nvSpPr>
        <p:spPr>
          <a:xfrm>
            <a:off x="8229600" y="2377440"/>
            <a:ext cx="566928" cy="566928"/>
          </a:xfrm>
          <a:prstGeom prst="ellipse">
            <a:avLst/>
          </a:prstGeom>
          <a:solidFill>
            <a:srgbClr val="C1440E"/>
          </a:solidFill>
          <a:ln/>
        </p:spPr>
        <p:txBody>
          <a:bodyPr/>
          <a:lstStyle/>
          <a:p>
            <a:endParaRPr lang="en-US"/>
          </a:p>
        </p:txBody>
      </p:sp>
      <p:pic>
        <p:nvPicPr>
          <p:cNvPr id="19" name="Image 3" descr="/home/claude/pptx-build/assets/icons/FaCoins-FFFFFF-200.png"/>
          <p:cNvPicPr>
            <a:picLocks noChangeAspect="1"/>
          </p:cNvPicPr>
          <p:nvPr/>
        </p:nvPicPr>
        <p:blipFill>
          <a:blip r:embed="rId6"/>
          <a:stretch>
            <a:fillRect/>
          </a:stretch>
        </p:blipFill>
        <p:spPr>
          <a:xfrm>
            <a:off x="8366760" y="2514600"/>
            <a:ext cx="292608" cy="292608"/>
          </a:xfrm>
          <a:prstGeom prst="rect">
            <a:avLst/>
          </a:prstGeom>
        </p:spPr>
      </p:pic>
      <p:sp>
        <p:nvSpPr>
          <p:cNvPr id="20" name="Text 14"/>
          <p:cNvSpPr txBox="1"/>
          <p:nvPr/>
        </p:nvSpPr>
        <p:spPr>
          <a:xfrm>
            <a:off x="8229600" y="3063240"/>
            <a:ext cx="2880360" cy="4114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Budget</a:t>
            </a:r>
            <a:endParaRPr lang="en-US" sz="1600" dirty="0"/>
          </a:p>
        </p:txBody>
      </p:sp>
      <p:sp>
        <p:nvSpPr>
          <p:cNvPr id="21" name="Text 15"/>
          <p:cNvSpPr txBox="1"/>
          <p:nvPr/>
        </p:nvSpPr>
        <p:spPr>
          <a:xfrm>
            <a:off x="8229600" y="3520440"/>
            <a:ext cx="2880360" cy="16916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GHEC includes free Azure DevOps Basic access — the hybrid costs nothing extra to start.</a:t>
            </a:r>
            <a:endParaRPr lang="en-US" sz="1400" dirty="0"/>
          </a:p>
        </p:txBody>
      </p:sp>
      <p:sp>
        <p:nvSpPr>
          <p:cNvPr id="22" name="Text 16"/>
          <p:cNvSpPr txBox="1"/>
          <p:nvPr/>
        </p:nvSpPr>
        <p:spPr>
          <a:xfrm>
            <a:off x="548640" y="5532120"/>
            <a:ext cx="11064240" cy="548640"/>
          </a:xfrm>
          <a:prstGeom prst="rect">
            <a:avLst/>
          </a:prstGeom>
          <a:noFill/>
          <a:ln/>
        </p:spPr>
        <p:txBody>
          <a:bodyPr wrap="square" lIns="0" tIns="0" rIns="0" bIns="0" rtlCol="0" anchor="ctr"/>
          <a:lstStyle/>
          <a:p>
            <a:pPr marL="0" indent="0">
              <a:buNone/>
            </a:pPr>
            <a:r>
              <a:rPr lang="en-US" sz="1400" i="1" dirty="0">
                <a:solidFill>
                  <a:srgbClr val="C1440E"/>
                </a:solidFill>
                <a:latin typeface="Calibri" pitchFamily="34" charset="0"/>
                <a:ea typeface="Calibri" pitchFamily="34" charset="-122"/>
                <a:cs typeface="Calibri" pitchFamily="34" charset="-120"/>
              </a:rPr>
              <a:t>This is not a compromise you settle for, but rather the answer Microsoft itself recommends for mixed estates.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ser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57200"/>
            <a:ext cx="91440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WHY LEAVE THE HERD</a:t>
            </a:r>
            <a:endParaRPr lang="en-US" sz="1100" dirty="0"/>
          </a:p>
        </p:txBody>
      </p:sp>
      <p:sp>
        <p:nvSpPr>
          <p:cNvPr id="5" name="Text 2"/>
          <p:cNvSpPr txBox="1"/>
          <p:nvPr/>
        </p:nvSpPr>
        <p:spPr>
          <a:xfrm>
            <a:off x="1234440" y="713232"/>
            <a:ext cx="10332720" cy="548640"/>
          </a:xfrm>
          <a:prstGeom prst="rect">
            <a:avLst/>
          </a:prstGeom>
          <a:noFill/>
          <a:ln/>
        </p:spPr>
        <p:txBody>
          <a:bodyPr wrap="square" lIns="0" tIns="0" rIns="0" bIns="0" rtlCol="0" anchor="ctr"/>
          <a:lstStyle/>
          <a:p>
            <a:pPr marL="0" indent="0">
              <a:buNone/>
            </a:pPr>
            <a:r>
              <a:rPr lang="en-US" sz="2800" b="1" dirty="0">
                <a:solidFill>
                  <a:srgbClr val="1F3D2C"/>
                </a:solidFill>
                <a:latin typeface="Cambria" pitchFamily="34" charset="0"/>
                <a:ea typeface="Cambria" pitchFamily="34" charset="-122"/>
                <a:cs typeface="Cambria" pitchFamily="34" charset="-120"/>
              </a:rPr>
              <a:t>And the Non-AI Reasons, for Completeness</a:t>
            </a:r>
            <a:endParaRPr lang="en-US" sz="2800" dirty="0"/>
          </a:p>
        </p:txBody>
      </p:sp>
      <p:sp>
        <p:nvSpPr>
          <p:cNvPr id="6" name="Shape 3"/>
          <p:cNvSpPr/>
          <p:nvPr/>
        </p:nvSpPr>
        <p:spPr>
          <a:xfrm>
            <a:off x="548640" y="1828800"/>
            <a:ext cx="3429000" cy="3108960"/>
          </a:xfrm>
          <a:prstGeom prst="roundRect">
            <a:avLst>
              <a:gd name="adj" fmla="val 35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548640" y="2103120"/>
            <a:ext cx="3429000" cy="1005840"/>
          </a:xfrm>
          <a:prstGeom prst="rect">
            <a:avLst/>
          </a:prstGeom>
          <a:noFill/>
          <a:ln/>
        </p:spPr>
        <p:txBody>
          <a:bodyPr wrap="square" lIns="0" tIns="0" rIns="0" bIns="0" rtlCol="0" anchor="ctr"/>
          <a:lstStyle/>
          <a:p>
            <a:pPr marL="0" indent="0" algn="ctr">
              <a:buNone/>
            </a:pPr>
            <a:r>
              <a:rPr lang="en-US" sz="4000" b="1" dirty="0">
                <a:solidFill>
                  <a:srgbClr val="C1440E"/>
                </a:solidFill>
                <a:latin typeface="Cambria" pitchFamily="34" charset="0"/>
                <a:ea typeface="Cambria" pitchFamily="34" charset="-122"/>
                <a:cs typeface="Cambria" pitchFamily="34" charset="-120"/>
              </a:rPr>
              <a:t>100M+</a:t>
            </a:r>
            <a:endParaRPr lang="en-US" sz="4000" dirty="0"/>
          </a:p>
        </p:txBody>
      </p:sp>
      <p:sp>
        <p:nvSpPr>
          <p:cNvPr id="8" name="Text 5"/>
          <p:cNvSpPr txBox="1"/>
          <p:nvPr/>
        </p:nvSpPr>
        <p:spPr>
          <a:xfrm>
            <a:off x="777240" y="3200400"/>
            <a:ext cx="2971800" cy="1463040"/>
          </a:xfrm>
          <a:prstGeom prst="rect">
            <a:avLst/>
          </a:prstGeom>
          <a:noFill/>
          <a:ln/>
        </p:spPr>
        <p:txBody>
          <a:bodyPr wrap="square" lIns="0" tIns="0" rIns="0" bIns="0" rtlCol="0" anchor="ctr"/>
          <a:lstStyle/>
          <a:p>
            <a:pPr marL="0" indent="0" algn="ctr">
              <a:buNone/>
            </a:pPr>
            <a:r>
              <a:rPr lang="en-US" sz="1400" dirty="0">
                <a:solidFill>
                  <a:srgbClr val="2B2B2B"/>
                </a:solidFill>
                <a:latin typeface="Calibri" pitchFamily="34" charset="0"/>
                <a:ea typeface="Calibri" pitchFamily="34" charset="-122"/>
                <a:cs typeface="Calibri" pitchFamily="34" charset="-120"/>
              </a:rPr>
              <a:t>developers already on GitHub</a:t>
            </a:r>
            <a:endParaRPr lang="en-US" sz="1400" dirty="0"/>
          </a:p>
        </p:txBody>
      </p:sp>
      <p:sp>
        <p:nvSpPr>
          <p:cNvPr id="9" name="Shape 6"/>
          <p:cNvSpPr/>
          <p:nvPr/>
        </p:nvSpPr>
        <p:spPr>
          <a:xfrm>
            <a:off x="4251960" y="1828800"/>
            <a:ext cx="3429000" cy="3108960"/>
          </a:xfrm>
          <a:prstGeom prst="roundRect">
            <a:avLst>
              <a:gd name="adj" fmla="val 35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251960" y="2103120"/>
            <a:ext cx="3429000" cy="1005840"/>
          </a:xfrm>
          <a:prstGeom prst="rect">
            <a:avLst/>
          </a:prstGeom>
          <a:noFill/>
          <a:ln/>
        </p:spPr>
        <p:txBody>
          <a:bodyPr wrap="square" lIns="0" tIns="0" rIns="0" bIns="0" rtlCol="0" anchor="ctr"/>
          <a:lstStyle/>
          <a:p>
            <a:pPr marL="0" indent="0" algn="ctr">
              <a:buNone/>
            </a:pPr>
            <a:r>
              <a:rPr lang="en-US" sz="4000" b="1" dirty="0">
                <a:solidFill>
                  <a:srgbClr val="C1440E"/>
                </a:solidFill>
                <a:latin typeface="Cambria" pitchFamily="34" charset="0"/>
                <a:ea typeface="Cambria" pitchFamily="34" charset="-122"/>
                <a:cs typeface="Cambria" pitchFamily="34" charset="-120"/>
              </a:rPr>
              <a:t>20,000+</a:t>
            </a:r>
            <a:endParaRPr lang="en-US" sz="4000" dirty="0"/>
          </a:p>
        </p:txBody>
      </p:sp>
      <p:sp>
        <p:nvSpPr>
          <p:cNvPr id="11" name="Text 8"/>
          <p:cNvSpPr txBox="1"/>
          <p:nvPr/>
        </p:nvSpPr>
        <p:spPr>
          <a:xfrm>
            <a:off x="4480560" y="3200400"/>
            <a:ext cx="2971800" cy="1463040"/>
          </a:xfrm>
          <a:prstGeom prst="rect">
            <a:avLst/>
          </a:prstGeom>
          <a:noFill/>
          <a:ln/>
        </p:spPr>
        <p:txBody>
          <a:bodyPr wrap="square" lIns="0" tIns="0" rIns="0" bIns="0" rtlCol="0" anchor="ctr"/>
          <a:lstStyle/>
          <a:p>
            <a:pPr marL="0" indent="0" algn="ctr">
              <a:buNone/>
            </a:pPr>
            <a:r>
              <a:rPr lang="en-US" sz="1400" dirty="0">
                <a:solidFill>
                  <a:srgbClr val="2B2B2B"/>
                </a:solidFill>
                <a:latin typeface="Calibri" pitchFamily="34" charset="0"/>
                <a:ea typeface="Calibri" pitchFamily="34" charset="-122"/>
                <a:cs typeface="Calibri" pitchFamily="34" charset="-120"/>
              </a:rPr>
              <a:t>community Actions in the marketplace</a:t>
            </a:r>
            <a:endParaRPr lang="en-US" sz="1400" dirty="0"/>
          </a:p>
        </p:txBody>
      </p:sp>
      <p:sp>
        <p:nvSpPr>
          <p:cNvPr id="12" name="Shape 9"/>
          <p:cNvSpPr/>
          <p:nvPr/>
        </p:nvSpPr>
        <p:spPr>
          <a:xfrm>
            <a:off x="7955280" y="1828800"/>
            <a:ext cx="3429000" cy="3108960"/>
          </a:xfrm>
          <a:prstGeom prst="roundRect">
            <a:avLst>
              <a:gd name="adj" fmla="val 35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7955280" y="2103120"/>
            <a:ext cx="3429000" cy="1005840"/>
          </a:xfrm>
          <a:prstGeom prst="rect">
            <a:avLst/>
          </a:prstGeom>
          <a:noFill/>
          <a:ln/>
        </p:spPr>
        <p:txBody>
          <a:bodyPr wrap="square" lIns="0" tIns="0" rIns="0" bIns="0" rtlCol="0" anchor="ctr"/>
          <a:lstStyle/>
          <a:p>
            <a:pPr marL="0" indent="0" algn="ctr">
              <a:buNone/>
            </a:pPr>
            <a:r>
              <a:rPr lang="en-US" sz="4000" b="1" dirty="0">
                <a:solidFill>
                  <a:srgbClr val="C1440E"/>
                </a:solidFill>
                <a:latin typeface="Cambria" pitchFamily="34" charset="0"/>
                <a:ea typeface="Cambria" pitchFamily="34" charset="-122"/>
                <a:cs typeface="Cambria" pitchFamily="34" charset="-120"/>
              </a:rPr>
              <a:t>Most</a:t>
            </a:r>
            <a:endParaRPr lang="en-US" sz="4000" dirty="0"/>
          </a:p>
        </p:txBody>
      </p:sp>
      <p:sp>
        <p:nvSpPr>
          <p:cNvPr id="14" name="Text 11"/>
          <p:cNvSpPr txBox="1"/>
          <p:nvPr/>
        </p:nvSpPr>
        <p:spPr>
          <a:xfrm>
            <a:off x="8183880" y="3200400"/>
            <a:ext cx="2971800" cy="1463040"/>
          </a:xfrm>
          <a:prstGeom prst="rect">
            <a:avLst/>
          </a:prstGeom>
          <a:noFill/>
          <a:ln/>
        </p:spPr>
        <p:txBody>
          <a:bodyPr wrap="square" lIns="0" tIns="0" rIns="0" bIns="0" rtlCol="0" anchor="ctr"/>
          <a:lstStyle/>
          <a:p>
            <a:pPr marL="0" indent="0" algn="ctr">
              <a:buNone/>
            </a:pPr>
            <a:r>
              <a:rPr lang="en-US" sz="1400" dirty="0">
                <a:solidFill>
                  <a:srgbClr val="2B2B2B"/>
                </a:solidFill>
                <a:latin typeface="Calibri" pitchFamily="34" charset="0"/>
                <a:ea typeface="Calibri" pitchFamily="34" charset="-122"/>
                <a:cs typeface="Calibri" pitchFamily="34" charset="-120"/>
              </a:rPr>
              <a:t>open-source &amp; external contributors are already there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743200"/>
            <a:ext cx="11064240" cy="914400"/>
          </a:xfrm>
          <a:prstGeom prst="rect">
            <a:avLst/>
          </a:prstGeom>
          <a:noFill/>
          <a:ln/>
        </p:spPr>
        <p:txBody>
          <a:bodyPr wrap="square" lIns="0" tIns="0" rIns="0" bIns="0" rtlCol="0" anchor="ctr"/>
          <a:lstStyle/>
          <a:p>
            <a:pPr marL="0" indent="0" algn="ctr">
              <a:buNone/>
            </a:pPr>
            <a:r>
              <a:rPr lang="en-US" sz="3600" b="1" dirty="0">
                <a:solidFill>
                  <a:srgbClr val="F5F5F0"/>
                </a:solidFill>
                <a:latin typeface="Cambria" pitchFamily="34" charset="0"/>
                <a:ea typeface="Cambria" pitchFamily="34" charset="-122"/>
                <a:cs typeface="Cambria" pitchFamily="34" charset="-120"/>
              </a:rPr>
              <a:t>Q&amp;A POCKET</a:t>
            </a:r>
            <a:endParaRPr lang="en-US" sz="3600" dirty="0"/>
          </a:p>
        </p:txBody>
      </p:sp>
      <p:sp>
        <p:nvSpPr>
          <p:cNvPr id="3" name="Text 1"/>
          <p:cNvSpPr txBox="1"/>
          <p:nvPr/>
        </p:nvSpPr>
        <p:spPr>
          <a:xfrm>
            <a:off x="548640" y="3657600"/>
            <a:ext cx="11064240" cy="548640"/>
          </a:xfrm>
          <a:prstGeom prst="rect">
            <a:avLst/>
          </a:prstGeom>
          <a:noFill/>
          <a:ln/>
        </p:spPr>
        <p:txBody>
          <a:bodyPr wrap="square" lIns="0" tIns="0" rIns="0" bIns="0" rtlCol="0" anchor="ctr"/>
          <a:lstStyle/>
          <a:p>
            <a:pPr marL="0" indent="0" algn="ctr">
              <a:buNone/>
            </a:pPr>
            <a:r>
              <a:rPr lang="en-US" sz="1500" i="1" dirty="0">
                <a:solidFill>
                  <a:srgbClr val="8C6A3F"/>
                </a:solidFill>
                <a:latin typeface="Calibri" pitchFamily="34" charset="0"/>
                <a:ea typeface="Calibri" pitchFamily="34" charset="-122"/>
                <a:cs typeface="Calibri" pitchFamily="34" charset="-120"/>
              </a:rPr>
              <a:t>One quick question before we leave Section 1 — Why Leave the Herd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1382</Words>
  <Application>Microsoft Office PowerPoint</Application>
  <PresentationFormat>Widescreen</PresentationFormat>
  <Paragraphs>107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Neumann, Kevin</cp:lastModifiedBy>
  <cp:revision>2</cp:revision>
  <dcterms:created xsi:type="dcterms:W3CDTF">2026-09-21T17:39:38Z</dcterms:created>
  <dcterms:modified xsi:type="dcterms:W3CDTF">2026-09-21T18:01:03Z</dcterms:modified>
</cp:coreProperties>
</file>