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5" r:id="rId9"/>
    <p:sldId id="267" r:id="rId10"/>
    <p:sldId id="268" r:id="rId11"/>
    <p:sldId id="269" r:id="rId12"/>
    <p:sldId id="270" r:id="rId13"/>
    <p:sldId id="271" r:id="rId14"/>
    <p:sldId id="272" r:id="rId15"/>
    <p:sldId id="313" r:id="rId16"/>
    <p:sldId id="273" r:id="rId17"/>
    <p:sldId id="264"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8701" autoAdjust="0"/>
  </p:normalViewPr>
  <p:slideViewPr>
    <p:cSldViewPr snapToGrid="0" snapToObjects="1">
      <p:cViewPr varScale="1">
        <p:scale>
          <a:sx n="65" d="100"/>
          <a:sy n="65" d="100"/>
        </p:scale>
        <p:origin x="26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0703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 no 'hi, I'm Kevin' throat-clearing. Let the title sit for a beat, then deliver the tagline in the documentary voice (calm, declarative, faintly awed — never winking). That's the only line spoken in that register on this slide; the rest of the intro is normal conference delivery. This sets up the conceit for the whole talk: six section-opener cards plus a closer, all in this voice, everything else played straight.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sponsor-thanks slide — event organizer will tell you if this is required and what logos go here. Placeholder only; swap in real sponsor logos once the summit sends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Straight delivery. Walk the six-leg structure quickly — roughly 13–16 min each, ~80 min of content plus small Q&amp;A pockets between sections and one 10-minute Q&amp;A block at the end. </a:t>
            </a:r>
            <a:br>
              <a:rPr lang="en-US" dirty="0"/>
            </a:br>
            <a:br>
              <a:rPr lang="en-US" dirty="0"/>
            </a:br>
            <a:r>
              <a:rPr lang="en-US" sz="1200" b="0" i="0" kern="1200" dirty="0">
                <a:solidFill>
                  <a:schemeClr val="tx1"/>
                </a:solidFill>
                <a:effectLst/>
                <a:latin typeface="+mn-lt"/>
                <a:ea typeface="+mn-ea"/>
                <a:cs typeface="+mn-cs"/>
              </a:rPr>
              <a:t>This is not a GitHub sales pitch. It is a field guide to what transfers cleanly, what must be redesigned, and what should deliberately remain in Azure DevOps.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VOICE — the only register for this slide. Deliver slowly, deadpan, faintly awed. Do not wink at the joke. This is the first of six opener cards plus a closer — it establishes the conceit. Pause after delivering the line before moving to slide 4, where we go straight back to normal delivery.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Name the real reason teams migrate before the polite reasons: AI investment is concentrated on GitHub — Chat, Coding Agent, Autofix, Agentic Code Review, Agent HQ all shipped there first. Be fair to Microsoft here: Azure DevOps is getting AI features too, just on a slower cadence and a thinner feature set today — don't overstate the gap as 'Azure DevOps has none.' The point isn't that Azure DevOps has nothing, it's that the frontier is on GitHub right now. Sets up the Copilot capability list next and the AI-approach payoff in section 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emphasis:</a:t>
            </a:r>
          </a:p>
          <a:p>
            <a:r>
              <a:rPr lang="en-US"/>
              <a:t>Do not frame this as “GitHub has AI and Azure DevOps does not.” Frame it as a difference in native depth, integration, and repository dependency.</a:t>
            </a:r>
          </a:p>
          <a:p>
            <a:endParaRPr lang="en-US"/>
          </a:p>
          <a:p>
            <a:r>
              <a:rPr lang="en-US"/>
              <a:t>The capability gap is real, but it is neither absolute nor static. As of September 21, 2026: Azure DevOps Remote MCP Server is generally available; Copilot Code Review for Azure Repos is in public preview; Copilot Autofix for Azure DevOps remains in limited public preview; and GitHub Copilot cloud agent still requires a GitHub-hosted repository even when initiated from Azure Boards.</a:t>
            </a:r>
          </a:p>
          <a:p>
            <a:endParaRPr lang="en-US"/>
          </a:p>
          <a:p>
            <a:r>
              <a:rPr lang="en-US"/>
              <a:t>Sources (accessed September 21, 2026): GitHub Docs — About GitHub Copilot cloud agent; Integrating Copilot cloud agent with Azure Boards; About agent management; About autofix for code scanning. Microsoft Learn — Azure DevOps Sprint 278 and Sprint 279 release notes; Azure DevOps MCP Server overview; Copilot code review for Azure Repos; Copilot Autofix for GitHub Advanced Security for Azure DevOps. GitHub Changelog — Copilot code review now runs on an agentic architecture (March 5, 2026).</a:t>
            </a:r>
          </a:p>
          <a:p>
            <a:endParaRPr lang="en-US"/>
          </a:p>
          <a:p>
            <a:r>
              <a:rPr lang="en-US"/>
              <a:t>* Azure DevOps MCP Server itself is free; normal Azure DevOps pricing and AI-platform usage charges may still apply.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VOICE — the only register for this slide. Deliver slowly, deadpan, faintly awed, same conceit as section 1's opener. Pause after the line, then go straight back to normal delivery for the scorecard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spoiler slide — the full seven-subsystem scorecard for the whole talk, not just section 2. Two travel clean (Repos, Wiki), four need a decision (Packages/Artifacts, Pipelines, Dashboards, Boards), one stays behind entirely (Test Plans). Don't over-explain each row yet — Pipelines gets all of section 3, Boards and Test Plans get all of section 4. This slide's job is just to set the map before the detailed stops. Repos, Wiki, Packages/Artifacts, and Dashboards get their own slides in the rest of this section.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Git is git (so commit history is easy), and PRs most branch policies migrate without much drama via tooling.</a:t>
            </a:r>
          </a:p>
          <a:p>
            <a:endParaRPr lang="en-US" dirty="0"/>
          </a:p>
          <a:p>
            <a:r>
              <a:rPr lang="en-US" dirty="0"/>
              <a:t>The asterisk is what doesn’t: </a:t>
            </a:r>
          </a:p>
          <a:p>
            <a:pPr marL="171450" indent="-171450">
              <a:buFontTx/>
              <a:buChar char="-"/>
            </a:pPr>
            <a:r>
              <a:rPr lang="en-US" dirty="0"/>
              <a:t>repo permissions get rebuilt as two GitHub teams per team project</a:t>
            </a:r>
          </a:p>
          <a:p>
            <a:pPr marL="171450" indent="-171450">
              <a:buFontTx/>
              <a:buChar char="-"/>
            </a:pPr>
            <a:r>
              <a:rPr lang="en-US" dirty="0"/>
              <a:t>Git LFS objects need their own handling, user-scoped or cross-repo branch policies need manual rebuilding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i="0" kern="1200" dirty="0">
                <a:solidFill>
                  <a:schemeClr val="tx1"/>
                </a:solidFill>
                <a:effectLst/>
                <a:latin typeface="+mn-lt"/>
                <a:ea typeface="+mn-ea"/>
                <a:cs typeface="+mn-cs"/>
              </a:rPr>
              <a:t>Verify target visibility during the trial migration. Migration scripts can preserve or explicitly set visibility, but enterprise policies and managed-user configurations may constrain the available choices.</a:t>
            </a:r>
          </a:p>
          <a:p>
            <a:pPr marL="171450" indent="-171450">
              <a:buFontTx/>
              <a:buChar char="-"/>
            </a:pPr>
            <a:endParaRPr lang="en-US" dirty="0"/>
          </a:p>
          <a:p>
            <a:pPr marL="0" indent="0">
              <a:buFontTx/>
              <a:buNone/>
            </a:pPr>
            <a:r>
              <a:rPr lang="en-US" dirty="0"/>
              <a:t>Worth a quick mention of the four hard size limits too if there's time (2 GiB/commit, 2 GiB/push, 100 MiB/file, 40 GiB/repo) but don't let the slide's bullets run long reciting them — they're in the written notes if anyone asks.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quick — this is the shortest stop in the section because there's genuinely not much to it. Both wikis are Git repos, so it's clone-and-push, full stop. The only real conversation is permissions: Azure DevOps' per-page permission model is richer than GitHub wiki's, and you lose the tight integration with Boards and pipelines that Azure DevOps wiki has. Land the pull-quote line — content migration is trivial, permissions is the whole conversation — it's the one-sentence takeaway.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Unlike Repos or Wiki, this one isn't a clean migration path — it's a genuine three-way decision: keep Azure Artifacts as-is, move fully to GitHub Packages, or dual-publish during a transition window. The realistic PoC target for most enterprises is the first option done well: GitHub Actions publishing to and consuming from an existing Azure Artifacts feed, because repointing every downstream consumer at cutover usually isn't realistic. This is a decision, not a rewrite — say that line plainly, it's the slide's title for a reason.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GitHub's built-in engineering metrics are real and cover delivery performance, cycle time, and PR review load — genuinely DORA-adjacent — but they won't match the combined depth of Azure Boards Analytics plus a dedicated Power BI report most enterprises have built up over years. VERIFY BEFORE THE TALK: confirm the exact GitHub feature name and its availability on Hunter's actual GHEC plan/tier — flagged as unverified in the source research notes, don't commit to a specific product name on stage without checking first. The reframe that saves this slide: stop comparing dashboard widgets one-for-one, use the four DORA metrics as the shared baseline language both platforms can speak.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deliberately slow — this line is the whole talk in one sentence, worth letting it land before moving on. Everything that's file-based and version-controlled — repos, wiki — travels cleanly because Git is Git on both sides. Everything backed by a proprietary database with its own data model — dashboards here, and Boards plus Test Plans in the next section — needs either a rewrite, a decision, or in Test Plans' case, doesn't come at all. This sets up sections 3 and 4 directly.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Straight delivery, land this one deliberately — it's the thesis the whole talk hangs on. Three audiences, one pattern: developers move to GitHub and get Copilot + Actions; managers keep Azure Boards, capacity charts, and Power BI exactly as-is; and the budget conversation is easy because GHEC includes free Azure DevOps Basic access. Explicitly reframe: this is the shape the rest of the talk builds toward, not a fallback — section 4 comes back to this exact point on Boards vs. Projects.</a:t>
            </a:r>
            <a:br>
              <a:rPr lang="en-US" dirty="0"/>
            </a:br>
            <a:br>
              <a:rPr lang="en-US" dirty="0"/>
            </a:br>
            <a:r>
              <a:rPr lang="en-US" dirty="0"/>
              <a:t>T</a:t>
            </a:r>
            <a:r>
              <a:rPr lang="en-US" sz="1200" b="0" i="0" kern="1200" dirty="0">
                <a:solidFill>
                  <a:schemeClr val="tx1"/>
                </a:solidFill>
                <a:effectLst/>
                <a:latin typeface="+mn-lt"/>
                <a:ea typeface="+mn-ea"/>
                <a:cs typeface="+mn-cs"/>
              </a:rPr>
              <a:t>est Plans, Copilot, Advanced Security, Actions overages, larger runners, and migration work are separate cost considerations.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check-in, not a discussion window — about a minute. Take one quick question if a hand is up, otherwise move straight into section 3. The real Q&amp;A time is banked for the 10-minute block at the end.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VOICE — the only register for this slide. Deliver slowly, deadpan, faintly awed, same conceit as the section 1 and 2 openers. Pause after the line, then go straight back to normal delivery for the pipelines slide. This is the heaviest section in the talk — 12 slides — so keep the pacing brisk everywhere it isn't earning a pause.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The trap is assuming YAML-to-YAML means a find-and-replace job — it doesn't. Azure Pipelines' Stages → Jobs → Tasks hierarchy and GitHub Actions' Workflows → Jobs → Steps model look similar on a diagram and behave differently in practice (approval gates, templating, conditional execution all work differently). Set expectations early: budget 1–2 days per complex pipeline, not an afternoon. This sets up the three approaches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a framework slide, not the deep dive — just introduce the three lenses before walking each one: Manual (read the docs, map concepts, rewrite by hand), Tooling (purpose-built CLIs like gh-ado2gh and gh-actions-importer, each gets its own slides next), and AI (prompt-driven mapping). None of these are mutually exclusive — most real migrations use tooling for the bulk of the work, AI to accelerate the gnarliest pipelines, and manual review to catch what both miss.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table is the cheat sheet, not the whole story — walk the core mappings quickly (Pipeline→Workflow, Agent Pool→Runner, Service Connection→OIDC/secrets, Variable Group→secrets/variables, Task→Action, condition→if, dependsOn→needs) and don't read every row aloud. One more mapping worth a verbal mention even though it's not in the table: stages become separate workflow files, not a nested construct. Then the syntax differences that trip people up even after the concepts click: no classic-editor equivalent, job structure is always explicit (no implicit single-job pipelines), script steps consolidate to run+shell, and GitHub Actions fails fast by default where Azure Pipelines doesn't — that last one silently changes pipeline behavior if you don't account for it. QR points to Microsoft's own migrate-from-azure-pipelines doc.</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gh-ado2gh is the repo-side tool: inventory-report surveys the org before anything moves, generate-script produces the real migration script, and the --all flag goes further, rewiring pipelines, creating GitHub teams, and connecting Azure Boards in a single pass. What it doesn't do is just as important to set expectations: it doesn't touch pipeline YAML logic (that's the next tool), doesn't bring Git LFS objects along automatically, and doesn't make identity-mapping decisions for you — caveats and the one sequencing rule that matters are the next slide. Why choose it: it's the default answer at any real scale, free and GitHub-maintained. QR points to the tool's GitHub repo.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land this one plainly — it's the one rule in this whole tooling discussion that isn't a judgment call, it's just ordering. Install the Pipelines GitHub App before migrating repos with gh-ado2gh, full stop. Get this backwards and the migration script can't auto-reconfigure pipelines to point at GitHub, which turns into a manual repo-by-repo scramble while people wonder why builds are suddenly red. Same ordering constraint applies to identity mapping — plan it before the first migration, not after — which is a preview of section 6's mannequin-accounts material, worth a one-line forward reference here.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gh-actions-importer is the pipeline-side tool, separate from gh-ado2gh — don't imply they're one tool. Its audit command is the star: it classifies every pipeline as automatable, partial, or needing a human, and dry-run shows you the converted workflow before you commit to anything. What it doesn't do: it doesn't touch repos at all, the partial bucket is still real work, and it faithfully translates whatever's in the source pipeline — including problems that were already there. Why choose it: that audit breakdown is the single best quantified evidence in the whole PoC for estimating real migration effort. QR points to the tool's GitHub repo.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and be plain about the limitation up front — this is research, not a demo. ELM (Enterprise Live Migration, currently in preview) offers continuous sync plus a scheduled cutover with a read-only window Microsoft cites as sub-30-minutes for most orgs. It automates pre-migration checks, org/repo creation, PR and branch-policy sync, and Boards connection plus pipeline rewiring. It still requires manual cleanup, access/permissions setup, verification, and doesn't touch work-item, wiki, or pipeline content migration itself — those still happen through the other approaches. Hunter doesn't have the GHE data-residency tenant this requires, so be upfront that none of this was hands-on tested. The honest framing that saves this slide from feeling like a vendor pitch: the standard GEI CLI already does more than marketing comparisons imply, so what ELM genuinely adds is the continuous-sync/scheduled-cutover experience, not a fundamentally longer feature list.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Three prompts, run in sequence, not one shot: analyze reads the source pipeline and identifies what it's actually doing step by step; convert produces the equivalent GitHub Actions workflow from that analysis; validate is a separate pass that checks the conversion, deliberately not using the same model call that did the converting — the model that wrote the conversion shouldn't grade its own homework. This is the payoff for section 1's thesis that AI is the honest primary driver — it's not just a chat assistant, it's a structured migration tool. HONEST STATUS, say this if asked directly: all three prompts are drafted and reviewed but haven't been run against a real production pipeline yet — that's still open. QR points to the repo's prompts/ folder.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replaces a screenshot-based walkthrough with the map itself — the four-step sequence is the same regardless of which repo runs through it: repo migration with gh-ado2gh, pipeline audit with gh-actions-importer, the YAML rewrite using the mapping from the manual-approach slide, and finally a green build, which is the actual finish line, not just 'the repo exists on GitHub now.' Land the bold line — the specifics change every time, the order doesn't. This slide doesn't depend on having picked a specific repo yet; it's the general shape. The next slide is where real, repo-specific findings go once that choice is made and the sequence is actually run.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SLIDE — do not present as-is. This depends entirely on the previous slide's sequence actually being run against a real repo. Once it's run, replace the fill-in prompts with the real, specific takeaways — what genuinely broke, what surprised you, what the audit tool called correctly or missed. A generic 'here's what we learned' slide would undercut the credibility this whole section is built on (see the gh-actions-importer slide's point about quantified evidence) — this slide needs real content or it should be cut rather than filled with filler.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check-in, not a discussion window — about 30 seconds given how much ground this section covers. Take one quick question if a hand is up, otherwise move straight into section 4. The real Q&amp;A time is banked for the 10-minute block at the end.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VOICE — the only register for this slide. Deliver slowly, deadpan, faintly awed, same conceit as the earlier section openers. Pause after the line, then go straight back to normal delivery for the Boards-vs-Projects framing slide. This is the shortest section in the deck — keep every slide brisk, the payoff is the Test Plans slide and the recommendation, not length.</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Frame this before comparing feature-by-feature — Azure Boards and GitHub Projects aren't two competitors in the same category, they're different categories. Azure Boards is a full enterprise work-tracking system (hierarchy, capacity, cross-team reporting); GitHub Projects is a lightweight kanban layer on top of Issues. Naming that up front stops the next two slides from reading as a scored competition — each tool is genuinely good at what it's for.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enterprise case, stated plainly and without hedging: hierarchical work items from Epics down to Tasks, built-in sprint planning and capacity management, Delivery Plans for dependencies that cross team boundaries, and Boards Analytics feeding Power BI for reporting that goes well beyond a single team's board. It organizes around Project, Team, and Area Path — a structure built for portfolios, not just one team's kanban.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developer-proximity case: GitHub Projects is lightweight and flexible (custom fields cover iteration, single-select, date, number), it lives right next to the issues and PRs it's tracking rather than in a separate system, it's fast for small-team daily triage, and it has a roadmap layout plus automation, either built-in or via Actions. It organizes around Repository, Label, and Milestone — a structure built for a team living inside its code, not a multi-team portfolio.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Be concrete about the loss rather than vague: sprint history, capacity data, custom process fields, and the entire Project/Team/Area Path hierarchy don't have a clean landing spot in GitHub Projects. There is open-source help — azure-devops-migration-tools can move work items over — but set expectations honestly: this is real manual-mapping work because the two data models don't line up, not a one-command migration. This sets up the Test Plans slide and the hybrid-pattern resolution that follows.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and let this one land plainly — it's probably the best-received slide in the whole deck precisely because it doesn't try to spin anything. There is no native GitHub Projects or Issues equivalent for structured manual and exploratory testing, full stop. In a regulated environment, that alone can be sufficient reason to keep Azure DevOps around. This is the shortest slide in the section on purpose — sometimes the honest answer is just 'it doesn't move, and that's fine,' and saying it plainly builds more credibility than manufacturing a workaround.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section 1's hybrid pattern coming back around, applied specifically to Boards vs. Projects: connect Azure Boards to GitHub repos before touching anything else. Developers get to work in GitHub, right next to Copilot and the issues that matter to them day to day; managers keep the sprint hub, capacity charts, and Power BI reporting exactly where they already are. The framing matters — Microsoft designed this as the intended shape for mixed estates, not a stopgap. Internally, call it the answer, not the fallback.</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explicit takeaway slide for the section — say it plainly. Don't migrate to GitHub Issues unless your PM needs are genuinely simple; for most teams past a handful of people, keep Azure Boards connected rather than replaced. Important nuance worth saying out loud: this isn't an argument for Azure Boards forever, it's an argument against defaulting to GitHub Issues just because the code moved. Where you plan work is a separate decision from where your code lives — leave that door open.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check-in, not a discussion window — about a minute. Take one quick question if a hand is up, otherwise move straight into section 5. The real Q&amp;A time is banked for the 10-minute block at the end.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VOICE — the only register for this slide. Deliver slowly, deadpan, faintly awed, same conceit as the earlier section openers. Pause after the line, then go straight back to normal delivery for the thesis slide. This section's closing slide comes back to this exact character — plant it here without over-explaining, the payoff lands later.</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section's thesis statement — land it early and come back to it. Migrations that fail almost never fail because the tooling didn't work; gh-ado2gh and gh-actions-importer do what they say. They fail because of three predictable human failures: no real selection process (the tool got picked by momentum, not evaluated on merit), customization starting before anyone actually understood the new tool, and a rollout that felt like it was done TO people rather than WITH them. Everything else in this section is about avoiding those three things specifically.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walk this quickly — it's five steps, don't dwell on any one. Define must-haves before shopping, assess real constraints like data residency and compliance, model one real increment of actual work in each candidate tool rather than watching a vendor demo, score the results with a weighted rubric so the decision is defensible later, and run a real 4–6 week pilot with outcomes decided in advance. This is the antidote to the first failure mode from the thesis slide — no real selection process.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antidote to the second failure mode — customization starting before anyone understood the new tool. Every custom field, automation rule, or process tweak added before the pilot is a decision made with the least information the team will ever have about how the tool actually gets used. Run the pilot on defaults first, then customize afterward with real usage data instead of guesses about what people will need.</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Sticker-price comparisons are the easiest way to make a bad decision look rigorous. Compare the whole bill: licensing tiers, GitHub Advanced Security as an add-on rather than bundled, runner and compute minutes, and the real admin and migration effort to get there — that last one is easy to leave off a spreadsheet entirely. The rule of thumb: past roughly 100 engineers, governance and reporting time saved usually outweighs a modest per-seat price difference, but say plainly that this is a rule of thumb, not a substitute for running the actual math against your own numbers.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synthesis slide — everything from sections 1 through 4 in one sequence. Start hybrid by connecting Azure Boards first, before anything else moves (section 4's resolution). Migrate repos in waves, low-stakes ones first, building trust before the repos that matter. Rewrite pipelines incrementally, old and new running in parallel rather than one risky cutover (section 3). Leave work items alone unless already deliberately decided otherwise. The point to land: this ordering isn't just good engineering practice, it IS the change-management plan — say that explicitly.</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Ties directly back to section 1's honest primary driver — AI is why most teams are really migrating, but that payoff isn't automatic. Copilot and agentic tooling multiply the value of well-structured work, they don't create structure that isn't there. A vague ticket produces a vague PR because the model can't infer intent nobody wrote down. The actionable point: invest in issue templates and acceptance criteria as a precondition, not an afterthought, before expecting the AI payoff section 1 promised.</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aside — same voice as the opener cards, played for a beat, then straight delivery resumes. This is the section's closing synthesis: startups and one-to-three-squad teams should just take GitHub Projects' lightweight fit, no enterprise overhead needed. Scaled agile, regulated industries, and multi-team portfolios are exactly where Azure Boards' hierarchy and reporting earn their keep. Mixed estates get the hybrid pattern, deliberately — a fit, not a compromise. Then the documentary callback: the Senior Engineer from the opener card isn't wrong to be cautious about change, they're just defending the old pipeline with the wrong argument ('it's always worked') instead of the right one ('here's the rubric score'). Land this warmly, not as a dunk — the point is to hear the objection out and then hand them the data from the selection process a few slides back.</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check-in, not a discussion window — about a minute. Take one quick question if a hand is up, otherwise move straight into section 6, the final section. The real Q&amp;A time is banked for the 10-minute block at the end.</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VOICE — spoken live, not read. This is the section opener: slow down, let the metaphor land. We are closing the loop on the "field guide to a new habitat" framing from the whole talk — this section is about what still limps back to the old watering hole after everyone else has moved on.</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This is the practical, checklist-voiced part of the section. The four rows are meant to be read as "here is where these hide" — invite the room to mentally add their own fifth row, because every org has one nobody else would guess.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registers on this one slide. STRAIGHT for the top two cards — this is real mechanical risk, say it plainly. Then shift into DOCUMENTARY VOICE for the on-slide aside at the bottom, read as written, then straight back to conference delivery for the next slide. The "mannequin" framing is the callback that ties this section’s watering-hole metaphor to identity specifically.</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but let it land quieter than the surrounding slides — this is the deck’s thesis-in-miniature for this section. It is the deliberate tonal comedown after two slides of genuine risk (URLs, identity): the point is reassurance, not another warning.</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briskly — this is a recap, not new material. One line per section as written; resist the urge to re-explain any of them, the room already heard the full version. This slide exists to give the close a spine before the links slide and the documentary closer.</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Hold this slide up a beat longer than usual — give phones time to scan. One QR, one repo, everything the talk referenced lives inside it. This is the practical bridge into the documentary closer.</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DOCUMENTARY VOICE — spoken live, not read, and slower than anything else in the deck. Let the silence after "our making" sit for a full two seconds before advancing. This is the emotional peak of the talk’s closing beat; do not undercut it by rushing into the thank-you slide.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delivery, warm. This is the handoff into the deck’s single 10-minute final Q&amp;A block — no interim pocket before this, so the room has been building questions since section 5. Invite them explicitly rather than just stopping talking.</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17.pn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F3D2C"/>
          </a:solidFill>
          <a:ln/>
        </p:spPr>
        <p:txBody>
          <a:bodyPr/>
          <a:lstStyle/>
          <a:p>
            <a:endParaRPr lang="en-US"/>
          </a:p>
        </p:txBody>
      </p:sp>
      <p:sp>
        <p:nvSpPr>
          <p:cNvPr id="3" name="Shape 1"/>
          <p:cNvSpPr/>
          <p:nvPr/>
        </p:nvSpPr>
        <p:spPr>
          <a:xfrm>
            <a:off x="0" y="5120640"/>
            <a:ext cx="12191695" cy="1737360"/>
          </a:xfrm>
          <a:prstGeom prst="rect">
            <a:avLst/>
          </a:prstGeom>
          <a:solidFill>
            <a:srgbClr val="142A1D"/>
          </a:solidFill>
          <a:ln/>
        </p:spPr>
        <p:txBody>
          <a:bodyPr/>
          <a:lstStyle/>
          <a:p>
            <a:endParaRPr lang="en-US"/>
          </a:p>
        </p:txBody>
      </p:sp>
      <p:pic>
        <p:nvPicPr>
          <p:cNvPr id="4" name="Image 0" descr="/home/claude/pptx-build/assets/icons/FaCompass-8C6A3F-400.png"/>
          <p:cNvPicPr>
            <a:picLocks noChangeAspect="1"/>
          </p:cNvPicPr>
          <p:nvPr/>
        </p:nvPicPr>
        <p:blipFill>
          <a:blip r:embed="rId3">
            <a:alphaModFix amt="80000"/>
          </a:blip>
          <a:stretch>
            <a:fillRect/>
          </a:stretch>
        </p:blipFill>
        <p:spPr>
          <a:xfrm>
            <a:off x="9601200" y="640080"/>
            <a:ext cx="1920240" cy="1920240"/>
          </a:xfrm>
          <a:prstGeom prst="rect">
            <a:avLst/>
          </a:prstGeom>
        </p:spPr>
      </p:pic>
      <p:sp>
        <p:nvSpPr>
          <p:cNvPr id="5" name="Text 2"/>
          <p:cNvSpPr txBox="1"/>
          <p:nvPr/>
        </p:nvSpPr>
        <p:spPr>
          <a:xfrm>
            <a:off x="640080" y="1828800"/>
            <a:ext cx="10058400" cy="457200"/>
          </a:xfrm>
          <a:prstGeom prst="rect">
            <a:avLst/>
          </a:prstGeom>
          <a:noFill/>
          <a:ln/>
        </p:spPr>
        <p:txBody>
          <a:bodyPr wrap="square" lIns="0" tIns="0" rIns="0" bIns="0" rtlCol="0" anchor="ctr"/>
          <a:lstStyle/>
          <a:p>
            <a:pPr marL="0" indent="0">
              <a:buNone/>
            </a:pPr>
            <a:r>
              <a:rPr lang="en-US" sz="1800" b="1" kern="0" spc="300" dirty="0">
                <a:solidFill>
                  <a:srgbClr val="8C6A3F"/>
                </a:solidFill>
                <a:latin typeface="Calibri" pitchFamily="34" charset="0"/>
                <a:ea typeface="Calibri" pitchFamily="34" charset="-122"/>
                <a:cs typeface="Calibri" pitchFamily="34" charset="-120"/>
              </a:rPr>
              <a:t>AZURE DEVOPS → GITHUB ENTERPRISE</a:t>
            </a:r>
            <a:endParaRPr lang="en-US" sz="1800" dirty="0"/>
          </a:p>
        </p:txBody>
      </p:sp>
      <p:sp>
        <p:nvSpPr>
          <p:cNvPr id="6" name="Text 3"/>
          <p:cNvSpPr txBox="1"/>
          <p:nvPr/>
        </p:nvSpPr>
        <p:spPr>
          <a:xfrm>
            <a:off x="640080" y="2286000"/>
            <a:ext cx="10515600" cy="1463040"/>
          </a:xfrm>
          <a:prstGeom prst="rect">
            <a:avLst/>
          </a:prstGeom>
          <a:noFill/>
          <a:ln/>
        </p:spPr>
        <p:txBody>
          <a:bodyPr wrap="square" lIns="0" tIns="0" rIns="0" bIns="0" rtlCol="0" anchor="ctr"/>
          <a:lstStyle/>
          <a:p>
            <a:pPr marL="0" indent="0">
              <a:buNone/>
            </a:pPr>
            <a:r>
              <a:rPr lang="en-US" sz="5600" b="1" dirty="0">
                <a:solidFill>
                  <a:srgbClr val="F5F5F0"/>
                </a:solidFill>
                <a:latin typeface="Cambria" pitchFamily="34" charset="0"/>
                <a:ea typeface="Cambria" pitchFamily="34" charset="-122"/>
                <a:cs typeface="Cambria" pitchFamily="34" charset="-120"/>
              </a:rPr>
              <a:t>The Great Migration</a:t>
            </a:r>
            <a:endParaRPr lang="en-US" sz="5600" dirty="0"/>
          </a:p>
        </p:txBody>
      </p:sp>
      <p:sp>
        <p:nvSpPr>
          <p:cNvPr id="7" name="Text 4"/>
          <p:cNvSpPr txBox="1"/>
          <p:nvPr/>
        </p:nvSpPr>
        <p:spPr>
          <a:xfrm>
            <a:off x="640080" y="5349240"/>
            <a:ext cx="10058400" cy="822960"/>
          </a:xfrm>
          <a:prstGeom prst="rect">
            <a:avLst/>
          </a:prstGeom>
          <a:noFill/>
          <a:ln/>
        </p:spPr>
        <p:txBody>
          <a:bodyPr wrap="square" lIns="0" tIns="0" rIns="0" bIns="0" rtlCol="0" anchor="ctr"/>
          <a:lstStyle/>
          <a:p>
            <a:pPr marL="0" indent="0">
              <a:buNone/>
            </a:pPr>
            <a:r>
              <a:rPr lang="en-US" sz="2400" i="1" dirty="0">
                <a:solidFill>
                  <a:srgbClr val="8C6A3F"/>
                </a:solidFill>
                <a:latin typeface="Cambria" pitchFamily="34" charset="0"/>
                <a:ea typeface="Cambria" pitchFamily="34" charset="-122"/>
                <a:cs typeface="Cambria" pitchFamily="34" charset="-120"/>
              </a:rPr>
              <a:t>“Observe the DevOps Engineer in their natural habitat.”</a:t>
            </a:r>
            <a:endParaRPr lang="en-US" sz="2400" dirty="0"/>
          </a:p>
        </p:txBody>
      </p:sp>
      <p:sp>
        <p:nvSpPr>
          <p:cNvPr id="8" name="Text 5"/>
          <p:cNvSpPr txBox="1"/>
          <p:nvPr/>
        </p:nvSpPr>
        <p:spPr>
          <a:xfrm>
            <a:off x="640080" y="6172200"/>
            <a:ext cx="10058400" cy="365760"/>
          </a:xfrm>
          <a:prstGeom prst="rect">
            <a:avLst/>
          </a:prstGeom>
          <a:noFill/>
          <a:ln/>
        </p:spPr>
        <p:txBody>
          <a:bodyPr wrap="square" lIns="0" tIns="0" rIns="0" bIns="0" rtlCol="0" anchor="ctr"/>
          <a:lstStyle/>
          <a:p>
            <a:pPr marL="0" indent="0">
              <a:buNone/>
            </a:pPr>
            <a:r>
              <a:rPr lang="en-US" sz="1500" dirty="0">
                <a:solidFill>
                  <a:srgbClr val="F5F5F0"/>
                </a:solidFill>
                <a:latin typeface="Calibri" pitchFamily="34" charset="0"/>
                <a:ea typeface="Calibri" pitchFamily="34" charset="-122"/>
                <a:cs typeface="Calibri" pitchFamily="34" charset="-120"/>
              </a:rPr>
              <a:t>Kevin Neumann  •  Cloud &amp; AI Summit  •  September 30,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0515600" cy="68580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Thank You to Our Sponsors</a:t>
            </a:r>
            <a:endParaRPr lang="en-US" sz="3200" dirty="0"/>
          </a:p>
        </p:txBody>
      </p:sp>
      <p:sp>
        <p:nvSpPr>
          <p:cNvPr id="3" name="Shape 1"/>
          <p:cNvSpPr/>
          <p:nvPr/>
        </p:nvSpPr>
        <p:spPr>
          <a:xfrm>
            <a:off x="548640" y="1645920"/>
            <a:ext cx="11064240" cy="3931920"/>
          </a:xfrm>
          <a:prstGeom prst="roundRect">
            <a:avLst>
              <a:gd name="adj" fmla="val 2791"/>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4" name="Text 2"/>
          <p:cNvSpPr txBox="1"/>
          <p:nvPr/>
        </p:nvSpPr>
        <p:spPr>
          <a:xfrm>
            <a:off x="914400" y="3200400"/>
            <a:ext cx="10332720" cy="640080"/>
          </a:xfrm>
          <a:prstGeom prst="rect">
            <a:avLst/>
          </a:prstGeom>
          <a:noFill/>
          <a:ln/>
        </p:spPr>
        <p:txBody>
          <a:bodyPr wrap="square" lIns="0" tIns="0" rIns="0" bIns="0" rtlCol="0" anchor="ctr"/>
          <a:lstStyle/>
          <a:p>
            <a:pPr marL="0" indent="0" algn="ctr">
              <a:buNone/>
            </a:pPr>
            <a:r>
              <a:rPr lang="en-US" sz="2000" i="1" dirty="0">
                <a:solidFill>
                  <a:srgbClr val="6B6B63"/>
                </a:solidFill>
                <a:latin typeface="Calibri" pitchFamily="34" charset="0"/>
                <a:ea typeface="Calibri" pitchFamily="34" charset="-122"/>
                <a:cs typeface="Calibri" pitchFamily="34" charset="-120"/>
              </a:rPr>
              <a:t>[PLACEHOLDER — drop in actual sponsor logos before the talk]</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Map-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AGENDA</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Six Legs of the Expedition</a:t>
            </a:r>
            <a:endParaRPr lang="en-US" sz="3200" dirty="0"/>
          </a:p>
        </p:txBody>
      </p:sp>
      <p:sp>
        <p:nvSpPr>
          <p:cNvPr id="6" name="Shape 3"/>
          <p:cNvSpPr/>
          <p:nvPr/>
        </p:nvSpPr>
        <p:spPr>
          <a:xfrm>
            <a:off x="548640" y="1554480"/>
            <a:ext cx="6790006" cy="4434840"/>
          </a:xfrm>
          <a:prstGeom prst="roundRect">
            <a:avLst>
              <a:gd name="adj" fmla="val 2474"/>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777240" y="1783080"/>
            <a:ext cx="502920" cy="566928"/>
          </a:xfrm>
          <a:prstGeom prst="rect">
            <a:avLst/>
          </a:prstGeom>
          <a:noFill/>
          <a:ln/>
        </p:spPr>
        <p:txBody>
          <a:bodyPr wrap="square" lIns="0" tIns="0" rIns="0" bIns="0" rtlCol="0" anchor="ctr"/>
          <a:lstStyle/>
          <a:p>
            <a:pPr marL="0" indent="0">
              <a:buNone/>
            </a:pPr>
            <a:r>
              <a:rPr lang="en-US" sz="2400" b="1" dirty="0">
                <a:solidFill>
                  <a:srgbClr val="C1440E"/>
                </a:solidFill>
                <a:latin typeface="Cambria" pitchFamily="34" charset="0"/>
                <a:ea typeface="Cambria" pitchFamily="34" charset="-122"/>
                <a:cs typeface="Cambria" pitchFamily="34" charset="-120"/>
              </a:rPr>
              <a:t>1</a:t>
            </a:r>
            <a:endParaRPr lang="en-US" sz="2400" dirty="0"/>
          </a:p>
        </p:txBody>
      </p:sp>
      <p:sp>
        <p:nvSpPr>
          <p:cNvPr id="8" name="Text 5"/>
          <p:cNvSpPr txBox="1"/>
          <p:nvPr/>
        </p:nvSpPr>
        <p:spPr>
          <a:xfrm>
            <a:off x="1371600" y="1783080"/>
            <a:ext cx="5669280" cy="594360"/>
          </a:xfrm>
          <a:prstGeom prst="rect">
            <a:avLst/>
          </a:prstGeom>
          <a:noFill/>
          <a:ln/>
        </p:spPr>
        <p:txBody>
          <a:bodyPr wrap="square" lIns="0" tIns="0" rIns="0" bIns="0" rtlCol="0" anchor="ctr"/>
          <a:lstStyle/>
          <a:p>
            <a:pPr marL="0" indent="0">
              <a:buNone/>
            </a:pPr>
            <a:r>
              <a:rPr lang="en-US" sz="1700" dirty="0">
                <a:solidFill>
                  <a:srgbClr val="2B2B2B"/>
                </a:solidFill>
                <a:latin typeface="Calibri" pitchFamily="34" charset="0"/>
                <a:ea typeface="Calibri" pitchFamily="34" charset="-122"/>
                <a:cs typeface="Calibri" pitchFamily="34" charset="-120"/>
              </a:rPr>
              <a:t>Why Leave the Herd — the case for migrating</a:t>
            </a:r>
            <a:endParaRPr lang="en-US" sz="1700" dirty="0"/>
          </a:p>
        </p:txBody>
      </p:sp>
      <p:sp>
        <p:nvSpPr>
          <p:cNvPr id="9" name="Text 6"/>
          <p:cNvSpPr txBox="1"/>
          <p:nvPr/>
        </p:nvSpPr>
        <p:spPr>
          <a:xfrm>
            <a:off x="777240" y="2496312"/>
            <a:ext cx="502920" cy="566928"/>
          </a:xfrm>
          <a:prstGeom prst="rect">
            <a:avLst/>
          </a:prstGeom>
          <a:noFill/>
          <a:ln/>
        </p:spPr>
        <p:txBody>
          <a:bodyPr wrap="square" lIns="0" tIns="0" rIns="0" bIns="0" rtlCol="0" anchor="ctr"/>
          <a:lstStyle/>
          <a:p>
            <a:pPr marL="0" indent="0">
              <a:buNone/>
            </a:pPr>
            <a:r>
              <a:rPr lang="en-US" sz="2400" b="1" dirty="0">
                <a:solidFill>
                  <a:srgbClr val="C1440E"/>
                </a:solidFill>
                <a:latin typeface="Cambria" pitchFamily="34" charset="0"/>
                <a:ea typeface="Cambria" pitchFamily="34" charset="-122"/>
                <a:cs typeface="Cambria" pitchFamily="34" charset="-120"/>
              </a:rPr>
              <a:t>2</a:t>
            </a:r>
            <a:endParaRPr lang="en-US" sz="2400" dirty="0"/>
          </a:p>
        </p:txBody>
      </p:sp>
      <p:sp>
        <p:nvSpPr>
          <p:cNvPr id="10" name="Text 7"/>
          <p:cNvSpPr txBox="1"/>
          <p:nvPr/>
        </p:nvSpPr>
        <p:spPr>
          <a:xfrm>
            <a:off x="1371600" y="2496312"/>
            <a:ext cx="5852160" cy="594360"/>
          </a:xfrm>
          <a:prstGeom prst="rect">
            <a:avLst/>
          </a:prstGeom>
          <a:noFill/>
          <a:ln/>
        </p:spPr>
        <p:txBody>
          <a:bodyPr wrap="square" lIns="0" tIns="0" rIns="0" bIns="0" rtlCol="0" anchor="ctr"/>
          <a:lstStyle/>
          <a:p>
            <a:pPr marL="0" indent="0">
              <a:buNone/>
            </a:pPr>
            <a:r>
              <a:rPr lang="en-US" sz="1700" dirty="0">
                <a:solidFill>
                  <a:srgbClr val="2B2B2B"/>
                </a:solidFill>
                <a:latin typeface="Calibri" pitchFamily="34" charset="0"/>
                <a:ea typeface="Calibri" pitchFamily="34" charset="-122"/>
                <a:cs typeface="Calibri" pitchFamily="34" charset="-120"/>
              </a:rPr>
              <a:t>A Field Guide to the Local Species — what concepts natively thrive</a:t>
            </a:r>
            <a:endParaRPr lang="en-US" sz="1700" dirty="0"/>
          </a:p>
        </p:txBody>
      </p:sp>
      <p:sp>
        <p:nvSpPr>
          <p:cNvPr id="11" name="Text 8"/>
          <p:cNvSpPr txBox="1"/>
          <p:nvPr/>
        </p:nvSpPr>
        <p:spPr>
          <a:xfrm>
            <a:off x="777240" y="3209544"/>
            <a:ext cx="502920" cy="566928"/>
          </a:xfrm>
          <a:prstGeom prst="rect">
            <a:avLst/>
          </a:prstGeom>
          <a:noFill/>
          <a:ln/>
        </p:spPr>
        <p:txBody>
          <a:bodyPr wrap="square" lIns="0" tIns="0" rIns="0" bIns="0" rtlCol="0" anchor="ctr"/>
          <a:lstStyle/>
          <a:p>
            <a:pPr marL="0" indent="0">
              <a:buNone/>
            </a:pPr>
            <a:r>
              <a:rPr lang="en-US" sz="2400" b="1" dirty="0">
                <a:solidFill>
                  <a:srgbClr val="C1440E"/>
                </a:solidFill>
                <a:latin typeface="Cambria" pitchFamily="34" charset="0"/>
                <a:ea typeface="Cambria" pitchFamily="34" charset="-122"/>
                <a:cs typeface="Cambria" pitchFamily="34" charset="-120"/>
              </a:rPr>
              <a:t>3</a:t>
            </a:r>
            <a:endParaRPr lang="en-US" sz="2400" dirty="0"/>
          </a:p>
        </p:txBody>
      </p:sp>
      <p:sp>
        <p:nvSpPr>
          <p:cNvPr id="12" name="Text 9"/>
          <p:cNvSpPr txBox="1"/>
          <p:nvPr/>
        </p:nvSpPr>
        <p:spPr>
          <a:xfrm>
            <a:off x="1371600" y="3209544"/>
            <a:ext cx="5669280" cy="594360"/>
          </a:xfrm>
          <a:prstGeom prst="rect">
            <a:avLst/>
          </a:prstGeom>
          <a:noFill/>
          <a:ln/>
        </p:spPr>
        <p:txBody>
          <a:bodyPr wrap="square" lIns="0" tIns="0" rIns="0" bIns="0" rtlCol="0" anchor="ctr"/>
          <a:lstStyle/>
          <a:p>
            <a:pPr marL="0" indent="0">
              <a:buNone/>
            </a:pPr>
            <a:r>
              <a:rPr lang="en-US" sz="1700" dirty="0">
                <a:solidFill>
                  <a:srgbClr val="2B2B2B"/>
                </a:solidFill>
                <a:latin typeface="Calibri" pitchFamily="34" charset="0"/>
                <a:ea typeface="Calibri" pitchFamily="34" charset="-122"/>
                <a:cs typeface="Calibri" pitchFamily="34" charset="-120"/>
              </a:rPr>
              <a:t>Crossing the River — migrating across the divide</a:t>
            </a:r>
            <a:endParaRPr lang="en-US" sz="1700" dirty="0"/>
          </a:p>
        </p:txBody>
      </p:sp>
      <p:sp>
        <p:nvSpPr>
          <p:cNvPr id="13" name="Text 10"/>
          <p:cNvSpPr txBox="1"/>
          <p:nvPr/>
        </p:nvSpPr>
        <p:spPr>
          <a:xfrm>
            <a:off x="777240" y="3922776"/>
            <a:ext cx="502920" cy="566928"/>
          </a:xfrm>
          <a:prstGeom prst="rect">
            <a:avLst/>
          </a:prstGeom>
          <a:noFill/>
          <a:ln/>
        </p:spPr>
        <p:txBody>
          <a:bodyPr wrap="square" lIns="0" tIns="0" rIns="0" bIns="0" rtlCol="0" anchor="ctr"/>
          <a:lstStyle/>
          <a:p>
            <a:pPr marL="0" indent="0">
              <a:buNone/>
            </a:pPr>
            <a:r>
              <a:rPr lang="en-US" sz="2400" b="1" dirty="0">
                <a:solidFill>
                  <a:srgbClr val="C1440E"/>
                </a:solidFill>
                <a:latin typeface="Cambria" pitchFamily="34" charset="0"/>
                <a:ea typeface="Cambria" pitchFamily="34" charset="-122"/>
                <a:cs typeface="Cambria" pitchFamily="34" charset="-120"/>
              </a:rPr>
              <a:t>4</a:t>
            </a:r>
            <a:endParaRPr lang="en-US" sz="2400" dirty="0"/>
          </a:p>
        </p:txBody>
      </p:sp>
      <p:sp>
        <p:nvSpPr>
          <p:cNvPr id="14" name="Text 11"/>
          <p:cNvSpPr txBox="1"/>
          <p:nvPr/>
        </p:nvSpPr>
        <p:spPr>
          <a:xfrm>
            <a:off x="1371600" y="3922776"/>
            <a:ext cx="5669280" cy="594360"/>
          </a:xfrm>
          <a:prstGeom prst="rect">
            <a:avLst/>
          </a:prstGeom>
          <a:noFill/>
          <a:ln/>
        </p:spPr>
        <p:txBody>
          <a:bodyPr wrap="square" lIns="0" tIns="0" rIns="0" bIns="0" rtlCol="0" anchor="ctr"/>
          <a:lstStyle/>
          <a:p>
            <a:pPr marL="0" indent="0">
              <a:buNone/>
            </a:pPr>
            <a:r>
              <a:rPr lang="en-US" sz="1700" dirty="0">
                <a:solidFill>
                  <a:srgbClr val="2B2B2B"/>
                </a:solidFill>
                <a:latin typeface="Calibri" pitchFamily="34" charset="0"/>
                <a:ea typeface="Calibri" pitchFamily="34" charset="-122"/>
                <a:cs typeface="Calibri" pitchFamily="34" charset="-120"/>
              </a:rPr>
              <a:t>Sprint Planning in Its Natural Habitat — Boards vs. Projects</a:t>
            </a:r>
            <a:endParaRPr lang="en-US" sz="1700" dirty="0"/>
          </a:p>
        </p:txBody>
      </p:sp>
      <p:sp>
        <p:nvSpPr>
          <p:cNvPr id="15" name="Text 12"/>
          <p:cNvSpPr txBox="1"/>
          <p:nvPr/>
        </p:nvSpPr>
        <p:spPr>
          <a:xfrm>
            <a:off x="777240" y="4636008"/>
            <a:ext cx="502920" cy="566928"/>
          </a:xfrm>
          <a:prstGeom prst="rect">
            <a:avLst/>
          </a:prstGeom>
          <a:noFill/>
          <a:ln/>
        </p:spPr>
        <p:txBody>
          <a:bodyPr wrap="square" lIns="0" tIns="0" rIns="0" bIns="0" rtlCol="0" anchor="ctr"/>
          <a:lstStyle/>
          <a:p>
            <a:pPr marL="0" indent="0">
              <a:buNone/>
            </a:pPr>
            <a:r>
              <a:rPr lang="en-US" sz="2400" b="1" dirty="0">
                <a:solidFill>
                  <a:srgbClr val="C1440E"/>
                </a:solidFill>
                <a:latin typeface="Cambria" pitchFamily="34" charset="0"/>
                <a:ea typeface="Cambria" pitchFamily="34" charset="-122"/>
                <a:cs typeface="Cambria" pitchFamily="34" charset="-120"/>
              </a:rPr>
              <a:t>5</a:t>
            </a:r>
            <a:endParaRPr lang="en-US" sz="2400" dirty="0"/>
          </a:p>
        </p:txBody>
      </p:sp>
      <p:sp>
        <p:nvSpPr>
          <p:cNvPr id="16" name="Text 13"/>
          <p:cNvSpPr txBox="1"/>
          <p:nvPr/>
        </p:nvSpPr>
        <p:spPr>
          <a:xfrm>
            <a:off x="1371600" y="4636008"/>
            <a:ext cx="5669280" cy="594360"/>
          </a:xfrm>
          <a:prstGeom prst="rect">
            <a:avLst/>
          </a:prstGeom>
          <a:noFill/>
          <a:ln/>
        </p:spPr>
        <p:txBody>
          <a:bodyPr wrap="square" lIns="0" tIns="0" rIns="0" bIns="0" rtlCol="0" anchor="ctr"/>
          <a:lstStyle/>
          <a:p>
            <a:pPr marL="0" indent="0">
              <a:buNone/>
            </a:pPr>
            <a:r>
              <a:rPr lang="en-US" sz="1700" dirty="0">
                <a:solidFill>
                  <a:srgbClr val="2B2B2B"/>
                </a:solidFill>
                <a:latin typeface="Calibri" pitchFamily="34" charset="0"/>
                <a:ea typeface="Calibri" pitchFamily="34" charset="-122"/>
                <a:cs typeface="Calibri" pitchFamily="34" charset="-120"/>
              </a:rPr>
              <a:t>Preventing the Uprising — change management</a:t>
            </a:r>
            <a:endParaRPr lang="en-US" sz="1700" dirty="0"/>
          </a:p>
        </p:txBody>
      </p:sp>
      <p:sp>
        <p:nvSpPr>
          <p:cNvPr id="17" name="Text 14"/>
          <p:cNvSpPr txBox="1"/>
          <p:nvPr/>
        </p:nvSpPr>
        <p:spPr>
          <a:xfrm>
            <a:off x="777240" y="5349240"/>
            <a:ext cx="502920" cy="566928"/>
          </a:xfrm>
          <a:prstGeom prst="rect">
            <a:avLst/>
          </a:prstGeom>
          <a:noFill/>
          <a:ln/>
        </p:spPr>
        <p:txBody>
          <a:bodyPr wrap="square" lIns="0" tIns="0" rIns="0" bIns="0" rtlCol="0" anchor="ctr"/>
          <a:lstStyle/>
          <a:p>
            <a:pPr marL="0" indent="0">
              <a:buNone/>
            </a:pPr>
            <a:r>
              <a:rPr lang="en-US" sz="2400" b="1" dirty="0">
                <a:solidFill>
                  <a:srgbClr val="C1440E"/>
                </a:solidFill>
                <a:latin typeface="Cambria" pitchFamily="34" charset="0"/>
                <a:ea typeface="Cambria" pitchFamily="34" charset="-122"/>
                <a:cs typeface="Cambria" pitchFamily="34" charset="-120"/>
              </a:rPr>
              <a:t>6</a:t>
            </a:r>
            <a:endParaRPr lang="en-US" sz="2400" dirty="0"/>
          </a:p>
        </p:txBody>
      </p:sp>
      <p:sp>
        <p:nvSpPr>
          <p:cNvPr id="18" name="Text 15"/>
          <p:cNvSpPr txBox="1"/>
          <p:nvPr/>
        </p:nvSpPr>
        <p:spPr>
          <a:xfrm>
            <a:off x="1371600" y="5349240"/>
            <a:ext cx="5669280" cy="594360"/>
          </a:xfrm>
          <a:prstGeom prst="rect">
            <a:avLst/>
          </a:prstGeom>
          <a:noFill/>
          <a:ln/>
        </p:spPr>
        <p:txBody>
          <a:bodyPr wrap="square" lIns="0" tIns="0" rIns="0" bIns="0" rtlCol="0" anchor="ctr"/>
          <a:lstStyle/>
          <a:p>
            <a:pPr marL="0" indent="0">
              <a:buNone/>
            </a:pPr>
            <a:r>
              <a:rPr lang="en-US" sz="1700" dirty="0">
                <a:solidFill>
                  <a:srgbClr val="2B2B2B"/>
                </a:solidFill>
                <a:latin typeface="Calibri" pitchFamily="34" charset="0"/>
                <a:ea typeface="Calibri" pitchFamily="34" charset="-122"/>
                <a:cs typeface="Calibri" pitchFamily="34" charset="-120"/>
              </a:rPr>
              <a:t>The Watering Hole Nobody Told to Move — the long tail</a:t>
            </a:r>
            <a:endParaRPr lang="en-US" sz="1700" dirty="0"/>
          </a:p>
        </p:txBody>
      </p:sp>
      <p:sp>
        <p:nvSpPr>
          <p:cNvPr id="19" name="Shape 16"/>
          <p:cNvSpPr/>
          <p:nvPr/>
        </p:nvSpPr>
        <p:spPr>
          <a:xfrm>
            <a:off x="7452360" y="1554480"/>
            <a:ext cx="4160520" cy="4434840"/>
          </a:xfrm>
          <a:prstGeom prst="roundRect">
            <a:avLst>
              <a:gd name="adj" fmla="val 2637"/>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0" name="Text 17"/>
          <p:cNvSpPr txBox="1"/>
          <p:nvPr/>
        </p:nvSpPr>
        <p:spPr>
          <a:xfrm>
            <a:off x="7726680" y="1737360"/>
            <a:ext cx="3657600" cy="502920"/>
          </a:xfrm>
          <a:prstGeom prst="rect">
            <a:avLst/>
          </a:prstGeom>
          <a:noFill/>
          <a:ln/>
        </p:spPr>
        <p:txBody>
          <a:bodyPr wrap="square" lIns="0" tIns="0" rIns="0" bIns="0" rtlCol="0" anchor="ctr"/>
          <a:lstStyle/>
          <a:p>
            <a:pPr marL="0" indent="0">
              <a:buNone/>
            </a:pPr>
            <a:r>
              <a:rPr lang="en-US" sz="1900" b="1" dirty="0">
                <a:solidFill>
                  <a:srgbClr val="F5F5F0"/>
                </a:solidFill>
                <a:latin typeface="Cambria" pitchFamily="34" charset="0"/>
                <a:ea typeface="Cambria" pitchFamily="34" charset="-122"/>
                <a:cs typeface="Cambria" pitchFamily="34" charset="-120"/>
              </a:rPr>
              <a:t>Trails We’re Not Hiking</a:t>
            </a:r>
            <a:endParaRPr lang="en-US" sz="1900" dirty="0"/>
          </a:p>
        </p:txBody>
      </p:sp>
      <p:sp>
        <p:nvSpPr>
          <p:cNvPr id="21" name="Text 18"/>
          <p:cNvSpPr txBox="1"/>
          <p:nvPr/>
        </p:nvSpPr>
        <p:spPr>
          <a:xfrm>
            <a:off x="7726680" y="2331720"/>
            <a:ext cx="3657600" cy="3520440"/>
          </a:xfrm>
          <a:prstGeom prst="rect">
            <a:avLst/>
          </a:prstGeom>
          <a:noFill/>
          <a:ln/>
        </p:spPr>
        <p:txBody>
          <a:bodyPr wrap="square" lIns="0" tIns="0" rIns="0" bIns="0" rtlCol="0" anchor="ctr"/>
          <a:lstStyle/>
          <a:p>
            <a:pPr>
              <a:lnSpc>
                <a:spcPct val="115000"/>
              </a:lnSpc>
              <a:buSzPct val="100000"/>
            </a:pPr>
            <a:r>
              <a:rPr lang="en-US" sz="1500" b="1" dirty="0">
                <a:solidFill>
                  <a:srgbClr val="F5F5F0"/>
                </a:solidFill>
                <a:latin typeface="Calibri" pitchFamily="34" charset="0"/>
                <a:ea typeface="Calibri" pitchFamily="34" charset="-122"/>
                <a:cs typeface="Calibri" pitchFamily="34" charset="-120"/>
              </a:rPr>
              <a:t>Non-goal: comparing GitHub with every competing platform.</a:t>
            </a:r>
          </a:p>
          <a:p>
            <a:pPr>
              <a:lnSpc>
                <a:spcPct val="115000"/>
              </a:lnSpc>
              <a:buSzPct val="100000"/>
            </a:pPr>
            <a:endParaRPr lang="en-US" sz="1500" b="1" i="1" dirty="0">
              <a:solidFill>
                <a:srgbClr val="F5F5F0"/>
              </a:solidFill>
              <a:latin typeface="Calibri" pitchFamily="34" charset="0"/>
              <a:ea typeface="Calibri" pitchFamily="34" charset="-122"/>
              <a:cs typeface="Calibri" pitchFamily="34" charset="-120"/>
            </a:endParaRPr>
          </a:p>
          <a:p>
            <a:pPr>
              <a:lnSpc>
                <a:spcPct val="115000"/>
              </a:lnSpc>
              <a:buSzPct val="100000"/>
            </a:pPr>
            <a:endParaRPr lang="en-US" sz="1500" b="1" i="1" dirty="0">
              <a:solidFill>
                <a:srgbClr val="F5F5F0"/>
              </a:solidFill>
              <a:latin typeface="Calibri" pitchFamily="34" charset="0"/>
              <a:ea typeface="Calibri" pitchFamily="34" charset="-122"/>
              <a:cs typeface="Calibri" pitchFamily="34" charset="-120"/>
            </a:endParaRPr>
          </a:p>
          <a:p>
            <a:pPr>
              <a:lnSpc>
                <a:spcPct val="115000"/>
              </a:lnSpc>
              <a:buSzPct val="100000"/>
            </a:pPr>
            <a:r>
              <a:rPr lang="en-US" sz="1500" i="1" dirty="0">
                <a:solidFill>
                  <a:srgbClr val="F5F5F0"/>
                </a:solidFill>
                <a:latin typeface="Calibri" pitchFamily="34" charset="0"/>
                <a:ea typeface="Calibri" pitchFamily="34" charset="-122"/>
                <a:cs typeface="Calibri" pitchFamily="34" charset="-120"/>
              </a:rPr>
              <a:t>Good news for fellow travelers: most of this trail works no matter which CI/CD platform you’re hiking toward.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txBody>
          <a:bodyPr/>
          <a:lstStyle/>
          <a:p>
            <a:endParaRPr lang="en-US"/>
          </a:p>
        </p:txBody>
      </p:sp>
      <p:sp>
        <p:nvSpPr>
          <p:cNvPr id="3" name="Text 1"/>
          <p:cNvSpPr txBox="1"/>
          <p:nvPr/>
        </p:nvSpPr>
        <p:spPr>
          <a:xfrm>
            <a:off x="548640" y="365760"/>
            <a:ext cx="9144000" cy="502920"/>
          </a:xfrm>
          <a:prstGeom prst="rect">
            <a:avLst/>
          </a:prstGeom>
          <a:noFill/>
          <a:ln/>
        </p:spPr>
        <p:txBody>
          <a:bodyPr wrap="square" lIns="0" tIns="0" rIns="0" bIns="0" rtlCol="0" anchor="ctr"/>
          <a:lstStyle/>
          <a:p>
            <a:pPr marL="0" indent="0">
              <a:buNone/>
            </a:pPr>
            <a:r>
              <a:rPr lang="en-US" sz="1700" b="1" kern="0" spc="300" dirty="0">
                <a:solidFill>
                  <a:srgbClr val="8C6A3F"/>
                </a:solidFill>
                <a:latin typeface="Calibri" pitchFamily="34" charset="0"/>
                <a:ea typeface="Calibri" pitchFamily="34" charset="-122"/>
                <a:cs typeface="Calibri" pitchFamily="34" charset="-120"/>
              </a:rPr>
              <a:t>SECTION 1</a:t>
            </a:r>
            <a:endParaRPr lang="en-US" sz="1700" dirty="0"/>
          </a:p>
        </p:txBody>
      </p:sp>
      <p:pic>
        <p:nvPicPr>
          <p:cNvPr id="4" name="Image 0" descr="/home/claude/pptx-build/assets/icons/FaFeatherAlt-8C6A3F-300.png"/>
          <p:cNvPicPr>
            <a:picLocks noChangeAspect="1"/>
          </p:cNvPicPr>
          <p:nvPr/>
        </p:nvPicPr>
        <p:blipFill>
          <a:blip r:embed="rId3">
            <a:alphaModFix amt="85000"/>
          </a:blip>
          <a:stretch>
            <a:fillRect/>
          </a:stretch>
        </p:blipFill>
        <p:spPr>
          <a:xfrm>
            <a:off x="9692640" y="2194560"/>
            <a:ext cx="1463040" cy="1463040"/>
          </a:xfrm>
          <a:prstGeom prst="rect">
            <a:avLst/>
          </a:prstGeom>
        </p:spPr>
      </p:pic>
      <p:sp>
        <p:nvSpPr>
          <p:cNvPr id="5" name="Text 2"/>
          <p:cNvSpPr txBox="1"/>
          <p:nvPr/>
        </p:nvSpPr>
        <p:spPr>
          <a:xfrm>
            <a:off x="548640" y="2331720"/>
            <a:ext cx="8778240" cy="1737360"/>
          </a:xfrm>
          <a:prstGeom prst="rect">
            <a:avLst/>
          </a:prstGeom>
          <a:noFill/>
          <a:ln/>
        </p:spPr>
        <p:txBody>
          <a:bodyPr wrap="square" lIns="0" tIns="0" rIns="0" bIns="0" rtlCol="0" anchor="t"/>
          <a:lstStyle/>
          <a:p>
            <a:pPr marL="0" indent="0">
              <a:buNone/>
            </a:pPr>
            <a:r>
              <a:rPr lang="en-US" sz="4400" b="1" dirty="0">
                <a:solidFill>
                  <a:srgbClr val="F5F5F0"/>
                </a:solidFill>
                <a:latin typeface="Cambria" pitchFamily="34" charset="0"/>
                <a:ea typeface="Cambria" pitchFamily="34" charset="-122"/>
                <a:cs typeface="Cambria" pitchFamily="34" charset="-120"/>
              </a:rPr>
              <a:t>Why Leave the Herd </a:t>
            </a:r>
            <a:endParaRPr lang="en-US" sz="4400" dirty="0"/>
          </a:p>
        </p:txBody>
      </p:sp>
      <p:sp>
        <p:nvSpPr>
          <p:cNvPr id="6" name="Text 3"/>
          <p:cNvSpPr txBox="1"/>
          <p:nvPr/>
        </p:nvSpPr>
        <p:spPr>
          <a:xfrm>
            <a:off x="548640" y="4160520"/>
            <a:ext cx="8778240" cy="1234440"/>
          </a:xfrm>
          <a:prstGeom prst="rect">
            <a:avLst/>
          </a:prstGeom>
          <a:noFill/>
          <a:ln/>
        </p:spPr>
        <p:txBody>
          <a:bodyPr wrap="square" lIns="0" tIns="0" rIns="0" bIns="0" rtlCol="0" anchor="t"/>
          <a:lstStyle/>
          <a:p>
            <a:pPr marL="0" indent="0">
              <a:buNone/>
            </a:pPr>
            <a:r>
              <a:rPr lang="en-US" sz="2000" i="1" dirty="0">
                <a:solidFill>
                  <a:srgbClr val="8C6A3F"/>
                </a:solidFill>
                <a:latin typeface="Calibri" pitchFamily="34" charset="0"/>
                <a:ea typeface="Calibri" pitchFamily="34" charset="-122"/>
                <a:cs typeface="Calibri" pitchFamily="34" charset="-120"/>
              </a:rPr>
              <a:t>Across the enterprise, teams gather at the edge of a familiar ecosystem and prepare to move toward a repository that has learned to act on its own.</a:t>
            </a:r>
            <a:endParaRPr lang="en-US" sz="2000" dirty="0"/>
          </a:p>
        </p:txBody>
      </p:sp>
      <p:sp>
        <p:nvSpPr>
          <p:cNvPr id="7" name="Shape 4"/>
          <p:cNvSpPr/>
          <p:nvPr/>
        </p:nvSpPr>
        <p:spPr>
          <a:xfrm>
            <a:off x="548640" y="6217920"/>
            <a:ext cx="11064240" cy="0"/>
          </a:xfrm>
          <a:prstGeom prst="line">
            <a:avLst/>
          </a:prstGeom>
          <a:noFill/>
          <a:ln w="9525">
            <a:solidFill>
              <a:srgbClr val="8C6A3F"/>
            </a:solidFill>
            <a:prstDash val="dash"/>
          </a:ln>
        </p:spPr>
        <p:txBody>
          <a:bodyPr/>
          <a:lstStyle/>
          <a:p>
            <a:endParaRPr lang="en-US"/>
          </a:p>
        </p:txBody>
      </p:sp>
      <p:sp>
        <p:nvSpPr>
          <p:cNvPr id="8" name="Text 5"/>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1200" dirty="0">
                <a:solidFill>
                  <a:srgbClr val="6B6B63"/>
                </a:solidFill>
                <a:latin typeface="Calibri" pitchFamily="34" charset="0"/>
                <a:ea typeface="Calibri" pitchFamily="34" charset="-122"/>
                <a:cs typeface="Calibri" pitchFamily="34" charset="-120"/>
              </a:rPr>
              <a:t>DOCUMENTARY VOICE — SPOKEN LIVE, NOT READ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Robot-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WHY LEAVE THE HERD</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Why Repository Location Matters</a:t>
            </a:r>
            <a:endParaRPr lang="en-US" sz="3200" dirty="0"/>
          </a:p>
        </p:txBody>
      </p:sp>
      <p:sp>
        <p:nvSpPr>
          <p:cNvPr id="6" name="Shape 3"/>
          <p:cNvSpPr/>
          <p:nvPr/>
        </p:nvSpPr>
        <p:spPr>
          <a:xfrm>
            <a:off x="548640" y="1645920"/>
            <a:ext cx="11064240" cy="2286000"/>
          </a:xfrm>
          <a:prstGeom prst="roundRect">
            <a:avLst>
              <a:gd name="adj" fmla="val 48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dirty="0"/>
          </a:p>
        </p:txBody>
      </p:sp>
      <p:sp>
        <p:nvSpPr>
          <p:cNvPr id="7" name="Text 4"/>
          <p:cNvSpPr txBox="1"/>
          <p:nvPr/>
        </p:nvSpPr>
        <p:spPr>
          <a:xfrm>
            <a:off x="914400" y="1828800"/>
            <a:ext cx="10332720" cy="2011680"/>
          </a:xfrm>
          <a:prstGeom prst="rect">
            <a:avLst/>
          </a:prstGeom>
          <a:noFill/>
          <a:ln/>
        </p:spPr>
        <p:txBody>
          <a:bodyPr wrap="square" lIns="0" tIns="0" rIns="0" bIns="0" rtlCol="0" anchor="ctr"/>
          <a:lstStyle/>
          <a:p>
            <a:pPr marL="0" indent="0">
              <a:lnSpc>
                <a:spcPct val="100000"/>
              </a:lnSpc>
              <a:buNone/>
            </a:pPr>
            <a:r>
              <a:rPr lang="en-US" sz="2000" dirty="0">
                <a:solidFill>
                  <a:srgbClr val="2B2B2B"/>
                </a:solidFill>
                <a:latin typeface="Calibri" pitchFamily="34" charset="0"/>
                <a:ea typeface="Calibri" pitchFamily="34" charset="-122"/>
                <a:cs typeface="Calibri" pitchFamily="34" charset="-120"/>
              </a:rPr>
              <a:t>Every dollar of Copilot investment </a:t>
            </a:r>
            <a:r>
              <a:rPr lang="en-US" sz="2000" b="1" dirty="0">
                <a:solidFill>
                  <a:srgbClr val="2B2B2B"/>
                </a:solidFill>
                <a:latin typeface="Calibri" pitchFamily="34" charset="0"/>
                <a:ea typeface="Calibri" pitchFamily="34" charset="-122"/>
                <a:cs typeface="Calibri" pitchFamily="34" charset="-120"/>
              </a:rPr>
              <a:t>lands on GitHub first. </a:t>
            </a:r>
          </a:p>
          <a:p>
            <a:pPr marL="0" indent="0">
              <a:lnSpc>
                <a:spcPct val="100000"/>
              </a:lnSpc>
              <a:buNone/>
            </a:pPr>
            <a:endParaRPr lang="en-US" sz="2000" b="1" dirty="0">
              <a:solidFill>
                <a:srgbClr val="2B2B2B"/>
              </a:solidFill>
              <a:latin typeface="Calibri" pitchFamily="34" charset="0"/>
              <a:ea typeface="Calibri" pitchFamily="34" charset="-122"/>
              <a:cs typeface="Calibri" pitchFamily="34" charset="-120"/>
            </a:endParaRPr>
          </a:p>
          <a:p>
            <a:pPr marL="0" indent="0">
              <a:lnSpc>
                <a:spcPct val="100000"/>
              </a:lnSpc>
              <a:buNone/>
            </a:pPr>
            <a:r>
              <a:rPr lang="en-US" sz="2000" dirty="0">
                <a:solidFill>
                  <a:srgbClr val="2B2B2B"/>
                </a:solidFill>
                <a:latin typeface="Calibri" pitchFamily="34" charset="0"/>
                <a:ea typeface="Calibri" pitchFamily="34" charset="-122"/>
                <a:cs typeface="Calibri" pitchFamily="34" charset="-120"/>
              </a:rPr>
              <a:t>Azure DevOps continues to gain AI capabilities, but repository location still determines which workflows are available natively.</a:t>
            </a:r>
            <a:endParaRPr lang="en-US" sz="2000" dirty="0"/>
          </a:p>
        </p:txBody>
      </p:sp>
      <p:sp>
        <p:nvSpPr>
          <p:cNvPr id="8" name="Shape 5"/>
          <p:cNvSpPr/>
          <p:nvPr/>
        </p:nvSpPr>
        <p:spPr>
          <a:xfrm>
            <a:off x="548640" y="4114800"/>
            <a:ext cx="5349240" cy="1508760"/>
          </a:xfrm>
          <a:prstGeom prst="roundRect">
            <a:avLst>
              <a:gd name="adj" fmla="val 7273"/>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4251960"/>
            <a:ext cx="4800600" cy="502920"/>
          </a:xfrm>
          <a:prstGeom prst="rect">
            <a:avLst/>
          </a:prstGeom>
          <a:noFill/>
          <a:ln/>
        </p:spPr>
        <p:txBody>
          <a:bodyPr wrap="square" lIns="0" tIns="0" rIns="0" bIns="0" rtlCol="0" anchor="ctr"/>
          <a:lstStyle/>
          <a:p>
            <a:pPr marL="0" indent="0">
              <a:buNone/>
            </a:pPr>
            <a:r>
              <a:rPr lang="en-US" sz="1900" b="1" dirty="0">
                <a:solidFill>
                  <a:srgbClr val="F5F5F0"/>
                </a:solidFill>
                <a:latin typeface="Cambria" pitchFamily="34" charset="0"/>
                <a:ea typeface="Cambria" pitchFamily="34" charset="-122"/>
                <a:cs typeface="Cambria" pitchFamily="34" charset="-120"/>
              </a:rPr>
              <a:t>GitHub</a:t>
            </a:r>
            <a:endParaRPr lang="en-US" sz="1900" dirty="0"/>
          </a:p>
        </p:txBody>
      </p:sp>
      <p:sp>
        <p:nvSpPr>
          <p:cNvPr id="10" name="Text 7"/>
          <p:cNvSpPr txBox="1"/>
          <p:nvPr/>
        </p:nvSpPr>
        <p:spPr>
          <a:xfrm>
            <a:off x="822960" y="4773168"/>
            <a:ext cx="4800600" cy="777240"/>
          </a:xfrm>
          <a:prstGeom prst="rect">
            <a:avLst/>
          </a:prstGeom>
          <a:noFill/>
          <a:ln/>
        </p:spPr>
        <p:txBody>
          <a:bodyPr wrap="square" lIns="0" tIns="0" rIns="0" bIns="0" rtlCol="0" anchor="ctr"/>
          <a:lstStyle/>
          <a:p>
            <a:pPr marL="0" indent="0">
              <a:buNone/>
            </a:pPr>
            <a:r>
              <a:rPr lang="en-US" sz="1600" dirty="0">
                <a:solidFill>
                  <a:srgbClr val="F5F5F0"/>
                </a:solidFill>
                <a:latin typeface="Calibri" pitchFamily="34" charset="0"/>
                <a:ea typeface="Calibri" pitchFamily="34" charset="-122"/>
                <a:cs typeface="Calibri" pitchFamily="34" charset="-120"/>
              </a:rPr>
              <a:t>Full agentic Copilot suite, shipping now</a:t>
            </a:r>
            <a:endParaRPr lang="en-US" sz="1600" dirty="0"/>
          </a:p>
        </p:txBody>
      </p:sp>
      <p:sp>
        <p:nvSpPr>
          <p:cNvPr id="11" name="Shape 8"/>
          <p:cNvSpPr/>
          <p:nvPr/>
        </p:nvSpPr>
        <p:spPr>
          <a:xfrm>
            <a:off x="6172200" y="4114800"/>
            <a:ext cx="5349240" cy="1508760"/>
          </a:xfrm>
          <a:prstGeom prst="roundRect">
            <a:avLst>
              <a:gd name="adj" fmla="val 727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9"/>
          <p:cNvSpPr txBox="1"/>
          <p:nvPr/>
        </p:nvSpPr>
        <p:spPr>
          <a:xfrm>
            <a:off x="6446520" y="4251960"/>
            <a:ext cx="4800600" cy="502920"/>
          </a:xfrm>
          <a:prstGeom prst="rect">
            <a:avLst/>
          </a:prstGeom>
          <a:noFill/>
          <a:ln/>
        </p:spPr>
        <p:txBody>
          <a:bodyPr wrap="square" lIns="0" tIns="0" rIns="0" bIns="0" rtlCol="0" anchor="ctr"/>
          <a:lstStyle/>
          <a:p>
            <a:pPr marL="0" indent="0">
              <a:buNone/>
            </a:pPr>
            <a:r>
              <a:rPr lang="en-US" sz="1900" b="1" dirty="0">
                <a:solidFill>
                  <a:srgbClr val="1F3D2C"/>
                </a:solidFill>
                <a:latin typeface="Cambria" pitchFamily="34" charset="0"/>
                <a:ea typeface="Cambria" pitchFamily="34" charset="-122"/>
                <a:cs typeface="Cambria" pitchFamily="34" charset="-120"/>
              </a:rPr>
              <a:t>Azure DevOps</a:t>
            </a:r>
            <a:endParaRPr lang="en-US" sz="1900" dirty="0"/>
          </a:p>
        </p:txBody>
      </p:sp>
      <p:sp>
        <p:nvSpPr>
          <p:cNvPr id="13" name="Text 10"/>
          <p:cNvSpPr txBox="1"/>
          <p:nvPr/>
        </p:nvSpPr>
        <p:spPr>
          <a:xfrm>
            <a:off x="6446520" y="4773168"/>
            <a:ext cx="4800600" cy="77724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AI features arriving, roadmap still catching up</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sp>
        <p:nvSpPr>
          <p:cNvPr id="4" name="Text 1"/>
          <p:cNvSpPr txBox="1"/>
          <p:nvPr/>
        </p:nvSpPr>
        <p:spPr>
          <a:xfrm>
            <a:off x="1234440" y="420624"/>
            <a:ext cx="9875520" cy="320040"/>
          </a:xfrm>
          <a:prstGeom prst="rect">
            <a:avLst/>
          </a:prstGeom>
          <a:noFill/>
          <a:ln/>
        </p:spPr>
        <p:txBody>
          <a:bodyPr wrap="square" lIns="0" tIns="0" rIns="0" bIns="0" rtlCol="0" anchor="ctr"/>
          <a:lstStyle/>
          <a:p>
            <a:r>
              <a:rPr lang="en-US" sz="1500" b="1" kern="0" spc="200" dirty="0">
                <a:solidFill>
                  <a:srgbClr val="C1440E"/>
                </a:solidFill>
                <a:latin typeface="Calibri" pitchFamily="34" charset="0"/>
                <a:ea typeface="Calibri" pitchFamily="34" charset="-122"/>
                <a:cs typeface="Calibri" pitchFamily="34" charset="-120"/>
              </a:rPr>
              <a:t>WHY LEAVE THE HERD</a:t>
            </a:r>
            <a:endParaRPr lang="en-US" sz="1500" dirty="0"/>
          </a:p>
        </p:txBody>
      </p:sp>
      <p:sp>
        <p:nvSpPr>
          <p:cNvPr id="5" name="Text 2"/>
          <p:cNvSpPr txBox="1"/>
          <p:nvPr/>
        </p:nvSpPr>
        <p:spPr>
          <a:xfrm>
            <a:off x="1234440" y="731520"/>
            <a:ext cx="10469880" cy="566928"/>
          </a:xfrm>
          <a:prstGeom prst="rect">
            <a:avLst/>
          </a:prstGeom>
          <a:noFill/>
          <a:ln/>
        </p:spPr>
        <p:txBody>
          <a:bodyPr wrap="square" lIns="0" tIns="0" rIns="0" bIns="0" rtlCol="0" anchor="ctr"/>
          <a:lstStyle/>
          <a:p>
            <a:r>
              <a:rPr lang="en-US" sz="3200" b="1" dirty="0">
                <a:solidFill>
                  <a:srgbClr val="1F3D2C"/>
                </a:solidFill>
                <a:latin typeface="Cambria" pitchFamily="34" charset="0"/>
                <a:ea typeface="Cambria" pitchFamily="34" charset="-122"/>
                <a:cs typeface="Cambria" pitchFamily="34" charset="-120"/>
              </a:rPr>
              <a:t>Why Repository Location Matters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807384260"/>
              </p:ext>
            </p:extLst>
          </p:nvPr>
        </p:nvGraphicFramePr>
        <p:xfrm>
          <a:off x="548640" y="1417320"/>
          <a:ext cx="11064240" cy="4389120"/>
        </p:xfrm>
        <a:graphic>
          <a:graphicData uri="http://schemas.openxmlformats.org/drawingml/2006/table">
            <a:tbl>
              <a:tblPr/>
              <a:tblGrid>
                <a:gridCol w="233172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487680">
                <a:tc>
                  <a:txBody>
                    <a:bodyPr/>
                    <a:lstStyle/>
                    <a:p>
                      <a:pPr marL="0" indent="0">
                        <a:lnSpc>
                          <a:spcPct val="92000"/>
                        </a:lnSpc>
                        <a:buNone/>
                      </a:pPr>
                      <a:r>
                        <a:rPr lang="en-US" sz="1400" b="1">
                          <a:solidFill>
                            <a:srgbClr val="F5F5F0"/>
                          </a:solidFill>
                          <a:latin typeface="Calibri"/>
                        </a:rPr>
                        <a:t>Capability</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marL="0" indent="0">
                        <a:lnSpc>
                          <a:spcPct val="92000"/>
                        </a:lnSpc>
                        <a:buNone/>
                      </a:pPr>
                      <a:r>
                        <a:rPr lang="en-US" sz="1400" b="1" dirty="0">
                          <a:solidFill>
                            <a:srgbClr val="F5F5F0"/>
                          </a:solidFill>
                          <a:latin typeface="Calibri"/>
                        </a:rPr>
                        <a:t>GitHub </a:t>
                      </a:r>
                      <a:endParaRPr lang="en-US" sz="1400" dirty="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marL="0" indent="0">
                        <a:lnSpc>
                          <a:spcPct val="92000"/>
                        </a:lnSpc>
                        <a:buNone/>
                      </a:pPr>
                      <a:r>
                        <a:rPr lang="en-US" sz="1400" b="1" dirty="0">
                          <a:solidFill>
                            <a:srgbClr val="F5F5F0"/>
                          </a:solidFill>
                          <a:latin typeface="Calibri"/>
                        </a:rPr>
                        <a:t>Azure DevOps</a:t>
                      </a:r>
                      <a:endParaRPr lang="en-US" sz="1400" dirty="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extLst>
                  <a:ext uri="{0D108BD9-81ED-4DB2-BD59-A6C34878D82A}">
                    <a16:rowId xmlns:a16="http://schemas.microsoft.com/office/drawing/2014/main" val="10000"/>
                  </a:ext>
                </a:extLst>
              </a:tr>
              <a:tr h="487680">
                <a:tc>
                  <a:txBody>
                    <a:bodyPr/>
                    <a:lstStyle/>
                    <a:p>
                      <a:pPr marL="0" indent="0">
                        <a:lnSpc>
                          <a:spcPct val="92000"/>
                        </a:lnSpc>
                        <a:buNone/>
                      </a:pPr>
                      <a:r>
                        <a:rPr lang="en-US" sz="1400" b="1">
                          <a:solidFill>
                            <a:srgbClr val="1F3D2C"/>
                          </a:solidFill>
                          <a:latin typeface="Cambria"/>
                        </a:rPr>
                        <a:t>Repository-aware chat</a:t>
                      </a:r>
                      <a:endParaRPr lang="en-US" sz="1400">
                        <a:latin typeface="Cambria" charset="0"/>
                        <a:ea typeface="Cambria" charset="0"/>
                        <a:cs typeface="Cambria"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nSpc>
                          <a:spcPct val="92000"/>
                        </a:lnSpc>
                        <a:buNone/>
                      </a:pPr>
                      <a:r>
                        <a:rPr lang="en-US" sz="1400" b="0">
                          <a:solidFill>
                            <a:srgbClr val="2B2B2B"/>
                          </a:solidFill>
                          <a:latin typeface="Calibri"/>
                        </a:rPr>
                        <a:t>Native workspace and repository context</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nSpc>
                          <a:spcPct val="92000"/>
                        </a:lnSpc>
                        <a:buNone/>
                      </a:pPr>
                      <a:r>
                        <a:rPr lang="en-US" sz="1400" b="0">
                          <a:solidFill>
                            <a:srgbClr val="2B2B2B"/>
                          </a:solidFill>
                          <a:latin typeface="Calibri"/>
                        </a:rPr>
                        <a:t>Local repo context; Azure DevOps service context through MCP</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1"/>
                  </a:ext>
                </a:extLst>
              </a:tr>
              <a:tr h="487680">
                <a:tc>
                  <a:txBody>
                    <a:bodyPr/>
                    <a:lstStyle/>
                    <a:p>
                      <a:pPr marL="0" indent="0">
                        <a:lnSpc>
                          <a:spcPct val="92000"/>
                        </a:lnSpc>
                        <a:buNone/>
                      </a:pPr>
                      <a:r>
                        <a:rPr lang="en-US" sz="1400" b="1">
                          <a:solidFill>
                            <a:srgbClr val="1F3D2C"/>
                          </a:solidFill>
                          <a:latin typeface="Cambria"/>
                        </a:rPr>
                        <a:t>Autonomous coding agents</a:t>
                      </a:r>
                      <a:endParaRPr lang="en-US" sz="1400">
                        <a:latin typeface="Cambria" charset="0"/>
                        <a:ea typeface="Cambria" charset="0"/>
                        <a:cs typeface="Cambria"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nSpc>
                          <a:spcPct val="92000"/>
                        </a:lnSpc>
                        <a:buNone/>
                      </a:pPr>
                      <a:r>
                        <a:rPr lang="en-US" sz="1400" b="0">
                          <a:solidFill>
                            <a:srgbClr val="2B2B2B"/>
                          </a:solidFill>
                          <a:latin typeface="Calibri"/>
                        </a:rPr>
                        <a:t>Cloud agent changes code and opens pull requests</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nSpc>
                          <a:spcPct val="92000"/>
                        </a:lnSpc>
                        <a:buNone/>
                      </a:pPr>
                      <a:r>
                        <a:rPr lang="en-US" sz="1400" b="0">
                          <a:solidFill>
                            <a:srgbClr val="2B2B2B"/>
                          </a:solidFill>
                          <a:latin typeface="Calibri"/>
                        </a:rPr>
                        <a:t>Azure Boards can trigger it, but output must be GitHub-hosted</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87680">
                <a:tc>
                  <a:txBody>
                    <a:bodyPr/>
                    <a:lstStyle/>
                    <a:p>
                      <a:pPr marL="0" indent="0">
                        <a:lnSpc>
                          <a:spcPct val="92000"/>
                        </a:lnSpc>
                        <a:buNone/>
                      </a:pPr>
                      <a:r>
                        <a:rPr lang="en-US" sz="1400" b="1">
                          <a:solidFill>
                            <a:srgbClr val="1F3D2C"/>
                          </a:solidFill>
                          <a:latin typeface="Cambria"/>
                        </a:rPr>
                        <a:t>Security remediation</a:t>
                      </a:r>
                      <a:endParaRPr lang="en-US" sz="1400">
                        <a:latin typeface="Cambria" charset="0"/>
                        <a:ea typeface="Cambria" charset="0"/>
                        <a:cs typeface="Cambria"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nSpc>
                          <a:spcPct val="92000"/>
                        </a:lnSpc>
                        <a:buNone/>
                      </a:pPr>
                      <a:r>
                        <a:rPr lang="en-US" sz="1400" b="0">
                          <a:solidFill>
                            <a:srgbClr val="2B2B2B"/>
                          </a:solidFill>
                          <a:latin typeface="Calibri"/>
                        </a:rPr>
                        <a:t>Autofix GA; agentic Autofix in public preview</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nSpc>
                          <a:spcPct val="92000"/>
                        </a:lnSpc>
                        <a:buNone/>
                      </a:pPr>
                      <a:r>
                        <a:rPr lang="en-US" sz="1400" b="0">
                          <a:solidFill>
                            <a:srgbClr val="2B2B2B"/>
                          </a:solidFill>
                          <a:latin typeface="Calibri"/>
                        </a:rPr>
                        <a:t>Autofix in limited preview through GitHub Code Security</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3"/>
                  </a:ext>
                </a:extLst>
              </a:tr>
              <a:tr h="487680">
                <a:tc>
                  <a:txBody>
                    <a:bodyPr/>
                    <a:lstStyle/>
                    <a:p>
                      <a:pPr marL="0" indent="0">
                        <a:lnSpc>
                          <a:spcPct val="92000"/>
                        </a:lnSpc>
                        <a:buNone/>
                      </a:pPr>
                      <a:r>
                        <a:rPr lang="en-US" sz="1400" b="1">
                          <a:solidFill>
                            <a:srgbClr val="1F3D2C"/>
                          </a:solidFill>
                          <a:latin typeface="Cambria"/>
                        </a:rPr>
                        <a:t>Agentic code review</a:t>
                      </a:r>
                      <a:endParaRPr lang="en-US" sz="1400">
                        <a:latin typeface="Cambria" charset="0"/>
                        <a:ea typeface="Cambria" charset="0"/>
                        <a:cs typeface="Cambria"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nSpc>
                          <a:spcPct val="92000"/>
                        </a:lnSpc>
                        <a:buNone/>
                      </a:pPr>
                      <a:r>
                        <a:rPr lang="en-US" sz="1400" b="0">
                          <a:solidFill>
                            <a:srgbClr val="2B2B2B"/>
                          </a:solidFill>
                          <a:latin typeface="Calibri"/>
                        </a:rPr>
                        <a:t>Agentic Copilot code review is GA</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nSpc>
                          <a:spcPct val="92000"/>
                        </a:lnSpc>
                        <a:buNone/>
                      </a:pPr>
                      <a:r>
                        <a:rPr lang="en-US" sz="1400" b="0">
                          <a:solidFill>
                            <a:srgbClr val="2B2B2B"/>
                          </a:solidFill>
                          <a:latin typeface="Calibri"/>
                        </a:rPr>
                        <a:t>Copilot Code Review for Azure Repos is in public preview</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87680">
                <a:tc>
                  <a:txBody>
                    <a:bodyPr/>
                    <a:lstStyle/>
                    <a:p>
                      <a:pPr marL="0" indent="0">
                        <a:lnSpc>
                          <a:spcPct val="92000"/>
                        </a:lnSpc>
                        <a:buNone/>
                      </a:pPr>
                      <a:r>
                        <a:rPr lang="en-US" sz="1400" b="1">
                          <a:solidFill>
                            <a:srgbClr val="1F3D2C"/>
                          </a:solidFill>
                          <a:latin typeface="Cambria"/>
                        </a:rPr>
                        <a:t>Multi-agent orchestration</a:t>
                      </a:r>
                      <a:endParaRPr lang="en-US" sz="1400">
                        <a:latin typeface="Cambria" charset="0"/>
                        <a:ea typeface="Cambria" charset="0"/>
                        <a:cs typeface="Cambria"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nSpc>
                          <a:spcPct val="92000"/>
                        </a:lnSpc>
                        <a:buNone/>
                      </a:pPr>
                      <a:r>
                        <a:rPr lang="en-US" sz="1400" b="0">
                          <a:solidFill>
                            <a:srgbClr val="2B2B2B"/>
                          </a:solidFill>
                          <a:latin typeface="Calibri"/>
                        </a:rPr>
                        <a:t>Central hub; parallel Copilot, Claude, and Codex sessions</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nSpc>
                          <a:spcPct val="92000"/>
                        </a:lnSpc>
                        <a:buNone/>
                      </a:pPr>
                      <a:r>
                        <a:rPr lang="en-US" sz="1400" b="0">
                          <a:solidFill>
                            <a:srgbClr val="2B2B2B"/>
                          </a:solidFill>
                          <a:latin typeface="Calibri"/>
                        </a:rPr>
                        <a:t>No native equivalent; external agents can connect through MCP</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5"/>
                  </a:ext>
                </a:extLst>
              </a:tr>
              <a:tr h="487680">
                <a:tc>
                  <a:txBody>
                    <a:bodyPr/>
                    <a:lstStyle/>
                    <a:p>
                      <a:pPr marL="0" indent="0">
                        <a:lnSpc>
                          <a:spcPct val="92000"/>
                        </a:lnSpc>
                        <a:buNone/>
                      </a:pPr>
                      <a:r>
                        <a:rPr sz="1400" b="1">
                          <a:solidFill>
                            <a:srgbClr val="1F3D2C"/>
                          </a:solidFill>
                          <a:latin typeface="Cambria"/>
                        </a:rPr>
                        <a:t>Azure DevOps context through MCP</a:t>
                      </a:r>
                      <a:endParaRPr lang="en-US" sz="1400">
                        <a:latin typeface="Cambria" charset="0"/>
                        <a:ea typeface="Cambria" charset="0"/>
                        <a:cs typeface="Cambria"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nSpc>
                          <a:spcPct val="92000"/>
                        </a:lnSpc>
                        <a:buNone/>
                      </a:pPr>
                      <a:r>
                        <a:rPr sz="1400" b="0">
                          <a:solidFill>
                            <a:srgbClr val="2B2B2B"/>
                          </a:solidFill>
                          <a:latin typeface="Calibri"/>
                        </a:rPr>
                        <a:t>GitHub agents can consume Azure DevOps MCP context</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nSpc>
                          <a:spcPct val="92000"/>
                        </a:lnSpc>
                        <a:buNone/>
                      </a:pPr>
                      <a:r>
                        <a:rPr sz="1400" b="0">
                          <a:solidFill>
                            <a:srgbClr val="2B2B2B"/>
                          </a:solidFill>
                          <a:latin typeface="Calibri"/>
                        </a:rPr>
                        <a:t>Remote MCP Server is GA; hosted and free*</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940428834"/>
                  </a:ext>
                </a:extLst>
              </a:tr>
              <a:tr h="487680">
                <a:tc>
                  <a:txBody>
                    <a:bodyPr/>
                    <a:lstStyle/>
                    <a:p>
                      <a:pPr marL="0" indent="0">
                        <a:lnSpc>
                          <a:spcPct val="92000"/>
                        </a:lnSpc>
                        <a:buNone/>
                      </a:pPr>
                      <a:r>
                        <a:rPr sz="1400" b="1">
                          <a:solidFill>
                            <a:srgbClr val="1F3D2C"/>
                          </a:solidFill>
                          <a:latin typeface="Cambria"/>
                        </a:rPr>
                        <a:t>Repository hosting requirement</a:t>
                      </a:r>
                      <a:endParaRPr lang="en-US" sz="1400">
                        <a:latin typeface="Cambria" charset="0"/>
                        <a:ea typeface="Cambria" charset="0"/>
                        <a:cs typeface="Cambria"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nSpc>
                          <a:spcPct val="92000"/>
                        </a:lnSpc>
                        <a:buNone/>
                      </a:pPr>
                      <a:r>
                        <a:rPr sz="1400" b="0">
                          <a:solidFill>
                            <a:srgbClr val="2B2B2B"/>
                          </a:solidFill>
                          <a:latin typeface="Calibri"/>
                        </a:rPr>
                        <a:t>Copilot cloud agent requires a GitHub-hosted repository</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nSpc>
                          <a:spcPct val="92000"/>
                        </a:lnSpc>
                        <a:buNone/>
                      </a:pPr>
                      <a:r>
                        <a:rPr sz="1400" b="0">
                          <a:solidFill>
                            <a:srgbClr val="2B2B2B"/>
                          </a:solidFill>
                          <a:latin typeface="Calibri"/>
                        </a:rPr>
                        <a:t>Review, Autofix, and MCP support Azure Repos; cloud agent does not</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55000397"/>
                  </a:ext>
                </a:extLst>
              </a:tr>
              <a:tr h="487680">
                <a:tc>
                  <a:txBody>
                    <a:bodyPr/>
                    <a:lstStyle/>
                    <a:p>
                      <a:pPr marL="0" indent="0">
                        <a:lnSpc>
                          <a:spcPct val="92000"/>
                        </a:lnSpc>
                        <a:buNone/>
                      </a:pPr>
                      <a:r>
                        <a:rPr sz="1400" b="1">
                          <a:solidFill>
                            <a:srgbClr val="1F3D2C"/>
                          </a:solidFill>
                          <a:latin typeface="Cambria"/>
                        </a:rPr>
                        <a:t>Licensing and preview status</a:t>
                      </a:r>
                      <a:endParaRPr lang="en-US" sz="1400">
                        <a:latin typeface="Cambria" charset="0"/>
                        <a:ea typeface="Cambria" charset="0"/>
                        <a:cs typeface="Cambria"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nSpc>
                          <a:spcPct val="92000"/>
                        </a:lnSpc>
                        <a:buNone/>
                      </a:pPr>
                      <a:r>
                        <a:rPr sz="1400" b="0">
                          <a:solidFill>
                            <a:srgbClr val="2B2B2B"/>
                          </a:solidFill>
                          <a:latin typeface="Calibri"/>
                        </a:rPr>
                        <a:t>Paid Copilot for agents/review; Code Security where required</a:t>
                      </a:r>
                      <a:endParaRPr lang="en-US" sz="140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nSpc>
                          <a:spcPct val="92000"/>
                        </a:lnSpc>
                        <a:buNone/>
                      </a:pPr>
                      <a:r>
                        <a:rPr sz="1400" b="0" dirty="0">
                          <a:solidFill>
                            <a:srgbClr val="2B2B2B"/>
                          </a:solidFill>
                          <a:latin typeface="Calibri"/>
                        </a:rPr>
                        <a:t>MCP GA; review preview; </a:t>
                      </a:r>
                      <a:r>
                        <a:rPr sz="1400" b="0" dirty="0" err="1">
                          <a:solidFill>
                            <a:srgbClr val="2B2B2B"/>
                          </a:solidFill>
                          <a:latin typeface="Calibri"/>
                        </a:rPr>
                        <a:t>Autofix</a:t>
                      </a:r>
                      <a:r>
                        <a:rPr sz="1400" b="0" dirty="0">
                          <a:solidFill>
                            <a:srgbClr val="2B2B2B"/>
                          </a:solidFill>
                          <a:latin typeface="Calibri"/>
                        </a:rPr>
                        <a:t> limited preview + Code Security</a:t>
                      </a:r>
                      <a:endParaRPr lang="en-US" sz="1400" dirty="0">
                        <a:latin typeface="Calibri" charset="0"/>
                        <a:ea typeface="Calibri" charset="0"/>
                        <a:cs typeface="Calibri" charset="0"/>
                      </a:endParaRPr>
                    </a:p>
                  </a:txBody>
                  <a:tcPr marL="82296" marR="82296" marT="32004" marB="32004"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456293908"/>
                  </a:ext>
                </a:extLst>
              </a:tr>
            </a:tbl>
          </a:graphicData>
        </a:graphic>
      </p:graphicFrame>
      <p:sp>
        <p:nvSpPr>
          <p:cNvPr id="6" name="Shape 3"/>
          <p:cNvSpPr/>
          <p:nvPr/>
        </p:nvSpPr>
        <p:spPr>
          <a:xfrm>
            <a:off x="548640" y="5943600"/>
            <a:ext cx="11064240" cy="640080"/>
          </a:xfrm>
          <a:prstGeom prst="roundRect">
            <a:avLst>
              <a:gd name="adj" fmla="val 12000"/>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pPr algn="ctr"/>
            <a:r>
              <a:rPr lang="en-US" sz="1600" dirty="0">
                <a:solidFill>
                  <a:srgbClr val="F5F5F0"/>
                </a:solidFill>
              </a:rPr>
              <a:t>Capability status, licensing, and repository requirements change quickly. </a:t>
            </a:r>
          </a:p>
          <a:p>
            <a:pPr algn="ctr"/>
            <a:r>
              <a:rPr lang="en-US" sz="1600" dirty="0">
                <a:solidFill>
                  <a:srgbClr val="F5F5F0"/>
                </a:solidFill>
              </a:rPr>
              <a:t>Verify against the target tenant before building a migration plan around any single feature.</a:t>
            </a:r>
            <a:endParaRPr lang="en-US" sz="1600" dirty="0"/>
          </a:p>
        </p:txBody>
      </p:sp>
      <p:pic>
        <p:nvPicPr>
          <p:cNvPr id="12" name="Image 0" descr="/home/claude/pptx-build/assets/icons/FaRobot-FFFFFF-200.png">
            <a:extLst>
              <a:ext uri="{FF2B5EF4-FFF2-40B4-BE49-F238E27FC236}">
                <a16:creationId xmlns:a16="http://schemas.microsoft.com/office/drawing/2014/main" id="{C7D30FB2-0922-A6D6-BCA5-6BA66AED0F45}"/>
              </a:ext>
            </a:extLst>
          </p:cNvPr>
          <p:cNvPicPr>
            <a:picLocks noChangeAspect="1"/>
          </p:cNvPicPr>
          <p:nvPr/>
        </p:nvPicPr>
        <p:blipFill>
          <a:blip r:embed="rId3"/>
          <a:stretch>
            <a:fillRect/>
          </a:stretch>
        </p:blipFill>
        <p:spPr>
          <a:xfrm>
            <a:off x="685800" y="594360"/>
            <a:ext cx="292608" cy="2926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MapSigns-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WHY LEAVE THE HERD</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MCP Changed the Boundary, Not the Decision</a:t>
            </a:r>
            <a:endParaRPr lang="en-US" sz="3200" dirty="0"/>
          </a:p>
        </p:txBody>
      </p:sp>
      <p:sp>
        <p:nvSpPr>
          <p:cNvPr id="6" name="Shape 3"/>
          <p:cNvSpPr/>
          <p:nvPr/>
        </p:nvSpPr>
        <p:spPr>
          <a:xfrm>
            <a:off x="822960" y="5504688"/>
            <a:ext cx="10561320" cy="0"/>
          </a:xfrm>
          <a:prstGeom prst="line">
            <a:avLst/>
          </a:prstGeom>
          <a:noFill/>
          <a:ln w="19050">
            <a:solidFill>
              <a:srgbClr val="DDD8CC"/>
            </a:solidFill>
            <a:prstDash val="solid"/>
          </a:ln>
        </p:spPr>
        <p:txBody>
          <a:bodyPr/>
          <a:lstStyle/>
          <a:p>
            <a:endParaRPr lang="en-US"/>
          </a:p>
        </p:txBody>
      </p:sp>
      <p:sp>
        <p:nvSpPr>
          <p:cNvPr id="22" name="Text 19"/>
          <p:cNvSpPr txBox="1"/>
          <p:nvPr/>
        </p:nvSpPr>
        <p:spPr>
          <a:xfrm>
            <a:off x="822960" y="1325880"/>
            <a:ext cx="10561320" cy="566928"/>
          </a:xfrm>
          <a:prstGeom prst="rect">
            <a:avLst/>
          </a:prstGeom>
          <a:noFill/>
          <a:ln/>
        </p:spPr>
        <p:txBody>
          <a:bodyPr wrap="square" lIns="0" tIns="0" rIns="0" bIns="0" rtlCol="0" anchor="ctr"/>
          <a:lstStyle/>
          <a:p>
            <a:pPr marL="0" indent="0" algn="ctr">
              <a:buNone/>
            </a:pPr>
            <a:r>
              <a:rPr lang="en-US" sz="1800" i="0" dirty="0">
                <a:solidFill>
                  <a:srgbClr val="1F3D2C"/>
                </a:solidFill>
              </a:rPr>
              <a:t>MCP reduces the need for custom point-to-point integrations, but repository-native development and governance capabilities still depend on where the code resides.</a:t>
            </a:r>
            <a:endParaRPr lang="en-US" sz="1900" dirty="0"/>
          </a:p>
        </p:txBody>
      </p:sp>
      <p:sp>
        <p:nvSpPr>
          <p:cNvPr id="23" name="Shape 20"/>
          <p:cNvSpPr/>
          <p:nvPr/>
        </p:nvSpPr>
        <p:spPr>
          <a:xfrm>
            <a:off x="548640" y="2103120"/>
            <a:ext cx="5440680" cy="3200400"/>
          </a:xfrm>
          <a:prstGeom prst="roundRect">
            <a:avLst>
              <a:gd name="adj" fmla="val 4615"/>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4" name="Text 21"/>
          <p:cNvSpPr txBox="1"/>
          <p:nvPr/>
        </p:nvSpPr>
        <p:spPr>
          <a:xfrm>
            <a:off x="822960" y="2313432"/>
            <a:ext cx="4892040" cy="384048"/>
          </a:xfrm>
          <a:prstGeom prst="rect">
            <a:avLst/>
          </a:prstGeom>
          <a:noFill/>
          <a:ln/>
        </p:spPr>
        <p:txBody>
          <a:bodyPr wrap="square" lIns="0" tIns="0" rIns="0" bIns="0" rtlCol="0" anchor="ctr"/>
          <a:lstStyle/>
          <a:p>
            <a:pPr marL="0" indent="0">
              <a:buNone/>
            </a:pPr>
            <a:r>
              <a:rPr lang="en-US" sz="2000" b="1">
                <a:solidFill>
                  <a:srgbClr val="1F3D2C"/>
                </a:solidFill>
                <a:latin typeface="Cambria"/>
              </a:rPr>
              <a:t>What MCP changes</a:t>
            </a:r>
            <a:endParaRPr lang="en-US" sz="1600" dirty="0"/>
          </a:p>
        </p:txBody>
      </p:sp>
      <p:sp>
        <p:nvSpPr>
          <p:cNvPr id="25" name="Text 22"/>
          <p:cNvSpPr txBox="1"/>
          <p:nvPr/>
        </p:nvSpPr>
        <p:spPr>
          <a:xfrm>
            <a:off x="822960" y="2816352"/>
            <a:ext cx="4892040" cy="2148840"/>
          </a:xfrm>
          <a:prstGeom prst="rect">
            <a:avLst/>
          </a:prstGeom>
          <a:noFill/>
          <a:ln/>
        </p:spPr>
        <p:txBody>
          <a:bodyPr wrap="square" lIns="0" tIns="0" rIns="0" bIns="0" rtlCol="0" anchor="t"/>
          <a:lstStyle/>
          <a:p>
            <a:pPr marL="342900" indent="-342900">
              <a:lnSpc>
                <a:spcPct val="108000"/>
              </a:lnSpc>
              <a:spcAft>
                <a:spcPts val="1000"/>
              </a:spcAft>
              <a:buSzPct val="100000"/>
            </a:pPr>
            <a:r>
              <a:rPr lang="en-US" sz="1700" dirty="0">
                <a:solidFill>
                  <a:srgbClr val="2B2B2B"/>
                </a:solidFill>
                <a:latin typeface="Calibri"/>
              </a:rPr>
              <a:t>•  Agents can reach more enterprise systems.</a:t>
            </a:r>
            <a:endParaRPr lang="en-US" sz="1350" dirty="0"/>
          </a:p>
          <a:p>
            <a:pPr>
              <a:lnSpc>
                <a:spcPct val="108000"/>
              </a:lnSpc>
              <a:spcAft>
                <a:spcPts val="1000"/>
              </a:spcAft>
            </a:pPr>
            <a:r>
              <a:rPr lang="en-US" sz="1700" dirty="0">
                <a:solidFill>
                  <a:srgbClr val="2B2B2B"/>
                </a:solidFill>
                <a:latin typeface="Calibri"/>
              </a:rPr>
              <a:t>•  Cross-tool workflows require less bespoke integration.</a:t>
            </a:r>
          </a:p>
          <a:p>
            <a:pPr>
              <a:lnSpc>
                <a:spcPct val="108000"/>
              </a:lnSpc>
              <a:spcAft>
                <a:spcPts val="1000"/>
              </a:spcAft>
            </a:pPr>
            <a:r>
              <a:rPr lang="en-US" sz="1700" dirty="0">
                <a:solidFill>
                  <a:srgbClr val="2B2B2B"/>
                </a:solidFill>
                <a:latin typeface="Calibri"/>
              </a:rPr>
              <a:t>•  Platform boundaries are more permeable.</a:t>
            </a:r>
          </a:p>
        </p:txBody>
      </p:sp>
      <p:sp>
        <p:nvSpPr>
          <p:cNvPr id="26" name="Shape 23"/>
          <p:cNvSpPr/>
          <p:nvPr/>
        </p:nvSpPr>
        <p:spPr>
          <a:xfrm>
            <a:off x="6199632" y="2103120"/>
            <a:ext cx="5440680" cy="3200400"/>
          </a:xfrm>
          <a:prstGeom prst="roundRect">
            <a:avLst>
              <a:gd name="adj" fmla="val 4615"/>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7" name="Text 24"/>
          <p:cNvSpPr txBox="1"/>
          <p:nvPr/>
        </p:nvSpPr>
        <p:spPr>
          <a:xfrm>
            <a:off x="6473952" y="2313432"/>
            <a:ext cx="4892040" cy="384048"/>
          </a:xfrm>
          <a:prstGeom prst="rect">
            <a:avLst/>
          </a:prstGeom>
          <a:noFill/>
          <a:ln/>
        </p:spPr>
        <p:txBody>
          <a:bodyPr wrap="square" lIns="0" tIns="0" rIns="0" bIns="0" rtlCol="0" anchor="ctr"/>
          <a:lstStyle/>
          <a:p>
            <a:pPr marL="0" indent="0">
              <a:buNone/>
            </a:pPr>
            <a:r>
              <a:rPr lang="en-US" sz="2000" b="1">
                <a:solidFill>
                  <a:srgbClr val="F5F5F0"/>
                </a:solidFill>
                <a:latin typeface="Cambria"/>
              </a:rPr>
              <a:t>What MCP does not change</a:t>
            </a:r>
            <a:endParaRPr lang="en-US" sz="1600" dirty="0"/>
          </a:p>
        </p:txBody>
      </p:sp>
      <p:sp>
        <p:nvSpPr>
          <p:cNvPr id="28" name="Text 25"/>
          <p:cNvSpPr txBox="1"/>
          <p:nvPr/>
        </p:nvSpPr>
        <p:spPr>
          <a:xfrm>
            <a:off x="6473952" y="2816352"/>
            <a:ext cx="4892040" cy="2148840"/>
          </a:xfrm>
          <a:prstGeom prst="rect">
            <a:avLst/>
          </a:prstGeom>
          <a:noFill/>
          <a:ln/>
        </p:spPr>
        <p:txBody>
          <a:bodyPr wrap="square" lIns="0" tIns="0" rIns="0" bIns="0" rtlCol="0" anchor="t"/>
          <a:lstStyle/>
          <a:p>
            <a:pPr marL="0" indent="0">
              <a:lnSpc>
                <a:spcPct val="108000"/>
              </a:lnSpc>
              <a:spcAft>
                <a:spcPts val="600"/>
              </a:spcAft>
              <a:buNone/>
            </a:pPr>
            <a:r>
              <a:rPr lang="en-US" sz="1600" dirty="0">
                <a:solidFill>
                  <a:srgbClr val="F5F5F0"/>
                </a:solidFill>
                <a:latin typeface="Calibri"/>
              </a:rPr>
              <a:t>•  Where pull-request automation runs.</a:t>
            </a:r>
            <a:endParaRPr lang="en-US" sz="1300" dirty="0"/>
          </a:p>
          <a:p>
            <a:pPr>
              <a:lnSpc>
                <a:spcPct val="108000"/>
              </a:lnSpc>
              <a:spcAft>
                <a:spcPts val="600"/>
              </a:spcAft>
            </a:pPr>
            <a:r>
              <a:rPr lang="en-US" sz="1600" dirty="0">
                <a:solidFill>
                  <a:srgbClr val="F5F5F0"/>
                </a:solidFill>
                <a:latin typeface="Calibri"/>
              </a:rPr>
              <a:t>•  Where repository security analysis runs.</a:t>
            </a:r>
          </a:p>
          <a:p>
            <a:pPr>
              <a:lnSpc>
                <a:spcPct val="108000"/>
              </a:lnSpc>
              <a:spcAft>
                <a:spcPts val="600"/>
              </a:spcAft>
            </a:pPr>
            <a:r>
              <a:rPr lang="en-US" sz="1600" dirty="0">
                <a:solidFill>
                  <a:srgbClr val="F5F5F0"/>
                </a:solidFill>
                <a:latin typeface="Calibri"/>
              </a:rPr>
              <a:t>•  Which policies can be enforced natively.</a:t>
            </a:r>
          </a:p>
          <a:p>
            <a:pPr>
              <a:lnSpc>
                <a:spcPct val="108000"/>
              </a:lnSpc>
              <a:spcAft>
                <a:spcPts val="600"/>
              </a:spcAft>
            </a:pPr>
            <a:r>
              <a:rPr lang="en-US" sz="1600" dirty="0">
                <a:solidFill>
                  <a:srgbClr val="F5F5F0"/>
                </a:solidFill>
                <a:latin typeface="Calibri"/>
              </a:rPr>
              <a:t>•  Which platform owns repository governance.</a:t>
            </a:r>
          </a:p>
          <a:p>
            <a:pPr>
              <a:lnSpc>
                <a:spcPct val="108000"/>
              </a:lnSpc>
              <a:spcAft>
                <a:spcPts val="600"/>
              </a:spcAft>
            </a:pPr>
            <a:r>
              <a:rPr lang="en-US" sz="1600" dirty="0">
                <a:solidFill>
                  <a:srgbClr val="F5F5F0"/>
                </a:solidFill>
                <a:latin typeface="Calibri"/>
              </a:rPr>
              <a:t>•  Where code-centric agent workflows execute.</a:t>
            </a:r>
          </a:p>
        </p:txBody>
      </p:sp>
      <p:sp>
        <p:nvSpPr>
          <p:cNvPr id="31" name="Shape 15">
            <a:extLst>
              <a:ext uri="{FF2B5EF4-FFF2-40B4-BE49-F238E27FC236}">
                <a16:creationId xmlns:a16="http://schemas.microsoft.com/office/drawing/2014/main" id="{401AB940-2564-8BDF-3229-16D3A54BCA41}"/>
              </a:ext>
            </a:extLst>
          </p:cNvPr>
          <p:cNvSpPr/>
          <p:nvPr/>
        </p:nvSpPr>
        <p:spPr>
          <a:xfrm>
            <a:off x="548640" y="5756147"/>
            <a:ext cx="11091672" cy="868680"/>
          </a:xfrm>
          <a:prstGeom prst="roundRect">
            <a:avLst>
              <a:gd name="adj" fmla="val 12632"/>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33" name="Text 16">
            <a:extLst>
              <a:ext uri="{FF2B5EF4-FFF2-40B4-BE49-F238E27FC236}">
                <a16:creationId xmlns:a16="http://schemas.microsoft.com/office/drawing/2014/main" id="{9A7AECBA-1DA9-B352-68CE-3A2D1E3E15FE}"/>
              </a:ext>
            </a:extLst>
          </p:cNvPr>
          <p:cNvSpPr txBox="1"/>
          <p:nvPr/>
        </p:nvSpPr>
        <p:spPr>
          <a:xfrm>
            <a:off x="822960" y="5893307"/>
            <a:ext cx="10541672" cy="594360"/>
          </a:xfrm>
          <a:prstGeom prst="rect">
            <a:avLst/>
          </a:prstGeom>
          <a:noFill/>
          <a:ln/>
        </p:spPr>
        <p:txBody>
          <a:bodyPr wrap="square" lIns="0" tIns="0" rIns="0" bIns="0" rtlCol="0" anchor="ctr"/>
          <a:lstStyle/>
          <a:p>
            <a:pPr marL="0" indent="0" algn="ctr">
              <a:buNone/>
            </a:pPr>
            <a:r>
              <a:rPr lang="en-US" sz="1600" b="1" dirty="0">
                <a:solidFill>
                  <a:srgbClr val="F5F5F0"/>
                </a:solidFill>
                <a:latin typeface="Calibri" pitchFamily="34" charset="0"/>
                <a:ea typeface="Calibri" pitchFamily="34" charset="-122"/>
                <a:cs typeface="Calibri" pitchFamily="34" charset="-120"/>
              </a:rPr>
              <a:t>The platform decision did not disappear. It merely acquired more adapters.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Users-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WHY LEAVE THE HERD</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Non-AI Reasons for GitHub</a:t>
            </a:r>
            <a:endParaRPr lang="en-US" sz="3200" dirty="0"/>
          </a:p>
        </p:txBody>
      </p:sp>
      <p:sp>
        <p:nvSpPr>
          <p:cNvPr id="6" name="Shape 3"/>
          <p:cNvSpPr/>
          <p:nvPr/>
        </p:nvSpPr>
        <p:spPr>
          <a:xfrm>
            <a:off x="548640" y="1600200"/>
            <a:ext cx="11064240" cy="859536"/>
          </a:xfrm>
          <a:prstGeom prst="roundRect">
            <a:avLst>
              <a:gd name="adj" fmla="val 1276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822960" y="1746504"/>
            <a:ext cx="566928" cy="566928"/>
          </a:xfrm>
          <a:prstGeom prst="ellipse">
            <a:avLst/>
          </a:prstGeom>
          <a:solidFill>
            <a:srgbClr val="C1440E"/>
          </a:solidFill>
          <a:ln/>
        </p:spPr>
        <p:txBody>
          <a:bodyPr/>
          <a:lstStyle/>
          <a:p>
            <a:endParaRPr lang="en-US"/>
          </a:p>
        </p:txBody>
      </p:sp>
      <p:pic>
        <p:nvPicPr>
          <p:cNvPr id="8" name="Image 1" descr="/home/claude/pptx-build/assets/icons/FaUsers-FFFFFF-200.png"/>
          <p:cNvPicPr>
            <a:picLocks noChangeAspect="1"/>
          </p:cNvPicPr>
          <p:nvPr/>
        </p:nvPicPr>
        <p:blipFill>
          <a:blip r:embed="rId3"/>
          <a:stretch>
            <a:fillRect/>
          </a:stretch>
        </p:blipFill>
        <p:spPr>
          <a:xfrm>
            <a:off x="960120" y="1883664"/>
            <a:ext cx="292608" cy="292608"/>
          </a:xfrm>
          <a:prstGeom prst="rect">
            <a:avLst/>
          </a:prstGeom>
        </p:spPr>
      </p:pic>
      <p:sp>
        <p:nvSpPr>
          <p:cNvPr id="9" name="Text 5"/>
          <p:cNvSpPr txBox="1"/>
          <p:nvPr/>
        </p:nvSpPr>
        <p:spPr>
          <a:xfrm>
            <a:off x="1600200" y="1673352"/>
            <a:ext cx="3246120" cy="713232"/>
          </a:xfrm>
          <a:prstGeom prst="rect">
            <a:avLst/>
          </a:prstGeom>
          <a:noFill/>
          <a:ln/>
        </p:spPr>
        <p:txBody>
          <a:bodyPr wrap="square" lIns="0" tIns="0" rIns="0" bIns="0" rtlCol="0" anchor="ctr"/>
          <a:lstStyle/>
          <a:p>
            <a:pPr marL="0" indent="0">
              <a:buNone/>
            </a:pPr>
            <a:r>
              <a:rPr lang="en-US" sz="1650" b="1" dirty="0">
                <a:solidFill>
                  <a:srgbClr val="1F3D2C"/>
                </a:solidFill>
                <a:latin typeface="Cambria" pitchFamily="34" charset="0"/>
                <a:ea typeface="Cambria" pitchFamily="34" charset="-122"/>
                <a:cs typeface="Cambria" pitchFamily="34" charset="-120"/>
              </a:rPr>
              <a:t>180M+ developers already on GitHub</a:t>
            </a:r>
            <a:endParaRPr lang="en-US" sz="1650" dirty="0"/>
          </a:p>
        </p:txBody>
      </p:sp>
      <p:sp>
        <p:nvSpPr>
          <p:cNvPr id="10" name="Text 6"/>
          <p:cNvSpPr txBox="1"/>
          <p:nvPr/>
        </p:nvSpPr>
        <p:spPr>
          <a:xfrm>
            <a:off x="5029200" y="1673352"/>
            <a:ext cx="6309360" cy="713232"/>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The ecosystem is already there.</a:t>
            </a:r>
            <a:endParaRPr lang="en-US" sz="1400" dirty="0"/>
          </a:p>
        </p:txBody>
      </p:sp>
      <p:sp>
        <p:nvSpPr>
          <p:cNvPr id="11" name="Shape 7"/>
          <p:cNvSpPr/>
          <p:nvPr/>
        </p:nvSpPr>
        <p:spPr>
          <a:xfrm>
            <a:off x="548640" y="2532888"/>
            <a:ext cx="11064240" cy="859536"/>
          </a:xfrm>
          <a:prstGeom prst="roundRect">
            <a:avLst>
              <a:gd name="adj" fmla="val 1276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8"/>
          <p:cNvSpPr/>
          <p:nvPr/>
        </p:nvSpPr>
        <p:spPr>
          <a:xfrm>
            <a:off x="822960" y="2679192"/>
            <a:ext cx="566928" cy="566928"/>
          </a:xfrm>
          <a:prstGeom prst="ellipse">
            <a:avLst/>
          </a:prstGeom>
          <a:solidFill>
            <a:srgbClr val="C1440E"/>
          </a:solidFill>
          <a:ln/>
        </p:spPr>
        <p:txBody>
          <a:bodyPr/>
          <a:lstStyle/>
          <a:p>
            <a:endParaRPr lang="en-US"/>
          </a:p>
        </p:txBody>
      </p:sp>
      <p:pic>
        <p:nvPicPr>
          <p:cNvPr id="13" name="Image 2" descr="/home/claude/pptx-build/assets/icons/FaCubes-FFFFFF-200.png"/>
          <p:cNvPicPr>
            <a:picLocks noChangeAspect="1"/>
          </p:cNvPicPr>
          <p:nvPr/>
        </p:nvPicPr>
        <p:blipFill>
          <a:blip r:embed="rId4"/>
          <a:stretch>
            <a:fillRect/>
          </a:stretch>
        </p:blipFill>
        <p:spPr>
          <a:xfrm>
            <a:off x="960120" y="2816352"/>
            <a:ext cx="292608" cy="292608"/>
          </a:xfrm>
          <a:prstGeom prst="rect">
            <a:avLst/>
          </a:prstGeom>
        </p:spPr>
      </p:pic>
      <p:sp>
        <p:nvSpPr>
          <p:cNvPr id="14" name="Text 9"/>
          <p:cNvSpPr txBox="1"/>
          <p:nvPr/>
        </p:nvSpPr>
        <p:spPr>
          <a:xfrm>
            <a:off x="1600200" y="2606040"/>
            <a:ext cx="3246120" cy="713232"/>
          </a:xfrm>
          <a:prstGeom prst="rect">
            <a:avLst/>
          </a:prstGeom>
          <a:noFill/>
          <a:ln/>
        </p:spPr>
        <p:txBody>
          <a:bodyPr wrap="square" lIns="0" tIns="0" rIns="0" bIns="0" rtlCol="0" anchor="ctr"/>
          <a:lstStyle/>
          <a:p>
            <a:pPr marL="0" indent="0">
              <a:buNone/>
            </a:pPr>
            <a:r>
              <a:rPr lang="en-US" sz="1650" b="1" dirty="0">
                <a:solidFill>
                  <a:srgbClr val="1F3D2C"/>
                </a:solidFill>
                <a:latin typeface="Cambria" pitchFamily="34" charset="0"/>
                <a:ea typeface="Cambria" pitchFamily="34" charset="-122"/>
                <a:cs typeface="Cambria" pitchFamily="34" charset="-120"/>
              </a:rPr>
              <a:t>Large public Actions ecosystem and marketplace</a:t>
            </a:r>
            <a:endParaRPr lang="en-US" sz="1650" dirty="0"/>
          </a:p>
        </p:txBody>
      </p:sp>
      <p:sp>
        <p:nvSpPr>
          <p:cNvPr id="15" name="Text 10"/>
          <p:cNvSpPr txBox="1"/>
          <p:nvPr/>
        </p:nvSpPr>
        <p:spPr>
          <a:xfrm>
            <a:off x="5029200" y="2606040"/>
            <a:ext cx="6309360" cy="713232"/>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A far bigger marketplace than Azure Pipelines’ task catalogue.</a:t>
            </a:r>
            <a:endParaRPr lang="en-US" sz="1400" dirty="0"/>
          </a:p>
        </p:txBody>
      </p:sp>
      <p:sp>
        <p:nvSpPr>
          <p:cNvPr id="16" name="Shape 11"/>
          <p:cNvSpPr/>
          <p:nvPr/>
        </p:nvSpPr>
        <p:spPr>
          <a:xfrm>
            <a:off x="548640" y="3465576"/>
            <a:ext cx="11064240" cy="859536"/>
          </a:xfrm>
          <a:prstGeom prst="roundRect">
            <a:avLst>
              <a:gd name="adj" fmla="val 1276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2"/>
          <p:cNvSpPr/>
          <p:nvPr/>
        </p:nvSpPr>
        <p:spPr>
          <a:xfrm>
            <a:off x="822960" y="3611880"/>
            <a:ext cx="566928" cy="566928"/>
          </a:xfrm>
          <a:prstGeom prst="ellipse">
            <a:avLst/>
          </a:prstGeom>
          <a:solidFill>
            <a:srgbClr val="C1440E"/>
          </a:solidFill>
          <a:ln/>
        </p:spPr>
        <p:txBody>
          <a:bodyPr/>
          <a:lstStyle/>
          <a:p>
            <a:endParaRPr lang="en-US"/>
          </a:p>
        </p:txBody>
      </p:sp>
      <p:pic>
        <p:nvPicPr>
          <p:cNvPr id="18" name="Image 3" descr="/home/claude/pptx-build/assets/icons/FaHandshake-FFFFFF-200.png"/>
          <p:cNvPicPr>
            <a:picLocks noChangeAspect="1"/>
          </p:cNvPicPr>
          <p:nvPr/>
        </p:nvPicPr>
        <p:blipFill>
          <a:blip r:embed="rId5"/>
          <a:stretch>
            <a:fillRect/>
          </a:stretch>
        </p:blipFill>
        <p:spPr>
          <a:xfrm>
            <a:off x="960120" y="3749040"/>
            <a:ext cx="292608" cy="292608"/>
          </a:xfrm>
          <a:prstGeom prst="rect">
            <a:avLst/>
          </a:prstGeom>
        </p:spPr>
      </p:pic>
      <p:sp>
        <p:nvSpPr>
          <p:cNvPr id="19" name="Text 13"/>
          <p:cNvSpPr txBox="1"/>
          <p:nvPr/>
        </p:nvSpPr>
        <p:spPr>
          <a:xfrm>
            <a:off x="1600200" y="3538728"/>
            <a:ext cx="3246120" cy="713232"/>
          </a:xfrm>
          <a:prstGeom prst="rect">
            <a:avLst/>
          </a:prstGeom>
          <a:noFill/>
          <a:ln/>
        </p:spPr>
        <p:txBody>
          <a:bodyPr wrap="square" lIns="0" tIns="0" rIns="0" bIns="0" rtlCol="0" anchor="ctr"/>
          <a:lstStyle/>
          <a:p>
            <a:pPr marL="0" indent="0">
              <a:buNone/>
            </a:pPr>
            <a:r>
              <a:rPr lang="en-US" sz="1650" b="1" dirty="0">
                <a:solidFill>
                  <a:srgbClr val="1F3D2C"/>
                </a:solidFill>
                <a:latin typeface="Cambria" pitchFamily="34" charset="0"/>
                <a:ea typeface="Cambria" pitchFamily="34" charset="-122"/>
                <a:cs typeface="Cambria" pitchFamily="34" charset="-120"/>
              </a:rPr>
              <a:t>Open-source &amp; external contributors</a:t>
            </a:r>
            <a:endParaRPr lang="en-US" sz="1650" dirty="0"/>
          </a:p>
        </p:txBody>
      </p:sp>
      <p:sp>
        <p:nvSpPr>
          <p:cNvPr id="20" name="Text 14"/>
          <p:cNvSpPr txBox="1"/>
          <p:nvPr/>
        </p:nvSpPr>
        <p:spPr>
          <a:xfrm>
            <a:off x="5029200" y="3538728"/>
            <a:ext cx="6309360" cy="713232"/>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Already default to GitHub — no extra onboarding friction.</a:t>
            </a:r>
            <a:endParaRPr lang="en-US" sz="1400" dirty="0"/>
          </a:p>
        </p:txBody>
      </p:sp>
      <p:sp>
        <p:nvSpPr>
          <p:cNvPr id="21" name="Shape 15"/>
          <p:cNvSpPr/>
          <p:nvPr/>
        </p:nvSpPr>
        <p:spPr>
          <a:xfrm>
            <a:off x="548640" y="4398264"/>
            <a:ext cx="11064240" cy="859536"/>
          </a:xfrm>
          <a:prstGeom prst="roundRect">
            <a:avLst>
              <a:gd name="adj" fmla="val 1276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2" name="Shape 16"/>
          <p:cNvSpPr/>
          <p:nvPr/>
        </p:nvSpPr>
        <p:spPr>
          <a:xfrm>
            <a:off x="822960" y="4544568"/>
            <a:ext cx="566928" cy="566928"/>
          </a:xfrm>
          <a:prstGeom prst="ellipse">
            <a:avLst/>
          </a:prstGeom>
          <a:solidFill>
            <a:srgbClr val="C1440E"/>
          </a:solidFill>
          <a:ln/>
        </p:spPr>
        <p:txBody>
          <a:bodyPr/>
          <a:lstStyle/>
          <a:p>
            <a:endParaRPr lang="en-US"/>
          </a:p>
        </p:txBody>
      </p:sp>
      <p:pic>
        <p:nvPicPr>
          <p:cNvPr id="23" name="Image 4" descr="/home/claude/pptx-build/assets/icons/FaSlidersH-FFFFFF-200.png"/>
          <p:cNvPicPr>
            <a:picLocks noChangeAspect="1"/>
          </p:cNvPicPr>
          <p:nvPr/>
        </p:nvPicPr>
        <p:blipFill>
          <a:blip r:embed="rId6"/>
          <a:stretch>
            <a:fillRect/>
          </a:stretch>
        </p:blipFill>
        <p:spPr>
          <a:xfrm>
            <a:off x="960120" y="4681728"/>
            <a:ext cx="292608" cy="292608"/>
          </a:xfrm>
          <a:prstGeom prst="rect">
            <a:avLst/>
          </a:prstGeom>
        </p:spPr>
      </p:pic>
      <p:sp>
        <p:nvSpPr>
          <p:cNvPr id="24" name="Text 17"/>
          <p:cNvSpPr txBox="1"/>
          <p:nvPr/>
        </p:nvSpPr>
        <p:spPr>
          <a:xfrm>
            <a:off x="1600200" y="4471416"/>
            <a:ext cx="3246120" cy="713232"/>
          </a:xfrm>
          <a:prstGeom prst="rect">
            <a:avLst/>
          </a:prstGeom>
          <a:noFill/>
          <a:ln/>
        </p:spPr>
        <p:txBody>
          <a:bodyPr wrap="square" lIns="0" tIns="0" rIns="0" bIns="0" rtlCol="0" anchor="ctr"/>
          <a:lstStyle/>
          <a:p>
            <a:pPr marL="0" indent="0">
              <a:buNone/>
            </a:pPr>
            <a:r>
              <a:rPr lang="en-US" sz="1650" b="1" dirty="0">
                <a:solidFill>
                  <a:srgbClr val="1F3D2C"/>
                </a:solidFill>
                <a:latin typeface="Cambria" pitchFamily="34" charset="0"/>
                <a:ea typeface="Cambria" pitchFamily="34" charset="-122"/>
                <a:cs typeface="Cambria" pitchFamily="34" charset="-120"/>
              </a:rPr>
              <a:t>GitHub Actions flexibility</a:t>
            </a:r>
            <a:endParaRPr lang="en-US" sz="1650" dirty="0"/>
          </a:p>
        </p:txBody>
      </p:sp>
      <p:sp>
        <p:nvSpPr>
          <p:cNvPr id="25" name="Text 18"/>
          <p:cNvSpPr txBox="1"/>
          <p:nvPr/>
        </p:nvSpPr>
        <p:spPr>
          <a:xfrm>
            <a:off x="5029200" y="4471416"/>
            <a:ext cx="6309360" cy="713232"/>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Reusable workflows, matrix builds, a huge marketplace of pre-built steps, and self-hosted runners when you need them.</a:t>
            </a:r>
            <a:endParaRPr lang="en-US" sz="1400" dirty="0"/>
          </a:p>
        </p:txBody>
      </p:sp>
      <p:sp>
        <p:nvSpPr>
          <p:cNvPr id="26" name="Shape 19"/>
          <p:cNvSpPr/>
          <p:nvPr/>
        </p:nvSpPr>
        <p:spPr>
          <a:xfrm>
            <a:off x="548640" y="5330952"/>
            <a:ext cx="11064240" cy="859536"/>
          </a:xfrm>
          <a:prstGeom prst="roundRect">
            <a:avLst>
              <a:gd name="adj" fmla="val 1276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7" name="Shape 20"/>
          <p:cNvSpPr/>
          <p:nvPr/>
        </p:nvSpPr>
        <p:spPr>
          <a:xfrm>
            <a:off x="822960" y="5477256"/>
            <a:ext cx="566928" cy="566928"/>
          </a:xfrm>
          <a:prstGeom prst="ellipse">
            <a:avLst/>
          </a:prstGeom>
          <a:solidFill>
            <a:srgbClr val="C1440E"/>
          </a:solidFill>
          <a:ln/>
        </p:spPr>
        <p:txBody>
          <a:bodyPr/>
          <a:lstStyle/>
          <a:p>
            <a:endParaRPr lang="en-US"/>
          </a:p>
        </p:txBody>
      </p:sp>
      <p:pic>
        <p:nvPicPr>
          <p:cNvPr id="28" name="Image 5" descr="/home/claude/pptx-build/assets/icons/FaTerminal-FFFFFF-200.png"/>
          <p:cNvPicPr>
            <a:picLocks noChangeAspect="1"/>
          </p:cNvPicPr>
          <p:nvPr/>
        </p:nvPicPr>
        <p:blipFill>
          <a:blip r:embed="rId7"/>
          <a:stretch>
            <a:fillRect/>
          </a:stretch>
        </p:blipFill>
        <p:spPr>
          <a:xfrm>
            <a:off x="960120" y="5614416"/>
            <a:ext cx="292608" cy="292608"/>
          </a:xfrm>
          <a:prstGeom prst="rect">
            <a:avLst/>
          </a:prstGeom>
        </p:spPr>
      </p:pic>
      <p:sp>
        <p:nvSpPr>
          <p:cNvPr id="29" name="Text 21"/>
          <p:cNvSpPr txBox="1"/>
          <p:nvPr/>
        </p:nvSpPr>
        <p:spPr>
          <a:xfrm>
            <a:off x="1600200" y="5404104"/>
            <a:ext cx="3246120" cy="713232"/>
          </a:xfrm>
          <a:prstGeom prst="rect">
            <a:avLst/>
          </a:prstGeom>
          <a:noFill/>
          <a:ln/>
        </p:spPr>
        <p:txBody>
          <a:bodyPr wrap="square" lIns="0" tIns="0" rIns="0" bIns="0" rtlCol="0" anchor="ctr"/>
          <a:lstStyle/>
          <a:p>
            <a:pPr marL="0" indent="0">
              <a:buNone/>
            </a:pPr>
            <a:r>
              <a:rPr lang="en-US" sz="1650" b="1" dirty="0">
                <a:solidFill>
                  <a:srgbClr val="1F3D2C"/>
                </a:solidFill>
                <a:latin typeface="Cambria" pitchFamily="34" charset="0"/>
                <a:ea typeface="Cambria" pitchFamily="34" charset="-122"/>
                <a:cs typeface="Cambria" pitchFamily="34" charset="-120"/>
              </a:rPr>
              <a:t>Run a workflow locally to troubleshoot</a:t>
            </a:r>
            <a:endParaRPr lang="en-US" sz="1650" dirty="0"/>
          </a:p>
        </p:txBody>
      </p:sp>
      <p:sp>
        <p:nvSpPr>
          <p:cNvPr id="30" name="Text 22"/>
          <p:cNvSpPr txBox="1"/>
          <p:nvPr/>
        </p:nvSpPr>
        <p:spPr>
          <a:xfrm>
            <a:off x="5029200" y="5404104"/>
            <a:ext cx="6309360" cy="713232"/>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Tools like `act` execute a specific Actions definition right on your machine — debug without waiting on a hosted-runner queue.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txBody>
          <a:bodyPr/>
          <a:lstStyle/>
          <a:p>
            <a:endParaRPr lang="en-US"/>
          </a:p>
        </p:txBody>
      </p:sp>
      <p:sp>
        <p:nvSpPr>
          <p:cNvPr id="3" name="Text 1"/>
          <p:cNvSpPr txBox="1"/>
          <p:nvPr/>
        </p:nvSpPr>
        <p:spPr>
          <a:xfrm>
            <a:off x="548640" y="365760"/>
            <a:ext cx="9144000" cy="502920"/>
          </a:xfrm>
          <a:prstGeom prst="rect">
            <a:avLst/>
          </a:prstGeom>
          <a:noFill/>
          <a:ln/>
        </p:spPr>
        <p:txBody>
          <a:bodyPr wrap="square" lIns="0" tIns="0" rIns="0" bIns="0" rtlCol="0" anchor="ctr"/>
          <a:lstStyle/>
          <a:p>
            <a:pPr marL="0" indent="0">
              <a:buNone/>
            </a:pPr>
            <a:r>
              <a:rPr lang="en-US" sz="1700" b="1" kern="0" spc="300" dirty="0">
                <a:solidFill>
                  <a:srgbClr val="8C6A3F"/>
                </a:solidFill>
                <a:latin typeface="Calibri" pitchFamily="34" charset="0"/>
                <a:ea typeface="Calibri" pitchFamily="34" charset="-122"/>
                <a:cs typeface="Calibri" pitchFamily="34" charset="-120"/>
              </a:rPr>
              <a:t>SECTION 2</a:t>
            </a:r>
            <a:endParaRPr lang="en-US" sz="1700" dirty="0"/>
          </a:p>
        </p:txBody>
      </p:sp>
      <p:pic>
        <p:nvPicPr>
          <p:cNvPr id="4" name="Image 0" descr="/home/claude/pptx-build/assets/icons/FaBinoculars-8C6A3F-300.png"/>
          <p:cNvPicPr>
            <a:picLocks noChangeAspect="1"/>
          </p:cNvPicPr>
          <p:nvPr/>
        </p:nvPicPr>
        <p:blipFill>
          <a:blip r:embed="rId3">
            <a:alphaModFix amt="85000"/>
          </a:blip>
          <a:stretch>
            <a:fillRect/>
          </a:stretch>
        </p:blipFill>
        <p:spPr>
          <a:xfrm>
            <a:off x="9692640" y="2194560"/>
            <a:ext cx="1463040" cy="1463040"/>
          </a:xfrm>
          <a:prstGeom prst="rect">
            <a:avLst/>
          </a:prstGeom>
        </p:spPr>
      </p:pic>
      <p:sp>
        <p:nvSpPr>
          <p:cNvPr id="5" name="Text 2"/>
          <p:cNvSpPr txBox="1"/>
          <p:nvPr/>
        </p:nvSpPr>
        <p:spPr>
          <a:xfrm>
            <a:off x="548640" y="2331720"/>
            <a:ext cx="8778240" cy="1737360"/>
          </a:xfrm>
          <a:prstGeom prst="rect">
            <a:avLst/>
          </a:prstGeom>
          <a:noFill/>
          <a:ln/>
        </p:spPr>
        <p:txBody>
          <a:bodyPr wrap="square" lIns="0" tIns="0" rIns="0" bIns="0" rtlCol="0" anchor="t"/>
          <a:lstStyle/>
          <a:p>
            <a:pPr marL="0" indent="0">
              <a:buNone/>
            </a:pPr>
            <a:r>
              <a:rPr lang="en-US" sz="4400" b="1" dirty="0">
                <a:solidFill>
                  <a:srgbClr val="F5F5F0"/>
                </a:solidFill>
                <a:latin typeface="Cambria" pitchFamily="34" charset="0"/>
                <a:ea typeface="Cambria" pitchFamily="34" charset="-122"/>
                <a:cs typeface="Cambria" pitchFamily="34" charset="-120"/>
              </a:rPr>
              <a:t>A Field Guide to the Local Species</a:t>
            </a:r>
            <a:endParaRPr lang="en-US" sz="4400" dirty="0"/>
          </a:p>
        </p:txBody>
      </p:sp>
      <p:sp>
        <p:nvSpPr>
          <p:cNvPr id="6" name="Text 3"/>
          <p:cNvSpPr txBox="1"/>
          <p:nvPr/>
        </p:nvSpPr>
        <p:spPr>
          <a:xfrm>
            <a:off x="548640" y="4160520"/>
            <a:ext cx="8778240" cy="1234440"/>
          </a:xfrm>
          <a:prstGeom prst="rect">
            <a:avLst/>
          </a:prstGeom>
          <a:noFill/>
          <a:ln/>
        </p:spPr>
        <p:txBody>
          <a:bodyPr wrap="square" lIns="0" tIns="0" rIns="0" bIns="0" rtlCol="0" anchor="t"/>
          <a:lstStyle/>
          <a:p>
            <a:pPr marL="0" indent="0">
              <a:buNone/>
            </a:pPr>
            <a:r>
              <a:rPr lang="en-US" sz="2000" i="1" dirty="0">
                <a:solidFill>
                  <a:srgbClr val="8C6A3F"/>
                </a:solidFill>
                <a:latin typeface="Calibri" pitchFamily="34" charset="0"/>
                <a:ea typeface="Calibri" pitchFamily="34" charset="-122"/>
                <a:cs typeface="Calibri" pitchFamily="34" charset="-120"/>
              </a:rPr>
              <a:t>Before the crossing, a survey of the terrain: which subsystems travel clean, which need a second look, and which never leave the old ground at all.</a:t>
            </a:r>
            <a:endParaRPr lang="en-US" sz="2000" dirty="0"/>
          </a:p>
        </p:txBody>
      </p:sp>
      <p:sp>
        <p:nvSpPr>
          <p:cNvPr id="7" name="Shape 4"/>
          <p:cNvSpPr/>
          <p:nvPr/>
        </p:nvSpPr>
        <p:spPr>
          <a:xfrm>
            <a:off x="548640" y="6217920"/>
            <a:ext cx="11064240" cy="0"/>
          </a:xfrm>
          <a:prstGeom prst="line">
            <a:avLst/>
          </a:prstGeom>
          <a:noFill/>
          <a:ln w="9525">
            <a:solidFill>
              <a:srgbClr val="8C6A3F"/>
            </a:solidFill>
            <a:prstDash val="dash"/>
          </a:ln>
        </p:spPr>
        <p:txBody>
          <a:bodyPr/>
          <a:lstStyle/>
          <a:p>
            <a:endParaRPr lang="en-US"/>
          </a:p>
        </p:txBody>
      </p:sp>
      <p:sp>
        <p:nvSpPr>
          <p:cNvPr id="8" name="Text 5"/>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1200" dirty="0">
                <a:solidFill>
                  <a:srgbClr val="6B6B63"/>
                </a:solidFill>
                <a:latin typeface="Calibri" pitchFamily="34" charset="0"/>
                <a:ea typeface="Calibri" pitchFamily="34" charset="-122"/>
                <a:cs typeface="Calibri" pitchFamily="34" charset="-120"/>
              </a:rPr>
              <a:t>DOCUMENTARY VOICE — SPOKEN LIVE, NOT READ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ClipboardList-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The Scorecard — Full Reveal</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2784227124"/>
              </p:ext>
            </p:extLst>
          </p:nvPr>
        </p:nvGraphicFramePr>
        <p:xfrm>
          <a:off x="548640" y="1554480"/>
          <a:ext cx="11064240" cy="4377690"/>
        </p:xfrm>
        <a:graphic>
          <a:graphicData uri="http://schemas.openxmlformats.org/drawingml/2006/table">
            <a:tbl>
              <a:tblPr/>
              <a:tblGrid>
                <a:gridCol w="23317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6217920">
                  <a:extLst>
                    <a:ext uri="{9D8B030D-6E8A-4147-A177-3AD203B41FA5}">
                      <a16:colId xmlns:a16="http://schemas.microsoft.com/office/drawing/2014/main" val="20002"/>
                    </a:ext>
                  </a:extLst>
                </a:gridCol>
              </a:tblGrid>
              <a:tr h="537210">
                <a:tc>
                  <a:txBody>
                    <a:bodyPr/>
                    <a:lstStyle/>
                    <a:p>
                      <a:pPr marL="0" indent="0">
                        <a:buNone/>
                      </a:pPr>
                      <a:r>
                        <a:rPr lang="en-US" sz="1500" b="1" dirty="0">
                          <a:solidFill>
                            <a:srgbClr val="F5F5F0"/>
                          </a:solidFill>
                          <a:latin typeface="Calibri" pitchFamily="34" charset="0"/>
                          <a:ea typeface="Calibri" pitchFamily="34" charset="-122"/>
                          <a:cs typeface="Calibri" pitchFamily="34" charset="-120"/>
                        </a:rPr>
                        <a:t>Subsystem</a:t>
                      </a:r>
                      <a:endParaRPr lang="en-US" sz="150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marL="0" indent="0" algn="ctr">
                        <a:buNone/>
                      </a:pPr>
                      <a:r>
                        <a:rPr lang="en-US" sz="1500" b="1" dirty="0">
                          <a:solidFill>
                            <a:srgbClr val="F5F5F0"/>
                          </a:solidFill>
                          <a:latin typeface="Calibri" pitchFamily="34" charset="0"/>
                          <a:ea typeface="Calibri" pitchFamily="34" charset="-122"/>
                          <a:cs typeface="Calibri" pitchFamily="34" charset="-120"/>
                        </a:rPr>
                        <a:t>Verdict</a:t>
                      </a:r>
                      <a:endParaRPr lang="en-US" sz="150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marL="0" indent="0">
                        <a:buNone/>
                      </a:pPr>
                      <a:r>
                        <a:rPr lang="en-US" sz="1500" b="1" dirty="0">
                          <a:solidFill>
                            <a:srgbClr val="F5F5F0"/>
                          </a:solidFill>
                          <a:latin typeface="Calibri" pitchFamily="34" charset="0"/>
                          <a:ea typeface="Calibri" pitchFamily="34" charset="-122"/>
                          <a:cs typeface="Calibri" pitchFamily="34" charset="-120"/>
                        </a:rPr>
                        <a:t>Why</a:t>
                      </a:r>
                      <a:endParaRPr lang="en-US" sz="150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extLst>
                  <a:ext uri="{0D108BD9-81ED-4DB2-BD59-A6C34878D82A}">
                    <a16:rowId xmlns:a16="http://schemas.microsoft.com/office/drawing/2014/main" val="10000"/>
                  </a:ext>
                </a:extLst>
              </a:tr>
              <a:tr h="537210">
                <a:tc>
                  <a:txBody>
                    <a:bodyPr/>
                    <a:lstStyle/>
                    <a:p>
                      <a:pPr marL="0" indent="0">
                        <a:buNone/>
                      </a:pPr>
                      <a:r>
                        <a:rPr lang="en-US" sz="1500" b="1" dirty="0">
                          <a:solidFill>
                            <a:srgbClr val="1F3D2C"/>
                          </a:solidFill>
                          <a:latin typeface="Cambria" pitchFamily="34" charset="0"/>
                          <a:ea typeface="Cambria" pitchFamily="34" charset="-122"/>
                          <a:cs typeface="Cambria" pitchFamily="34" charset="-120"/>
                        </a:rPr>
                        <a:t>Repos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gn="ctr">
                        <a:buNone/>
                      </a:pPr>
                      <a:r>
                        <a:rPr lang="en-US" sz="1150" b="1" dirty="0">
                          <a:solidFill>
                            <a:srgbClr val="F5F5F0"/>
                          </a:solidFill>
                          <a:latin typeface="Calibri" pitchFamily="34" charset="0"/>
                          <a:ea typeface="Calibri" pitchFamily="34" charset="-122"/>
                          <a:cs typeface="Calibri" pitchFamily="34" charset="-120"/>
                        </a:rPr>
                        <a:t>PORTABLE</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marL="0" indent="0">
                        <a:buNone/>
                      </a:pPr>
                      <a:r>
                        <a:rPr lang="en-US" sz="1350" dirty="0">
                          <a:solidFill>
                            <a:srgbClr val="2B2B2B"/>
                          </a:solidFill>
                          <a:latin typeface="Calibri" pitchFamily="34" charset="0"/>
                          <a:ea typeface="Calibri" pitchFamily="34" charset="-122"/>
                          <a:cs typeface="Calibri" pitchFamily="34" charset="-120"/>
                        </a:rPr>
                        <a:t>Git history moves natively; supported PR metadata and repository-scoped policies move through GitHub Enterprise Importer.</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1"/>
                  </a:ext>
                </a:extLst>
              </a:tr>
              <a:tr h="537210">
                <a:tc>
                  <a:txBody>
                    <a:bodyPr/>
                    <a:lstStyle/>
                    <a:p>
                      <a:pPr marL="0" indent="0">
                        <a:buNone/>
                      </a:pPr>
                      <a:r>
                        <a:rPr lang="en-US" sz="1500" b="1" dirty="0">
                          <a:solidFill>
                            <a:srgbClr val="1F3D2C"/>
                          </a:solidFill>
                          <a:latin typeface="Cambria" pitchFamily="34" charset="0"/>
                          <a:ea typeface="Cambria" pitchFamily="34" charset="-122"/>
                          <a:cs typeface="Cambria" pitchFamily="34" charset="-120"/>
                        </a:rPr>
                        <a:t>Wiki</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F5F5F0"/>
                          </a:solidFill>
                          <a:latin typeface="Calibri" pitchFamily="34" charset="0"/>
                          <a:ea typeface="Calibri" pitchFamily="34" charset="-122"/>
                          <a:cs typeface="Calibri" pitchFamily="34" charset="-120"/>
                        </a:rPr>
                        <a:t>PORTABLE</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marL="0" indent="0">
                        <a:buNone/>
                      </a:pPr>
                      <a:r>
                        <a:rPr lang="en-US" sz="1350" dirty="0">
                          <a:solidFill>
                            <a:srgbClr val="2B2B2B"/>
                          </a:solidFill>
                          <a:latin typeface="Calibri" pitchFamily="34" charset="0"/>
                          <a:ea typeface="Calibri" pitchFamily="34" charset="-122"/>
                          <a:cs typeface="Calibri" pitchFamily="34" charset="-120"/>
                        </a:rPr>
                        <a:t>Content travels; behavior needs review</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7210">
                <a:tc>
                  <a:txBody>
                    <a:bodyPr/>
                    <a:lstStyle/>
                    <a:p>
                      <a:pPr marL="0" indent="0">
                        <a:buNone/>
                      </a:pPr>
                      <a:r>
                        <a:rPr lang="en-US" sz="1500" b="1" dirty="0">
                          <a:solidFill>
                            <a:srgbClr val="1F3D2C"/>
                          </a:solidFill>
                          <a:latin typeface="Cambria" pitchFamily="34" charset="0"/>
                          <a:ea typeface="Cambria" pitchFamily="34" charset="-122"/>
                          <a:cs typeface="Cambria" pitchFamily="34" charset="-120"/>
                        </a:rPr>
                        <a:t>Packages / Artifacts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gn="ctr">
                        <a:buNone/>
                      </a:pPr>
                      <a:r>
                        <a:rPr lang="en-US" sz="1150" b="1" dirty="0">
                          <a:solidFill>
                            <a:srgbClr val="F5F5F0"/>
                          </a:solidFill>
                          <a:latin typeface="Calibri" pitchFamily="34" charset="0"/>
                          <a:ea typeface="Calibri" pitchFamily="34" charset="-122"/>
                          <a:cs typeface="Calibri" pitchFamily="34" charset="-120"/>
                        </a:rPr>
                        <a:t>RETAIN OR REPLACE</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8C6A3F"/>
                    </a:solidFill>
                  </a:tcPr>
                </a:tc>
                <a:tc>
                  <a:txBody>
                    <a:bodyPr/>
                    <a:lstStyle/>
                    <a:p>
                      <a:pPr marL="0" indent="0">
                        <a:buNone/>
                      </a:pPr>
                      <a:r>
                        <a:rPr lang="en-US" sz="1350" dirty="0">
                          <a:solidFill>
                            <a:srgbClr val="2B2B2B"/>
                          </a:solidFill>
                          <a:latin typeface="Calibri" pitchFamily="34" charset="0"/>
                          <a:ea typeface="Calibri" pitchFamily="34" charset="-122"/>
                          <a:cs typeface="Calibri" pitchFamily="34" charset="-120"/>
                        </a:rPr>
                        <a:t>Keep Azure Artifacts, move to GitHub Packages, or both during transition</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3"/>
                  </a:ext>
                </a:extLst>
              </a:tr>
              <a:tr h="537210">
                <a:tc>
                  <a:txBody>
                    <a:bodyPr/>
                    <a:lstStyle/>
                    <a:p>
                      <a:pPr marL="0" indent="0">
                        <a:buNone/>
                      </a:pPr>
                      <a:r>
                        <a:rPr lang="en-US" sz="1500" b="1" dirty="0">
                          <a:solidFill>
                            <a:srgbClr val="1F3D2C"/>
                          </a:solidFill>
                          <a:latin typeface="Cambria" pitchFamily="34" charset="0"/>
                          <a:ea typeface="Cambria" pitchFamily="34" charset="-122"/>
                          <a:cs typeface="Cambria" pitchFamily="34" charset="-120"/>
                        </a:rPr>
                        <a:t>Pipelines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F5F5F0"/>
                          </a:solidFill>
                          <a:latin typeface="Calibri" pitchFamily="34" charset="0"/>
                          <a:ea typeface="Calibri" pitchFamily="34" charset="-122"/>
                          <a:cs typeface="Calibri" pitchFamily="34" charset="-120"/>
                        </a:rPr>
                        <a:t>RETAIN OR REPLACE</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8C6A3F"/>
                    </a:solidFill>
                  </a:tcPr>
                </a:tc>
                <a:tc>
                  <a:txBody>
                    <a:bodyPr/>
                    <a:lstStyle/>
                    <a:p>
                      <a:pPr marL="0" indent="0">
                        <a:buNone/>
                      </a:pPr>
                      <a:r>
                        <a:rPr lang="en-US" sz="1350" dirty="0">
                          <a:solidFill>
                            <a:srgbClr val="2B2B2B"/>
                          </a:solidFill>
                          <a:latin typeface="Calibri" pitchFamily="34" charset="0"/>
                          <a:ea typeface="Calibri" pitchFamily="34" charset="-122"/>
                          <a:cs typeface="Calibri" pitchFamily="34" charset="-120"/>
                        </a:rPr>
                        <a:t>Same YAML shell, different concepts underneath — budget real rewrite time</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7210">
                <a:tc>
                  <a:txBody>
                    <a:bodyPr/>
                    <a:lstStyle/>
                    <a:p>
                      <a:pPr marL="0" indent="0">
                        <a:buNone/>
                      </a:pPr>
                      <a:r>
                        <a:rPr lang="en-US" sz="1500" b="1" dirty="0">
                          <a:solidFill>
                            <a:srgbClr val="1F3D2C"/>
                          </a:solidFill>
                          <a:latin typeface="Cambria" pitchFamily="34" charset="0"/>
                          <a:ea typeface="Cambria" pitchFamily="34" charset="-122"/>
                          <a:cs typeface="Cambria" pitchFamily="34" charset="-120"/>
                        </a:rPr>
                        <a:t>Dashboards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gn="ctr">
                        <a:buNone/>
                      </a:pPr>
                      <a:r>
                        <a:rPr lang="en-US" sz="1150" b="1" dirty="0">
                          <a:solidFill>
                            <a:srgbClr val="F5F5F0"/>
                          </a:solidFill>
                          <a:latin typeface="Calibri" pitchFamily="34" charset="0"/>
                          <a:ea typeface="Calibri" pitchFamily="34" charset="-122"/>
                          <a:cs typeface="Calibri" pitchFamily="34" charset="-120"/>
                        </a:rPr>
                        <a:t>RETAIN OR REPLACE</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8C6A3F"/>
                    </a:solidFill>
                  </a:tcPr>
                </a:tc>
                <a:tc>
                  <a:txBody>
                    <a:bodyPr/>
                    <a:lstStyle/>
                    <a:p>
                      <a:pPr marL="0" indent="0">
                        <a:buNone/>
                      </a:pPr>
                      <a:r>
                        <a:rPr lang="en-US" sz="1350" dirty="0">
                          <a:solidFill>
                            <a:srgbClr val="2B2B2B"/>
                          </a:solidFill>
                          <a:latin typeface="Calibri" pitchFamily="34" charset="0"/>
                          <a:ea typeface="Calibri" pitchFamily="34" charset="-122"/>
                          <a:cs typeface="Calibri" pitchFamily="34" charset="-120"/>
                        </a:rPr>
                        <a:t>DORA-adjacent metrics built in; doesn’t match Power BI’s depth</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5"/>
                  </a:ext>
                </a:extLst>
              </a:tr>
              <a:tr h="537210">
                <a:tc>
                  <a:txBody>
                    <a:bodyPr/>
                    <a:lstStyle/>
                    <a:p>
                      <a:pPr marL="0" indent="0">
                        <a:buNone/>
                      </a:pPr>
                      <a:r>
                        <a:rPr lang="en-US" sz="1500" b="1" dirty="0">
                          <a:solidFill>
                            <a:srgbClr val="1F3D2C"/>
                          </a:solidFill>
                          <a:latin typeface="Cambria" pitchFamily="34" charset="0"/>
                          <a:ea typeface="Cambria" pitchFamily="34" charset="-122"/>
                          <a:cs typeface="Cambria" pitchFamily="34" charset="-120"/>
                        </a:rPr>
                        <a:t>Boards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F5F5F0"/>
                          </a:solidFill>
                          <a:latin typeface="Calibri" pitchFamily="34" charset="0"/>
                          <a:ea typeface="Calibri" pitchFamily="34" charset="-122"/>
                          <a:cs typeface="Calibri" pitchFamily="34" charset="-120"/>
                        </a:rPr>
                        <a:t>RETAIN OR REPLACE</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8C6A3F"/>
                    </a:solidFill>
                  </a:tcPr>
                </a:tc>
                <a:tc>
                  <a:txBody>
                    <a:bodyPr/>
                    <a:lstStyle/>
                    <a:p>
                      <a:pPr marL="0" indent="0">
                        <a:buNone/>
                      </a:pPr>
                      <a:r>
                        <a:rPr lang="en-US" sz="1350" dirty="0">
                          <a:solidFill>
                            <a:srgbClr val="2B2B2B"/>
                          </a:solidFill>
                          <a:latin typeface="Calibri" pitchFamily="34" charset="0"/>
                          <a:ea typeface="Calibri" pitchFamily="34" charset="-122"/>
                          <a:cs typeface="Calibri" pitchFamily="34" charset="-120"/>
                        </a:rPr>
                        <a:t>Concepts are different enough there isn’t a clean way to migrate data, so history may be trapped in legacy system if replaced</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7210">
                <a:tc>
                  <a:txBody>
                    <a:bodyPr/>
                    <a:lstStyle/>
                    <a:p>
                      <a:pPr marL="0" indent="0">
                        <a:buNone/>
                      </a:pPr>
                      <a:r>
                        <a:rPr lang="en-US" sz="1500" b="1" dirty="0">
                          <a:solidFill>
                            <a:srgbClr val="1F3D2C"/>
                          </a:solidFill>
                          <a:latin typeface="Cambria" pitchFamily="34" charset="0"/>
                          <a:ea typeface="Cambria" pitchFamily="34" charset="-122"/>
                          <a:cs typeface="Cambria" pitchFamily="34" charset="-120"/>
                        </a:rPr>
                        <a:t>Test Plans</a:t>
                      </a:r>
                      <a:endParaRPr lang="en-US" sz="1500" dirty="0">
                        <a:latin typeface="Cambria" charset="0"/>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gn="ctr">
                        <a:buNone/>
                      </a:pPr>
                      <a:r>
                        <a:rPr lang="en-US" sz="1150" b="1" dirty="0">
                          <a:solidFill>
                            <a:srgbClr val="F5F5F0"/>
                          </a:solidFill>
                          <a:latin typeface="Calibri" pitchFamily="34" charset="0"/>
                          <a:ea typeface="Calibri" pitchFamily="34" charset="-122"/>
                          <a:cs typeface="Calibri" pitchFamily="34" charset="-120"/>
                        </a:rPr>
                        <a:t>NO NATIVE DESTINATION</a:t>
                      </a:r>
                      <a:endParaRPr lang="en-US" sz="11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C1440E"/>
                    </a:solidFill>
                  </a:tcPr>
                </a:tc>
                <a:tc>
                  <a:txBody>
                    <a:bodyPr/>
                    <a:lstStyle/>
                    <a:p>
                      <a:pPr marL="0" indent="0">
                        <a:buNone/>
                      </a:pPr>
                      <a:r>
                        <a:rPr lang="en-US" sz="1350" dirty="0">
                          <a:solidFill>
                            <a:srgbClr val="2B2B2B"/>
                          </a:solidFill>
                          <a:latin typeface="Calibri" pitchFamily="34" charset="0"/>
                          <a:ea typeface="Calibri" pitchFamily="34" charset="-122"/>
                          <a:cs typeface="Calibri" pitchFamily="34" charset="-120"/>
                        </a:rPr>
                        <a:t>No native GitHub equivalent for structured manual and exploratory test management.</a:t>
                      </a:r>
                      <a:endParaRPr lang="en-US" sz="135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CodeBranch-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Repos: The Asterisk</a:t>
            </a:r>
            <a:endParaRPr lang="en-US" sz="3200" dirty="0"/>
          </a:p>
        </p:txBody>
      </p:sp>
      <p:sp>
        <p:nvSpPr>
          <p:cNvPr id="6" name="Shape 3"/>
          <p:cNvSpPr/>
          <p:nvPr/>
        </p:nvSpPr>
        <p:spPr>
          <a:xfrm>
            <a:off x="548640" y="1645920"/>
            <a:ext cx="5349240" cy="4114800"/>
          </a:xfrm>
          <a:prstGeom prst="roundRect">
            <a:avLst>
              <a:gd name="adj" fmla="val 2667"/>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828800"/>
            <a:ext cx="4800600" cy="457200"/>
          </a:xfrm>
          <a:prstGeom prst="rect">
            <a:avLst/>
          </a:prstGeom>
          <a:noFill/>
          <a:ln/>
        </p:spPr>
        <p:txBody>
          <a:bodyPr wrap="square" lIns="0" tIns="0" rIns="0" bIns="0" rtlCol="0" anchor="ctr"/>
          <a:lstStyle/>
          <a:p>
            <a:pPr marL="0" indent="0">
              <a:buNone/>
            </a:pPr>
            <a:r>
              <a:rPr lang="en-US" sz="2100" b="1" dirty="0">
                <a:solidFill>
                  <a:srgbClr val="1F3D2C"/>
                </a:solidFill>
                <a:latin typeface="Cambria" pitchFamily="34" charset="0"/>
                <a:ea typeface="Cambria" pitchFamily="34" charset="-122"/>
                <a:cs typeface="Cambria" pitchFamily="34" charset="-120"/>
              </a:rPr>
              <a:t>What Travels Clean</a:t>
            </a:r>
            <a:endParaRPr lang="en-US" sz="2100" dirty="0"/>
          </a:p>
        </p:txBody>
      </p:sp>
      <p:sp>
        <p:nvSpPr>
          <p:cNvPr id="8" name="Text 5"/>
          <p:cNvSpPr txBox="1"/>
          <p:nvPr/>
        </p:nvSpPr>
        <p:spPr>
          <a:xfrm>
            <a:off x="822960" y="2423160"/>
            <a:ext cx="4800600" cy="320040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600" dirty="0">
                <a:solidFill>
                  <a:srgbClr val="2B2B2B"/>
                </a:solidFill>
                <a:latin typeface="Calibri" pitchFamily="34" charset="0"/>
                <a:ea typeface="Calibri" pitchFamily="34" charset="-122"/>
                <a:cs typeface="Calibri" pitchFamily="34" charset="-120"/>
              </a:rPr>
              <a:t>Full commit history, branches, and tags come natively</a:t>
            </a:r>
            <a:endParaRPr lang="en-US" sz="1600" dirty="0"/>
          </a:p>
          <a:p>
            <a:pPr marL="342900" indent="-342900">
              <a:lnSpc>
                <a:spcPct val="115000"/>
              </a:lnSpc>
              <a:spcAft>
                <a:spcPts val="1200"/>
              </a:spcAft>
              <a:buSzPct val="100000"/>
              <a:buChar char="•"/>
            </a:pPr>
            <a:r>
              <a:rPr lang="en-US" sz="1600" dirty="0">
                <a:solidFill>
                  <a:srgbClr val="2B2B2B"/>
                </a:solidFill>
                <a:latin typeface="Calibri" pitchFamily="34" charset="0"/>
                <a:ea typeface="Calibri" pitchFamily="34" charset="-122"/>
                <a:cs typeface="Calibri" pitchFamily="34" charset="-120"/>
              </a:rPr>
              <a:t>Pull requests, with their comments, attachments, and review history (via GitHub Enterprise importer)</a:t>
            </a:r>
            <a:endParaRPr lang="en-US" sz="1600" dirty="0"/>
          </a:p>
          <a:p>
            <a:pPr marL="342900" indent="-342900">
              <a:lnSpc>
                <a:spcPct val="115000"/>
              </a:lnSpc>
              <a:buSzPct val="100000"/>
              <a:buChar char="•"/>
            </a:pPr>
            <a:r>
              <a:rPr lang="en-US" sz="1600" dirty="0">
                <a:solidFill>
                  <a:srgbClr val="2B2B2B"/>
                </a:solidFill>
                <a:latin typeface="Calibri" pitchFamily="34" charset="0"/>
                <a:ea typeface="Calibri" pitchFamily="34" charset="-122"/>
                <a:cs typeface="Calibri" pitchFamily="34" charset="-120"/>
              </a:rPr>
              <a:t>Most branch policies — the ones scoped to a single repo</a:t>
            </a:r>
            <a:endParaRPr lang="en-US" sz="1600" dirty="0"/>
          </a:p>
        </p:txBody>
      </p:sp>
      <p:sp>
        <p:nvSpPr>
          <p:cNvPr id="9" name="Shape 6"/>
          <p:cNvSpPr/>
          <p:nvPr/>
        </p:nvSpPr>
        <p:spPr>
          <a:xfrm>
            <a:off x="6263640" y="1645920"/>
            <a:ext cx="5349240" cy="4114800"/>
          </a:xfrm>
          <a:prstGeom prst="roundRect">
            <a:avLst>
              <a:gd name="adj" fmla="val 2667"/>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6537960" y="1828800"/>
            <a:ext cx="4800600" cy="457200"/>
          </a:xfrm>
          <a:prstGeom prst="rect">
            <a:avLst/>
          </a:prstGeom>
          <a:noFill/>
          <a:ln/>
        </p:spPr>
        <p:txBody>
          <a:bodyPr wrap="square" lIns="0" tIns="0" rIns="0" bIns="0" rtlCol="0" anchor="ctr"/>
          <a:lstStyle/>
          <a:p>
            <a:pPr marL="0" indent="0">
              <a:buNone/>
            </a:pPr>
            <a:r>
              <a:rPr lang="en-US" sz="2100" b="1" dirty="0">
                <a:solidFill>
                  <a:srgbClr val="F5F5F0"/>
                </a:solidFill>
                <a:latin typeface="Cambria" pitchFamily="34" charset="0"/>
                <a:ea typeface="Cambria" pitchFamily="34" charset="-122"/>
                <a:cs typeface="Cambria" pitchFamily="34" charset="-120"/>
              </a:rPr>
              <a:t>The Asterisk</a:t>
            </a:r>
            <a:endParaRPr lang="en-US" sz="2100" dirty="0"/>
          </a:p>
        </p:txBody>
      </p:sp>
      <p:sp>
        <p:nvSpPr>
          <p:cNvPr id="11" name="Text 8"/>
          <p:cNvSpPr txBox="1"/>
          <p:nvPr/>
        </p:nvSpPr>
        <p:spPr>
          <a:xfrm>
            <a:off x="6537960" y="2423160"/>
            <a:ext cx="4800600" cy="320040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600" dirty="0">
                <a:solidFill>
                  <a:srgbClr val="F5F5F0"/>
                </a:solidFill>
                <a:latin typeface="Calibri" pitchFamily="34" charset="0"/>
                <a:ea typeface="Calibri" pitchFamily="34" charset="-122"/>
                <a:cs typeface="Calibri" pitchFamily="34" charset="-120"/>
              </a:rPr>
              <a:t>Repo permissions rebuilt as two GitHub teams per team project</a:t>
            </a:r>
            <a:endParaRPr lang="en-US" sz="1600" dirty="0"/>
          </a:p>
          <a:p>
            <a:pPr marL="342900" indent="-342900">
              <a:lnSpc>
                <a:spcPct val="110000"/>
              </a:lnSpc>
              <a:spcAft>
                <a:spcPts val="1000"/>
              </a:spcAft>
              <a:buSzPct val="100000"/>
              <a:buChar char="•"/>
            </a:pPr>
            <a:r>
              <a:rPr lang="en-US" sz="1600" dirty="0">
                <a:solidFill>
                  <a:srgbClr val="F5F5F0"/>
                </a:solidFill>
                <a:latin typeface="Calibri" pitchFamily="34" charset="0"/>
                <a:ea typeface="Calibri" pitchFamily="34" charset="-122"/>
                <a:cs typeface="Calibri" pitchFamily="34" charset="-120"/>
              </a:rPr>
              <a:t>Git LFS objects might not come along for free</a:t>
            </a:r>
            <a:endParaRPr lang="en-US" sz="1600" dirty="0"/>
          </a:p>
          <a:p>
            <a:pPr marL="342900" indent="-342900">
              <a:lnSpc>
                <a:spcPct val="110000"/>
              </a:lnSpc>
              <a:spcAft>
                <a:spcPts val="1000"/>
              </a:spcAft>
              <a:buSzPct val="100000"/>
              <a:buChar char="•"/>
            </a:pPr>
            <a:r>
              <a:rPr lang="en-US" sz="1600" dirty="0">
                <a:solidFill>
                  <a:srgbClr val="F5F5F0"/>
                </a:solidFill>
                <a:latin typeface="Calibri" pitchFamily="34" charset="0"/>
                <a:ea typeface="Calibri" pitchFamily="34" charset="-122"/>
                <a:cs typeface="Calibri" pitchFamily="34" charset="-120"/>
              </a:rPr>
              <a:t>User-scoped and cross-repo branch policies need to be rebuilt by hand</a:t>
            </a:r>
            <a:endParaRPr lang="en-US" sz="1600" dirty="0"/>
          </a:p>
          <a:p>
            <a:pPr marL="342900" indent="-342900">
              <a:lnSpc>
                <a:spcPct val="110000"/>
              </a:lnSpc>
              <a:spcAft>
                <a:spcPts val="1000"/>
              </a:spcAft>
              <a:buSzPct val="100000"/>
              <a:buChar char="•"/>
            </a:pPr>
            <a:r>
              <a:rPr lang="en-US" sz="1600" dirty="0">
                <a:solidFill>
                  <a:srgbClr val="F5F5F0"/>
                </a:solidFill>
                <a:latin typeface="Calibri" pitchFamily="34" charset="0"/>
                <a:ea typeface="Calibri" pitchFamily="34" charset="-122"/>
                <a:cs typeface="Calibri" pitchFamily="34" charset="-120"/>
              </a:rPr>
              <a:t>TFVC repos need converting to Git first — no direct path</a:t>
            </a:r>
          </a:p>
          <a:p>
            <a:pPr marL="342900" indent="-342900">
              <a:lnSpc>
                <a:spcPct val="110000"/>
              </a:lnSpc>
              <a:spcAft>
                <a:spcPts val="1000"/>
              </a:spcAft>
              <a:buSzPct val="100000"/>
              <a:buChar char="•"/>
            </a:pPr>
            <a:r>
              <a:rPr lang="en-US" sz="1600" dirty="0">
                <a:solidFill>
                  <a:srgbClr val="F5F5F0"/>
                </a:solidFill>
                <a:latin typeface="Calibri" pitchFamily="34" charset="0"/>
                <a:ea typeface="Calibri" pitchFamily="34" charset="-122"/>
                <a:cs typeface="Calibri" pitchFamily="34" charset="-120"/>
              </a:rPr>
              <a:t>Identities carried over as mannequins </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Boo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Wiki: Travels Clean — Same Git Underneath</a:t>
            </a:r>
            <a:endParaRPr lang="en-US" sz="3200" dirty="0"/>
          </a:p>
        </p:txBody>
      </p:sp>
      <p:sp>
        <p:nvSpPr>
          <p:cNvPr id="6" name="Shape 3"/>
          <p:cNvSpPr/>
          <p:nvPr/>
        </p:nvSpPr>
        <p:spPr>
          <a:xfrm>
            <a:off x="548640" y="1737360"/>
            <a:ext cx="11064240" cy="2834640"/>
          </a:xfrm>
          <a:prstGeom prst="roundRect">
            <a:avLst>
              <a:gd name="adj" fmla="val 3871"/>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914400" y="1965960"/>
            <a:ext cx="10332720" cy="2377440"/>
          </a:xfrm>
          <a:prstGeom prst="rect">
            <a:avLst/>
          </a:prstGeom>
          <a:noFill/>
          <a:ln/>
        </p:spPr>
        <p:txBody>
          <a:bodyPr wrap="square" lIns="0" tIns="0" rIns="0" bIns="0" rtlCol="0" anchor="ctr"/>
          <a:lstStyle/>
          <a:p>
            <a:pPr marL="0" indent="0">
              <a:lnSpc>
                <a:spcPct val="130000"/>
              </a:lnSpc>
              <a:buNone/>
            </a:pPr>
            <a:r>
              <a:rPr lang="en-US" sz="2000" dirty="0">
                <a:solidFill>
                  <a:srgbClr val="2B2B2B"/>
                </a:solidFill>
                <a:latin typeface="Calibri" pitchFamily="34" charset="0"/>
                <a:ea typeface="Calibri" pitchFamily="34" charset="-122"/>
                <a:cs typeface="Calibri" pitchFamily="34" charset="-120"/>
              </a:rPr>
              <a:t>Both Azure DevOps wiki and GitHub wiki are Git repos under the hood — clone-and-push is the whole migration. </a:t>
            </a:r>
            <a:r>
              <a:rPr lang="en-US" sz="2000" b="1" dirty="0">
                <a:solidFill>
                  <a:srgbClr val="2B2B2B"/>
                </a:solidFill>
                <a:latin typeface="Calibri" pitchFamily="34" charset="0"/>
                <a:ea typeface="Calibri" pitchFamily="34" charset="-122"/>
                <a:cs typeface="Calibri" pitchFamily="34" charset="-120"/>
              </a:rPr>
              <a:t>What doesn’t come along: </a:t>
            </a:r>
            <a:r>
              <a:rPr lang="en-US" sz="2000" dirty="0">
                <a:solidFill>
                  <a:srgbClr val="2B2B2B"/>
                </a:solidFill>
                <a:latin typeface="Calibri" pitchFamily="34" charset="0"/>
                <a:ea typeface="Calibri" pitchFamily="34" charset="-122"/>
                <a:cs typeface="Calibri" pitchFamily="34" charset="-120"/>
              </a:rPr>
              <a:t>Azure DevOps’ richer per-page permissions, its tight integration with Boards and pipelines, navigation, embedded content, …</a:t>
            </a:r>
            <a:endParaRPr lang="en-US" sz="2000" dirty="0"/>
          </a:p>
        </p:txBody>
      </p:sp>
      <p:sp>
        <p:nvSpPr>
          <p:cNvPr id="10" name="Rounded Rectangle 30">
            <a:extLst>
              <a:ext uri="{FF2B5EF4-FFF2-40B4-BE49-F238E27FC236}">
                <a16:creationId xmlns:a16="http://schemas.microsoft.com/office/drawing/2014/main" id="{4C79931A-18FB-2E06-7724-BDDB838DEA87}"/>
              </a:ext>
            </a:extLst>
          </p:cNvPr>
          <p:cNvSpPr/>
          <p:nvPr/>
        </p:nvSpPr>
        <p:spPr>
          <a:xfrm>
            <a:off x="548640" y="4965192"/>
            <a:ext cx="11064240" cy="713232"/>
          </a:xfrm>
          <a:prstGeom prst="roundRect">
            <a:avLst/>
          </a:prstGeom>
          <a:solidFill>
            <a:srgbClr val="1F3D2C"/>
          </a:solidFill>
          <a:ln>
            <a:solidFill>
              <a:srgbClr val="1F3D2C"/>
            </a:solidFill>
          </a:ln>
        </p:spPr>
        <p:style>
          <a:lnRef idx="1">
            <a:schemeClr val="accent1"/>
          </a:lnRef>
          <a:fillRef idx="3">
            <a:schemeClr val="accent1"/>
          </a:fillRef>
          <a:effectRef idx="2">
            <a:schemeClr val="accent1"/>
          </a:effectRef>
          <a:fontRef idx="minor">
            <a:schemeClr val="lt1"/>
          </a:fontRef>
        </p:style>
        <p:txBody>
          <a:bodyPr wrap="square" lIns="256032" tIns="73152" rIns="256032" rtlCol="0" anchor="ctr"/>
          <a:lstStyle/>
          <a:p>
            <a:pPr algn="ctr">
              <a:spcBef>
                <a:spcPts val="0"/>
              </a:spcBef>
              <a:spcAft>
                <a:spcPts val="0"/>
              </a:spcAft>
            </a:pPr>
            <a:r>
              <a:rPr lang="en-US" sz="1600" b="1" dirty="0">
                <a:solidFill>
                  <a:srgbClr val="F5F5F0"/>
                </a:solidFill>
                <a:latin typeface="Calibri"/>
              </a:rPr>
              <a:t>Content migration is trivial, but the migration review still needs to cover the addition features.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BoxOpen-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Packages &amp; Artifacts: A Decision, Not a Rewrite</a:t>
            </a:r>
            <a:endParaRPr lang="en-US" sz="3200" dirty="0"/>
          </a:p>
        </p:txBody>
      </p:sp>
      <p:sp>
        <p:nvSpPr>
          <p:cNvPr id="6" name="Shape 3"/>
          <p:cNvSpPr/>
          <p:nvPr/>
        </p:nvSpPr>
        <p:spPr>
          <a:xfrm>
            <a:off x="548640" y="1691640"/>
            <a:ext cx="3429000" cy="3383280"/>
          </a:xfrm>
          <a:prstGeom prst="roundRect">
            <a:avLst>
              <a:gd name="adj" fmla="val 324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822960" y="1920240"/>
            <a:ext cx="603504" cy="603504"/>
          </a:xfrm>
          <a:prstGeom prst="ellipse">
            <a:avLst/>
          </a:prstGeom>
          <a:solidFill>
            <a:srgbClr val="C1440E"/>
          </a:solidFill>
          <a:ln/>
        </p:spPr>
        <p:txBody>
          <a:bodyPr/>
          <a:lstStyle/>
          <a:p>
            <a:endParaRPr lang="en-US"/>
          </a:p>
        </p:txBody>
      </p:sp>
      <p:pic>
        <p:nvPicPr>
          <p:cNvPr id="8" name="Image 1" descr="/home/claude/pptx-build/assets/icons/FaBoxOpen-FFFFFF-200.png"/>
          <p:cNvPicPr>
            <a:picLocks noChangeAspect="1"/>
          </p:cNvPicPr>
          <p:nvPr/>
        </p:nvPicPr>
        <p:blipFill>
          <a:blip r:embed="rId3"/>
          <a:stretch>
            <a:fillRect/>
          </a:stretch>
        </p:blipFill>
        <p:spPr>
          <a:xfrm>
            <a:off x="969264" y="2066544"/>
            <a:ext cx="310896" cy="310896"/>
          </a:xfrm>
          <a:prstGeom prst="rect">
            <a:avLst/>
          </a:prstGeom>
        </p:spPr>
      </p:pic>
      <p:sp>
        <p:nvSpPr>
          <p:cNvPr id="9" name="Text 5"/>
          <p:cNvSpPr txBox="1"/>
          <p:nvPr/>
        </p:nvSpPr>
        <p:spPr>
          <a:xfrm>
            <a:off x="822960" y="2670048"/>
            <a:ext cx="2880360" cy="685800"/>
          </a:xfrm>
          <a:prstGeom prst="rect">
            <a:avLst/>
          </a:prstGeom>
          <a:noFill/>
          <a:ln/>
        </p:spPr>
        <p:txBody>
          <a:bodyPr wrap="square" lIns="0" tIns="0" rIns="0" bIns="0" rtlCol="0" anchor="ctr"/>
          <a:lstStyle/>
          <a:p>
            <a:pPr marL="0" indent="0">
              <a:buNone/>
            </a:pPr>
            <a:r>
              <a:rPr lang="en-US" sz="1700" b="1" dirty="0">
                <a:solidFill>
                  <a:srgbClr val="1F3D2C"/>
                </a:solidFill>
                <a:latin typeface="Cambria" pitchFamily="34" charset="0"/>
                <a:ea typeface="Cambria" pitchFamily="34" charset="-122"/>
                <a:cs typeface="Cambria" pitchFamily="34" charset="-120"/>
              </a:rPr>
              <a:t>Keep Azure Artifacts</a:t>
            </a:r>
            <a:endParaRPr lang="en-US" sz="1700" dirty="0"/>
          </a:p>
        </p:txBody>
      </p:sp>
      <p:sp>
        <p:nvSpPr>
          <p:cNvPr id="10" name="Text 6"/>
          <p:cNvSpPr txBox="1"/>
          <p:nvPr/>
        </p:nvSpPr>
        <p:spPr>
          <a:xfrm>
            <a:off x="822960" y="3364992"/>
            <a:ext cx="2880360" cy="160020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Change nothing. GitHub Actions can publish to and consume from an existing Azure Artifacts feed.</a:t>
            </a:r>
            <a:endParaRPr lang="en-US" sz="1400" dirty="0"/>
          </a:p>
        </p:txBody>
      </p:sp>
      <p:sp>
        <p:nvSpPr>
          <p:cNvPr id="11" name="Shape 7"/>
          <p:cNvSpPr/>
          <p:nvPr/>
        </p:nvSpPr>
        <p:spPr>
          <a:xfrm>
            <a:off x="4251960" y="1691640"/>
            <a:ext cx="3429000" cy="3383280"/>
          </a:xfrm>
          <a:prstGeom prst="roundRect">
            <a:avLst>
              <a:gd name="adj" fmla="val 324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8"/>
          <p:cNvSpPr/>
          <p:nvPr/>
        </p:nvSpPr>
        <p:spPr>
          <a:xfrm>
            <a:off x="4526280" y="1920240"/>
            <a:ext cx="603504" cy="603504"/>
          </a:xfrm>
          <a:prstGeom prst="ellipse">
            <a:avLst/>
          </a:prstGeom>
          <a:solidFill>
            <a:srgbClr val="C1440E"/>
          </a:solidFill>
          <a:ln/>
        </p:spPr>
        <p:txBody>
          <a:bodyPr/>
          <a:lstStyle/>
          <a:p>
            <a:endParaRPr lang="en-US"/>
          </a:p>
        </p:txBody>
      </p:sp>
      <p:pic>
        <p:nvPicPr>
          <p:cNvPr id="13" name="Image 2" descr="/home/claude/pptx-build/assets/icons/FaGithub-FFFFFF-200.png"/>
          <p:cNvPicPr>
            <a:picLocks noChangeAspect="1"/>
          </p:cNvPicPr>
          <p:nvPr/>
        </p:nvPicPr>
        <p:blipFill>
          <a:blip r:embed="rId4"/>
          <a:stretch>
            <a:fillRect/>
          </a:stretch>
        </p:blipFill>
        <p:spPr>
          <a:xfrm>
            <a:off x="4672584" y="2066544"/>
            <a:ext cx="310896" cy="310896"/>
          </a:xfrm>
          <a:prstGeom prst="rect">
            <a:avLst/>
          </a:prstGeom>
        </p:spPr>
      </p:pic>
      <p:sp>
        <p:nvSpPr>
          <p:cNvPr id="14" name="Text 9"/>
          <p:cNvSpPr txBox="1"/>
          <p:nvPr/>
        </p:nvSpPr>
        <p:spPr>
          <a:xfrm>
            <a:off x="4526280" y="2670048"/>
            <a:ext cx="2880360" cy="685800"/>
          </a:xfrm>
          <a:prstGeom prst="rect">
            <a:avLst/>
          </a:prstGeom>
          <a:noFill/>
          <a:ln/>
        </p:spPr>
        <p:txBody>
          <a:bodyPr wrap="square" lIns="0" tIns="0" rIns="0" bIns="0" rtlCol="0" anchor="ctr"/>
          <a:lstStyle/>
          <a:p>
            <a:pPr marL="0" indent="0">
              <a:buNone/>
            </a:pPr>
            <a:r>
              <a:rPr lang="en-US" sz="1700" b="1" dirty="0">
                <a:solidFill>
                  <a:srgbClr val="1F3D2C"/>
                </a:solidFill>
                <a:latin typeface="Cambria" pitchFamily="34" charset="0"/>
                <a:ea typeface="Cambria" pitchFamily="34" charset="-122"/>
                <a:cs typeface="Cambria" pitchFamily="34" charset="-120"/>
              </a:rPr>
              <a:t>Move to GitHub Packages</a:t>
            </a:r>
            <a:endParaRPr lang="en-US" sz="1700" dirty="0"/>
          </a:p>
        </p:txBody>
      </p:sp>
      <p:sp>
        <p:nvSpPr>
          <p:cNvPr id="15" name="Text 10"/>
          <p:cNvSpPr txBox="1"/>
          <p:nvPr/>
        </p:nvSpPr>
        <p:spPr>
          <a:xfrm>
            <a:off x="4526280" y="3364992"/>
            <a:ext cx="2880360" cy="160020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Consolidate onto one platform — the right call for teams starting fresh or already small.</a:t>
            </a:r>
            <a:endParaRPr lang="en-US" sz="1400" dirty="0"/>
          </a:p>
        </p:txBody>
      </p:sp>
      <p:sp>
        <p:nvSpPr>
          <p:cNvPr id="16" name="Shape 11"/>
          <p:cNvSpPr/>
          <p:nvPr/>
        </p:nvSpPr>
        <p:spPr>
          <a:xfrm>
            <a:off x="7955280" y="1691640"/>
            <a:ext cx="3429000" cy="3383280"/>
          </a:xfrm>
          <a:prstGeom prst="roundRect">
            <a:avLst>
              <a:gd name="adj" fmla="val 324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2"/>
          <p:cNvSpPr/>
          <p:nvPr/>
        </p:nvSpPr>
        <p:spPr>
          <a:xfrm>
            <a:off x="8229600" y="1920240"/>
            <a:ext cx="603504" cy="603504"/>
          </a:xfrm>
          <a:prstGeom prst="ellipse">
            <a:avLst/>
          </a:prstGeom>
          <a:solidFill>
            <a:srgbClr val="C1440E"/>
          </a:solidFill>
          <a:ln/>
        </p:spPr>
        <p:txBody>
          <a:bodyPr/>
          <a:lstStyle/>
          <a:p>
            <a:endParaRPr lang="en-US"/>
          </a:p>
        </p:txBody>
      </p:sp>
      <p:pic>
        <p:nvPicPr>
          <p:cNvPr id="18" name="Image 3" descr="/home/claude/pptx-build/assets/icons/FaExchangeAlt-FFFFFF-200.png"/>
          <p:cNvPicPr>
            <a:picLocks noChangeAspect="1"/>
          </p:cNvPicPr>
          <p:nvPr/>
        </p:nvPicPr>
        <p:blipFill>
          <a:blip r:embed="rId5"/>
          <a:stretch>
            <a:fillRect/>
          </a:stretch>
        </p:blipFill>
        <p:spPr>
          <a:xfrm>
            <a:off x="8375904" y="2066544"/>
            <a:ext cx="310896" cy="310896"/>
          </a:xfrm>
          <a:prstGeom prst="rect">
            <a:avLst/>
          </a:prstGeom>
        </p:spPr>
      </p:pic>
      <p:sp>
        <p:nvSpPr>
          <p:cNvPr id="19" name="Text 13"/>
          <p:cNvSpPr txBox="1"/>
          <p:nvPr/>
        </p:nvSpPr>
        <p:spPr>
          <a:xfrm>
            <a:off x="8229600" y="2670048"/>
            <a:ext cx="2880360" cy="685800"/>
          </a:xfrm>
          <a:prstGeom prst="rect">
            <a:avLst/>
          </a:prstGeom>
          <a:noFill/>
          <a:ln/>
        </p:spPr>
        <p:txBody>
          <a:bodyPr wrap="square" lIns="0" tIns="0" rIns="0" bIns="0" rtlCol="0" anchor="ctr"/>
          <a:lstStyle/>
          <a:p>
            <a:pPr marL="0" indent="0">
              <a:buNone/>
            </a:pPr>
            <a:r>
              <a:rPr lang="en-US" sz="1700" b="1" dirty="0">
                <a:solidFill>
                  <a:srgbClr val="1F3D2C"/>
                </a:solidFill>
                <a:latin typeface="Cambria" pitchFamily="34" charset="0"/>
                <a:ea typeface="Cambria" pitchFamily="34" charset="-122"/>
                <a:cs typeface="Cambria" pitchFamily="34" charset="-120"/>
              </a:rPr>
              <a:t>Both, during transition</a:t>
            </a:r>
            <a:endParaRPr lang="en-US" sz="1700" dirty="0"/>
          </a:p>
        </p:txBody>
      </p:sp>
      <p:sp>
        <p:nvSpPr>
          <p:cNvPr id="20" name="Text 14"/>
          <p:cNvSpPr txBox="1"/>
          <p:nvPr/>
        </p:nvSpPr>
        <p:spPr>
          <a:xfrm>
            <a:off x="8229600" y="3364992"/>
            <a:ext cx="2880360" cy="160020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Dual-publish while consumers migrate at their own pace. Buys time, costs a little duplication.</a:t>
            </a:r>
            <a:endParaRPr lang="en-US" sz="1400" dirty="0"/>
          </a:p>
        </p:txBody>
      </p:sp>
      <p:sp>
        <p:nvSpPr>
          <p:cNvPr id="21" name="Shape 15"/>
          <p:cNvSpPr/>
          <p:nvPr/>
        </p:nvSpPr>
        <p:spPr>
          <a:xfrm>
            <a:off x="548640" y="5257800"/>
            <a:ext cx="11064240" cy="868680"/>
          </a:xfrm>
          <a:prstGeom prst="roundRect">
            <a:avLst>
              <a:gd name="adj" fmla="val 12632"/>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2" name="Text 16"/>
          <p:cNvSpPr txBox="1"/>
          <p:nvPr/>
        </p:nvSpPr>
        <p:spPr>
          <a:xfrm>
            <a:off x="822960" y="5394960"/>
            <a:ext cx="10515600" cy="594360"/>
          </a:xfrm>
          <a:prstGeom prst="rect">
            <a:avLst/>
          </a:prstGeom>
          <a:noFill/>
          <a:ln/>
        </p:spPr>
        <p:txBody>
          <a:bodyPr wrap="square" lIns="0" tIns="0" rIns="0" bIns="0" rtlCol="0" anchor="ctr"/>
          <a:lstStyle/>
          <a:p>
            <a:pPr marL="0" indent="0">
              <a:buNone/>
            </a:pPr>
            <a:r>
              <a:rPr lang="en-US" sz="1450" b="1" dirty="0">
                <a:solidFill>
                  <a:srgbClr val="F5F5F0"/>
                </a:solidFill>
                <a:latin typeface="Calibri" pitchFamily="34" charset="0"/>
                <a:ea typeface="Calibri" pitchFamily="34" charset="-122"/>
                <a:cs typeface="Calibri" pitchFamily="34" charset="-120"/>
              </a:rPr>
              <a:t>The realistic target: </a:t>
            </a:r>
            <a:r>
              <a:rPr lang="en-US" sz="1450" dirty="0">
                <a:solidFill>
                  <a:srgbClr val="F5F5F0"/>
                </a:solidFill>
                <a:latin typeface="Calibri" pitchFamily="34" charset="0"/>
                <a:ea typeface="Calibri" pitchFamily="34" charset="-122"/>
                <a:cs typeface="Calibri" pitchFamily="34" charset="-120"/>
              </a:rPr>
              <a:t>GitHub Actions publishing to an existing Azure Artifacts feed — the answer for teams that can’t repoint every consumer at cutover.</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ChartBar-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Dashboards: A Partial Equivalent</a:t>
            </a:r>
            <a:endParaRPr lang="en-US" sz="3200" dirty="0"/>
          </a:p>
        </p:txBody>
      </p:sp>
      <p:sp>
        <p:nvSpPr>
          <p:cNvPr id="6" name="Shape 3"/>
          <p:cNvSpPr/>
          <p:nvPr/>
        </p:nvSpPr>
        <p:spPr>
          <a:xfrm>
            <a:off x="548640" y="1691640"/>
            <a:ext cx="11064240" cy="2651760"/>
          </a:xfrm>
          <a:prstGeom prst="roundRect">
            <a:avLst>
              <a:gd name="adj" fmla="val 4138"/>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914400" y="1920240"/>
            <a:ext cx="10332720" cy="2194560"/>
          </a:xfrm>
          <a:prstGeom prst="rect">
            <a:avLst/>
          </a:prstGeom>
          <a:noFill/>
          <a:ln/>
        </p:spPr>
        <p:txBody>
          <a:bodyPr wrap="square" lIns="0" tIns="0" rIns="0" bIns="0" rtlCol="0" anchor="ctr"/>
          <a:lstStyle/>
          <a:p>
            <a:pPr marL="0" indent="0">
              <a:lnSpc>
                <a:spcPct val="125000"/>
              </a:lnSpc>
              <a:buNone/>
            </a:pPr>
            <a:r>
              <a:rPr lang="en-US" sz="1900" dirty="0">
                <a:solidFill>
                  <a:srgbClr val="2B2B2B"/>
                </a:solidFill>
                <a:latin typeface="Calibri" pitchFamily="34" charset="0"/>
                <a:ea typeface="Calibri" pitchFamily="34" charset="-122"/>
                <a:cs typeface="Calibri" pitchFamily="34" charset="-120"/>
              </a:rPr>
              <a:t>GitHub’s built-in engineering metrics cover delivery performance, cycle time, and PR review load — </a:t>
            </a:r>
            <a:r>
              <a:rPr lang="en-US" sz="1900" b="1" dirty="0">
                <a:solidFill>
                  <a:srgbClr val="2B2B2B"/>
                </a:solidFill>
                <a:latin typeface="Calibri" pitchFamily="34" charset="0"/>
                <a:ea typeface="Calibri" pitchFamily="34" charset="-122"/>
                <a:cs typeface="Calibri" pitchFamily="34" charset="-120"/>
              </a:rPr>
              <a:t>DORA-adjacent, not Power-BI-deep. </a:t>
            </a:r>
            <a:r>
              <a:rPr lang="en-US" sz="1900" dirty="0">
                <a:solidFill>
                  <a:srgbClr val="2B2B2B"/>
                </a:solidFill>
                <a:latin typeface="Calibri" pitchFamily="34" charset="0"/>
                <a:ea typeface="Calibri" pitchFamily="34" charset="-122"/>
                <a:cs typeface="Calibri" pitchFamily="34" charset="-120"/>
              </a:rPr>
              <a:t>It won’t match the combined depth of Boards Analytics plus a dedicated Power BI report.</a:t>
            </a:r>
            <a:endParaRPr lang="en-US" sz="1900" dirty="0"/>
          </a:p>
        </p:txBody>
      </p:sp>
      <p:sp>
        <p:nvSpPr>
          <p:cNvPr id="8" name="Shape 5"/>
          <p:cNvSpPr/>
          <p:nvPr/>
        </p:nvSpPr>
        <p:spPr>
          <a:xfrm>
            <a:off x="548640" y="4572000"/>
            <a:ext cx="11064240" cy="1417320"/>
          </a:xfrm>
          <a:prstGeom prst="roundRect">
            <a:avLst>
              <a:gd name="adj" fmla="val 7742"/>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4736592"/>
            <a:ext cx="10515600" cy="1097280"/>
          </a:xfrm>
          <a:prstGeom prst="rect">
            <a:avLst/>
          </a:prstGeom>
          <a:noFill/>
          <a:ln/>
        </p:spPr>
        <p:txBody>
          <a:bodyPr wrap="square" lIns="0" tIns="0" rIns="0" bIns="0" rtlCol="0" anchor="ctr"/>
          <a:lstStyle/>
          <a:p>
            <a:pPr marL="0" indent="0">
              <a:lnSpc>
                <a:spcPct val="115000"/>
              </a:lnSpc>
              <a:buNone/>
            </a:pPr>
            <a:r>
              <a:rPr lang="en-US" sz="1600" b="1" dirty="0">
                <a:solidFill>
                  <a:srgbClr val="F5F5F0"/>
                </a:solidFill>
                <a:latin typeface="Calibri" pitchFamily="34" charset="0"/>
                <a:ea typeface="Calibri" pitchFamily="34" charset="-122"/>
                <a:cs typeface="Calibri" pitchFamily="34" charset="-120"/>
              </a:rPr>
              <a:t>The reframe: </a:t>
            </a:r>
            <a:r>
              <a:rPr lang="en-US" sz="1600" dirty="0">
                <a:solidFill>
                  <a:srgbClr val="F5F5F0"/>
                </a:solidFill>
                <a:latin typeface="Calibri" pitchFamily="34" charset="0"/>
                <a:ea typeface="Calibri" pitchFamily="34" charset="-122"/>
                <a:cs typeface="Calibri" pitchFamily="34" charset="-120"/>
              </a:rPr>
              <a:t>stop comparing dashboard widgets one-for-one. Use the four DORA metrics — deployment frequency, lead time, change failure rate, time to restore — as the shared baseline language on both sides of the migration.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ProjectDiagram-FFFFFF-200.png"/>
          <p:cNvPicPr>
            <a:picLocks noChangeAspect="1"/>
          </p:cNvPicPr>
          <p:nvPr/>
        </p:nvPicPr>
        <p:blipFill>
          <a:blip r:embed="rId2"/>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a:solidFill>
                  <a:srgbClr val="C1440E"/>
                </a:solidFill>
                <a:latin typeface="Calibri" pitchFamily="34" charset="0"/>
                <a:ea typeface="Calibri" pitchFamily="34" charset="-122"/>
                <a:cs typeface="Calibri" pitchFamily="34" charset="-120"/>
              </a:rPr>
              <a:t>A FIELD GUIDE TO THE LOCAL SPECIES</a:t>
            </a:r>
            <a:endParaRPr lang="en-US" sz="150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r>
              <a:rPr lang="en-US" sz="3200" b="1" dirty="0">
                <a:solidFill>
                  <a:srgbClr val="1F3D2C"/>
                </a:solidFill>
                <a:latin typeface="Cambria" pitchFamily="34" charset="0"/>
                <a:ea typeface="Cambria" pitchFamily="34" charset="-122"/>
                <a:cs typeface="Cambria" pitchFamily="34" charset="-120"/>
              </a:rPr>
              <a:t>Azure Boards Depth vs GitHub Projects Flexibility</a:t>
            </a:r>
            <a:endParaRPr lang="en-US" sz="3200" dirty="0"/>
          </a:p>
        </p:txBody>
      </p:sp>
      <p:sp>
        <p:nvSpPr>
          <p:cNvPr id="6" name="TextBox 5"/>
          <p:cNvSpPr txBox="1">
            <a:spLocks/>
          </p:cNvSpPr>
          <p:nvPr/>
        </p:nvSpPr>
        <p:spPr>
          <a:xfrm>
            <a:off x="548640" y="1463040"/>
            <a:ext cx="11064240" cy="384048"/>
          </a:xfrm>
          <a:prstGeom prst="rect">
            <a:avLst/>
          </a:prstGeom>
          <a:noFill/>
        </p:spPr>
        <p:txBody>
          <a:bodyPr wrap="square" lIns="0" tIns="0" rIns="0" bIns="0" anchor="ctr">
            <a:spAutoFit/>
          </a:bodyPr>
          <a:lstStyle/>
          <a:p>
            <a:pPr algn="l">
              <a:lnSpc>
                <a:spcPct val="100000"/>
              </a:lnSpc>
              <a:spcBef>
                <a:spcPts val="0"/>
              </a:spcBef>
              <a:spcAft>
                <a:spcPts val="0"/>
              </a:spcAft>
            </a:pPr>
            <a:r>
              <a:rPr lang="en-US" sz="1600" b="0" i="1">
                <a:solidFill>
                  <a:srgbClr val="6B6B63"/>
                </a:solidFill>
                <a:latin typeface="Calibri"/>
              </a:rPr>
              <a:t>Both are enterprise-capable. The difference is where each concentrates its depth.</a:t>
            </a:r>
          </a:p>
        </p:txBody>
      </p:sp>
      <p:sp>
        <p:nvSpPr>
          <p:cNvPr id="7" name="TextBox 6"/>
          <p:cNvSpPr txBox="1"/>
          <p:nvPr/>
        </p:nvSpPr>
        <p:spPr>
          <a:xfrm>
            <a:off x="548640" y="1920240"/>
            <a:ext cx="1572768" cy="384048"/>
          </a:xfrm>
          <a:prstGeom prst="rect">
            <a:avLst/>
          </a:prstGeom>
          <a:noFill/>
        </p:spPr>
        <p:txBody>
          <a:bodyPr wrap="square" lIns="0" tIns="0" rIns="0" bIns="0" anchor="ctr">
            <a:spAutoFit/>
          </a:bodyPr>
          <a:lstStyle/>
          <a:p>
            <a:pPr algn="l">
              <a:lnSpc>
                <a:spcPct val="100000"/>
              </a:lnSpc>
              <a:spcBef>
                <a:spcPts val="0"/>
              </a:spcBef>
              <a:spcAft>
                <a:spcPts val="0"/>
              </a:spcAft>
            </a:pPr>
            <a:r>
              <a:rPr lang="en-US" sz="1400" b="1" i="0">
                <a:solidFill>
                  <a:srgbClr val="C1440E"/>
                </a:solidFill>
                <a:latin typeface="Calibri"/>
              </a:rPr>
              <a:t>ENTERPRISE LENS</a:t>
            </a:r>
          </a:p>
        </p:txBody>
      </p:sp>
      <p:sp>
        <p:nvSpPr>
          <p:cNvPr id="8" name="TextBox 7"/>
          <p:cNvSpPr txBox="1">
            <a:spLocks/>
          </p:cNvSpPr>
          <p:nvPr/>
        </p:nvSpPr>
        <p:spPr>
          <a:xfrm>
            <a:off x="2331720" y="1920240"/>
            <a:ext cx="4251960" cy="384048"/>
          </a:xfrm>
          <a:prstGeom prst="rect">
            <a:avLst/>
          </a:prstGeom>
          <a:noFill/>
        </p:spPr>
        <p:txBody>
          <a:bodyPr wrap="square" lIns="0" tIns="0" rIns="0" bIns="0" anchor="ctr">
            <a:spAutoFit/>
          </a:bodyPr>
          <a:lstStyle/>
          <a:p>
            <a:pPr algn="l">
              <a:lnSpc>
                <a:spcPct val="100000"/>
              </a:lnSpc>
              <a:spcBef>
                <a:spcPts val="0"/>
              </a:spcBef>
              <a:spcAft>
                <a:spcPts val="0"/>
              </a:spcAft>
            </a:pPr>
            <a:r>
              <a:rPr lang="en-US" sz="1800" b="1" i="0">
                <a:solidFill>
                  <a:srgbClr val="1F3D2C"/>
                </a:solidFill>
                <a:latin typeface="Cambria"/>
              </a:rPr>
              <a:t>AZURE BOARDS</a:t>
            </a:r>
          </a:p>
        </p:txBody>
      </p:sp>
      <p:sp>
        <p:nvSpPr>
          <p:cNvPr id="9" name="TextBox 8"/>
          <p:cNvSpPr txBox="1"/>
          <p:nvPr/>
        </p:nvSpPr>
        <p:spPr>
          <a:xfrm>
            <a:off x="6903720" y="1920240"/>
            <a:ext cx="4709160" cy="384048"/>
          </a:xfrm>
          <a:prstGeom prst="rect">
            <a:avLst/>
          </a:prstGeom>
          <a:noFill/>
        </p:spPr>
        <p:txBody>
          <a:bodyPr wrap="square" lIns="0" tIns="0" rIns="0" bIns="0" anchor="ctr">
            <a:spAutoFit/>
          </a:bodyPr>
          <a:lstStyle/>
          <a:p>
            <a:pPr algn="l">
              <a:lnSpc>
                <a:spcPct val="100000"/>
              </a:lnSpc>
              <a:spcBef>
                <a:spcPts val="0"/>
              </a:spcBef>
              <a:spcAft>
                <a:spcPts val="0"/>
              </a:spcAft>
            </a:pPr>
            <a:r>
              <a:rPr lang="en-US" sz="1800" b="1" i="0">
                <a:solidFill>
                  <a:srgbClr val="1F3D2C"/>
                </a:solidFill>
                <a:latin typeface="Cambria"/>
              </a:rPr>
              <a:t>GITHUB PROJECTS</a:t>
            </a:r>
          </a:p>
        </p:txBody>
      </p:sp>
      <p:sp>
        <p:nvSpPr>
          <p:cNvPr id="10" name="Rectangle 9"/>
          <p:cNvSpPr>
            <a:spLocks/>
          </p:cNvSpPr>
          <p:nvPr/>
        </p:nvSpPr>
        <p:spPr>
          <a:xfrm>
            <a:off x="548640" y="2350008"/>
            <a:ext cx="11064240" cy="32004"/>
          </a:xfrm>
          <a:prstGeom prst="rect">
            <a:avLst/>
          </a:prstGeom>
          <a:solidFill>
            <a:srgbClr val="C144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6729984" y="2441448"/>
            <a:ext cx="13716" cy="2889504"/>
          </a:xfrm>
          <a:prstGeom prst="rect">
            <a:avLst/>
          </a:prstGeom>
          <a:solidFill>
            <a:srgbClr val="DDD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p:cNvSpPr txBox="1"/>
          <p:nvPr/>
        </p:nvSpPr>
        <p:spPr>
          <a:xfrm>
            <a:off x="548640" y="2496312"/>
            <a:ext cx="1572768" cy="438912"/>
          </a:xfrm>
          <a:prstGeom prst="rect">
            <a:avLst/>
          </a:prstGeom>
          <a:noFill/>
        </p:spPr>
        <p:txBody>
          <a:bodyPr wrap="square" lIns="0" tIns="0" rIns="0" bIns="0" anchor="t">
            <a:spAutoFit/>
          </a:bodyPr>
          <a:lstStyle/>
          <a:p>
            <a:pPr algn="l">
              <a:lnSpc>
                <a:spcPct val="100000"/>
              </a:lnSpc>
              <a:spcBef>
                <a:spcPts val="0"/>
              </a:spcBef>
              <a:spcAft>
                <a:spcPts val="0"/>
              </a:spcAft>
            </a:pPr>
            <a:r>
              <a:rPr lang="en-US" sz="1400" b="1" i="0">
                <a:solidFill>
                  <a:srgbClr val="1F3D2C"/>
                </a:solidFill>
                <a:latin typeface="Cambria"/>
              </a:rPr>
              <a:t>Planning cadence</a:t>
            </a:r>
          </a:p>
        </p:txBody>
      </p:sp>
      <p:sp>
        <p:nvSpPr>
          <p:cNvPr id="13" name="TextBox 12"/>
          <p:cNvSpPr txBox="1"/>
          <p:nvPr/>
        </p:nvSpPr>
        <p:spPr>
          <a:xfrm>
            <a:off x="2331720" y="2496312"/>
            <a:ext cx="4160520" cy="457200"/>
          </a:xfrm>
          <a:prstGeom prst="rect">
            <a:avLst/>
          </a:prstGeom>
          <a:noFill/>
        </p:spPr>
        <p:txBody>
          <a:bodyPr wrap="square" lIns="0" tIns="0" rIns="0" bIns="0" anchor="t">
            <a:spAutoFit/>
          </a:bodyPr>
          <a:lstStyle/>
          <a:p>
            <a:pPr algn="l">
              <a:lnSpc>
                <a:spcPct val="100000"/>
              </a:lnSpc>
              <a:spcBef>
                <a:spcPts val="0"/>
              </a:spcBef>
              <a:spcAft>
                <a:spcPts val="0"/>
              </a:spcAft>
            </a:pPr>
            <a:r>
              <a:rPr lang="en-US" sz="1400" b="0" i="0">
                <a:solidFill>
                  <a:srgbClr val="2B2B2B"/>
                </a:solidFill>
                <a:latin typeface="Calibri"/>
              </a:rPr>
              <a:t>Native sprints, backlogs, capacity, velocity and team-level planning.</a:t>
            </a:r>
          </a:p>
        </p:txBody>
      </p:sp>
      <p:sp>
        <p:nvSpPr>
          <p:cNvPr id="14" name="TextBox 13"/>
          <p:cNvSpPr txBox="1"/>
          <p:nvPr/>
        </p:nvSpPr>
        <p:spPr>
          <a:xfrm>
            <a:off x="6903720" y="2496312"/>
            <a:ext cx="4709160" cy="457200"/>
          </a:xfrm>
          <a:prstGeom prst="rect">
            <a:avLst/>
          </a:prstGeom>
          <a:noFill/>
        </p:spPr>
        <p:txBody>
          <a:bodyPr wrap="square" lIns="0" tIns="0" rIns="0" bIns="0" anchor="t">
            <a:spAutoFit/>
          </a:bodyPr>
          <a:lstStyle/>
          <a:p>
            <a:pPr algn="l">
              <a:lnSpc>
                <a:spcPct val="100000"/>
              </a:lnSpc>
              <a:spcBef>
                <a:spcPts val="0"/>
              </a:spcBef>
              <a:spcAft>
                <a:spcPts val="0"/>
              </a:spcAft>
            </a:pPr>
            <a:r>
              <a:rPr lang="en-US" sz="1400" b="0" i="0">
                <a:solidFill>
                  <a:srgbClr val="2B2B2B"/>
                </a:solidFill>
                <a:latin typeface="Calibri"/>
              </a:rPr>
              <a:t>Iterations, board/table/roadmap views and flexible planning close to code.</a:t>
            </a:r>
          </a:p>
        </p:txBody>
      </p:sp>
      <p:sp>
        <p:nvSpPr>
          <p:cNvPr id="15" name="Rectangle 14"/>
          <p:cNvSpPr/>
          <p:nvPr/>
        </p:nvSpPr>
        <p:spPr>
          <a:xfrm>
            <a:off x="548640" y="2990088"/>
            <a:ext cx="11064240" cy="10972"/>
          </a:xfrm>
          <a:prstGeom prst="rect">
            <a:avLst/>
          </a:prstGeom>
          <a:solidFill>
            <a:srgbClr val="DDD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3063240"/>
            <a:ext cx="1572768" cy="438912"/>
          </a:xfrm>
          <a:prstGeom prst="rect">
            <a:avLst/>
          </a:prstGeom>
          <a:noFill/>
        </p:spPr>
        <p:txBody>
          <a:bodyPr wrap="square" lIns="0" tIns="0" rIns="0" bIns="0" anchor="t">
            <a:spAutoFit/>
          </a:bodyPr>
          <a:lstStyle/>
          <a:p>
            <a:pPr algn="l">
              <a:lnSpc>
                <a:spcPct val="100000"/>
              </a:lnSpc>
              <a:spcBef>
                <a:spcPts val="0"/>
              </a:spcBef>
              <a:spcAft>
                <a:spcPts val="0"/>
              </a:spcAft>
            </a:pPr>
            <a:r>
              <a:rPr sz="1400" b="1" i="0">
                <a:solidFill>
                  <a:srgbClr val="1F3D2C"/>
                </a:solidFill>
                <a:latin typeface="Cambria"/>
              </a:rPr>
              <a:t>Hierarchy + process</a:t>
            </a:r>
          </a:p>
        </p:txBody>
      </p:sp>
      <p:sp>
        <p:nvSpPr>
          <p:cNvPr id="17" name="TextBox 16"/>
          <p:cNvSpPr txBox="1"/>
          <p:nvPr/>
        </p:nvSpPr>
        <p:spPr>
          <a:xfrm>
            <a:off x="2331720" y="3063240"/>
            <a:ext cx="4160520" cy="457200"/>
          </a:xfrm>
          <a:prstGeom prst="rect">
            <a:avLst/>
          </a:prstGeom>
          <a:noFill/>
        </p:spPr>
        <p:txBody>
          <a:bodyPr wrap="square" lIns="0" tIns="0" rIns="0" bIns="0" anchor="t">
            <a:spAutoFit/>
          </a:bodyPr>
          <a:lstStyle/>
          <a:p>
            <a:pPr algn="l">
              <a:lnSpc>
                <a:spcPct val="100000"/>
              </a:lnSpc>
              <a:spcBef>
                <a:spcPts val="0"/>
              </a:spcBef>
              <a:spcAft>
                <a:spcPts val="0"/>
              </a:spcAft>
            </a:pPr>
            <a:r>
              <a:rPr sz="1400" b="0" i="0">
                <a:solidFill>
                  <a:srgbClr val="2B2B2B"/>
                </a:solidFill>
                <a:latin typeface="Calibri"/>
              </a:rPr>
              <a:t>Epic-to-task hierarchy with inherited processes, states, fields and rules.</a:t>
            </a:r>
          </a:p>
        </p:txBody>
      </p:sp>
      <p:sp>
        <p:nvSpPr>
          <p:cNvPr id="18" name="TextBox 17"/>
          <p:cNvSpPr txBox="1"/>
          <p:nvPr/>
        </p:nvSpPr>
        <p:spPr>
          <a:xfrm>
            <a:off x="6903720" y="3063240"/>
            <a:ext cx="4709160" cy="457200"/>
          </a:xfrm>
          <a:prstGeom prst="rect">
            <a:avLst/>
          </a:prstGeom>
          <a:noFill/>
        </p:spPr>
        <p:txBody>
          <a:bodyPr wrap="square" lIns="0" tIns="0" rIns="0" bIns="0" anchor="t">
            <a:spAutoFit/>
          </a:bodyPr>
          <a:lstStyle/>
          <a:p>
            <a:pPr algn="l">
              <a:lnSpc>
                <a:spcPct val="100000"/>
              </a:lnSpc>
              <a:spcBef>
                <a:spcPts val="0"/>
              </a:spcBef>
              <a:spcAft>
                <a:spcPts val="0"/>
              </a:spcAft>
            </a:pPr>
            <a:r>
              <a:rPr sz="1400" b="0" i="0">
                <a:solidFill>
                  <a:srgbClr val="2B2B2B"/>
                </a:solidFill>
                <a:latin typeface="Calibri"/>
              </a:rPr>
              <a:t>Nested sub-issues, dependencies, custom fields and adaptable workflows.</a:t>
            </a:r>
          </a:p>
        </p:txBody>
      </p:sp>
      <p:sp>
        <p:nvSpPr>
          <p:cNvPr id="19" name="Rectangle 18"/>
          <p:cNvSpPr/>
          <p:nvPr/>
        </p:nvSpPr>
        <p:spPr>
          <a:xfrm>
            <a:off x="548640" y="3557016"/>
            <a:ext cx="11064240" cy="10972"/>
          </a:xfrm>
          <a:prstGeom prst="rect">
            <a:avLst/>
          </a:prstGeom>
          <a:solidFill>
            <a:srgbClr val="DDD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3630168"/>
            <a:ext cx="1572768" cy="438912"/>
          </a:xfrm>
          <a:prstGeom prst="rect">
            <a:avLst/>
          </a:prstGeom>
          <a:noFill/>
        </p:spPr>
        <p:txBody>
          <a:bodyPr wrap="square" lIns="0" tIns="0" rIns="0" bIns="0" anchor="t">
            <a:spAutoFit/>
          </a:bodyPr>
          <a:lstStyle/>
          <a:p>
            <a:pPr algn="l">
              <a:lnSpc>
                <a:spcPct val="100000"/>
              </a:lnSpc>
              <a:spcBef>
                <a:spcPts val="0"/>
              </a:spcBef>
              <a:spcAft>
                <a:spcPts val="0"/>
              </a:spcAft>
            </a:pPr>
            <a:r>
              <a:rPr sz="1400" b="1" i="0">
                <a:solidFill>
                  <a:srgbClr val="1F3D2C"/>
                </a:solidFill>
                <a:latin typeface="Cambria"/>
              </a:rPr>
              <a:t>Portfolio scale</a:t>
            </a:r>
          </a:p>
        </p:txBody>
      </p:sp>
      <p:sp>
        <p:nvSpPr>
          <p:cNvPr id="21" name="TextBox 20"/>
          <p:cNvSpPr txBox="1"/>
          <p:nvPr/>
        </p:nvSpPr>
        <p:spPr>
          <a:xfrm>
            <a:off x="2331720" y="3630168"/>
            <a:ext cx="4160520" cy="457200"/>
          </a:xfrm>
          <a:prstGeom prst="rect">
            <a:avLst/>
          </a:prstGeom>
          <a:noFill/>
        </p:spPr>
        <p:txBody>
          <a:bodyPr wrap="square" lIns="0" tIns="0" rIns="0" bIns="0" anchor="t">
            <a:spAutoFit/>
          </a:bodyPr>
          <a:lstStyle/>
          <a:p>
            <a:pPr algn="l">
              <a:lnSpc>
                <a:spcPct val="100000"/>
              </a:lnSpc>
              <a:spcBef>
                <a:spcPts val="0"/>
              </a:spcBef>
              <a:spcAft>
                <a:spcPts val="0"/>
              </a:spcAft>
            </a:pPr>
            <a:r>
              <a:rPr sz="1400" b="0" i="0">
                <a:solidFill>
                  <a:srgbClr val="2B2B2B"/>
                </a:solidFill>
                <a:latin typeface="Calibri"/>
              </a:rPr>
              <a:t>Area paths, Delivery Plans and structured coordination across many teams.</a:t>
            </a:r>
          </a:p>
        </p:txBody>
      </p:sp>
      <p:sp>
        <p:nvSpPr>
          <p:cNvPr id="22" name="TextBox 21"/>
          <p:cNvSpPr txBox="1"/>
          <p:nvPr/>
        </p:nvSpPr>
        <p:spPr>
          <a:xfrm>
            <a:off x="6903720" y="3630168"/>
            <a:ext cx="4709160" cy="457200"/>
          </a:xfrm>
          <a:prstGeom prst="rect">
            <a:avLst/>
          </a:prstGeom>
          <a:noFill/>
        </p:spPr>
        <p:txBody>
          <a:bodyPr wrap="square" lIns="0" tIns="0" rIns="0" bIns="0" anchor="t">
            <a:spAutoFit/>
          </a:bodyPr>
          <a:lstStyle/>
          <a:p>
            <a:pPr algn="l">
              <a:lnSpc>
                <a:spcPct val="100000"/>
              </a:lnSpc>
              <a:spcBef>
                <a:spcPts val="0"/>
              </a:spcBef>
              <a:spcAft>
                <a:spcPts val="0"/>
              </a:spcAft>
            </a:pPr>
            <a:r>
              <a:rPr sz="1400" b="0" i="0">
                <a:solidFill>
                  <a:srgbClr val="2B2B2B"/>
                </a:solidFill>
                <a:latin typeface="Calibri"/>
              </a:rPr>
              <a:t>Organization projects can span repositories, with lighter portfolio controls.</a:t>
            </a:r>
          </a:p>
        </p:txBody>
      </p:sp>
      <p:sp>
        <p:nvSpPr>
          <p:cNvPr id="23" name="Rectangle 22"/>
          <p:cNvSpPr/>
          <p:nvPr/>
        </p:nvSpPr>
        <p:spPr>
          <a:xfrm>
            <a:off x="548640" y="4123944"/>
            <a:ext cx="11064240" cy="10972"/>
          </a:xfrm>
          <a:prstGeom prst="rect">
            <a:avLst/>
          </a:prstGeom>
          <a:solidFill>
            <a:srgbClr val="DDD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4197096"/>
            <a:ext cx="1572768" cy="438912"/>
          </a:xfrm>
          <a:prstGeom prst="rect">
            <a:avLst/>
          </a:prstGeom>
          <a:noFill/>
        </p:spPr>
        <p:txBody>
          <a:bodyPr wrap="square" lIns="0" tIns="0" rIns="0" bIns="0" anchor="t">
            <a:spAutoFit/>
          </a:bodyPr>
          <a:lstStyle/>
          <a:p>
            <a:pPr algn="l">
              <a:lnSpc>
                <a:spcPct val="100000"/>
              </a:lnSpc>
              <a:spcBef>
                <a:spcPts val="0"/>
              </a:spcBef>
              <a:spcAft>
                <a:spcPts val="0"/>
              </a:spcAft>
            </a:pPr>
            <a:r>
              <a:rPr sz="1400" b="1" i="0">
                <a:solidFill>
                  <a:srgbClr val="1F3D2C"/>
                </a:solidFill>
                <a:latin typeface="Cambria"/>
              </a:rPr>
              <a:t>Analytics + governance</a:t>
            </a:r>
          </a:p>
        </p:txBody>
      </p:sp>
      <p:sp>
        <p:nvSpPr>
          <p:cNvPr id="25" name="TextBox 24"/>
          <p:cNvSpPr txBox="1"/>
          <p:nvPr/>
        </p:nvSpPr>
        <p:spPr>
          <a:xfrm>
            <a:off x="2331720" y="4197096"/>
            <a:ext cx="4160520" cy="457200"/>
          </a:xfrm>
          <a:prstGeom prst="rect">
            <a:avLst/>
          </a:prstGeom>
          <a:noFill/>
        </p:spPr>
        <p:txBody>
          <a:bodyPr wrap="square" lIns="0" tIns="0" rIns="0" bIns="0" anchor="t">
            <a:spAutoFit/>
          </a:bodyPr>
          <a:lstStyle/>
          <a:p>
            <a:pPr algn="l">
              <a:lnSpc>
                <a:spcPct val="100000"/>
              </a:lnSpc>
              <a:spcBef>
                <a:spcPts val="0"/>
              </a:spcBef>
              <a:spcAft>
                <a:spcPts val="0"/>
              </a:spcAft>
            </a:pPr>
            <a:r>
              <a:rPr sz="1400" b="0" i="0">
                <a:solidFill>
                  <a:srgbClr val="2B2B2B"/>
                </a:solidFill>
                <a:latin typeface="Calibri"/>
              </a:rPr>
              <a:t>Boards Analytics, Power BI depth, permissions and standardized reporting.</a:t>
            </a:r>
          </a:p>
        </p:txBody>
      </p:sp>
      <p:sp>
        <p:nvSpPr>
          <p:cNvPr id="26" name="TextBox 25"/>
          <p:cNvSpPr txBox="1"/>
          <p:nvPr/>
        </p:nvSpPr>
        <p:spPr>
          <a:xfrm>
            <a:off x="6903720" y="4197096"/>
            <a:ext cx="4709160" cy="457200"/>
          </a:xfrm>
          <a:prstGeom prst="rect">
            <a:avLst/>
          </a:prstGeom>
          <a:noFill/>
        </p:spPr>
        <p:txBody>
          <a:bodyPr wrap="square" lIns="0" tIns="0" rIns="0" bIns="0" anchor="t">
            <a:spAutoFit/>
          </a:bodyPr>
          <a:lstStyle/>
          <a:p>
            <a:pPr algn="l">
              <a:lnSpc>
                <a:spcPct val="100000"/>
              </a:lnSpc>
              <a:spcBef>
                <a:spcPts val="0"/>
              </a:spcBef>
              <a:spcAft>
                <a:spcPts val="0"/>
              </a:spcAft>
            </a:pPr>
            <a:r>
              <a:rPr sz="1400" b="0" i="0">
                <a:solidFill>
                  <a:srgbClr val="2B2B2B"/>
                </a:solidFill>
                <a:latin typeface="Calibri"/>
              </a:rPr>
              <a:t>Configurable charts, automation, APIs and Actions-driven extensibility.</a:t>
            </a:r>
          </a:p>
        </p:txBody>
      </p:sp>
      <p:sp>
        <p:nvSpPr>
          <p:cNvPr id="27" name="Rectangle 26"/>
          <p:cNvSpPr/>
          <p:nvPr/>
        </p:nvSpPr>
        <p:spPr>
          <a:xfrm>
            <a:off x="548640" y="4690872"/>
            <a:ext cx="11064240" cy="10972"/>
          </a:xfrm>
          <a:prstGeom prst="rect">
            <a:avLst/>
          </a:prstGeom>
          <a:solidFill>
            <a:srgbClr val="DDD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48640" y="4764024"/>
            <a:ext cx="1572768" cy="438912"/>
          </a:xfrm>
          <a:prstGeom prst="rect">
            <a:avLst/>
          </a:prstGeom>
          <a:noFill/>
        </p:spPr>
        <p:txBody>
          <a:bodyPr wrap="square" lIns="0" tIns="0" rIns="0" bIns="0" anchor="t">
            <a:spAutoFit/>
          </a:bodyPr>
          <a:lstStyle/>
          <a:p>
            <a:pPr algn="l">
              <a:lnSpc>
                <a:spcPct val="100000"/>
              </a:lnSpc>
              <a:spcBef>
                <a:spcPts val="0"/>
              </a:spcBef>
              <a:spcAft>
                <a:spcPts val="0"/>
              </a:spcAft>
            </a:pPr>
            <a:r>
              <a:rPr sz="1400" b="1" i="0">
                <a:solidFill>
                  <a:srgbClr val="1F3D2C"/>
                </a:solidFill>
                <a:latin typeface="Cambria"/>
              </a:rPr>
              <a:t>Best enterprise fit</a:t>
            </a:r>
          </a:p>
        </p:txBody>
      </p:sp>
      <p:sp>
        <p:nvSpPr>
          <p:cNvPr id="29" name="TextBox 28"/>
          <p:cNvSpPr txBox="1"/>
          <p:nvPr/>
        </p:nvSpPr>
        <p:spPr>
          <a:xfrm>
            <a:off x="2331720" y="4764024"/>
            <a:ext cx="4160520" cy="457200"/>
          </a:xfrm>
          <a:prstGeom prst="rect">
            <a:avLst/>
          </a:prstGeom>
          <a:noFill/>
        </p:spPr>
        <p:txBody>
          <a:bodyPr wrap="square" lIns="0" tIns="0" rIns="0" bIns="0" anchor="t">
            <a:spAutoFit/>
          </a:bodyPr>
          <a:lstStyle/>
          <a:p>
            <a:pPr algn="l">
              <a:lnSpc>
                <a:spcPct val="100000"/>
              </a:lnSpc>
              <a:spcBef>
                <a:spcPts val="0"/>
              </a:spcBef>
              <a:spcAft>
                <a:spcPts val="0"/>
              </a:spcAft>
            </a:pPr>
            <a:r>
              <a:rPr sz="1400" b="0" i="0">
                <a:solidFill>
                  <a:srgbClr val="2B2B2B"/>
                </a:solidFill>
                <a:latin typeface="Calibri"/>
              </a:rPr>
              <a:t>Formal capacity, regulated process, mature analytics and portfolio governance.</a:t>
            </a:r>
          </a:p>
        </p:txBody>
      </p:sp>
      <p:sp>
        <p:nvSpPr>
          <p:cNvPr id="30" name="TextBox 29"/>
          <p:cNvSpPr txBox="1"/>
          <p:nvPr/>
        </p:nvSpPr>
        <p:spPr>
          <a:xfrm>
            <a:off x="6903720" y="4764024"/>
            <a:ext cx="4709160" cy="457200"/>
          </a:xfrm>
          <a:prstGeom prst="rect">
            <a:avLst/>
          </a:prstGeom>
          <a:noFill/>
        </p:spPr>
        <p:txBody>
          <a:bodyPr wrap="square" lIns="0" tIns="0" rIns="0" bIns="0" anchor="t">
            <a:spAutoFit/>
          </a:bodyPr>
          <a:lstStyle/>
          <a:p>
            <a:pPr algn="l">
              <a:lnSpc>
                <a:spcPct val="100000"/>
              </a:lnSpc>
              <a:spcBef>
                <a:spcPts val="0"/>
              </a:spcBef>
              <a:spcAft>
                <a:spcPts val="0"/>
              </a:spcAft>
            </a:pPr>
            <a:r>
              <a:rPr sz="1400" b="0" i="0">
                <a:solidFill>
                  <a:srgbClr val="2B2B2B"/>
                </a:solidFill>
                <a:latin typeface="Calibri"/>
              </a:rPr>
              <a:t>Developer-centric planning, rapid adaptation and repository-native execution.</a:t>
            </a:r>
          </a:p>
        </p:txBody>
      </p:sp>
      <p:sp>
        <p:nvSpPr>
          <p:cNvPr id="31" name="Rounded Rectangle 30"/>
          <p:cNvSpPr/>
          <p:nvPr/>
        </p:nvSpPr>
        <p:spPr>
          <a:xfrm>
            <a:off x="548640" y="5504688"/>
            <a:ext cx="11064240" cy="713232"/>
          </a:xfrm>
          <a:prstGeom prst="roundRect">
            <a:avLst/>
          </a:prstGeom>
          <a:solidFill>
            <a:srgbClr val="1F3D2C"/>
          </a:solidFill>
          <a:ln>
            <a:solidFill>
              <a:srgbClr val="1F3D2C"/>
            </a:solidFill>
          </a:ln>
        </p:spPr>
        <p:style>
          <a:lnRef idx="1">
            <a:schemeClr val="accent1"/>
          </a:lnRef>
          <a:fillRef idx="3">
            <a:schemeClr val="accent1"/>
          </a:fillRef>
          <a:effectRef idx="2">
            <a:schemeClr val="accent1"/>
          </a:effectRef>
          <a:fontRef idx="minor">
            <a:schemeClr val="lt1"/>
          </a:fontRef>
        </p:style>
        <p:txBody>
          <a:bodyPr wrap="square" lIns="256032" tIns="73152" rIns="256032" rtlCol="0" anchor="ctr"/>
          <a:lstStyle/>
          <a:p>
            <a:pPr algn="ctr">
              <a:spcBef>
                <a:spcPts val="0"/>
              </a:spcBef>
              <a:spcAft>
                <a:spcPts val="0"/>
              </a:spcAft>
            </a:pPr>
            <a:r>
              <a:rPr lang="en-US" sz="1600" b="1" dirty="0">
                <a:solidFill>
                  <a:srgbClr val="F5F5F0"/>
                </a:solidFill>
                <a:latin typeface="Calibri"/>
              </a:rPr>
              <a:t>Stick with </a:t>
            </a:r>
            <a:r>
              <a:rPr sz="1600" b="1" dirty="0">
                <a:solidFill>
                  <a:srgbClr val="F5F5F0"/>
                </a:solidFill>
                <a:latin typeface="Calibri"/>
              </a:rPr>
              <a:t>Azure Boards where capacity, process and portfolio governance are non-negotiable</a:t>
            </a:r>
            <a:r>
              <a:rPr lang="en-US" sz="1600" b="1" dirty="0">
                <a:solidFill>
                  <a:srgbClr val="F5F5F0"/>
                </a:solidFill>
                <a:latin typeface="Calibri"/>
              </a:rPr>
              <a:t>, or GitHub Project don’t provide enough value to switch.</a:t>
            </a:r>
            <a:endParaRPr sz="1600" b="1" dirty="0">
              <a:solidFill>
                <a:srgbClr val="F5F5F0"/>
              </a:solidFill>
              <a:latin typeface="Calibri"/>
            </a:endParaRPr>
          </a:p>
        </p:txBody>
      </p:sp>
      <p:pic>
        <p:nvPicPr>
          <p:cNvPr id="33" name="Image 0" descr="/home/claude/pptx-build/assets/icons/FaRobot-FFFFFF-200.png">
            <a:extLst>
              <a:ext uri="{FF2B5EF4-FFF2-40B4-BE49-F238E27FC236}">
                <a16:creationId xmlns:a16="http://schemas.microsoft.com/office/drawing/2014/main" id="{FC2C751D-E396-2AA0-4963-FB97F35AA596}"/>
              </a:ext>
            </a:extLst>
          </p:cNvPr>
          <p:cNvPicPr>
            <a:picLocks noChangeAspect="1"/>
          </p:cNvPicPr>
          <p:nvPr/>
        </p:nvPicPr>
        <p:blipFill>
          <a:blip r:embed="rId3"/>
          <a:stretch>
            <a:fillRect/>
          </a:stretch>
        </p:blipFill>
        <p:spPr>
          <a:xfrm>
            <a:off x="838200" y="746760"/>
            <a:ext cx="292608" cy="29260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LayerGroup-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The Pattern</a:t>
            </a:r>
            <a:endParaRPr lang="en-US" sz="3200" dirty="0"/>
          </a:p>
        </p:txBody>
      </p:sp>
      <p:sp>
        <p:nvSpPr>
          <p:cNvPr id="6" name="Text 3"/>
          <p:cNvSpPr txBox="1"/>
          <p:nvPr/>
        </p:nvSpPr>
        <p:spPr>
          <a:xfrm>
            <a:off x="548640" y="1691640"/>
            <a:ext cx="11064240" cy="1005840"/>
          </a:xfrm>
          <a:prstGeom prst="rect">
            <a:avLst/>
          </a:prstGeom>
          <a:noFill/>
          <a:ln/>
        </p:spPr>
        <p:txBody>
          <a:bodyPr wrap="square" lIns="0" tIns="0" rIns="0" bIns="0" rtlCol="0" anchor="ctr"/>
          <a:lstStyle/>
          <a:p>
            <a:pPr marL="0" indent="0" algn="ctr">
              <a:buNone/>
            </a:pPr>
            <a:r>
              <a:rPr lang="en-US" sz="2600" b="1" i="1" dirty="0">
                <a:solidFill>
                  <a:srgbClr val="1F3D2C"/>
                </a:solidFill>
                <a:latin typeface="Cambria" pitchFamily="34" charset="0"/>
                <a:ea typeface="Cambria" pitchFamily="34" charset="-122"/>
                <a:cs typeface="Cambria" pitchFamily="34" charset="-120"/>
              </a:rPr>
              <a:t>Portable, standards-based artifacts usually travel best. Platform-specific behavior and data models create the real migration work.</a:t>
            </a:r>
            <a:endParaRPr lang="en-US" sz="2600" dirty="0"/>
          </a:p>
        </p:txBody>
      </p:sp>
      <p:sp>
        <p:nvSpPr>
          <p:cNvPr id="7" name="Shape 4"/>
          <p:cNvSpPr/>
          <p:nvPr/>
        </p:nvSpPr>
        <p:spPr>
          <a:xfrm>
            <a:off x="548640" y="2971800"/>
            <a:ext cx="5349240" cy="2880360"/>
          </a:xfrm>
          <a:prstGeom prst="roundRect">
            <a:avLst>
              <a:gd name="adj" fmla="val 381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5"/>
          <p:cNvSpPr txBox="1"/>
          <p:nvPr/>
        </p:nvSpPr>
        <p:spPr>
          <a:xfrm>
            <a:off x="822960" y="3154680"/>
            <a:ext cx="4800600" cy="457200"/>
          </a:xfrm>
          <a:prstGeom prst="rect">
            <a:avLst/>
          </a:prstGeom>
          <a:noFill/>
          <a:ln/>
        </p:spPr>
        <p:txBody>
          <a:bodyPr wrap="square" lIns="0" tIns="0" rIns="0" bIns="0" rtlCol="0" anchor="ctr"/>
          <a:lstStyle/>
          <a:p>
            <a:pPr marL="0" indent="0">
              <a:buNone/>
            </a:pPr>
            <a:r>
              <a:rPr lang="en-US" sz="1900" b="1" dirty="0">
                <a:solidFill>
                  <a:srgbClr val="1F3D2C"/>
                </a:solidFill>
                <a:latin typeface="Cambria" pitchFamily="34" charset="0"/>
                <a:ea typeface="Cambria" pitchFamily="34" charset="-122"/>
              </a:rPr>
              <a:t>Portable</a:t>
            </a:r>
            <a:endParaRPr lang="en-US" sz="1900" dirty="0"/>
          </a:p>
        </p:txBody>
      </p:sp>
      <p:sp>
        <p:nvSpPr>
          <p:cNvPr id="9" name="Text 6"/>
          <p:cNvSpPr txBox="1"/>
          <p:nvPr/>
        </p:nvSpPr>
        <p:spPr>
          <a:xfrm>
            <a:off x="822960" y="3703320"/>
            <a:ext cx="4800600" cy="2011680"/>
          </a:xfrm>
          <a:prstGeom prst="rect">
            <a:avLst/>
          </a:prstGeom>
          <a:noFill/>
          <a:ln/>
        </p:spPr>
        <p:txBody>
          <a:bodyPr wrap="square" lIns="0" tIns="0" rIns="0" bIns="0" rtlCol="0" anchor="ctr"/>
          <a:lstStyle/>
          <a:p>
            <a:pPr marL="342900" indent="-342900">
              <a:spcAft>
                <a:spcPts val="1000"/>
              </a:spcAft>
              <a:buSzPct val="100000"/>
              <a:buChar char="•"/>
            </a:pPr>
            <a:r>
              <a:rPr lang="en-US" sz="1650" dirty="0">
                <a:solidFill>
                  <a:srgbClr val="2B2B2B"/>
                </a:solidFill>
                <a:latin typeface="Calibri" pitchFamily="34" charset="0"/>
                <a:ea typeface="Calibri" pitchFamily="34" charset="-122"/>
                <a:cs typeface="Calibri" pitchFamily="34" charset="-120"/>
              </a:rPr>
              <a:t>Repos — it’s Git on both sides</a:t>
            </a:r>
            <a:endParaRPr lang="en-US" sz="1650" dirty="0"/>
          </a:p>
          <a:p>
            <a:pPr marL="342900" indent="-342900">
              <a:buSzPct val="100000"/>
              <a:buChar char="•"/>
            </a:pPr>
            <a:r>
              <a:rPr lang="en-US" sz="1650" dirty="0">
                <a:solidFill>
                  <a:srgbClr val="2B2B2B"/>
                </a:solidFill>
                <a:latin typeface="Calibri" pitchFamily="34" charset="0"/>
                <a:ea typeface="Calibri" pitchFamily="34" charset="-122"/>
                <a:cs typeface="Calibri" pitchFamily="34" charset="-120"/>
              </a:rPr>
              <a:t>Wiki — also Git on both sides</a:t>
            </a:r>
            <a:endParaRPr lang="en-US" sz="1650" dirty="0"/>
          </a:p>
        </p:txBody>
      </p:sp>
      <p:sp>
        <p:nvSpPr>
          <p:cNvPr id="10" name="Shape 7"/>
          <p:cNvSpPr/>
          <p:nvPr/>
        </p:nvSpPr>
        <p:spPr>
          <a:xfrm>
            <a:off x="6263640" y="2971800"/>
            <a:ext cx="5349240" cy="2880360"/>
          </a:xfrm>
          <a:prstGeom prst="roundRect">
            <a:avLst>
              <a:gd name="adj" fmla="val 3810"/>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8"/>
          <p:cNvSpPr txBox="1"/>
          <p:nvPr/>
        </p:nvSpPr>
        <p:spPr>
          <a:xfrm>
            <a:off x="6537960" y="3154680"/>
            <a:ext cx="4800600" cy="457200"/>
          </a:xfrm>
          <a:prstGeom prst="rect">
            <a:avLst/>
          </a:prstGeom>
          <a:noFill/>
          <a:ln/>
        </p:spPr>
        <p:txBody>
          <a:bodyPr wrap="square" lIns="0" tIns="0" rIns="0" bIns="0" rtlCol="0" anchor="ctr"/>
          <a:lstStyle/>
          <a:p>
            <a:pPr marL="0" indent="0">
              <a:buNone/>
            </a:pPr>
            <a:r>
              <a:rPr lang="en-US" sz="1900" b="1" dirty="0">
                <a:solidFill>
                  <a:srgbClr val="F5F5F0"/>
                </a:solidFill>
                <a:latin typeface="Cambria" pitchFamily="34" charset="0"/>
                <a:ea typeface="Cambria" pitchFamily="34" charset="-122"/>
                <a:cs typeface="Cambria" pitchFamily="34" charset="-120"/>
              </a:rPr>
              <a:t>Platform-specific</a:t>
            </a:r>
            <a:endParaRPr lang="en-US" sz="1900" dirty="0"/>
          </a:p>
        </p:txBody>
      </p:sp>
      <p:sp>
        <p:nvSpPr>
          <p:cNvPr id="12" name="Text 9"/>
          <p:cNvSpPr txBox="1"/>
          <p:nvPr/>
        </p:nvSpPr>
        <p:spPr>
          <a:xfrm>
            <a:off x="6537960" y="3703320"/>
            <a:ext cx="4800600" cy="2011680"/>
          </a:xfrm>
          <a:prstGeom prst="rect">
            <a:avLst/>
          </a:prstGeom>
          <a:noFill/>
          <a:ln/>
        </p:spPr>
        <p:txBody>
          <a:bodyPr wrap="square" lIns="0" tIns="0" rIns="0" bIns="0" rtlCol="0" anchor="ctr"/>
          <a:lstStyle/>
          <a:p>
            <a:pPr marL="342900" indent="-342900">
              <a:spcAft>
                <a:spcPts val="1000"/>
              </a:spcAft>
              <a:buSzPct val="100000"/>
              <a:buChar char="•"/>
            </a:pPr>
            <a:r>
              <a:rPr lang="en-US" sz="1650" dirty="0">
                <a:solidFill>
                  <a:srgbClr val="F5F5F0"/>
                </a:solidFill>
                <a:latin typeface="Calibri" pitchFamily="34" charset="0"/>
                <a:ea typeface="Calibri" pitchFamily="34" charset="-122"/>
                <a:cs typeface="Calibri" pitchFamily="34" charset="-120"/>
              </a:rPr>
              <a:t>Dashboards — partial equivalent, this section</a:t>
            </a:r>
            <a:endParaRPr lang="en-US" sz="1650" dirty="0"/>
          </a:p>
          <a:p>
            <a:pPr marL="342900" indent="-342900">
              <a:buSzPct val="100000"/>
              <a:buChar char="•"/>
            </a:pPr>
            <a:r>
              <a:rPr lang="en-US" sz="1650" dirty="0">
                <a:solidFill>
                  <a:srgbClr val="F5F5F0"/>
                </a:solidFill>
                <a:latin typeface="Calibri" pitchFamily="34" charset="0"/>
                <a:ea typeface="Calibri" pitchFamily="34" charset="-122"/>
                <a:cs typeface="Calibri" pitchFamily="34" charset="-120"/>
              </a:rPr>
              <a:t>Boards &amp; Test Plans — the whole next section</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Lin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r>
              <a:rPr lang="en-US" sz="1500" b="1" kern="0" spc="200" dirty="0">
                <a:solidFill>
                  <a:srgbClr val="C1440E"/>
                </a:solidFill>
                <a:latin typeface="Calibri" pitchFamily="34" charset="0"/>
                <a:ea typeface="Calibri" pitchFamily="34" charset="-122"/>
                <a:cs typeface="Calibri" pitchFamily="34" charset="-120"/>
              </a:rPr>
              <a:t>A FIELD GUIDE TO THE LOCAL SPECIES</a:t>
            </a:r>
            <a:endParaRPr lang="en-US" sz="1500" dirty="0"/>
          </a:p>
        </p:txBody>
      </p:sp>
      <p:sp>
        <p:nvSpPr>
          <p:cNvPr id="5" name="Text 2"/>
          <p:cNvSpPr txBox="1"/>
          <p:nvPr/>
        </p:nvSpPr>
        <p:spPr>
          <a:xfrm>
            <a:off x="1234439" y="749808"/>
            <a:ext cx="10746545"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Hybrid – Leave What Makes Sense</a:t>
            </a:r>
            <a:endParaRPr lang="en-US" sz="3200" dirty="0"/>
          </a:p>
        </p:txBody>
      </p:sp>
      <p:sp>
        <p:nvSpPr>
          <p:cNvPr id="6" name="TextBox 5"/>
          <p:cNvSpPr txBox="1"/>
          <p:nvPr/>
        </p:nvSpPr>
        <p:spPr>
          <a:xfrm>
            <a:off x="548640" y="1525708"/>
            <a:ext cx="11064240" cy="276999"/>
          </a:xfrm>
          <a:prstGeom prst="rect">
            <a:avLst/>
          </a:prstGeom>
          <a:noFill/>
        </p:spPr>
        <p:txBody>
          <a:bodyPr wrap="square" lIns="0" tIns="0" rIns="0" bIns="0" anchor="ctr">
            <a:spAutoFit/>
          </a:bodyPr>
          <a:lstStyle/>
          <a:p>
            <a:pPr algn="l"/>
            <a:r>
              <a:rPr lang="en-US" sz="1800" b="1" i="0" dirty="0">
                <a:solidFill>
                  <a:srgbClr val="1F3D2C"/>
                </a:solidFill>
              </a:rPr>
              <a:t>Move repository-centric workflows to GitHub—retain Azure DevOps where it still provides material value.</a:t>
            </a:r>
          </a:p>
        </p:txBody>
      </p:sp>
      <p:sp>
        <p:nvSpPr>
          <p:cNvPr id="7" name="Rounded Rectangle 6"/>
          <p:cNvSpPr/>
          <p:nvPr/>
        </p:nvSpPr>
        <p:spPr>
          <a:xfrm>
            <a:off x="548640" y="2011680"/>
            <a:ext cx="5349240" cy="2377440"/>
          </a:xfrm>
          <a:prstGeom prst="roundRect">
            <a:avLst>
              <a:gd name="adj" fmla="val 8000"/>
            </a:avLst>
          </a:prstGeom>
          <a:solidFill>
            <a:srgbClr val="F7F6F2"/>
          </a:solidFill>
          <a:ln w="12700">
            <a:solidFill>
              <a:srgbClr val="DDD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ounded Rectangle 7"/>
          <p:cNvSpPr/>
          <p:nvPr/>
        </p:nvSpPr>
        <p:spPr>
          <a:xfrm>
            <a:off x="6263640" y="2011680"/>
            <a:ext cx="5349240" cy="2377440"/>
          </a:xfrm>
          <a:prstGeom prst="roundRect">
            <a:avLst>
              <a:gd name="adj" fmla="val 8000"/>
            </a:avLst>
          </a:prstGeom>
          <a:solidFill>
            <a:srgbClr val="F7F6F2"/>
          </a:solidFill>
          <a:ln w="12700">
            <a:solidFill>
              <a:srgbClr val="DDD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822960" y="2212848"/>
            <a:ext cx="4754880" cy="347472"/>
          </a:xfrm>
          <a:prstGeom prst="rect">
            <a:avLst/>
          </a:prstGeom>
          <a:noFill/>
        </p:spPr>
        <p:txBody>
          <a:bodyPr wrap="square" lIns="0" tIns="0" rIns="0" bIns="0" anchor="t">
            <a:spAutoFit/>
          </a:bodyPr>
          <a:lstStyle/>
          <a:p>
            <a:pPr algn="l"/>
            <a:r>
              <a:rPr sz="2200" b="1" i="0">
                <a:solidFill>
                  <a:srgbClr val="1F3D2C"/>
                </a:solidFill>
                <a:latin typeface="Cambria"/>
              </a:rPr>
              <a:t>GitHub</a:t>
            </a:r>
          </a:p>
        </p:txBody>
      </p:sp>
      <p:sp>
        <p:nvSpPr>
          <p:cNvPr id="10" name="TextBox 9"/>
          <p:cNvSpPr txBox="1"/>
          <p:nvPr/>
        </p:nvSpPr>
        <p:spPr>
          <a:xfrm>
            <a:off x="822960" y="2560320"/>
            <a:ext cx="4754880" cy="274320"/>
          </a:xfrm>
          <a:prstGeom prst="rect">
            <a:avLst/>
          </a:prstGeom>
          <a:noFill/>
        </p:spPr>
        <p:txBody>
          <a:bodyPr wrap="square" lIns="0" tIns="0" rIns="0" bIns="0" anchor="t">
            <a:spAutoFit/>
          </a:bodyPr>
          <a:lstStyle/>
          <a:p>
            <a:pPr algn="l"/>
            <a:r>
              <a:rPr lang="en-US" sz="1450" b="1" i="1">
                <a:solidFill>
                  <a:srgbClr val="C1440E"/>
                </a:solidFill>
                <a:latin typeface="Calibri"/>
              </a:rPr>
              <a:t>Repository + code workflows</a:t>
            </a:r>
          </a:p>
        </p:txBody>
      </p:sp>
      <p:sp>
        <p:nvSpPr>
          <p:cNvPr id="11" name="TextBox 10"/>
          <p:cNvSpPr txBox="1"/>
          <p:nvPr/>
        </p:nvSpPr>
        <p:spPr>
          <a:xfrm>
            <a:off x="822960" y="2907792"/>
            <a:ext cx="4709160" cy="1298448"/>
          </a:xfrm>
          <a:prstGeom prst="rect">
            <a:avLst/>
          </a:prstGeom>
          <a:noFill/>
        </p:spPr>
        <p:txBody>
          <a:bodyPr wrap="square" lIns="0" tIns="0" rIns="0" bIns="0" anchor="t">
            <a:spAutoFit/>
          </a:bodyPr>
          <a:lstStyle/>
          <a:p>
            <a:pPr algn="l">
              <a:lnSpc>
                <a:spcPts val="1750"/>
              </a:lnSpc>
              <a:spcAft>
                <a:spcPts val="400"/>
              </a:spcAft>
            </a:pPr>
            <a:r>
              <a:rPr lang="en-US" sz="1450">
                <a:solidFill>
                  <a:srgbClr val="2B2B2B"/>
                </a:solidFill>
                <a:latin typeface="Calibri"/>
              </a:rPr>
              <a:t>•  GitHub repositories</a:t>
            </a:r>
          </a:p>
          <a:p>
            <a:pPr algn="l">
              <a:lnSpc>
                <a:spcPts val="1750"/>
              </a:lnSpc>
              <a:spcAft>
                <a:spcPts val="400"/>
              </a:spcAft>
            </a:pPr>
            <a:r>
              <a:rPr lang="en-US" sz="1450">
                <a:solidFill>
                  <a:srgbClr val="2B2B2B"/>
                </a:solidFill>
                <a:latin typeface="Calibri"/>
              </a:rPr>
              <a:t>•  Pull requests and code review</a:t>
            </a:r>
          </a:p>
          <a:p>
            <a:pPr algn="l">
              <a:lnSpc>
                <a:spcPts val="1750"/>
              </a:lnSpc>
              <a:spcAft>
                <a:spcPts val="400"/>
              </a:spcAft>
            </a:pPr>
            <a:r>
              <a:rPr lang="en-US" sz="1450">
                <a:solidFill>
                  <a:srgbClr val="2B2B2B"/>
                </a:solidFill>
                <a:latin typeface="Calibri"/>
              </a:rPr>
              <a:t>•  Repository-native Copilot capabilities</a:t>
            </a:r>
          </a:p>
          <a:p>
            <a:pPr algn="l">
              <a:lnSpc>
                <a:spcPts val="1750"/>
              </a:lnSpc>
              <a:spcAft>
                <a:spcPts val="400"/>
              </a:spcAft>
            </a:pPr>
            <a:r>
              <a:rPr lang="en-US" sz="1450">
                <a:solidFill>
                  <a:srgbClr val="2B2B2B"/>
                </a:solidFill>
                <a:latin typeface="Calibri"/>
              </a:rPr>
              <a:t>•  GitHub Actions, where appropriate</a:t>
            </a:r>
          </a:p>
          <a:p>
            <a:pPr algn="l">
              <a:lnSpc>
                <a:spcPts val="1750"/>
              </a:lnSpc>
              <a:spcAft>
                <a:spcPts val="400"/>
              </a:spcAft>
            </a:pPr>
            <a:r>
              <a:rPr lang="en-US" sz="1450">
                <a:solidFill>
                  <a:srgbClr val="2B2B2B"/>
                </a:solidFill>
                <a:latin typeface="Calibri"/>
              </a:rPr>
              <a:t>•  Repository security and policy controls</a:t>
            </a:r>
          </a:p>
        </p:txBody>
      </p:sp>
      <p:sp>
        <p:nvSpPr>
          <p:cNvPr id="12" name="TextBox 11"/>
          <p:cNvSpPr txBox="1">
            <a:spLocks/>
          </p:cNvSpPr>
          <p:nvPr/>
        </p:nvSpPr>
        <p:spPr>
          <a:xfrm>
            <a:off x="6537960" y="2212848"/>
            <a:ext cx="4754880" cy="347472"/>
          </a:xfrm>
          <a:prstGeom prst="rect">
            <a:avLst/>
          </a:prstGeom>
          <a:noFill/>
        </p:spPr>
        <p:txBody>
          <a:bodyPr wrap="square" lIns="0" tIns="0" rIns="0" bIns="0" anchor="t">
            <a:spAutoFit/>
          </a:bodyPr>
          <a:lstStyle/>
          <a:p>
            <a:pPr algn="l"/>
            <a:r>
              <a:rPr lang="en-US" sz="2200" b="1" i="0">
                <a:solidFill>
                  <a:srgbClr val="1F3D2C"/>
                </a:solidFill>
                <a:latin typeface="Cambria"/>
              </a:rPr>
              <a:t>Azure DevOps</a:t>
            </a:r>
          </a:p>
        </p:txBody>
      </p:sp>
      <p:sp>
        <p:nvSpPr>
          <p:cNvPr id="13" name="TextBox 12"/>
          <p:cNvSpPr txBox="1">
            <a:spLocks/>
          </p:cNvSpPr>
          <p:nvPr/>
        </p:nvSpPr>
        <p:spPr>
          <a:xfrm>
            <a:off x="6537960" y="2560320"/>
            <a:ext cx="4754880" cy="274320"/>
          </a:xfrm>
          <a:prstGeom prst="rect">
            <a:avLst/>
          </a:prstGeom>
          <a:noFill/>
        </p:spPr>
        <p:txBody>
          <a:bodyPr wrap="square" lIns="0" tIns="0" rIns="0" bIns="0" anchor="t">
            <a:spAutoFit/>
          </a:bodyPr>
          <a:lstStyle/>
          <a:p>
            <a:pPr algn="l"/>
            <a:r>
              <a:rPr lang="en-US" sz="1450" b="1" i="1">
                <a:solidFill>
                  <a:srgbClr val="C1440E"/>
                </a:solidFill>
                <a:latin typeface="Calibri"/>
              </a:rPr>
              <a:t>Planning, portfolio + testing workflows</a:t>
            </a:r>
          </a:p>
        </p:txBody>
      </p:sp>
      <p:sp>
        <p:nvSpPr>
          <p:cNvPr id="14" name="TextBox 13"/>
          <p:cNvSpPr txBox="1"/>
          <p:nvPr/>
        </p:nvSpPr>
        <p:spPr>
          <a:xfrm>
            <a:off x="6537960" y="2907792"/>
            <a:ext cx="4709160" cy="1298448"/>
          </a:xfrm>
          <a:prstGeom prst="rect">
            <a:avLst/>
          </a:prstGeom>
          <a:noFill/>
        </p:spPr>
        <p:txBody>
          <a:bodyPr wrap="square" lIns="0" tIns="0" rIns="0" bIns="0" anchor="t">
            <a:spAutoFit/>
          </a:bodyPr>
          <a:lstStyle/>
          <a:p>
            <a:pPr algn="l">
              <a:lnSpc>
                <a:spcPts val="1750"/>
              </a:lnSpc>
              <a:spcAft>
                <a:spcPts val="400"/>
              </a:spcAft>
            </a:pPr>
            <a:r>
              <a:rPr sz="1450">
                <a:solidFill>
                  <a:srgbClr val="2B2B2B"/>
                </a:solidFill>
                <a:latin typeface="Calibri"/>
              </a:rPr>
              <a:t>•  Azure Boards—formal planning and reporting</a:t>
            </a:r>
          </a:p>
          <a:p>
            <a:pPr algn="l">
              <a:lnSpc>
                <a:spcPts val="1750"/>
              </a:lnSpc>
              <a:spcAft>
                <a:spcPts val="400"/>
              </a:spcAft>
            </a:pPr>
            <a:r>
              <a:rPr sz="1450">
                <a:solidFill>
                  <a:srgbClr val="2B2B2B"/>
                </a:solidFill>
                <a:latin typeface="Calibri"/>
              </a:rPr>
              <a:t>•  Azure Test Plans—structured manual testing</a:t>
            </a:r>
          </a:p>
          <a:p>
            <a:pPr algn="l">
              <a:lnSpc>
                <a:spcPts val="1750"/>
              </a:lnSpc>
              <a:spcAft>
                <a:spcPts val="400"/>
              </a:spcAft>
            </a:pPr>
            <a:r>
              <a:rPr sz="1450">
                <a:solidFill>
                  <a:srgbClr val="2B2B2B"/>
                </a:solidFill>
                <a:latin typeface="Calibri"/>
              </a:rPr>
              <a:t>•  Azure Pipelines—retained temporarily or deliberately</a:t>
            </a:r>
          </a:p>
        </p:txBody>
      </p:sp>
      <p:sp>
        <p:nvSpPr>
          <p:cNvPr id="15" name="Rectangle 14"/>
          <p:cNvSpPr>
            <a:spLocks/>
          </p:cNvSpPr>
          <p:nvPr/>
        </p:nvSpPr>
        <p:spPr>
          <a:xfrm>
            <a:off x="548640" y="4599432"/>
            <a:ext cx="11064240" cy="32004"/>
          </a:xfrm>
          <a:prstGeom prst="rect">
            <a:avLst/>
          </a:prstGeom>
          <a:solidFill>
            <a:srgbClr val="C144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p:cNvSpPr txBox="1"/>
          <p:nvPr/>
        </p:nvSpPr>
        <p:spPr>
          <a:xfrm>
            <a:off x="548640" y="4718304"/>
            <a:ext cx="2286000" cy="292608"/>
          </a:xfrm>
          <a:prstGeom prst="rect">
            <a:avLst/>
          </a:prstGeom>
          <a:noFill/>
        </p:spPr>
        <p:txBody>
          <a:bodyPr wrap="square" lIns="0" tIns="0" rIns="0" bIns="0" anchor="t">
            <a:spAutoFit/>
          </a:bodyPr>
          <a:lstStyle/>
          <a:p>
            <a:pPr algn="l"/>
            <a:r>
              <a:rPr lang="en-US" sz="1800" b="1" i="0">
                <a:solidFill>
                  <a:srgbClr val="1F3D2C"/>
                </a:solidFill>
                <a:latin typeface="Cambria"/>
              </a:rPr>
              <a:t>Integration layer</a:t>
            </a:r>
          </a:p>
        </p:txBody>
      </p:sp>
      <p:sp>
        <p:nvSpPr>
          <p:cNvPr id="17" name="TextBox 16"/>
          <p:cNvSpPr txBox="1">
            <a:spLocks/>
          </p:cNvSpPr>
          <p:nvPr/>
        </p:nvSpPr>
        <p:spPr>
          <a:xfrm>
            <a:off x="2788920" y="4727448"/>
            <a:ext cx="8823960" cy="256032"/>
          </a:xfrm>
          <a:prstGeom prst="rect">
            <a:avLst/>
          </a:prstGeom>
          <a:noFill/>
        </p:spPr>
        <p:txBody>
          <a:bodyPr wrap="square" lIns="0" tIns="0" rIns="0" bIns="0" anchor="t">
            <a:spAutoFit/>
          </a:bodyPr>
          <a:lstStyle/>
          <a:p>
            <a:pPr algn="l"/>
            <a:r>
              <a:rPr lang="en-US" sz="1400" b="0" i="0">
                <a:solidFill>
                  <a:srgbClr val="2B2B2B"/>
                </a:solidFill>
                <a:latin typeface="Calibri"/>
              </a:rPr>
              <a:t>The connective tissue that keeps planning, code, delivery, and reporting coherent.</a:t>
            </a:r>
          </a:p>
        </p:txBody>
      </p:sp>
      <p:sp>
        <p:nvSpPr>
          <p:cNvPr id="18" name="TextBox 17"/>
          <p:cNvSpPr txBox="1">
            <a:spLocks/>
          </p:cNvSpPr>
          <p:nvPr/>
        </p:nvSpPr>
        <p:spPr>
          <a:xfrm>
            <a:off x="548640" y="5102352"/>
            <a:ext cx="2011680" cy="512064"/>
          </a:xfrm>
          <a:prstGeom prst="rect">
            <a:avLst/>
          </a:prstGeom>
          <a:noFill/>
        </p:spPr>
        <p:txBody>
          <a:bodyPr wrap="square" lIns="0" tIns="0" rIns="0" bIns="0" anchor="ctr">
            <a:spAutoFit/>
          </a:bodyPr>
          <a:lstStyle/>
          <a:p>
            <a:pPr algn="ctr">
              <a:lnSpc>
                <a:spcPts val="1600"/>
              </a:lnSpc>
            </a:pPr>
            <a:r>
              <a:rPr lang="en-US" sz="1450" b="1" i="0">
                <a:solidFill>
                  <a:srgbClr val="1F3D2C"/>
                </a:solidFill>
                <a:latin typeface="Calibri"/>
              </a:rPr>
              <a:t>Work-item
traceability</a:t>
            </a:r>
          </a:p>
        </p:txBody>
      </p:sp>
      <p:sp>
        <p:nvSpPr>
          <p:cNvPr id="19" name="Rectangle 18"/>
          <p:cNvSpPr/>
          <p:nvPr/>
        </p:nvSpPr>
        <p:spPr>
          <a:xfrm>
            <a:off x="2686050" y="5175504"/>
            <a:ext cx="10972" cy="365760"/>
          </a:xfrm>
          <a:prstGeom prst="rect">
            <a:avLst/>
          </a:prstGeom>
          <a:solidFill>
            <a:srgbClr val="DDD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811780" y="5102352"/>
            <a:ext cx="2011680" cy="512064"/>
          </a:xfrm>
          <a:prstGeom prst="rect">
            <a:avLst/>
          </a:prstGeom>
          <a:noFill/>
        </p:spPr>
        <p:txBody>
          <a:bodyPr wrap="square" lIns="0" tIns="0" rIns="0" bIns="0" anchor="ctr">
            <a:spAutoFit/>
          </a:bodyPr>
          <a:lstStyle/>
          <a:p>
            <a:pPr algn="ctr">
              <a:lnSpc>
                <a:spcPts val="1600"/>
              </a:lnSpc>
            </a:pPr>
            <a:r>
              <a:rPr lang="en-US" sz="1450" b="1" i="0">
                <a:solidFill>
                  <a:srgbClr val="1F3D2C"/>
                </a:solidFill>
                <a:latin typeface="Calibri"/>
              </a:rPr>
              <a:t>Commit + pull-request
links</a:t>
            </a:r>
          </a:p>
        </p:txBody>
      </p:sp>
      <p:sp>
        <p:nvSpPr>
          <p:cNvPr id="21" name="Rectangle 20"/>
          <p:cNvSpPr>
            <a:spLocks/>
          </p:cNvSpPr>
          <p:nvPr/>
        </p:nvSpPr>
        <p:spPr>
          <a:xfrm>
            <a:off x="4949190" y="5175504"/>
            <a:ext cx="10972" cy="365760"/>
          </a:xfrm>
          <a:prstGeom prst="rect">
            <a:avLst/>
          </a:prstGeom>
          <a:solidFill>
            <a:srgbClr val="DDD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p:cNvSpPr txBox="1"/>
          <p:nvPr/>
        </p:nvSpPr>
        <p:spPr>
          <a:xfrm>
            <a:off x="5074920" y="5102352"/>
            <a:ext cx="2011680" cy="512064"/>
          </a:xfrm>
          <a:prstGeom prst="rect">
            <a:avLst/>
          </a:prstGeom>
          <a:noFill/>
        </p:spPr>
        <p:txBody>
          <a:bodyPr wrap="square" lIns="0" tIns="0" rIns="0" bIns="0" anchor="ctr">
            <a:spAutoFit/>
          </a:bodyPr>
          <a:lstStyle/>
          <a:p>
            <a:pPr algn="ctr">
              <a:lnSpc>
                <a:spcPts val="1600"/>
              </a:lnSpc>
            </a:pPr>
            <a:r>
              <a:rPr lang="en-US" sz="1450" b="1" i="0">
                <a:solidFill>
                  <a:srgbClr val="1F3D2C"/>
                </a:solidFill>
                <a:latin typeface="Calibri"/>
              </a:rPr>
              <a:t>Pipeline
integration</a:t>
            </a:r>
          </a:p>
        </p:txBody>
      </p:sp>
      <p:sp>
        <p:nvSpPr>
          <p:cNvPr id="23" name="Rectangle 22"/>
          <p:cNvSpPr/>
          <p:nvPr/>
        </p:nvSpPr>
        <p:spPr>
          <a:xfrm>
            <a:off x="7212330" y="5175504"/>
            <a:ext cx="10972" cy="365760"/>
          </a:xfrm>
          <a:prstGeom prst="rect">
            <a:avLst/>
          </a:prstGeom>
          <a:solidFill>
            <a:srgbClr val="DDD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38060" y="5102352"/>
            <a:ext cx="2011680" cy="512064"/>
          </a:xfrm>
          <a:prstGeom prst="rect">
            <a:avLst/>
          </a:prstGeom>
          <a:noFill/>
        </p:spPr>
        <p:txBody>
          <a:bodyPr wrap="square" lIns="0" tIns="0" rIns="0" bIns="0" anchor="ctr">
            <a:spAutoFit/>
          </a:bodyPr>
          <a:lstStyle/>
          <a:p>
            <a:pPr algn="ctr">
              <a:lnSpc>
                <a:spcPts val="1600"/>
              </a:lnSpc>
            </a:pPr>
            <a:r>
              <a:rPr sz="1450" b="1" i="0">
                <a:solidFill>
                  <a:srgbClr val="1F3D2C"/>
                </a:solidFill>
                <a:latin typeface="Calibri"/>
              </a:rPr>
              <a:t>Identity
mapping</a:t>
            </a:r>
          </a:p>
        </p:txBody>
      </p:sp>
      <p:sp>
        <p:nvSpPr>
          <p:cNvPr id="25" name="Rectangle 24"/>
          <p:cNvSpPr/>
          <p:nvPr/>
        </p:nvSpPr>
        <p:spPr>
          <a:xfrm>
            <a:off x="9475470" y="5175504"/>
            <a:ext cx="10972" cy="365760"/>
          </a:xfrm>
          <a:prstGeom prst="rect">
            <a:avLst/>
          </a:prstGeom>
          <a:solidFill>
            <a:srgbClr val="DDD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601200" y="5102352"/>
            <a:ext cx="2011680" cy="512064"/>
          </a:xfrm>
          <a:prstGeom prst="rect">
            <a:avLst/>
          </a:prstGeom>
          <a:noFill/>
        </p:spPr>
        <p:txBody>
          <a:bodyPr wrap="square" lIns="0" tIns="0" rIns="0" bIns="0" anchor="ctr">
            <a:spAutoFit/>
          </a:bodyPr>
          <a:lstStyle/>
          <a:p>
            <a:pPr algn="ctr">
              <a:lnSpc>
                <a:spcPts val="1600"/>
              </a:lnSpc>
            </a:pPr>
            <a:r>
              <a:rPr sz="1450" b="1" i="0">
                <a:solidFill>
                  <a:srgbClr val="1F3D2C"/>
                </a:solidFill>
                <a:latin typeface="Calibri"/>
              </a:rPr>
              <a:t>Cross-platform
reporting</a:t>
            </a:r>
          </a:p>
        </p:txBody>
      </p:sp>
      <p:sp>
        <p:nvSpPr>
          <p:cNvPr id="34" name="Rounded Rectangle 30">
            <a:extLst>
              <a:ext uri="{FF2B5EF4-FFF2-40B4-BE49-F238E27FC236}">
                <a16:creationId xmlns:a16="http://schemas.microsoft.com/office/drawing/2014/main" id="{D1646937-CBCF-B3A5-B8E6-40CE73EF90E5}"/>
              </a:ext>
            </a:extLst>
          </p:cNvPr>
          <p:cNvSpPr/>
          <p:nvPr/>
        </p:nvSpPr>
        <p:spPr>
          <a:xfrm>
            <a:off x="548640" y="5864093"/>
            <a:ext cx="11064240" cy="713232"/>
          </a:xfrm>
          <a:prstGeom prst="roundRect">
            <a:avLst/>
          </a:prstGeom>
          <a:solidFill>
            <a:srgbClr val="1F3D2C"/>
          </a:solidFill>
          <a:ln>
            <a:solidFill>
              <a:srgbClr val="1F3D2C"/>
            </a:solidFill>
          </a:ln>
        </p:spPr>
        <p:style>
          <a:lnRef idx="1">
            <a:schemeClr val="accent1"/>
          </a:lnRef>
          <a:fillRef idx="3">
            <a:schemeClr val="accent1"/>
          </a:fillRef>
          <a:effectRef idx="2">
            <a:schemeClr val="accent1"/>
          </a:effectRef>
          <a:fontRef idx="minor">
            <a:schemeClr val="lt1"/>
          </a:fontRef>
        </p:style>
        <p:txBody>
          <a:bodyPr wrap="square" lIns="256032" tIns="73152" rIns="256032" rtlCol="0" anchor="ctr"/>
          <a:lstStyle/>
          <a:p>
            <a:pPr algn="ctr">
              <a:spcBef>
                <a:spcPts val="0"/>
              </a:spcBef>
              <a:spcAft>
                <a:spcPts val="0"/>
              </a:spcAft>
            </a:pPr>
            <a:r>
              <a:rPr lang="en-US" sz="1600" b="1" dirty="0">
                <a:solidFill>
                  <a:srgbClr val="F5F5F0"/>
                </a:solidFill>
                <a:latin typeface="Calibri"/>
              </a:rPr>
              <a:t>Hybrid is not a temporary failure to finish the migration. It can be the intended architecture.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1F3D2C"/>
        </a:solidFill>
        <a:effectLst/>
      </p:bgPr>
    </p:bg>
    <p:spTree>
      <p:nvGrpSpPr>
        <p:cNvPr id="1" name=""/>
        <p:cNvGrpSpPr/>
        <p:nvPr/>
      </p:nvGrpSpPr>
      <p:grpSpPr>
        <a:xfrm>
          <a:off x="0" y="0"/>
          <a:ext cx="0" cy="0"/>
          <a:chOff x="0" y="0"/>
          <a:chExt cx="0" cy="0"/>
        </a:xfrm>
      </p:grpSpPr>
      <p:sp>
        <p:nvSpPr>
          <p:cNvPr id="2" name="Text 0"/>
          <p:cNvSpPr txBox="1"/>
          <p:nvPr/>
        </p:nvSpPr>
        <p:spPr>
          <a:xfrm>
            <a:off x="548640" y="2651760"/>
            <a:ext cx="11064240" cy="1005840"/>
          </a:xfrm>
          <a:prstGeom prst="rect">
            <a:avLst/>
          </a:prstGeom>
          <a:noFill/>
          <a:ln/>
        </p:spPr>
        <p:txBody>
          <a:bodyPr wrap="square" lIns="0" tIns="0" rIns="0" bIns="0" rtlCol="0" anchor="ctr"/>
          <a:lstStyle/>
          <a:p>
            <a:pPr marL="0" indent="0" algn="ctr">
              <a:buNone/>
            </a:pPr>
            <a:r>
              <a:rPr lang="en-US" sz="4200" b="1" dirty="0">
                <a:solidFill>
                  <a:srgbClr val="F5F5F0"/>
                </a:solidFill>
                <a:latin typeface="Cambria" pitchFamily="34" charset="0"/>
                <a:ea typeface="Cambria" pitchFamily="34" charset="-122"/>
                <a:cs typeface="Cambria" pitchFamily="34" charset="-120"/>
              </a:rPr>
              <a:t>Q&amp;A POCKET</a:t>
            </a:r>
            <a:endParaRPr lang="en-US" sz="4200" dirty="0"/>
          </a:p>
        </p:txBody>
      </p:sp>
      <p:sp>
        <p:nvSpPr>
          <p:cNvPr id="3" name="Text 1"/>
          <p:cNvSpPr txBox="1"/>
          <p:nvPr/>
        </p:nvSpPr>
        <p:spPr>
          <a:xfrm>
            <a:off x="548640" y="3703320"/>
            <a:ext cx="11064240" cy="594360"/>
          </a:xfrm>
          <a:prstGeom prst="rect">
            <a:avLst/>
          </a:prstGeom>
          <a:noFill/>
          <a:ln/>
        </p:spPr>
        <p:txBody>
          <a:bodyPr wrap="square" lIns="0" tIns="0" rIns="0" bIns="0" rtlCol="0" anchor="ctr"/>
          <a:lstStyle/>
          <a:p>
            <a:pPr marL="0" indent="0" algn="ctr">
              <a:buNone/>
            </a:pPr>
            <a:r>
              <a:rPr lang="en-US" sz="1900" i="1" dirty="0">
                <a:solidFill>
                  <a:srgbClr val="8C6A3F"/>
                </a:solidFill>
                <a:latin typeface="Calibri" pitchFamily="34" charset="0"/>
                <a:ea typeface="Calibri" pitchFamily="34" charset="-122"/>
                <a:cs typeface="Calibri" pitchFamily="34" charset="-120"/>
              </a:rPr>
              <a:t>One quick question before we leave Section 2 — A Field Guide to the Local Species</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txBody>
          <a:bodyPr/>
          <a:lstStyle/>
          <a:p>
            <a:endParaRPr lang="en-US"/>
          </a:p>
        </p:txBody>
      </p:sp>
      <p:sp>
        <p:nvSpPr>
          <p:cNvPr id="3" name="Text 1"/>
          <p:cNvSpPr txBox="1"/>
          <p:nvPr/>
        </p:nvSpPr>
        <p:spPr>
          <a:xfrm>
            <a:off x="548640" y="365760"/>
            <a:ext cx="9144000" cy="502920"/>
          </a:xfrm>
          <a:prstGeom prst="rect">
            <a:avLst/>
          </a:prstGeom>
          <a:noFill/>
          <a:ln/>
        </p:spPr>
        <p:txBody>
          <a:bodyPr wrap="square" lIns="0" tIns="0" rIns="0" bIns="0" rtlCol="0" anchor="ctr"/>
          <a:lstStyle/>
          <a:p>
            <a:pPr marL="0" indent="0">
              <a:buNone/>
            </a:pPr>
            <a:r>
              <a:rPr lang="en-US" sz="1700" b="1" kern="0" spc="300" dirty="0">
                <a:solidFill>
                  <a:srgbClr val="8C6A3F"/>
                </a:solidFill>
                <a:latin typeface="Calibri" pitchFamily="34" charset="0"/>
                <a:ea typeface="Calibri" pitchFamily="34" charset="-122"/>
                <a:cs typeface="Calibri" pitchFamily="34" charset="-120"/>
              </a:rPr>
              <a:t>SECTION 3</a:t>
            </a:r>
            <a:endParaRPr lang="en-US" sz="1700" dirty="0"/>
          </a:p>
        </p:txBody>
      </p:sp>
      <p:pic>
        <p:nvPicPr>
          <p:cNvPr id="4" name="Image 0" descr="/home/claude/pptx-build/assets/icons/FaShip-8C6A3F-300.png"/>
          <p:cNvPicPr>
            <a:picLocks noChangeAspect="1"/>
          </p:cNvPicPr>
          <p:nvPr/>
        </p:nvPicPr>
        <p:blipFill>
          <a:blip r:embed="rId3">
            <a:alphaModFix amt="85000"/>
          </a:blip>
          <a:stretch>
            <a:fillRect/>
          </a:stretch>
        </p:blipFill>
        <p:spPr>
          <a:xfrm>
            <a:off x="9692640" y="2194560"/>
            <a:ext cx="1463040" cy="1463040"/>
          </a:xfrm>
          <a:prstGeom prst="rect">
            <a:avLst/>
          </a:prstGeom>
        </p:spPr>
      </p:pic>
      <p:sp>
        <p:nvSpPr>
          <p:cNvPr id="5" name="Text 2"/>
          <p:cNvSpPr txBox="1"/>
          <p:nvPr/>
        </p:nvSpPr>
        <p:spPr>
          <a:xfrm>
            <a:off x="548640" y="2331720"/>
            <a:ext cx="8778240" cy="1737360"/>
          </a:xfrm>
          <a:prstGeom prst="rect">
            <a:avLst/>
          </a:prstGeom>
          <a:noFill/>
          <a:ln/>
        </p:spPr>
        <p:txBody>
          <a:bodyPr wrap="square" lIns="0" tIns="0" rIns="0" bIns="0" rtlCol="0" anchor="t"/>
          <a:lstStyle/>
          <a:p>
            <a:pPr marL="0" indent="0">
              <a:buNone/>
            </a:pPr>
            <a:r>
              <a:rPr lang="en-US" sz="4400" b="1" dirty="0">
                <a:solidFill>
                  <a:srgbClr val="F5F5F0"/>
                </a:solidFill>
                <a:latin typeface="Cambria" pitchFamily="34" charset="0"/>
                <a:ea typeface="Cambria" pitchFamily="34" charset="-122"/>
                <a:cs typeface="Cambria" pitchFamily="34" charset="-120"/>
              </a:rPr>
              <a:t>Crossing the River </a:t>
            </a:r>
            <a:endParaRPr lang="en-US" sz="4400" dirty="0"/>
          </a:p>
        </p:txBody>
      </p:sp>
      <p:sp>
        <p:nvSpPr>
          <p:cNvPr id="6" name="Text 3"/>
          <p:cNvSpPr txBox="1"/>
          <p:nvPr/>
        </p:nvSpPr>
        <p:spPr>
          <a:xfrm>
            <a:off x="548640" y="4160520"/>
            <a:ext cx="8778240" cy="1234440"/>
          </a:xfrm>
          <a:prstGeom prst="rect">
            <a:avLst/>
          </a:prstGeom>
          <a:noFill/>
          <a:ln/>
        </p:spPr>
        <p:txBody>
          <a:bodyPr wrap="square" lIns="0" tIns="0" rIns="0" bIns="0" rtlCol="0" anchor="t"/>
          <a:lstStyle/>
          <a:p>
            <a:pPr marL="0" indent="0">
              <a:buNone/>
            </a:pPr>
            <a:r>
              <a:rPr lang="en-US" sz="2000" i="1" dirty="0">
                <a:solidFill>
                  <a:srgbClr val="8C6A3F"/>
                </a:solidFill>
                <a:latin typeface="Calibri" pitchFamily="34" charset="0"/>
                <a:ea typeface="Calibri" pitchFamily="34" charset="-122"/>
                <a:cs typeface="Calibri" pitchFamily="34" charset="-120"/>
              </a:rPr>
              <a:t>The river has three known crossings. Some travelers wade in by hand, some bring a boat, and a few, lately, have started asking the water itself for assistance.</a:t>
            </a:r>
            <a:endParaRPr lang="en-US" sz="2000" dirty="0"/>
          </a:p>
        </p:txBody>
      </p:sp>
      <p:sp>
        <p:nvSpPr>
          <p:cNvPr id="7" name="Shape 4"/>
          <p:cNvSpPr/>
          <p:nvPr/>
        </p:nvSpPr>
        <p:spPr>
          <a:xfrm>
            <a:off x="548640" y="6217920"/>
            <a:ext cx="11064240" cy="0"/>
          </a:xfrm>
          <a:prstGeom prst="line">
            <a:avLst/>
          </a:prstGeom>
          <a:noFill/>
          <a:ln w="9525">
            <a:solidFill>
              <a:srgbClr val="8C6A3F"/>
            </a:solidFill>
            <a:prstDash val="dash"/>
          </a:ln>
        </p:spPr>
        <p:txBody>
          <a:bodyPr/>
          <a:lstStyle/>
          <a:p>
            <a:endParaRPr lang="en-US"/>
          </a:p>
        </p:txBody>
      </p:sp>
      <p:sp>
        <p:nvSpPr>
          <p:cNvPr id="8" name="Text 5"/>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1200" dirty="0">
                <a:solidFill>
                  <a:srgbClr val="6B6B63"/>
                </a:solidFill>
                <a:latin typeface="Calibri" pitchFamily="34" charset="0"/>
                <a:ea typeface="Calibri" pitchFamily="34" charset="-122"/>
                <a:cs typeface="Calibri" pitchFamily="34" charset="-120"/>
              </a:rPr>
              <a:t>DOCUMENTARY VOICE — SPOKEN LIVE, NOT READ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ExclamationTriangle-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Pipelines: Needs a Rewrite — The Core Problem</a:t>
            </a:r>
            <a:endParaRPr lang="en-US" sz="3200" dirty="0"/>
          </a:p>
        </p:txBody>
      </p:sp>
      <p:sp>
        <p:nvSpPr>
          <p:cNvPr id="6" name="Shape 3"/>
          <p:cNvSpPr/>
          <p:nvPr/>
        </p:nvSpPr>
        <p:spPr>
          <a:xfrm>
            <a:off x="548640" y="1645920"/>
            <a:ext cx="11064240" cy="2103120"/>
          </a:xfrm>
          <a:prstGeom prst="roundRect">
            <a:avLst>
              <a:gd name="adj" fmla="val 5217"/>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914400" y="1828800"/>
            <a:ext cx="10332720" cy="1737360"/>
          </a:xfrm>
          <a:prstGeom prst="rect">
            <a:avLst/>
          </a:prstGeom>
          <a:noFill/>
          <a:ln/>
        </p:spPr>
        <p:txBody>
          <a:bodyPr wrap="square" lIns="0" tIns="0" rIns="0" bIns="0" rtlCol="0" anchor="ctr"/>
          <a:lstStyle/>
          <a:p>
            <a:pPr marL="0" indent="0">
              <a:lnSpc>
                <a:spcPct val="125000"/>
              </a:lnSpc>
              <a:buNone/>
            </a:pPr>
            <a:r>
              <a:rPr lang="en-US" sz="2000" b="1" dirty="0">
                <a:solidFill>
                  <a:srgbClr val="2B2B2B"/>
                </a:solidFill>
                <a:latin typeface="Calibri" pitchFamily="34" charset="0"/>
                <a:ea typeface="Calibri" pitchFamily="34" charset="-122"/>
                <a:cs typeface="Calibri" pitchFamily="34" charset="-120"/>
              </a:rPr>
              <a:t>Both sides use YAML. </a:t>
            </a:r>
            <a:r>
              <a:rPr lang="en-US" sz="2000" dirty="0">
                <a:solidFill>
                  <a:srgbClr val="2B2B2B"/>
                </a:solidFill>
                <a:latin typeface="Calibri" pitchFamily="34" charset="0"/>
                <a:ea typeface="Calibri" pitchFamily="34" charset="-122"/>
                <a:cs typeface="Calibri" pitchFamily="34" charset="-120"/>
              </a:rPr>
              <a:t>That’s where the resemblance ends — many of the concepts underneath are genuinely different, not just renamed.</a:t>
            </a:r>
            <a:endParaRPr lang="en-US" sz="2000" dirty="0"/>
          </a:p>
        </p:txBody>
      </p:sp>
      <p:sp>
        <p:nvSpPr>
          <p:cNvPr id="8" name="Shape 5"/>
          <p:cNvSpPr/>
          <p:nvPr/>
        </p:nvSpPr>
        <p:spPr>
          <a:xfrm>
            <a:off x="548640" y="3977640"/>
            <a:ext cx="5349240" cy="1371600"/>
          </a:xfrm>
          <a:prstGeom prst="roundRect">
            <a:avLst>
              <a:gd name="adj" fmla="val 80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4114800"/>
            <a:ext cx="4800600" cy="457200"/>
          </a:xfrm>
          <a:prstGeom prst="rect">
            <a:avLst/>
          </a:prstGeom>
          <a:noFill/>
          <a:ln/>
        </p:spPr>
        <p:txBody>
          <a:bodyPr wrap="square" lIns="0" tIns="0" rIns="0" bIns="0" rtlCol="0" anchor="ctr"/>
          <a:lstStyle/>
          <a:p>
            <a:pPr marL="0" indent="0">
              <a:buNone/>
            </a:pPr>
            <a:r>
              <a:rPr lang="en-US" sz="1900" b="1" dirty="0">
                <a:solidFill>
                  <a:srgbClr val="1F3D2C"/>
                </a:solidFill>
                <a:latin typeface="Cambria" pitchFamily="34" charset="0"/>
                <a:ea typeface="Cambria" pitchFamily="34" charset="-122"/>
                <a:cs typeface="Cambria" pitchFamily="34" charset="-120"/>
              </a:rPr>
              <a:t>Azure Pipelines</a:t>
            </a:r>
            <a:endParaRPr lang="en-US" sz="1900" dirty="0"/>
          </a:p>
        </p:txBody>
      </p:sp>
      <p:sp>
        <p:nvSpPr>
          <p:cNvPr id="10" name="Text 7"/>
          <p:cNvSpPr txBox="1"/>
          <p:nvPr/>
        </p:nvSpPr>
        <p:spPr>
          <a:xfrm>
            <a:off x="822960" y="4590288"/>
            <a:ext cx="4800600" cy="640080"/>
          </a:xfrm>
          <a:prstGeom prst="rect">
            <a:avLst/>
          </a:prstGeom>
          <a:noFill/>
          <a:ln/>
        </p:spPr>
        <p:txBody>
          <a:bodyPr wrap="square" lIns="0" tIns="0" rIns="0" bIns="0" rtlCol="0" anchor="ctr"/>
          <a:lstStyle/>
          <a:p>
            <a:pPr marL="0" indent="0">
              <a:buNone/>
            </a:pPr>
            <a:r>
              <a:rPr lang="en-US" sz="1700" dirty="0">
                <a:solidFill>
                  <a:srgbClr val="2B2B2B"/>
                </a:solidFill>
                <a:latin typeface="Calibri" pitchFamily="34" charset="0"/>
                <a:ea typeface="Calibri" pitchFamily="34" charset="-122"/>
                <a:cs typeface="Calibri" pitchFamily="34" charset="-120"/>
              </a:rPr>
              <a:t>Stages → Jobs → Tasks</a:t>
            </a:r>
            <a:endParaRPr lang="en-US" sz="1700" dirty="0"/>
          </a:p>
        </p:txBody>
      </p:sp>
      <p:sp>
        <p:nvSpPr>
          <p:cNvPr id="11" name="Shape 8"/>
          <p:cNvSpPr/>
          <p:nvPr/>
        </p:nvSpPr>
        <p:spPr>
          <a:xfrm>
            <a:off x="6172200" y="3977640"/>
            <a:ext cx="5349240" cy="1371600"/>
          </a:xfrm>
          <a:prstGeom prst="roundRect">
            <a:avLst>
              <a:gd name="adj" fmla="val 8000"/>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9"/>
          <p:cNvSpPr txBox="1"/>
          <p:nvPr/>
        </p:nvSpPr>
        <p:spPr>
          <a:xfrm>
            <a:off x="6446520" y="4114800"/>
            <a:ext cx="4800600" cy="457200"/>
          </a:xfrm>
          <a:prstGeom prst="rect">
            <a:avLst/>
          </a:prstGeom>
          <a:noFill/>
          <a:ln/>
        </p:spPr>
        <p:txBody>
          <a:bodyPr wrap="square" lIns="0" tIns="0" rIns="0" bIns="0" rtlCol="0" anchor="ctr"/>
          <a:lstStyle/>
          <a:p>
            <a:pPr marL="0" indent="0">
              <a:buNone/>
            </a:pPr>
            <a:r>
              <a:rPr lang="en-US" sz="1900" b="1" dirty="0">
                <a:solidFill>
                  <a:srgbClr val="F5F5F0"/>
                </a:solidFill>
                <a:latin typeface="Cambria" pitchFamily="34" charset="0"/>
                <a:ea typeface="Cambria" pitchFamily="34" charset="-122"/>
                <a:cs typeface="Cambria" pitchFamily="34" charset="-120"/>
              </a:rPr>
              <a:t>GitHub Actions</a:t>
            </a:r>
            <a:endParaRPr lang="en-US" sz="1900" dirty="0"/>
          </a:p>
        </p:txBody>
      </p:sp>
      <p:sp>
        <p:nvSpPr>
          <p:cNvPr id="13" name="Text 10"/>
          <p:cNvSpPr txBox="1"/>
          <p:nvPr/>
        </p:nvSpPr>
        <p:spPr>
          <a:xfrm>
            <a:off x="6446520" y="4590288"/>
            <a:ext cx="4800600" cy="640080"/>
          </a:xfrm>
          <a:prstGeom prst="rect">
            <a:avLst/>
          </a:prstGeom>
          <a:noFill/>
          <a:ln/>
        </p:spPr>
        <p:txBody>
          <a:bodyPr wrap="square" lIns="0" tIns="0" rIns="0" bIns="0" rtlCol="0" anchor="ctr"/>
          <a:lstStyle/>
          <a:p>
            <a:pPr marL="0" indent="0">
              <a:buNone/>
            </a:pPr>
            <a:r>
              <a:rPr lang="en-US" sz="1700" dirty="0">
                <a:solidFill>
                  <a:srgbClr val="F5F5F0"/>
                </a:solidFill>
                <a:latin typeface="Calibri" pitchFamily="34" charset="0"/>
                <a:ea typeface="Calibri" pitchFamily="34" charset="-122"/>
                <a:cs typeface="Calibri" pitchFamily="34" charset="-120"/>
              </a:rPr>
              <a:t>Workflows → Jobs → Steps</a:t>
            </a:r>
            <a:endParaRPr lang="en-US" sz="1700" dirty="0"/>
          </a:p>
        </p:txBody>
      </p:sp>
      <p:sp>
        <p:nvSpPr>
          <p:cNvPr id="14" name="Text 11"/>
          <p:cNvSpPr txBox="1"/>
          <p:nvPr/>
        </p:nvSpPr>
        <p:spPr>
          <a:xfrm>
            <a:off x="548640" y="5623560"/>
            <a:ext cx="11064240" cy="502920"/>
          </a:xfrm>
          <a:prstGeom prst="rect">
            <a:avLst/>
          </a:prstGeom>
          <a:noFill/>
          <a:ln/>
        </p:spPr>
        <p:txBody>
          <a:bodyPr wrap="square" lIns="0" tIns="0" rIns="0" bIns="0" rtlCol="0" anchor="ctr"/>
          <a:lstStyle/>
          <a:p>
            <a:pPr marL="0" indent="0" algn="ctr">
              <a:buNone/>
            </a:pPr>
            <a:endParaRPr lang="en-US" sz="1900" dirty="0"/>
          </a:p>
        </p:txBody>
      </p:sp>
      <p:sp>
        <p:nvSpPr>
          <p:cNvPr id="16" name="Rounded Rectangle 30">
            <a:extLst>
              <a:ext uri="{FF2B5EF4-FFF2-40B4-BE49-F238E27FC236}">
                <a16:creationId xmlns:a16="http://schemas.microsoft.com/office/drawing/2014/main" id="{646C2163-27B1-A972-C67B-959F37B16E06}"/>
              </a:ext>
            </a:extLst>
          </p:cNvPr>
          <p:cNvSpPr/>
          <p:nvPr/>
        </p:nvSpPr>
        <p:spPr>
          <a:xfrm>
            <a:off x="548640" y="5701846"/>
            <a:ext cx="11064240" cy="713232"/>
          </a:xfrm>
          <a:prstGeom prst="roundRect">
            <a:avLst/>
          </a:prstGeom>
          <a:solidFill>
            <a:srgbClr val="1F3D2C"/>
          </a:solidFill>
          <a:ln>
            <a:solidFill>
              <a:srgbClr val="1F3D2C"/>
            </a:solidFill>
          </a:ln>
        </p:spPr>
        <p:style>
          <a:lnRef idx="1">
            <a:schemeClr val="accent1"/>
          </a:lnRef>
          <a:fillRef idx="3">
            <a:schemeClr val="accent1"/>
          </a:fillRef>
          <a:effectRef idx="2">
            <a:schemeClr val="accent1"/>
          </a:effectRef>
          <a:fontRef idx="minor">
            <a:schemeClr val="lt1"/>
          </a:fontRef>
        </p:style>
        <p:txBody>
          <a:bodyPr wrap="square" lIns="256032" tIns="73152" rIns="256032" rtlCol="0" anchor="ctr"/>
          <a:lstStyle/>
          <a:p>
            <a:pPr algn="ctr">
              <a:spcBef>
                <a:spcPts val="0"/>
              </a:spcBef>
              <a:spcAft>
                <a:spcPts val="0"/>
              </a:spcAft>
            </a:pPr>
            <a:r>
              <a:rPr lang="en-US" sz="1600" b="1" dirty="0">
                <a:solidFill>
                  <a:srgbClr val="F5F5F0"/>
                </a:solidFill>
                <a:latin typeface="Calibri"/>
              </a:rPr>
              <a:t>Initial planning baseline: </a:t>
            </a:r>
            <a:r>
              <a:rPr lang="en-US" sz="1600" dirty="0">
                <a:solidFill>
                  <a:srgbClr val="F5F5F0"/>
                </a:solidFill>
                <a:latin typeface="Calibri"/>
              </a:rPr>
              <a:t>reserve at least one engineering day for a nontrivial pipeline, then adjust using the Actions Importer audit and one representative migration.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Route-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Three Ways to Cross the River</a:t>
            </a:r>
            <a:endParaRPr lang="en-US" sz="3200" dirty="0"/>
          </a:p>
        </p:txBody>
      </p:sp>
      <p:sp>
        <p:nvSpPr>
          <p:cNvPr id="6" name="Shape 3"/>
          <p:cNvSpPr/>
          <p:nvPr/>
        </p:nvSpPr>
        <p:spPr>
          <a:xfrm>
            <a:off x="548640" y="1828800"/>
            <a:ext cx="3429000" cy="3657600"/>
          </a:xfrm>
          <a:prstGeom prst="roundRect">
            <a:avLst>
              <a:gd name="adj" fmla="val 32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822960" y="2057400"/>
            <a:ext cx="603504" cy="603504"/>
          </a:xfrm>
          <a:prstGeom prst="ellipse">
            <a:avLst/>
          </a:prstGeom>
          <a:solidFill>
            <a:srgbClr val="C1440E"/>
          </a:solidFill>
          <a:ln/>
        </p:spPr>
        <p:txBody>
          <a:bodyPr/>
          <a:lstStyle/>
          <a:p>
            <a:endParaRPr lang="en-US"/>
          </a:p>
        </p:txBody>
      </p:sp>
      <p:pic>
        <p:nvPicPr>
          <p:cNvPr id="8" name="Image 1" descr="/home/claude/pptx-build/assets/icons/FaHandPaper-FFFFFF-200.png"/>
          <p:cNvPicPr>
            <a:picLocks noChangeAspect="1"/>
          </p:cNvPicPr>
          <p:nvPr/>
        </p:nvPicPr>
        <p:blipFill>
          <a:blip r:embed="rId4"/>
          <a:stretch>
            <a:fillRect/>
          </a:stretch>
        </p:blipFill>
        <p:spPr>
          <a:xfrm>
            <a:off x="969264" y="2203704"/>
            <a:ext cx="310896" cy="310896"/>
          </a:xfrm>
          <a:prstGeom prst="rect">
            <a:avLst/>
          </a:prstGeom>
        </p:spPr>
      </p:pic>
      <p:sp>
        <p:nvSpPr>
          <p:cNvPr id="9" name="Text 5"/>
          <p:cNvSpPr txBox="1"/>
          <p:nvPr/>
        </p:nvSpPr>
        <p:spPr>
          <a:xfrm>
            <a:off x="822960" y="2807208"/>
            <a:ext cx="2880360" cy="457200"/>
          </a:xfrm>
          <a:prstGeom prst="rect">
            <a:avLst/>
          </a:prstGeom>
          <a:noFill/>
          <a:ln/>
        </p:spPr>
        <p:txBody>
          <a:bodyPr wrap="square" lIns="0" tIns="0" rIns="0" bIns="0" rtlCol="0" anchor="ctr"/>
          <a:lstStyle/>
          <a:p>
            <a:pPr marL="0" indent="0">
              <a:buNone/>
            </a:pPr>
            <a:r>
              <a:rPr lang="en-US" sz="2000" b="1" dirty="0">
                <a:solidFill>
                  <a:srgbClr val="1F3D2C"/>
                </a:solidFill>
                <a:latin typeface="Cambria" pitchFamily="34" charset="0"/>
                <a:ea typeface="Cambria" pitchFamily="34" charset="-122"/>
                <a:cs typeface="Cambria" pitchFamily="34" charset="-120"/>
              </a:rPr>
              <a:t>Manual</a:t>
            </a:r>
            <a:endParaRPr lang="en-US" sz="2000" dirty="0"/>
          </a:p>
        </p:txBody>
      </p:sp>
      <p:sp>
        <p:nvSpPr>
          <p:cNvPr id="10" name="Text 6"/>
          <p:cNvSpPr txBox="1"/>
          <p:nvPr/>
        </p:nvSpPr>
        <p:spPr>
          <a:xfrm>
            <a:off x="822960" y="3310128"/>
            <a:ext cx="2880360" cy="2011680"/>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Read the docs, map the concepts, rewrite by hand. Slowest, most control.</a:t>
            </a:r>
            <a:endParaRPr lang="en-US" sz="1500" dirty="0"/>
          </a:p>
        </p:txBody>
      </p:sp>
      <p:sp>
        <p:nvSpPr>
          <p:cNvPr id="11" name="Shape 7"/>
          <p:cNvSpPr/>
          <p:nvPr/>
        </p:nvSpPr>
        <p:spPr>
          <a:xfrm>
            <a:off x="4251960" y="1828800"/>
            <a:ext cx="3429000" cy="3657600"/>
          </a:xfrm>
          <a:prstGeom prst="roundRect">
            <a:avLst>
              <a:gd name="adj" fmla="val 32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8"/>
          <p:cNvSpPr/>
          <p:nvPr/>
        </p:nvSpPr>
        <p:spPr>
          <a:xfrm>
            <a:off x="4526280" y="2057400"/>
            <a:ext cx="603504" cy="603504"/>
          </a:xfrm>
          <a:prstGeom prst="ellipse">
            <a:avLst/>
          </a:prstGeom>
          <a:solidFill>
            <a:srgbClr val="C1440E"/>
          </a:solidFill>
          <a:ln/>
        </p:spPr>
        <p:txBody>
          <a:bodyPr/>
          <a:lstStyle/>
          <a:p>
            <a:endParaRPr lang="en-US"/>
          </a:p>
        </p:txBody>
      </p:sp>
      <p:pic>
        <p:nvPicPr>
          <p:cNvPr id="13" name="Image 2" descr="/home/claude/pptx-build/assets/icons/FaTools-FFFFFF-200.png"/>
          <p:cNvPicPr>
            <a:picLocks noChangeAspect="1"/>
          </p:cNvPicPr>
          <p:nvPr/>
        </p:nvPicPr>
        <p:blipFill>
          <a:blip r:embed="rId5"/>
          <a:stretch>
            <a:fillRect/>
          </a:stretch>
        </p:blipFill>
        <p:spPr>
          <a:xfrm>
            <a:off x="4672584" y="2203704"/>
            <a:ext cx="310896" cy="310896"/>
          </a:xfrm>
          <a:prstGeom prst="rect">
            <a:avLst/>
          </a:prstGeom>
        </p:spPr>
      </p:pic>
      <p:sp>
        <p:nvSpPr>
          <p:cNvPr id="14" name="Text 9"/>
          <p:cNvSpPr txBox="1"/>
          <p:nvPr/>
        </p:nvSpPr>
        <p:spPr>
          <a:xfrm>
            <a:off x="4526280" y="2807208"/>
            <a:ext cx="2880360" cy="457200"/>
          </a:xfrm>
          <a:prstGeom prst="rect">
            <a:avLst/>
          </a:prstGeom>
          <a:noFill/>
          <a:ln/>
        </p:spPr>
        <p:txBody>
          <a:bodyPr wrap="square" lIns="0" tIns="0" rIns="0" bIns="0" rtlCol="0" anchor="ctr"/>
          <a:lstStyle/>
          <a:p>
            <a:pPr marL="0" indent="0">
              <a:buNone/>
            </a:pPr>
            <a:r>
              <a:rPr lang="en-US" sz="2000" b="1" dirty="0">
                <a:solidFill>
                  <a:srgbClr val="1F3D2C"/>
                </a:solidFill>
                <a:latin typeface="Cambria" pitchFamily="34" charset="0"/>
                <a:ea typeface="Cambria" pitchFamily="34" charset="-122"/>
                <a:cs typeface="Cambria" pitchFamily="34" charset="-120"/>
              </a:rPr>
              <a:t>Tooling</a:t>
            </a:r>
            <a:endParaRPr lang="en-US" sz="2000" dirty="0"/>
          </a:p>
        </p:txBody>
      </p:sp>
      <p:sp>
        <p:nvSpPr>
          <p:cNvPr id="15" name="Text 10"/>
          <p:cNvSpPr txBox="1"/>
          <p:nvPr/>
        </p:nvSpPr>
        <p:spPr>
          <a:xfrm>
            <a:off x="4526280" y="3310128"/>
            <a:ext cx="2880360" cy="2011680"/>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Purpose-built CLIs handle the repetitive parts and tell you what they can’t.</a:t>
            </a:r>
            <a:endParaRPr lang="en-US" sz="1500" dirty="0"/>
          </a:p>
        </p:txBody>
      </p:sp>
      <p:sp>
        <p:nvSpPr>
          <p:cNvPr id="16" name="Shape 11"/>
          <p:cNvSpPr/>
          <p:nvPr/>
        </p:nvSpPr>
        <p:spPr>
          <a:xfrm>
            <a:off x="7955280" y="1828800"/>
            <a:ext cx="3429000" cy="3657600"/>
          </a:xfrm>
          <a:prstGeom prst="roundRect">
            <a:avLst>
              <a:gd name="adj" fmla="val 32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2"/>
          <p:cNvSpPr/>
          <p:nvPr/>
        </p:nvSpPr>
        <p:spPr>
          <a:xfrm>
            <a:off x="8229600" y="2057400"/>
            <a:ext cx="603504" cy="603504"/>
          </a:xfrm>
          <a:prstGeom prst="ellipse">
            <a:avLst/>
          </a:prstGeom>
          <a:solidFill>
            <a:srgbClr val="C1440E"/>
          </a:solidFill>
          <a:ln/>
        </p:spPr>
        <p:txBody>
          <a:bodyPr/>
          <a:lstStyle/>
          <a:p>
            <a:endParaRPr lang="en-US"/>
          </a:p>
        </p:txBody>
      </p:sp>
      <p:pic>
        <p:nvPicPr>
          <p:cNvPr id="18" name="Image 3" descr="/home/claude/pptx-build/assets/icons/FaBrain-FFFFFF-200.png"/>
          <p:cNvPicPr>
            <a:picLocks noChangeAspect="1"/>
          </p:cNvPicPr>
          <p:nvPr/>
        </p:nvPicPr>
        <p:blipFill>
          <a:blip r:embed="rId6"/>
          <a:stretch>
            <a:fillRect/>
          </a:stretch>
        </p:blipFill>
        <p:spPr>
          <a:xfrm>
            <a:off x="8375904" y="2203704"/>
            <a:ext cx="310896" cy="310896"/>
          </a:xfrm>
          <a:prstGeom prst="rect">
            <a:avLst/>
          </a:prstGeom>
        </p:spPr>
      </p:pic>
      <p:sp>
        <p:nvSpPr>
          <p:cNvPr id="19" name="Text 13"/>
          <p:cNvSpPr txBox="1"/>
          <p:nvPr/>
        </p:nvSpPr>
        <p:spPr>
          <a:xfrm>
            <a:off x="8229600" y="2807208"/>
            <a:ext cx="2880360" cy="457200"/>
          </a:xfrm>
          <a:prstGeom prst="rect">
            <a:avLst/>
          </a:prstGeom>
          <a:noFill/>
          <a:ln/>
        </p:spPr>
        <p:txBody>
          <a:bodyPr wrap="square" lIns="0" tIns="0" rIns="0" bIns="0" rtlCol="0" anchor="ctr"/>
          <a:lstStyle/>
          <a:p>
            <a:pPr marL="0" indent="0">
              <a:buNone/>
            </a:pPr>
            <a:r>
              <a:rPr lang="en-US" sz="2000" b="1" dirty="0">
                <a:solidFill>
                  <a:srgbClr val="1F3D2C"/>
                </a:solidFill>
                <a:latin typeface="Cambria" pitchFamily="34" charset="0"/>
                <a:ea typeface="Cambria" pitchFamily="34" charset="-122"/>
                <a:cs typeface="Cambria" pitchFamily="34" charset="-120"/>
              </a:rPr>
              <a:t>AI</a:t>
            </a:r>
            <a:endParaRPr lang="en-US" sz="2000" dirty="0"/>
          </a:p>
        </p:txBody>
      </p:sp>
      <p:sp>
        <p:nvSpPr>
          <p:cNvPr id="20" name="Text 14"/>
          <p:cNvSpPr txBox="1"/>
          <p:nvPr/>
        </p:nvSpPr>
        <p:spPr>
          <a:xfrm>
            <a:off x="8229600" y="3310128"/>
            <a:ext cx="2880360" cy="2011680"/>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Prompt-driven mapping — analyze, convert, validate as three separate steps.</a:t>
            </a:r>
            <a:endParaRPr lang="en-US" sz="1500" dirty="0"/>
          </a:p>
        </p:txBody>
      </p:sp>
      <p:sp>
        <p:nvSpPr>
          <p:cNvPr id="21" name="Text 15"/>
          <p:cNvSpPr txBox="1"/>
          <p:nvPr/>
        </p:nvSpPr>
        <p:spPr>
          <a:xfrm>
            <a:off x="548640" y="5669280"/>
            <a:ext cx="11064240" cy="502920"/>
          </a:xfrm>
          <a:prstGeom prst="rect">
            <a:avLst/>
          </a:prstGeom>
          <a:noFill/>
          <a:ln/>
        </p:spPr>
        <p:txBody>
          <a:bodyPr wrap="square" lIns="0" tIns="0" rIns="0" bIns="0" rtlCol="0" anchor="ctr"/>
          <a:lstStyle/>
          <a:p>
            <a:pPr marL="0" indent="0" algn="ctr">
              <a:buNone/>
            </a:pPr>
            <a:r>
              <a:rPr lang="en-US" sz="1600" i="1" dirty="0">
                <a:solidFill>
                  <a:srgbClr val="6B6B63"/>
                </a:solidFill>
                <a:latin typeface="Calibri" pitchFamily="34" charset="0"/>
                <a:ea typeface="Calibri" pitchFamily="34" charset="-122"/>
                <a:cs typeface="Calibri" pitchFamily="34" charset="-120"/>
              </a:rPr>
              <a:t>A mental model for the next six slides, not a ranking — most teams end up using all three.</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HandPaper-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Approach 1 — Manual</a:t>
            </a:r>
            <a:endParaRPr 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2748089721"/>
              </p:ext>
            </p:extLst>
          </p:nvPr>
        </p:nvGraphicFramePr>
        <p:xfrm>
          <a:off x="548640" y="1508760"/>
          <a:ext cx="11064240" cy="3931920"/>
        </p:xfrm>
        <a:graphic>
          <a:graphicData uri="http://schemas.openxmlformats.org/drawingml/2006/table">
            <a:tbl>
              <a:tblPr/>
              <a:tblGrid>
                <a:gridCol w="5532120">
                  <a:extLst>
                    <a:ext uri="{9D8B030D-6E8A-4147-A177-3AD203B41FA5}">
                      <a16:colId xmlns:a16="http://schemas.microsoft.com/office/drawing/2014/main" val="20000"/>
                    </a:ext>
                  </a:extLst>
                </a:gridCol>
                <a:gridCol w="5532120">
                  <a:extLst>
                    <a:ext uri="{9D8B030D-6E8A-4147-A177-3AD203B41FA5}">
                      <a16:colId xmlns:a16="http://schemas.microsoft.com/office/drawing/2014/main" val="20001"/>
                    </a:ext>
                  </a:extLst>
                </a:gridCol>
              </a:tblGrid>
              <a:tr h="491490">
                <a:tc>
                  <a:txBody>
                    <a:bodyPr/>
                    <a:lstStyle/>
                    <a:p>
                      <a:pPr marL="0" indent="0">
                        <a:buNone/>
                      </a:pPr>
                      <a:r>
                        <a:rPr lang="en-US" sz="1500" b="1" dirty="0">
                          <a:solidFill>
                            <a:srgbClr val="F5F5F0"/>
                          </a:solidFill>
                          <a:latin typeface="Calibri" pitchFamily="34" charset="0"/>
                          <a:ea typeface="Calibri" pitchFamily="34" charset="-122"/>
                          <a:cs typeface="Calibri" pitchFamily="34" charset="-120"/>
                        </a:rPr>
                        <a:t>Azure Pipelines</a:t>
                      </a:r>
                      <a:endParaRPr lang="en-US" sz="150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tc>
                  <a:txBody>
                    <a:bodyPr/>
                    <a:lstStyle/>
                    <a:p>
                      <a:pPr marL="0" indent="0">
                        <a:buNone/>
                      </a:pPr>
                      <a:r>
                        <a:rPr lang="en-US" sz="1500" b="1" dirty="0">
                          <a:solidFill>
                            <a:srgbClr val="F5F5F0"/>
                          </a:solidFill>
                          <a:latin typeface="Calibri" pitchFamily="34" charset="0"/>
                          <a:ea typeface="Calibri" pitchFamily="34" charset="-122"/>
                          <a:cs typeface="Calibri" pitchFamily="34" charset="-120"/>
                        </a:rPr>
                        <a:t>GitHub Actions</a:t>
                      </a:r>
                      <a:endParaRPr lang="en-US" sz="1500" dirty="0">
                        <a:latin typeface="Calibri" charset="0"/>
                        <a:ea typeface="Calibri" charset="0"/>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1F3D2C"/>
                    </a:solidFill>
                  </a:tcPr>
                </a:tc>
                <a:extLst>
                  <a:ext uri="{0D108BD9-81ED-4DB2-BD59-A6C34878D82A}">
                    <a16:rowId xmlns:a16="http://schemas.microsoft.com/office/drawing/2014/main" val="10000"/>
                  </a:ext>
                </a:extLst>
              </a:tr>
              <a:tr h="491490">
                <a:tc>
                  <a:txBody>
                    <a:bodyPr/>
                    <a:lstStyle/>
                    <a:p>
                      <a:pPr marL="0" indent="0">
                        <a:buNone/>
                      </a:pPr>
                      <a:r>
                        <a:rPr lang="en-US" sz="1500" b="1" dirty="0">
                          <a:solidFill>
                            <a:srgbClr val="1F3D2C"/>
                          </a:solidFill>
                          <a:latin typeface="+mn-lt"/>
                          <a:ea typeface="Cambria" pitchFamily="34" charset="-122"/>
                          <a:cs typeface="Cambria" pitchFamily="34" charset="-120"/>
                        </a:rPr>
                        <a:t>Pipeline</a:t>
                      </a:r>
                      <a:endParaRPr lang="en-US" sz="1500" dirty="0">
                        <a:latin typeface="+mn-lt"/>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gn="l" defTabSz="914400" rtl="0" eaLnBrk="1" latinLnBrk="0" hangingPunct="1">
                        <a:buNone/>
                      </a:pPr>
                      <a:r>
                        <a:rPr lang="en-US" sz="1500" b="1" kern="1200" dirty="0">
                          <a:solidFill>
                            <a:srgbClr val="1F3D2C"/>
                          </a:solidFill>
                          <a:latin typeface="+mn-lt"/>
                          <a:ea typeface="Cambria" pitchFamily="34" charset="-122"/>
                          <a:cs typeface="Calibri" pitchFamily="34" charset="-120"/>
                        </a:rPr>
                        <a:t>Workflow</a:t>
                      </a:r>
                      <a:endParaRPr lang="en-US" sz="1500" b="1" kern="1200" dirty="0">
                        <a:solidFill>
                          <a:srgbClr val="1F3D2C"/>
                        </a:solidFill>
                        <a:latin typeface="+mn-lt"/>
                        <a:ea typeface="Cambria" pitchFamily="34" charset="-122"/>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1"/>
                  </a:ext>
                </a:extLst>
              </a:tr>
              <a:tr h="491490">
                <a:tc>
                  <a:txBody>
                    <a:bodyPr/>
                    <a:lstStyle/>
                    <a:p>
                      <a:pPr marL="0" indent="0">
                        <a:buNone/>
                      </a:pPr>
                      <a:r>
                        <a:rPr lang="en-US" sz="1500" b="1" dirty="0">
                          <a:solidFill>
                            <a:srgbClr val="1F3D2C"/>
                          </a:solidFill>
                          <a:latin typeface="+mn-lt"/>
                          <a:ea typeface="Cambria" pitchFamily="34" charset="-122"/>
                          <a:cs typeface="Cambria" pitchFamily="34" charset="-120"/>
                        </a:rPr>
                        <a:t>Agent Pool</a:t>
                      </a:r>
                      <a:endParaRPr lang="en-US" sz="1500" dirty="0">
                        <a:latin typeface="+mn-lt"/>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gn="l" defTabSz="914400" rtl="0" eaLnBrk="1" latinLnBrk="0" hangingPunct="1">
                        <a:buNone/>
                      </a:pPr>
                      <a:r>
                        <a:rPr lang="en-US" sz="1500" b="1" kern="1200" dirty="0">
                          <a:solidFill>
                            <a:srgbClr val="1F3D2C"/>
                          </a:solidFill>
                          <a:latin typeface="+mn-lt"/>
                          <a:ea typeface="Cambria" pitchFamily="34" charset="-122"/>
                          <a:cs typeface="Calibri" pitchFamily="34" charset="-120"/>
                        </a:rPr>
                        <a:t>Runner</a:t>
                      </a:r>
                      <a:endParaRPr lang="en-US" sz="1500" b="1" kern="1200" dirty="0">
                        <a:solidFill>
                          <a:srgbClr val="1F3D2C"/>
                        </a:solidFill>
                        <a:latin typeface="+mn-lt"/>
                        <a:ea typeface="Cambria" pitchFamily="34" charset="-122"/>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1490">
                <a:tc>
                  <a:txBody>
                    <a:bodyPr/>
                    <a:lstStyle/>
                    <a:p>
                      <a:pPr marL="0" indent="0">
                        <a:buNone/>
                      </a:pPr>
                      <a:r>
                        <a:rPr lang="en-US" sz="1500" b="1" dirty="0">
                          <a:solidFill>
                            <a:srgbClr val="1F3D2C"/>
                          </a:solidFill>
                          <a:latin typeface="+mn-lt"/>
                          <a:ea typeface="Cambria" pitchFamily="34" charset="-122"/>
                          <a:cs typeface="Cambria" pitchFamily="34" charset="-120"/>
                        </a:rPr>
                        <a:t>Service Connection</a:t>
                      </a:r>
                      <a:endParaRPr lang="en-US" sz="1500" dirty="0">
                        <a:latin typeface="+mn-lt"/>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gn="l" defTabSz="914400" rtl="0" eaLnBrk="1" latinLnBrk="0" hangingPunct="1">
                        <a:buNone/>
                      </a:pPr>
                      <a:r>
                        <a:rPr lang="en-US" sz="1500" b="1" kern="1200" dirty="0">
                          <a:solidFill>
                            <a:srgbClr val="1F3D2C"/>
                          </a:solidFill>
                          <a:latin typeface="+mn-lt"/>
                          <a:ea typeface="Cambria" pitchFamily="34" charset="-122"/>
                          <a:cs typeface="Calibri" pitchFamily="34" charset="-120"/>
                        </a:rPr>
                        <a:t>OIDC / secrets</a:t>
                      </a:r>
                      <a:endParaRPr lang="en-US" sz="1500" b="1" kern="1200" dirty="0">
                        <a:solidFill>
                          <a:srgbClr val="1F3D2C"/>
                        </a:solidFill>
                        <a:latin typeface="+mn-lt"/>
                        <a:ea typeface="Cambria" pitchFamily="34" charset="-122"/>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3"/>
                  </a:ext>
                </a:extLst>
              </a:tr>
              <a:tr h="491490">
                <a:tc>
                  <a:txBody>
                    <a:bodyPr/>
                    <a:lstStyle/>
                    <a:p>
                      <a:pPr marL="0" indent="0">
                        <a:buNone/>
                      </a:pPr>
                      <a:r>
                        <a:rPr lang="en-US" sz="1500" b="1" dirty="0">
                          <a:solidFill>
                            <a:srgbClr val="1F3D2C"/>
                          </a:solidFill>
                          <a:latin typeface="+mn-lt"/>
                          <a:ea typeface="Cambria" pitchFamily="34" charset="-122"/>
                          <a:cs typeface="Cambria" pitchFamily="34" charset="-120"/>
                        </a:rPr>
                        <a:t>Variable Group</a:t>
                      </a:r>
                      <a:endParaRPr lang="en-US" sz="1500" dirty="0">
                        <a:latin typeface="+mn-lt"/>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gn="l" defTabSz="914400" rtl="0" eaLnBrk="1" latinLnBrk="0" hangingPunct="1">
                        <a:buNone/>
                      </a:pPr>
                      <a:r>
                        <a:rPr lang="en-US" sz="1500" b="1" kern="1200" dirty="0">
                          <a:solidFill>
                            <a:srgbClr val="1F3D2C"/>
                          </a:solidFill>
                          <a:latin typeface="+mn-lt"/>
                          <a:ea typeface="Cambria" pitchFamily="34" charset="-122"/>
                          <a:cs typeface="Calibri" pitchFamily="34" charset="-120"/>
                        </a:rPr>
                        <a:t>Secrets &amp; variables</a:t>
                      </a:r>
                      <a:endParaRPr lang="en-US" sz="1500" b="1" kern="1200" dirty="0">
                        <a:solidFill>
                          <a:srgbClr val="1F3D2C"/>
                        </a:solidFill>
                        <a:latin typeface="+mn-lt"/>
                        <a:ea typeface="Cambria" pitchFamily="34" charset="-122"/>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1490">
                <a:tc>
                  <a:txBody>
                    <a:bodyPr/>
                    <a:lstStyle/>
                    <a:p>
                      <a:pPr marL="0" indent="0">
                        <a:buNone/>
                      </a:pPr>
                      <a:r>
                        <a:rPr lang="en-US" sz="1500" b="1" dirty="0">
                          <a:solidFill>
                            <a:srgbClr val="1F3D2C"/>
                          </a:solidFill>
                          <a:latin typeface="+mn-lt"/>
                          <a:ea typeface="Cambria" pitchFamily="34" charset="-122"/>
                          <a:cs typeface="Cambria" pitchFamily="34" charset="-120"/>
                        </a:rPr>
                        <a:t>Task</a:t>
                      </a:r>
                      <a:endParaRPr lang="en-US" sz="1500" dirty="0">
                        <a:latin typeface="+mn-lt"/>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gn="l" defTabSz="914400" rtl="0" eaLnBrk="1" latinLnBrk="0" hangingPunct="1">
                        <a:buNone/>
                      </a:pPr>
                      <a:r>
                        <a:rPr lang="en-US" sz="1500" b="1" kern="1200" dirty="0">
                          <a:solidFill>
                            <a:srgbClr val="1F3D2C"/>
                          </a:solidFill>
                          <a:latin typeface="+mn-lt"/>
                          <a:ea typeface="Cambria" pitchFamily="34" charset="-122"/>
                          <a:cs typeface="Calibri" pitchFamily="34" charset="-120"/>
                        </a:rPr>
                        <a:t>Action</a:t>
                      </a:r>
                      <a:endParaRPr lang="en-US" sz="1500" b="1" kern="1200" dirty="0">
                        <a:solidFill>
                          <a:srgbClr val="1F3D2C"/>
                        </a:solidFill>
                        <a:latin typeface="+mn-lt"/>
                        <a:ea typeface="Cambria" pitchFamily="34" charset="-122"/>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5"/>
                  </a:ext>
                </a:extLst>
              </a:tr>
              <a:tr h="491490">
                <a:tc>
                  <a:txBody>
                    <a:bodyPr/>
                    <a:lstStyle/>
                    <a:p>
                      <a:pPr marL="0" indent="0">
                        <a:buNone/>
                      </a:pPr>
                      <a:r>
                        <a:rPr lang="en-US" sz="1500" b="1" dirty="0">
                          <a:solidFill>
                            <a:srgbClr val="1F3D2C"/>
                          </a:solidFill>
                          <a:latin typeface="+mn-lt"/>
                          <a:ea typeface="Cambria" pitchFamily="34" charset="-122"/>
                          <a:cs typeface="Cambria" pitchFamily="34" charset="-120"/>
                        </a:rPr>
                        <a:t>condition</a:t>
                      </a:r>
                      <a:endParaRPr lang="en-US" sz="1500" dirty="0">
                        <a:latin typeface="+mn-lt"/>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tc>
                  <a:txBody>
                    <a:bodyPr/>
                    <a:lstStyle/>
                    <a:p>
                      <a:pPr marL="0" indent="0" algn="l" defTabSz="914400" rtl="0" eaLnBrk="1" latinLnBrk="0" hangingPunct="1">
                        <a:buNone/>
                      </a:pPr>
                      <a:r>
                        <a:rPr lang="en-US" sz="1500" b="1" kern="1200" dirty="0">
                          <a:solidFill>
                            <a:srgbClr val="1F3D2C"/>
                          </a:solidFill>
                          <a:latin typeface="+mn-lt"/>
                          <a:ea typeface="Cambria" pitchFamily="34" charset="-122"/>
                          <a:cs typeface="Calibri" pitchFamily="34" charset="-120"/>
                        </a:rPr>
                        <a:t>if</a:t>
                      </a:r>
                      <a:endParaRPr lang="en-US" sz="1500" b="1" kern="1200" dirty="0">
                        <a:solidFill>
                          <a:srgbClr val="1F3D2C"/>
                        </a:solidFill>
                        <a:latin typeface="+mn-lt"/>
                        <a:ea typeface="Cambria" pitchFamily="34" charset="-122"/>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1490">
                <a:tc>
                  <a:txBody>
                    <a:bodyPr/>
                    <a:lstStyle/>
                    <a:p>
                      <a:pPr marL="0" indent="0">
                        <a:buNone/>
                      </a:pPr>
                      <a:r>
                        <a:rPr lang="en-US" sz="1500" b="1" dirty="0">
                          <a:solidFill>
                            <a:srgbClr val="1F3D2C"/>
                          </a:solidFill>
                          <a:latin typeface="+mn-lt"/>
                          <a:ea typeface="Cambria" pitchFamily="34" charset="-122"/>
                          <a:cs typeface="Cambria" pitchFamily="34" charset="-120"/>
                        </a:rPr>
                        <a:t>dependsOn</a:t>
                      </a:r>
                      <a:endParaRPr lang="en-US" sz="1500" dirty="0">
                        <a:latin typeface="+mn-lt"/>
                        <a:ea typeface="Cambria" charset="0"/>
                        <a:cs typeface="Cambria"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tc>
                  <a:txBody>
                    <a:bodyPr/>
                    <a:lstStyle/>
                    <a:p>
                      <a:pPr marL="0" indent="0" algn="l" defTabSz="914400" rtl="0" eaLnBrk="1" latinLnBrk="0" hangingPunct="1">
                        <a:buNone/>
                      </a:pPr>
                      <a:r>
                        <a:rPr lang="en-US" sz="1500" b="1" kern="1200" dirty="0">
                          <a:solidFill>
                            <a:srgbClr val="1F3D2C"/>
                          </a:solidFill>
                          <a:latin typeface="+mn-lt"/>
                          <a:ea typeface="Cambria" pitchFamily="34" charset="-122"/>
                          <a:cs typeface="Calibri" pitchFamily="34" charset="-120"/>
                        </a:rPr>
                        <a:t>needs</a:t>
                      </a:r>
                      <a:endParaRPr lang="en-US" sz="1500" b="1" kern="1200" dirty="0">
                        <a:solidFill>
                          <a:srgbClr val="1F3D2C"/>
                        </a:solidFill>
                        <a:latin typeface="+mn-lt"/>
                        <a:ea typeface="Cambria" pitchFamily="34" charset="-122"/>
                        <a:cs typeface="Calibri" charset="0"/>
                      </a:endParaRPr>
                    </a:p>
                  </a:txBody>
                  <a:tcPr marL="127000" marR="127000" marT="76200" marB="762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7F6F2"/>
                    </a:solidFill>
                  </a:tcPr>
                </a:tc>
                <a:extLst>
                  <a:ext uri="{0D108BD9-81ED-4DB2-BD59-A6C34878D82A}">
                    <a16:rowId xmlns:a16="http://schemas.microsoft.com/office/drawing/2014/main" val="10007"/>
                  </a:ext>
                </a:extLst>
              </a:tr>
            </a:tbl>
          </a:graphicData>
        </a:graphic>
      </p:graphicFrame>
      <p:sp>
        <p:nvSpPr>
          <p:cNvPr id="7" name="Shape 3"/>
          <p:cNvSpPr/>
          <p:nvPr/>
        </p:nvSpPr>
        <p:spPr>
          <a:xfrm>
            <a:off x="548640" y="5577840"/>
            <a:ext cx="11064240" cy="960120"/>
          </a:xfrm>
          <a:prstGeom prst="roundRect">
            <a:avLst>
              <a:gd name="adj" fmla="val 11429"/>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4"/>
          <p:cNvSpPr txBox="1"/>
          <p:nvPr/>
        </p:nvSpPr>
        <p:spPr>
          <a:xfrm>
            <a:off x="822959" y="5715000"/>
            <a:ext cx="10442917" cy="685800"/>
          </a:xfrm>
          <a:prstGeom prst="rect">
            <a:avLst/>
          </a:prstGeom>
          <a:noFill/>
          <a:ln/>
        </p:spPr>
        <p:txBody>
          <a:bodyPr wrap="square" lIns="0" tIns="0" rIns="0" bIns="0" rtlCol="0" anchor="ctr"/>
          <a:lstStyle/>
          <a:p>
            <a:pPr marL="0" indent="0">
              <a:buNone/>
            </a:pPr>
            <a:r>
              <a:rPr lang="en-US" sz="1350" b="1" dirty="0">
                <a:solidFill>
                  <a:srgbClr val="F5F5F0"/>
                </a:solidFill>
                <a:latin typeface="Calibri" pitchFamily="34" charset="0"/>
                <a:ea typeface="Calibri" pitchFamily="34" charset="-122"/>
                <a:cs typeface="Calibri" pitchFamily="34" charset="-120"/>
              </a:rPr>
              <a:t>Also different: </a:t>
            </a:r>
            <a:r>
              <a:rPr lang="en-US" sz="1350" dirty="0">
                <a:solidFill>
                  <a:srgbClr val="F5F5F0"/>
                </a:solidFill>
                <a:latin typeface="Calibri" pitchFamily="34" charset="0"/>
                <a:ea typeface="Calibri" pitchFamily="34" charset="-122"/>
                <a:cs typeface="Calibri" pitchFamily="34" charset="-120"/>
              </a:rPr>
              <a:t>no classic-editor equivalent, job structure is always explicit, script steps consolidate to `run` + `shell`, and failure propagation and default execution conditions differ.</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Database-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Approach 2 — gh-ado2gh (For Repos)</a:t>
            </a:r>
            <a:endParaRPr lang="en-US" sz="3200" dirty="0"/>
          </a:p>
        </p:txBody>
      </p:sp>
      <p:sp>
        <p:nvSpPr>
          <p:cNvPr id="6" name="Shape 3"/>
          <p:cNvSpPr/>
          <p:nvPr/>
        </p:nvSpPr>
        <p:spPr>
          <a:xfrm>
            <a:off x="548640" y="1645920"/>
            <a:ext cx="5349240" cy="3429000"/>
          </a:xfrm>
          <a:prstGeom prst="roundRect">
            <a:avLst>
              <a:gd name="adj" fmla="val 32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828800"/>
            <a:ext cx="4800600" cy="457200"/>
          </a:xfrm>
          <a:prstGeom prst="rect">
            <a:avLst/>
          </a:prstGeom>
          <a:noFill/>
          <a:ln/>
        </p:spPr>
        <p:txBody>
          <a:bodyPr wrap="square" lIns="0" tIns="0" rIns="0" bIns="0" rtlCol="0" anchor="ctr"/>
          <a:lstStyle/>
          <a:p>
            <a:pPr marL="0" indent="0">
              <a:buNone/>
            </a:pPr>
            <a:r>
              <a:rPr lang="en-US" sz="1900" b="1" dirty="0">
                <a:solidFill>
                  <a:srgbClr val="1F3D2C"/>
                </a:solidFill>
                <a:latin typeface="Cambria" pitchFamily="34" charset="0"/>
                <a:ea typeface="Cambria" pitchFamily="34" charset="-122"/>
                <a:cs typeface="Cambria" pitchFamily="34" charset="-120"/>
              </a:rPr>
              <a:t>What It Does</a:t>
            </a:r>
            <a:endParaRPr lang="en-US" sz="1900" dirty="0"/>
          </a:p>
        </p:txBody>
      </p:sp>
      <p:sp>
        <p:nvSpPr>
          <p:cNvPr id="8" name="Text 5"/>
          <p:cNvSpPr txBox="1"/>
          <p:nvPr/>
        </p:nvSpPr>
        <p:spPr>
          <a:xfrm>
            <a:off x="822960" y="2331720"/>
            <a:ext cx="4800600" cy="265176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inventory-report — surveys everything before you touch it</a:t>
            </a:r>
            <a:endParaRPr lang="en-US" sz="1450" dirty="0"/>
          </a:p>
          <a:p>
            <a:pPr marL="342900" indent="-342900">
              <a:lnSpc>
                <a:spcPct val="110000"/>
              </a:lnSpc>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generate-script — produces the real migration script</a:t>
            </a:r>
            <a:endParaRPr lang="en-US" sz="1450" dirty="0"/>
          </a:p>
          <a:p>
            <a:pPr marL="342900" indent="-342900">
              <a:lnSpc>
                <a:spcPct val="110000"/>
              </a:lnSpc>
              <a:buSzPct val="100000"/>
              <a:buChar char="•"/>
            </a:pPr>
            <a:r>
              <a:rPr lang="en-US" sz="1450" dirty="0">
                <a:solidFill>
                  <a:srgbClr val="2B2B2B"/>
                </a:solidFill>
                <a:latin typeface="Calibri" pitchFamily="34" charset="0"/>
                <a:ea typeface="Calibri" pitchFamily="34" charset="-122"/>
                <a:cs typeface="Calibri" pitchFamily="34" charset="-120"/>
              </a:rPr>
              <a:t>The --all flag also rewires pipelines, creates teams, and connects Boards in one pass</a:t>
            </a:r>
            <a:endParaRPr lang="en-US" sz="1450" dirty="0"/>
          </a:p>
        </p:txBody>
      </p:sp>
      <p:sp>
        <p:nvSpPr>
          <p:cNvPr id="9" name="Shape 6"/>
          <p:cNvSpPr/>
          <p:nvPr/>
        </p:nvSpPr>
        <p:spPr>
          <a:xfrm>
            <a:off x="6263640" y="1645920"/>
            <a:ext cx="5349240" cy="3429000"/>
          </a:xfrm>
          <a:prstGeom prst="roundRect">
            <a:avLst>
              <a:gd name="adj" fmla="val 3200"/>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6537960" y="1828800"/>
            <a:ext cx="4800600" cy="457200"/>
          </a:xfrm>
          <a:prstGeom prst="rect">
            <a:avLst/>
          </a:prstGeom>
          <a:noFill/>
          <a:ln/>
        </p:spPr>
        <p:txBody>
          <a:bodyPr wrap="square" lIns="0" tIns="0" rIns="0" bIns="0" rtlCol="0" anchor="ctr"/>
          <a:lstStyle/>
          <a:p>
            <a:pPr marL="0" indent="0">
              <a:buNone/>
            </a:pPr>
            <a:r>
              <a:rPr lang="en-US" sz="1900" b="1" dirty="0">
                <a:solidFill>
                  <a:srgbClr val="F5F5F0"/>
                </a:solidFill>
                <a:latin typeface="Cambria" pitchFamily="34" charset="0"/>
                <a:ea typeface="Cambria" pitchFamily="34" charset="-122"/>
                <a:cs typeface="Cambria" pitchFamily="34" charset="-120"/>
              </a:rPr>
              <a:t>What It Doesn’t Do</a:t>
            </a:r>
            <a:endParaRPr lang="en-US" sz="1900" dirty="0"/>
          </a:p>
        </p:txBody>
      </p:sp>
      <p:sp>
        <p:nvSpPr>
          <p:cNvPr id="11" name="Text 8"/>
          <p:cNvSpPr txBox="1"/>
          <p:nvPr/>
        </p:nvSpPr>
        <p:spPr>
          <a:xfrm>
            <a:off x="6537960" y="2331720"/>
            <a:ext cx="4800600" cy="265176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450" dirty="0">
                <a:solidFill>
                  <a:srgbClr val="F5F5F0"/>
                </a:solidFill>
                <a:latin typeface="Calibri" pitchFamily="34" charset="0"/>
                <a:ea typeface="Calibri" pitchFamily="34" charset="-122"/>
                <a:cs typeface="Calibri" pitchFamily="34" charset="-120"/>
              </a:rPr>
              <a:t>Doesn’t touch pipeline logic — that’s gh-actions-importer’s job, next</a:t>
            </a:r>
            <a:endParaRPr lang="en-US" sz="1450" dirty="0"/>
          </a:p>
          <a:p>
            <a:pPr marL="342900" indent="-342900">
              <a:lnSpc>
                <a:spcPct val="110000"/>
              </a:lnSpc>
              <a:spcAft>
                <a:spcPts val="1000"/>
              </a:spcAft>
              <a:buSzPct val="100000"/>
              <a:buChar char="•"/>
            </a:pPr>
            <a:r>
              <a:rPr lang="en-US" sz="1450" dirty="0">
                <a:solidFill>
                  <a:srgbClr val="F5F5F0"/>
                </a:solidFill>
                <a:latin typeface="Calibri" pitchFamily="34" charset="0"/>
                <a:ea typeface="Calibri" pitchFamily="34" charset="-122"/>
                <a:cs typeface="Calibri" pitchFamily="34" charset="-120"/>
              </a:rPr>
              <a:t>Doesn’t bring Git LFS objects along on its own</a:t>
            </a:r>
            <a:endParaRPr lang="en-US" sz="1450" dirty="0"/>
          </a:p>
          <a:p>
            <a:pPr marL="342900" indent="-342900">
              <a:lnSpc>
                <a:spcPct val="110000"/>
              </a:lnSpc>
              <a:buSzPct val="100000"/>
              <a:buChar char="•"/>
            </a:pPr>
            <a:r>
              <a:rPr lang="en-US" sz="1450" dirty="0">
                <a:solidFill>
                  <a:srgbClr val="F5F5F0"/>
                </a:solidFill>
                <a:latin typeface="Calibri" pitchFamily="34" charset="0"/>
                <a:ea typeface="Calibri" pitchFamily="34" charset="-122"/>
                <a:cs typeface="Calibri" pitchFamily="34" charset="-120"/>
              </a:rPr>
              <a:t>Doesn’t decide your identity mapping for you</a:t>
            </a:r>
            <a:endParaRPr lang="en-US" sz="1450" dirty="0"/>
          </a:p>
        </p:txBody>
      </p:sp>
      <p:sp>
        <p:nvSpPr>
          <p:cNvPr id="12" name="Shape 9"/>
          <p:cNvSpPr/>
          <p:nvPr/>
        </p:nvSpPr>
        <p:spPr>
          <a:xfrm>
            <a:off x="548640" y="5257800"/>
            <a:ext cx="11064240" cy="1234440"/>
          </a:xfrm>
          <a:prstGeom prst="roundRect">
            <a:avLst>
              <a:gd name="adj" fmla="val 8889"/>
            </a:avLst>
          </a:prstGeom>
          <a:solidFill>
            <a:srgbClr val="8C6A3F"/>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0"/>
          <p:cNvSpPr txBox="1"/>
          <p:nvPr/>
        </p:nvSpPr>
        <p:spPr>
          <a:xfrm>
            <a:off x="822960" y="5394960"/>
            <a:ext cx="8778240" cy="960120"/>
          </a:xfrm>
          <a:prstGeom prst="rect">
            <a:avLst/>
          </a:prstGeom>
          <a:noFill/>
          <a:ln/>
        </p:spPr>
        <p:txBody>
          <a:bodyPr wrap="square" lIns="0" tIns="0" rIns="0" bIns="0" rtlCol="0" anchor="ctr"/>
          <a:lstStyle/>
          <a:p>
            <a:pPr marL="0" indent="0">
              <a:lnSpc>
                <a:spcPct val="110000"/>
              </a:lnSpc>
              <a:buNone/>
            </a:pPr>
            <a:r>
              <a:rPr lang="en-US" sz="1450" b="1" dirty="0">
                <a:solidFill>
                  <a:srgbClr val="F5F5F0"/>
                </a:solidFill>
                <a:latin typeface="Calibri" pitchFamily="34" charset="0"/>
                <a:ea typeface="Calibri" pitchFamily="34" charset="-122"/>
                <a:cs typeface="Calibri" pitchFamily="34" charset="-120"/>
              </a:rPr>
              <a:t>Why choose it: </a:t>
            </a:r>
            <a:r>
              <a:rPr lang="en-US" sz="1450" dirty="0">
                <a:solidFill>
                  <a:srgbClr val="F5F5F0"/>
                </a:solidFill>
                <a:latin typeface="Calibri" pitchFamily="34" charset="0"/>
                <a:ea typeface="Calibri" pitchFamily="34" charset="-122"/>
                <a:cs typeface="Calibri" pitchFamily="34" charset="-120"/>
              </a:rPr>
              <a:t>it’s the default answer for repo migration at any real scale. Free, official, and maintained by GitHub — doing this by hand past a couple of repos is wasting time you don’t need to spend.</a:t>
            </a:r>
            <a:endParaRPr lang="en-US" sz="1450" dirty="0"/>
          </a:p>
        </p:txBody>
      </p:sp>
      <p:sp>
        <p:nvSpPr>
          <p:cNvPr id="14" name="Shape 11"/>
          <p:cNvSpPr/>
          <p:nvPr/>
        </p:nvSpPr>
        <p:spPr>
          <a:xfrm>
            <a:off x="10351008" y="5340096"/>
            <a:ext cx="923544" cy="923544"/>
          </a:xfrm>
          <a:prstGeom prst="roundRect">
            <a:avLst>
              <a:gd name="adj" fmla="val 5941"/>
            </a:avLst>
          </a:prstGeom>
          <a:solidFill>
            <a:srgbClr val="FFFFFF"/>
          </a:solidFill>
          <a:ln w="15875">
            <a:solidFill>
              <a:srgbClr val="1F3D2C"/>
            </a:solidFill>
            <a:prstDash val="solid"/>
          </a:ln>
        </p:spPr>
        <p:txBody>
          <a:bodyPr/>
          <a:lstStyle/>
          <a:p>
            <a:endParaRPr lang="en-US"/>
          </a:p>
        </p:txBody>
      </p:sp>
      <p:pic>
        <p:nvPicPr>
          <p:cNvPr id="15" name="Image 1" descr="/home/claude/pptx-build/assets/qr-sec3-ado2gh.png"/>
          <p:cNvPicPr>
            <a:picLocks noChangeAspect="1"/>
          </p:cNvPicPr>
          <p:nvPr/>
        </p:nvPicPr>
        <p:blipFill>
          <a:blip r:embed="rId4"/>
          <a:stretch>
            <a:fillRect/>
          </a:stretch>
        </p:blipFill>
        <p:spPr>
          <a:xfrm>
            <a:off x="10424160" y="5413248"/>
            <a:ext cx="777240" cy="7772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ListOl-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gh-ado2gh — Caveats &amp; the One Sequencing Rule</a:t>
            </a:r>
            <a:endParaRPr lang="en-US" sz="3200" dirty="0"/>
          </a:p>
        </p:txBody>
      </p:sp>
      <p:sp>
        <p:nvSpPr>
          <p:cNvPr id="6" name="Shape 3"/>
          <p:cNvSpPr/>
          <p:nvPr/>
        </p:nvSpPr>
        <p:spPr>
          <a:xfrm>
            <a:off x="548640" y="1691640"/>
            <a:ext cx="11064240" cy="2651760"/>
          </a:xfrm>
          <a:prstGeom prst="roundRect">
            <a:avLst>
              <a:gd name="adj" fmla="val 4138"/>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920240"/>
            <a:ext cx="10332720" cy="2194560"/>
          </a:xfrm>
          <a:prstGeom prst="rect">
            <a:avLst/>
          </a:prstGeom>
          <a:noFill/>
          <a:ln/>
        </p:spPr>
        <p:txBody>
          <a:bodyPr wrap="square" lIns="0" tIns="0" rIns="0" bIns="0" rtlCol="0" anchor="ctr"/>
          <a:lstStyle/>
          <a:p>
            <a:pPr marL="0" indent="0">
              <a:lnSpc>
                <a:spcPct val="130000"/>
              </a:lnSpc>
              <a:buNone/>
            </a:pPr>
            <a:r>
              <a:rPr lang="en-US" sz="1900" b="1" dirty="0">
                <a:solidFill>
                  <a:srgbClr val="2B2B2B"/>
                </a:solidFill>
                <a:latin typeface="Calibri" pitchFamily="34" charset="0"/>
                <a:ea typeface="Calibri" pitchFamily="34" charset="-122"/>
                <a:cs typeface="Calibri" pitchFamily="34" charset="-120"/>
              </a:rPr>
              <a:t>Install the Pipelines GitHub App before migrating any repos. </a:t>
            </a:r>
            <a:r>
              <a:rPr lang="en-US" sz="1900" dirty="0">
                <a:solidFill>
                  <a:srgbClr val="2B2B2B"/>
                </a:solidFill>
                <a:latin typeface="Calibri" pitchFamily="34" charset="0"/>
                <a:ea typeface="Calibri" pitchFamily="34" charset="-122"/>
                <a:cs typeface="Calibri" pitchFamily="34" charset="-120"/>
              </a:rPr>
              <a:t>Skip this order and the migration script can’t auto-reconfigure pipelines to point at GitHub — it becomes a manual, repo-by-repo fix while everyone in Slack asks why the build is red.</a:t>
            </a:r>
            <a:endParaRPr lang="en-US" sz="1900" dirty="0"/>
          </a:p>
        </p:txBody>
      </p:sp>
      <p:sp>
        <p:nvSpPr>
          <p:cNvPr id="8" name="Shape 5"/>
          <p:cNvSpPr/>
          <p:nvPr/>
        </p:nvSpPr>
        <p:spPr>
          <a:xfrm>
            <a:off x="548640" y="4572000"/>
            <a:ext cx="11064240" cy="1417320"/>
          </a:xfrm>
          <a:prstGeom prst="roundRect">
            <a:avLst>
              <a:gd name="adj" fmla="val 7742"/>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4736592"/>
            <a:ext cx="10515600" cy="1097280"/>
          </a:xfrm>
          <a:prstGeom prst="rect">
            <a:avLst/>
          </a:prstGeom>
          <a:noFill/>
          <a:ln/>
        </p:spPr>
        <p:txBody>
          <a:bodyPr wrap="square" lIns="0" tIns="0" rIns="0" bIns="0" rtlCol="0" anchor="ctr"/>
          <a:lstStyle/>
          <a:p>
            <a:pPr marL="0" indent="0">
              <a:lnSpc>
                <a:spcPct val="115000"/>
              </a:lnSpc>
              <a:buNone/>
            </a:pPr>
            <a:r>
              <a:rPr lang="en-US" sz="1500" b="1" dirty="0">
                <a:solidFill>
                  <a:srgbClr val="F5F5F0"/>
                </a:solidFill>
                <a:latin typeface="Calibri" pitchFamily="34" charset="0"/>
                <a:ea typeface="Calibri" pitchFamily="34" charset="-122"/>
                <a:cs typeface="Calibri" pitchFamily="34" charset="-120"/>
              </a:rPr>
              <a:t>The same rule applies to identity mapping: </a:t>
            </a:r>
            <a:r>
              <a:rPr lang="en-US" sz="1500" dirty="0">
                <a:solidFill>
                  <a:srgbClr val="F5F5F0"/>
                </a:solidFill>
                <a:latin typeface="Calibri" pitchFamily="34" charset="0"/>
                <a:ea typeface="Calibri" pitchFamily="34" charset="-122"/>
                <a:cs typeface="Calibri" pitchFamily="34" charset="-120"/>
              </a:rPr>
              <a:t>plan it before the first migration runs, not after. Mannequin accounts get created at migration time — section 6 comes back to exactly what that costs you if you wait.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ClipboardChec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Approach 2 — gh-actions-importer (For Pipelines)</a:t>
            </a:r>
            <a:endParaRPr lang="en-US" sz="3200" dirty="0"/>
          </a:p>
        </p:txBody>
      </p:sp>
      <p:sp>
        <p:nvSpPr>
          <p:cNvPr id="6" name="Shape 3"/>
          <p:cNvSpPr/>
          <p:nvPr/>
        </p:nvSpPr>
        <p:spPr>
          <a:xfrm>
            <a:off x="548640" y="1645920"/>
            <a:ext cx="5349240" cy="3429000"/>
          </a:xfrm>
          <a:prstGeom prst="roundRect">
            <a:avLst>
              <a:gd name="adj" fmla="val 32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828800"/>
            <a:ext cx="4800600" cy="457200"/>
          </a:xfrm>
          <a:prstGeom prst="rect">
            <a:avLst/>
          </a:prstGeom>
          <a:noFill/>
          <a:ln/>
        </p:spPr>
        <p:txBody>
          <a:bodyPr wrap="square" lIns="0" tIns="0" rIns="0" bIns="0" rtlCol="0" anchor="ctr"/>
          <a:lstStyle/>
          <a:p>
            <a:pPr marL="0" indent="0">
              <a:buNone/>
            </a:pPr>
            <a:r>
              <a:rPr lang="en-US" sz="1900" b="1" dirty="0">
                <a:solidFill>
                  <a:srgbClr val="1F3D2C"/>
                </a:solidFill>
                <a:latin typeface="Cambria" pitchFamily="34" charset="0"/>
                <a:ea typeface="Cambria" pitchFamily="34" charset="-122"/>
                <a:cs typeface="Cambria" pitchFamily="34" charset="-120"/>
              </a:rPr>
              <a:t>What It Does</a:t>
            </a:r>
            <a:endParaRPr lang="en-US" sz="1900" dirty="0"/>
          </a:p>
        </p:txBody>
      </p:sp>
      <p:sp>
        <p:nvSpPr>
          <p:cNvPr id="8" name="Text 5"/>
          <p:cNvSpPr txBox="1"/>
          <p:nvPr/>
        </p:nvSpPr>
        <p:spPr>
          <a:xfrm>
            <a:off x="822960" y="2331720"/>
            <a:ext cx="4800600" cy="265176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audit classifies every pipeline: automatable, partial, or manual</a:t>
            </a:r>
            <a:endParaRPr lang="en-US" sz="1450" dirty="0"/>
          </a:p>
          <a:p>
            <a:pPr marL="342900" indent="-342900">
              <a:lnSpc>
                <a:spcPct val="110000"/>
              </a:lnSpc>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dry-run shows the converted workflow before anything is committed</a:t>
            </a:r>
            <a:endParaRPr lang="en-US" sz="1450" dirty="0"/>
          </a:p>
          <a:p>
            <a:pPr marL="342900" indent="-342900">
              <a:lnSpc>
                <a:spcPct val="110000"/>
              </a:lnSpc>
              <a:buSzPct val="100000"/>
              <a:buChar char="•"/>
            </a:pPr>
            <a:r>
              <a:rPr lang="en-US" sz="1450" dirty="0">
                <a:solidFill>
                  <a:srgbClr val="2B2B2B"/>
                </a:solidFill>
                <a:latin typeface="Calibri" pitchFamily="34" charset="0"/>
                <a:ea typeface="Calibri" pitchFamily="34" charset="-122"/>
                <a:cs typeface="Calibri" pitchFamily="34" charset="-120"/>
              </a:rPr>
              <a:t>Converts the automatable parts for you, not just diagnoses them</a:t>
            </a:r>
            <a:endParaRPr lang="en-US" sz="1450" dirty="0"/>
          </a:p>
        </p:txBody>
      </p:sp>
      <p:sp>
        <p:nvSpPr>
          <p:cNvPr id="9" name="Shape 6"/>
          <p:cNvSpPr/>
          <p:nvPr/>
        </p:nvSpPr>
        <p:spPr>
          <a:xfrm>
            <a:off x="6263640" y="1645920"/>
            <a:ext cx="5349240" cy="3429000"/>
          </a:xfrm>
          <a:prstGeom prst="roundRect">
            <a:avLst>
              <a:gd name="adj" fmla="val 3200"/>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6537960" y="1828800"/>
            <a:ext cx="4800600" cy="457200"/>
          </a:xfrm>
          <a:prstGeom prst="rect">
            <a:avLst/>
          </a:prstGeom>
          <a:noFill/>
          <a:ln/>
        </p:spPr>
        <p:txBody>
          <a:bodyPr wrap="square" lIns="0" tIns="0" rIns="0" bIns="0" rtlCol="0" anchor="ctr"/>
          <a:lstStyle/>
          <a:p>
            <a:pPr marL="0" indent="0">
              <a:buNone/>
            </a:pPr>
            <a:r>
              <a:rPr lang="en-US" sz="1900" b="1" dirty="0">
                <a:solidFill>
                  <a:srgbClr val="F5F5F0"/>
                </a:solidFill>
                <a:latin typeface="Cambria" pitchFamily="34" charset="0"/>
                <a:ea typeface="Cambria" pitchFamily="34" charset="-122"/>
                <a:cs typeface="Cambria" pitchFamily="34" charset="-120"/>
              </a:rPr>
              <a:t>What It Doesn’t Do</a:t>
            </a:r>
            <a:endParaRPr lang="en-US" sz="1900" dirty="0"/>
          </a:p>
        </p:txBody>
      </p:sp>
      <p:sp>
        <p:nvSpPr>
          <p:cNvPr id="11" name="Text 8"/>
          <p:cNvSpPr txBox="1"/>
          <p:nvPr/>
        </p:nvSpPr>
        <p:spPr>
          <a:xfrm>
            <a:off x="6537960" y="2331720"/>
            <a:ext cx="4800600" cy="265176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450" dirty="0">
                <a:solidFill>
                  <a:srgbClr val="F5F5F0"/>
                </a:solidFill>
                <a:latin typeface="Calibri" pitchFamily="34" charset="0"/>
                <a:ea typeface="Calibri" pitchFamily="34" charset="-122"/>
                <a:cs typeface="Calibri" pitchFamily="34" charset="-120"/>
              </a:rPr>
              <a:t>Doesn’t migrate repos — that’s gh-ado2gh’s job, previous slides</a:t>
            </a:r>
            <a:endParaRPr lang="en-US" sz="1450" dirty="0"/>
          </a:p>
          <a:p>
            <a:pPr marL="342900" indent="-342900">
              <a:lnSpc>
                <a:spcPct val="110000"/>
              </a:lnSpc>
              <a:spcAft>
                <a:spcPts val="1000"/>
              </a:spcAft>
              <a:buSzPct val="100000"/>
              <a:buChar char="•"/>
            </a:pPr>
            <a:r>
              <a:rPr lang="en-US" sz="1450" dirty="0">
                <a:solidFill>
                  <a:srgbClr val="F5F5F0"/>
                </a:solidFill>
                <a:latin typeface="Calibri" pitchFamily="34" charset="0"/>
                <a:ea typeface="Calibri" pitchFamily="34" charset="-122"/>
                <a:cs typeface="Calibri" pitchFamily="34" charset="-120"/>
              </a:rPr>
              <a:t>The “partial” bucket still needs a human to finish the job</a:t>
            </a:r>
            <a:endParaRPr lang="en-US" sz="1450" dirty="0"/>
          </a:p>
          <a:p>
            <a:pPr marL="342900" indent="-342900">
              <a:lnSpc>
                <a:spcPct val="110000"/>
              </a:lnSpc>
              <a:buSzPct val="100000"/>
              <a:buChar char="•"/>
            </a:pPr>
            <a:r>
              <a:rPr lang="en-US" sz="1450" dirty="0">
                <a:solidFill>
                  <a:srgbClr val="F5F5F0"/>
                </a:solidFill>
                <a:latin typeface="Calibri" pitchFamily="34" charset="0"/>
                <a:ea typeface="Calibri" pitchFamily="34" charset="-122"/>
                <a:cs typeface="Calibri" pitchFamily="34" charset="-120"/>
              </a:rPr>
              <a:t>Doesn’t fix a pipeline that was already broken — it translates what’s there, warts included</a:t>
            </a:r>
            <a:endParaRPr lang="en-US" sz="1450" dirty="0"/>
          </a:p>
        </p:txBody>
      </p:sp>
      <p:sp>
        <p:nvSpPr>
          <p:cNvPr id="12" name="Shape 9"/>
          <p:cNvSpPr/>
          <p:nvPr/>
        </p:nvSpPr>
        <p:spPr>
          <a:xfrm>
            <a:off x="548640" y="5257800"/>
            <a:ext cx="11064240" cy="1234440"/>
          </a:xfrm>
          <a:prstGeom prst="roundRect">
            <a:avLst>
              <a:gd name="adj" fmla="val 8889"/>
            </a:avLst>
          </a:prstGeom>
          <a:solidFill>
            <a:srgbClr val="8C6A3F"/>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0"/>
          <p:cNvSpPr txBox="1"/>
          <p:nvPr/>
        </p:nvSpPr>
        <p:spPr>
          <a:xfrm>
            <a:off x="822960" y="5394960"/>
            <a:ext cx="8778240" cy="960120"/>
          </a:xfrm>
          <a:prstGeom prst="rect">
            <a:avLst/>
          </a:prstGeom>
          <a:noFill/>
          <a:ln/>
        </p:spPr>
        <p:txBody>
          <a:bodyPr wrap="square" lIns="0" tIns="0" rIns="0" bIns="0" rtlCol="0" anchor="ctr"/>
          <a:lstStyle/>
          <a:p>
            <a:pPr marL="0" indent="0">
              <a:lnSpc>
                <a:spcPct val="110000"/>
              </a:lnSpc>
              <a:buNone/>
            </a:pPr>
            <a:r>
              <a:rPr lang="en-US" sz="1450" b="1" i="1" dirty="0">
                <a:solidFill>
                  <a:srgbClr val="F5F5F0"/>
                </a:solidFill>
                <a:latin typeface="Calibri" pitchFamily="34" charset="0"/>
                <a:ea typeface="Calibri" pitchFamily="34" charset="-122"/>
                <a:cs typeface="Calibri" pitchFamily="34" charset="-120"/>
              </a:rPr>
              <a:t>Why choose it: </a:t>
            </a:r>
            <a:r>
              <a:rPr lang="en-US" sz="1450" i="1" dirty="0">
                <a:solidFill>
                  <a:srgbClr val="F5F5F0"/>
                </a:solidFill>
                <a:latin typeface="Calibri" pitchFamily="34" charset="0"/>
                <a:ea typeface="Calibri" pitchFamily="34" charset="-122"/>
                <a:cs typeface="Calibri" pitchFamily="34" charset="-120"/>
              </a:rPr>
              <a:t>the audit breakdown is the single best slide-quantified evidence in the whole PoC — it turns “this will take a while” into an actual number you can put in a plan.</a:t>
            </a:r>
            <a:endParaRPr lang="en-US" sz="1450" dirty="0"/>
          </a:p>
        </p:txBody>
      </p:sp>
      <p:sp>
        <p:nvSpPr>
          <p:cNvPr id="14" name="Shape 11"/>
          <p:cNvSpPr/>
          <p:nvPr/>
        </p:nvSpPr>
        <p:spPr>
          <a:xfrm>
            <a:off x="10351008" y="5340096"/>
            <a:ext cx="923544" cy="923544"/>
          </a:xfrm>
          <a:prstGeom prst="roundRect">
            <a:avLst>
              <a:gd name="adj" fmla="val 5941"/>
            </a:avLst>
          </a:prstGeom>
          <a:solidFill>
            <a:srgbClr val="FFFFFF"/>
          </a:solidFill>
          <a:ln w="15875">
            <a:solidFill>
              <a:srgbClr val="1F3D2C"/>
            </a:solidFill>
            <a:prstDash val="solid"/>
          </a:ln>
        </p:spPr>
        <p:txBody>
          <a:bodyPr/>
          <a:lstStyle/>
          <a:p>
            <a:endParaRPr lang="en-US"/>
          </a:p>
        </p:txBody>
      </p:sp>
      <p:pic>
        <p:nvPicPr>
          <p:cNvPr id="15" name="Image 1" descr="/home/claude/pptx-build/assets/qr-sec3-actions-importer.png"/>
          <p:cNvPicPr>
            <a:picLocks noChangeAspect="1"/>
          </p:cNvPicPr>
          <p:nvPr/>
        </p:nvPicPr>
        <p:blipFill>
          <a:blip r:embed="rId4"/>
          <a:stretch>
            <a:fillRect/>
          </a:stretch>
        </p:blipFill>
        <p:spPr>
          <a:xfrm>
            <a:off x="10424160" y="5413248"/>
            <a:ext cx="777240" cy="7772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Flas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ELM — The Preview Service We Couldn’t PoC</a:t>
            </a:r>
            <a:endParaRPr lang="en-US" sz="3200" dirty="0"/>
          </a:p>
        </p:txBody>
      </p:sp>
      <p:sp>
        <p:nvSpPr>
          <p:cNvPr id="6" name="Shape 3"/>
          <p:cNvSpPr/>
          <p:nvPr/>
        </p:nvSpPr>
        <p:spPr>
          <a:xfrm>
            <a:off x="548640" y="1600200"/>
            <a:ext cx="11064240" cy="1371600"/>
          </a:xfrm>
          <a:prstGeom prst="roundRect">
            <a:avLst>
              <a:gd name="adj" fmla="val 80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737360"/>
            <a:ext cx="10515600" cy="1097280"/>
          </a:xfrm>
          <a:prstGeom prst="rect">
            <a:avLst/>
          </a:prstGeom>
          <a:noFill/>
          <a:ln/>
        </p:spPr>
        <p:txBody>
          <a:bodyPr wrap="square" lIns="0" tIns="0" rIns="0" bIns="0" rtlCol="0" anchor="ctr"/>
          <a:lstStyle/>
          <a:p>
            <a:pPr marL="0" indent="0">
              <a:lnSpc>
                <a:spcPct val="115000"/>
              </a:lnSpc>
              <a:buNone/>
            </a:pPr>
            <a:r>
              <a:rPr lang="en-US" sz="1700" b="1" dirty="0">
                <a:solidFill>
                  <a:srgbClr val="2B2B2B"/>
                </a:solidFill>
                <a:latin typeface="Calibri" pitchFamily="34" charset="0"/>
                <a:ea typeface="Calibri" pitchFamily="34" charset="-122"/>
                <a:cs typeface="Calibri" pitchFamily="34" charset="-120"/>
              </a:rPr>
              <a:t>Continuous sync plus a scheduled cutover, </a:t>
            </a:r>
            <a:r>
              <a:rPr lang="en-US" sz="1700" dirty="0">
                <a:solidFill>
                  <a:srgbClr val="2B2B2B"/>
                </a:solidFill>
                <a:latin typeface="Calibri" pitchFamily="34" charset="0"/>
                <a:ea typeface="Calibri" pitchFamily="34" charset="-122"/>
                <a:cs typeface="Calibri" pitchFamily="34" charset="-120"/>
              </a:rPr>
              <a:t>with a read-only window at cutover measured in minutes, not hours — Microsoft cites sub-30-minute for most organizations.</a:t>
            </a:r>
            <a:endParaRPr lang="en-US" sz="1700" dirty="0"/>
          </a:p>
        </p:txBody>
      </p:sp>
      <p:sp>
        <p:nvSpPr>
          <p:cNvPr id="8" name="Shape 5"/>
          <p:cNvSpPr/>
          <p:nvPr/>
        </p:nvSpPr>
        <p:spPr>
          <a:xfrm>
            <a:off x="548640" y="3154680"/>
            <a:ext cx="5349240" cy="2286000"/>
          </a:xfrm>
          <a:prstGeom prst="roundRect">
            <a:avLst>
              <a:gd name="adj" fmla="val 48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3310128"/>
            <a:ext cx="4800600" cy="411480"/>
          </a:xfrm>
          <a:prstGeom prst="rect">
            <a:avLst/>
          </a:prstGeom>
          <a:noFill/>
          <a:ln/>
        </p:spPr>
        <p:txBody>
          <a:bodyPr wrap="square" lIns="0" tIns="0" rIns="0" bIns="0" rtlCol="0" anchor="ctr"/>
          <a:lstStyle/>
          <a:p>
            <a:pPr marL="0" indent="0">
              <a:buNone/>
            </a:pPr>
            <a:r>
              <a:rPr lang="en-US" sz="1700" b="1" dirty="0">
                <a:solidFill>
                  <a:srgbClr val="1F3D2C"/>
                </a:solidFill>
                <a:latin typeface="Cambria" pitchFamily="34" charset="0"/>
                <a:ea typeface="Cambria" pitchFamily="34" charset="-122"/>
                <a:cs typeface="Cambria" pitchFamily="34" charset="-120"/>
              </a:rPr>
              <a:t>What It Automates</a:t>
            </a:r>
            <a:endParaRPr lang="en-US" sz="1700" dirty="0"/>
          </a:p>
        </p:txBody>
      </p:sp>
      <p:sp>
        <p:nvSpPr>
          <p:cNvPr id="10" name="Text 7"/>
          <p:cNvSpPr txBox="1"/>
          <p:nvPr/>
        </p:nvSpPr>
        <p:spPr>
          <a:xfrm>
            <a:off x="822960" y="3794760"/>
            <a:ext cx="4800600" cy="1600200"/>
          </a:xfrm>
          <a:prstGeom prst="rect">
            <a:avLst/>
          </a:prstGeom>
          <a:noFill/>
          <a:ln/>
        </p:spPr>
        <p:txBody>
          <a:bodyPr wrap="square" lIns="0" tIns="0" rIns="0" bIns="0" rtlCol="0" anchor="ctr"/>
          <a:lstStyle/>
          <a:p>
            <a:pPr marL="342900" indent="-342900">
              <a:lnSpc>
                <a:spcPct val="105000"/>
              </a:lnSpc>
              <a:spcAft>
                <a:spcPts val="600"/>
              </a:spcAft>
              <a:buSzPct val="100000"/>
              <a:buChar char="•"/>
            </a:pPr>
            <a:r>
              <a:rPr lang="en-US" sz="1350" dirty="0">
                <a:solidFill>
                  <a:srgbClr val="2B2B2B"/>
                </a:solidFill>
                <a:latin typeface="Calibri" pitchFamily="34" charset="0"/>
                <a:ea typeface="Calibri" pitchFamily="34" charset="-122"/>
                <a:cs typeface="Calibri" pitchFamily="34" charset="-120"/>
              </a:rPr>
              <a:t>Pre-migration checks</a:t>
            </a:r>
            <a:endParaRPr lang="en-US" sz="1350" dirty="0"/>
          </a:p>
          <a:p>
            <a:pPr marL="342900" indent="-342900">
              <a:lnSpc>
                <a:spcPct val="105000"/>
              </a:lnSpc>
              <a:spcAft>
                <a:spcPts val="600"/>
              </a:spcAft>
              <a:buSzPct val="100000"/>
              <a:buChar char="•"/>
            </a:pPr>
            <a:r>
              <a:rPr lang="en-US" sz="1350" dirty="0">
                <a:solidFill>
                  <a:srgbClr val="2B2B2B"/>
                </a:solidFill>
                <a:latin typeface="Calibri" pitchFamily="34" charset="0"/>
                <a:ea typeface="Calibri" pitchFamily="34" charset="-122"/>
                <a:cs typeface="Calibri" pitchFamily="34" charset="-120"/>
              </a:rPr>
              <a:t>Org &amp; repo creation</a:t>
            </a:r>
            <a:endParaRPr lang="en-US" sz="1350" dirty="0"/>
          </a:p>
          <a:p>
            <a:pPr marL="342900" indent="-342900">
              <a:lnSpc>
                <a:spcPct val="105000"/>
              </a:lnSpc>
              <a:spcAft>
                <a:spcPts val="600"/>
              </a:spcAft>
              <a:buSzPct val="100000"/>
              <a:buChar char="•"/>
            </a:pPr>
            <a:r>
              <a:rPr lang="en-US" sz="1350" dirty="0">
                <a:solidFill>
                  <a:srgbClr val="2B2B2B"/>
                </a:solidFill>
                <a:latin typeface="Calibri" pitchFamily="34" charset="0"/>
                <a:ea typeface="Calibri" pitchFamily="34" charset="-122"/>
                <a:cs typeface="Calibri" pitchFamily="34" charset="-120"/>
              </a:rPr>
              <a:t>PR &amp; branch-policy sync</a:t>
            </a:r>
            <a:endParaRPr lang="en-US" sz="1350" dirty="0"/>
          </a:p>
          <a:p>
            <a:pPr marL="342900" indent="-342900">
              <a:lnSpc>
                <a:spcPct val="105000"/>
              </a:lnSpc>
              <a:buSzPct val="100000"/>
              <a:buChar char="•"/>
            </a:pPr>
            <a:r>
              <a:rPr lang="en-US" sz="1350" dirty="0">
                <a:solidFill>
                  <a:srgbClr val="2B2B2B"/>
                </a:solidFill>
                <a:latin typeface="Calibri" pitchFamily="34" charset="0"/>
                <a:ea typeface="Calibri" pitchFamily="34" charset="-122"/>
                <a:cs typeface="Calibri" pitchFamily="34" charset="-120"/>
              </a:rPr>
              <a:t>Boards connection &amp; pipeline rewiring</a:t>
            </a:r>
            <a:endParaRPr lang="en-US" sz="1350" dirty="0"/>
          </a:p>
        </p:txBody>
      </p:sp>
      <p:sp>
        <p:nvSpPr>
          <p:cNvPr id="11" name="Shape 8"/>
          <p:cNvSpPr/>
          <p:nvPr/>
        </p:nvSpPr>
        <p:spPr>
          <a:xfrm>
            <a:off x="6263640" y="3154680"/>
            <a:ext cx="5349240" cy="2286000"/>
          </a:xfrm>
          <a:prstGeom prst="roundRect">
            <a:avLst>
              <a:gd name="adj" fmla="val 4800"/>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9"/>
          <p:cNvSpPr txBox="1"/>
          <p:nvPr/>
        </p:nvSpPr>
        <p:spPr>
          <a:xfrm>
            <a:off x="6537960" y="3310128"/>
            <a:ext cx="4800600" cy="411480"/>
          </a:xfrm>
          <a:prstGeom prst="rect">
            <a:avLst/>
          </a:prstGeom>
          <a:noFill/>
          <a:ln/>
        </p:spPr>
        <p:txBody>
          <a:bodyPr wrap="square" lIns="0" tIns="0" rIns="0" bIns="0" rtlCol="0" anchor="ctr"/>
          <a:lstStyle/>
          <a:p>
            <a:pPr marL="0" indent="0">
              <a:buNone/>
            </a:pPr>
            <a:r>
              <a:rPr lang="en-US" sz="1700" b="1" dirty="0">
                <a:solidFill>
                  <a:srgbClr val="F5F5F0"/>
                </a:solidFill>
                <a:latin typeface="Cambria" pitchFamily="34" charset="0"/>
                <a:ea typeface="Cambria" pitchFamily="34" charset="-122"/>
                <a:cs typeface="Cambria" pitchFamily="34" charset="-120"/>
              </a:rPr>
              <a:t>What It Still Needs You For</a:t>
            </a:r>
            <a:endParaRPr lang="en-US" sz="1700" dirty="0"/>
          </a:p>
        </p:txBody>
      </p:sp>
      <p:sp>
        <p:nvSpPr>
          <p:cNvPr id="13" name="Text 10"/>
          <p:cNvSpPr txBox="1"/>
          <p:nvPr/>
        </p:nvSpPr>
        <p:spPr>
          <a:xfrm>
            <a:off x="6537960" y="3794760"/>
            <a:ext cx="4800600" cy="1600200"/>
          </a:xfrm>
          <a:prstGeom prst="rect">
            <a:avLst/>
          </a:prstGeom>
          <a:noFill/>
          <a:ln/>
        </p:spPr>
        <p:txBody>
          <a:bodyPr wrap="square" lIns="0" tIns="0" rIns="0" bIns="0" rtlCol="0" anchor="ctr"/>
          <a:lstStyle/>
          <a:p>
            <a:pPr marL="342900" indent="-342900">
              <a:lnSpc>
                <a:spcPct val="105000"/>
              </a:lnSpc>
              <a:spcAft>
                <a:spcPts val="600"/>
              </a:spcAft>
              <a:buSzPct val="100000"/>
              <a:buChar char="•"/>
            </a:pPr>
            <a:r>
              <a:rPr lang="en-US" sz="1350" dirty="0">
                <a:solidFill>
                  <a:srgbClr val="F5F5F0"/>
                </a:solidFill>
                <a:latin typeface="Calibri" pitchFamily="34" charset="0"/>
                <a:ea typeface="Calibri" pitchFamily="34" charset="-122"/>
                <a:cs typeface="Calibri" pitchFamily="34" charset="-120"/>
              </a:rPr>
              <a:t>Cleanup after the sync</a:t>
            </a:r>
            <a:endParaRPr lang="en-US" sz="1350" dirty="0"/>
          </a:p>
          <a:p>
            <a:pPr marL="342900" indent="-342900">
              <a:lnSpc>
                <a:spcPct val="105000"/>
              </a:lnSpc>
              <a:spcAft>
                <a:spcPts val="600"/>
              </a:spcAft>
              <a:buSzPct val="100000"/>
              <a:buChar char="•"/>
            </a:pPr>
            <a:r>
              <a:rPr lang="en-US" sz="1350" dirty="0">
                <a:solidFill>
                  <a:srgbClr val="F5F5F0"/>
                </a:solidFill>
                <a:latin typeface="Calibri" pitchFamily="34" charset="0"/>
                <a:ea typeface="Calibri" pitchFamily="34" charset="-122"/>
                <a:cs typeface="Calibri" pitchFamily="34" charset="-120"/>
              </a:rPr>
              <a:t>Access &amp; permissions setup</a:t>
            </a:r>
            <a:endParaRPr lang="en-US" sz="1350" dirty="0"/>
          </a:p>
          <a:p>
            <a:pPr marL="342900" indent="-342900">
              <a:lnSpc>
                <a:spcPct val="105000"/>
              </a:lnSpc>
              <a:spcAft>
                <a:spcPts val="600"/>
              </a:spcAft>
              <a:buSzPct val="100000"/>
              <a:buChar char="•"/>
            </a:pPr>
            <a:r>
              <a:rPr lang="en-US" sz="1350" dirty="0">
                <a:solidFill>
                  <a:srgbClr val="F5F5F0"/>
                </a:solidFill>
                <a:latin typeface="Calibri" pitchFamily="34" charset="0"/>
                <a:ea typeface="Calibri" pitchFamily="34" charset="-122"/>
                <a:cs typeface="Calibri" pitchFamily="34" charset="-120"/>
              </a:rPr>
              <a:t>Verification</a:t>
            </a:r>
            <a:endParaRPr lang="en-US" sz="1350" dirty="0"/>
          </a:p>
          <a:p>
            <a:pPr marL="342900" indent="-342900">
              <a:lnSpc>
                <a:spcPct val="105000"/>
              </a:lnSpc>
              <a:buSzPct val="100000"/>
              <a:buChar char="•"/>
            </a:pPr>
            <a:r>
              <a:rPr lang="en-US" sz="1350" dirty="0">
                <a:solidFill>
                  <a:srgbClr val="F5F5F0"/>
                </a:solidFill>
                <a:latin typeface="Calibri" pitchFamily="34" charset="0"/>
                <a:ea typeface="Calibri" pitchFamily="34" charset="-122"/>
                <a:cs typeface="Calibri" pitchFamily="34" charset="-120"/>
              </a:rPr>
              <a:t>Work-item, wiki &amp; pipeline migration itself</a:t>
            </a:r>
            <a:endParaRPr lang="en-US" sz="1350" dirty="0"/>
          </a:p>
        </p:txBody>
      </p:sp>
      <p:sp>
        <p:nvSpPr>
          <p:cNvPr id="14" name="Text 11"/>
          <p:cNvSpPr txBox="1"/>
          <p:nvPr/>
        </p:nvSpPr>
        <p:spPr>
          <a:xfrm>
            <a:off x="548640" y="5623560"/>
            <a:ext cx="11064240" cy="1005840"/>
          </a:xfrm>
          <a:prstGeom prst="rect">
            <a:avLst/>
          </a:prstGeom>
          <a:noFill/>
          <a:ln/>
        </p:spPr>
        <p:txBody>
          <a:bodyPr wrap="square" lIns="0" tIns="0" rIns="0" bIns="0" rtlCol="0" anchor="t"/>
          <a:lstStyle/>
          <a:p>
            <a:pPr marL="0" indent="0">
              <a:lnSpc>
                <a:spcPct val="110000"/>
              </a:lnSpc>
              <a:buNone/>
            </a:pPr>
            <a:r>
              <a:rPr lang="en-US" sz="1350" i="1" dirty="0">
                <a:solidFill>
                  <a:srgbClr val="C1440E"/>
                </a:solidFill>
                <a:latin typeface="Calibri" pitchFamily="34" charset="0"/>
                <a:ea typeface="Calibri" pitchFamily="34" charset="-122"/>
                <a:cs typeface="Calibri" pitchFamily="34" charset="-120"/>
              </a:rPr>
              <a:t>Research only — Hunter doesn’t have the GHE data-residency tenant ELM requires, so none of this was tested firsthand. What it genuinely adds over the standard GEI CLI is the continuous-sync experience, not a longer feature list.</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Brain-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Approach 3 — AI</a:t>
            </a:r>
            <a:endParaRPr lang="en-US" sz="3200" dirty="0"/>
          </a:p>
        </p:txBody>
      </p:sp>
      <p:sp>
        <p:nvSpPr>
          <p:cNvPr id="6" name="Shape 3"/>
          <p:cNvSpPr/>
          <p:nvPr/>
        </p:nvSpPr>
        <p:spPr>
          <a:xfrm>
            <a:off x="548640" y="1691640"/>
            <a:ext cx="3429000" cy="3200400"/>
          </a:xfrm>
          <a:prstGeom prst="roundRect">
            <a:avLst>
              <a:gd name="adj" fmla="val 3429"/>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822960" y="1920240"/>
            <a:ext cx="603504" cy="603504"/>
          </a:xfrm>
          <a:prstGeom prst="ellipse">
            <a:avLst/>
          </a:prstGeom>
          <a:solidFill>
            <a:srgbClr val="C1440E"/>
          </a:solidFill>
          <a:ln/>
        </p:spPr>
        <p:txBody>
          <a:bodyPr/>
          <a:lstStyle/>
          <a:p>
            <a:endParaRPr lang="en-US"/>
          </a:p>
        </p:txBody>
      </p:sp>
      <p:pic>
        <p:nvPicPr>
          <p:cNvPr id="8" name="Image 1" descr="/home/claude/pptx-build/assets/icons/FaSearch-FFFFFF-200.png"/>
          <p:cNvPicPr>
            <a:picLocks noChangeAspect="1"/>
          </p:cNvPicPr>
          <p:nvPr/>
        </p:nvPicPr>
        <p:blipFill>
          <a:blip r:embed="rId4"/>
          <a:stretch>
            <a:fillRect/>
          </a:stretch>
        </p:blipFill>
        <p:spPr>
          <a:xfrm>
            <a:off x="969264" y="2066544"/>
            <a:ext cx="310896" cy="310896"/>
          </a:xfrm>
          <a:prstGeom prst="rect">
            <a:avLst/>
          </a:prstGeom>
        </p:spPr>
      </p:pic>
      <p:sp>
        <p:nvSpPr>
          <p:cNvPr id="9" name="Text 5"/>
          <p:cNvSpPr txBox="1"/>
          <p:nvPr/>
        </p:nvSpPr>
        <p:spPr>
          <a:xfrm>
            <a:off x="822960" y="2670048"/>
            <a:ext cx="2880360" cy="457200"/>
          </a:xfrm>
          <a:prstGeom prst="rect">
            <a:avLst/>
          </a:prstGeom>
          <a:noFill/>
          <a:ln/>
        </p:spPr>
        <p:txBody>
          <a:bodyPr wrap="square" lIns="0" tIns="0" rIns="0" bIns="0" rtlCol="0" anchor="ctr"/>
          <a:lstStyle/>
          <a:p>
            <a:pPr marL="0" indent="0">
              <a:buNone/>
            </a:pPr>
            <a:r>
              <a:rPr lang="en-US" sz="1800" b="1" dirty="0">
                <a:solidFill>
                  <a:srgbClr val="1F3D2C"/>
                </a:solidFill>
                <a:latin typeface="Cambria" pitchFamily="34" charset="0"/>
                <a:ea typeface="Cambria" pitchFamily="34" charset="-122"/>
                <a:cs typeface="Cambria" pitchFamily="34" charset="-120"/>
              </a:rPr>
              <a:t>Analyze</a:t>
            </a:r>
            <a:endParaRPr lang="en-US" sz="1800" dirty="0"/>
          </a:p>
        </p:txBody>
      </p:sp>
      <p:sp>
        <p:nvSpPr>
          <p:cNvPr id="10" name="Text 6"/>
          <p:cNvSpPr txBox="1"/>
          <p:nvPr/>
        </p:nvSpPr>
        <p:spPr>
          <a:xfrm>
            <a:off x="822960" y="3182112"/>
            <a:ext cx="2880360" cy="160020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Reads the source pipeline and identifies what it actually does, step by step.</a:t>
            </a:r>
            <a:endParaRPr lang="en-US" sz="1400" dirty="0"/>
          </a:p>
        </p:txBody>
      </p:sp>
      <p:sp>
        <p:nvSpPr>
          <p:cNvPr id="11" name="Shape 7"/>
          <p:cNvSpPr/>
          <p:nvPr/>
        </p:nvSpPr>
        <p:spPr>
          <a:xfrm>
            <a:off x="4251960" y="1691640"/>
            <a:ext cx="3429000" cy="3200400"/>
          </a:xfrm>
          <a:prstGeom prst="roundRect">
            <a:avLst>
              <a:gd name="adj" fmla="val 3429"/>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8"/>
          <p:cNvSpPr/>
          <p:nvPr/>
        </p:nvSpPr>
        <p:spPr>
          <a:xfrm>
            <a:off x="4526280" y="1920240"/>
            <a:ext cx="603504" cy="603504"/>
          </a:xfrm>
          <a:prstGeom prst="ellipse">
            <a:avLst/>
          </a:prstGeom>
          <a:solidFill>
            <a:srgbClr val="C1440E"/>
          </a:solidFill>
          <a:ln/>
        </p:spPr>
        <p:txBody>
          <a:bodyPr/>
          <a:lstStyle/>
          <a:p>
            <a:endParaRPr lang="en-US"/>
          </a:p>
        </p:txBody>
      </p:sp>
      <p:pic>
        <p:nvPicPr>
          <p:cNvPr id="13" name="Image 2" descr="/home/claude/pptx-build/assets/icons/FaExchangeAlt-FFFFFF-200.png"/>
          <p:cNvPicPr>
            <a:picLocks noChangeAspect="1"/>
          </p:cNvPicPr>
          <p:nvPr/>
        </p:nvPicPr>
        <p:blipFill>
          <a:blip r:embed="rId5"/>
          <a:stretch>
            <a:fillRect/>
          </a:stretch>
        </p:blipFill>
        <p:spPr>
          <a:xfrm>
            <a:off x="4672584" y="2066544"/>
            <a:ext cx="310896" cy="310896"/>
          </a:xfrm>
          <a:prstGeom prst="rect">
            <a:avLst/>
          </a:prstGeom>
        </p:spPr>
      </p:pic>
      <p:sp>
        <p:nvSpPr>
          <p:cNvPr id="14" name="Text 9"/>
          <p:cNvSpPr txBox="1"/>
          <p:nvPr/>
        </p:nvSpPr>
        <p:spPr>
          <a:xfrm>
            <a:off x="4526280" y="2670048"/>
            <a:ext cx="2880360" cy="457200"/>
          </a:xfrm>
          <a:prstGeom prst="rect">
            <a:avLst/>
          </a:prstGeom>
          <a:noFill/>
          <a:ln/>
        </p:spPr>
        <p:txBody>
          <a:bodyPr wrap="square" lIns="0" tIns="0" rIns="0" bIns="0" rtlCol="0" anchor="ctr"/>
          <a:lstStyle/>
          <a:p>
            <a:pPr marL="0" indent="0">
              <a:buNone/>
            </a:pPr>
            <a:r>
              <a:rPr lang="en-US" sz="1800" b="1" dirty="0">
                <a:solidFill>
                  <a:srgbClr val="1F3D2C"/>
                </a:solidFill>
                <a:latin typeface="Cambria" pitchFamily="34" charset="0"/>
                <a:ea typeface="Cambria" pitchFamily="34" charset="-122"/>
                <a:cs typeface="Cambria" pitchFamily="34" charset="-120"/>
              </a:rPr>
              <a:t>Convert</a:t>
            </a:r>
            <a:endParaRPr lang="en-US" sz="1800" dirty="0"/>
          </a:p>
        </p:txBody>
      </p:sp>
      <p:sp>
        <p:nvSpPr>
          <p:cNvPr id="15" name="Text 10"/>
          <p:cNvSpPr txBox="1"/>
          <p:nvPr/>
        </p:nvSpPr>
        <p:spPr>
          <a:xfrm>
            <a:off x="4526280" y="3182112"/>
            <a:ext cx="2880360" cy="160020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Produces the equivalent GitHub Actions workflow from that analysis.</a:t>
            </a:r>
            <a:endParaRPr lang="en-US" sz="1400" dirty="0"/>
          </a:p>
        </p:txBody>
      </p:sp>
      <p:sp>
        <p:nvSpPr>
          <p:cNvPr id="16" name="Shape 11"/>
          <p:cNvSpPr/>
          <p:nvPr/>
        </p:nvSpPr>
        <p:spPr>
          <a:xfrm>
            <a:off x="7955280" y="1691640"/>
            <a:ext cx="3429000" cy="3200400"/>
          </a:xfrm>
          <a:prstGeom prst="roundRect">
            <a:avLst>
              <a:gd name="adj" fmla="val 3429"/>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2"/>
          <p:cNvSpPr/>
          <p:nvPr/>
        </p:nvSpPr>
        <p:spPr>
          <a:xfrm>
            <a:off x="8229600" y="1920240"/>
            <a:ext cx="603504" cy="603504"/>
          </a:xfrm>
          <a:prstGeom prst="ellipse">
            <a:avLst/>
          </a:prstGeom>
          <a:solidFill>
            <a:srgbClr val="C1440E"/>
          </a:solidFill>
          <a:ln/>
        </p:spPr>
        <p:txBody>
          <a:bodyPr/>
          <a:lstStyle/>
          <a:p>
            <a:endParaRPr lang="en-US"/>
          </a:p>
        </p:txBody>
      </p:sp>
      <p:pic>
        <p:nvPicPr>
          <p:cNvPr id="18" name="Image 3" descr="/home/claude/pptx-build/assets/icons/FaCheckCircle-FFFFFF-200.png"/>
          <p:cNvPicPr>
            <a:picLocks noChangeAspect="1"/>
          </p:cNvPicPr>
          <p:nvPr/>
        </p:nvPicPr>
        <p:blipFill>
          <a:blip r:embed="rId6"/>
          <a:stretch>
            <a:fillRect/>
          </a:stretch>
        </p:blipFill>
        <p:spPr>
          <a:xfrm>
            <a:off x="8375904" y="2066544"/>
            <a:ext cx="310896" cy="310896"/>
          </a:xfrm>
          <a:prstGeom prst="rect">
            <a:avLst/>
          </a:prstGeom>
        </p:spPr>
      </p:pic>
      <p:sp>
        <p:nvSpPr>
          <p:cNvPr id="19" name="Text 13"/>
          <p:cNvSpPr txBox="1"/>
          <p:nvPr/>
        </p:nvSpPr>
        <p:spPr>
          <a:xfrm>
            <a:off x="8229600" y="2670048"/>
            <a:ext cx="2880360" cy="457200"/>
          </a:xfrm>
          <a:prstGeom prst="rect">
            <a:avLst/>
          </a:prstGeom>
          <a:noFill/>
          <a:ln/>
        </p:spPr>
        <p:txBody>
          <a:bodyPr wrap="square" lIns="0" tIns="0" rIns="0" bIns="0" rtlCol="0" anchor="ctr"/>
          <a:lstStyle/>
          <a:p>
            <a:pPr marL="0" indent="0">
              <a:buNone/>
            </a:pPr>
            <a:r>
              <a:rPr lang="en-US" sz="1800" b="1" dirty="0">
                <a:solidFill>
                  <a:srgbClr val="1F3D2C"/>
                </a:solidFill>
                <a:latin typeface="Cambria" pitchFamily="34" charset="0"/>
                <a:ea typeface="Cambria" pitchFamily="34" charset="-122"/>
                <a:cs typeface="Cambria" pitchFamily="34" charset="-120"/>
              </a:rPr>
              <a:t>Validate</a:t>
            </a:r>
            <a:endParaRPr lang="en-US" sz="1800" dirty="0"/>
          </a:p>
        </p:txBody>
      </p:sp>
      <p:sp>
        <p:nvSpPr>
          <p:cNvPr id="20" name="Text 14"/>
          <p:cNvSpPr txBox="1"/>
          <p:nvPr/>
        </p:nvSpPr>
        <p:spPr>
          <a:xfrm>
            <a:off x="8229600" y="3182112"/>
            <a:ext cx="2880360" cy="160020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A separate pass checks the conversion — not the same model marking its own homework.</a:t>
            </a:r>
            <a:endParaRPr lang="en-US" sz="1400" dirty="0"/>
          </a:p>
        </p:txBody>
      </p:sp>
      <p:sp>
        <p:nvSpPr>
          <p:cNvPr id="21" name="Shape 15"/>
          <p:cNvSpPr/>
          <p:nvPr/>
        </p:nvSpPr>
        <p:spPr>
          <a:xfrm>
            <a:off x="548640" y="5120640"/>
            <a:ext cx="11064240" cy="1417320"/>
          </a:xfrm>
          <a:prstGeom prst="roundRect">
            <a:avLst>
              <a:gd name="adj" fmla="val 7742"/>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2" name="Text 16"/>
          <p:cNvSpPr txBox="1"/>
          <p:nvPr/>
        </p:nvSpPr>
        <p:spPr>
          <a:xfrm>
            <a:off x="822960" y="5257800"/>
            <a:ext cx="8595360" cy="1143000"/>
          </a:xfrm>
          <a:prstGeom prst="rect">
            <a:avLst/>
          </a:prstGeom>
          <a:noFill/>
          <a:ln/>
        </p:spPr>
        <p:txBody>
          <a:bodyPr wrap="square" lIns="0" tIns="0" rIns="0" bIns="0" rtlCol="0" anchor="ctr"/>
          <a:lstStyle/>
          <a:p>
            <a:pPr marL="0" indent="0">
              <a:lnSpc>
                <a:spcPct val="110000"/>
              </a:lnSpc>
              <a:buNone/>
            </a:pPr>
            <a:r>
              <a:rPr lang="en-US" sz="1400" b="1" dirty="0">
                <a:solidFill>
                  <a:srgbClr val="F5F5F0"/>
                </a:solidFill>
                <a:latin typeface="Calibri" pitchFamily="34" charset="0"/>
                <a:ea typeface="Calibri" pitchFamily="34" charset="-122"/>
                <a:cs typeface="Calibri" pitchFamily="34" charset="-120"/>
              </a:rPr>
              <a:t>Why three separate prompts, not one: </a:t>
            </a:r>
            <a:r>
              <a:rPr lang="en-US" sz="1400" dirty="0">
                <a:solidFill>
                  <a:srgbClr val="F5F5F0"/>
                </a:solidFill>
                <a:latin typeface="Calibri" pitchFamily="34" charset="0"/>
                <a:ea typeface="Calibri" pitchFamily="34" charset="-122"/>
                <a:cs typeface="Calibri" pitchFamily="34" charset="-120"/>
              </a:rPr>
              <a:t>the model that converts a pipeline shouldn’t be the only check on its own conversion. This is where section 1’s “AI is the real reason” thesis gets a demonstrable payoff.</a:t>
            </a:r>
            <a:endParaRPr lang="en-US" sz="1400" dirty="0"/>
          </a:p>
        </p:txBody>
      </p:sp>
      <p:sp>
        <p:nvSpPr>
          <p:cNvPr id="23" name="Shape 17"/>
          <p:cNvSpPr/>
          <p:nvPr/>
        </p:nvSpPr>
        <p:spPr>
          <a:xfrm>
            <a:off x="10122408" y="5184648"/>
            <a:ext cx="923544" cy="923544"/>
          </a:xfrm>
          <a:prstGeom prst="roundRect">
            <a:avLst>
              <a:gd name="adj" fmla="val 5941"/>
            </a:avLst>
          </a:prstGeom>
          <a:solidFill>
            <a:srgbClr val="FFFFFF"/>
          </a:solidFill>
          <a:ln w="15875">
            <a:solidFill>
              <a:srgbClr val="1F3D2C"/>
            </a:solidFill>
            <a:prstDash val="solid"/>
          </a:ln>
        </p:spPr>
        <p:txBody>
          <a:bodyPr/>
          <a:lstStyle/>
          <a:p>
            <a:endParaRPr lang="en-US"/>
          </a:p>
        </p:txBody>
      </p:sp>
      <p:pic>
        <p:nvPicPr>
          <p:cNvPr id="24" name="Image 4" descr="/home/claude/pptx-build/assets/qr-sec3-ai-prompts.png"/>
          <p:cNvPicPr>
            <a:picLocks noChangeAspect="1"/>
          </p:cNvPicPr>
          <p:nvPr/>
        </p:nvPicPr>
        <p:blipFill>
          <a:blip r:embed="rId7"/>
          <a:stretch>
            <a:fillRect/>
          </a:stretch>
        </p:blipFill>
        <p:spPr>
          <a:xfrm>
            <a:off x="10195560" y="5257800"/>
            <a:ext cx="777240" cy="777240"/>
          </a:xfrm>
          <a:prstGeom prst="rect">
            <a:avLst/>
          </a:prstGeom>
        </p:spPr>
      </p:pic>
      <p:sp>
        <p:nvSpPr>
          <p:cNvPr id="25" name="Text 18"/>
          <p:cNvSpPr txBox="1"/>
          <p:nvPr/>
        </p:nvSpPr>
        <p:spPr>
          <a:xfrm>
            <a:off x="548640" y="6537960"/>
            <a:ext cx="11064240" cy="274320"/>
          </a:xfrm>
          <a:prstGeom prst="rect">
            <a:avLst/>
          </a:prstGeom>
          <a:noFill/>
          <a:ln/>
        </p:spPr>
        <p:txBody>
          <a:bodyPr wrap="square" lIns="0" tIns="0" rIns="0" bIns="0" rtlCol="0" anchor="ctr"/>
          <a:lstStyle/>
          <a:p>
            <a:pPr marL="0" indent="0">
              <a:buNone/>
            </a:pPr>
            <a:r>
              <a:rPr lang="en-US" sz="1100" i="1" dirty="0">
                <a:solidFill>
                  <a:srgbClr val="6B6B63"/>
                </a:solidFill>
                <a:latin typeface="Calibri" pitchFamily="34" charset="0"/>
                <a:ea typeface="Calibri" pitchFamily="34" charset="-122"/>
                <a:cs typeface="Calibri" pitchFamily="34" charset="-120"/>
              </a:rPr>
              <a:t>Status: drafted and reviewed, not yet run against a production pipeline.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MapMarkedAlt-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The Crossing, Mapped</a:t>
            </a:r>
            <a:endParaRPr lang="en-US" sz="3200" dirty="0"/>
          </a:p>
        </p:txBody>
      </p:sp>
      <p:sp>
        <p:nvSpPr>
          <p:cNvPr id="6" name="Shape 3"/>
          <p:cNvSpPr/>
          <p:nvPr/>
        </p:nvSpPr>
        <p:spPr>
          <a:xfrm>
            <a:off x="914400" y="2221992"/>
            <a:ext cx="10058400" cy="0"/>
          </a:xfrm>
          <a:prstGeom prst="line">
            <a:avLst/>
          </a:prstGeom>
          <a:noFill/>
          <a:ln w="19050">
            <a:solidFill>
              <a:srgbClr val="DDD8CC"/>
            </a:solidFill>
            <a:prstDash val="solid"/>
          </a:ln>
        </p:spPr>
        <p:txBody>
          <a:bodyPr/>
          <a:lstStyle/>
          <a:p>
            <a:endParaRPr lang="en-US"/>
          </a:p>
        </p:txBody>
      </p:sp>
      <p:sp>
        <p:nvSpPr>
          <p:cNvPr id="7" name="Shape 4"/>
          <p:cNvSpPr/>
          <p:nvPr/>
        </p:nvSpPr>
        <p:spPr>
          <a:xfrm>
            <a:off x="1700784" y="2084832"/>
            <a:ext cx="274320" cy="274320"/>
          </a:xfrm>
          <a:prstGeom prst="ellipse">
            <a:avLst/>
          </a:prstGeom>
          <a:solidFill>
            <a:srgbClr val="C1440E"/>
          </a:solidFill>
          <a:ln/>
        </p:spPr>
        <p:txBody>
          <a:bodyPr/>
          <a:lstStyle/>
          <a:p>
            <a:endParaRPr lang="en-US"/>
          </a:p>
        </p:txBody>
      </p:sp>
      <p:sp>
        <p:nvSpPr>
          <p:cNvPr id="8" name="Text 5"/>
          <p:cNvSpPr txBox="1"/>
          <p:nvPr/>
        </p:nvSpPr>
        <p:spPr>
          <a:xfrm>
            <a:off x="457200" y="1280160"/>
            <a:ext cx="2743200" cy="292608"/>
          </a:xfrm>
          <a:prstGeom prst="rect">
            <a:avLst/>
          </a:prstGeom>
          <a:noFill/>
          <a:ln/>
        </p:spPr>
        <p:txBody>
          <a:bodyPr wrap="square" lIns="0" tIns="0" rIns="0" bIns="0" rtlCol="0" anchor="ctr"/>
          <a:lstStyle/>
          <a:p>
            <a:pPr marL="0" indent="0" algn="ctr">
              <a:buNone/>
            </a:pPr>
            <a:r>
              <a:rPr lang="en-US" sz="1200" b="1" kern="0" spc="200" dirty="0">
                <a:solidFill>
                  <a:srgbClr val="C1440E"/>
                </a:solidFill>
                <a:latin typeface="Calibri" pitchFamily="34" charset="0"/>
                <a:ea typeface="Calibri" pitchFamily="34" charset="-122"/>
                <a:cs typeface="Calibri" pitchFamily="34" charset="-120"/>
              </a:rPr>
              <a:t>STEP 1</a:t>
            </a:r>
            <a:endParaRPr lang="en-US" sz="1200" dirty="0"/>
          </a:p>
        </p:txBody>
      </p:sp>
      <p:sp>
        <p:nvSpPr>
          <p:cNvPr id="9" name="Text 6"/>
          <p:cNvSpPr txBox="1"/>
          <p:nvPr/>
        </p:nvSpPr>
        <p:spPr>
          <a:xfrm>
            <a:off x="457200" y="1554480"/>
            <a:ext cx="2743200" cy="411480"/>
          </a:xfrm>
          <a:prstGeom prst="rect">
            <a:avLst/>
          </a:prstGeom>
          <a:noFill/>
          <a:ln/>
        </p:spPr>
        <p:txBody>
          <a:bodyPr wrap="square" lIns="0" tIns="0" rIns="0" bIns="0" rtlCol="0" anchor="ctr"/>
          <a:lstStyle/>
          <a:p>
            <a:pPr marL="0" indent="0" algn="ctr">
              <a:buNone/>
            </a:pPr>
            <a:r>
              <a:rPr lang="en-US" sz="1700" b="1" dirty="0">
                <a:solidFill>
                  <a:srgbClr val="1F3D2C"/>
                </a:solidFill>
                <a:latin typeface="Cambria" pitchFamily="34" charset="0"/>
                <a:ea typeface="Cambria" pitchFamily="34" charset="-122"/>
                <a:cs typeface="Cambria" pitchFamily="34" charset="-120"/>
              </a:rPr>
              <a:t>Repo Migration</a:t>
            </a:r>
            <a:endParaRPr lang="en-US" sz="1700" dirty="0"/>
          </a:p>
        </p:txBody>
      </p:sp>
      <p:sp>
        <p:nvSpPr>
          <p:cNvPr id="10" name="Text 7"/>
          <p:cNvSpPr txBox="1"/>
          <p:nvPr/>
        </p:nvSpPr>
        <p:spPr>
          <a:xfrm>
            <a:off x="457200" y="2468880"/>
            <a:ext cx="2743200" cy="292608"/>
          </a:xfrm>
          <a:prstGeom prst="rect">
            <a:avLst/>
          </a:prstGeom>
          <a:noFill/>
          <a:ln/>
        </p:spPr>
        <p:txBody>
          <a:bodyPr wrap="square" lIns="0" tIns="0" rIns="0" bIns="0" rtlCol="0" anchor="ctr"/>
          <a:lstStyle/>
          <a:p>
            <a:pPr marL="0" indent="0" algn="ctr">
              <a:buNone/>
            </a:pPr>
            <a:r>
              <a:rPr lang="en-US" sz="1200" i="1" dirty="0">
                <a:solidFill>
                  <a:srgbClr val="6B6B63"/>
                </a:solidFill>
                <a:latin typeface="Calibri" pitchFamily="34" charset="0"/>
                <a:ea typeface="Calibri" pitchFamily="34" charset="-122"/>
                <a:cs typeface="Calibri" pitchFamily="34" charset="-120"/>
              </a:rPr>
              <a:t>(gh-ado2gh)</a:t>
            </a:r>
            <a:endParaRPr lang="en-US" sz="1200" dirty="0"/>
          </a:p>
        </p:txBody>
      </p:sp>
      <p:sp>
        <p:nvSpPr>
          <p:cNvPr id="11" name="Text 8"/>
          <p:cNvSpPr txBox="1"/>
          <p:nvPr/>
        </p:nvSpPr>
        <p:spPr>
          <a:xfrm>
            <a:off x="548640" y="2807208"/>
            <a:ext cx="2560320" cy="1371600"/>
          </a:xfrm>
          <a:prstGeom prst="rect">
            <a:avLst/>
          </a:prstGeom>
          <a:noFill/>
          <a:ln/>
        </p:spPr>
        <p:txBody>
          <a:bodyPr wrap="square" lIns="0" tIns="0" rIns="0" bIns="0" rtlCol="0" anchor="ctr"/>
          <a:lstStyle/>
          <a:p>
            <a:pPr marL="0" indent="0" algn="ctr">
              <a:lnSpc>
                <a:spcPct val="110000"/>
              </a:lnSpc>
              <a:buNone/>
            </a:pPr>
            <a:r>
              <a:rPr lang="en-US" sz="1300" dirty="0">
                <a:solidFill>
                  <a:srgbClr val="2B2B2B"/>
                </a:solidFill>
                <a:latin typeface="Calibri" pitchFamily="34" charset="0"/>
                <a:ea typeface="Calibri" pitchFamily="34" charset="-122"/>
                <a:cs typeface="Calibri" pitchFamily="34" charset="-120"/>
              </a:rPr>
              <a:t>History, PRs, and branch policies move into the new org.</a:t>
            </a:r>
            <a:endParaRPr lang="en-US" sz="1300" dirty="0"/>
          </a:p>
        </p:txBody>
      </p:sp>
      <p:sp>
        <p:nvSpPr>
          <p:cNvPr id="12" name="Shape 9"/>
          <p:cNvSpPr/>
          <p:nvPr/>
        </p:nvSpPr>
        <p:spPr>
          <a:xfrm>
            <a:off x="4462272" y="2084832"/>
            <a:ext cx="274320" cy="274320"/>
          </a:xfrm>
          <a:prstGeom prst="ellipse">
            <a:avLst/>
          </a:prstGeom>
          <a:solidFill>
            <a:srgbClr val="C1440E"/>
          </a:solidFill>
          <a:ln/>
        </p:spPr>
        <p:txBody>
          <a:bodyPr/>
          <a:lstStyle/>
          <a:p>
            <a:endParaRPr lang="en-US"/>
          </a:p>
        </p:txBody>
      </p:sp>
      <p:sp>
        <p:nvSpPr>
          <p:cNvPr id="13" name="Text 10"/>
          <p:cNvSpPr txBox="1"/>
          <p:nvPr/>
        </p:nvSpPr>
        <p:spPr>
          <a:xfrm>
            <a:off x="3218688" y="1280160"/>
            <a:ext cx="2743200" cy="292608"/>
          </a:xfrm>
          <a:prstGeom prst="rect">
            <a:avLst/>
          </a:prstGeom>
          <a:noFill/>
          <a:ln/>
        </p:spPr>
        <p:txBody>
          <a:bodyPr wrap="square" lIns="0" tIns="0" rIns="0" bIns="0" rtlCol="0" anchor="ctr"/>
          <a:lstStyle/>
          <a:p>
            <a:pPr marL="0" indent="0" algn="ctr">
              <a:buNone/>
            </a:pPr>
            <a:r>
              <a:rPr lang="en-US" sz="1200" b="1" kern="0" spc="200" dirty="0">
                <a:solidFill>
                  <a:srgbClr val="C1440E"/>
                </a:solidFill>
                <a:latin typeface="Calibri" pitchFamily="34" charset="0"/>
                <a:ea typeface="Calibri" pitchFamily="34" charset="-122"/>
                <a:cs typeface="Calibri" pitchFamily="34" charset="-120"/>
              </a:rPr>
              <a:t>STEP 2</a:t>
            </a:r>
            <a:endParaRPr lang="en-US" sz="1200" dirty="0"/>
          </a:p>
        </p:txBody>
      </p:sp>
      <p:sp>
        <p:nvSpPr>
          <p:cNvPr id="14" name="Text 11"/>
          <p:cNvSpPr txBox="1"/>
          <p:nvPr/>
        </p:nvSpPr>
        <p:spPr>
          <a:xfrm>
            <a:off x="3218688" y="1554480"/>
            <a:ext cx="2743200" cy="411480"/>
          </a:xfrm>
          <a:prstGeom prst="rect">
            <a:avLst/>
          </a:prstGeom>
          <a:noFill/>
          <a:ln/>
        </p:spPr>
        <p:txBody>
          <a:bodyPr wrap="square" lIns="0" tIns="0" rIns="0" bIns="0" rtlCol="0" anchor="ctr"/>
          <a:lstStyle/>
          <a:p>
            <a:pPr marL="0" indent="0" algn="ctr">
              <a:buNone/>
            </a:pPr>
            <a:r>
              <a:rPr lang="en-US" sz="1700" b="1" dirty="0">
                <a:solidFill>
                  <a:srgbClr val="1F3D2C"/>
                </a:solidFill>
                <a:latin typeface="Cambria" pitchFamily="34" charset="0"/>
                <a:ea typeface="Cambria" pitchFamily="34" charset="-122"/>
                <a:cs typeface="Cambria" pitchFamily="34" charset="-120"/>
              </a:rPr>
              <a:t>Pipeline Audit</a:t>
            </a:r>
            <a:endParaRPr lang="en-US" sz="1700" dirty="0"/>
          </a:p>
        </p:txBody>
      </p:sp>
      <p:sp>
        <p:nvSpPr>
          <p:cNvPr id="15" name="Text 12"/>
          <p:cNvSpPr txBox="1"/>
          <p:nvPr/>
        </p:nvSpPr>
        <p:spPr>
          <a:xfrm>
            <a:off x="3218688" y="2468880"/>
            <a:ext cx="2743200" cy="292608"/>
          </a:xfrm>
          <a:prstGeom prst="rect">
            <a:avLst/>
          </a:prstGeom>
          <a:noFill/>
          <a:ln/>
        </p:spPr>
        <p:txBody>
          <a:bodyPr wrap="square" lIns="0" tIns="0" rIns="0" bIns="0" rtlCol="0" anchor="ctr"/>
          <a:lstStyle/>
          <a:p>
            <a:pPr marL="0" indent="0" algn="ctr">
              <a:buNone/>
            </a:pPr>
            <a:r>
              <a:rPr lang="en-US" sz="1200" i="1" dirty="0">
                <a:solidFill>
                  <a:srgbClr val="6B6B63"/>
                </a:solidFill>
                <a:latin typeface="Calibri" pitchFamily="34" charset="0"/>
                <a:ea typeface="Calibri" pitchFamily="34" charset="-122"/>
                <a:cs typeface="Calibri" pitchFamily="34" charset="-120"/>
              </a:rPr>
              <a:t>(gh-actions-importer)</a:t>
            </a:r>
            <a:endParaRPr lang="en-US" sz="1200" dirty="0"/>
          </a:p>
        </p:txBody>
      </p:sp>
      <p:sp>
        <p:nvSpPr>
          <p:cNvPr id="16" name="Text 13"/>
          <p:cNvSpPr txBox="1"/>
          <p:nvPr/>
        </p:nvSpPr>
        <p:spPr>
          <a:xfrm>
            <a:off x="3310128" y="2807208"/>
            <a:ext cx="2560320" cy="1371600"/>
          </a:xfrm>
          <a:prstGeom prst="rect">
            <a:avLst/>
          </a:prstGeom>
          <a:noFill/>
          <a:ln/>
        </p:spPr>
        <p:txBody>
          <a:bodyPr wrap="square" lIns="0" tIns="0" rIns="0" bIns="0" rtlCol="0" anchor="ctr"/>
          <a:lstStyle/>
          <a:p>
            <a:pPr marL="0" indent="0" algn="ctr">
              <a:lnSpc>
                <a:spcPct val="110000"/>
              </a:lnSpc>
              <a:buNone/>
            </a:pPr>
            <a:r>
              <a:rPr lang="en-US" sz="1300" dirty="0">
                <a:solidFill>
                  <a:srgbClr val="2B2B2B"/>
                </a:solidFill>
                <a:latin typeface="Calibri" pitchFamily="34" charset="0"/>
                <a:ea typeface="Calibri" pitchFamily="34" charset="-122"/>
                <a:cs typeface="Calibri" pitchFamily="34" charset="-120"/>
              </a:rPr>
              <a:t>Every pipeline gets classified: automatable, partial, or manual.</a:t>
            </a:r>
            <a:endParaRPr lang="en-US" sz="1300" dirty="0"/>
          </a:p>
        </p:txBody>
      </p:sp>
      <p:sp>
        <p:nvSpPr>
          <p:cNvPr id="17" name="Shape 14"/>
          <p:cNvSpPr/>
          <p:nvPr/>
        </p:nvSpPr>
        <p:spPr>
          <a:xfrm>
            <a:off x="7223760" y="2084832"/>
            <a:ext cx="274320" cy="274320"/>
          </a:xfrm>
          <a:prstGeom prst="ellipse">
            <a:avLst/>
          </a:prstGeom>
          <a:solidFill>
            <a:srgbClr val="C1440E"/>
          </a:solidFill>
          <a:ln/>
        </p:spPr>
        <p:txBody>
          <a:bodyPr/>
          <a:lstStyle/>
          <a:p>
            <a:endParaRPr lang="en-US"/>
          </a:p>
        </p:txBody>
      </p:sp>
      <p:sp>
        <p:nvSpPr>
          <p:cNvPr id="18" name="Text 15"/>
          <p:cNvSpPr txBox="1"/>
          <p:nvPr/>
        </p:nvSpPr>
        <p:spPr>
          <a:xfrm>
            <a:off x="5980176" y="1280160"/>
            <a:ext cx="2743200" cy="292608"/>
          </a:xfrm>
          <a:prstGeom prst="rect">
            <a:avLst/>
          </a:prstGeom>
          <a:noFill/>
          <a:ln/>
        </p:spPr>
        <p:txBody>
          <a:bodyPr wrap="square" lIns="0" tIns="0" rIns="0" bIns="0" rtlCol="0" anchor="ctr"/>
          <a:lstStyle/>
          <a:p>
            <a:pPr marL="0" indent="0" algn="ctr">
              <a:buNone/>
            </a:pPr>
            <a:r>
              <a:rPr lang="en-US" sz="1200" b="1" kern="0" spc="200" dirty="0">
                <a:solidFill>
                  <a:srgbClr val="C1440E"/>
                </a:solidFill>
                <a:latin typeface="Calibri" pitchFamily="34" charset="0"/>
                <a:ea typeface="Calibri" pitchFamily="34" charset="-122"/>
                <a:cs typeface="Calibri" pitchFamily="34" charset="-120"/>
              </a:rPr>
              <a:t>STEP 3</a:t>
            </a:r>
            <a:endParaRPr lang="en-US" sz="1200" dirty="0"/>
          </a:p>
        </p:txBody>
      </p:sp>
      <p:sp>
        <p:nvSpPr>
          <p:cNvPr id="19" name="Text 16"/>
          <p:cNvSpPr txBox="1"/>
          <p:nvPr/>
        </p:nvSpPr>
        <p:spPr>
          <a:xfrm>
            <a:off x="5980176" y="1554480"/>
            <a:ext cx="2743200" cy="411480"/>
          </a:xfrm>
          <a:prstGeom prst="rect">
            <a:avLst/>
          </a:prstGeom>
          <a:noFill/>
          <a:ln/>
        </p:spPr>
        <p:txBody>
          <a:bodyPr wrap="square" lIns="0" tIns="0" rIns="0" bIns="0" rtlCol="0" anchor="ctr"/>
          <a:lstStyle/>
          <a:p>
            <a:pPr marL="0" indent="0" algn="ctr">
              <a:buNone/>
            </a:pPr>
            <a:r>
              <a:rPr lang="en-US" sz="1700" b="1" dirty="0">
                <a:solidFill>
                  <a:srgbClr val="1F3D2C"/>
                </a:solidFill>
                <a:latin typeface="Cambria" pitchFamily="34" charset="0"/>
                <a:ea typeface="Cambria" pitchFamily="34" charset="-122"/>
                <a:cs typeface="Cambria" pitchFamily="34" charset="-120"/>
              </a:rPr>
              <a:t>YAML Rewrite</a:t>
            </a:r>
            <a:endParaRPr lang="en-US" sz="1700" dirty="0"/>
          </a:p>
        </p:txBody>
      </p:sp>
      <p:sp>
        <p:nvSpPr>
          <p:cNvPr id="20" name="Text 17"/>
          <p:cNvSpPr txBox="1"/>
          <p:nvPr/>
        </p:nvSpPr>
        <p:spPr>
          <a:xfrm>
            <a:off x="5980176" y="2468880"/>
            <a:ext cx="2743200" cy="292608"/>
          </a:xfrm>
          <a:prstGeom prst="rect">
            <a:avLst/>
          </a:prstGeom>
          <a:noFill/>
          <a:ln/>
        </p:spPr>
        <p:txBody>
          <a:bodyPr wrap="square" lIns="0" tIns="0" rIns="0" bIns="0" rtlCol="0" anchor="ctr"/>
          <a:lstStyle/>
          <a:p>
            <a:pPr marL="0" indent="0" algn="ctr">
              <a:buNone/>
            </a:pPr>
            <a:endParaRPr lang="en-US" sz="1200" dirty="0"/>
          </a:p>
        </p:txBody>
      </p:sp>
      <p:sp>
        <p:nvSpPr>
          <p:cNvPr id="21" name="Text 18"/>
          <p:cNvSpPr txBox="1"/>
          <p:nvPr/>
        </p:nvSpPr>
        <p:spPr>
          <a:xfrm>
            <a:off x="6071616" y="2807208"/>
            <a:ext cx="2560320" cy="1371600"/>
          </a:xfrm>
          <a:prstGeom prst="rect">
            <a:avLst/>
          </a:prstGeom>
          <a:noFill/>
          <a:ln/>
        </p:spPr>
        <p:txBody>
          <a:bodyPr wrap="square" lIns="0" tIns="0" rIns="0" bIns="0" rtlCol="0" anchor="ctr"/>
          <a:lstStyle/>
          <a:p>
            <a:pPr marL="0" indent="0" algn="ctr">
              <a:lnSpc>
                <a:spcPct val="110000"/>
              </a:lnSpc>
              <a:buNone/>
            </a:pPr>
            <a:r>
              <a:rPr lang="en-US" sz="1300" dirty="0">
                <a:solidFill>
                  <a:srgbClr val="2B2B2B"/>
                </a:solidFill>
                <a:latin typeface="Calibri" pitchFamily="34" charset="0"/>
                <a:ea typeface="Calibri" pitchFamily="34" charset="-122"/>
                <a:cs typeface="Calibri" pitchFamily="34" charset="-120"/>
              </a:rPr>
              <a:t>Azure Pipelines concepts get rebuilt as workflows, using the mapping from Approach 1.</a:t>
            </a:r>
            <a:endParaRPr lang="en-US" sz="1300" dirty="0"/>
          </a:p>
        </p:txBody>
      </p:sp>
      <p:sp>
        <p:nvSpPr>
          <p:cNvPr id="22" name="Shape 19"/>
          <p:cNvSpPr/>
          <p:nvPr/>
        </p:nvSpPr>
        <p:spPr>
          <a:xfrm>
            <a:off x="9985248" y="2084832"/>
            <a:ext cx="274320" cy="274320"/>
          </a:xfrm>
          <a:prstGeom prst="ellipse">
            <a:avLst/>
          </a:prstGeom>
          <a:solidFill>
            <a:srgbClr val="C1440E"/>
          </a:solidFill>
          <a:ln/>
        </p:spPr>
        <p:txBody>
          <a:bodyPr/>
          <a:lstStyle/>
          <a:p>
            <a:endParaRPr lang="en-US"/>
          </a:p>
        </p:txBody>
      </p:sp>
      <p:sp>
        <p:nvSpPr>
          <p:cNvPr id="23" name="Text 20"/>
          <p:cNvSpPr txBox="1"/>
          <p:nvPr/>
        </p:nvSpPr>
        <p:spPr>
          <a:xfrm>
            <a:off x="8741664" y="1280160"/>
            <a:ext cx="2743200" cy="292608"/>
          </a:xfrm>
          <a:prstGeom prst="rect">
            <a:avLst/>
          </a:prstGeom>
          <a:noFill/>
          <a:ln/>
        </p:spPr>
        <p:txBody>
          <a:bodyPr wrap="square" lIns="0" tIns="0" rIns="0" bIns="0" rtlCol="0" anchor="ctr"/>
          <a:lstStyle/>
          <a:p>
            <a:pPr marL="0" indent="0" algn="ctr">
              <a:buNone/>
            </a:pPr>
            <a:r>
              <a:rPr lang="en-US" sz="1200" b="1" kern="0" spc="200" dirty="0">
                <a:solidFill>
                  <a:srgbClr val="C1440E"/>
                </a:solidFill>
                <a:latin typeface="Calibri" pitchFamily="34" charset="0"/>
                <a:ea typeface="Calibri" pitchFamily="34" charset="-122"/>
                <a:cs typeface="Calibri" pitchFamily="34" charset="-120"/>
              </a:rPr>
              <a:t>STEP 4</a:t>
            </a:r>
            <a:endParaRPr lang="en-US" sz="1200" dirty="0"/>
          </a:p>
        </p:txBody>
      </p:sp>
      <p:sp>
        <p:nvSpPr>
          <p:cNvPr id="24" name="Text 21"/>
          <p:cNvSpPr txBox="1"/>
          <p:nvPr/>
        </p:nvSpPr>
        <p:spPr>
          <a:xfrm>
            <a:off x="8741664" y="1554480"/>
            <a:ext cx="2743200" cy="411480"/>
          </a:xfrm>
          <a:prstGeom prst="rect">
            <a:avLst/>
          </a:prstGeom>
          <a:noFill/>
          <a:ln/>
        </p:spPr>
        <p:txBody>
          <a:bodyPr wrap="square" lIns="0" tIns="0" rIns="0" bIns="0" rtlCol="0" anchor="ctr"/>
          <a:lstStyle/>
          <a:p>
            <a:pPr marL="0" indent="0" algn="ctr">
              <a:buNone/>
            </a:pPr>
            <a:r>
              <a:rPr lang="en-US" sz="1700" b="1" dirty="0">
                <a:solidFill>
                  <a:srgbClr val="1F3D2C"/>
                </a:solidFill>
                <a:latin typeface="Cambria" pitchFamily="34" charset="0"/>
                <a:ea typeface="Cambria" pitchFamily="34" charset="-122"/>
                <a:cs typeface="Cambria" pitchFamily="34" charset="-120"/>
              </a:rPr>
              <a:t>First Green Build</a:t>
            </a:r>
            <a:endParaRPr lang="en-US" sz="1700" dirty="0"/>
          </a:p>
        </p:txBody>
      </p:sp>
      <p:sp>
        <p:nvSpPr>
          <p:cNvPr id="25" name="Text 22"/>
          <p:cNvSpPr txBox="1"/>
          <p:nvPr/>
        </p:nvSpPr>
        <p:spPr>
          <a:xfrm>
            <a:off x="8741664" y="2468880"/>
            <a:ext cx="2743200" cy="292608"/>
          </a:xfrm>
          <a:prstGeom prst="rect">
            <a:avLst/>
          </a:prstGeom>
          <a:noFill/>
          <a:ln/>
        </p:spPr>
        <p:txBody>
          <a:bodyPr wrap="square" lIns="0" tIns="0" rIns="0" bIns="0" rtlCol="0" anchor="ctr"/>
          <a:lstStyle/>
          <a:p>
            <a:pPr marL="0" indent="0" algn="ctr">
              <a:buNone/>
            </a:pPr>
            <a:endParaRPr lang="en-US" sz="1200" dirty="0"/>
          </a:p>
        </p:txBody>
      </p:sp>
      <p:sp>
        <p:nvSpPr>
          <p:cNvPr id="26" name="Text 23"/>
          <p:cNvSpPr txBox="1"/>
          <p:nvPr/>
        </p:nvSpPr>
        <p:spPr>
          <a:xfrm>
            <a:off x="8833104" y="2807208"/>
            <a:ext cx="2560320" cy="1371600"/>
          </a:xfrm>
          <a:prstGeom prst="rect">
            <a:avLst/>
          </a:prstGeom>
          <a:noFill/>
          <a:ln/>
        </p:spPr>
        <p:txBody>
          <a:bodyPr wrap="square" lIns="0" tIns="0" rIns="0" bIns="0" rtlCol="0" anchor="ctr"/>
          <a:lstStyle/>
          <a:p>
            <a:pPr marL="0" indent="0" algn="ctr">
              <a:lnSpc>
                <a:spcPct val="110000"/>
              </a:lnSpc>
              <a:buNone/>
            </a:pPr>
            <a:r>
              <a:rPr lang="en-US" sz="1300" dirty="0">
                <a:solidFill>
                  <a:srgbClr val="2B2B2B"/>
                </a:solidFill>
                <a:latin typeface="Calibri" pitchFamily="34" charset="0"/>
                <a:ea typeface="Calibri" pitchFamily="34" charset="-122"/>
                <a:cs typeface="Calibri" pitchFamily="34" charset="-120"/>
              </a:rPr>
              <a:t>The real finish line — not “migrated,” but “passing.”</a:t>
            </a:r>
            <a:endParaRPr lang="en-US" sz="1300" dirty="0"/>
          </a:p>
        </p:txBody>
      </p:sp>
      <p:sp>
        <p:nvSpPr>
          <p:cNvPr id="27" name="Text 24"/>
          <p:cNvSpPr txBox="1"/>
          <p:nvPr/>
        </p:nvSpPr>
        <p:spPr>
          <a:xfrm>
            <a:off x="548640" y="4663440"/>
            <a:ext cx="11064240" cy="640080"/>
          </a:xfrm>
          <a:prstGeom prst="rect">
            <a:avLst/>
          </a:prstGeom>
          <a:noFill/>
          <a:ln/>
        </p:spPr>
        <p:txBody>
          <a:bodyPr wrap="square" lIns="0" tIns="0" rIns="0" bIns="0" rtlCol="0" anchor="ctr"/>
          <a:lstStyle/>
          <a:p>
            <a:pPr marL="0" indent="0" algn="ctr">
              <a:buNone/>
            </a:pPr>
            <a:r>
              <a:rPr lang="en-US" sz="2000" b="1" i="1" dirty="0">
                <a:solidFill>
                  <a:srgbClr val="1F3D2C"/>
                </a:solidFill>
                <a:latin typeface="Cambria" pitchFamily="34" charset="0"/>
                <a:ea typeface="Cambria" pitchFamily="34" charset="-122"/>
                <a:cs typeface="Cambria" pitchFamily="34" charset="-120"/>
              </a:rPr>
              <a:t>Four steps, same order, every time — the specifics change with every pipeline, the sequence doesn’t.</a:t>
            </a:r>
            <a:endParaRPr lang="en-US" sz="2000" dirty="0"/>
          </a:p>
        </p:txBody>
      </p:sp>
      <p:sp>
        <p:nvSpPr>
          <p:cNvPr id="28" name="Shape 25"/>
          <p:cNvSpPr/>
          <p:nvPr/>
        </p:nvSpPr>
        <p:spPr>
          <a:xfrm>
            <a:off x="548640" y="5532120"/>
            <a:ext cx="11064240" cy="914400"/>
          </a:xfrm>
          <a:prstGeom prst="roundRect">
            <a:avLst>
              <a:gd name="adj" fmla="val 12000"/>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9" name="Text 26"/>
          <p:cNvSpPr txBox="1"/>
          <p:nvPr/>
        </p:nvSpPr>
        <p:spPr>
          <a:xfrm>
            <a:off x="822960" y="5669280"/>
            <a:ext cx="10515600" cy="640080"/>
          </a:xfrm>
          <a:prstGeom prst="rect">
            <a:avLst/>
          </a:prstGeom>
          <a:noFill/>
          <a:ln/>
        </p:spPr>
        <p:txBody>
          <a:bodyPr wrap="square" lIns="0" tIns="0" rIns="0" bIns="0" rtlCol="0" anchor="ctr"/>
          <a:lstStyle/>
          <a:p>
            <a:pPr marL="0" indent="0">
              <a:buNone/>
            </a:pPr>
            <a:r>
              <a:rPr lang="en-US" sz="1400" i="1" dirty="0">
                <a:solidFill>
                  <a:srgbClr val="F5F5F0"/>
                </a:solidFill>
                <a:latin typeface="Calibri" pitchFamily="34" charset="0"/>
                <a:ea typeface="Calibri" pitchFamily="34" charset="-122"/>
                <a:cs typeface="Calibri" pitchFamily="34" charset="-120"/>
              </a:rPr>
              <a:t>This is the sequence any team follows, regardless of which repo runs through it first. </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Lightbulb-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CROSSING THE RIVER</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Key Takeaways From the Crossing</a:t>
            </a:r>
            <a:endParaRPr lang="en-US" sz="3200" dirty="0"/>
          </a:p>
        </p:txBody>
      </p:sp>
      <p:sp>
        <p:nvSpPr>
          <p:cNvPr id="6" name="Shape 3"/>
          <p:cNvSpPr/>
          <p:nvPr/>
        </p:nvSpPr>
        <p:spPr>
          <a:xfrm>
            <a:off x="548640" y="1691640"/>
            <a:ext cx="11064240" cy="1005840"/>
          </a:xfrm>
          <a:prstGeom prst="roundRect">
            <a:avLst>
              <a:gd name="adj" fmla="val 10909"/>
            </a:avLst>
          </a:prstGeom>
          <a:solidFill>
            <a:srgbClr val="8C6A3F"/>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828800"/>
            <a:ext cx="10515600" cy="731520"/>
          </a:xfrm>
          <a:prstGeom prst="rect">
            <a:avLst/>
          </a:prstGeom>
          <a:noFill/>
          <a:ln/>
        </p:spPr>
        <p:txBody>
          <a:bodyPr wrap="square" lIns="0" tIns="0" rIns="0" bIns="0" rtlCol="0" anchor="ctr"/>
          <a:lstStyle/>
          <a:p>
            <a:pPr marL="0" indent="0">
              <a:buNone/>
            </a:pPr>
            <a:r>
              <a:rPr lang="en-US" sz="1500" b="1" dirty="0">
                <a:solidFill>
                  <a:srgbClr val="F5F5F0"/>
                </a:solidFill>
                <a:latin typeface="Calibri" pitchFamily="34" charset="0"/>
                <a:ea typeface="Calibri" pitchFamily="34" charset="-122"/>
                <a:cs typeface="Calibri" pitchFamily="34" charset="-120"/>
              </a:rPr>
              <a:t>[OPEN] To be filled in once the previous slide’s sequence is actually run against a real repo — this slide should capture what really broke or surprised, not a generic list.</a:t>
            </a:r>
            <a:endParaRPr lang="en-US" sz="1500" dirty="0"/>
          </a:p>
        </p:txBody>
      </p:sp>
      <p:sp>
        <p:nvSpPr>
          <p:cNvPr id="8" name="Shape 5"/>
          <p:cNvSpPr/>
          <p:nvPr/>
        </p:nvSpPr>
        <p:spPr>
          <a:xfrm>
            <a:off x="548640" y="2880360"/>
            <a:ext cx="11064240" cy="3063240"/>
          </a:xfrm>
          <a:prstGeom prst="roundRect">
            <a:avLst>
              <a:gd name="adj" fmla="val 3582"/>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3063240"/>
            <a:ext cx="10332720" cy="411480"/>
          </a:xfrm>
          <a:prstGeom prst="rect">
            <a:avLst/>
          </a:prstGeom>
          <a:noFill/>
          <a:ln/>
        </p:spPr>
        <p:txBody>
          <a:bodyPr wrap="square" lIns="0" tIns="0" rIns="0" bIns="0" rtlCol="0" anchor="ctr"/>
          <a:lstStyle/>
          <a:p>
            <a:pPr marL="0" indent="0">
              <a:buNone/>
            </a:pPr>
            <a:r>
              <a:rPr lang="en-US" sz="1700" b="1" dirty="0">
                <a:solidFill>
                  <a:srgbClr val="1F3D2C"/>
                </a:solidFill>
                <a:latin typeface="Cambria" pitchFamily="34" charset="0"/>
                <a:ea typeface="Cambria" pitchFamily="34" charset="-122"/>
                <a:cs typeface="Cambria" pitchFamily="34" charset="-120"/>
              </a:rPr>
              <a:t>Fill-in prompts for after the run:</a:t>
            </a:r>
            <a:endParaRPr lang="en-US" sz="1700" dirty="0"/>
          </a:p>
        </p:txBody>
      </p:sp>
      <p:sp>
        <p:nvSpPr>
          <p:cNvPr id="10" name="Text 7"/>
          <p:cNvSpPr txBox="1"/>
          <p:nvPr/>
        </p:nvSpPr>
        <p:spPr>
          <a:xfrm>
            <a:off x="822960" y="3566160"/>
            <a:ext cx="10332720" cy="228600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600" dirty="0">
                <a:solidFill>
                  <a:srgbClr val="2B2B2B"/>
                </a:solidFill>
                <a:latin typeface="Calibri" pitchFamily="34" charset="0"/>
                <a:ea typeface="Calibri" pitchFamily="34" charset="-122"/>
                <a:cs typeface="Calibri" pitchFamily="34" charset="-120"/>
              </a:rPr>
              <a:t>Which task type caused the most manual rework — and did gh-actions-importer’s audit call it correctly?</a:t>
            </a:r>
            <a:endParaRPr lang="en-US" sz="1600" dirty="0"/>
          </a:p>
          <a:p>
            <a:pPr marL="342900" indent="-342900">
              <a:lnSpc>
                <a:spcPct val="120000"/>
              </a:lnSpc>
              <a:spcAft>
                <a:spcPts val="1200"/>
              </a:spcAft>
              <a:buSzPct val="100000"/>
              <a:buChar char="•"/>
            </a:pPr>
            <a:r>
              <a:rPr lang="en-US" sz="1600" dirty="0">
                <a:solidFill>
                  <a:srgbClr val="2B2B2B"/>
                </a:solidFill>
                <a:latin typeface="Calibri" pitchFamily="34" charset="0"/>
                <a:ea typeface="Calibri" pitchFamily="34" charset="-122"/>
                <a:cs typeface="Calibri" pitchFamily="34" charset="-120"/>
              </a:rPr>
              <a:t>Did anything in the “clean” repo turn out not to be clean?</a:t>
            </a:r>
            <a:endParaRPr lang="en-US" sz="1600" dirty="0"/>
          </a:p>
          <a:p>
            <a:pPr marL="342900" indent="-342900">
              <a:lnSpc>
                <a:spcPct val="120000"/>
              </a:lnSpc>
              <a:spcAft>
                <a:spcPts val="1200"/>
              </a:spcAft>
              <a:buSzPct val="100000"/>
              <a:buChar char="•"/>
            </a:pPr>
            <a:r>
              <a:rPr lang="en-US" sz="1600" dirty="0">
                <a:solidFill>
                  <a:srgbClr val="2B2B2B"/>
                </a:solidFill>
                <a:latin typeface="Calibri" pitchFamily="34" charset="0"/>
                <a:ea typeface="Calibri" pitchFamily="34" charset="-122"/>
                <a:cs typeface="Calibri" pitchFamily="34" charset="-120"/>
              </a:rPr>
              <a:t>How long did the “ugly” repo actually take, versus the 1–2 day estimate from earlier in this section?</a:t>
            </a:r>
            <a:endParaRPr lang="en-US" sz="1600" dirty="0"/>
          </a:p>
          <a:p>
            <a:pPr marL="342900" indent="-342900">
              <a:lnSpc>
                <a:spcPct val="120000"/>
              </a:lnSpc>
              <a:buSzPct val="100000"/>
              <a:buChar char="•"/>
            </a:pPr>
            <a:r>
              <a:rPr lang="en-US" sz="1600" dirty="0">
                <a:solidFill>
                  <a:srgbClr val="2B2B2B"/>
                </a:solidFill>
                <a:latin typeface="Calibri" pitchFamily="34" charset="0"/>
                <a:ea typeface="Calibri" pitchFamily="34" charset="-122"/>
                <a:cs typeface="Calibri" pitchFamily="34" charset="-120"/>
              </a:rPr>
              <a:t>Did the AI-prompt approach (previous section) get tried on either repo — and how did it compare?</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1F3D2C"/>
        </a:solidFill>
        <a:effectLst/>
      </p:bgPr>
    </p:bg>
    <p:spTree>
      <p:nvGrpSpPr>
        <p:cNvPr id="1" name=""/>
        <p:cNvGrpSpPr/>
        <p:nvPr/>
      </p:nvGrpSpPr>
      <p:grpSpPr>
        <a:xfrm>
          <a:off x="0" y="0"/>
          <a:ext cx="0" cy="0"/>
          <a:chOff x="0" y="0"/>
          <a:chExt cx="0" cy="0"/>
        </a:xfrm>
      </p:grpSpPr>
      <p:sp>
        <p:nvSpPr>
          <p:cNvPr id="2" name="Text 0"/>
          <p:cNvSpPr txBox="1"/>
          <p:nvPr/>
        </p:nvSpPr>
        <p:spPr>
          <a:xfrm>
            <a:off x="548640" y="2651760"/>
            <a:ext cx="11064240" cy="1005840"/>
          </a:xfrm>
          <a:prstGeom prst="rect">
            <a:avLst/>
          </a:prstGeom>
          <a:noFill/>
          <a:ln/>
        </p:spPr>
        <p:txBody>
          <a:bodyPr wrap="square" lIns="0" tIns="0" rIns="0" bIns="0" rtlCol="0" anchor="ctr"/>
          <a:lstStyle/>
          <a:p>
            <a:pPr marL="0" indent="0" algn="ctr">
              <a:buNone/>
            </a:pPr>
            <a:r>
              <a:rPr lang="en-US" sz="4200" b="1" dirty="0">
                <a:solidFill>
                  <a:srgbClr val="F5F5F0"/>
                </a:solidFill>
                <a:latin typeface="Cambria" pitchFamily="34" charset="0"/>
                <a:ea typeface="Cambria" pitchFamily="34" charset="-122"/>
                <a:cs typeface="Cambria" pitchFamily="34" charset="-120"/>
              </a:rPr>
              <a:t>Q&amp;A POCKET</a:t>
            </a:r>
            <a:endParaRPr lang="en-US" sz="4200" dirty="0"/>
          </a:p>
        </p:txBody>
      </p:sp>
      <p:sp>
        <p:nvSpPr>
          <p:cNvPr id="3" name="Text 1"/>
          <p:cNvSpPr txBox="1"/>
          <p:nvPr/>
        </p:nvSpPr>
        <p:spPr>
          <a:xfrm>
            <a:off x="548640" y="3703320"/>
            <a:ext cx="11064240" cy="594360"/>
          </a:xfrm>
          <a:prstGeom prst="rect">
            <a:avLst/>
          </a:prstGeom>
          <a:noFill/>
          <a:ln/>
        </p:spPr>
        <p:txBody>
          <a:bodyPr wrap="square" lIns="0" tIns="0" rIns="0" bIns="0" rtlCol="0" anchor="ctr"/>
          <a:lstStyle/>
          <a:p>
            <a:pPr marL="0" indent="0" algn="ctr">
              <a:buNone/>
            </a:pPr>
            <a:r>
              <a:rPr lang="en-US" sz="1900" i="1" dirty="0">
                <a:solidFill>
                  <a:srgbClr val="8C6A3F"/>
                </a:solidFill>
                <a:latin typeface="Calibri" pitchFamily="34" charset="0"/>
                <a:ea typeface="Calibri" pitchFamily="34" charset="-122"/>
                <a:cs typeface="Calibri" pitchFamily="34" charset="-120"/>
              </a:rPr>
              <a:t>One quick question before we leave Section 3 — Crossing the River</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txBody>
          <a:bodyPr/>
          <a:lstStyle/>
          <a:p>
            <a:endParaRPr lang="en-US"/>
          </a:p>
        </p:txBody>
      </p:sp>
      <p:sp>
        <p:nvSpPr>
          <p:cNvPr id="3" name="Text 1"/>
          <p:cNvSpPr txBox="1"/>
          <p:nvPr/>
        </p:nvSpPr>
        <p:spPr>
          <a:xfrm>
            <a:off x="548640" y="365760"/>
            <a:ext cx="9144000" cy="502920"/>
          </a:xfrm>
          <a:prstGeom prst="rect">
            <a:avLst/>
          </a:prstGeom>
          <a:noFill/>
          <a:ln/>
        </p:spPr>
        <p:txBody>
          <a:bodyPr wrap="square" lIns="0" tIns="0" rIns="0" bIns="0" rtlCol="0" anchor="ctr"/>
          <a:lstStyle/>
          <a:p>
            <a:pPr marL="0" indent="0">
              <a:buNone/>
            </a:pPr>
            <a:r>
              <a:rPr lang="en-US" sz="1700" b="1" kern="0" spc="300" dirty="0">
                <a:solidFill>
                  <a:srgbClr val="8C6A3F"/>
                </a:solidFill>
                <a:latin typeface="Calibri" pitchFamily="34" charset="0"/>
                <a:ea typeface="Calibri" pitchFamily="34" charset="-122"/>
                <a:cs typeface="Calibri" pitchFamily="34" charset="-120"/>
              </a:rPr>
              <a:t>SECTION 4</a:t>
            </a:r>
            <a:endParaRPr lang="en-US" sz="1700" dirty="0"/>
          </a:p>
        </p:txBody>
      </p:sp>
      <p:pic>
        <p:nvPicPr>
          <p:cNvPr id="4" name="Image 0" descr="/home/claude/pptx-build/assets/icons/FaPaw-8C6A3F-300.png"/>
          <p:cNvPicPr>
            <a:picLocks noChangeAspect="1"/>
          </p:cNvPicPr>
          <p:nvPr/>
        </p:nvPicPr>
        <p:blipFill>
          <a:blip r:embed="rId3">
            <a:alphaModFix amt="85000"/>
          </a:blip>
          <a:stretch>
            <a:fillRect/>
          </a:stretch>
        </p:blipFill>
        <p:spPr>
          <a:xfrm>
            <a:off x="9692640" y="2194560"/>
            <a:ext cx="1463040" cy="1463040"/>
          </a:xfrm>
          <a:prstGeom prst="rect">
            <a:avLst/>
          </a:prstGeom>
        </p:spPr>
      </p:pic>
      <p:sp>
        <p:nvSpPr>
          <p:cNvPr id="5" name="Text 2"/>
          <p:cNvSpPr txBox="1"/>
          <p:nvPr/>
        </p:nvSpPr>
        <p:spPr>
          <a:xfrm>
            <a:off x="548640" y="2331720"/>
            <a:ext cx="8778240" cy="1737360"/>
          </a:xfrm>
          <a:prstGeom prst="rect">
            <a:avLst/>
          </a:prstGeom>
          <a:noFill/>
          <a:ln/>
        </p:spPr>
        <p:txBody>
          <a:bodyPr wrap="square" lIns="0" tIns="0" rIns="0" bIns="0" rtlCol="0" anchor="t"/>
          <a:lstStyle/>
          <a:p>
            <a:pPr marL="0" indent="0">
              <a:buNone/>
            </a:pPr>
            <a:r>
              <a:rPr lang="en-US" sz="4400" b="1" dirty="0">
                <a:solidFill>
                  <a:srgbClr val="F5F5F0"/>
                </a:solidFill>
                <a:latin typeface="Cambria" pitchFamily="34" charset="0"/>
                <a:ea typeface="Cambria" pitchFamily="34" charset="-122"/>
                <a:cs typeface="Cambria" pitchFamily="34" charset="-120"/>
              </a:rPr>
              <a:t>Watch as the Scrum Master Approaches Carefully</a:t>
            </a:r>
            <a:endParaRPr lang="en-US" sz="4400" dirty="0"/>
          </a:p>
        </p:txBody>
      </p:sp>
      <p:sp>
        <p:nvSpPr>
          <p:cNvPr id="6" name="Text 3"/>
          <p:cNvSpPr txBox="1"/>
          <p:nvPr/>
        </p:nvSpPr>
        <p:spPr>
          <a:xfrm>
            <a:off x="548640" y="4160520"/>
            <a:ext cx="8778240" cy="1234440"/>
          </a:xfrm>
          <a:prstGeom prst="rect">
            <a:avLst/>
          </a:prstGeom>
          <a:noFill/>
          <a:ln/>
        </p:spPr>
        <p:txBody>
          <a:bodyPr wrap="square" lIns="0" tIns="0" rIns="0" bIns="0" rtlCol="0" anchor="t"/>
          <a:lstStyle/>
          <a:p>
            <a:pPr marL="0" indent="0">
              <a:buNone/>
            </a:pPr>
            <a:r>
              <a:rPr lang="en-US" sz="2000" i="1" dirty="0">
                <a:solidFill>
                  <a:srgbClr val="8C6A3F"/>
                </a:solidFill>
                <a:latin typeface="Calibri" pitchFamily="34" charset="0"/>
                <a:ea typeface="Calibri" pitchFamily="34" charset="-122"/>
                <a:cs typeface="Calibri" pitchFamily="34" charset="-120"/>
              </a:rPr>
              <a:t>Sprint planning is a creature of habit, most comfortable in the enclosure it was raised in. Moving it means understanding exactly what it needs to survive the move.</a:t>
            </a:r>
            <a:endParaRPr lang="en-US" sz="2000" dirty="0"/>
          </a:p>
        </p:txBody>
      </p:sp>
      <p:sp>
        <p:nvSpPr>
          <p:cNvPr id="7" name="Shape 4"/>
          <p:cNvSpPr/>
          <p:nvPr/>
        </p:nvSpPr>
        <p:spPr>
          <a:xfrm>
            <a:off x="548640" y="6217920"/>
            <a:ext cx="11064240" cy="0"/>
          </a:xfrm>
          <a:prstGeom prst="line">
            <a:avLst/>
          </a:prstGeom>
          <a:noFill/>
          <a:ln w="9525">
            <a:solidFill>
              <a:srgbClr val="8C6A3F"/>
            </a:solidFill>
            <a:prstDash val="dash"/>
          </a:ln>
        </p:spPr>
        <p:txBody>
          <a:bodyPr/>
          <a:lstStyle/>
          <a:p>
            <a:endParaRPr lang="en-US"/>
          </a:p>
        </p:txBody>
      </p:sp>
      <p:sp>
        <p:nvSpPr>
          <p:cNvPr id="8" name="Text 5"/>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1200" dirty="0">
                <a:solidFill>
                  <a:srgbClr val="6B6B63"/>
                </a:solidFill>
                <a:latin typeface="Calibri" pitchFamily="34" charset="0"/>
                <a:ea typeface="Calibri" pitchFamily="34" charset="-122"/>
                <a:cs typeface="Calibri" pitchFamily="34" charset="-120"/>
              </a:rPr>
              <a:t>DOCUMENTARY VOICE — SPOKEN LIVE, NOT READ</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ProjectDiagram-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Boards: Not an Easy Transplant — Where the Gap Is Widest</a:t>
            </a:r>
            <a:endParaRPr lang="en-US" sz="3200" dirty="0"/>
          </a:p>
        </p:txBody>
      </p:sp>
      <p:sp>
        <p:nvSpPr>
          <p:cNvPr id="6" name="Shape 3"/>
          <p:cNvSpPr/>
          <p:nvPr/>
        </p:nvSpPr>
        <p:spPr>
          <a:xfrm>
            <a:off x="548640" y="1645920"/>
            <a:ext cx="11064240" cy="2011680"/>
          </a:xfrm>
          <a:prstGeom prst="roundRect">
            <a:avLst>
              <a:gd name="adj" fmla="val 5455"/>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914400" y="1828800"/>
            <a:ext cx="10332720" cy="1645920"/>
          </a:xfrm>
          <a:prstGeom prst="rect">
            <a:avLst/>
          </a:prstGeom>
          <a:noFill/>
          <a:ln/>
        </p:spPr>
        <p:txBody>
          <a:bodyPr wrap="square" lIns="0" tIns="0" rIns="0" bIns="0" rtlCol="0" anchor="ctr"/>
          <a:lstStyle/>
          <a:p>
            <a:pPr marL="0" indent="0">
              <a:lnSpc>
                <a:spcPct val="125000"/>
              </a:lnSpc>
              <a:buNone/>
            </a:pPr>
            <a:r>
              <a:rPr lang="en-US" sz="1900" b="1" dirty="0">
                <a:solidFill>
                  <a:srgbClr val="2B2B2B"/>
                </a:solidFill>
                <a:latin typeface="Calibri" pitchFamily="34" charset="0"/>
                <a:ea typeface="Calibri" pitchFamily="34" charset="-122"/>
                <a:cs typeface="Calibri" pitchFamily="34" charset="-120"/>
              </a:rPr>
              <a:t>Azure Boards is a full enterprise work-tracking system. </a:t>
            </a:r>
            <a:r>
              <a:rPr lang="en-US" sz="1900" dirty="0">
                <a:solidFill>
                  <a:srgbClr val="2B2B2B"/>
                </a:solidFill>
                <a:latin typeface="Calibri" pitchFamily="34" charset="0"/>
                <a:ea typeface="Calibri" pitchFamily="34" charset="-122"/>
                <a:cs typeface="Calibri" pitchFamily="34" charset="-120"/>
              </a:rPr>
              <a:t>GitHub Projects is a lightweight kanban board sitting on top of Issues. This isn’t a feature gap so much as a different tool entirely.</a:t>
            </a:r>
            <a:endParaRPr lang="en-US" sz="1900" dirty="0"/>
          </a:p>
        </p:txBody>
      </p:sp>
      <p:sp>
        <p:nvSpPr>
          <p:cNvPr id="8" name="Shape 5"/>
          <p:cNvSpPr/>
          <p:nvPr/>
        </p:nvSpPr>
        <p:spPr>
          <a:xfrm>
            <a:off x="548640" y="3977640"/>
            <a:ext cx="5349240" cy="1463040"/>
          </a:xfrm>
          <a:prstGeom prst="roundRect">
            <a:avLst>
              <a:gd name="adj" fmla="val 7500"/>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4133088"/>
            <a:ext cx="4800600" cy="457200"/>
          </a:xfrm>
          <a:prstGeom prst="rect">
            <a:avLst/>
          </a:prstGeom>
          <a:noFill/>
          <a:ln/>
        </p:spPr>
        <p:txBody>
          <a:bodyPr wrap="square" lIns="0" tIns="0" rIns="0" bIns="0" rtlCol="0" anchor="ctr"/>
          <a:lstStyle/>
          <a:p>
            <a:pPr marL="0" indent="0">
              <a:buNone/>
            </a:pPr>
            <a:r>
              <a:rPr lang="en-US" sz="2000" b="1" dirty="0">
                <a:solidFill>
                  <a:srgbClr val="F5F5F0"/>
                </a:solidFill>
                <a:latin typeface="Cambria" pitchFamily="34" charset="0"/>
                <a:ea typeface="Cambria" pitchFamily="34" charset="-122"/>
                <a:cs typeface="Cambria" pitchFamily="34" charset="-120"/>
              </a:rPr>
              <a:t>Azure Boards</a:t>
            </a:r>
            <a:endParaRPr lang="en-US" sz="2000" dirty="0"/>
          </a:p>
        </p:txBody>
      </p:sp>
      <p:sp>
        <p:nvSpPr>
          <p:cNvPr id="10" name="Text 7"/>
          <p:cNvSpPr txBox="1"/>
          <p:nvPr/>
        </p:nvSpPr>
        <p:spPr>
          <a:xfrm>
            <a:off x="822960" y="4645152"/>
            <a:ext cx="4800600" cy="640080"/>
          </a:xfrm>
          <a:prstGeom prst="rect">
            <a:avLst/>
          </a:prstGeom>
          <a:noFill/>
          <a:ln/>
        </p:spPr>
        <p:txBody>
          <a:bodyPr wrap="square" lIns="0" tIns="0" rIns="0" bIns="0" rtlCol="0" anchor="ctr"/>
          <a:lstStyle/>
          <a:p>
            <a:pPr marL="0" indent="0">
              <a:buNone/>
            </a:pPr>
            <a:r>
              <a:rPr lang="en-US" sz="1600" dirty="0">
                <a:solidFill>
                  <a:srgbClr val="F5F5F0"/>
                </a:solidFill>
                <a:latin typeface="Calibri" pitchFamily="34" charset="0"/>
                <a:ea typeface="Calibri" pitchFamily="34" charset="-122"/>
                <a:cs typeface="Calibri" pitchFamily="34" charset="-120"/>
              </a:rPr>
              <a:t>Enterprise work-tracking system</a:t>
            </a:r>
            <a:endParaRPr lang="en-US" sz="1600" dirty="0"/>
          </a:p>
        </p:txBody>
      </p:sp>
      <p:sp>
        <p:nvSpPr>
          <p:cNvPr id="11" name="Shape 8"/>
          <p:cNvSpPr/>
          <p:nvPr/>
        </p:nvSpPr>
        <p:spPr>
          <a:xfrm>
            <a:off x="6172200" y="3977640"/>
            <a:ext cx="5349240" cy="1463040"/>
          </a:xfrm>
          <a:prstGeom prst="roundRect">
            <a:avLst>
              <a:gd name="adj" fmla="val 75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9"/>
          <p:cNvSpPr txBox="1"/>
          <p:nvPr/>
        </p:nvSpPr>
        <p:spPr>
          <a:xfrm>
            <a:off x="6446520" y="4133088"/>
            <a:ext cx="4800600" cy="457200"/>
          </a:xfrm>
          <a:prstGeom prst="rect">
            <a:avLst/>
          </a:prstGeom>
          <a:noFill/>
          <a:ln/>
        </p:spPr>
        <p:txBody>
          <a:bodyPr wrap="square" lIns="0" tIns="0" rIns="0" bIns="0" rtlCol="0" anchor="ctr"/>
          <a:lstStyle/>
          <a:p>
            <a:pPr marL="0" indent="0">
              <a:buNone/>
            </a:pPr>
            <a:r>
              <a:rPr lang="en-US" sz="2000" b="1" dirty="0">
                <a:solidFill>
                  <a:srgbClr val="1F3D2C"/>
                </a:solidFill>
                <a:latin typeface="Cambria" pitchFamily="34" charset="0"/>
                <a:ea typeface="Cambria" pitchFamily="34" charset="-122"/>
                <a:cs typeface="Cambria" pitchFamily="34" charset="-120"/>
              </a:rPr>
              <a:t>GitHub Projects</a:t>
            </a:r>
            <a:endParaRPr lang="en-US" sz="2000" dirty="0"/>
          </a:p>
        </p:txBody>
      </p:sp>
      <p:sp>
        <p:nvSpPr>
          <p:cNvPr id="13" name="Text 10"/>
          <p:cNvSpPr txBox="1"/>
          <p:nvPr/>
        </p:nvSpPr>
        <p:spPr>
          <a:xfrm>
            <a:off x="6446520" y="4645152"/>
            <a:ext cx="4800600" cy="640080"/>
          </a:xfrm>
          <a:prstGeom prst="rect">
            <a:avLst/>
          </a:prstGeom>
          <a:noFill/>
          <a:ln/>
        </p:spPr>
        <p:txBody>
          <a:bodyPr wrap="square" lIns="0" tIns="0" rIns="0" bIns="0" rtlCol="0" anchor="ctr"/>
          <a:lstStyle/>
          <a:p>
            <a:pPr marL="0" indent="0">
              <a:buNone/>
            </a:pPr>
            <a:r>
              <a:rPr lang="en-US" sz="1600" dirty="0">
                <a:solidFill>
                  <a:srgbClr val="2B2B2B"/>
                </a:solidFill>
                <a:latin typeface="Calibri" pitchFamily="34" charset="0"/>
                <a:ea typeface="Calibri" pitchFamily="34" charset="-122"/>
                <a:cs typeface="Calibri" pitchFamily="34" charset="-120"/>
              </a:rPr>
              <a:t>Lightweight kanban board on Issues</a:t>
            </a:r>
            <a:endParaRPr lang="en-US" sz="1600" dirty="0"/>
          </a:p>
        </p:txBody>
      </p:sp>
      <p:sp>
        <p:nvSpPr>
          <p:cNvPr id="14" name="Text 11"/>
          <p:cNvSpPr txBox="1"/>
          <p:nvPr/>
        </p:nvSpPr>
        <p:spPr>
          <a:xfrm>
            <a:off x="548640" y="5760720"/>
            <a:ext cx="11064240" cy="457200"/>
          </a:xfrm>
          <a:prstGeom prst="rect">
            <a:avLst/>
          </a:prstGeom>
          <a:noFill/>
          <a:ln/>
        </p:spPr>
        <p:txBody>
          <a:bodyPr wrap="square" lIns="0" tIns="0" rIns="0" bIns="0" rtlCol="0" anchor="ctr"/>
          <a:lstStyle/>
          <a:p>
            <a:pPr marL="0" indent="0" algn="ctr">
              <a:buNone/>
            </a:pPr>
            <a:r>
              <a:rPr lang="en-US" sz="1500" i="1" dirty="0">
                <a:solidFill>
                  <a:srgbClr val="6B6B63"/>
                </a:solidFill>
                <a:latin typeface="Calibri" pitchFamily="34" charset="0"/>
                <a:ea typeface="Calibri" pitchFamily="34" charset="-122"/>
                <a:cs typeface="Calibri" pitchFamily="34" charset="-120"/>
              </a:rPr>
              <a:t>The next two slides take each on its own terms before comparing what’s lost in a migration.</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Sitemap-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Azure Boards’ Strengths</a:t>
            </a:r>
            <a:endParaRPr lang="en-US" sz="3200" dirty="0"/>
          </a:p>
        </p:txBody>
      </p:sp>
      <p:sp>
        <p:nvSpPr>
          <p:cNvPr id="6" name="Shape 3"/>
          <p:cNvSpPr/>
          <p:nvPr/>
        </p:nvSpPr>
        <p:spPr>
          <a:xfrm>
            <a:off x="548640" y="1645920"/>
            <a:ext cx="11064240" cy="3566160"/>
          </a:xfrm>
          <a:prstGeom prst="roundRect">
            <a:avLst>
              <a:gd name="adj" fmla="val 3077"/>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914400" y="1874520"/>
            <a:ext cx="10332720" cy="3200400"/>
          </a:xfrm>
          <a:prstGeom prst="rect">
            <a:avLst/>
          </a:prstGeom>
          <a:noFill/>
          <a:ln/>
        </p:spPr>
        <p:txBody>
          <a:bodyPr wrap="square" lIns="0" tIns="0" rIns="0" bIns="0" rtlCol="0" anchor="ctr"/>
          <a:lstStyle/>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Hierarchical work items — Epics → Features → Stories → Tasks</a:t>
            </a:r>
            <a:endParaRPr lang="en-US" sz="1900" dirty="0"/>
          </a:p>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Sprint planning and capacity management, built in</a:t>
            </a:r>
            <a:endParaRPr lang="en-US" sz="1900" dirty="0"/>
          </a:p>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Delivery Plans for cross-team dependencies</a:t>
            </a:r>
            <a:endParaRPr lang="en-US" sz="1900" dirty="0"/>
          </a:p>
          <a:p>
            <a:pPr marL="342900" indent="-342900">
              <a:lnSpc>
                <a:spcPct val="115000"/>
              </a:lnSpc>
              <a:buSzPct val="100000"/>
              <a:buChar char="•"/>
            </a:pPr>
            <a:r>
              <a:rPr lang="en-US" sz="1900" dirty="0">
                <a:solidFill>
                  <a:srgbClr val="2B2B2B"/>
                </a:solidFill>
                <a:latin typeface="Calibri" pitchFamily="34" charset="0"/>
                <a:ea typeface="Calibri" pitchFamily="34" charset="-122"/>
                <a:cs typeface="Calibri" pitchFamily="34" charset="-120"/>
              </a:rPr>
              <a:t>Boards Analytics plus Power BI reporting</a:t>
            </a:r>
            <a:endParaRPr lang="en-US" sz="1900" dirty="0"/>
          </a:p>
        </p:txBody>
      </p:sp>
      <p:sp>
        <p:nvSpPr>
          <p:cNvPr id="8" name="Shape 5"/>
          <p:cNvSpPr/>
          <p:nvPr/>
        </p:nvSpPr>
        <p:spPr>
          <a:xfrm>
            <a:off x="548640" y="5440680"/>
            <a:ext cx="11064240" cy="868680"/>
          </a:xfrm>
          <a:prstGeom prst="roundRect">
            <a:avLst>
              <a:gd name="adj" fmla="val 12632"/>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5577840"/>
            <a:ext cx="10515600" cy="594360"/>
          </a:xfrm>
          <a:prstGeom prst="rect">
            <a:avLst/>
          </a:prstGeom>
          <a:noFill/>
          <a:ln/>
        </p:spPr>
        <p:txBody>
          <a:bodyPr wrap="square" lIns="0" tIns="0" rIns="0" bIns="0" rtlCol="0" anchor="ctr"/>
          <a:lstStyle/>
          <a:p>
            <a:pPr marL="0" indent="0">
              <a:buNone/>
            </a:pPr>
            <a:r>
              <a:rPr lang="en-US" sz="1600" b="1" dirty="0">
                <a:solidFill>
                  <a:srgbClr val="F5F5F0"/>
                </a:solidFill>
                <a:latin typeface="Calibri" pitchFamily="34" charset="0"/>
                <a:ea typeface="Calibri" pitchFamily="34" charset="-122"/>
                <a:cs typeface="Calibri" pitchFamily="34" charset="-120"/>
              </a:rPr>
              <a:t>Organizes by: </a:t>
            </a:r>
            <a:r>
              <a:rPr lang="en-US" sz="1600" dirty="0">
                <a:solidFill>
                  <a:srgbClr val="F5F5F0"/>
                </a:solidFill>
                <a:latin typeface="Calibri" pitchFamily="34" charset="0"/>
                <a:ea typeface="Calibri" pitchFamily="34" charset="-122"/>
                <a:cs typeface="Calibri" pitchFamily="34" charset="-120"/>
              </a:rPr>
              <a:t>Project → Team → Area Path.</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Columns-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GitHub Projects’ Strengths</a:t>
            </a:r>
            <a:endParaRPr lang="en-US" sz="3200" dirty="0"/>
          </a:p>
        </p:txBody>
      </p:sp>
      <p:sp>
        <p:nvSpPr>
          <p:cNvPr id="6" name="Shape 3"/>
          <p:cNvSpPr/>
          <p:nvPr/>
        </p:nvSpPr>
        <p:spPr>
          <a:xfrm>
            <a:off x="548640" y="1645920"/>
            <a:ext cx="11064240" cy="3566160"/>
          </a:xfrm>
          <a:prstGeom prst="roundRect">
            <a:avLst>
              <a:gd name="adj" fmla="val 3077"/>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914400" y="1874520"/>
            <a:ext cx="10332720" cy="3200400"/>
          </a:xfrm>
          <a:prstGeom prst="rect">
            <a:avLst/>
          </a:prstGeom>
          <a:noFill/>
          <a:ln/>
        </p:spPr>
        <p:txBody>
          <a:bodyPr wrap="square" lIns="0" tIns="0" rIns="0" bIns="0" rtlCol="0" anchor="ctr"/>
          <a:lstStyle/>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Lightweight and flexible — custom fields for iteration, single-select, date, number</a:t>
            </a:r>
            <a:endParaRPr lang="en-US" sz="1900" dirty="0"/>
          </a:p>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Lives right next to the actual issues and PRs it tracks</a:t>
            </a:r>
            <a:endParaRPr lang="en-US" sz="1900" dirty="0"/>
          </a:p>
          <a:p>
            <a:pPr marL="342900" indent="-342900">
              <a:lnSpc>
                <a:spcPct val="115000"/>
              </a:lnSpc>
              <a:spcAft>
                <a:spcPts val="1400"/>
              </a:spcAft>
              <a:buSzPct val="100000"/>
              <a:buChar char="•"/>
            </a:pPr>
            <a:r>
              <a:rPr lang="en-US" sz="1900" dirty="0">
                <a:solidFill>
                  <a:srgbClr val="2B2B2B"/>
                </a:solidFill>
                <a:latin typeface="Calibri" pitchFamily="34" charset="0"/>
                <a:ea typeface="Calibri" pitchFamily="34" charset="-122"/>
                <a:cs typeface="Calibri" pitchFamily="34" charset="-120"/>
              </a:rPr>
              <a:t>Fast for small-team daily triage — no context switch to a separate system</a:t>
            </a:r>
            <a:endParaRPr lang="en-US" sz="1900" dirty="0"/>
          </a:p>
          <a:p>
            <a:pPr marL="342900" indent="-342900">
              <a:lnSpc>
                <a:spcPct val="115000"/>
              </a:lnSpc>
              <a:buSzPct val="100000"/>
              <a:buChar char="•"/>
            </a:pPr>
            <a:r>
              <a:rPr lang="en-US" sz="1900" dirty="0">
                <a:solidFill>
                  <a:srgbClr val="2B2B2B"/>
                </a:solidFill>
                <a:latin typeface="Calibri" pitchFamily="34" charset="0"/>
                <a:ea typeface="Calibri" pitchFamily="34" charset="-122"/>
                <a:cs typeface="Calibri" pitchFamily="34" charset="-120"/>
              </a:rPr>
              <a:t>Roadmap layout, plus built-in or Actions-driven automation</a:t>
            </a:r>
            <a:endParaRPr lang="en-US" sz="1900" dirty="0"/>
          </a:p>
        </p:txBody>
      </p:sp>
      <p:sp>
        <p:nvSpPr>
          <p:cNvPr id="8" name="Shape 5"/>
          <p:cNvSpPr/>
          <p:nvPr/>
        </p:nvSpPr>
        <p:spPr>
          <a:xfrm>
            <a:off x="548640" y="5440680"/>
            <a:ext cx="11064240" cy="868680"/>
          </a:xfrm>
          <a:prstGeom prst="roundRect">
            <a:avLst>
              <a:gd name="adj" fmla="val 12632"/>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5577840"/>
            <a:ext cx="10515600" cy="594360"/>
          </a:xfrm>
          <a:prstGeom prst="rect">
            <a:avLst/>
          </a:prstGeom>
          <a:noFill/>
          <a:ln/>
        </p:spPr>
        <p:txBody>
          <a:bodyPr wrap="square" lIns="0" tIns="0" rIns="0" bIns="0" rtlCol="0" anchor="ctr"/>
          <a:lstStyle/>
          <a:p>
            <a:pPr marL="0" indent="0">
              <a:buNone/>
            </a:pPr>
            <a:r>
              <a:rPr lang="en-US" sz="1600" b="1" dirty="0">
                <a:solidFill>
                  <a:srgbClr val="F5F5F0"/>
                </a:solidFill>
                <a:latin typeface="Calibri" pitchFamily="34" charset="0"/>
                <a:ea typeface="Calibri" pitchFamily="34" charset="-122"/>
                <a:cs typeface="Calibri" pitchFamily="34" charset="-120"/>
              </a:rPr>
              <a:t>Organizes by: </a:t>
            </a:r>
            <a:r>
              <a:rPr lang="en-US" sz="1600" dirty="0">
                <a:solidFill>
                  <a:srgbClr val="F5F5F0"/>
                </a:solidFill>
                <a:latin typeface="Calibri" pitchFamily="34" charset="0"/>
                <a:ea typeface="Calibri" pitchFamily="34" charset="-122"/>
                <a:cs typeface="Calibri" pitchFamily="34" charset="-120"/>
              </a:rPr>
              <a:t>Repository → Label → Milestone.</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Unlin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What You Lose Migrating Work Items</a:t>
            </a:r>
            <a:endParaRPr lang="en-US" sz="3200" dirty="0"/>
          </a:p>
        </p:txBody>
      </p:sp>
      <p:sp>
        <p:nvSpPr>
          <p:cNvPr id="6" name="Shape 3"/>
          <p:cNvSpPr/>
          <p:nvPr/>
        </p:nvSpPr>
        <p:spPr>
          <a:xfrm>
            <a:off x="548640" y="1645920"/>
            <a:ext cx="11064240" cy="2926080"/>
          </a:xfrm>
          <a:prstGeom prst="roundRect">
            <a:avLst>
              <a:gd name="adj" fmla="val 375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914400" y="1874520"/>
            <a:ext cx="10332720" cy="2560320"/>
          </a:xfrm>
          <a:prstGeom prst="rect">
            <a:avLst/>
          </a:prstGeom>
          <a:noFill/>
          <a:ln/>
        </p:spPr>
        <p:txBody>
          <a:bodyPr wrap="square" lIns="0" tIns="0" rIns="0" bIns="0" rtlCol="0" anchor="ctr"/>
          <a:lstStyle/>
          <a:p>
            <a:pPr marL="342900" indent="-342900">
              <a:lnSpc>
                <a:spcPct val="120000"/>
              </a:lnSpc>
              <a:spcAft>
                <a:spcPts val="1200"/>
              </a:spcAft>
              <a:buSzPct val="100000"/>
              <a:buChar char="•"/>
            </a:pPr>
            <a:r>
              <a:rPr lang="en-US" sz="1900" dirty="0">
                <a:solidFill>
                  <a:srgbClr val="2B2B2B"/>
                </a:solidFill>
                <a:latin typeface="Calibri" pitchFamily="34" charset="0"/>
                <a:ea typeface="Calibri" pitchFamily="34" charset="-122"/>
                <a:cs typeface="Calibri" pitchFamily="34" charset="-120"/>
              </a:rPr>
              <a:t>Sprint history</a:t>
            </a:r>
            <a:endParaRPr lang="en-US" sz="1900" dirty="0"/>
          </a:p>
          <a:p>
            <a:pPr marL="342900" indent="-342900">
              <a:lnSpc>
                <a:spcPct val="120000"/>
              </a:lnSpc>
              <a:spcAft>
                <a:spcPts val="1200"/>
              </a:spcAft>
              <a:buSzPct val="100000"/>
              <a:buChar char="•"/>
            </a:pPr>
            <a:r>
              <a:rPr lang="en-US" sz="1900" dirty="0">
                <a:solidFill>
                  <a:srgbClr val="2B2B2B"/>
                </a:solidFill>
                <a:latin typeface="Calibri" pitchFamily="34" charset="0"/>
                <a:ea typeface="Calibri" pitchFamily="34" charset="-122"/>
                <a:cs typeface="Calibri" pitchFamily="34" charset="-120"/>
              </a:rPr>
              <a:t>Capacity data</a:t>
            </a:r>
            <a:endParaRPr lang="en-US" sz="1900" dirty="0"/>
          </a:p>
          <a:p>
            <a:pPr marL="342900" indent="-342900">
              <a:lnSpc>
                <a:spcPct val="120000"/>
              </a:lnSpc>
              <a:spcAft>
                <a:spcPts val="1200"/>
              </a:spcAft>
              <a:buSzPct val="100000"/>
              <a:buChar char="•"/>
            </a:pPr>
            <a:r>
              <a:rPr lang="en-US" sz="1900" dirty="0">
                <a:solidFill>
                  <a:srgbClr val="2B2B2B"/>
                </a:solidFill>
                <a:latin typeface="Calibri" pitchFamily="34" charset="0"/>
                <a:ea typeface="Calibri" pitchFamily="34" charset="-122"/>
                <a:cs typeface="Calibri" pitchFamily="34" charset="-120"/>
              </a:rPr>
              <a:t>Custom process fields</a:t>
            </a:r>
            <a:endParaRPr lang="en-US" sz="1900" dirty="0"/>
          </a:p>
          <a:p>
            <a:pPr marL="342900" indent="-342900">
              <a:lnSpc>
                <a:spcPct val="120000"/>
              </a:lnSpc>
              <a:buSzPct val="100000"/>
              <a:buChar char="•"/>
            </a:pPr>
            <a:r>
              <a:rPr lang="en-US" sz="1900" dirty="0">
                <a:solidFill>
                  <a:srgbClr val="2B2B2B"/>
                </a:solidFill>
                <a:latin typeface="Calibri" pitchFamily="34" charset="0"/>
                <a:ea typeface="Calibri" pitchFamily="34" charset="-122"/>
                <a:cs typeface="Calibri" pitchFamily="34" charset="-120"/>
              </a:rPr>
              <a:t>The whole Project → Team → Area Path hierarchy</a:t>
            </a:r>
            <a:endParaRPr lang="en-US" sz="1900" dirty="0"/>
          </a:p>
        </p:txBody>
      </p:sp>
      <p:sp>
        <p:nvSpPr>
          <p:cNvPr id="8" name="Shape 5"/>
          <p:cNvSpPr/>
          <p:nvPr/>
        </p:nvSpPr>
        <p:spPr>
          <a:xfrm>
            <a:off x="548640" y="4800600"/>
            <a:ext cx="11064240" cy="1508760"/>
          </a:xfrm>
          <a:prstGeom prst="roundRect">
            <a:avLst>
              <a:gd name="adj" fmla="val 7273"/>
            </a:avLst>
          </a:prstGeom>
          <a:solidFill>
            <a:srgbClr val="8C6A3F"/>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4937760"/>
            <a:ext cx="10515600" cy="1234440"/>
          </a:xfrm>
          <a:prstGeom prst="rect">
            <a:avLst/>
          </a:prstGeom>
          <a:noFill/>
          <a:ln/>
        </p:spPr>
        <p:txBody>
          <a:bodyPr wrap="square" lIns="0" tIns="0" rIns="0" bIns="0" rtlCol="0" anchor="ctr"/>
          <a:lstStyle/>
          <a:p>
            <a:pPr marL="0" indent="0">
              <a:lnSpc>
                <a:spcPct val="115000"/>
              </a:lnSpc>
              <a:buNone/>
            </a:pPr>
            <a:r>
              <a:rPr lang="en-US" sz="1500" b="1" dirty="0">
                <a:solidFill>
                  <a:srgbClr val="F5F5F0"/>
                </a:solidFill>
                <a:latin typeface="Calibri" pitchFamily="34" charset="0"/>
                <a:ea typeface="Calibri" pitchFamily="34" charset="-122"/>
                <a:cs typeface="Calibri" pitchFamily="34" charset="-120"/>
              </a:rPr>
              <a:t>Open-source help exists — </a:t>
            </a:r>
            <a:r>
              <a:rPr lang="en-US" sz="1500" dirty="0">
                <a:solidFill>
                  <a:srgbClr val="F5F5F0"/>
                </a:solidFill>
                <a:latin typeface="Calibri" pitchFamily="34" charset="0"/>
                <a:ea typeface="Calibri" pitchFamily="34" charset="-122"/>
                <a:cs typeface="Calibri" pitchFamily="34" charset="-120"/>
              </a:rPr>
              <a:t>`azure-devops-migration-tools` can move work items over. But expect real manual-mapping time: the two data models don’t line up, so this is a project, not a script you run once and forget.</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Ban-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Test Plans: Stays Behind</a:t>
            </a:r>
            <a:endParaRPr lang="en-US" sz="3200" dirty="0"/>
          </a:p>
        </p:txBody>
      </p:sp>
      <p:sp>
        <p:nvSpPr>
          <p:cNvPr id="6" name="Shape 3"/>
          <p:cNvSpPr/>
          <p:nvPr/>
        </p:nvSpPr>
        <p:spPr>
          <a:xfrm>
            <a:off x="548640" y="1691640"/>
            <a:ext cx="11064240" cy="2011680"/>
          </a:xfrm>
          <a:prstGeom prst="roundRect">
            <a:avLst>
              <a:gd name="adj" fmla="val 5455"/>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965960"/>
            <a:ext cx="10515600" cy="822960"/>
          </a:xfrm>
          <a:prstGeom prst="rect">
            <a:avLst/>
          </a:prstGeom>
          <a:noFill/>
          <a:ln/>
        </p:spPr>
        <p:txBody>
          <a:bodyPr wrap="square" lIns="0" tIns="0" rIns="0" bIns="0" rtlCol="0" anchor="ctr"/>
          <a:lstStyle/>
          <a:p>
            <a:pPr marL="0" indent="0" algn="ctr">
              <a:buNone/>
            </a:pPr>
            <a:r>
              <a:rPr lang="en-US" sz="3000" b="1" dirty="0">
                <a:solidFill>
                  <a:srgbClr val="F5F5F0"/>
                </a:solidFill>
                <a:latin typeface="Cambria" pitchFamily="34" charset="0"/>
                <a:ea typeface="Cambria" pitchFamily="34" charset="-122"/>
                <a:cs typeface="Cambria" pitchFamily="34" charset="-120"/>
              </a:rPr>
              <a:t>No GitHub equivalent. Full stop.</a:t>
            </a:r>
            <a:endParaRPr lang="en-US" sz="3000" dirty="0"/>
          </a:p>
        </p:txBody>
      </p:sp>
      <p:sp>
        <p:nvSpPr>
          <p:cNvPr id="8" name="Text 5"/>
          <p:cNvSpPr txBox="1"/>
          <p:nvPr/>
        </p:nvSpPr>
        <p:spPr>
          <a:xfrm>
            <a:off x="822960" y="2788920"/>
            <a:ext cx="10515600" cy="731520"/>
          </a:xfrm>
          <a:prstGeom prst="rect">
            <a:avLst/>
          </a:prstGeom>
          <a:noFill/>
          <a:ln/>
        </p:spPr>
        <p:txBody>
          <a:bodyPr wrap="square" lIns="0" tIns="0" rIns="0" bIns="0" rtlCol="0" anchor="ctr"/>
          <a:lstStyle/>
          <a:p>
            <a:pPr marL="0" indent="0" algn="ctr">
              <a:buNone/>
            </a:pPr>
            <a:r>
              <a:rPr lang="en-US" sz="1600" dirty="0">
                <a:solidFill>
                  <a:srgbClr val="8C6A3F"/>
                </a:solidFill>
                <a:latin typeface="Calibri" pitchFamily="34" charset="0"/>
                <a:ea typeface="Calibri" pitchFamily="34" charset="-122"/>
                <a:cs typeface="Calibri" pitchFamily="34" charset="-120"/>
              </a:rPr>
              <a:t>No native GitHub Projects or Issues equivalent for structured manual and exploratory testing.</a:t>
            </a:r>
            <a:endParaRPr lang="en-US" sz="1600" dirty="0"/>
          </a:p>
        </p:txBody>
      </p:sp>
      <p:sp>
        <p:nvSpPr>
          <p:cNvPr id="9" name="Shape 6"/>
          <p:cNvSpPr/>
          <p:nvPr/>
        </p:nvSpPr>
        <p:spPr>
          <a:xfrm>
            <a:off x="548640" y="4069080"/>
            <a:ext cx="11064240" cy="1371600"/>
          </a:xfrm>
          <a:prstGeom prst="roundRect">
            <a:avLst>
              <a:gd name="adj" fmla="val 80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822960" y="4206240"/>
            <a:ext cx="10515600" cy="1097280"/>
          </a:xfrm>
          <a:prstGeom prst="rect">
            <a:avLst/>
          </a:prstGeom>
          <a:noFill/>
          <a:ln/>
        </p:spPr>
        <p:txBody>
          <a:bodyPr wrap="square" lIns="0" tIns="0" rIns="0" bIns="0" rtlCol="0" anchor="ctr"/>
          <a:lstStyle/>
          <a:p>
            <a:pPr marL="0" indent="0">
              <a:buNone/>
            </a:pPr>
            <a:r>
              <a:rPr lang="en-US" sz="1800" dirty="0">
                <a:solidFill>
                  <a:srgbClr val="2B2B2B"/>
                </a:solidFill>
                <a:latin typeface="Calibri" pitchFamily="34" charset="0"/>
                <a:ea typeface="Calibri" pitchFamily="34" charset="-122"/>
                <a:cs typeface="Calibri" pitchFamily="34" charset="-120"/>
              </a:rPr>
              <a:t>In a regulated environment, this alone can be a reason to keep Azure DevOps in the picture.</a:t>
            </a:r>
            <a:endParaRPr lang="en-US" sz="1800" dirty="0"/>
          </a:p>
        </p:txBody>
      </p:sp>
      <p:sp>
        <p:nvSpPr>
          <p:cNvPr id="11" name="Text 8"/>
          <p:cNvSpPr txBox="1"/>
          <p:nvPr/>
        </p:nvSpPr>
        <p:spPr>
          <a:xfrm>
            <a:off x="548640" y="5715000"/>
            <a:ext cx="11064240" cy="548640"/>
          </a:xfrm>
          <a:prstGeom prst="rect">
            <a:avLst/>
          </a:prstGeom>
          <a:noFill/>
          <a:ln/>
        </p:spPr>
        <p:txBody>
          <a:bodyPr wrap="square" lIns="0" tIns="0" rIns="0" bIns="0" rtlCol="0" anchor="ctr"/>
          <a:lstStyle/>
          <a:p>
            <a:pPr marL="0" indent="0" algn="ctr">
              <a:buNone/>
            </a:pPr>
            <a:r>
              <a:rPr lang="en-US" sz="1900" b="1" i="1" dirty="0">
                <a:solidFill>
                  <a:srgbClr val="C1440E"/>
                </a:solidFill>
                <a:latin typeface="Cambria" pitchFamily="34" charset="0"/>
                <a:ea typeface="Cambria" pitchFamily="34" charset="-122"/>
                <a:cs typeface="Cambria" pitchFamily="34" charset="-120"/>
              </a:rPr>
              <a:t>Sometimes “it doesn’t move, and that’s fine” is the honest answer.</a:t>
            </a:r>
            <a:endParaRPr lang="en-US" sz="1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Lin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The Hybrid Pattern — the Resolution, Not the Compromise</a:t>
            </a:r>
            <a:endParaRPr lang="en-US" sz="3200" dirty="0"/>
          </a:p>
        </p:txBody>
      </p:sp>
      <p:sp>
        <p:nvSpPr>
          <p:cNvPr id="6" name="Text 3"/>
          <p:cNvSpPr txBox="1"/>
          <p:nvPr/>
        </p:nvSpPr>
        <p:spPr>
          <a:xfrm>
            <a:off x="548640" y="1600200"/>
            <a:ext cx="11064240" cy="594360"/>
          </a:xfrm>
          <a:prstGeom prst="rect">
            <a:avLst/>
          </a:prstGeom>
          <a:noFill/>
          <a:ln/>
        </p:spPr>
        <p:txBody>
          <a:bodyPr wrap="square" lIns="0" tIns="0" rIns="0" bIns="0" rtlCol="0" anchor="ctr"/>
          <a:lstStyle/>
          <a:p>
            <a:pPr marL="0" indent="0">
              <a:buNone/>
            </a:pPr>
            <a:r>
              <a:rPr lang="en-US" sz="2100" b="1" dirty="0">
                <a:solidFill>
                  <a:srgbClr val="1F3D2C"/>
                </a:solidFill>
                <a:latin typeface="Cambria" pitchFamily="34" charset="0"/>
                <a:ea typeface="Cambria" pitchFamily="34" charset="-122"/>
                <a:cs typeface="Cambria" pitchFamily="34" charset="-120"/>
              </a:rPr>
              <a:t>Connect Azure Boards to GitHub repos before touching anything else.</a:t>
            </a:r>
            <a:endParaRPr lang="en-US" sz="2100" dirty="0"/>
          </a:p>
        </p:txBody>
      </p:sp>
      <p:sp>
        <p:nvSpPr>
          <p:cNvPr id="7" name="Shape 4"/>
          <p:cNvSpPr/>
          <p:nvPr/>
        </p:nvSpPr>
        <p:spPr>
          <a:xfrm>
            <a:off x="548640" y="2377440"/>
            <a:ext cx="5349240" cy="2606040"/>
          </a:xfrm>
          <a:prstGeom prst="roundRect">
            <a:avLst>
              <a:gd name="adj" fmla="val 4211"/>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5"/>
          <p:cNvSpPr txBox="1"/>
          <p:nvPr/>
        </p:nvSpPr>
        <p:spPr>
          <a:xfrm>
            <a:off x="822960" y="2560320"/>
            <a:ext cx="4800600" cy="502920"/>
          </a:xfrm>
          <a:prstGeom prst="rect">
            <a:avLst/>
          </a:prstGeom>
          <a:noFill/>
          <a:ln/>
        </p:spPr>
        <p:txBody>
          <a:bodyPr wrap="square" lIns="0" tIns="0" rIns="0" bIns="0" rtlCol="0" anchor="ctr"/>
          <a:lstStyle/>
          <a:p>
            <a:pPr marL="0" indent="0">
              <a:buNone/>
            </a:pPr>
            <a:r>
              <a:rPr lang="en-US" sz="2100" b="1" dirty="0">
                <a:solidFill>
                  <a:srgbClr val="F5F5F0"/>
                </a:solidFill>
                <a:latin typeface="Cambria" pitchFamily="34" charset="0"/>
                <a:ea typeface="Cambria" pitchFamily="34" charset="-122"/>
                <a:cs typeface="Cambria" pitchFamily="34" charset="-120"/>
              </a:rPr>
              <a:t>Developers</a:t>
            </a:r>
            <a:endParaRPr lang="en-US" sz="2100" dirty="0"/>
          </a:p>
        </p:txBody>
      </p:sp>
      <p:sp>
        <p:nvSpPr>
          <p:cNvPr id="9" name="Text 6"/>
          <p:cNvSpPr txBox="1"/>
          <p:nvPr/>
        </p:nvSpPr>
        <p:spPr>
          <a:xfrm>
            <a:off x="822960" y="3127248"/>
            <a:ext cx="4800600" cy="1737360"/>
          </a:xfrm>
          <a:prstGeom prst="rect">
            <a:avLst/>
          </a:prstGeom>
          <a:noFill/>
          <a:ln/>
        </p:spPr>
        <p:txBody>
          <a:bodyPr wrap="square" lIns="0" tIns="0" rIns="0" bIns="0" rtlCol="0" anchor="ctr"/>
          <a:lstStyle/>
          <a:p>
            <a:pPr marL="0" indent="0">
              <a:lnSpc>
                <a:spcPct val="115000"/>
              </a:lnSpc>
              <a:buNone/>
            </a:pPr>
            <a:r>
              <a:rPr lang="en-US" sz="1700" dirty="0">
                <a:solidFill>
                  <a:srgbClr val="F5F5F0"/>
                </a:solidFill>
                <a:latin typeface="Calibri" pitchFamily="34" charset="0"/>
                <a:ea typeface="Calibri" pitchFamily="34" charset="-122"/>
                <a:cs typeface="Calibri" pitchFamily="34" charset="-120"/>
              </a:rPr>
              <a:t>Work in GitHub — code, PRs, and Copilot, right next to the issues that matter to them.</a:t>
            </a:r>
            <a:endParaRPr lang="en-US" sz="1700" dirty="0"/>
          </a:p>
        </p:txBody>
      </p:sp>
      <p:sp>
        <p:nvSpPr>
          <p:cNvPr id="10" name="Shape 7"/>
          <p:cNvSpPr/>
          <p:nvPr/>
        </p:nvSpPr>
        <p:spPr>
          <a:xfrm>
            <a:off x="6172200" y="2377440"/>
            <a:ext cx="5349240" cy="2606040"/>
          </a:xfrm>
          <a:prstGeom prst="roundRect">
            <a:avLst>
              <a:gd name="adj" fmla="val 4211"/>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8"/>
          <p:cNvSpPr txBox="1"/>
          <p:nvPr/>
        </p:nvSpPr>
        <p:spPr>
          <a:xfrm>
            <a:off x="6446520" y="2560320"/>
            <a:ext cx="4800600" cy="502920"/>
          </a:xfrm>
          <a:prstGeom prst="rect">
            <a:avLst/>
          </a:prstGeom>
          <a:noFill/>
          <a:ln/>
        </p:spPr>
        <p:txBody>
          <a:bodyPr wrap="square" lIns="0" tIns="0" rIns="0" bIns="0" rtlCol="0" anchor="ctr"/>
          <a:lstStyle/>
          <a:p>
            <a:pPr marL="0" indent="0">
              <a:buNone/>
            </a:pPr>
            <a:r>
              <a:rPr lang="en-US" sz="2100" b="1" dirty="0">
                <a:solidFill>
                  <a:srgbClr val="1F3D2C"/>
                </a:solidFill>
                <a:latin typeface="Cambria" pitchFamily="34" charset="0"/>
                <a:ea typeface="Cambria" pitchFamily="34" charset="-122"/>
                <a:cs typeface="Cambria" pitchFamily="34" charset="-120"/>
              </a:rPr>
              <a:t>Managers</a:t>
            </a:r>
            <a:endParaRPr lang="en-US" sz="2100" dirty="0"/>
          </a:p>
        </p:txBody>
      </p:sp>
      <p:sp>
        <p:nvSpPr>
          <p:cNvPr id="12" name="Text 9"/>
          <p:cNvSpPr txBox="1"/>
          <p:nvPr/>
        </p:nvSpPr>
        <p:spPr>
          <a:xfrm>
            <a:off x="6446520" y="3127248"/>
            <a:ext cx="4800600" cy="1737360"/>
          </a:xfrm>
          <a:prstGeom prst="rect">
            <a:avLst/>
          </a:prstGeom>
          <a:noFill/>
          <a:ln/>
        </p:spPr>
        <p:txBody>
          <a:bodyPr wrap="square" lIns="0" tIns="0" rIns="0" bIns="0" rtlCol="0" anchor="ctr"/>
          <a:lstStyle/>
          <a:p>
            <a:pPr marL="0" indent="0">
              <a:lnSpc>
                <a:spcPct val="115000"/>
              </a:lnSpc>
              <a:buNone/>
            </a:pPr>
            <a:r>
              <a:rPr lang="en-US" sz="1700" dirty="0">
                <a:solidFill>
                  <a:srgbClr val="2B2B2B"/>
                </a:solidFill>
                <a:latin typeface="Calibri" pitchFamily="34" charset="0"/>
                <a:ea typeface="Calibri" pitchFamily="34" charset="-122"/>
                <a:cs typeface="Calibri" pitchFamily="34" charset="-120"/>
              </a:rPr>
              <a:t>Keep the sprint hub, capacity charts, and Power BI reporting exactly where they already are.</a:t>
            </a:r>
            <a:endParaRPr lang="en-US" sz="1700" dirty="0"/>
          </a:p>
        </p:txBody>
      </p:sp>
      <p:sp>
        <p:nvSpPr>
          <p:cNvPr id="13" name="Text 10"/>
          <p:cNvSpPr txBox="1"/>
          <p:nvPr/>
        </p:nvSpPr>
        <p:spPr>
          <a:xfrm>
            <a:off x="548640" y="5257800"/>
            <a:ext cx="11064240" cy="594360"/>
          </a:xfrm>
          <a:prstGeom prst="rect">
            <a:avLst/>
          </a:prstGeom>
          <a:noFill/>
          <a:ln/>
        </p:spPr>
        <p:txBody>
          <a:bodyPr wrap="square" lIns="0" tIns="0" rIns="0" bIns="0" rtlCol="0" anchor="ctr"/>
          <a:lstStyle/>
          <a:p>
            <a:pPr marL="0" indent="0" algn="ctr">
              <a:buNone/>
            </a:pPr>
            <a:r>
              <a:rPr lang="en-US" sz="1800" i="1" dirty="0">
                <a:solidFill>
                  <a:srgbClr val="C1440E"/>
                </a:solidFill>
                <a:latin typeface="Calibri" pitchFamily="34" charset="0"/>
                <a:ea typeface="Calibri" pitchFamily="34" charset="-122"/>
                <a:cs typeface="Calibri" pitchFamily="34" charset="-120"/>
              </a:rPr>
              <a:t>Microsoft designed this as the intended shape. Call it the answer, not the fallback.</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ThumbsUp-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SPRINT PLANNING IN ITS NATURAL HABITAT</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Recommendation: Connect Boards, Don’t Migrate Work Items</a:t>
            </a:r>
            <a:endParaRPr lang="en-US" sz="3200" dirty="0"/>
          </a:p>
        </p:txBody>
      </p:sp>
      <p:sp>
        <p:nvSpPr>
          <p:cNvPr id="6" name="Shape 3"/>
          <p:cNvSpPr/>
          <p:nvPr/>
        </p:nvSpPr>
        <p:spPr>
          <a:xfrm>
            <a:off x="548640" y="1691640"/>
            <a:ext cx="11064240" cy="2286000"/>
          </a:xfrm>
          <a:prstGeom prst="roundRect">
            <a:avLst>
              <a:gd name="adj" fmla="val 48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920240"/>
            <a:ext cx="10332720" cy="1920240"/>
          </a:xfrm>
          <a:prstGeom prst="rect">
            <a:avLst/>
          </a:prstGeom>
          <a:noFill/>
          <a:ln/>
        </p:spPr>
        <p:txBody>
          <a:bodyPr wrap="square" lIns="0" tIns="0" rIns="0" bIns="0" rtlCol="0" anchor="ctr"/>
          <a:lstStyle/>
          <a:p>
            <a:pPr marL="0" indent="0">
              <a:lnSpc>
                <a:spcPct val="125000"/>
              </a:lnSpc>
              <a:buNone/>
            </a:pPr>
            <a:r>
              <a:rPr lang="en-US" sz="1900" b="1" dirty="0">
                <a:solidFill>
                  <a:srgbClr val="2B2B2B"/>
                </a:solidFill>
                <a:latin typeface="Calibri" pitchFamily="34" charset="0"/>
                <a:ea typeface="Calibri" pitchFamily="34" charset="-122"/>
                <a:cs typeface="Calibri" pitchFamily="34" charset="-120"/>
              </a:rPr>
              <a:t>Don’t migrate to GitHub Issues unless your PM needs are genuinely simple. </a:t>
            </a:r>
            <a:r>
              <a:rPr lang="en-US" sz="1900" dirty="0">
                <a:solidFill>
                  <a:srgbClr val="2B2B2B"/>
                </a:solidFill>
                <a:latin typeface="Calibri" pitchFamily="34" charset="0"/>
                <a:ea typeface="Calibri" pitchFamily="34" charset="-122"/>
                <a:cs typeface="Calibri" pitchFamily="34" charset="-120"/>
              </a:rPr>
              <a:t>For most teams past a handful of people, the hierarchy, capacity planning, and reporting Azure Boards already gives you are worth keeping — connect it instead of replacing it.</a:t>
            </a:r>
            <a:endParaRPr lang="en-US" sz="1900" dirty="0"/>
          </a:p>
        </p:txBody>
      </p:sp>
      <p:sp>
        <p:nvSpPr>
          <p:cNvPr id="8" name="Shape 5"/>
          <p:cNvSpPr/>
          <p:nvPr/>
        </p:nvSpPr>
        <p:spPr>
          <a:xfrm>
            <a:off x="548640" y="4206240"/>
            <a:ext cx="11064240" cy="1691640"/>
          </a:xfrm>
          <a:prstGeom prst="roundRect">
            <a:avLst>
              <a:gd name="adj" fmla="val 6486"/>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4370832"/>
            <a:ext cx="10515600" cy="1371600"/>
          </a:xfrm>
          <a:prstGeom prst="rect">
            <a:avLst/>
          </a:prstGeom>
          <a:noFill/>
          <a:ln/>
        </p:spPr>
        <p:txBody>
          <a:bodyPr wrap="square" lIns="0" tIns="0" rIns="0" bIns="0" rtlCol="0" anchor="ctr"/>
          <a:lstStyle/>
          <a:p>
            <a:pPr marL="0" indent="0">
              <a:lnSpc>
                <a:spcPct val="115000"/>
              </a:lnSpc>
              <a:buNone/>
            </a:pPr>
            <a:r>
              <a:rPr lang="en-US" sz="1500" b="1" dirty="0">
                <a:solidFill>
                  <a:srgbClr val="F5F5F0"/>
                </a:solidFill>
                <a:latin typeface="Calibri" pitchFamily="34" charset="0"/>
                <a:ea typeface="Calibri" pitchFamily="34" charset="-122"/>
                <a:cs typeface="Calibri" pitchFamily="34" charset="-120"/>
              </a:rPr>
              <a:t>And if Azure DevOps isn’t the right choice for planning either: </a:t>
            </a:r>
            <a:r>
              <a:rPr lang="en-US" sz="1500" dirty="0">
                <a:solidFill>
                  <a:srgbClr val="F5F5F0"/>
                </a:solidFill>
                <a:latin typeface="Calibri" pitchFamily="34" charset="0"/>
                <a:ea typeface="Calibri" pitchFamily="34" charset="-122"/>
                <a:cs typeface="Calibri" pitchFamily="34" charset="-120"/>
              </a:rPr>
              <a:t>this recommendation isn’t “Azure Boards forever.” It’s “don’t default to GitHub Issues just because the code moved.” Leave the door open to whatever work-planning tool actually fits — that’s a separate decision from where the code lives.</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1F3D2C"/>
        </a:solidFill>
        <a:effectLst/>
      </p:bgPr>
    </p:bg>
    <p:spTree>
      <p:nvGrpSpPr>
        <p:cNvPr id="1" name=""/>
        <p:cNvGrpSpPr/>
        <p:nvPr/>
      </p:nvGrpSpPr>
      <p:grpSpPr>
        <a:xfrm>
          <a:off x="0" y="0"/>
          <a:ext cx="0" cy="0"/>
          <a:chOff x="0" y="0"/>
          <a:chExt cx="0" cy="0"/>
        </a:xfrm>
      </p:grpSpPr>
      <p:sp>
        <p:nvSpPr>
          <p:cNvPr id="2" name="Text 0"/>
          <p:cNvSpPr txBox="1"/>
          <p:nvPr/>
        </p:nvSpPr>
        <p:spPr>
          <a:xfrm>
            <a:off x="548640" y="2651760"/>
            <a:ext cx="11064240" cy="1005840"/>
          </a:xfrm>
          <a:prstGeom prst="rect">
            <a:avLst/>
          </a:prstGeom>
          <a:noFill/>
          <a:ln/>
        </p:spPr>
        <p:txBody>
          <a:bodyPr wrap="square" lIns="0" tIns="0" rIns="0" bIns="0" rtlCol="0" anchor="ctr"/>
          <a:lstStyle/>
          <a:p>
            <a:pPr marL="0" indent="0" algn="ctr">
              <a:buNone/>
            </a:pPr>
            <a:r>
              <a:rPr lang="en-US" sz="4200" b="1" dirty="0">
                <a:solidFill>
                  <a:srgbClr val="F5F5F0"/>
                </a:solidFill>
                <a:latin typeface="Cambria" pitchFamily="34" charset="0"/>
                <a:ea typeface="Cambria" pitchFamily="34" charset="-122"/>
                <a:cs typeface="Cambria" pitchFamily="34" charset="-120"/>
              </a:rPr>
              <a:t>Q&amp;A POCKET</a:t>
            </a:r>
            <a:endParaRPr lang="en-US" sz="4200" dirty="0"/>
          </a:p>
        </p:txBody>
      </p:sp>
      <p:sp>
        <p:nvSpPr>
          <p:cNvPr id="3" name="Text 1"/>
          <p:cNvSpPr txBox="1"/>
          <p:nvPr/>
        </p:nvSpPr>
        <p:spPr>
          <a:xfrm>
            <a:off x="548640" y="3703320"/>
            <a:ext cx="11064240" cy="594360"/>
          </a:xfrm>
          <a:prstGeom prst="rect">
            <a:avLst/>
          </a:prstGeom>
          <a:noFill/>
          <a:ln/>
        </p:spPr>
        <p:txBody>
          <a:bodyPr wrap="square" lIns="0" tIns="0" rIns="0" bIns="0" rtlCol="0" anchor="ctr"/>
          <a:lstStyle/>
          <a:p>
            <a:pPr marL="0" indent="0" algn="ctr">
              <a:buNone/>
            </a:pPr>
            <a:r>
              <a:rPr lang="en-US" sz="1900" i="1" dirty="0">
                <a:solidFill>
                  <a:srgbClr val="8C6A3F"/>
                </a:solidFill>
                <a:latin typeface="Calibri" pitchFamily="34" charset="0"/>
                <a:ea typeface="Calibri" pitchFamily="34" charset="-122"/>
                <a:cs typeface="Calibri" pitchFamily="34" charset="-120"/>
              </a:rPr>
              <a:t>One quick question before we leave Section 4 — Sprint Planning in Its Natural Habitat</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txBody>
          <a:bodyPr/>
          <a:lstStyle/>
          <a:p>
            <a:endParaRPr lang="en-US"/>
          </a:p>
        </p:txBody>
      </p:sp>
      <p:sp>
        <p:nvSpPr>
          <p:cNvPr id="3" name="Text 1"/>
          <p:cNvSpPr txBox="1"/>
          <p:nvPr/>
        </p:nvSpPr>
        <p:spPr>
          <a:xfrm>
            <a:off x="548640" y="365760"/>
            <a:ext cx="9144000" cy="502920"/>
          </a:xfrm>
          <a:prstGeom prst="rect">
            <a:avLst/>
          </a:prstGeom>
          <a:noFill/>
          <a:ln/>
        </p:spPr>
        <p:txBody>
          <a:bodyPr wrap="square" lIns="0" tIns="0" rIns="0" bIns="0" rtlCol="0" anchor="ctr"/>
          <a:lstStyle/>
          <a:p>
            <a:pPr marL="0" indent="0">
              <a:buNone/>
            </a:pPr>
            <a:r>
              <a:rPr lang="en-US" sz="1700" b="1" kern="0" spc="300" dirty="0">
                <a:solidFill>
                  <a:srgbClr val="8C6A3F"/>
                </a:solidFill>
                <a:latin typeface="Calibri" pitchFamily="34" charset="0"/>
                <a:ea typeface="Calibri" pitchFamily="34" charset="-122"/>
                <a:cs typeface="Calibri" pitchFamily="34" charset="-120"/>
              </a:rPr>
              <a:t>SECTION 5</a:t>
            </a:r>
            <a:endParaRPr lang="en-US" sz="1700" dirty="0"/>
          </a:p>
        </p:txBody>
      </p:sp>
      <p:pic>
        <p:nvPicPr>
          <p:cNvPr id="4" name="Image 0" descr="/home/claude/pptx-build/assets/icons/FaShieldAlt-8C6A3F-300.png"/>
          <p:cNvPicPr>
            <a:picLocks noChangeAspect="1"/>
          </p:cNvPicPr>
          <p:nvPr/>
        </p:nvPicPr>
        <p:blipFill>
          <a:blip r:embed="rId3">
            <a:alphaModFix amt="85000"/>
          </a:blip>
          <a:stretch>
            <a:fillRect/>
          </a:stretch>
        </p:blipFill>
        <p:spPr>
          <a:xfrm>
            <a:off x="9692640" y="2194560"/>
            <a:ext cx="1463040" cy="1463040"/>
          </a:xfrm>
          <a:prstGeom prst="rect">
            <a:avLst/>
          </a:prstGeom>
        </p:spPr>
      </p:pic>
      <p:sp>
        <p:nvSpPr>
          <p:cNvPr id="5" name="Text 2"/>
          <p:cNvSpPr txBox="1"/>
          <p:nvPr/>
        </p:nvSpPr>
        <p:spPr>
          <a:xfrm>
            <a:off x="548640" y="2331720"/>
            <a:ext cx="8778240" cy="1737360"/>
          </a:xfrm>
          <a:prstGeom prst="rect">
            <a:avLst/>
          </a:prstGeom>
          <a:noFill/>
          <a:ln/>
        </p:spPr>
        <p:txBody>
          <a:bodyPr wrap="square" lIns="0" tIns="0" rIns="0" bIns="0" rtlCol="0" anchor="t"/>
          <a:lstStyle/>
          <a:p>
            <a:pPr marL="0" indent="0">
              <a:buNone/>
            </a:pPr>
            <a:r>
              <a:rPr lang="en-US" sz="4400" b="1" dirty="0">
                <a:solidFill>
                  <a:srgbClr val="F5F5F0"/>
                </a:solidFill>
                <a:latin typeface="Cambria" pitchFamily="34" charset="0"/>
                <a:ea typeface="Cambria" pitchFamily="34" charset="-122"/>
                <a:cs typeface="Cambria" pitchFamily="34" charset="-120"/>
              </a:rPr>
              <a:t>The Senior Engineer Defends an Ancient Pipeline</a:t>
            </a:r>
            <a:endParaRPr lang="en-US" sz="4400" dirty="0"/>
          </a:p>
        </p:txBody>
      </p:sp>
      <p:sp>
        <p:nvSpPr>
          <p:cNvPr id="6" name="Text 3"/>
          <p:cNvSpPr txBox="1"/>
          <p:nvPr/>
        </p:nvSpPr>
        <p:spPr>
          <a:xfrm>
            <a:off x="548640" y="4160520"/>
            <a:ext cx="8778240" cy="1234440"/>
          </a:xfrm>
          <a:prstGeom prst="rect">
            <a:avLst/>
          </a:prstGeom>
          <a:noFill/>
          <a:ln/>
        </p:spPr>
        <p:txBody>
          <a:bodyPr wrap="square" lIns="0" tIns="0" rIns="0" bIns="0" rtlCol="0" anchor="t"/>
          <a:lstStyle/>
          <a:p>
            <a:pPr marL="0" indent="0">
              <a:buNone/>
            </a:pPr>
            <a:r>
              <a:rPr lang="en-US" sz="2000" i="1" dirty="0">
                <a:solidFill>
                  <a:srgbClr val="8C6A3F"/>
                </a:solidFill>
                <a:latin typeface="Calibri" pitchFamily="34" charset="0"/>
                <a:ea typeface="Calibri" pitchFamily="34" charset="-122"/>
                <a:cs typeface="Calibri" pitchFamily="34" charset="-120"/>
              </a:rPr>
              <a:t>It has survived three reorgs, two failed migrations, and one engineer who swore they’d rewrite it “this quarter.” It is loved. It is also the reason nothing else can change.</a:t>
            </a:r>
            <a:endParaRPr lang="en-US" sz="2000" dirty="0"/>
          </a:p>
        </p:txBody>
      </p:sp>
      <p:sp>
        <p:nvSpPr>
          <p:cNvPr id="7" name="Shape 4"/>
          <p:cNvSpPr/>
          <p:nvPr/>
        </p:nvSpPr>
        <p:spPr>
          <a:xfrm>
            <a:off x="548640" y="6217920"/>
            <a:ext cx="11064240" cy="0"/>
          </a:xfrm>
          <a:prstGeom prst="line">
            <a:avLst/>
          </a:prstGeom>
          <a:noFill/>
          <a:ln w="9525">
            <a:solidFill>
              <a:srgbClr val="8C6A3F"/>
            </a:solidFill>
            <a:prstDash val="dash"/>
          </a:ln>
        </p:spPr>
        <p:txBody>
          <a:bodyPr/>
          <a:lstStyle/>
          <a:p>
            <a:endParaRPr lang="en-US"/>
          </a:p>
        </p:txBody>
      </p:sp>
      <p:sp>
        <p:nvSpPr>
          <p:cNvPr id="8" name="Text 5"/>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1200" dirty="0">
                <a:solidFill>
                  <a:srgbClr val="6B6B63"/>
                </a:solidFill>
                <a:latin typeface="Calibri" pitchFamily="34" charset="0"/>
                <a:ea typeface="Calibri" pitchFamily="34" charset="-122"/>
                <a:cs typeface="Calibri" pitchFamily="34" charset="-120"/>
              </a:rPr>
              <a:t>DOCUMENTARY VOICE — SPOKEN LIVE, NOT READ</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TheaterMasks-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PREVENTING THE UPRISING</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This Is Change Management Wearing an Engineering Costume</a:t>
            </a:r>
            <a:endParaRPr lang="en-US" sz="3200" dirty="0"/>
          </a:p>
        </p:txBody>
      </p:sp>
      <p:sp>
        <p:nvSpPr>
          <p:cNvPr id="6" name="Shape 3"/>
          <p:cNvSpPr/>
          <p:nvPr/>
        </p:nvSpPr>
        <p:spPr>
          <a:xfrm>
            <a:off x="548640" y="1691640"/>
            <a:ext cx="11064240" cy="1920240"/>
          </a:xfrm>
          <a:prstGeom prst="roundRect">
            <a:avLst>
              <a:gd name="adj" fmla="val 5714"/>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874520"/>
            <a:ext cx="10515600" cy="1554480"/>
          </a:xfrm>
          <a:prstGeom prst="rect">
            <a:avLst/>
          </a:prstGeom>
          <a:noFill/>
          <a:ln/>
        </p:spPr>
        <p:txBody>
          <a:bodyPr wrap="square" lIns="0" tIns="0" rIns="0" bIns="0" rtlCol="0" anchor="ctr"/>
          <a:lstStyle/>
          <a:p>
            <a:pPr marL="0" indent="0">
              <a:lnSpc>
                <a:spcPct val="125000"/>
              </a:lnSpc>
              <a:buNone/>
            </a:pPr>
            <a:r>
              <a:rPr lang="en-US" sz="2000" b="1" dirty="0">
                <a:solidFill>
                  <a:srgbClr val="2B2B2B"/>
                </a:solidFill>
                <a:latin typeface="Calibri" pitchFamily="34" charset="0"/>
                <a:ea typeface="Calibri" pitchFamily="34" charset="-122"/>
                <a:cs typeface="Calibri" pitchFamily="34" charset="-120"/>
              </a:rPr>
              <a:t>Migrations that fail, fail on change management, not mechanics. </a:t>
            </a:r>
            <a:r>
              <a:rPr lang="en-US" sz="2000" dirty="0">
                <a:solidFill>
                  <a:srgbClr val="2B2B2B"/>
                </a:solidFill>
                <a:latin typeface="Calibri" pitchFamily="34" charset="0"/>
                <a:ea typeface="Calibri" pitchFamily="34" charset="-122"/>
                <a:cs typeface="Calibri" pitchFamily="34" charset="-120"/>
              </a:rPr>
              <a:t>The tooling almost always works. What breaks is everything around it.</a:t>
            </a:r>
            <a:endParaRPr lang="en-US" sz="2000" dirty="0"/>
          </a:p>
        </p:txBody>
      </p:sp>
      <p:sp>
        <p:nvSpPr>
          <p:cNvPr id="8" name="Shape 5"/>
          <p:cNvSpPr/>
          <p:nvPr/>
        </p:nvSpPr>
        <p:spPr>
          <a:xfrm>
            <a:off x="548640" y="3886200"/>
            <a:ext cx="11064240" cy="777240"/>
          </a:xfrm>
          <a:prstGeom prst="roundRect">
            <a:avLst>
              <a:gd name="adj" fmla="val 14118"/>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4005072"/>
            <a:ext cx="10515600" cy="548640"/>
          </a:xfrm>
          <a:prstGeom prst="rect">
            <a:avLst/>
          </a:prstGeom>
          <a:noFill/>
          <a:ln/>
        </p:spPr>
        <p:txBody>
          <a:bodyPr wrap="square" lIns="0" tIns="0" rIns="0" bIns="0" rtlCol="0" anchor="ctr"/>
          <a:lstStyle/>
          <a:p>
            <a:pPr marL="0" indent="0">
              <a:buNone/>
            </a:pPr>
            <a:r>
              <a:rPr lang="en-US" sz="1700" dirty="0">
                <a:solidFill>
                  <a:srgbClr val="F5F5F0"/>
                </a:solidFill>
                <a:latin typeface="Calibri" pitchFamily="34" charset="0"/>
                <a:ea typeface="Calibri" pitchFamily="34" charset="-122"/>
                <a:cs typeface="Calibri" pitchFamily="34" charset="-120"/>
              </a:rPr>
              <a:t>No real selection process — the tool got picked, not evaluated</a:t>
            </a:r>
            <a:endParaRPr lang="en-US" sz="1700" dirty="0"/>
          </a:p>
        </p:txBody>
      </p:sp>
      <p:sp>
        <p:nvSpPr>
          <p:cNvPr id="10" name="Shape 7"/>
          <p:cNvSpPr/>
          <p:nvPr/>
        </p:nvSpPr>
        <p:spPr>
          <a:xfrm>
            <a:off x="548640" y="4846320"/>
            <a:ext cx="11064240" cy="777240"/>
          </a:xfrm>
          <a:prstGeom prst="roundRect">
            <a:avLst>
              <a:gd name="adj" fmla="val 14118"/>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8"/>
          <p:cNvSpPr txBox="1"/>
          <p:nvPr/>
        </p:nvSpPr>
        <p:spPr>
          <a:xfrm>
            <a:off x="822960" y="4965192"/>
            <a:ext cx="10515600" cy="548640"/>
          </a:xfrm>
          <a:prstGeom prst="rect">
            <a:avLst/>
          </a:prstGeom>
          <a:noFill/>
          <a:ln/>
        </p:spPr>
        <p:txBody>
          <a:bodyPr wrap="square" lIns="0" tIns="0" rIns="0" bIns="0" rtlCol="0" anchor="ctr"/>
          <a:lstStyle/>
          <a:p>
            <a:pPr marL="0" indent="0">
              <a:buNone/>
            </a:pPr>
            <a:r>
              <a:rPr lang="en-US" sz="1700" dirty="0">
                <a:solidFill>
                  <a:srgbClr val="F5F5F0"/>
                </a:solidFill>
                <a:latin typeface="Calibri" pitchFamily="34" charset="0"/>
                <a:ea typeface="Calibri" pitchFamily="34" charset="-122"/>
                <a:cs typeface="Calibri" pitchFamily="34" charset="-120"/>
              </a:rPr>
              <a:t>Customization started before anyone understood the new tool</a:t>
            </a:r>
            <a:endParaRPr lang="en-US" sz="1700" dirty="0"/>
          </a:p>
        </p:txBody>
      </p:sp>
      <p:sp>
        <p:nvSpPr>
          <p:cNvPr id="12" name="Shape 9"/>
          <p:cNvSpPr/>
          <p:nvPr/>
        </p:nvSpPr>
        <p:spPr>
          <a:xfrm>
            <a:off x="548640" y="5806440"/>
            <a:ext cx="11064240" cy="777240"/>
          </a:xfrm>
          <a:prstGeom prst="roundRect">
            <a:avLst>
              <a:gd name="adj" fmla="val 14118"/>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0"/>
          <p:cNvSpPr txBox="1"/>
          <p:nvPr/>
        </p:nvSpPr>
        <p:spPr>
          <a:xfrm>
            <a:off x="822960" y="5925312"/>
            <a:ext cx="10515600" cy="548640"/>
          </a:xfrm>
          <a:prstGeom prst="rect">
            <a:avLst/>
          </a:prstGeom>
          <a:noFill/>
          <a:ln/>
        </p:spPr>
        <p:txBody>
          <a:bodyPr wrap="square" lIns="0" tIns="0" rIns="0" bIns="0" rtlCol="0" anchor="ctr"/>
          <a:lstStyle/>
          <a:p>
            <a:pPr marL="0" indent="0">
              <a:buNone/>
            </a:pPr>
            <a:r>
              <a:rPr lang="en-US" sz="1700" dirty="0">
                <a:solidFill>
                  <a:srgbClr val="F5F5F0"/>
                </a:solidFill>
                <a:latin typeface="Calibri" pitchFamily="34" charset="0"/>
                <a:ea typeface="Calibri" pitchFamily="34" charset="-122"/>
                <a:cs typeface="Calibri" pitchFamily="34" charset="-120"/>
              </a:rPr>
              <a:t>The rollout felt done to people, not with them</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Tasks-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PREVENTING THE UPRISING</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The Disciplined Selection Process</a:t>
            </a:r>
            <a:endParaRPr lang="en-US" sz="3200" dirty="0"/>
          </a:p>
        </p:txBody>
      </p:sp>
      <p:sp>
        <p:nvSpPr>
          <p:cNvPr id="6" name="Shape 3"/>
          <p:cNvSpPr/>
          <p:nvPr/>
        </p:nvSpPr>
        <p:spPr>
          <a:xfrm>
            <a:off x="548640" y="1645920"/>
            <a:ext cx="11064240" cy="786384"/>
          </a:xfrm>
          <a:prstGeom prst="roundRect">
            <a:avLst>
              <a:gd name="adj" fmla="val 1395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777240" y="1746504"/>
            <a:ext cx="585216" cy="585216"/>
          </a:xfrm>
          <a:prstGeom prst="ellipse">
            <a:avLst/>
          </a:prstGeom>
          <a:solidFill>
            <a:srgbClr val="C1440E"/>
          </a:solidFill>
          <a:ln/>
        </p:spPr>
        <p:txBody>
          <a:bodyPr/>
          <a:lstStyle/>
          <a:p>
            <a:endParaRPr lang="en-US"/>
          </a:p>
        </p:txBody>
      </p:sp>
      <p:sp>
        <p:nvSpPr>
          <p:cNvPr id="8" name="Text 5"/>
          <p:cNvSpPr txBox="1"/>
          <p:nvPr/>
        </p:nvSpPr>
        <p:spPr>
          <a:xfrm>
            <a:off x="777240" y="1746504"/>
            <a:ext cx="585216" cy="585216"/>
          </a:xfrm>
          <a:prstGeom prst="rect">
            <a:avLst/>
          </a:prstGeom>
          <a:noFill/>
          <a:ln/>
        </p:spPr>
        <p:txBody>
          <a:bodyPr wrap="square" lIns="0" tIns="0" rIns="0" bIns="0" rtlCol="0" anchor="ctr"/>
          <a:lstStyle/>
          <a:p>
            <a:pPr marL="0" indent="0" algn="ctr">
              <a:buNone/>
            </a:pPr>
            <a:r>
              <a:rPr lang="en-US" sz="2000" b="1" dirty="0">
                <a:solidFill>
                  <a:srgbClr val="F5F5F0"/>
                </a:solidFill>
                <a:latin typeface="Cambria" pitchFamily="34" charset="0"/>
                <a:ea typeface="Cambria" pitchFamily="34" charset="-122"/>
                <a:cs typeface="Cambria" pitchFamily="34" charset="-120"/>
              </a:rPr>
              <a:t>1</a:t>
            </a:r>
            <a:endParaRPr lang="en-US" sz="2000" dirty="0"/>
          </a:p>
        </p:txBody>
      </p:sp>
      <p:sp>
        <p:nvSpPr>
          <p:cNvPr id="9" name="Text 6"/>
          <p:cNvSpPr txBox="1"/>
          <p:nvPr/>
        </p:nvSpPr>
        <p:spPr>
          <a:xfrm>
            <a:off x="1554480" y="1719072"/>
            <a:ext cx="3200400" cy="64008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Define must-haves</a:t>
            </a:r>
            <a:endParaRPr lang="en-US" sz="1600" dirty="0"/>
          </a:p>
        </p:txBody>
      </p:sp>
      <p:sp>
        <p:nvSpPr>
          <p:cNvPr id="10" name="Text 7"/>
          <p:cNvSpPr txBox="1"/>
          <p:nvPr/>
        </p:nvSpPr>
        <p:spPr>
          <a:xfrm>
            <a:off x="4892040" y="1719072"/>
            <a:ext cx="6492240" cy="64008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What the tool has to do, not what would be nice.</a:t>
            </a:r>
            <a:endParaRPr lang="en-US" sz="1350" dirty="0"/>
          </a:p>
        </p:txBody>
      </p:sp>
      <p:sp>
        <p:nvSpPr>
          <p:cNvPr id="11" name="Shape 8"/>
          <p:cNvSpPr/>
          <p:nvPr/>
        </p:nvSpPr>
        <p:spPr>
          <a:xfrm>
            <a:off x="548640" y="2487168"/>
            <a:ext cx="11064240" cy="786384"/>
          </a:xfrm>
          <a:prstGeom prst="roundRect">
            <a:avLst>
              <a:gd name="adj" fmla="val 1395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9"/>
          <p:cNvSpPr/>
          <p:nvPr/>
        </p:nvSpPr>
        <p:spPr>
          <a:xfrm>
            <a:off x="777240" y="2587752"/>
            <a:ext cx="585216" cy="585216"/>
          </a:xfrm>
          <a:prstGeom prst="ellipse">
            <a:avLst/>
          </a:prstGeom>
          <a:solidFill>
            <a:srgbClr val="C1440E"/>
          </a:solidFill>
          <a:ln/>
        </p:spPr>
        <p:txBody>
          <a:bodyPr/>
          <a:lstStyle/>
          <a:p>
            <a:endParaRPr lang="en-US"/>
          </a:p>
        </p:txBody>
      </p:sp>
      <p:sp>
        <p:nvSpPr>
          <p:cNvPr id="13" name="Text 10"/>
          <p:cNvSpPr txBox="1"/>
          <p:nvPr/>
        </p:nvSpPr>
        <p:spPr>
          <a:xfrm>
            <a:off x="777240" y="2587752"/>
            <a:ext cx="585216" cy="585216"/>
          </a:xfrm>
          <a:prstGeom prst="rect">
            <a:avLst/>
          </a:prstGeom>
          <a:noFill/>
          <a:ln/>
        </p:spPr>
        <p:txBody>
          <a:bodyPr wrap="square" lIns="0" tIns="0" rIns="0" bIns="0" rtlCol="0" anchor="ctr"/>
          <a:lstStyle/>
          <a:p>
            <a:pPr marL="0" indent="0" algn="ctr">
              <a:buNone/>
            </a:pPr>
            <a:r>
              <a:rPr lang="en-US" sz="2000" b="1" dirty="0">
                <a:solidFill>
                  <a:srgbClr val="F5F5F0"/>
                </a:solidFill>
                <a:latin typeface="Cambria" pitchFamily="34" charset="0"/>
                <a:ea typeface="Cambria" pitchFamily="34" charset="-122"/>
                <a:cs typeface="Cambria" pitchFamily="34" charset="-120"/>
              </a:rPr>
              <a:t>2</a:t>
            </a:r>
            <a:endParaRPr lang="en-US" sz="2000" dirty="0"/>
          </a:p>
        </p:txBody>
      </p:sp>
      <p:sp>
        <p:nvSpPr>
          <p:cNvPr id="14" name="Text 11"/>
          <p:cNvSpPr txBox="1"/>
          <p:nvPr/>
        </p:nvSpPr>
        <p:spPr>
          <a:xfrm>
            <a:off x="1554480" y="2560320"/>
            <a:ext cx="3200400" cy="64008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Assess constraints</a:t>
            </a:r>
            <a:endParaRPr lang="en-US" sz="1600" dirty="0"/>
          </a:p>
        </p:txBody>
      </p:sp>
      <p:sp>
        <p:nvSpPr>
          <p:cNvPr id="15" name="Text 12"/>
          <p:cNvSpPr txBox="1"/>
          <p:nvPr/>
        </p:nvSpPr>
        <p:spPr>
          <a:xfrm>
            <a:off x="4892040" y="2560320"/>
            <a:ext cx="6492240" cy="64008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Current toolchain, data-residency needs, compliance requirements.</a:t>
            </a:r>
            <a:endParaRPr lang="en-US" sz="1350" dirty="0"/>
          </a:p>
        </p:txBody>
      </p:sp>
      <p:sp>
        <p:nvSpPr>
          <p:cNvPr id="16" name="Shape 13"/>
          <p:cNvSpPr/>
          <p:nvPr/>
        </p:nvSpPr>
        <p:spPr>
          <a:xfrm>
            <a:off x="548640" y="3328416"/>
            <a:ext cx="11064240" cy="786384"/>
          </a:xfrm>
          <a:prstGeom prst="roundRect">
            <a:avLst>
              <a:gd name="adj" fmla="val 1395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4"/>
          <p:cNvSpPr/>
          <p:nvPr/>
        </p:nvSpPr>
        <p:spPr>
          <a:xfrm>
            <a:off x="777240" y="3429000"/>
            <a:ext cx="585216" cy="585216"/>
          </a:xfrm>
          <a:prstGeom prst="ellipse">
            <a:avLst/>
          </a:prstGeom>
          <a:solidFill>
            <a:srgbClr val="C1440E"/>
          </a:solidFill>
          <a:ln/>
        </p:spPr>
        <p:txBody>
          <a:bodyPr/>
          <a:lstStyle/>
          <a:p>
            <a:endParaRPr lang="en-US"/>
          </a:p>
        </p:txBody>
      </p:sp>
      <p:sp>
        <p:nvSpPr>
          <p:cNvPr id="18" name="Text 15"/>
          <p:cNvSpPr txBox="1"/>
          <p:nvPr/>
        </p:nvSpPr>
        <p:spPr>
          <a:xfrm>
            <a:off x="777240" y="3429000"/>
            <a:ext cx="585216" cy="585216"/>
          </a:xfrm>
          <a:prstGeom prst="rect">
            <a:avLst/>
          </a:prstGeom>
          <a:noFill/>
          <a:ln/>
        </p:spPr>
        <p:txBody>
          <a:bodyPr wrap="square" lIns="0" tIns="0" rIns="0" bIns="0" rtlCol="0" anchor="ctr"/>
          <a:lstStyle/>
          <a:p>
            <a:pPr marL="0" indent="0" algn="ctr">
              <a:buNone/>
            </a:pPr>
            <a:r>
              <a:rPr lang="en-US" sz="2000" b="1" dirty="0">
                <a:solidFill>
                  <a:srgbClr val="F5F5F0"/>
                </a:solidFill>
                <a:latin typeface="Cambria" pitchFamily="34" charset="0"/>
                <a:ea typeface="Cambria" pitchFamily="34" charset="-122"/>
                <a:cs typeface="Cambria" pitchFamily="34" charset="-120"/>
              </a:rPr>
              <a:t>3</a:t>
            </a:r>
            <a:endParaRPr lang="en-US" sz="2000" dirty="0"/>
          </a:p>
        </p:txBody>
      </p:sp>
      <p:sp>
        <p:nvSpPr>
          <p:cNvPr id="19" name="Text 16"/>
          <p:cNvSpPr txBox="1"/>
          <p:nvPr/>
        </p:nvSpPr>
        <p:spPr>
          <a:xfrm>
            <a:off x="1554480" y="3401568"/>
            <a:ext cx="3200400" cy="64008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Model one real increment</a:t>
            </a:r>
            <a:endParaRPr lang="en-US" sz="1600" dirty="0"/>
          </a:p>
        </p:txBody>
      </p:sp>
      <p:sp>
        <p:nvSpPr>
          <p:cNvPr id="20" name="Text 17"/>
          <p:cNvSpPr txBox="1"/>
          <p:nvPr/>
        </p:nvSpPr>
        <p:spPr>
          <a:xfrm>
            <a:off x="4892040" y="3401568"/>
            <a:ext cx="6492240" cy="64008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In each candidate tool — a real slice of real work, not a vendor demo.</a:t>
            </a:r>
            <a:endParaRPr lang="en-US" sz="1350" dirty="0"/>
          </a:p>
        </p:txBody>
      </p:sp>
      <p:sp>
        <p:nvSpPr>
          <p:cNvPr id="21" name="Shape 18"/>
          <p:cNvSpPr/>
          <p:nvPr/>
        </p:nvSpPr>
        <p:spPr>
          <a:xfrm>
            <a:off x="548640" y="4169664"/>
            <a:ext cx="11064240" cy="786384"/>
          </a:xfrm>
          <a:prstGeom prst="roundRect">
            <a:avLst>
              <a:gd name="adj" fmla="val 1395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2" name="Shape 19"/>
          <p:cNvSpPr/>
          <p:nvPr/>
        </p:nvSpPr>
        <p:spPr>
          <a:xfrm>
            <a:off x="777240" y="4270248"/>
            <a:ext cx="585216" cy="585216"/>
          </a:xfrm>
          <a:prstGeom prst="ellipse">
            <a:avLst/>
          </a:prstGeom>
          <a:solidFill>
            <a:srgbClr val="C1440E"/>
          </a:solidFill>
          <a:ln/>
        </p:spPr>
        <p:txBody>
          <a:bodyPr/>
          <a:lstStyle/>
          <a:p>
            <a:endParaRPr lang="en-US"/>
          </a:p>
        </p:txBody>
      </p:sp>
      <p:sp>
        <p:nvSpPr>
          <p:cNvPr id="23" name="Text 20"/>
          <p:cNvSpPr txBox="1"/>
          <p:nvPr/>
        </p:nvSpPr>
        <p:spPr>
          <a:xfrm>
            <a:off x="777240" y="4270248"/>
            <a:ext cx="585216" cy="585216"/>
          </a:xfrm>
          <a:prstGeom prst="rect">
            <a:avLst/>
          </a:prstGeom>
          <a:noFill/>
          <a:ln/>
        </p:spPr>
        <p:txBody>
          <a:bodyPr wrap="square" lIns="0" tIns="0" rIns="0" bIns="0" rtlCol="0" anchor="ctr"/>
          <a:lstStyle/>
          <a:p>
            <a:pPr marL="0" indent="0" algn="ctr">
              <a:buNone/>
            </a:pPr>
            <a:r>
              <a:rPr lang="en-US" sz="2000" b="1" dirty="0">
                <a:solidFill>
                  <a:srgbClr val="F5F5F0"/>
                </a:solidFill>
                <a:latin typeface="Cambria" pitchFamily="34" charset="0"/>
                <a:ea typeface="Cambria" pitchFamily="34" charset="-122"/>
                <a:cs typeface="Cambria" pitchFamily="34" charset="-120"/>
              </a:rPr>
              <a:t>4</a:t>
            </a:r>
            <a:endParaRPr lang="en-US" sz="2000" dirty="0"/>
          </a:p>
        </p:txBody>
      </p:sp>
      <p:sp>
        <p:nvSpPr>
          <p:cNvPr id="24" name="Text 21"/>
          <p:cNvSpPr txBox="1"/>
          <p:nvPr/>
        </p:nvSpPr>
        <p:spPr>
          <a:xfrm>
            <a:off x="1554480" y="4242816"/>
            <a:ext cx="3200400" cy="64008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Score with a weighted rubric</a:t>
            </a:r>
            <a:endParaRPr lang="en-US" sz="1600" dirty="0"/>
          </a:p>
        </p:txBody>
      </p:sp>
      <p:sp>
        <p:nvSpPr>
          <p:cNvPr id="25" name="Text 22"/>
          <p:cNvSpPr txBox="1"/>
          <p:nvPr/>
        </p:nvSpPr>
        <p:spPr>
          <a:xfrm>
            <a:off x="4892040" y="4242816"/>
            <a:ext cx="6492240" cy="64008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Turns gut feel into something you can defend in a room.</a:t>
            </a:r>
            <a:endParaRPr lang="en-US" sz="1350" dirty="0"/>
          </a:p>
        </p:txBody>
      </p:sp>
      <p:sp>
        <p:nvSpPr>
          <p:cNvPr id="26" name="Shape 23"/>
          <p:cNvSpPr/>
          <p:nvPr/>
        </p:nvSpPr>
        <p:spPr>
          <a:xfrm>
            <a:off x="548640" y="5010912"/>
            <a:ext cx="11064240" cy="786384"/>
          </a:xfrm>
          <a:prstGeom prst="roundRect">
            <a:avLst>
              <a:gd name="adj" fmla="val 13953"/>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7" name="Shape 24"/>
          <p:cNvSpPr/>
          <p:nvPr/>
        </p:nvSpPr>
        <p:spPr>
          <a:xfrm>
            <a:off x="777240" y="5111496"/>
            <a:ext cx="585216" cy="585216"/>
          </a:xfrm>
          <a:prstGeom prst="ellipse">
            <a:avLst/>
          </a:prstGeom>
          <a:solidFill>
            <a:srgbClr val="C1440E"/>
          </a:solidFill>
          <a:ln/>
        </p:spPr>
        <p:txBody>
          <a:bodyPr/>
          <a:lstStyle/>
          <a:p>
            <a:endParaRPr lang="en-US"/>
          </a:p>
        </p:txBody>
      </p:sp>
      <p:sp>
        <p:nvSpPr>
          <p:cNvPr id="28" name="Text 25"/>
          <p:cNvSpPr txBox="1"/>
          <p:nvPr/>
        </p:nvSpPr>
        <p:spPr>
          <a:xfrm>
            <a:off x="777240" y="5111496"/>
            <a:ext cx="585216" cy="585216"/>
          </a:xfrm>
          <a:prstGeom prst="rect">
            <a:avLst/>
          </a:prstGeom>
          <a:noFill/>
          <a:ln/>
        </p:spPr>
        <p:txBody>
          <a:bodyPr wrap="square" lIns="0" tIns="0" rIns="0" bIns="0" rtlCol="0" anchor="ctr"/>
          <a:lstStyle/>
          <a:p>
            <a:pPr marL="0" indent="0" algn="ctr">
              <a:buNone/>
            </a:pPr>
            <a:r>
              <a:rPr lang="en-US" sz="2000" b="1" dirty="0">
                <a:solidFill>
                  <a:srgbClr val="F5F5F0"/>
                </a:solidFill>
                <a:latin typeface="Cambria" pitchFamily="34" charset="0"/>
                <a:ea typeface="Cambria" pitchFamily="34" charset="-122"/>
                <a:cs typeface="Cambria" pitchFamily="34" charset="-120"/>
              </a:rPr>
              <a:t>5</a:t>
            </a:r>
            <a:endParaRPr lang="en-US" sz="2000" dirty="0"/>
          </a:p>
        </p:txBody>
      </p:sp>
      <p:sp>
        <p:nvSpPr>
          <p:cNvPr id="29" name="Text 26"/>
          <p:cNvSpPr txBox="1"/>
          <p:nvPr/>
        </p:nvSpPr>
        <p:spPr>
          <a:xfrm>
            <a:off x="1554480" y="5084064"/>
            <a:ext cx="3200400" cy="64008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Run a 4–6 week pilot</a:t>
            </a:r>
            <a:endParaRPr lang="en-US" sz="1600" dirty="0"/>
          </a:p>
        </p:txBody>
      </p:sp>
      <p:sp>
        <p:nvSpPr>
          <p:cNvPr id="30" name="Text 27"/>
          <p:cNvSpPr txBox="1"/>
          <p:nvPr/>
        </p:nvSpPr>
        <p:spPr>
          <a:xfrm>
            <a:off x="4892040" y="5084064"/>
            <a:ext cx="6492240" cy="64008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With measurable outcomes decided in advance, not vibes after the fact.</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Flas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PREVENTING THE UPRISING</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Run the Pilot First — Delay Customization Until After</a:t>
            </a:r>
            <a:endParaRPr lang="en-US" sz="3200" dirty="0"/>
          </a:p>
        </p:txBody>
      </p:sp>
      <p:sp>
        <p:nvSpPr>
          <p:cNvPr id="6" name="Shape 3"/>
          <p:cNvSpPr/>
          <p:nvPr/>
        </p:nvSpPr>
        <p:spPr>
          <a:xfrm>
            <a:off x="548640" y="1737360"/>
            <a:ext cx="11064240" cy="2743200"/>
          </a:xfrm>
          <a:prstGeom prst="roundRect">
            <a:avLst>
              <a:gd name="adj" fmla="val 40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920240"/>
            <a:ext cx="10515600" cy="2377440"/>
          </a:xfrm>
          <a:prstGeom prst="rect">
            <a:avLst/>
          </a:prstGeom>
          <a:noFill/>
          <a:ln/>
        </p:spPr>
        <p:txBody>
          <a:bodyPr wrap="square" lIns="0" tIns="0" rIns="0" bIns="0" rtlCol="0" anchor="ctr"/>
          <a:lstStyle/>
          <a:p>
            <a:pPr marL="0" indent="0">
              <a:lnSpc>
                <a:spcPct val="130000"/>
              </a:lnSpc>
              <a:buNone/>
            </a:pPr>
            <a:r>
              <a:rPr lang="en-US" sz="2000" b="1" dirty="0">
                <a:solidFill>
                  <a:srgbClr val="2B2B2B"/>
                </a:solidFill>
                <a:latin typeface="Calibri" pitchFamily="34" charset="0"/>
                <a:ea typeface="Calibri" pitchFamily="34" charset="-122"/>
                <a:cs typeface="Calibri" pitchFamily="34" charset="-120"/>
              </a:rPr>
              <a:t>Customizing on day one locks in decisions </a:t>
            </a:r>
            <a:r>
              <a:rPr lang="en-US" sz="2000" dirty="0">
                <a:solidFill>
                  <a:srgbClr val="2B2B2B"/>
                </a:solidFill>
                <a:latin typeface="Calibri" pitchFamily="34" charset="0"/>
                <a:ea typeface="Calibri" pitchFamily="34" charset="-122"/>
                <a:cs typeface="Calibri" pitchFamily="34" charset="-120"/>
              </a:rPr>
              <a:t>made by people who didn’t understand the tool yet. Every custom field, every automation rule, every process tweak added before the pilot is a bet placed with the least information you’ll ever have.</a:t>
            </a:r>
            <a:endParaRPr lang="en-US" sz="2000" dirty="0"/>
          </a:p>
        </p:txBody>
      </p:sp>
      <p:sp>
        <p:nvSpPr>
          <p:cNvPr id="8" name="Shape 5"/>
          <p:cNvSpPr/>
          <p:nvPr/>
        </p:nvSpPr>
        <p:spPr>
          <a:xfrm>
            <a:off x="548640" y="4709160"/>
            <a:ext cx="11064240" cy="1325880"/>
          </a:xfrm>
          <a:prstGeom prst="roundRect">
            <a:avLst>
              <a:gd name="adj" fmla="val 8276"/>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4864608"/>
            <a:ext cx="10515600" cy="1005840"/>
          </a:xfrm>
          <a:prstGeom prst="rect">
            <a:avLst/>
          </a:prstGeom>
          <a:noFill/>
          <a:ln/>
        </p:spPr>
        <p:txBody>
          <a:bodyPr wrap="square" lIns="0" tIns="0" rIns="0" bIns="0" rtlCol="0" anchor="ctr"/>
          <a:lstStyle/>
          <a:p>
            <a:pPr marL="0" indent="0">
              <a:buNone/>
            </a:pPr>
            <a:r>
              <a:rPr lang="en-US" sz="1700" i="1" dirty="0">
                <a:solidFill>
                  <a:srgbClr val="F5F5F0"/>
                </a:solidFill>
                <a:latin typeface="Calibri" pitchFamily="34" charset="0"/>
                <a:ea typeface="Calibri" pitchFamily="34" charset="-122"/>
                <a:cs typeface="Calibri" pitchFamily="34" charset="-120"/>
              </a:rPr>
              <a:t>Run the pilot with defaults. Customize afterward, with real usage data instead of guesses.</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Tag-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PREVENTING THE UPRISING</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Don’t Judge on Sticker Price Alone</a:t>
            </a:r>
            <a:endParaRPr lang="en-US" sz="3200" dirty="0"/>
          </a:p>
        </p:txBody>
      </p:sp>
      <p:sp>
        <p:nvSpPr>
          <p:cNvPr id="6" name="Shape 3"/>
          <p:cNvSpPr/>
          <p:nvPr/>
        </p:nvSpPr>
        <p:spPr>
          <a:xfrm>
            <a:off x="548640" y="1645920"/>
            <a:ext cx="11064240" cy="2743200"/>
          </a:xfrm>
          <a:prstGeom prst="roundRect">
            <a:avLst>
              <a:gd name="adj" fmla="val 40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828800"/>
            <a:ext cx="10515600" cy="2377440"/>
          </a:xfrm>
          <a:prstGeom prst="rect">
            <a:avLst/>
          </a:prstGeom>
          <a:noFill/>
          <a:ln/>
        </p:spPr>
        <p:txBody>
          <a:bodyPr wrap="square" lIns="0" tIns="0" rIns="0" bIns="0" rtlCol="0" anchor="ctr"/>
          <a:lstStyle/>
          <a:p>
            <a:pPr marL="0" indent="0">
              <a:lnSpc>
                <a:spcPct val="125000"/>
              </a:lnSpc>
              <a:buNone/>
            </a:pPr>
            <a:r>
              <a:rPr lang="en-US" sz="1900" b="1" dirty="0">
                <a:solidFill>
                  <a:srgbClr val="2B2B2B"/>
                </a:solidFill>
                <a:latin typeface="Calibri" pitchFamily="34" charset="0"/>
                <a:ea typeface="Calibri" pitchFamily="34" charset="-122"/>
                <a:cs typeface="Calibri" pitchFamily="34" charset="-120"/>
              </a:rPr>
              <a:t>Compare the whole bill, not the license line: </a:t>
            </a:r>
            <a:r>
              <a:rPr lang="en-US" sz="1900" dirty="0">
                <a:solidFill>
                  <a:srgbClr val="2B2B2B"/>
                </a:solidFill>
                <a:latin typeface="Calibri" pitchFamily="34" charset="0"/>
                <a:ea typeface="Calibri" pitchFamily="34" charset="-122"/>
                <a:cs typeface="Calibri" pitchFamily="34" charset="-120"/>
              </a:rPr>
              <a:t>licensing tiers, GitHub Advanced Security as an add-on, runner and compute minutes, and the admin and migration effort it actually takes to get there.</a:t>
            </a:r>
            <a:endParaRPr lang="en-US" sz="1900" dirty="0"/>
          </a:p>
        </p:txBody>
      </p:sp>
      <p:sp>
        <p:nvSpPr>
          <p:cNvPr id="8" name="Shape 5"/>
          <p:cNvSpPr/>
          <p:nvPr/>
        </p:nvSpPr>
        <p:spPr>
          <a:xfrm>
            <a:off x="548640" y="4526280"/>
            <a:ext cx="11064240" cy="1508760"/>
          </a:xfrm>
          <a:prstGeom prst="roundRect">
            <a:avLst>
              <a:gd name="adj" fmla="val 7273"/>
            </a:avLst>
          </a:prstGeom>
          <a:solidFill>
            <a:srgbClr val="8C6A3F"/>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4663440"/>
            <a:ext cx="10515600" cy="1234440"/>
          </a:xfrm>
          <a:prstGeom prst="rect">
            <a:avLst/>
          </a:prstGeom>
          <a:noFill/>
          <a:ln/>
        </p:spPr>
        <p:txBody>
          <a:bodyPr wrap="square" lIns="0" tIns="0" rIns="0" bIns="0" rtlCol="0" anchor="ctr"/>
          <a:lstStyle/>
          <a:p>
            <a:pPr marL="0" indent="0">
              <a:lnSpc>
                <a:spcPct val="115000"/>
              </a:lnSpc>
              <a:buNone/>
            </a:pPr>
            <a:r>
              <a:rPr lang="en-US" sz="1500" b="1" dirty="0">
                <a:solidFill>
                  <a:srgbClr val="F5F5F0"/>
                </a:solidFill>
                <a:latin typeface="Calibri" pitchFamily="34" charset="0"/>
                <a:ea typeface="Calibri" pitchFamily="34" charset="-122"/>
                <a:cs typeface="Calibri" pitchFamily="34" charset="-120"/>
              </a:rPr>
              <a:t>Past roughly 100 engineers, </a:t>
            </a:r>
            <a:r>
              <a:rPr lang="en-US" sz="1500" dirty="0">
                <a:solidFill>
                  <a:srgbClr val="F5F5F0"/>
                </a:solidFill>
                <a:latin typeface="Calibri" pitchFamily="34" charset="0"/>
                <a:ea typeface="Calibri" pitchFamily="34" charset="-122"/>
                <a:cs typeface="Calibri" pitchFamily="34" charset="-120"/>
              </a:rPr>
              <a:t>the governance and reporting time saved usually outweighs a modest per-seat difference — but run the actual math for your org rather than trusting that rule of thumb.</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Route-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PREVENTING THE UPRISING</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The Migration Sequence Is the Change-Management Plan</a:t>
            </a:r>
            <a:endParaRPr lang="en-US" sz="3200" dirty="0"/>
          </a:p>
        </p:txBody>
      </p:sp>
      <p:sp>
        <p:nvSpPr>
          <p:cNvPr id="6" name="Shape 3"/>
          <p:cNvSpPr/>
          <p:nvPr/>
        </p:nvSpPr>
        <p:spPr>
          <a:xfrm>
            <a:off x="548640" y="1691640"/>
            <a:ext cx="2560320" cy="3794760"/>
          </a:xfrm>
          <a:prstGeom prst="roundRect">
            <a:avLst>
              <a:gd name="adj" fmla="val 428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4"/>
          <p:cNvSpPr/>
          <p:nvPr/>
        </p:nvSpPr>
        <p:spPr>
          <a:xfrm>
            <a:off x="777240" y="1920240"/>
            <a:ext cx="457200" cy="457200"/>
          </a:xfrm>
          <a:prstGeom prst="ellipse">
            <a:avLst/>
          </a:prstGeom>
          <a:solidFill>
            <a:srgbClr val="C1440E"/>
          </a:solidFill>
          <a:ln/>
        </p:spPr>
        <p:txBody>
          <a:bodyPr/>
          <a:lstStyle/>
          <a:p>
            <a:endParaRPr lang="en-US"/>
          </a:p>
        </p:txBody>
      </p:sp>
      <p:sp>
        <p:nvSpPr>
          <p:cNvPr id="8" name="Text 5"/>
          <p:cNvSpPr txBox="1"/>
          <p:nvPr/>
        </p:nvSpPr>
        <p:spPr>
          <a:xfrm>
            <a:off x="777240" y="1920240"/>
            <a:ext cx="457200" cy="457200"/>
          </a:xfrm>
          <a:prstGeom prst="rect">
            <a:avLst/>
          </a:prstGeom>
          <a:noFill/>
          <a:ln/>
        </p:spPr>
        <p:txBody>
          <a:bodyPr wrap="square" lIns="0" tIns="0" rIns="0" bIns="0" rtlCol="0" anchor="ctr"/>
          <a:lstStyle/>
          <a:p>
            <a:pPr marL="0" indent="0" algn="ctr">
              <a:buNone/>
            </a:pPr>
            <a:r>
              <a:rPr lang="en-US" sz="1700" b="1" dirty="0">
                <a:solidFill>
                  <a:srgbClr val="F5F5F0"/>
                </a:solidFill>
                <a:latin typeface="Cambria" pitchFamily="34" charset="0"/>
                <a:ea typeface="Cambria" pitchFamily="34" charset="-122"/>
                <a:cs typeface="Cambria" pitchFamily="34" charset="-120"/>
              </a:rPr>
              <a:t>1</a:t>
            </a:r>
            <a:endParaRPr lang="en-US" sz="1700" dirty="0"/>
          </a:p>
        </p:txBody>
      </p:sp>
      <p:sp>
        <p:nvSpPr>
          <p:cNvPr id="9" name="Text 6"/>
          <p:cNvSpPr txBox="1"/>
          <p:nvPr/>
        </p:nvSpPr>
        <p:spPr>
          <a:xfrm>
            <a:off x="731520" y="2514600"/>
            <a:ext cx="2194560" cy="822960"/>
          </a:xfrm>
          <a:prstGeom prst="rect">
            <a:avLst/>
          </a:prstGeom>
          <a:noFill/>
          <a:ln/>
        </p:spPr>
        <p:txBody>
          <a:bodyPr wrap="square" lIns="0" tIns="0" rIns="0" bIns="0" rtlCol="0" anchor="ctr"/>
          <a:lstStyle/>
          <a:p>
            <a:pPr marL="0" indent="0">
              <a:buNone/>
            </a:pPr>
            <a:r>
              <a:rPr lang="en-US" sz="1550" b="1" dirty="0">
                <a:solidFill>
                  <a:srgbClr val="1F3D2C"/>
                </a:solidFill>
                <a:latin typeface="Cambria" pitchFamily="34" charset="0"/>
                <a:ea typeface="Cambria" pitchFamily="34" charset="-122"/>
                <a:cs typeface="Cambria" pitchFamily="34" charset="-120"/>
              </a:rPr>
              <a:t>Start hybrid</a:t>
            </a:r>
            <a:endParaRPr lang="en-US" sz="1550" dirty="0"/>
          </a:p>
        </p:txBody>
      </p:sp>
      <p:sp>
        <p:nvSpPr>
          <p:cNvPr id="10" name="Text 7"/>
          <p:cNvSpPr txBox="1"/>
          <p:nvPr/>
        </p:nvSpPr>
        <p:spPr>
          <a:xfrm>
            <a:off x="731520" y="3337560"/>
            <a:ext cx="2194560" cy="2011680"/>
          </a:xfrm>
          <a:prstGeom prst="rect">
            <a:avLst/>
          </a:prstGeom>
          <a:noFill/>
          <a:ln/>
        </p:spPr>
        <p:txBody>
          <a:bodyPr wrap="square" lIns="0" tIns="0" rIns="0" bIns="0" rtlCol="0" anchor="ctr"/>
          <a:lstStyle/>
          <a:p>
            <a:pPr marL="0" indent="0">
              <a:lnSpc>
                <a:spcPct val="110000"/>
              </a:lnSpc>
              <a:buNone/>
            </a:pPr>
            <a:r>
              <a:rPr lang="en-US" sz="1250" dirty="0">
                <a:solidFill>
                  <a:srgbClr val="2B2B2B"/>
                </a:solidFill>
                <a:latin typeface="Calibri" pitchFamily="34" charset="0"/>
                <a:ea typeface="Calibri" pitchFamily="34" charset="-122"/>
                <a:cs typeface="Calibri" pitchFamily="34" charset="-120"/>
              </a:rPr>
              <a:t>Connect Azure Boards first — nothing else moves yet.</a:t>
            </a:r>
            <a:endParaRPr lang="en-US" sz="1250" dirty="0"/>
          </a:p>
        </p:txBody>
      </p:sp>
      <p:sp>
        <p:nvSpPr>
          <p:cNvPr id="11" name="Shape 8"/>
          <p:cNvSpPr/>
          <p:nvPr/>
        </p:nvSpPr>
        <p:spPr>
          <a:xfrm>
            <a:off x="3337560" y="1691640"/>
            <a:ext cx="2560320" cy="3794760"/>
          </a:xfrm>
          <a:prstGeom prst="roundRect">
            <a:avLst>
              <a:gd name="adj" fmla="val 428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9"/>
          <p:cNvSpPr/>
          <p:nvPr/>
        </p:nvSpPr>
        <p:spPr>
          <a:xfrm>
            <a:off x="3566160" y="1920240"/>
            <a:ext cx="457200" cy="457200"/>
          </a:xfrm>
          <a:prstGeom prst="ellipse">
            <a:avLst/>
          </a:prstGeom>
          <a:solidFill>
            <a:srgbClr val="C1440E"/>
          </a:solidFill>
          <a:ln/>
        </p:spPr>
        <p:txBody>
          <a:bodyPr/>
          <a:lstStyle/>
          <a:p>
            <a:endParaRPr lang="en-US"/>
          </a:p>
        </p:txBody>
      </p:sp>
      <p:sp>
        <p:nvSpPr>
          <p:cNvPr id="13" name="Text 10"/>
          <p:cNvSpPr txBox="1"/>
          <p:nvPr/>
        </p:nvSpPr>
        <p:spPr>
          <a:xfrm>
            <a:off x="3566160" y="1920240"/>
            <a:ext cx="457200" cy="457200"/>
          </a:xfrm>
          <a:prstGeom prst="rect">
            <a:avLst/>
          </a:prstGeom>
          <a:noFill/>
          <a:ln/>
        </p:spPr>
        <p:txBody>
          <a:bodyPr wrap="square" lIns="0" tIns="0" rIns="0" bIns="0" rtlCol="0" anchor="ctr"/>
          <a:lstStyle/>
          <a:p>
            <a:pPr marL="0" indent="0" algn="ctr">
              <a:buNone/>
            </a:pPr>
            <a:r>
              <a:rPr lang="en-US" sz="1700" b="1" dirty="0">
                <a:solidFill>
                  <a:srgbClr val="F5F5F0"/>
                </a:solidFill>
                <a:latin typeface="Cambria" pitchFamily="34" charset="0"/>
                <a:ea typeface="Cambria" pitchFamily="34" charset="-122"/>
                <a:cs typeface="Cambria" pitchFamily="34" charset="-120"/>
              </a:rPr>
              <a:t>2</a:t>
            </a:r>
            <a:endParaRPr lang="en-US" sz="1700" dirty="0"/>
          </a:p>
        </p:txBody>
      </p:sp>
      <p:sp>
        <p:nvSpPr>
          <p:cNvPr id="14" name="Text 11"/>
          <p:cNvSpPr txBox="1"/>
          <p:nvPr/>
        </p:nvSpPr>
        <p:spPr>
          <a:xfrm>
            <a:off x="3520440" y="2514600"/>
            <a:ext cx="2194560" cy="822960"/>
          </a:xfrm>
          <a:prstGeom prst="rect">
            <a:avLst/>
          </a:prstGeom>
          <a:noFill/>
          <a:ln/>
        </p:spPr>
        <p:txBody>
          <a:bodyPr wrap="square" lIns="0" tIns="0" rIns="0" bIns="0" rtlCol="0" anchor="ctr"/>
          <a:lstStyle/>
          <a:p>
            <a:pPr marL="0" indent="0">
              <a:buNone/>
            </a:pPr>
            <a:r>
              <a:rPr lang="en-US" sz="1550" b="1" dirty="0">
                <a:solidFill>
                  <a:srgbClr val="1F3D2C"/>
                </a:solidFill>
                <a:latin typeface="Cambria" pitchFamily="34" charset="0"/>
                <a:ea typeface="Cambria" pitchFamily="34" charset="-122"/>
                <a:cs typeface="Cambria" pitchFamily="34" charset="-120"/>
              </a:rPr>
              <a:t>Migrate repos in waves</a:t>
            </a:r>
            <a:endParaRPr lang="en-US" sz="1550" dirty="0"/>
          </a:p>
        </p:txBody>
      </p:sp>
      <p:sp>
        <p:nvSpPr>
          <p:cNvPr id="15" name="Text 12"/>
          <p:cNvSpPr txBox="1"/>
          <p:nvPr/>
        </p:nvSpPr>
        <p:spPr>
          <a:xfrm>
            <a:off x="3520440" y="3337560"/>
            <a:ext cx="2194560" cy="2011680"/>
          </a:xfrm>
          <a:prstGeom prst="rect">
            <a:avLst/>
          </a:prstGeom>
          <a:noFill/>
          <a:ln/>
        </p:spPr>
        <p:txBody>
          <a:bodyPr wrap="square" lIns="0" tIns="0" rIns="0" bIns="0" rtlCol="0" anchor="ctr"/>
          <a:lstStyle/>
          <a:p>
            <a:pPr marL="0" indent="0">
              <a:lnSpc>
                <a:spcPct val="110000"/>
              </a:lnSpc>
              <a:buNone/>
            </a:pPr>
            <a:r>
              <a:rPr lang="en-US" sz="1250" dirty="0">
                <a:solidFill>
                  <a:srgbClr val="2B2B2B"/>
                </a:solidFill>
                <a:latin typeface="Calibri" pitchFamily="34" charset="0"/>
                <a:ea typeface="Calibri" pitchFamily="34" charset="-122"/>
                <a:cs typeface="Calibri" pitchFamily="34" charset="-120"/>
              </a:rPr>
              <a:t>Low-stakes repos first, building confidence before the ones that matter.</a:t>
            </a:r>
            <a:endParaRPr lang="en-US" sz="1250" dirty="0"/>
          </a:p>
        </p:txBody>
      </p:sp>
      <p:sp>
        <p:nvSpPr>
          <p:cNvPr id="16" name="Shape 13"/>
          <p:cNvSpPr/>
          <p:nvPr/>
        </p:nvSpPr>
        <p:spPr>
          <a:xfrm>
            <a:off x="6126480" y="1691640"/>
            <a:ext cx="2560320" cy="3794760"/>
          </a:xfrm>
          <a:prstGeom prst="roundRect">
            <a:avLst>
              <a:gd name="adj" fmla="val 428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4"/>
          <p:cNvSpPr/>
          <p:nvPr/>
        </p:nvSpPr>
        <p:spPr>
          <a:xfrm>
            <a:off x="6355080" y="1920240"/>
            <a:ext cx="457200" cy="457200"/>
          </a:xfrm>
          <a:prstGeom prst="ellipse">
            <a:avLst/>
          </a:prstGeom>
          <a:solidFill>
            <a:srgbClr val="C1440E"/>
          </a:solidFill>
          <a:ln/>
        </p:spPr>
        <p:txBody>
          <a:bodyPr/>
          <a:lstStyle/>
          <a:p>
            <a:endParaRPr lang="en-US"/>
          </a:p>
        </p:txBody>
      </p:sp>
      <p:sp>
        <p:nvSpPr>
          <p:cNvPr id="18" name="Text 15"/>
          <p:cNvSpPr txBox="1"/>
          <p:nvPr/>
        </p:nvSpPr>
        <p:spPr>
          <a:xfrm>
            <a:off x="6355080" y="1920240"/>
            <a:ext cx="457200" cy="457200"/>
          </a:xfrm>
          <a:prstGeom prst="rect">
            <a:avLst/>
          </a:prstGeom>
          <a:noFill/>
          <a:ln/>
        </p:spPr>
        <p:txBody>
          <a:bodyPr wrap="square" lIns="0" tIns="0" rIns="0" bIns="0" rtlCol="0" anchor="ctr"/>
          <a:lstStyle/>
          <a:p>
            <a:pPr marL="0" indent="0" algn="ctr">
              <a:buNone/>
            </a:pPr>
            <a:r>
              <a:rPr lang="en-US" sz="1700" b="1" dirty="0">
                <a:solidFill>
                  <a:srgbClr val="F5F5F0"/>
                </a:solidFill>
                <a:latin typeface="Cambria" pitchFamily="34" charset="0"/>
                <a:ea typeface="Cambria" pitchFamily="34" charset="-122"/>
                <a:cs typeface="Cambria" pitchFamily="34" charset="-120"/>
              </a:rPr>
              <a:t>3</a:t>
            </a:r>
            <a:endParaRPr lang="en-US" sz="1700" dirty="0"/>
          </a:p>
        </p:txBody>
      </p:sp>
      <p:sp>
        <p:nvSpPr>
          <p:cNvPr id="19" name="Text 16"/>
          <p:cNvSpPr txBox="1"/>
          <p:nvPr/>
        </p:nvSpPr>
        <p:spPr>
          <a:xfrm>
            <a:off x="6309360" y="2514600"/>
            <a:ext cx="2194560" cy="822960"/>
          </a:xfrm>
          <a:prstGeom prst="rect">
            <a:avLst/>
          </a:prstGeom>
          <a:noFill/>
          <a:ln/>
        </p:spPr>
        <p:txBody>
          <a:bodyPr wrap="square" lIns="0" tIns="0" rIns="0" bIns="0" rtlCol="0" anchor="ctr"/>
          <a:lstStyle/>
          <a:p>
            <a:pPr marL="0" indent="0">
              <a:buNone/>
            </a:pPr>
            <a:r>
              <a:rPr lang="en-US" sz="1550" b="1" dirty="0">
                <a:solidFill>
                  <a:srgbClr val="1F3D2C"/>
                </a:solidFill>
                <a:latin typeface="Cambria" pitchFamily="34" charset="0"/>
                <a:ea typeface="Cambria" pitchFamily="34" charset="-122"/>
                <a:cs typeface="Cambria" pitchFamily="34" charset="-120"/>
              </a:rPr>
              <a:t>Rewrite pipelines incrementally</a:t>
            </a:r>
            <a:endParaRPr lang="en-US" sz="1550" dirty="0"/>
          </a:p>
        </p:txBody>
      </p:sp>
      <p:sp>
        <p:nvSpPr>
          <p:cNvPr id="20" name="Text 17"/>
          <p:cNvSpPr txBox="1"/>
          <p:nvPr/>
        </p:nvSpPr>
        <p:spPr>
          <a:xfrm>
            <a:off x="6309360" y="3337560"/>
            <a:ext cx="2194560" cy="2011680"/>
          </a:xfrm>
          <a:prstGeom prst="rect">
            <a:avLst/>
          </a:prstGeom>
          <a:noFill/>
          <a:ln/>
        </p:spPr>
        <p:txBody>
          <a:bodyPr wrap="square" lIns="0" tIns="0" rIns="0" bIns="0" rtlCol="0" anchor="ctr"/>
          <a:lstStyle/>
          <a:p>
            <a:pPr marL="0" indent="0">
              <a:lnSpc>
                <a:spcPct val="110000"/>
              </a:lnSpc>
              <a:buNone/>
            </a:pPr>
            <a:r>
              <a:rPr lang="en-US" sz="1250" dirty="0">
                <a:solidFill>
                  <a:srgbClr val="2B2B2B"/>
                </a:solidFill>
                <a:latin typeface="Calibri" pitchFamily="34" charset="0"/>
                <a:ea typeface="Calibri" pitchFamily="34" charset="-122"/>
                <a:cs typeface="Calibri" pitchFamily="34" charset="-120"/>
              </a:rPr>
              <a:t>Old and new running in parallel, never a single risky cutover.</a:t>
            </a:r>
            <a:endParaRPr lang="en-US" sz="1250" dirty="0"/>
          </a:p>
        </p:txBody>
      </p:sp>
      <p:sp>
        <p:nvSpPr>
          <p:cNvPr id="21" name="Shape 18"/>
          <p:cNvSpPr/>
          <p:nvPr/>
        </p:nvSpPr>
        <p:spPr>
          <a:xfrm>
            <a:off x="8915400" y="1691640"/>
            <a:ext cx="2560320" cy="3794760"/>
          </a:xfrm>
          <a:prstGeom prst="roundRect">
            <a:avLst>
              <a:gd name="adj" fmla="val 4286"/>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22" name="Shape 19"/>
          <p:cNvSpPr/>
          <p:nvPr/>
        </p:nvSpPr>
        <p:spPr>
          <a:xfrm>
            <a:off x="9144000" y="1920240"/>
            <a:ext cx="457200" cy="457200"/>
          </a:xfrm>
          <a:prstGeom prst="ellipse">
            <a:avLst/>
          </a:prstGeom>
          <a:solidFill>
            <a:srgbClr val="C1440E"/>
          </a:solidFill>
          <a:ln/>
        </p:spPr>
        <p:txBody>
          <a:bodyPr/>
          <a:lstStyle/>
          <a:p>
            <a:endParaRPr lang="en-US"/>
          </a:p>
        </p:txBody>
      </p:sp>
      <p:sp>
        <p:nvSpPr>
          <p:cNvPr id="23" name="Text 20"/>
          <p:cNvSpPr txBox="1"/>
          <p:nvPr/>
        </p:nvSpPr>
        <p:spPr>
          <a:xfrm>
            <a:off x="9144000" y="1920240"/>
            <a:ext cx="457200" cy="457200"/>
          </a:xfrm>
          <a:prstGeom prst="rect">
            <a:avLst/>
          </a:prstGeom>
          <a:noFill/>
          <a:ln/>
        </p:spPr>
        <p:txBody>
          <a:bodyPr wrap="square" lIns="0" tIns="0" rIns="0" bIns="0" rtlCol="0" anchor="ctr"/>
          <a:lstStyle/>
          <a:p>
            <a:pPr marL="0" indent="0" algn="ctr">
              <a:buNone/>
            </a:pPr>
            <a:r>
              <a:rPr lang="en-US" sz="1700" b="1" dirty="0">
                <a:solidFill>
                  <a:srgbClr val="F5F5F0"/>
                </a:solidFill>
                <a:latin typeface="Cambria" pitchFamily="34" charset="0"/>
                <a:ea typeface="Cambria" pitchFamily="34" charset="-122"/>
                <a:cs typeface="Cambria" pitchFamily="34" charset="-120"/>
              </a:rPr>
              <a:t>4</a:t>
            </a:r>
            <a:endParaRPr lang="en-US" sz="1700" dirty="0"/>
          </a:p>
        </p:txBody>
      </p:sp>
      <p:sp>
        <p:nvSpPr>
          <p:cNvPr id="24" name="Text 21"/>
          <p:cNvSpPr txBox="1"/>
          <p:nvPr/>
        </p:nvSpPr>
        <p:spPr>
          <a:xfrm>
            <a:off x="9098280" y="2514600"/>
            <a:ext cx="2194560" cy="822960"/>
          </a:xfrm>
          <a:prstGeom prst="rect">
            <a:avLst/>
          </a:prstGeom>
          <a:noFill/>
          <a:ln/>
        </p:spPr>
        <p:txBody>
          <a:bodyPr wrap="square" lIns="0" tIns="0" rIns="0" bIns="0" rtlCol="0" anchor="ctr"/>
          <a:lstStyle/>
          <a:p>
            <a:pPr marL="0" indent="0">
              <a:buNone/>
            </a:pPr>
            <a:r>
              <a:rPr lang="en-US" sz="1550" b="1" dirty="0">
                <a:solidFill>
                  <a:srgbClr val="1F3D2C"/>
                </a:solidFill>
                <a:latin typeface="Cambria" pitchFamily="34" charset="0"/>
                <a:ea typeface="Cambria" pitchFamily="34" charset="-122"/>
                <a:cs typeface="Cambria" pitchFamily="34" charset="-120"/>
              </a:rPr>
              <a:t>Leave work items alone</a:t>
            </a:r>
            <a:endParaRPr lang="en-US" sz="1550" dirty="0"/>
          </a:p>
        </p:txBody>
      </p:sp>
      <p:sp>
        <p:nvSpPr>
          <p:cNvPr id="25" name="Text 22"/>
          <p:cNvSpPr txBox="1"/>
          <p:nvPr/>
        </p:nvSpPr>
        <p:spPr>
          <a:xfrm>
            <a:off x="9098280" y="3337560"/>
            <a:ext cx="2194560" cy="2011680"/>
          </a:xfrm>
          <a:prstGeom prst="rect">
            <a:avLst/>
          </a:prstGeom>
          <a:noFill/>
          <a:ln/>
        </p:spPr>
        <p:txBody>
          <a:bodyPr wrap="square" lIns="0" tIns="0" rIns="0" bIns="0" rtlCol="0" anchor="ctr"/>
          <a:lstStyle/>
          <a:p>
            <a:pPr marL="0" indent="0">
              <a:lnSpc>
                <a:spcPct val="110000"/>
              </a:lnSpc>
              <a:buNone/>
            </a:pPr>
            <a:r>
              <a:rPr lang="en-US" sz="1250" dirty="0">
                <a:solidFill>
                  <a:srgbClr val="2B2B2B"/>
                </a:solidFill>
                <a:latin typeface="Calibri" pitchFamily="34" charset="0"/>
                <a:ea typeface="Calibri" pitchFamily="34" charset="-122"/>
                <a:cs typeface="Calibri" pitchFamily="34" charset="-120"/>
              </a:rPr>
              <a:t>Unless you’ve already deliberately decided otherwise, per section 4.</a:t>
            </a:r>
            <a:endParaRPr lang="en-US" sz="1250" dirty="0"/>
          </a:p>
        </p:txBody>
      </p:sp>
      <p:sp>
        <p:nvSpPr>
          <p:cNvPr id="26" name="Text 23"/>
          <p:cNvSpPr txBox="1"/>
          <p:nvPr/>
        </p:nvSpPr>
        <p:spPr>
          <a:xfrm>
            <a:off x="548640" y="5669280"/>
            <a:ext cx="11064240" cy="502920"/>
          </a:xfrm>
          <a:prstGeom prst="rect">
            <a:avLst/>
          </a:prstGeom>
          <a:noFill/>
          <a:ln/>
        </p:spPr>
        <p:txBody>
          <a:bodyPr wrap="square" lIns="0" tIns="0" rIns="0" bIns="0" rtlCol="0" anchor="ctr"/>
          <a:lstStyle/>
          <a:p>
            <a:pPr marL="0" indent="0" algn="ctr">
              <a:buNone/>
            </a:pPr>
            <a:r>
              <a:rPr lang="en-US" sz="1600" i="1" dirty="0">
                <a:solidFill>
                  <a:srgbClr val="C1440E"/>
                </a:solidFill>
                <a:latin typeface="Calibri" pitchFamily="34" charset="0"/>
                <a:ea typeface="Calibri" pitchFamily="34" charset="-122"/>
                <a:cs typeface="Calibri" pitchFamily="34" charset="-120"/>
              </a:rPr>
              <a:t>The order isn’t just an engineering sequence — it’s the entire change-management plan, stated as steps.</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Robot-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PREVENTING THE UPRISING</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The AI Payoff Needs Structured Work Items First</a:t>
            </a:r>
            <a:endParaRPr lang="en-US" sz="3200" dirty="0"/>
          </a:p>
        </p:txBody>
      </p:sp>
      <p:sp>
        <p:nvSpPr>
          <p:cNvPr id="6" name="Shape 3"/>
          <p:cNvSpPr/>
          <p:nvPr/>
        </p:nvSpPr>
        <p:spPr>
          <a:xfrm>
            <a:off x="548640" y="1737360"/>
            <a:ext cx="11064240" cy="2743200"/>
          </a:xfrm>
          <a:prstGeom prst="roundRect">
            <a:avLst>
              <a:gd name="adj" fmla="val 40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22960" y="1920240"/>
            <a:ext cx="10515600" cy="2377440"/>
          </a:xfrm>
          <a:prstGeom prst="rect">
            <a:avLst/>
          </a:prstGeom>
          <a:noFill/>
          <a:ln/>
        </p:spPr>
        <p:txBody>
          <a:bodyPr wrap="square" lIns="0" tIns="0" rIns="0" bIns="0" rtlCol="0" anchor="ctr"/>
          <a:lstStyle/>
          <a:p>
            <a:pPr marL="0" indent="0">
              <a:lnSpc>
                <a:spcPct val="130000"/>
              </a:lnSpc>
              <a:buNone/>
            </a:pPr>
            <a:r>
              <a:rPr lang="en-US" sz="2000" b="1" dirty="0">
                <a:solidFill>
                  <a:srgbClr val="2B2B2B"/>
                </a:solidFill>
                <a:latin typeface="Calibri" pitchFamily="34" charset="0"/>
                <a:ea typeface="Calibri" pitchFamily="34" charset="-122"/>
                <a:cs typeface="Calibri" pitchFamily="34" charset="-120"/>
              </a:rPr>
              <a:t>Copilot and agentic tooling only multiply value </a:t>
            </a:r>
            <a:r>
              <a:rPr lang="en-US" sz="2000" dirty="0">
                <a:solidFill>
                  <a:srgbClr val="2B2B2B"/>
                </a:solidFill>
                <a:latin typeface="Calibri" pitchFamily="34" charset="0"/>
                <a:ea typeface="Calibri" pitchFamily="34" charset="-122"/>
                <a:cs typeface="Calibri" pitchFamily="34" charset="-120"/>
              </a:rPr>
              <a:t>when the tickets feeding them are well-structured. A vague ticket produces a vague PR — the AI can’t infer intent that was never written down.</a:t>
            </a:r>
            <a:endParaRPr lang="en-US" sz="2000" dirty="0"/>
          </a:p>
        </p:txBody>
      </p:sp>
      <p:sp>
        <p:nvSpPr>
          <p:cNvPr id="8" name="Shape 5"/>
          <p:cNvSpPr/>
          <p:nvPr/>
        </p:nvSpPr>
        <p:spPr>
          <a:xfrm>
            <a:off x="548640" y="4709160"/>
            <a:ext cx="11064240" cy="1325880"/>
          </a:xfrm>
          <a:prstGeom prst="roundRect">
            <a:avLst>
              <a:gd name="adj" fmla="val 8276"/>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822960" y="4864608"/>
            <a:ext cx="10515600" cy="1005840"/>
          </a:xfrm>
          <a:prstGeom prst="rect">
            <a:avLst/>
          </a:prstGeom>
          <a:noFill/>
          <a:ln/>
        </p:spPr>
        <p:txBody>
          <a:bodyPr wrap="square" lIns="0" tIns="0" rIns="0" bIns="0" rtlCol="0" anchor="ctr"/>
          <a:lstStyle/>
          <a:p>
            <a:pPr marL="0" indent="0">
              <a:lnSpc>
                <a:spcPct val="115000"/>
              </a:lnSpc>
              <a:buNone/>
            </a:pPr>
            <a:r>
              <a:rPr lang="en-US" sz="1600" b="1" dirty="0">
                <a:solidFill>
                  <a:srgbClr val="F5F5F0"/>
                </a:solidFill>
                <a:latin typeface="Calibri" pitchFamily="34" charset="0"/>
                <a:ea typeface="Calibri" pitchFamily="34" charset="-122"/>
                <a:cs typeface="Calibri" pitchFamily="34" charset="-120"/>
              </a:rPr>
              <a:t>A precondition, not a nice-to-have: </a:t>
            </a:r>
            <a:r>
              <a:rPr lang="en-US" sz="1600" dirty="0">
                <a:solidFill>
                  <a:srgbClr val="F5F5F0"/>
                </a:solidFill>
                <a:latin typeface="Calibri" pitchFamily="34" charset="0"/>
                <a:ea typeface="Calibri" pitchFamily="34" charset="-122"/>
                <a:cs typeface="Calibri" pitchFamily="34" charset="-120"/>
              </a:rPr>
              <a:t>invest in templates and acceptance criteria before expecting the AI payoff. This is section 1’s thesis, paid off with a caveat.</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BalanceScale-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PREVENTING THE UPRISING</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Match the Tool to Context, Not the Trend</a:t>
            </a:r>
            <a:endParaRPr lang="en-US" sz="3200" dirty="0"/>
          </a:p>
        </p:txBody>
      </p:sp>
      <p:sp>
        <p:nvSpPr>
          <p:cNvPr id="6" name="Shape 3"/>
          <p:cNvSpPr/>
          <p:nvPr/>
        </p:nvSpPr>
        <p:spPr>
          <a:xfrm>
            <a:off x="548640" y="1691640"/>
            <a:ext cx="3429000" cy="2651760"/>
          </a:xfrm>
          <a:prstGeom prst="roundRect">
            <a:avLst>
              <a:gd name="adj" fmla="val 4138"/>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777240" y="1874520"/>
            <a:ext cx="2971800" cy="77724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Startups &amp; 1–3 squads</a:t>
            </a:r>
            <a:endParaRPr lang="en-US" sz="1600" dirty="0"/>
          </a:p>
        </p:txBody>
      </p:sp>
      <p:sp>
        <p:nvSpPr>
          <p:cNvPr id="8" name="Text 5"/>
          <p:cNvSpPr txBox="1"/>
          <p:nvPr/>
        </p:nvSpPr>
        <p:spPr>
          <a:xfrm>
            <a:off x="777240" y="2697480"/>
            <a:ext cx="2971800" cy="1508760"/>
          </a:xfrm>
          <a:prstGeom prst="rect">
            <a:avLst/>
          </a:prstGeom>
          <a:noFill/>
          <a:ln/>
        </p:spPr>
        <p:txBody>
          <a:bodyPr wrap="square" lIns="0" tIns="0" rIns="0" bIns="0" rtlCol="0" anchor="ctr"/>
          <a:lstStyle/>
          <a:p>
            <a:pPr marL="0" indent="0">
              <a:lnSpc>
                <a:spcPct val="110000"/>
              </a:lnSpc>
              <a:buNone/>
            </a:pPr>
            <a:r>
              <a:rPr lang="en-US" sz="1350" dirty="0">
                <a:solidFill>
                  <a:srgbClr val="2B2B2B"/>
                </a:solidFill>
                <a:latin typeface="Calibri" pitchFamily="34" charset="0"/>
                <a:ea typeface="Calibri" pitchFamily="34" charset="-122"/>
                <a:cs typeface="Calibri" pitchFamily="34" charset="-120"/>
              </a:rPr>
              <a:t>GitHub Projects’ lightweight fit wins — no reason to carry enterprise overhead.</a:t>
            </a:r>
            <a:endParaRPr lang="en-US" sz="1350" dirty="0"/>
          </a:p>
        </p:txBody>
      </p:sp>
      <p:sp>
        <p:nvSpPr>
          <p:cNvPr id="9" name="Shape 6"/>
          <p:cNvSpPr/>
          <p:nvPr/>
        </p:nvSpPr>
        <p:spPr>
          <a:xfrm>
            <a:off x="4251960" y="1691640"/>
            <a:ext cx="3429000" cy="2651760"/>
          </a:xfrm>
          <a:prstGeom prst="roundRect">
            <a:avLst>
              <a:gd name="adj" fmla="val 4138"/>
            </a:avLst>
          </a:prstGeom>
          <a:solidFill>
            <a:srgbClr val="1F3D2C"/>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4480560" y="1874520"/>
            <a:ext cx="2971800" cy="777240"/>
          </a:xfrm>
          <a:prstGeom prst="rect">
            <a:avLst/>
          </a:prstGeom>
          <a:noFill/>
          <a:ln/>
        </p:spPr>
        <p:txBody>
          <a:bodyPr wrap="square" lIns="0" tIns="0" rIns="0" bIns="0" rtlCol="0" anchor="ctr"/>
          <a:lstStyle/>
          <a:p>
            <a:pPr marL="0" indent="0">
              <a:buNone/>
            </a:pPr>
            <a:r>
              <a:rPr lang="en-US" sz="1600" b="1" dirty="0">
                <a:solidFill>
                  <a:srgbClr val="F5F5F0"/>
                </a:solidFill>
                <a:latin typeface="Cambria" pitchFamily="34" charset="0"/>
                <a:ea typeface="Cambria" pitchFamily="34" charset="-122"/>
                <a:cs typeface="Cambria" pitchFamily="34" charset="-120"/>
              </a:rPr>
              <a:t>Scaled agile, regulated, multi-team</a:t>
            </a:r>
            <a:endParaRPr lang="en-US" sz="1600" dirty="0"/>
          </a:p>
        </p:txBody>
      </p:sp>
      <p:sp>
        <p:nvSpPr>
          <p:cNvPr id="11" name="Text 8"/>
          <p:cNvSpPr txBox="1"/>
          <p:nvPr/>
        </p:nvSpPr>
        <p:spPr>
          <a:xfrm>
            <a:off x="4480560" y="2697480"/>
            <a:ext cx="2971800" cy="1508760"/>
          </a:xfrm>
          <a:prstGeom prst="rect">
            <a:avLst/>
          </a:prstGeom>
          <a:noFill/>
          <a:ln/>
        </p:spPr>
        <p:txBody>
          <a:bodyPr wrap="square" lIns="0" tIns="0" rIns="0" bIns="0" rtlCol="0" anchor="ctr"/>
          <a:lstStyle/>
          <a:p>
            <a:pPr marL="0" indent="0">
              <a:lnSpc>
                <a:spcPct val="110000"/>
              </a:lnSpc>
              <a:buNone/>
            </a:pPr>
            <a:r>
              <a:rPr lang="en-US" sz="1350" dirty="0">
                <a:solidFill>
                  <a:srgbClr val="F5F5F0"/>
                </a:solidFill>
                <a:latin typeface="Calibri" pitchFamily="34" charset="0"/>
                <a:ea typeface="Calibri" pitchFamily="34" charset="-122"/>
                <a:cs typeface="Calibri" pitchFamily="34" charset="-120"/>
              </a:rPr>
              <a:t>Azure Boards’ hierarchy and reporting earn their keep here.</a:t>
            </a:r>
            <a:endParaRPr lang="en-US" sz="1350" dirty="0"/>
          </a:p>
        </p:txBody>
      </p:sp>
      <p:sp>
        <p:nvSpPr>
          <p:cNvPr id="12" name="Shape 9"/>
          <p:cNvSpPr/>
          <p:nvPr/>
        </p:nvSpPr>
        <p:spPr>
          <a:xfrm>
            <a:off x="7955280" y="1691640"/>
            <a:ext cx="3429000" cy="2651760"/>
          </a:xfrm>
          <a:prstGeom prst="roundRect">
            <a:avLst>
              <a:gd name="adj" fmla="val 4138"/>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0"/>
          <p:cNvSpPr txBox="1"/>
          <p:nvPr/>
        </p:nvSpPr>
        <p:spPr>
          <a:xfrm>
            <a:off x="8183880" y="1874520"/>
            <a:ext cx="2971800" cy="777240"/>
          </a:xfrm>
          <a:prstGeom prst="rect">
            <a:avLst/>
          </a:prstGeom>
          <a:noFill/>
          <a:ln/>
        </p:spPr>
        <p:txBody>
          <a:bodyPr wrap="square" lIns="0" tIns="0" rIns="0" bIns="0" rtlCol="0" anchor="ctr"/>
          <a:lstStyle/>
          <a:p>
            <a:pPr marL="0" indent="0">
              <a:buNone/>
            </a:pPr>
            <a:r>
              <a:rPr lang="en-US" sz="1600" b="1" dirty="0">
                <a:solidFill>
                  <a:srgbClr val="1F3D2C"/>
                </a:solidFill>
                <a:latin typeface="Cambria" pitchFamily="34" charset="0"/>
                <a:ea typeface="Cambria" pitchFamily="34" charset="-122"/>
                <a:cs typeface="Cambria" pitchFamily="34" charset="-120"/>
              </a:rPr>
              <a:t>Mixed estates</a:t>
            </a:r>
            <a:endParaRPr lang="en-US" sz="1600" dirty="0"/>
          </a:p>
        </p:txBody>
      </p:sp>
      <p:sp>
        <p:nvSpPr>
          <p:cNvPr id="14" name="Text 11"/>
          <p:cNvSpPr txBox="1"/>
          <p:nvPr/>
        </p:nvSpPr>
        <p:spPr>
          <a:xfrm>
            <a:off x="8183880" y="2697480"/>
            <a:ext cx="2971800" cy="1508760"/>
          </a:xfrm>
          <a:prstGeom prst="rect">
            <a:avLst/>
          </a:prstGeom>
          <a:noFill/>
          <a:ln/>
        </p:spPr>
        <p:txBody>
          <a:bodyPr wrap="square" lIns="0" tIns="0" rIns="0" bIns="0" rtlCol="0" anchor="ctr"/>
          <a:lstStyle/>
          <a:p>
            <a:pPr marL="0" indent="0">
              <a:lnSpc>
                <a:spcPct val="110000"/>
              </a:lnSpc>
              <a:buNone/>
            </a:pPr>
            <a:r>
              <a:rPr lang="en-US" sz="1350" dirty="0">
                <a:solidFill>
                  <a:srgbClr val="2B2B2B"/>
                </a:solidFill>
                <a:latin typeface="Calibri" pitchFamily="34" charset="0"/>
                <a:ea typeface="Calibri" pitchFamily="34" charset="-122"/>
                <a:cs typeface="Calibri" pitchFamily="34" charset="-120"/>
              </a:rPr>
              <a:t>Hybrid, deliberately — a fit, not a compromise.</a:t>
            </a:r>
            <a:endParaRPr lang="en-US" sz="1350" dirty="0"/>
          </a:p>
        </p:txBody>
      </p:sp>
      <p:sp>
        <p:nvSpPr>
          <p:cNvPr id="15" name="Shape 12"/>
          <p:cNvSpPr/>
          <p:nvPr/>
        </p:nvSpPr>
        <p:spPr>
          <a:xfrm>
            <a:off x="548640" y="4617720"/>
            <a:ext cx="11064240" cy="1600200"/>
          </a:xfrm>
          <a:prstGeom prst="roundRect">
            <a:avLst>
              <a:gd name="adj" fmla="val 6857"/>
            </a:avLst>
          </a:prstGeom>
          <a:solidFill>
            <a:srgbClr val="8C6A3F"/>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16" name="Text 13"/>
          <p:cNvSpPr txBox="1"/>
          <p:nvPr/>
        </p:nvSpPr>
        <p:spPr>
          <a:xfrm>
            <a:off x="822960" y="4773168"/>
            <a:ext cx="10515600" cy="1280160"/>
          </a:xfrm>
          <a:prstGeom prst="rect">
            <a:avLst/>
          </a:prstGeom>
          <a:noFill/>
          <a:ln/>
        </p:spPr>
        <p:txBody>
          <a:bodyPr wrap="square" lIns="0" tIns="0" rIns="0" bIns="0" rtlCol="0" anchor="ctr"/>
          <a:lstStyle/>
          <a:p>
            <a:pPr marL="0" indent="0">
              <a:lnSpc>
                <a:spcPct val="115000"/>
              </a:lnSpc>
              <a:buNone/>
            </a:pPr>
            <a:r>
              <a:rPr lang="en-US" sz="1450" i="1" dirty="0">
                <a:solidFill>
                  <a:srgbClr val="F5F5F0"/>
                </a:solidFill>
                <a:latin typeface="Calibri" pitchFamily="34" charset="0"/>
                <a:ea typeface="Calibri" pitchFamily="34" charset="-122"/>
                <a:cs typeface="Calibri" pitchFamily="34" charset="-120"/>
              </a:rPr>
              <a:t>The Senior Engineer defending that ancient pipeline from the top of this section isn’t wrong to be cautious — they’re just defending it with the wrong argument (“it’s always worked”) instead of the right one (“here’s the rubric score”). Hear the objection out, then hand them the data.</a:t>
            </a:r>
            <a:endParaRPr lang="en-US" sz="14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9">
    <p:bg>
      <p:bgPr>
        <a:solidFill>
          <a:srgbClr val="1F3D2C"/>
        </a:solidFill>
        <a:effectLst/>
      </p:bgPr>
    </p:bg>
    <p:spTree>
      <p:nvGrpSpPr>
        <p:cNvPr id="1" name=""/>
        <p:cNvGrpSpPr/>
        <p:nvPr/>
      </p:nvGrpSpPr>
      <p:grpSpPr>
        <a:xfrm>
          <a:off x="0" y="0"/>
          <a:ext cx="0" cy="0"/>
          <a:chOff x="0" y="0"/>
          <a:chExt cx="0" cy="0"/>
        </a:xfrm>
      </p:grpSpPr>
      <p:sp>
        <p:nvSpPr>
          <p:cNvPr id="2" name="Text 0"/>
          <p:cNvSpPr txBox="1"/>
          <p:nvPr/>
        </p:nvSpPr>
        <p:spPr>
          <a:xfrm>
            <a:off x="548640" y="2651760"/>
            <a:ext cx="11064240" cy="1005840"/>
          </a:xfrm>
          <a:prstGeom prst="rect">
            <a:avLst/>
          </a:prstGeom>
          <a:noFill/>
          <a:ln/>
        </p:spPr>
        <p:txBody>
          <a:bodyPr wrap="square" lIns="0" tIns="0" rIns="0" bIns="0" rtlCol="0" anchor="ctr"/>
          <a:lstStyle/>
          <a:p>
            <a:pPr marL="0" indent="0" algn="ctr">
              <a:buNone/>
            </a:pPr>
            <a:r>
              <a:rPr lang="en-US" sz="4200" b="1" dirty="0">
                <a:solidFill>
                  <a:srgbClr val="F5F5F0"/>
                </a:solidFill>
                <a:latin typeface="Cambria" pitchFamily="34" charset="0"/>
                <a:ea typeface="Cambria" pitchFamily="34" charset="-122"/>
                <a:cs typeface="Cambria" pitchFamily="34" charset="-120"/>
              </a:rPr>
              <a:t>Q&amp;A POCKET</a:t>
            </a:r>
            <a:endParaRPr lang="en-US" sz="4200" dirty="0"/>
          </a:p>
        </p:txBody>
      </p:sp>
      <p:sp>
        <p:nvSpPr>
          <p:cNvPr id="3" name="Text 1"/>
          <p:cNvSpPr txBox="1"/>
          <p:nvPr/>
        </p:nvSpPr>
        <p:spPr>
          <a:xfrm>
            <a:off x="548640" y="3703320"/>
            <a:ext cx="11064240" cy="594360"/>
          </a:xfrm>
          <a:prstGeom prst="rect">
            <a:avLst/>
          </a:prstGeom>
          <a:noFill/>
          <a:ln/>
        </p:spPr>
        <p:txBody>
          <a:bodyPr wrap="square" lIns="0" tIns="0" rIns="0" bIns="0" rtlCol="0" anchor="ctr"/>
          <a:lstStyle/>
          <a:p>
            <a:pPr marL="0" indent="0" algn="ctr">
              <a:buNone/>
            </a:pPr>
            <a:r>
              <a:rPr lang="en-US" sz="1900" i="1" dirty="0">
                <a:solidFill>
                  <a:srgbClr val="8C6A3F"/>
                </a:solidFill>
                <a:latin typeface="Calibri" pitchFamily="34" charset="0"/>
                <a:ea typeface="Calibri" pitchFamily="34" charset="-122"/>
                <a:cs typeface="Calibri" pitchFamily="34" charset="-120"/>
              </a:rPr>
              <a:t>One quick question before we leave Section 5 — Preventing the Uprising</a:t>
            </a:r>
            <a:endParaRPr lang="en-US" sz="1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0">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txBody>
          <a:bodyPr/>
          <a:lstStyle/>
          <a:p>
            <a:endParaRPr lang="en-US"/>
          </a:p>
        </p:txBody>
      </p:sp>
      <p:sp>
        <p:nvSpPr>
          <p:cNvPr id="3" name="Text 1"/>
          <p:cNvSpPr txBox="1"/>
          <p:nvPr/>
        </p:nvSpPr>
        <p:spPr>
          <a:xfrm>
            <a:off x="548640" y="365760"/>
            <a:ext cx="9144000" cy="502920"/>
          </a:xfrm>
          <a:prstGeom prst="rect">
            <a:avLst/>
          </a:prstGeom>
          <a:noFill/>
          <a:ln/>
        </p:spPr>
        <p:txBody>
          <a:bodyPr wrap="square" lIns="0" tIns="0" rIns="0" bIns="0" rtlCol="0" anchor="ctr"/>
          <a:lstStyle/>
          <a:p>
            <a:pPr marL="0" indent="0">
              <a:buNone/>
            </a:pPr>
            <a:r>
              <a:rPr lang="en-US" sz="1700" b="1" kern="0" spc="300" dirty="0">
                <a:solidFill>
                  <a:srgbClr val="8C6A3F"/>
                </a:solidFill>
                <a:latin typeface="Calibri" pitchFamily="34" charset="0"/>
                <a:ea typeface="Calibri" pitchFamily="34" charset="-122"/>
                <a:cs typeface="Calibri" pitchFamily="34" charset="-120"/>
              </a:rPr>
              <a:t>SECTION 6</a:t>
            </a:r>
            <a:endParaRPr lang="en-US" sz="1700" dirty="0"/>
          </a:p>
        </p:txBody>
      </p:sp>
      <p:pic>
        <p:nvPicPr>
          <p:cNvPr id="4" name="Image 0" descr="/home/claude/pptx-build/assets/icons/FaWater-8C6A3F-300.png"/>
          <p:cNvPicPr>
            <a:picLocks noChangeAspect="1"/>
          </p:cNvPicPr>
          <p:nvPr/>
        </p:nvPicPr>
        <p:blipFill>
          <a:blip r:embed="rId3">
            <a:alphaModFix amt="85000"/>
          </a:blip>
          <a:stretch>
            <a:fillRect/>
          </a:stretch>
        </p:blipFill>
        <p:spPr>
          <a:xfrm>
            <a:off x="9692640" y="2194560"/>
            <a:ext cx="1463040" cy="1463040"/>
          </a:xfrm>
          <a:prstGeom prst="rect">
            <a:avLst/>
          </a:prstGeom>
        </p:spPr>
      </p:pic>
      <p:sp>
        <p:nvSpPr>
          <p:cNvPr id="5" name="Text 2"/>
          <p:cNvSpPr txBox="1"/>
          <p:nvPr/>
        </p:nvSpPr>
        <p:spPr>
          <a:xfrm>
            <a:off x="548640" y="2331720"/>
            <a:ext cx="8778240" cy="1737360"/>
          </a:xfrm>
          <a:prstGeom prst="rect">
            <a:avLst/>
          </a:prstGeom>
          <a:noFill/>
          <a:ln/>
        </p:spPr>
        <p:txBody>
          <a:bodyPr wrap="square" lIns="0" tIns="0" rIns="0" bIns="0" rtlCol="0" anchor="t"/>
          <a:lstStyle/>
          <a:p>
            <a:pPr marL="0" indent="0">
              <a:buNone/>
            </a:pPr>
            <a:r>
              <a:rPr lang="en-US" sz="4400" b="1" dirty="0">
                <a:solidFill>
                  <a:srgbClr val="F5F5F0"/>
                </a:solidFill>
                <a:latin typeface="Cambria" pitchFamily="34" charset="0"/>
                <a:ea typeface="Cambria" pitchFamily="34" charset="-122"/>
                <a:cs typeface="Cambria" pitchFamily="34" charset="-120"/>
              </a:rPr>
              <a:t>The Watering Hole Nobody Told to Move</a:t>
            </a:r>
            <a:endParaRPr lang="en-US" sz="4400" dirty="0"/>
          </a:p>
        </p:txBody>
      </p:sp>
      <p:sp>
        <p:nvSpPr>
          <p:cNvPr id="6" name="Text 3"/>
          <p:cNvSpPr txBox="1"/>
          <p:nvPr/>
        </p:nvSpPr>
        <p:spPr>
          <a:xfrm>
            <a:off x="548640" y="4160520"/>
            <a:ext cx="8778240" cy="1234440"/>
          </a:xfrm>
          <a:prstGeom prst="rect">
            <a:avLst/>
          </a:prstGeom>
          <a:noFill/>
          <a:ln/>
        </p:spPr>
        <p:txBody>
          <a:bodyPr wrap="square" lIns="0" tIns="0" rIns="0" bIns="0" rtlCol="0" anchor="t"/>
          <a:lstStyle/>
          <a:p>
            <a:pPr marL="0" indent="0">
              <a:buNone/>
            </a:pPr>
            <a:r>
              <a:rPr lang="en-US" sz="2000" i="1" dirty="0">
                <a:solidFill>
                  <a:srgbClr val="8C6A3F"/>
                </a:solidFill>
                <a:latin typeface="Calibri" pitchFamily="34" charset="0"/>
                <a:ea typeface="Calibri" pitchFamily="34" charset="-122"/>
                <a:cs typeface="Calibri" pitchFamily="34" charset="-120"/>
              </a:rPr>
              <a:t>Every migration leaves a watering hole behind — the place everything used to gather. Some animals find the new one. Some keep showing up at the old one out of habit, confused it went dry.</a:t>
            </a:r>
            <a:endParaRPr lang="en-US" sz="2000" dirty="0"/>
          </a:p>
        </p:txBody>
      </p:sp>
      <p:sp>
        <p:nvSpPr>
          <p:cNvPr id="7" name="Shape 4"/>
          <p:cNvSpPr/>
          <p:nvPr/>
        </p:nvSpPr>
        <p:spPr>
          <a:xfrm>
            <a:off x="548640" y="6217920"/>
            <a:ext cx="11064240" cy="0"/>
          </a:xfrm>
          <a:prstGeom prst="line">
            <a:avLst/>
          </a:prstGeom>
          <a:noFill/>
          <a:ln w="9525">
            <a:solidFill>
              <a:srgbClr val="8C6A3F"/>
            </a:solidFill>
            <a:prstDash val="dash"/>
          </a:ln>
        </p:spPr>
        <p:txBody>
          <a:bodyPr/>
          <a:lstStyle/>
          <a:p>
            <a:endParaRPr lang="en-US"/>
          </a:p>
        </p:txBody>
      </p:sp>
      <p:sp>
        <p:nvSpPr>
          <p:cNvPr id="8" name="Text 5"/>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1200" dirty="0">
                <a:solidFill>
                  <a:srgbClr val="6B6B63"/>
                </a:solidFill>
                <a:latin typeface="Calibri" pitchFamily="34" charset="0"/>
                <a:ea typeface="Calibri" pitchFamily="34" charset="-122"/>
                <a:cs typeface="Calibri" pitchFamily="34" charset="-120"/>
              </a:rPr>
              <a:t>DOCUMENTARY VOICE — SPOKEN LIVE, NOT READ</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Link-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THE WATERING HOLE NOBODY TOLD TO MOVE</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The Long Tail: Hardcoded Azure DevOps URLs</a:t>
            </a:r>
            <a:endParaRPr lang="en-US" sz="3200" dirty="0"/>
          </a:p>
        </p:txBody>
      </p:sp>
      <p:sp>
        <p:nvSpPr>
          <p:cNvPr id="6" name="Shape 3"/>
          <p:cNvSpPr/>
          <p:nvPr/>
        </p:nvSpPr>
        <p:spPr>
          <a:xfrm>
            <a:off x="548640" y="1417320"/>
            <a:ext cx="11064240" cy="1417320"/>
          </a:xfrm>
          <a:prstGeom prst="roundRect">
            <a:avLst>
              <a:gd name="adj" fmla="val 7742"/>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68680" y="1600200"/>
            <a:ext cx="10424160" cy="1051560"/>
          </a:xfrm>
          <a:prstGeom prst="rect">
            <a:avLst/>
          </a:prstGeom>
          <a:noFill/>
          <a:ln/>
        </p:spPr>
        <p:txBody>
          <a:bodyPr wrap="square" lIns="0" tIns="0" rIns="0" bIns="0" rtlCol="0" anchor="t"/>
          <a:lstStyle/>
          <a:p>
            <a:pPr marL="0" indent="0">
              <a:buNone/>
            </a:pPr>
            <a:r>
              <a:rPr lang="en-US" sz="1800" b="1" dirty="0">
                <a:solidFill>
                  <a:srgbClr val="2B2B2B"/>
                </a:solidFill>
                <a:latin typeface="Calibri" pitchFamily="34" charset="0"/>
                <a:ea typeface="Calibri" pitchFamily="34" charset="-122"/>
                <a:cs typeface="Calibri" pitchFamily="34" charset="-120"/>
              </a:rPr>
              <a:t>The single most reliable source of post-migration tickets. </a:t>
            </a:r>
            <a:r>
              <a:rPr lang="en-US" sz="1800" dirty="0">
                <a:solidFill>
                  <a:srgbClr val="2B2B2B"/>
                </a:solidFill>
                <a:latin typeface="Calibri" pitchFamily="34" charset="0"/>
                <a:ea typeface="Calibri" pitchFamily="34" charset="-122"/>
                <a:cs typeface="Calibri" pitchFamily="34" charset="-120"/>
              </a:rPr>
              <a:t>Not the migration itself — the references to it, buried everywhere nobody thought to look.</a:t>
            </a:r>
            <a:endParaRPr lang="en-US" sz="1800" dirty="0"/>
          </a:p>
        </p:txBody>
      </p:sp>
      <p:sp>
        <p:nvSpPr>
          <p:cNvPr id="8" name="Shape 5"/>
          <p:cNvSpPr/>
          <p:nvPr/>
        </p:nvSpPr>
        <p:spPr>
          <a:xfrm>
            <a:off x="548640" y="3017520"/>
            <a:ext cx="11064240" cy="621792"/>
          </a:xfrm>
          <a:prstGeom prst="roundRect">
            <a:avLst>
              <a:gd name="adj" fmla="val 14706"/>
            </a:avLst>
          </a:prstGeom>
          <a:solidFill>
            <a:srgbClr val="1F3D2C"/>
          </a:solidFill>
          <a:ln/>
        </p:spPr>
        <p:txBody>
          <a:bodyPr/>
          <a:lstStyle/>
          <a:p>
            <a:endParaRPr lang="en-US"/>
          </a:p>
        </p:txBody>
      </p:sp>
      <p:sp>
        <p:nvSpPr>
          <p:cNvPr id="9" name="Text 6"/>
          <p:cNvSpPr txBox="1"/>
          <p:nvPr/>
        </p:nvSpPr>
        <p:spPr>
          <a:xfrm>
            <a:off x="868680" y="3017520"/>
            <a:ext cx="10424160" cy="621792"/>
          </a:xfrm>
          <a:prstGeom prst="rect">
            <a:avLst/>
          </a:prstGeom>
          <a:noFill/>
          <a:ln/>
        </p:spPr>
        <p:txBody>
          <a:bodyPr wrap="square" lIns="0" tIns="0" rIns="0" bIns="0" rtlCol="0" anchor="ctr"/>
          <a:lstStyle/>
          <a:p>
            <a:pPr marL="0" indent="0">
              <a:buNone/>
            </a:pPr>
            <a:r>
              <a:rPr lang="en-US" sz="1600" dirty="0">
                <a:solidFill>
                  <a:srgbClr val="F5F5F0"/>
                </a:solidFill>
                <a:latin typeface="Calibri" pitchFamily="34" charset="0"/>
                <a:ea typeface="Calibri" pitchFamily="34" charset="-122"/>
                <a:cs typeface="Calibri" pitchFamily="34" charset="-120"/>
              </a:rPr>
              <a:t>Build &amp; release pipeline YAML — service connections, task inputs, artifact feed URLs</a:t>
            </a:r>
            <a:endParaRPr lang="en-US" sz="1600" dirty="0"/>
          </a:p>
        </p:txBody>
      </p:sp>
      <p:sp>
        <p:nvSpPr>
          <p:cNvPr id="10" name="Shape 7"/>
          <p:cNvSpPr/>
          <p:nvPr/>
        </p:nvSpPr>
        <p:spPr>
          <a:xfrm>
            <a:off x="548640" y="3749040"/>
            <a:ext cx="11064240" cy="621792"/>
          </a:xfrm>
          <a:prstGeom prst="roundRect">
            <a:avLst>
              <a:gd name="adj" fmla="val 14706"/>
            </a:avLst>
          </a:prstGeom>
          <a:solidFill>
            <a:srgbClr val="1F3D2C"/>
          </a:solidFill>
          <a:ln/>
        </p:spPr>
        <p:txBody>
          <a:bodyPr/>
          <a:lstStyle/>
          <a:p>
            <a:endParaRPr lang="en-US"/>
          </a:p>
        </p:txBody>
      </p:sp>
      <p:sp>
        <p:nvSpPr>
          <p:cNvPr id="11" name="Text 8"/>
          <p:cNvSpPr txBox="1"/>
          <p:nvPr/>
        </p:nvSpPr>
        <p:spPr>
          <a:xfrm>
            <a:off x="868680" y="3749040"/>
            <a:ext cx="10424160" cy="621792"/>
          </a:xfrm>
          <a:prstGeom prst="rect">
            <a:avLst/>
          </a:prstGeom>
          <a:noFill/>
          <a:ln/>
        </p:spPr>
        <p:txBody>
          <a:bodyPr wrap="square" lIns="0" tIns="0" rIns="0" bIns="0" rtlCol="0" anchor="ctr"/>
          <a:lstStyle/>
          <a:p>
            <a:pPr marL="0" indent="0">
              <a:buNone/>
            </a:pPr>
            <a:r>
              <a:rPr lang="en-US" sz="1600" dirty="0">
                <a:solidFill>
                  <a:srgbClr val="F5F5F0"/>
                </a:solidFill>
                <a:latin typeface="Calibri" pitchFamily="34" charset="0"/>
                <a:ea typeface="Calibri" pitchFamily="34" charset="-122"/>
                <a:cs typeface="Calibri" pitchFamily="34" charset="-120"/>
              </a:rPr>
              <a:t>Infrastructure-as-code — Terraform/Bicep referencing an Azure DevOps repo or feed</a:t>
            </a:r>
            <a:endParaRPr lang="en-US" sz="1600" dirty="0"/>
          </a:p>
        </p:txBody>
      </p:sp>
      <p:sp>
        <p:nvSpPr>
          <p:cNvPr id="12" name="Shape 9"/>
          <p:cNvSpPr/>
          <p:nvPr/>
        </p:nvSpPr>
        <p:spPr>
          <a:xfrm>
            <a:off x="548640" y="4480560"/>
            <a:ext cx="11064240" cy="621792"/>
          </a:xfrm>
          <a:prstGeom prst="roundRect">
            <a:avLst>
              <a:gd name="adj" fmla="val 14706"/>
            </a:avLst>
          </a:prstGeom>
          <a:solidFill>
            <a:srgbClr val="1F3D2C"/>
          </a:solidFill>
          <a:ln/>
        </p:spPr>
        <p:txBody>
          <a:bodyPr/>
          <a:lstStyle/>
          <a:p>
            <a:endParaRPr lang="en-US"/>
          </a:p>
        </p:txBody>
      </p:sp>
      <p:sp>
        <p:nvSpPr>
          <p:cNvPr id="13" name="Text 10"/>
          <p:cNvSpPr txBox="1"/>
          <p:nvPr/>
        </p:nvSpPr>
        <p:spPr>
          <a:xfrm>
            <a:off x="868680" y="4480560"/>
            <a:ext cx="10424160" cy="621792"/>
          </a:xfrm>
          <a:prstGeom prst="rect">
            <a:avLst/>
          </a:prstGeom>
          <a:noFill/>
          <a:ln/>
        </p:spPr>
        <p:txBody>
          <a:bodyPr wrap="square" lIns="0" tIns="0" rIns="0" bIns="0" rtlCol="0" anchor="ctr"/>
          <a:lstStyle/>
          <a:p>
            <a:pPr marL="0" indent="0">
              <a:buNone/>
            </a:pPr>
            <a:r>
              <a:rPr lang="en-US" sz="1600" dirty="0">
                <a:solidFill>
                  <a:srgbClr val="F5F5F0"/>
                </a:solidFill>
                <a:latin typeface="Calibri" pitchFamily="34" charset="0"/>
                <a:ea typeface="Calibri" pitchFamily="34" charset="-122"/>
                <a:cs typeface="Calibri" pitchFamily="34" charset="-120"/>
              </a:rPr>
              <a:t>READMEs, wikis, onboarding docs — "clone from dev.azure.com/..."</a:t>
            </a:r>
            <a:endParaRPr lang="en-US" sz="1600" dirty="0"/>
          </a:p>
        </p:txBody>
      </p:sp>
      <p:sp>
        <p:nvSpPr>
          <p:cNvPr id="14" name="Shape 11"/>
          <p:cNvSpPr/>
          <p:nvPr/>
        </p:nvSpPr>
        <p:spPr>
          <a:xfrm>
            <a:off x="548640" y="5212080"/>
            <a:ext cx="11064240" cy="621792"/>
          </a:xfrm>
          <a:prstGeom prst="roundRect">
            <a:avLst>
              <a:gd name="adj" fmla="val 14706"/>
            </a:avLst>
          </a:prstGeom>
          <a:solidFill>
            <a:srgbClr val="1F3D2C"/>
          </a:solidFill>
          <a:ln/>
        </p:spPr>
        <p:txBody>
          <a:bodyPr/>
          <a:lstStyle/>
          <a:p>
            <a:endParaRPr lang="en-US"/>
          </a:p>
        </p:txBody>
      </p:sp>
      <p:sp>
        <p:nvSpPr>
          <p:cNvPr id="15" name="Text 12"/>
          <p:cNvSpPr txBox="1"/>
          <p:nvPr/>
        </p:nvSpPr>
        <p:spPr>
          <a:xfrm>
            <a:off x="868680" y="5212080"/>
            <a:ext cx="10424160" cy="621792"/>
          </a:xfrm>
          <a:prstGeom prst="rect">
            <a:avLst/>
          </a:prstGeom>
          <a:noFill/>
          <a:ln/>
        </p:spPr>
        <p:txBody>
          <a:bodyPr wrap="square" lIns="0" tIns="0" rIns="0" bIns="0" rtlCol="0" anchor="ctr"/>
          <a:lstStyle/>
          <a:p>
            <a:pPr marL="0" indent="0">
              <a:buNone/>
            </a:pPr>
            <a:r>
              <a:rPr lang="en-US" sz="1600" dirty="0">
                <a:solidFill>
                  <a:srgbClr val="F5F5F0"/>
                </a:solidFill>
                <a:latin typeface="Calibri" pitchFamily="34" charset="0"/>
                <a:ea typeface="Calibri" pitchFamily="34" charset="-122"/>
                <a:cs typeface="Calibri" pitchFamily="34" charset="-120"/>
              </a:rPr>
              <a:t>Forgotten internal tools — the one script three people know exists</a:t>
            </a:r>
            <a:endParaRPr lang="en-US" sz="1600" dirty="0"/>
          </a:p>
        </p:txBody>
      </p:sp>
      <p:sp>
        <p:nvSpPr>
          <p:cNvPr id="16" name="Text 13"/>
          <p:cNvSpPr txBox="1"/>
          <p:nvPr/>
        </p:nvSpPr>
        <p:spPr>
          <a:xfrm>
            <a:off x="548640" y="6172200"/>
            <a:ext cx="11064240" cy="502920"/>
          </a:xfrm>
          <a:prstGeom prst="rect">
            <a:avLst/>
          </a:prstGeom>
          <a:noFill/>
          <a:ln/>
        </p:spPr>
        <p:txBody>
          <a:bodyPr wrap="square" lIns="0" tIns="0" rIns="0" bIns="0" rtlCol="0" anchor="ctr"/>
          <a:lstStyle/>
          <a:p>
            <a:pPr marL="0" indent="0">
              <a:buNone/>
            </a:pPr>
            <a:r>
              <a:rPr lang="en-US" sz="1500" i="1" dirty="0">
                <a:solidFill>
                  <a:srgbClr val="C1440E"/>
                </a:solidFill>
                <a:latin typeface="Calibri" pitchFamily="34" charset="0"/>
                <a:ea typeface="Calibri" pitchFamily="34" charset="-122"/>
                <a:cs typeface="Calibri" pitchFamily="34" charset="-120"/>
              </a:rPr>
              <a:t>Budget a real sweep before cutover — then a second one a month later, once the things that only run monthly have had a chance to fail.</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UserSecret-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THE WATERING HOLE NOBODY TOLD TO MOVE</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The Mannequins Nobody Claimed</a:t>
            </a:r>
            <a:endParaRPr lang="en-US" sz="3200" dirty="0"/>
          </a:p>
        </p:txBody>
      </p:sp>
      <p:sp>
        <p:nvSpPr>
          <p:cNvPr id="6" name="Shape 3"/>
          <p:cNvSpPr/>
          <p:nvPr/>
        </p:nvSpPr>
        <p:spPr>
          <a:xfrm>
            <a:off x="548640" y="1417320"/>
            <a:ext cx="11064240" cy="1600200"/>
          </a:xfrm>
          <a:prstGeom prst="roundRect">
            <a:avLst>
              <a:gd name="adj" fmla="val 6857"/>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868680" y="1600200"/>
            <a:ext cx="10424160" cy="1234440"/>
          </a:xfrm>
          <a:prstGeom prst="rect">
            <a:avLst/>
          </a:prstGeom>
          <a:noFill/>
          <a:ln/>
        </p:spPr>
        <p:txBody>
          <a:bodyPr wrap="square" lIns="0" tIns="0" rIns="0" bIns="0" rtlCol="0" anchor="t"/>
          <a:lstStyle/>
          <a:p>
            <a:pPr marL="0" indent="0">
              <a:buNone/>
            </a:pPr>
            <a:r>
              <a:rPr lang="en-US" sz="1800" b="1" dirty="0">
                <a:solidFill>
                  <a:srgbClr val="2B2B2B"/>
                </a:solidFill>
                <a:latin typeface="Calibri" pitchFamily="34" charset="0"/>
                <a:ea typeface="Calibri" pitchFamily="34" charset="-122"/>
                <a:cs typeface="Calibri" pitchFamily="34" charset="-120"/>
              </a:rPr>
              <a:t>Every Azure DevOps user becomes a mannequin at migration time — </a:t>
            </a:r>
            <a:r>
              <a:rPr lang="en-US" sz="1800" dirty="0">
                <a:solidFill>
                  <a:srgbClr val="2B2B2B"/>
                </a:solidFill>
                <a:latin typeface="Calibri" pitchFamily="34" charset="0"/>
                <a:ea typeface="Calibri" pitchFamily="34" charset="-122"/>
                <a:cs typeface="Calibri" pitchFamily="34" charset="-120"/>
              </a:rPr>
              <a:t>a placeholder account standing in for a real person until someone claims it.</a:t>
            </a:r>
            <a:endParaRPr lang="en-US" sz="1800" dirty="0"/>
          </a:p>
        </p:txBody>
      </p:sp>
      <p:sp>
        <p:nvSpPr>
          <p:cNvPr id="8" name="Shape 5"/>
          <p:cNvSpPr/>
          <p:nvPr/>
        </p:nvSpPr>
        <p:spPr>
          <a:xfrm>
            <a:off x="548640" y="3246120"/>
            <a:ext cx="11064240" cy="1691640"/>
          </a:xfrm>
          <a:prstGeom prst="roundRect">
            <a:avLst>
              <a:gd name="adj" fmla="val 6486"/>
            </a:avLst>
          </a:prstGeom>
          <a:solidFill>
            <a:srgbClr val="8C6A3F"/>
          </a:solidFill>
          <a:ln/>
        </p:spPr>
        <p:txBody>
          <a:bodyPr/>
          <a:lstStyle/>
          <a:p>
            <a:endParaRPr lang="en-US"/>
          </a:p>
        </p:txBody>
      </p:sp>
      <p:sp>
        <p:nvSpPr>
          <p:cNvPr id="9" name="Text 6"/>
          <p:cNvSpPr txBox="1"/>
          <p:nvPr/>
        </p:nvSpPr>
        <p:spPr>
          <a:xfrm>
            <a:off x="868680" y="3429000"/>
            <a:ext cx="10424160" cy="137160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Everything except Git commits — </a:t>
            </a:r>
            <a:r>
              <a:rPr lang="en-US" sz="1700" dirty="0">
                <a:solidFill>
                  <a:srgbClr val="FFFFFF"/>
                </a:solidFill>
                <a:latin typeface="Calibri" pitchFamily="34" charset="0"/>
                <a:ea typeface="Calibri" pitchFamily="34" charset="-122"/>
                <a:cs typeface="Calibri" pitchFamily="34" charset="-120"/>
              </a:rPr>
              <a:t>issue comments, PR reviews, work-item history — gets attributed to the mannequin until someone reclaims it, and only a GitHub organization owner can do the reclaiming. Content stuck on an unreclaimed mannequin may not reliably show up in search either.</a:t>
            </a:r>
            <a:endParaRPr lang="en-US" sz="1700" dirty="0"/>
          </a:p>
        </p:txBody>
      </p:sp>
      <p:sp>
        <p:nvSpPr>
          <p:cNvPr id="10" name="Text 7"/>
          <p:cNvSpPr txBox="1"/>
          <p:nvPr/>
        </p:nvSpPr>
        <p:spPr>
          <a:xfrm>
            <a:off x="548640" y="5212080"/>
            <a:ext cx="11064240" cy="548640"/>
          </a:xfrm>
          <a:prstGeom prst="rect">
            <a:avLst/>
          </a:prstGeom>
          <a:noFill/>
          <a:ln/>
        </p:spPr>
        <p:txBody>
          <a:bodyPr wrap="square" lIns="0" tIns="0" rIns="0" bIns="0" rtlCol="0" anchor="ctr"/>
          <a:lstStyle/>
          <a:p>
            <a:pPr marL="0" indent="0">
              <a:buNone/>
            </a:pPr>
            <a:r>
              <a:rPr lang="en-US" sz="1600" b="1" dirty="0">
                <a:solidFill>
                  <a:srgbClr val="1F3D2C"/>
                </a:solidFill>
                <a:latin typeface="Calibri" pitchFamily="34" charset="0"/>
                <a:ea typeface="Calibri" pitchFamily="34" charset="-122"/>
                <a:cs typeface="Calibri" pitchFamily="34" charset="-120"/>
              </a:rPr>
              <a:t>The fix isn’t clever: plan the identity mapping before migration, not after. Remapping later is the harder path.</a:t>
            </a:r>
            <a:endParaRPr lang="en-US" sz="1600" dirty="0"/>
          </a:p>
        </p:txBody>
      </p:sp>
      <p:sp>
        <p:nvSpPr>
          <p:cNvPr id="11" name="Shape 8"/>
          <p:cNvSpPr/>
          <p:nvPr/>
        </p:nvSpPr>
        <p:spPr>
          <a:xfrm>
            <a:off x="548640" y="5989320"/>
            <a:ext cx="11064240" cy="0"/>
          </a:xfrm>
          <a:prstGeom prst="line">
            <a:avLst/>
          </a:prstGeom>
          <a:noFill/>
          <a:ln w="9525">
            <a:solidFill>
              <a:srgbClr val="DDD8CC"/>
            </a:solidFill>
            <a:prstDash val="dash"/>
          </a:ln>
        </p:spPr>
        <p:txBody>
          <a:bodyPr/>
          <a:lstStyle/>
          <a:p>
            <a:endParaRPr lang="en-US"/>
          </a:p>
        </p:txBody>
      </p:sp>
      <p:sp>
        <p:nvSpPr>
          <p:cNvPr id="12" name="Text 9"/>
          <p:cNvSpPr txBox="1"/>
          <p:nvPr/>
        </p:nvSpPr>
        <p:spPr>
          <a:xfrm>
            <a:off x="548640" y="6108192"/>
            <a:ext cx="11064240" cy="640080"/>
          </a:xfrm>
          <a:prstGeom prst="rect">
            <a:avLst/>
          </a:prstGeom>
          <a:noFill/>
          <a:ln/>
        </p:spPr>
        <p:txBody>
          <a:bodyPr wrap="square" lIns="0" tIns="0" rIns="0" bIns="0" rtlCol="0" anchor="ctr"/>
          <a:lstStyle/>
          <a:p>
            <a:pPr marL="0" indent="0">
              <a:buNone/>
            </a:pPr>
            <a:r>
              <a:rPr lang="en-US" sz="1300" i="1" dirty="0">
                <a:solidFill>
                  <a:srgbClr val="6B6B63"/>
                </a:solidFill>
                <a:latin typeface="Calibri" pitchFamily="34" charset="0"/>
                <a:ea typeface="Calibri" pitchFamily="34" charset="-122"/>
                <a:cs typeface="Calibri" pitchFamily="34" charset="-120"/>
              </a:rPr>
              <a:t>DOCUMENTARY ASIDE — a herd of placeholder accounts, grazing quietly in the repo’s activity feed at this section’s watering hole, waiting for someone to notice they’re there.</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3">
    <p:bg>
      <p:bgPr>
        <a:solidFill>
          <a:srgbClr val="1F3D2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142A1D"/>
          </a:solidFill>
          <a:ln/>
        </p:spPr>
        <p:txBody>
          <a:bodyPr/>
          <a:lstStyle/>
          <a:p>
            <a:endParaRPr lang="en-US"/>
          </a:p>
        </p:txBody>
      </p:sp>
      <p:sp>
        <p:nvSpPr>
          <p:cNvPr id="3" name="Text 1"/>
          <p:cNvSpPr txBox="1"/>
          <p:nvPr/>
        </p:nvSpPr>
        <p:spPr>
          <a:xfrm>
            <a:off x="548640" y="365760"/>
            <a:ext cx="9144000" cy="502920"/>
          </a:xfrm>
          <a:prstGeom prst="rect">
            <a:avLst/>
          </a:prstGeom>
          <a:noFill/>
          <a:ln/>
        </p:spPr>
        <p:txBody>
          <a:bodyPr wrap="square" lIns="0" tIns="0" rIns="0" bIns="0" rtlCol="0" anchor="ctr"/>
          <a:lstStyle/>
          <a:p>
            <a:pPr marL="0" indent="0">
              <a:buNone/>
            </a:pPr>
            <a:r>
              <a:rPr lang="en-US" sz="1700" b="1" kern="0" spc="300" dirty="0">
                <a:solidFill>
                  <a:srgbClr val="8C6A3F"/>
                </a:solidFill>
                <a:latin typeface="Calibri" pitchFamily="34" charset="0"/>
                <a:ea typeface="Calibri" pitchFamily="34" charset="-122"/>
                <a:cs typeface="Calibri" pitchFamily="34" charset="-120"/>
              </a:rPr>
              <a:t>THE WATERING HOLE NOBODY TOLD TO MOVE</a:t>
            </a:r>
            <a:endParaRPr lang="en-US" sz="1700" dirty="0"/>
          </a:p>
        </p:txBody>
      </p:sp>
      <p:pic>
        <p:nvPicPr>
          <p:cNvPr id="4" name="Image 0" descr="/home/claude/pptx-build/assets/icons/FaFlagCheckered-8C6A3F-300.png"/>
          <p:cNvPicPr>
            <a:picLocks noChangeAspect="1"/>
          </p:cNvPicPr>
          <p:nvPr/>
        </p:nvPicPr>
        <p:blipFill>
          <a:blip r:embed="rId3">
            <a:alphaModFix amt="85000"/>
          </a:blip>
          <a:stretch>
            <a:fillRect/>
          </a:stretch>
        </p:blipFill>
        <p:spPr>
          <a:xfrm>
            <a:off x="9784080" y="2834640"/>
            <a:ext cx="1371600" cy="1371600"/>
          </a:xfrm>
          <a:prstGeom prst="rect">
            <a:avLst/>
          </a:prstGeom>
        </p:spPr>
      </p:pic>
      <p:sp>
        <p:nvSpPr>
          <p:cNvPr id="5" name="Text 2"/>
          <p:cNvSpPr txBox="1"/>
          <p:nvPr/>
        </p:nvSpPr>
        <p:spPr>
          <a:xfrm>
            <a:off x="548640" y="2286000"/>
            <a:ext cx="8778240" cy="914400"/>
          </a:xfrm>
          <a:prstGeom prst="rect">
            <a:avLst/>
          </a:prstGeom>
          <a:noFill/>
          <a:ln/>
        </p:spPr>
        <p:txBody>
          <a:bodyPr wrap="square" lIns="0" tIns="0" rIns="0" bIns="0" rtlCol="0" anchor="t"/>
          <a:lstStyle/>
          <a:p>
            <a:pPr marL="0" indent="0">
              <a:buNone/>
            </a:pPr>
            <a:r>
              <a:rPr lang="en-US" sz="3800" b="1" dirty="0">
                <a:solidFill>
                  <a:srgbClr val="F5F5F0"/>
                </a:solidFill>
                <a:latin typeface="Cambria" pitchFamily="34" charset="0"/>
                <a:ea typeface="Cambria" pitchFamily="34" charset="-122"/>
                <a:cs typeface="Cambria" pitchFamily="34" charset="-120"/>
              </a:rPr>
              <a:t>The Unglamorous Truth</a:t>
            </a:r>
            <a:endParaRPr lang="en-US" sz="3800" dirty="0"/>
          </a:p>
        </p:txBody>
      </p:sp>
      <p:sp>
        <p:nvSpPr>
          <p:cNvPr id="6" name="Text 3"/>
          <p:cNvSpPr txBox="1"/>
          <p:nvPr/>
        </p:nvSpPr>
        <p:spPr>
          <a:xfrm>
            <a:off x="548640" y="3429000"/>
            <a:ext cx="8778240" cy="1463040"/>
          </a:xfrm>
          <a:prstGeom prst="rect">
            <a:avLst/>
          </a:prstGeom>
          <a:noFill/>
          <a:ln/>
        </p:spPr>
        <p:txBody>
          <a:bodyPr wrap="square" lIns="0" tIns="0" rIns="0" bIns="0" rtlCol="0" anchor="t"/>
          <a:lstStyle/>
          <a:p>
            <a:pPr marL="0" indent="0">
              <a:buNone/>
            </a:pPr>
            <a:r>
              <a:rPr lang="en-US" sz="2100" i="1" dirty="0">
                <a:solidFill>
                  <a:srgbClr val="8C6A3F"/>
                </a:solidFill>
                <a:latin typeface="Calibri" pitchFamily="34" charset="0"/>
                <a:ea typeface="Calibri" pitchFamily="34" charset="-122"/>
                <a:cs typeface="Calibri" pitchFamily="34" charset="-120"/>
              </a:rPr>
              <a:t>Most migrations aren’t a disaster movie. They’re a checklist, run carefully, with a few things that broke in ways nobody predicted — and got fixed by people in the room.</a:t>
            </a:r>
            <a:endParaRPr lang="en-US" sz="2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ListAlt-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THE WATERING HOLE NOBODY TOLD TO MOVE</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Takeaways Recap</a:t>
            </a:r>
            <a:endParaRPr lang="en-US" sz="3200" dirty="0"/>
          </a:p>
        </p:txBody>
      </p:sp>
      <p:sp>
        <p:nvSpPr>
          <p:cNvPr id="6" name="Shape 3"/>
          <p:cNvSpPr/>
          <p:nvPr/>
        </p:nvSpPr>
        <p:spPr>
          <a:xfrm>
            <a:off x="548640" y="1417320"/>
            <a:ext cx="11064240" cy="685800"/>
          </a:xfrm>
          <a:prstGeom prst="roundRect">
            <a:avLst>
              <a:gd name="adj" fmla="val 10667"/>
            </a:avLst>
          </a:prstGeom>
          <a:solidFill>
            <a:srgbClr val="F7F6F2"/>
          </a:solidFill>
          <a:ln w="9525">
            <a:solidFill>
              <a:srgbClr val="DDD8CC"/>
            </a:solidFill>
            <a:prstDash val="solid"/>
          </a:ln>
        </p:spPr>
        <p:txBody>
          <a:bodyPr/>
          <a:lstStyle/>
          <a:p>
            <a:endParaRPr lang="en-US"/>
          </a:p>
        </p:txBody>
      </p:sp>
      <p:sp>
        <p:nvSpPr>
          <p:cNvPr id="7" name="Shape 4"/>
          <p:cNvSpPr/>
          <p:nvPr/>
        </p:nvSpPr>
        <p:spPr>
          <a:xfrm>
            <a:off x="777240" y="1559052"/>
            <a:ext cx="402336" cy="402336"/>
          </a:xfrm>
          <a:prstGeom prst="ellipse">
            <a:avLst/>
          </a:prstGeom>
          <a:solidFill>
            <a:srgbClr val="C1440E"/>
          </a:solidFill>
          <a:ln/>
        </p:spPr>
        <p:txBody>
          <a:bodyPr/>
          <a:lstStyle/>
          <a:p>
            <a:endParaRPr lang="en-US"/>
          </a:p>
        </p:txBody>
      </p:sp>
      <p:sp>
        <p:nvSpPr>
          <p:cNvPr id="8" name="Text 5"/>
          <p:cNvSpPr txBox="1"/>
          <p:nvPr/>
        </p:nvSpPr>
        <p:spPr>
          <a:xfrm>
            <a:off x="777240" y="155905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6"/>
          <p:cNvSpPr txBox="1"/>
          <p:nvPr/>
        </p:nvSpPr>
        <p:spPr>
          <a:xfrm>
            <a:off x="1417320" y="1417320"/>
            <a:ext cx="3246120" cy="685800"/>
          </a:xfrm>
          <a:prstGeom prst="rect">
            <a:avLst/>
          </a:prstGeom>
          <a:noFill/>
          <a:ln/>
        </p:spPr>
        <p:txBody>
          <a:bodyPr wrap="square" lIns="0" tIns="0" rIns="0" bIns="0" rtlCol="0" anchor="ctr"/>
          <a:lstStyle/>
          <a:p>
            <a:pPr marL="0" indent="0">
              <a:buNone/>
            </a:pPr>
            <a:r>
              <a:rPr lang="en-US" sz="1450" b="1" dirty="0">
                <a:solidFill>
                  <a:srgbClr val="1F3D2C"/>
                </a:solidFill>
                <a:latin typeface="Cambria" pitchFamily="34" charset="0"/>
                <a:ea typeface="Cambria" pitchFamily="34" charset="-122"/>
                <a:cs typeface="Cambria" pitchFamily="34" charset="-120"/>
              </a:rPr>
              <a:t>Why teams migrate</a:t>
            </a:r>
            <a:endParaRPr lang="en-US" sz="1450" dirty="0"/>
          </a:p>
        </p:txBody>
      </p:sp>
      <p:sp>
        <p:nvSpPr>
          <p:cNvPr id="10" name="Text 7"/>
          <p:cNvSpPr txBox="1"/>
          <p:nvPr/>
        </p:nvSpPr>
        <p:spPr>
          <a:xfrm>
            <a:off x="4800600" y="1417320"/>
            <a:ext cx="6675120" cy="68580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AI is one of the real reasons — but it needs structured work items to pay off.</a:t>
            </a:r>
            <a:endParaRPr lang="en-US" sz="1350" dirty="0"/>
          </a:p>
        </p:txBody>
      </p:sp>
      <p:sp>
        <p:nvSpPr>
          <p:cNvPr id="11" name="Shape 8"/>
          <p:cNvSpPr/>
          <p:nvPr/>
        </p:nvSpPr>
        <p:spPr>
          <a:xfrm>
            <a:off x="548640" y="2194560"/>
            <a:ext cx="11064240" cy="685800"/>
          </a:xfrm>
          <a:prstGeom prst="roundRect">
            <a:avLst>
              <a:gd name="adj" fmla="val 10667"/>
            </a:avLst>
          </a:prstGeom>
          <a:solidFill>
            <a:srgbClr val="FFFFFF"/>
          </a:solidFill>
          <a:ln w="9525">
            <a:solidFill>
              <a:srgbClr val="DDD8CC"/>
            </a:solidFill>
            <a:prstDash val="solid"/>
          </a:ln>
        </p:spPr>
        <p:txBody>
          <a:bodyPr/>
          <a:lstStyle/>
          <a:p>
            <a:endParaRPr lang="en-US"/>
          </a:p>
        </p:txBody>
      </p:sp>
      <p:sp>
        <p:nvSpPr>
          <p:cNvPr id="12" name="Shape 9"/>
          <p:cNvSpPr/>
          <p:nvPr/>
        </p:nvSpPr>
        <p:spPr>
          <a:xfrm>
            <a:off x="777240" y="2336292"/>
            <a:ext cx="402336" cy="402336"/>
          </a:xfrm>
          <a:prstGeom prst="ellipse">
            <a:avLst/>
          </a:prstGeom>
          <a:solidFill>
            <a:srgbClr val="C1440E"/>
          </a:solidFill>
          <a:ln/>
        </p:spPr>
        <p:txBody>
          <a:bodyPr/>
          <a:lstStyle/>
          <a:p>
            <a:endParaRPr lang="en-US"/>
          </a:p>
        </p:txBody>
      </p:sp>
      <p:sp>
        <p:nvSpPr>
          <p:cNvPr id="13" name="Text 10"/>
          <p:cNvSpPr txBox="1"/>
          <p:nvPr/>
        </p:nvSpPr>
        <p:spPr>
          <a:xfrm>
            <a:off x="777240" y="23362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1"/>
          <p:cNvSpPr txBox="1"/>
          <p:nvPr/>
        </p:nvSpPr>
        <p:spPr>
          <a:xfrm>
            <a:off x="1417320" y="2194560"/>
            <a:ext cx="3246120" cy="685800"/>
          </a:xfrm>
          <a:prstGeom prst="rect">
            <a:avLst/>
          </a:prstGeom>
          <a:noFill/>
          <a:ln/>
        </p:spPr>
        <p:txBody>
          <a:bodyPr wrap="square" lIns="0" tIns="0" rIns="0" bIns="0" rtlCol="0" anchor="ctr"/>
          <a:lstStyle/>
          <a:p>
            <a:pPr marL="0" indent="0">
              <a:buNone/>
            </a:pPr>
            <a:r>
              <a:rPr lang="en-US" sz="1450" b="1" dirty="0">
                <a:solidFill>
                  <a:srgbClr val="1F3D2C"/>
                </a:solidFill>
                <a:latin typeface="Cambria" pitchFamily="34" charset="0"/>
                <a:ea typeface="Cambria" pitchFamily="34" charset="-122"/>
                <a:cs typeface="Cambria" pitchFamily="34" charset="-120"/>
              </a:rPr>
              <a:t>What travels clean vs. what lingers</a:t>
            </a:r>
            <a:endParaRPr lang="en-US" sz="1450" dirty="0"/>
          </a:p>
        </p:txBody>
      </p:sp>
      <p:sp>
        <p:nvSpPr>
          <p:cNvPr id="15" name="Text 12"/>
          <p:cNvSpPr txBox="1"/>
          <p:nvPr/>
        </p:nvSpPr>
        <p:spPr>
          <a:xfrm>
            <a:off x="4800600" y="2194560"/>
            <a:ext cx="6675120" cy="68580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Repos and Git-backed content travel most cleanly. Pipelines require conversion and validation. Test Plans stays behind.</a:t>
            </a:r>
            <a:endParaRPr lang="en-US" sz="1350" dirty="0"/>
          </a:p>
        </p:txBody>
      </p:sp>
      <p:sp>
        <p:nvSpPr>
          <p:cNvPr id="16" name="Shape 13"/>
          <p:cNvSpPr/>
          <p:nvPr/>
        </p:nvSpPr>
        <p:spPr>
          <a:xfrm>
            <a:off x="548640" y="2971800"/>
            <a:ext cx="11064240" cy="685800"/>
          </a:xfrm>
          <a:prstGeom prst="roundRect">
            <a:avLst>
              <a:gd name="adj" fmla="val 10667"/>
            </a:avLst>
          </a:prstGeom>
          <a:solidFill>
            <a:srgbClr val="F7F6F2"/>
          </a:solidFill>
          <a:ln w="9525">
            <a:solidFill>
              <a:srgbClr val="DDD8CC"/>
            </a:solidFill>
            <a:prstDash val="solid"/>
          </a:ln>
        </p:spPr>
        <p:txBody>
          <a:bodyPr/>
          <a:lstStyle/>
          <a:p>
            <a:endParaRPr lang="en-US"/>
          </a:p>
        </p:txBody>
      </p:sp>
      <p:sp>
        <p:nvSpPr>
          <p:cNvPr id="17" name="Shape 14"/>
          <p:cNvSpPr/>
          <p:nvPr/>
        </p:nvSpPr>
        <p:spPr>
          <a:xfrm>
            <a:off x="777240" y="3113532"/>
            <a:ext cx="402336" cy="402336"/>
          </a:xfrm>
          <a:prstGeom prst="ellipse">
            <a:avLst/>
          </a:prstGeom>
          <a:solidFill>
            <a:srgbClr val="C1440E"/>
          </a:solidFill>
          <a:ln/>
        </p:spPr>
        <p:txBody>
          <a:bodyPr/>
          <a:lstStyle/>
          <a:p>
            <a:endParaRPr lang="en-US"/>
          </a:p>
        </p:txBody>
      </p:sp>
      <p:sp>
        <p:nvSpPr>
          <p:cNvPr id="18" name="Text 15"/>
          <p:cNvSpPr txBox="1"/>
          <p:nvPr/>
        </p:nvSpPr>
        <p:spPr>
          <a:xfrm>
            <a:off x="777240" y="311353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6"/>
          <p:cNvSpPr txBox="1"/>
          <p:nvPr/>
        </p:nvSpPr>
        <p:spPr>
          <a:xfrm>
            <a:off x="1417320" y="2971800"/>
            <a:ext cx="3246120" cy="685800"/>
          </a:xfrm>
          <a:prstGeom prst="rect">
            <a:avLst/>
          </a:prstGeom>
          <a:noFill/>
          <a:ln/>
        </p:spPr>
        <p:txBody>
          <a:bodyPr wrap="square" lIns="0" tIns="0" rIns="0" bIns="0" rtlCol="0" anchor="ctr"/>
          <a:lstStyle/>
          <a:p>
            <a:pPr marL="0" indent="0">
              <a:buNone/>
            </a:pPr>
            <a:r>
              <a:rPr lang="en-US" sz="1450" b="1" dirty="0">
                <a:solidFill>
                  <a:srgbClr val="1F3D2C"/>
                </a:solidFill>
                <a:latin typeface="Cambria" pitchFamily="34" charset="0"/>
                <a:ea typeface="Cambria" pitchFamily="34" charset="-122"/>
                <a:cs typeface="Cambria" pitchFamily="34" charset="-120"/>
              </a:rPr>
              <a:t>Three ways to rebuild pipelines</a:t>
            </a:r>
            <a:endParaRPr lang="en-US" sz="1450" dirty="0"/>
          </a:p>
        </p:txBody>
      </p:sp>
      <p:sp>
        <p:nvSpPr>
          <p:cNvPr id="20" name="Text 17"/>
          <p:cNvSpPr txBox="1"/>
          <p:nvPr/>
        </p:nvSpPr>
        <p:spPr>
          <a:xfrm>
            <a:off x="4800600" y="2971800"/>
            <a:ext cx="6675120" cy="68580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Manual, tooling (gh-ado2gh / gh-actions-importer), or AI-assisted — pick by context, not hype.</a:t>
            </a:r>
            <a:endParaRPr lang="en-US" sz="1350" dirty="0"/>
          </a:p>
        </p:txBody>
      </p:sp>
      <p:sp>
        <p:nvSpPr>
          <p:cNvPr id="21" name="Shape 18"/>
          <p:cNvSpPr/>
          <p:nvPr/>
        </p:nvSpPr>
        <p:spPr>
          <a:xfrm>
            <a:off x="548640" y="3749040"/>
            <a:ext cx="11064240" cy="685800"/>
          </a:xfrm>
          <a:prstGeom prst="roundRect">
            <a:avLst>
              <a:gd name="adj" fmla="val 10667"/>
            </a:avLst>
          </a:prstGeom>
          <a:solidFill>
            <a:srgbClr val="FFFFFF"/>
          </a:solidFill>
          <a:ln w="9525">
            <a:solidFill>
              <a:srgbClr val="DDD8CC"/>
            </a:solidFill>
            <a:prstDash val="solid"/>
          </a:ln>
        </p:spPr>
        <p:txBody>
          <a:bodyPr/>
          <a:lstStyle/>
          <a:p>
            <a:endParaRPr lang="en-US"/>
          </a:p>
        </p:txBody>
      </p:sp>
      <p:sp>
        <p:nvSpPr>
          <p:cNvPr id="22" name="Shape 19"/>
          <p:cNvSpPr/>
          <p:nvPr/>
        </p:nvSpPr>
        <p:spPr>
          <a:xfrm>
            <a:off x="777240" y="3890772"/>
            <a:ext cx="402336" cy="402336"/>
          </a:xfrm>
          <a:prstGeom prst="ellipse">
            <a:avLst/>
          </a:prstGeom>
          <a:solidFill>
            <a:srgbClr val="C1440E"/>
          </a:solidFill>
          <a:ln/>
        </p:spPr>
        <p:txBody>
          <a:bodyPr/>
          <a:lstStyle/>
          <a:p>
            <a:endParaRPr lang="en-US"/>
          </a:p>
        </p:txBody>
      </p:sp>
      <p:sp>
        <p:nvSpPr>
          <p:cNvPr id="23" name="Text 20"/>
          <p:cNvSpPr txBox="1"/>
          <p:nvPr/>
        </p:nvSpPr>
        <p:spPr>
          <a:xfrm>
            <a:off x="777240" y="389077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1"/>
          <p:cNvSpPr txBox="1"/>
          <p:nvPr/>
        </p:nvSpPr>
        <p:spPr>
          <a:xfrm>
            <a:off x="1417320" y="3749040"/>
            <a:ext cx="3246120" cy="685800"/>
          </a:xfrm>
          <a:prstGeom prst="rect">
            <a:avLst/>
          </a:prstGeom>
          <a:noFill/>
          <a:ln/>
        </p:spPr>
        <p:txBody>
          <a:bodyPr wrap="square" lIns="0" tIns="0" rIns="0" bIns="0" rtlCol="0" anchor="ctr"/>
          <a:lstStyle/>
          <a:p>
            <a:pPr marL="0" indent="0">
              <a:buNone/>
            </a:pPr>
            <a:r>
              <a:rPr lang="en-US" sz="1450" b="1" dirty="0">
                <a:solidFill>
                  <a:srgbClr val="1F3D2C"/>
                </a:solidFill>
                <a:latin typeface="Cambria" pitchFamily="34" charset="0"/>
                <a:ea typeface="Cambria" pitchFamily="34" charset="-122"/>
                <a:cs typeface="Cambria" pitchFamily="34" charset="-120"/>
              </a:rPr>
              <a:t>Why Boards stays hybrid</a:t>
            </a:r>
            <a:endParaRPr lang="en-US" sz="1450" dirty="0"/>
          </a:p>
        </p:txBody>
      </p:sp>
      <p:sp>
        <p:nvSpPr>
          <p:cNvPr id="25" name="Text 22"/>
          <p:cNvSpPr txBox="1"/>
          <p:nvPr/>
        </p:nvSpPr>
        <p:spPr>
          <a:xfrm>
            <a:off x="4800600" y="3749040"/>
            <a:ext cx="6675120" cy="68580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Connect Azure Boards, don’t migrate work items — the door stays open, it doesn’t force a choice.</a:t>
            </a:r>
            <a:endParaRPr lang="en-US" sz="1350" dirty="0"/>
          </a:p>
        </p:txBody>
      </p:sp>
      <p:sp>
        <p:nvSpPr>
          <p:cNvPr id="26" name="Shape 23"/>
          <p:cNvSpPr/>
          <p:nvPr/>
        </p:nvSpPr>
        <p:spPr>
          <a:xfrm>
            <a:off x="548640" y="4526280"/>
            <a:ext cx="11064240" cy="685800"/>
          </a:xfrm>
          <a:prstGeom prst="roundRect">
            <a:avLst>
              <a:gd name="adj" fmla="val 10667"/>
            </a:avLst>
          </a:prstGeom>
          <a:solidFill>
            <a:srgbClr val="F7F6F2"/>
          </a:solidFill>
          <a:ln w="9525">
            <a:solidFill>
              <a:srgbClr val="DDD8CC"/>
            </a:solidFill>
            <a:prstDash val="solid"/>
          </a:ln>
        </p:spPr>
        <p:txBody>
          <a:bodyPr/>
          <a:lstStyle/>
          <a:p>
            <a:endParaRPr lang="en-US"/>
          </a:p>
        </p:txBody>
      </p:sp>
      <p:sp>
        <p:nvSpPr>
          <p:cNvPr id="27" name="Shape 24"/>
          <p:cNvSpPr/>
          <p:nvPr/>
        </p:nvSpPr>
        <p:spPr>
          <a:xfrm>
            <a:off x="777240" y="4668012"/>
            <a:ext cx="402336" cy="402336"/>
          </a:xfrm>
          <a:prstGeom prst="ellipse">
            <a:avLst/>
          </a:prstGeom>
          <a:solidFill>
            <a:srgbClr val="C1440E"/>
          </a:solidFill>
          <a:ln/>
        </p:spPr>
        <p:txBody>
          <a:bodyPr/>
          <a:lstStyle/>
          <a:p>
            <a:endParaRPr lang="en-US"/>
          </a:p>
        </p:txBody>
      </p:sp>
      <p:sp>
        <p:nvSpPr>
          <p:cNvPr id="28" name="Text 25"/>
          <p:cNvSpPr txBox="1"/>
          <p:nvPr/>
        </p:nvSpPr>
        <p:spPr>
          <a:xfrm>
            <a:off x="777240" y="466801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9" name="Text 26"/>
          <p:cNvSpPr txBox="1"/>
          <p:nvPr/>
        </p:nvSpPr>
        <p:spPr>
          <a:xfrm>
            <a:off x="1417320" y="4526280"/>
            <a:ext cx="3246120" cy="685800"/>
          </a:xfrm>
          <a:prstGeom prst="rect">
            <a:avLst/>
          </a:prstGeom>
          <a:noFill/>
          <a:ln/>
        </p:spPr>
        <p:txBody>
          <a:bodyPr wrap="square" lIns="0" tIns="0" rIns="0" bIns="0" rtlCol="0" anchor="ctr"/>
          <a:lstStyle/>
          <a:p>
            <a:pPr marL="0" indent="0">
              <a:buNone/>
            </a:pPr>
            <a:r>
              <a:rPr lang="en-US" sz="1450" b="1" dirty="0">
                <a:solidFill>
                  <a:srgbClr val="1F3D2C"/>
                </a:solidFill>
                <a:latin typeface="Cambria" pitchFamily="34" charset="0"/>
                <a:ea typeface="Cambria" pitchFamily="34" charset="-122"/>
                <a:cs typeface="Cambria" pitchFamily="34" charset="-120"/>
              </a:rPr>
              <a:t>Migration as change management</a:t>
            </a:r>
            <a:endParaRPr lang="en-US" sz="1450" dirty="0"/>
          </a:p>
        </p:txBody>
      </p:sp>
      <p:sp>
        <p:nvSpPr>
          <p:cNvPr id="30" name="Text 27"/>
          <p:cNvSpPr txBox="1"/>
          <p:nvPr/>
        </p:nvSpPr>
        <p:spPr>
          <a:xfrm>
            <a:off x="4800600" y="4526280"/>
            <a:ext cx="6675120" cy="68580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The migration sequence is the change-management plan — sequencing and pacing carry more weight than the tool pick.</a:t>
            </a:r>
            <a:endParaRPr lang="en-US" sz="1350" dirty="0"/>
          </a:p>
        </p:txBody>
      </p:sp>
      <p:sp>
        <p:nvSpPr>
          <p:cNvPr id="31" name="Shape 28"/>
          <p:cNvSpPr/>
          <p:nvPr/>
        </p:nvSpPr>
        <p:spPr>
          <a:xfrm>
            <a:off x="548640" y="5303520"/>
            <a:ext cx="11064240" cy="685800"/>
          </a:xfrm>
          <a:prstGeom prst="roundRect">
            <a:avLst>
              <a:gd name="adj" fmla="val 10667"/>
            </a:avLst>
          </a:prstGeom>
          <a:solidFill>
            <a:srgbClr val="FFFFFF"/>
          </a:solidFill>
          <a:ln w="9525">
            <a:solidFill>
              <a:srgbClr val="DDD8CC"/>
            </a:solidFill>
            <a:prstDash val="solid"/>
          </a:ln>
        </p:spPr>
        <p:txBody>
          <a:bodyPr/>
          <a:lstStyle/>
          <a:p>
            <a:endParaRPr lang="en-US"/>
          </a:p>
        </p:txBody>
      </p:sp>
      <p:sp>
        <p:nvSpPr>
          <p:cNvPr id="32" name="Shape 29"/>
          <p:cNvSpPr/>
          <p:nvPr/>
        </p:nvSpPr>
        <p:spPr>
          <a:xfrm>
            <a:off x="777240" y="5445252"/>
            <a:ext cx="402336" cy="402336"/>
          </a:xfrm>
          <a:prstGeom prst="ellipse">
            <a:avLst/>
          </a:prstGeom>
          <a:solidFill>
            <a:srgbClr val="C1440E"/>
          </a:solidFill>
          <a:ln/>
        </p:spPr>
        <p:txBody>
          <a:bodyPr/>
          <a:lstStyle/>
          <a:p>
            <a:endParaRPr lang="en-US"/>
          </a:p>
        </p:txBody>
      </p:sp>
      <p:sp>
        <p:nvSpPr>
          <p:cNvPr id="33" name="Text 30"/>
          <p:cNvSpPr txBox="1"/>
          <p:nvPr/>
        </p:nvSpPr>
        <p:spPr>
          <a:xfrm>
            <a:off x="777240" y="544525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4" name="Text 31"/>
          <p:cNvSpPr txBox="1"/>
          <p:nvPr/>
        </p:nvSpPr>
        <p:spPr>
          <a:xfrm>
            <a:off x="1417320" y="5303520"/>
            <a:ext cx="3246120" cy="685800"/>
          </a:xfrm>
          <a:prstGeom prst="rect">
            <a:avLst/>
          </a:prstGeom>
          <a:noFill/>
          <a:ln/>
        </p:spPr>
        <p:txBody>
          <a:bodyPr wrap="square" lIns="0" tIns="0" rIns="0" bIns="0" rtlCol="0" anchor="ctr"/>
          <a:lstStyle/>
          <a:p>
            <a:pPr marL="0" indent="0">
              <a:buNone/>
            </a:pPr>
            <a:r>
              <a:rPr lang="en-US" sz="1450" b="1" dirty="0">
                <a:solidFill>
                  <a:srgbClr val="1F3D2C"/>
                </a:solidFill>
                <a:latin typeface="Cambria" pitchFamily="34" charset="0"/>
                <a:ea typeface="Cambria" pitchFamily="34" charset="-122"/>
                <a:cs typeface="Cambria" pitchFamily="34" charset="-120"/>
              </a:rPr>
              <a:t>The long tail that outlasts the cutover</a:t>
            </a:r>
            <a:endParaRPr lang="en-US" sz="1450" dirty="0"/>
          </a:p>
        </p:txBody>
      </p:sp>
      <p:sp>
        <p:nvSpPr>
          <p:cNvPr id="35" name="Text 32"/>
          <p:cNvSpPr txBox="1"/>
          <p:nvPr/>
        </p:nvSpPr>
        <p:spPr>
          <a:xfrm>
            <a:off x="4800600" y="5303520"/>
            <a:ext cx="6675120" cy="68580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Hardcoded URLs and unreclaimed identities keep surfacing for months. Plan the sweep and the identity mapping up front.</a:t>
            </a:r>
            <a:endParaRPr lang="en-US" sz="13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1440E"/>
          </a:solidFill>
          <a:ln/>
        </p:spPr>
        <p:txBody>
          <a:bodyPr/>
          <a:lstStyle/>
          <a:p>
            <a:endParaRPr lang="en-US"/>
          </a:p>
        </p:txBody>
      </p:sp>
      <p:pic>
        <p:nvPicPr>
          <p:cNvPr id="3" name="Image 0" descr="/home/claude/pptx-build/assets/icons/FaQrcode-FFFFFF-200.png"/>
          <p:cNvPicPr>
            <a:picLocks noChangeAspect="1"/>
          </p:cNvPicPr>
          <p:nvPr/>
        </p:nvPicPr>
        <p:blipFill>
          <a:blip r:embed="rId3"/>
          <a:stretch>
            <a:fillRect/>
          </a:stretch>
        </p:blipFill>
        <p:spPr>
          <a:xfrm>
            <a:off x="685800" y="594360"/>
            <a:ext cx="292608" cy="292608"/>
          </a:xfrm>
          <a:prstGeom prst="rect">
            <a:avLst/>
          </a:prstGeom>
        </p:spPr>
      </p:pic>
      <p:sp>
        <p:nvSpPr>
          <p:cNvPr id="4" name="Text 1"/>
          <p:cNvSpPr txBox="1"/>
          <p:nvPr/>
        </p:nvSpPr>
        <p:spPr>
          <a:xfrm>
            <a:off x="1234440" y="420624"/>
            <a:ext cx="9875520" cy="320040"/>
          </a:xfrm>
          <a:prstGeom prst="rect">
            <a:avLst/>
          </a:prstGeom>
          <a:noFill/>
          <a:ln/>
        </p:spPr>
        <p:txBody>
          <a:bodyPr wrap="square" lIns="0" tIns="0" rIns="0" bIns="0" rtlCol="0" anchor="ctr"/>
          <a:lstStyle/>
          <a:p>
            <a:pPr marL="0" indent="0">
              <a:buNone/>
            </a:pPr>
            <a:r>
              <a:rPr lang="en-US" sz="1500" b="1" kern="0" spc="200" dirty="0">
                <a:solidFill>
                  <a:srgbClr val="C1440E"/>
                </a:solidFill>
                <a:latin typeface="Calibri" pitchFamily="34" charset="0"/>
                <a:ea typeface="Calibri" pitchFamily="34" charset="-122"/>
                <a:cs typeface="Calibri" pitchFamily="34" charset="-120"/>
              </a:rPr>
              <a:t>THE WATERING HOLE NOBODY TOLD TO MOVE</a:t>
            </a:r>
            <a:endParaRPr lang="en-US" sz="1500" dirty="0"/>
          </a:p>
        </p:txBody>
      </p:sp>
      <p:sp>
        <p:nvSpPr>
          <p:cNvPr id="5" name="Text 2"/>
          <p:cNvSpPr txBox="1"/>
          <p:nvPr/>
        </p:nvSpPr>
        <p:spPr>
          <a:xfrm>
            <a:off x="1234440" y="749808"/>
            <a:ext cx="10515600" cy="594360"/>
          </a:xfrm>
          <a:prstGeom prst="rect">
            <a:avLst/>
          </a:prstGeom>
          <a:noFill/>
          <a:ln/>
        </p:spPr>
        <p:txBody>
          <a:bodyPr wrap="square" lIns="0" tIns="0" rIns="0" bIns="0" rtlCol="0" anchor="ctr"/>
          <a:lstStyle/>
          <a:p>
            <a:pPr marL="0" indent="0">
              <a:buNone/>
            </a:pPr>
            <a:r>
              <a:rPr lang="en-US" sz="3200" b="1" dirty="0">
                <a:solidFill>
                  <a:srgbClr val="1F3D2C"/>
                </a:solidFill>
                <a:latin typeface="Cambria" pitchFamily="34" charset="0"/>
                <a:ea typeface="Cambria" pitchFamily="34" charset="-122"/>
                <a:cs typeface="Cambria" pitchFamily="34" charset="-120"/>
              </a:rPr>
              <a:t>Links &amp; QR Codes</a:t>
            </a:r>
            <a:endParaRPr lang="en-US" sz="3200" dirty="0"/>
          </a:p>
        </p:txBody>
      </p:sp>
      <p:sp>
        <p:nvSpPr>
          <p:cNvPr id="6" name="Text 3"/>
          <p:cNvSpPr txBox="1"/>
          <p:nvPr/>
        </p:nvSpPr>
        <p:spPr>
          <a:xfrm>
            <a:off x="548640" y="1371600"/>
            <a:ext cx="7863840" cy="548640"/>
          </a:xfrm>
          <a:prstGeom prst="rect">
            <a:avLst/>
          </a:prstGeom>
          <a:noFill/>
          <a:ln/>
        </p:spPr>
        <p:txBody>
          <a:bodyPr wrap="square" lIns="0" tIns="0" rIns="0" bIns="0" rtlCol="0" anchor="ctr"/>
          <a:lstStyle/>
          <a:p>
            <a:pPr marL="0" indent="0">
              <a:buNone/>
            </a:pPr>
            <a:r>
              <a:rPr lang="en-US" sz="1700" i="1" dirty="0">
                <a:solidFill>
                  <a:srgbClr val="6B6B63"/>
                </a:solidFill>
                <a:latin typeface="Calibri" pitchFamily="34" charset="0"/>
                <a:ea typeface="Calibri" pitchFamily="34" charset="-122"/>
                <a:cs typeface="Calibri" pitchFamily="34" charset="-120"/>
              </a:rPr>
              <a:t>Didn’t catch a QR code earlier? This is the consolidated fallback — one scan, everything below.</a:t>
            </a:r>
            <a:endParaRPr lang="en-US" sz="1700" dirty="0"/>
          </a:p>
        </p:txBody>
      </p:sp>
      <p:sp>
        <p:nvSpPr>
          <p:cNvPr id="7" name="Shape 4"/>
          <p:cNvSpPr/>
          <p:nvPr/>
        </p:nvSpPr>
        <p:spPr>
          <a:xfrm>
            <a:off x="548640" y="2057400"/>
            <a:ext cx="7863840" cy="3931920"/>
          </a:xfrm>
          <a:prstGeom prst="roundRect">
            <a:avLst>
              <a:gd name="adj" fmla="val 2791"/>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5"/>
          <p:cNvSpPr txBox="1"/>
          <p:nvPr/>
        </p:nvSpPr>
        <p:spPr>
          <a:xfrm>
            <a:off x="868680" y="2331720"/>
            <a:ext cx="7223760" cy="3383280"/>
          </a:xfrm>
          <a:prstGeom prst="rect">
            <a:avLst/>
          </a:prstGeom>
          <a:noFill/>
          <a:ln/>
        </p:spPr>
        <p:txBody>
          <a:bodyPr wrap="square" lIns="0" tIns="0" rIns="0" bIns="0" rtlCol="0" anchor="t"/>
          <a:lstStyle/>
          <a:p>
            <a:pPr marL="254000" indent="-254000">
              <a:spcAft>
                <a:spcPts val="1200"/>
              </a:spcAft>
              <a:buSzPct val="100000"/>
              <a:buChar char="▪"/>
            </a:pPr>
            <a:r>
              <a:rPr lang="en-US" sz="1650" dirty="0">
                <a:solidFill>
                  <a:srgbClr val="2B2B2B"/>
                </a:solidFill>
                <a:latin typeface="Calibri" pitchFamily="34" charset="0"/>
                <a:ea typeface="Calibri" pitchFamily="34" charset="-122"/>
                <a:cs typeface="Calibri" pitchFamily="34" charset="-120"/>
              </a:rPr>
              <a:t>Manual-migration docs (GitHub’s official Azure Pipelines → Actions guide)</a:t>
            </a:r>
            <a:endParaRPr lang="en-US" sz="1650" dirty="0"/>
          </a:p>
          <a:p>
            <a:pPr marL="254000" indent="-254000">
              <a:spcAft>
                <a:spcPts val="1200"/>
              </a:spcAft>
              <a:buSzPct val="100000"/>
              <a:buChar char="▪"/>
            </a:pPr>
            <a:r>
              <a:rPr lang="en-US" sz="1650" dirty="0">
                <a:solidFill>
                  <a:srgbClr val="2B2B2B"/>
                </a:solidFill>
                <a:latin typeface="Calibri" pitchFamily="34" charset="0"/>
                <a:ea typeface="Calibri" pitchFamily="34" charset="-122"/>
                <a:cs typeface="Calibri" pitchFamily="34" charset="-120"/>
              </a:rPr>
              <a:t>gh-ado2gh — CLI extension for repo, pipeline &amp; work-item migration</a:t>
            </a:r>
            <a:endParaRPr lang="en-US" sz="1650" dirty="0"/>
          </a:p>
          <a:p>
            <a:pPr marL="254000" indent="-254000">
              <a:spcAft>
                <a:spcPts val="1200"/>
              </a:spcAft>
              <a:buSzPct val="100000"/>
              <a:buChar char="▪"/>
            </a:pPr>
            <a:r>
              <a:rPr lang="en-US" sz="1650" dirty="0">
                <a:solidFill>
                  <a:srgbClr val="2B2B2B"/>
                </a:solidFill>
                <a:latin typeface="Calibri" pitchFamily="34" charset="0"/>
                <a:ea typeface="Calibri" pitchFamily="34" charset="-122"/>
                <a:cs typeface="Calibri" pitchFamily="34" charset="-120"/>
              </a:rPr>
              <a:t>gh-actions-importer — automated Azure Pipelines → Actions conversion</a:t>
            </a:r>
            <a:endParaRPr lang="en-US" sz="1650" dirty="0"/>
          </a:p>
          <a:p>
            <a:pPr marL="254000" indent="-254000">
              <a:spcAft>
                <a:spcPts val="1200"/>
              </a:spcAft>
              <a:buSzPct val="100000"/>
              <a:buChar char="▪"/>
            </a:pPr>
            <a:r>
              <a:rPr lang="en-US" sz="1650" dirty="0">
                <a:solidFill>
                  <a:srgbClr val="2B2B2B"/>
                </a:solidFill>
                <a:latin typeface="Calibri" pitchFamily="34" charset="0"/>
                <a:ea typeface="Calibri" pitchFamily="34" charset="-122"/>
                <a:cs typeface="Calibri" pitchFamily="34" charset="-120"/>
              </a:rPr>
              <a:t>AI prompts repo folder — analyze / convert / validate prompts</a:t>
            </a:r>
            <a:endParaRPr lang="en-US" sz="1650" dirty="0"/>
          </a:p>
          <a:p>
            <a:pPr marL="254000" indent="-254000">
              <a:spcAft>
                <a:spcPts val="1200"/>
              </a:spcAft>
              <a:buSzPct val="100000"/>
              <a:buChar char="▪"/>
            </a:pPr>
            <a:r>
              <a:rPr lang="en-US" sz="1650" dirty="0">
                <a:solidFill>
                  <a:srgbClr val="2B2B2B"/>
                </a:solidFill>
                <a:latin typeface="Calibri" pitchFamily="34" charset="0"/>
                <a:ea typeface="Calibri" pitchFamily="34" charset="-122"/>
                <a:cs typeface="Calibri" pitchFamily="34" charset="-120"/>
              </a:rPr>
              <a:t>This notes repo itself — every doc behind this talk, public</a:t>
            </a:r>
            <a:endParaRPr lang="en-US" sz="1650" dirty="0"/>
          </a:p>
        </p:txBody>
      </p:sp>
      <p:sp>
        <p:nvSpPr>
          <p:cNvPr id="9" name="Shape 6"/>
          <p:cNvSpPr/>
          <p:nvPr/>
        </p:nvSpPr>
        <p:spPr>
          <a:xfrm>
            <a:off x="9208008" y="2304288"/>
            <a:ext cx="2157984" cy="2157984"/>
          </a:xfrm>
          <a:prstGeom prst="roundRect">
            <a:avLst>
              <a:gd name="adj" fmla="val 2542"/>
            </a:avLst>
          </a:prstGeom>
          <a:solidFill>
            <a:srgbClr val="FFFFFF"/>
          </a:solidFill>
          <a:ln w="15875">
            <a:solidFill>
              <a:srgbClr val="1F3D2C"/>
            </a:solidFill>
            <a:prstDash val="solid"/>
          </a:ln>
        </p:spPr>
        <p:txBody>
          <a:bodyPr/>
          <a:lstStyle/>
          <a:p>
            <a:endParaRPr lang="en-US"/>
          </a:p>
        </p:txBody>
      </p:sp>
      <p:pic>
        <p:nvPicPr>
          <p:cNvPr id="10" name="Image 1" descr="/home/claude/pptx-build/assets/qr-section6-master.png"/>
          <p:cNvPicPr>
            <a:picLocks noChangeAspect="1"/>
          </p:cNvPicPr>
          <p:nvPr/>
        </p:nvPicPr>
        <p:blipFill>
          <a:blip r:embed="rId4"/>
          <a:stretch>
            <a:fillRect/>
          </a:stretch>
        </p:blipFill>
        <p:spPr>
          <a:xfrm>
            <a:off x="9281160" y="2377440"/>
            <a:ext cx="2011680" cy="2011680"/>
          </a:xfrm>
          <a:prstGeom prst="rect">
            <a:avLst/>
          </a:prstGeom>
        </p:spPr>
      </p:pic>
      <p:sp>
        <p:nvSpPr>
          <p:cNvPr id="11" name="Text 7"/>
          <p:cNvSpPr txBox="1"/>
          <p:nvPr/>
        </p:nvSpPr>
        <p:spPr>
          <a:xfrm>
            <a:off x="8915400" y="4517136"/>
            <a:ext cx="2743200" cy="502920"/>
          </a:xfrm>
          <a:prstGeom prst="rect">
            <a:avLst/>
          </a:prstGeom>
          <a:noFill/>
          <a:ln/>
        </p:spPr>
        <p:txBody>
          <a:bodyPr wrap="square" lIns="0" tIns="0" rIns="0" bIns="0" rtlCol="0" anchor="ctr"/>
          <a:lstStyle/>
          <a:p>
            <a:pPr marL="0" indent="0" algn="ctr">
              <a:buNone/>
            </a:pPr>
            <a:r>
              <a:rPr lang="en-US" sz="1200" dirty="0">
                <a:solidFill>
                  <a:srgbClr val="6B6B63"/>
                </a:solidFill>
                <a:latin typeface="Calibri" pitchFamily="34" charset="0"/>
                <a:ea typeface="Calibri" pitchFamily="34" charset="-122"/>
                <a:cs typeface="Calibri" pitchFamily="34" charset="-120"/>
              </a:rPr>
              <a:t>neumann1990/Azure_DevOps_To_GitHub</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6">
    <p:bg>
      <p:bgPr>
        <a:solidFill>
          <a:srgbClr val="142A1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F3D2C"/>
          </a:solidFill>
          <a:ln/>
        </p:spPr>
        <p:txBody>
          <a:bodyPr/>
          <a:lstStyle/>
          <a:p>
            <a:endParaRPr lang="en-US"/>
          </a:p>
        </p:txBody>
      </p:sp>
      <p:sp>
        <p:nvSpPr>
          <p:cNvPr id="3" name="Shape 1"/>
          <p:cNvSpPr/>
          <p:nvPr/>
        </p:nvSpPr>
        <p:spPr>
          <a:xfrm>
            <a:off x="0" y="0"/>
            <a:ext cx="12191695" cy="128016"/>
          </a:xfrm>
          <a:prstGeom prst="rect">
            <a:avLst/>
          </a:prstGeom>
          <a:solidFill>
            <a:srgbClr val="C1440E"/>
          </a:solidFill>
          <a:ln/>
        </p:spPr>
        <p:txBody>
          <a:bodyPr/>
          <a:lstStyle/>
          <a:p>
            <a:endParaRPr lang="en-US"/>
          </a:p>
        </p:txBody>
      </p:sp>
      <p:sp>
        <p:nvSpPr>
          <p:cNvPr id="4" name="Text 2"/>
          <p:cNvSpPr txBox="1"/>
          <p:nvPr/>
        </p:nvSpPr>
        <p:spPr>
          <a:xfrm>
            <a:off x="1188720" y="2331720"/>
            <a:ext cx="9784080" cy="2377440"/>
          </a:xfrm>
          <a:prstGeom prst="rect">
            <a:avLst/>
          </a:prstGeom>
          <a:noFill/>
          <a:ln/>
        </p:spPr>
        <p:txBody>
          <a:bodyPr wrap="square" lIns="0" tIns="0" rIns="0" bIns="0" rtlCol="0" anchor="ctr"/>
          <a:lstStyle/>
          <a:p>
            <a:pPr marL="0" indent="0" algn="ctr">
              <a:buNone/>
            </a:pPr>
            <a:r>
              <a:rPr lang="en-US" sz="3000" b="1" i="1" dirty="0">
                <a:solidFill>
                  <a:srgbClr val="F5F5F0"/>
                </a:solidFill>
                <a:latin typeface="Cambria" pitchFamily="34" charset="0"/>
                <a:ea typeface="Cambria" pitchFamily="34" charset="-122"/>
                <a:cs typeface="Cambria" pitchFamily="34" charset="-120"/>
              </a:rPr>
              <a:t>“For some, the city is a place of opportunity. For others, it’s a place of danger. But for all of it — it is a world of our making.”</a:t>
            </a:r>
            <a:endParaRPr lang="en-US" sz="3000" dirty="0"/>
          </a:p>
        </p:txBody>
      </p:sp>
      <p:sp>
        <p:nvSpPr>
          <p:cNvPr id="5" name="Text 3"/>
          <p:cNvSpPr txBox="1"/>
          <p:nvPr/>
        </p:nvSpPr>
        <p:spPr>
          <a:xfrm>
            <a:off x="548640" y="5989320"/>
            <a:ext cx="11064240" cy="411480"/>
          </a:xfrm>
          <a:prstGeom prst="rect">
            <a:avLst/>
          </a:prstGeom>
          <a:noFill/>
          <a:ln/>
        </p:spPr>
        <p:txBody>
          <a:bodyPr wrap="square" lIns="0" tIns="0" rIns="0" bIns="0" rtlCol="0" anchor="ctr"/>
          <a:lstStyle/>
          <a:p>
            <a:pPr marL="0" indent="0" algn="ctr">
              <a:buNone/>
            </a:pPr>
            <a:r>
              <a:rPr lang="en-US" sz="1300" kern="0" spc="200" dirty="0">
                <a:solidFill>
                  <a:srgbClr val="8C6A3F"/>
                </a:solidFill>
                <a:latin typeface="Calibri" pitchFamily="34" charset="0"/>
                <a:ea typeface="Calibri" pitchFamily="34" charset="-122"/>
                <a:cs typeface="Calibri" pitchFamily="34" charset="-120"/>
              </a:rPr>
              <a:t>— DOCUMENTARY CLOSER, OVER SOMEBODY’S INHERITED 2016 PIPELINE</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0"/>
          </a:xfrm>
          <a:prstGeom prst="rect">
            <a:avLst/>
          </a:prstGeom>
          <a:solidFill>
            <a:srgbClr val="1F3D2C"/>
          </a:solidFill>
          <a:ln/>
        </p:spPr>
        <p:txBody>
          <a:bodyPr/>
          <a:lstStyle/>
          <a:p>
            <a:endParaRPr lang="en-US"/>
          </a:p>
        </p:txBody>
      </p:sp>
      <p:sp>
        <p:nvSpPr>
          <p:cNvPr id="3" name="Text 1"/>
          <p:cNvSpPr txBox="1"/>
          <p:nvPr/>
        </p:nvSpPr>
        <p:spPr>
          <a:xfrm>
            <a:off x="548640" y="1920240"/>
            <a:ext cx="11064240" cy="1188720"/>
          </a:xfrm>
          <a:prstGeom prst="rect">
            <a:avLst/>
          </a:prstGeom>
          <a:noFill/>
          <a:ln/>
        </p:spPr>
        <p:txBody>
          <a:bodyPr wrap="square" lIns="0" tIns="0" rIns="0" bIns="0" rtlCol="0" anchor="ctr"/>
          <a:lstStyle/>
          <a:p>
            <a:pPr marL="0" indent="0" algn="ctr">
              <a:buNone/>
            </a:pPr>
            <a:r>
              <a:rPr lang="en-US" sz="5400" b="1" dirty="0">
                <a:solidFill>
                  <a:srgbClr val="1F3D2C"/>
                </a:solidFill>
                <a:latin typeface="Cambria" pitchFamily="34" charset="0"/>
                <a:ea typeface="Cambria" pitchFamily="34" charset="-122"/>
                <a:cs typeface="Cambria" pitchFamily="34" charset="-120"/>
              </a:rPr>
              <a:t>Thank You</a:t>
            </a:r>
            <a:endParaRPr lang="en-US" sz="5400" dirty="0"/>
          </a:p>
        </p:txBody>
      </p:sp>
      <p:sp>
        <p:nvSpPr>
          <p:cNvPr id="4" name="Text 2"/>
          <p:cNvSpPr txBox="1"/>
          <p:nvPr/>
        </p:nvSpPr>
        <p:spPr>
          <a:xfrm>
            <a:off x="548640" y="3063240"/>
            <a:ext cx="11064240" cy="502920"/>
          </a:xfrm>
          <a:prstGeom prst="rect">
            <a:avLst/>
          </a:prstGeom>
          <a:noFill/>
          <a:ln/>
        </p:spPr>
        <p:txBody>
          <a:bodyPr wrap="square" lIns="0" tIns="0" rIns="0" bIns="0" rtlCol="0" anchor="ctr"/>
          <a:lstStyle/>
          <a:p>
            <a:pPr marL="0" indent="0" algn="ctr">
              <a:buNone/>
            </a:pPr>
            <a:r>
              <a:rPr lang="en-US" sz="1800" dirty="0">
                <a:solidFill>
                  <a:srgbClr val="6B6B63"/>
                </a:solidFill>
                <a:latin typeface="Calibri" pitchFamily="34" charset="0"/>
                <a:ea typeface="Calibri" pitchFamily="34" charset="-122"/>
                <a:cs typeface="Calibri" pitchFamily="34" charset="-120"/>
              </a:rPr>
              <a:t>Azure DevOps to GitHub Enterprise: The Great Migration</a:t>
            </a:r>
            <a:endParaRPr lang="en-US" sz="1800" dirty="0"/>
          </a:p>
        </p:txBody>
      </p:sp>
      <p:sp>
        <p:nvSpPr>
          <p:cNvPr id="5" name="Shape 3"/>
          <p:cNvSpPr/>
          <p:nvPr/>
        </p:nvSpPr>
        <p:spPr>
          <a:xfrm>
            <a:off x="2898648" y="3886200"/>
            <a:ext cx="6400800" cy="1828800"/>
          </a:xfrm>
          <a:prstGeom prst="roundRect">
            <a:avLst>
              <a:gd name="adj" fmla="val 6000"/>
            </a:avLst>
          </a:prstGeom>
          <a:solidFill>
            <a:srgbClr val="F7F6F2"/>
          </a:solidFill>
          <a:ln w="12700">
            <a:solidFill>
              <a:srgbClr val="DDD8CC"/>
            </a:solidFill>
            <a:prstDash val="solid"/>
          </a:ln>
          <a:effectLst>
            <a:outerShdw blurRad="76200" dist="25400" dir="5400000" algn="bl" rotWithShape="0">
              <a:srgbClr val="000000">
                <a:alpha val="12000"/>
              </a:srgbClr>
            </a:outerShdw>
          </a:effectLst>
        </p:spPr>
        <p:txBody>
          <a:bodyPr/>
          <a:lstStyle/>
          <a:p>
            <a:endParaRPr lang="en-US"/>
          </a:p>
        </p:txBody>
      </p:sp>
      <p:sp>
        <p:nvSpPr>
          <p:cNvPr id="6" name="Text 4"/>
          <p:cNvSpPr txBox="1"/>
          <p:nvPr/>
        </p:nvSpPr>
        <p:spPr>
          <a:xfrm>
            <a:off x="2898648" y="4069080"/>
            <a:ext cx="6400800" cy="457200"/>
          </a:xfrm>
          <a:prstGeom prst="rect">
            <a:avLst/>
          </a:prstGeom>
          <a:noFill/>
          <a:ln/>
        </p:spPr>
        <p:txBody>
          <a:bodyPr wrap="square" lIns="0" tIns="0" rIns="0" bIns="0" rtlCol="0" anchor="ctr"/>
          <a:lstStyle/>
          <a:p>
            <a:pPr marL="0" indent="0" algn="ctr">
              <a:buNone/>
            </a:pPr>
            <a:r>
              <a:rPr lang="en-US" sz="2000" b="1" dirty="0">
                <a:solidFill>
                  <a:srgbClr val="1F3D2C"/>
                </a:solidFill>
                <a:latin typeface="Cambria" pitchFamily="34" charset="0"/>
                <a:ea typeface="Cambria" pitchFamily="34" charset="-122"/>
                <a:cs typeface="Cambria" pitchFamily="34" charset="-120"/>
              </a:rPr>
              <a:t>Kevin Neumann</a:t>
            </a:r>
            <a:endParaRPr lang="en-US" sz="2000" dirty="0"/>
          </a:p>
        </p:txBody>
      </p:sp>
      <p:sp>
        <p:nvSpPr>
          <p:cNvPr id="7" name="Text 5"/>
          <p:cNvSpPr txBox="1"/>
          <p:nvPr/>
        </p:nvSpPr>
        <p:spPr>
          <a:xfrm>
            <a:off x="2898648" y="4526280"/>
            <a:ext cx="6400800" cy="365760"/>
          </a:xfrm>
          <a:prstGeom prst="rect">
            <a:avLst/>
          </a:prstGeom>
          <a:noFill/>
          <a:ln/>
        </p:spPr>
        <p:txBody>
          <a:bodyPr wrap="square" lIns="0" tIns="0" rIns="0" bIns="0" rtlCol="0" anchor="ctr"/>
          <a:lstStyle/>
          <a:p>
            <a:pPr marL="0" indent="0" algn="ctr">
              <a:buNone/>
            </a:pPr>
            <a:r>
              <a:rPr lang="en-US" sz="1500" dirty="0">
                <a:solidFill>
                  <a:srgbClr val="2B2B2B"/>
                </a:solidFill>
                <a:latin typeface="Calibri" pitchFamily="34" charset="0"/>
                <a:ea typeface="Calibri" pitchFamily="34" charset="-122"/>
                <a:cs typeface="Calibri" pitchFamily="34" charset="-120"/>
              </a:rPr>
              <a:t>kneumann@hunter.com</a:t>
            </a:r>
            <a:endParaRPr lang="en-US" sz="1500" dirty="0"/>
          </a:p>
        </p:txBody>
      </p:sp>
      <p:sp>
        <p:nvSpPr>
          <p:cNvPr id="8" name="Shape 6"/>
          <p:cNvSpPr/>
          <p:nvPr/>
        </p:nvSpPr>
        <p:spPr>
          <a:xfrm>
            <a:off x="5568696" y="4910328"/>
            <a:ext cx="740664" cy="740664"/>
          </a:xfrm>
          <a:prstGeom prst="roundRect">
            <a:avLst>
              <a:gd name="adj" fmla="val 7407"/>
            </a:avLst>
          </a:prstGeom>
          <a:solidFill>
            <a:srgbClr val="FFFFFF"/>
          </a:solidFill>
          <a:ln w="15875">
            <a:solidFill>
              <a:srgbClr val="1F3D2C"/>
            </a:solidFill>
            <a:prstDash val="solid"/>
          </a:ln>
        </p:spPr>
        <p:txBody>
          <a:bodyPr/>
          <a:lstStyle/>
          <a:p>
            <a:endParaRPr lang="en-US"/>
          </a:p>
        </p:txBody>
      </p:sp>
      <p:pic>
        <p:nvPicPr>
          <p:cNvPr id="9" name="Image 0" descr="/home/claude/pptx-build/assets/qr-section6-thankyou.png"/>
          <p:cNvPicPr>
            <a:picLocks noChangeAspect="1"/>
          </p:cNvPicPr>
          <p:nvPr/>
        </p:nvPicPr>
        <p:blipFill>
          <a:blip r:embed="rId3"/>
          <a:stretch>
            <a:fillRect/>
          </a:stretch>
        </p:blipFill>
        <p:spPr>
          <a:xfrm>
            <a:off x="5641848" y="4983480"/>
            <a:ext cx="594360" cy="594360"/>
          </a:xfrm>
          <a:prstGeom prst="rect">
            <a:avLst/>
          </a:prstGeom>
        </p:spPr>
      </p:pic>
      <p:sp>
        <p:nvSpPr>
          <p:cNvPr id="10" name="Text 7"/>
          <p:cNvSpPr txBox="1"/>
          <p:nvPr/>
        </p:nvSpPr>
        <p:spPr>
          <a:xfrm>
            <a:off x="548640" y="6172200"/>
            <a:ext cx="11064240" cy="457200"/>
          </a:xfrm>
          <a:prstGeom prst="rect">
            <a:avLst/>
          </a:prstGeom>
          <a:noFill/>
          <a:ln/>
        </p:spPr>
        <p:txBody>
          <a:bodyPr wrap="square" lIns="0" tIns="0" rIns="0" bIns="0" rtlCol="0" anchor="ctr"/>
          <a:lstStyle/>
          <a:p>
            <a:pPr marL="0" indent="0" algn="ctr">
              <a:buNone/>
            </a:pPr>
            <a:r>
              <a:rPr lang="en-US" sz="1700" i="1" dirty="0">
                <a:solidFill>
                  <a:srgbClr val="C1440E"/>
                </a:solidFill>
                <a:latin typeface="Calibri" pitchFamily="34" charset="0"/>
                <a:ea typeface="Calibri" pitchFamily="34" charset="-122"/>
                <a:cs typeface="Calibri" pitchFamily="34" charset="-120"/>
              </a:rPr>
              <a:t>Open floor — questions welcome.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190</TotalTime>
  <Words>9590</Words>
  <Application>Microsoft Office PowerPoint</Application>
  <PresentationFormat>Widescreen</PresentationFormat>
  <Paragraphs>625</Paragraphs>
  <Slides>56</Slides>
  <Notes>55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DevOps to GitHub Enterprise: The Great Migration</dc:title>
  <dc:subject>PptxGenJS Presentation</dc:subject>
  <dc:creator>Kevin Neumann</dc:creator>
  <cp:lastModifiedBy>Neumann, Kevin</cp:lastModifiedBy>
  <cp:revision>3</cp:revision>
  <dcterms:created xsi:type="dcterms:W3CDTF">2026-09-21T19:07:56Z</dcterms:created>
  <dcterms:modified xsi:type="dcterms:W3CDTF">2026-09-21T22:46:41Z</dcterms:modified>
</cp:coreProperties>
</file>