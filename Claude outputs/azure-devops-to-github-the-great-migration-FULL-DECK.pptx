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cold — no 'hi, I'm Kevin' throat-clearing. Let the title sit for a beat, then deliver the tagline in the documentary voice (calm, declarative, faintly awed — never winking). That's the only line spoken in that register on this slide; the rest of the intro is normal conference delivery. This sets up the conceit for the whole talk: six section-opener cards plus a closer, all in this voice, everything else played straight.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sponsor-thanks slide — event organizer will tell you if this is required and what logos go here. Placeholder only; swap in real sponsor logos once the summit sends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Walk the six-leg structure quickly — roughly 13–16 min each, ~80 min of content plus small Q&amp;A pockets between sections and one 10-minute Q&amp;A block at the end. Then name the two trails we're not hiking today: GitHub vs. other CI/CD platforms, and Copilot vs. other AI tools — the campsite's already picked, this talk is about the hike, not the map debate. Worth a quick aside that most of this trail generalizes to migrating to other CI/CD platforms too, not just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Do not wink at the joke. This is the first of six opener cards plus a closer — it establishes the conceit. Pause after delivering the line before moving to slide 4, where we go straight back to normal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Name the real reason teams migrate before the polite reasons: AI investment is concentrated on GitHub — Chat, Coding Agent, Autofix, Agentic Code Review, Agent HQ all shipped there first. Be fair to Microsoft here: Azure DevOps is getting AI features too, just on a slower cadence and a thinner feature set today — don't overstate the gap as 'Azure DevOps has none.' The point isn't that Azure DevOps has nothing, it's that the frontier is on GitHub right now. Sets up the Copilot capability list next and the AI-approach payoff in section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Correction from an earlier draft, worth saying out loud if anyone in the room already knows the space: this is NOT a clean 'GitHub-exclusive' list — do the comparison honestly. Copilot Chat is reachable against Azure DevOps context today via the Azure DevOps MCP Server (public preview) — it sits between Copilot and your ADO org and injects work items, PRs, test plans, wiki, builds/releases into the prompt. Autofix and Agentic Code Review have BOTH reached Azure Repos via GitHub Advanced Security for Azure DevOps, in preview, same CodeQL language coverage as GitHub. What genuinely hasn't crossed over: Coding Agent still only opens PRs in GitHub repos — even when triggered from an Azure Boards work item, the code lands on GitHub, not Azure Repos — and Agent HQ's multi-agent orchestration hub has no Azure DevOps equivalent. QR points to the Azure DevOps MCP Server repo, since that's the piece most people in an Azure DevOps shop haven't heard of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but let the self-aware beat land — this is the 'plot twist' slide. When this talk was proposed, MCP barely existed outside Anthropic's initial Nov 2024 announcement. In the time since: OpenAI and Google DeepMind adopted it (Mar/Apr 2025), GitHub shipped its own MCP server, Azure DevOps got one too (Jun 2025, the one from the previous slide), an official registry went into preview (Sep 2025), and Anthropic donated the whole protocol to a Linux Foundation fund in Dec 2025. The point: MCP is a universal connector standard, so the interesting question stops being 'which platform hosts my code' and becomes 'which systems can my agent already reach' — cross-tool agentic workflows, not just GitHub-vs-Azure-DevOps. Be honest that this reshapes some of tonight's framing, including the correction on the previous slide — that's not a flaw in the talk, it's the most current example of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not 'Azure DevOps is dying' — it has an active Microsoft roadmap through 2026 and beyond. It's a split in purpose: Microsoft's own framing is GitHub for AI-native development, Azure DevOps for enterprise orchestration (Boards, Test Plans, release governance). Land this evenly — sets up the hybrid-pattern slide next, which is the resolution, not a concession.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land this one deliberately — it's the thesis the whole talk hangs on. Three audiences, one pattern: developers move to GitHub and get Copilot + Actions; managers keep Azure Boards, capacity charts, and Power BI exactly as-is; and the budget conversation is easy because GHEC includes free Azure DevOps Basic access. Explicitly reframe: this is the shape the rest of the talk builds toward, not a fallback — section 4 comes back to this exact point on Boards vs.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quick — these are the reasons that would justify the migration even if AI weren't in the picture at all. Ecosystem scale (100M+ developers), a much larger community Actions marketplace versus Azure Pipelines' task catalogue, and open-source/external contributors already defaulting to GitHub. Then two more concrete ones: GitHub Actions' own flexibility — reusable workflows, matrix builds, self-hosted runners, a huge marketplace of pre-built steps — and the ability to run a specific workflow definition locally (tools like `act`) to troubleshoot a failing job without waiting in a hosted-runner queue. Keep this brief — it's supporting evidence, not the main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on. The real Q&amp;A time is banked for the 10-minute block at the very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section 1's opener. Pause after the line, then go straight back to normal delivery for the scorecard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spoiler slide — the full seven-subsystem scorecard for the whole talk, not just section 2. Two travel clean (Repos, Wiki), four need a decision (Packages/Artifacts, Pipelines, Dashboards, Boards), one stays behind entirely (Test Plans). Don't over-explain each row yet — Pipelines gets all of section 3, Boards and Test Plans get all of section 4. This slide's job is just to set the map before the detailed stops. Repos, Wiki, Packages/Artifacts, and Dashboards get their own slides in the rest of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Git is git — commit history, PRs, most branch policies migrate without drama. The asterisk is what doesn't: repo permissions get rebuilt as two GitHub teams per team project, Git LFS objects need their own handling, user-scoped or cross-repo branch policies need manual rebuilding, TFVC has to convert to Git first (no direct path), and — easy to miss — everything arrives private on GitHub no matter how visible it was in Azure DevOps. Worth a quick mention of the four hard size limits too if there's time (2 GiB/commit, 2 GiB/push, 100 MiB/file, 40 GiB/repo) but don't let the slide's bullets run long reciting them — they're in the written notes if anyone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quick — this is the shortest stop in the section because there's genuinely not much to it. Both wikis are Git repos, so it's clone-and-push, full stop. The only real conversation is permissions: Azure DevOps' per-page permission model is richer than GitHub wiki's, and you lose the tight integration with Boards and pipelines that Azure DevOps wiki has. Land the pull-quote line — content migration is trivial, permissions is the whole conversation — it's the one-sentence takeaway.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Unlike Repos or Wiki, this one isn't a clean migration path — it's a genuine three-way decision: keep Azure Artifacts as-is, move fully to GitHub Packages, or dual-publish during a transition window. The realistic PoC target for most enterprises is the first option done well: GitHub Actions publishing to and consuming from an existing Azure Artifacts feed, because repointing every downstream consumer at cutover usually isn't realistic. This is a decision, not a rewrite — say that line plainly, it's the slide's title for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GitHub's built-in engineering metrics are real and cover delivery performance, cycle time, and PR review load — genuinely DORA-adjacent — but they won't match the combined depth of Azure Boards Analytics plus a dedicated Power BI report most enterprises have built up over years. VERIFY BEFORE THE TALK: confirm the exact GitHub feature name and its availability on Hunter's actual GHEC plan/tier — flagged as unverified in the source research notes, don't commit to a specific product name on stage without checking first. The reframe that saves this slide: stop comparing dashboard widgets one-for-one, use the four DORA metrics as the shared baseline language both platforms can speak.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deliberately slow — this line is the whole talk in one sentence, worth letting it land before moving on. Everything that's file-based and version-controlled — repos, wiki — travels cleanly because Git is Git on both sides. Everything backed by a proprietary database with its own data model — dashboards here, and Boards plus Test Plans in the next section — needs either a rewrite, a decision, or in Test Plans' case, doesn't come at all. This sets up sections 3 and 4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3. The real Q&amp;A time is banked for the 10-minute block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section 1 and 2 openers. Pause after the line, then go straight back to normal delivery for the pipelines slide. This is the heaviest section in the talk — 12 slides — so keep the pacing brisk everywhere it isn't earning a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The trap is assuming YAML-to-YAML means a find-and-replace job — it doesn't. Azure Pipelines' Stages → Jobs → Tasks hierarchy and GitHub Actions' Workflows → Jobs → Steps model look similar on a diagram and behave differently in practice (approval gates, templating, conditional execution all work differently). Set expectations early: budget 1–2 days per complex pipeline, not an afternoon. This sets up the three approaches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a framework slide, not the deep dive — just introduce the three lenses before walking each one: Manual (read the docs, map concepts, rewrite by hand), Tooling (purpose-built CLIs like gh-ado2gh and gh-actions-importer, each gets its own slides next), and AI (prompt-driven mapping). None of these are mutually exclusive — most real migrations use tooling for the bulk of the work, AI to accelerate the gnarliest pipelines, and manual review to catch what both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table is the cheat sheet, not the whole story — walk the core mappings quickly (Pipeline→Workflow, Agent Pool→Runner, Service Connection→OIDC/secrets, Variable Group→secrets/variables, Task→Action, condition→if, dependsOn→needs) and don't read every row aloud. One more mapping worth a verbal mention even though it's not in the table: stages become separate workflow files, not a nested construct. Then the syntax differences that trip people up even after the concepts click: no classic-editor equivalent, job structure is always explicit (no implicit single-job pipelines), script steps consolidate to run+shell, and GitHub Actions fails fast by default where Azure Pipelines doesn't — that last one silently changes pipeline behavior if you don't account for it. QR points to Microsoft's own migrate-from-azure-pipelines doc.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gh-ado2gh is the repo-side tool: inventory-report surveys the org before anything moves, generate-script produces the real migration script, and the --all flag goes further, rewiring pipelines, creating GitHub teams, and connecting Azure Boards in a single pass. What it doesn't do is just as important to set expectations: it doesn't touch pipeline YAML logic (that's the next tool), doesn't bring Git LFS objects along automatically, and doesn't make identity-mapping decisions for you — caveats and the one sequencing rule that matters are the next slide. Why choose it: it's the default answer at any real scale, free and GitHub-maintained. QR points to the tool's GitHub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land this one plainly — it's the one rule in this whole tooling discussion that isn't a judgment call, it's just ordering. Install the Pipelines GitHub App before migrating repos with gh-ado2gh, full stop. Get this backwards and the migration script can't auto-reconfigure pipelines to point at GitHub, which turns into a manual repo-by-repo scramble while people wonder why builds are suddenly red. Same ordering constraint applies to identity mapping — plan it before the first migration, not after — which is a preview of section 6's mannequin-accounts material, worth a one-line forward reference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gh-actions-importer is the pipeline-side tool, separate from gh-ado2gh — don't imply they're one tool. Its audit command is the star: it classifies every pipeline as automatable, partial, or needing a human, and dry-run shows you the converted workflow before you commit to anything. What it doesn't do: it doesn't touch repos at all, the partial bucket is still real work, and it faithfully translates whatever's in the source pipeline — including problems that were already there. Why choose it: that audit breakdown is the single best quantified evidence in the whole PoC for estimating real migration effort. QR points to the tool's GitHub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be plain about the limitation up front — this is research, not a demo. ELM (Enterprise Live Migration, currently in preview) offers continuous sync plus a scheduled cutover with a read-only window Microsoft cites as sub-30-minutes for most orgs. It automates pre-migration checks, org/repo creation, PR and branch-policy sync, and Boards connection plus pipeline rewiring. It still requires manual cleanup, access/permissions setup, verification, and doesn't touch work-item, wiki, or pipeline content migration itself — those still happen through the other approaches. Hunter doesn't have the GHE data-residency tenant this requires, so be upfront that none of this was hands-on tested. The honest framing that saves this slide from feeling like a vendor pitch: the standard GEI CLI already does more than marketing comparisons imply, so what ELM genuinely adds is the continuous-sync/scheduled-cutover experience, not a fundamentally longer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Three prompts, run in sequence, not one shot: analyze reads the source pipeline and identifies what it's actually doing step by step; convert produces the equivalent GitHub Actions workflow from that analysis; validate is a separate pass that checks the conversion, deliberately not using the same model call that did the converting — the model that wrote the conversion shouldn't grade its own homework. This is the payoff for section 1's thesis that AI is the honest primary driver — it's not just a chat assistant, it's a structured migration tool. HONEST STATUS, say this if asked directly: all three prompts are drafted and reviewed but haven't been run against a real production pipeline yet — that's still open. QR points to the repo's prompts/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replaces a screenshot-based walkthrough with the map itself — the four-step sequence is the same regardless of which repo runs through it: repo migration with gh-ado2gh, pipeline audit with gh-actions-importer, the YAML rewrite using the mapping from the manual-approach slide, and finally a green build, which is the actual finish line, not just 'the repo exists on GitHub now.' Land the bold line — the specifics change every time, the order doesn't. This slide doesn't depend on having picked a specific repo yet; it's the general shape. The next slide is where real, repo-specific findings go once that choice is made and the sequence is actually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SLIDE — do not present as-is. This depends entirely on the previous slide's sequence actually being run against a real repo. Once it's run, replace the fill-in prompts with the real, specific takeaways — what genuinely broke, what surprised you, what the audit tool called correctly or missed. A generic 'here's what we learned' slide would undercut the credibility this whole section is built on (see the gh-actions-importer slide's point about quantified evidence) — this slide needs real content or it should be cut rather than filled with filler.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30 seconds given how much ground this section covers. Take one quick question if a hand is up, otherwise move straight into section 4. The real Q&amp;A time is banked for the 10-minute block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Boards-vs-Projects framing slide. This is the shortest section in the deck — keep every slide brisk, the payoff is the Test Plans slide and the recommendation, not length.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Frame this before comparing feature-by-feature — Azure Boards and GitHub Projects aren't two competitors in the same category, they're different categories. Azure Boards is a full enterprise work-tracking system (hierarchy, capacity, cross-team reporting); GitHub Projects is a lightweight kanban layer on top of Issues. Naming that up front stops the next two slides from reading as a scored competition — each tool is genuinely good at what it's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enterprise case, stated plainly and without hedging: hierarchical work items from Epics down to Tasks, built-in sprint planning and capacity management, Delivery Plans for dependencies that cross team boundaries, and Boards Analytics feeding Power BI for reporting that goes well beyond a single team's board. It organizes around Project, Team, and Area Path — a structure built for portfolios, not just one team's kanban.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developer-proximity case: GitHub Projects is lightweight and flexible (custom fields cover iteration, single-select, date, number), it lives right next to the issues and PRs it's tracking rather than in a separate system, it's fast for small-team daily triage, and it has a roadmap layout plus automation, either built-in or via Actions. It organizes around Repository, Label, and Milestone — a structure built for a team living inside its code, not a multi-team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Be concrete about the loss rather than vague: sprint history, capacity data, custom process fields, and the entire Project/Team/Area Path hierarchy don't have a clean landing spot in GitHub Projects. There is open-source help — azure-devops-migration-tools can move work items over — but set expectations honestly: this is real manual-mapping work because the two data models don't line up, not a one-command migration. This sets up the Test Plans slide and the hybrid-pattern resolution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and let this one land plainly — it's probably the best-received slide in the whole deck precisely because it doesn't try to spin anything. There is no native GitHub Projects or Issues equivalent for structured manual and exploratory testing, full stop. In a regulated environment, that alone can be sufficient reason to keep Azure DevOps around. This is the shortest slide in the section on purpose — sometimes the honest answer is just 'it doesn't move, and that's fine,' and saying it plainly builds more credibility than manufacturing a workaround.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section 1's hybrid pattern coming back around, applied specifically to Boards vs. Projects: connect Azure Boards to GitHub repos before touching anything else. Developers get to work in GitHub, right next to Copilot and the issues that matter to them day to day; managers keep the sprint hub, capacity charts, and Power BI reporting exactly where they already are. The framing matters — Microsoft designed this as the intended shape for mixed estates, not a stopgap. Internally, call it the answer, not the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explicit takeaway slide for the section — say it plainly. Don't migrate to GitHub Issues unless your PM needs are genuinely simple; for most teams past a handful of people, keep Azure Boards connected rather than replaced. Important nuance worth saying out loud: this isn't an argument for Azure Boards forever, it's an argument against defaulting to GitHub Issues just because the code moved. Where you plan work is a separate decision from where your code lives — leave that door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5. The real Q&amp;A time is banked for the 10-minute block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the only register for this slide. Deliver slowly, deadpan, faintly awed, same conceit as the earlier section openers. Pause after the line, then go straight back to normal delivery for the thesis slide. This section's closing slide comes back to this exact character — plant it here without over-explaining, the payoff lands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section's thesis statement — land it early and come back to it. Migrations that fail almost never fail because the tooling didn't work; gh-ado2gh and gh-actions-importer do what they say. They fail because of three predictable human failures: no real selection process (the tool got picked by momentum, not evaluated on merit), customization starting before anyone actually understood the new tool, and a rollout that felt like it was done TO people rather than WITH them. Everything else in this section is about avoiding those three things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walk this quickly — it's five steps, don't dwell on any one. Define must-haves before shopping, assess real constraints like data residency and compliance, model one real increment of actual work in each candidate tool rather than watching a vendor demo, score the results with a weighted rubric so the decision is defensible later, and run a real 4–6 week pilot with outcomes decided in advance. This is the antidote to the first failure mode from the thesis slide — no real selection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antidote to the second failure mode — customization starting before anyone understood the new tool. Every custom field, automation rule, or process tweak added before the pilot is a decision made with the least information the team will ever have about how the tool actually gets used. Run the pilot on defaults first, then customize afterward with real usage data instead of guesses about what people will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Sticker-price comparisons are the easiest way to make a bad decision look rigorous. Compare the whole bill: licensing tiers, GitHub Advanced Security as an add-on rather than bundled, runner and compute minutes, and the real admin and migration effort to get there — that last one is easy to leave off a spreadsheet entirely. The rule of thumb: past roughly 100 engineers, governance and reporting time saved usually outweighs a modest per-seat price difference, but say plainly that this is a rule of thumb, not a substitute for running the actual math against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synthesis slide — everything from sections 1 through 4 in one sequence. Start hybrid by connecting Azure Boards first, before anything else moves (section 4's resolution). Migrate repos in waves, low-stakes ones first, building trust before the repos that matter. Rewrite pipelines incrementally, old and new running in parallel rather than one risky cutover (section 3). Leave work items alone unless already deliberately decided otherwise. The point to land: this ordering isn't just good engineering practice, it IS the change-management plan — say that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Ties directly back to section 1's honest primary driver — AI is why most teams are really migrating, but that payoff isn't automatic. Copilot and agentic tooling multiply the value of well-structured work, they don't create structure that isn't there. A vague ticket produces a vague PR because the model can't infer intent nobody wrote down. The actionable point: invest in issue templates and acceptance criteria as a precondition, not an afterthought, before expecting the AI payoff section 1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aside — same voice as the opener cards, played for a beat, then straight delivery resumes. This is the section's closing synthesis: startups and one-to-three-squad teams should just take GitHub Projects' lightweight fit, no enterprise overhead needed. Scaled agile, regulated industries, and multi-team portfolios are exactly where Azure Boards' hierarchy and reporting earn their keep. Mixed estates get the hybrid pattern, deliberately — a fit, not a compromise. Then the documentary callback: the Senior Engineer from the opener card isn't wrong to be cautious about change, they're just defending the old pipeline with the wrong argument ('it's always worked') instead of the right one ('here's the rubric score'). Land this warmly, not as a dunk — the point is to hear the objection out and then hand them the data from the selection process a few slides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Brief check-in, not a discussion window — about a minute. Take one quick question if a hand is up, otherwise move straight into section 6, the final section. The real Q&amp;A time is banked for the 10-minute block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This is the section opener: slow down, let the metaphor land. We are closing the loop on the "field guide to a new habitat" framing from the whole talk — this section is about what still limps back to the old watering hole after everyone else has moved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This is the practical, checklist-voiced part of the section. The four rows are meant to be read as "here is where these hide" — invite the room to mentally add their own fifth row, because every org has one nobody else would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registers on this one slide. STRAIGHT for the top two cards — this is real mechanical risk, say it plainly. Then shift into DOCUMENTARY VOICE for the on-slide aside at the bottom, read as written, then straight back to conference delivery for the next slide. The "mannequin" framing is the callback that ties this section’s watering-hole metaphor to identity specifically.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but let it land quieter than the surrounding slides — this is the deck’s thesis-in-miniature for this section. It is the deliberate tonal comedown after two slides of genuine risk (URLs, identity): the point is reassurance, not another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briskly — this is a recap, not new material. One line per section as written; resist the urge to re-explain any of them, the room already heard the full version. This slide exists to give the close a spine before the links slide and the documentary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Hold this slide up a beat longer than usual — give phones time to scan. One QR, one repo, everything the talk referenced lives inside it. This is the practical bridge into the documentary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DOCUMENTARY VOICE — spoken live, not read, and slower than anything else in the deck. Let the silence after "our making" sit for a full two seconds before advancing. This is the emotional peak of the talk’s closing beat; do not undercut it by rushing into the thank-you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delivery, warm. This is the handoff into the deck’s single 10-minute final Q&amp;A block — no interim pocket before this, so the room has been building questions since section 5. Invite them explicitly rather than just stopping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1.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sp>
      <p:sp>
        <p:nvSpPr>
          <p:cNvPr id="3" name="Shape 1"/>
          <p:cNvSpPr/>
          <p:nvPr/>
        </p:nvSpPr>
        <p:spPr>
          <a:xfrm>
            <a:off x="0" y="5120640"/>
            <a:ext cx="12191695" cy="1737360"/>
          </a:xfrm>
          <a:prstGeom prst="rect">
            <a:avLst/>
          </a:prstGeom>
          <a:solidFill>
            <a:srgbClr val="142A1D"/>
          </a:solidFill>
          <a:ln/>
        </p:spPr>
      </p:sp>
      <p:pic>
        <p:nvPicPr>
          <p:cNvPr id="4" name="Image 0" descr="/home/claude/pptx-build/assets/icons/FaCompass-8C6A3F-400.png">    </p:cNvPr>
          <p:cNvPicPr>
            <a:picLocks noChangeAspect="1"/>
          </p:cNvPicPr>
          <p:nvPr/>
        </p:nvPicPr>
        <p:blipFill>
          <a:blip r:embed="rId1">
            <a:alphaModFix amt="80000"/>
          </a:blip>
          <a:stretch>
            <a:fillRect/>
          </a:stretch>
        </p:blipFill>
        <p:spPr>
          <a:xfrm>
            <a:off x="9601200" y="640080"/>
            <a:ext cx="1920240" cy="1920240"/>
          </a:xfrm>
          <a:prstGeom prst="rect">
            <a:avLst/>
          </a:prstGeom>
        </p:spPr>
      </p:pic>
      <p:sp>
        <p:nvSpPr>
          <p:cNvPr id="5" name="Text 2"/>
          <p:cNvSpPr txBox="1"/>
          <p:nvPr/>
        </p:nvSpPr>
        <p:spPr>
          <a:xfrm>
            <a:off x="640080" y="1828800"/>
            <a:ext cx="10058400" cy="457200"/>
          </a:xfrm>
          <a:prstGeom prst="rect">
            <a:avLst/>
          </a:prstGeom>
          <a:noFill/>
          <a:ln/>
        </p:spPr>
        <p:txBody>
          <a:bodyPr wrap="square" lIns="0" tIns="0" rIns="0" bIns="0" rtlCol="0" anchor="ctr"/>
          <a:lstStyle/>
          <a:p>
            <a:pPr indent="0" marL="0">
              <a:buNone/>
            </a:pPr>
            <a:r>
              <a:rPr lang="en-US" sz="1800" b="1" spc="300" kern="0" dirty="0">
                <a:solidFill>
                  <a:srgbClr val="8C6A3F"/>
                </a:solidFill>
                <a:latin typeface="Calibri" pitchFamily="34" charset="0"/>
                <a:ea typeface="Calibri" pitchFamily="34" charset="-122"/>
                <a:cs typeface="Calibri" pitchFamily="34" charset="-120"/>
              </a:rPr>
              <a:t>AZURE DEVOPS → GITHUB ENTERPRISE</a:t>
            </a:r>
            <a:endParaRPr lang="en-US" sz="1800" dirty="0"/>
          </a:p>
        </p:txBody>
      </p:sp>
      <p:sp>
        <p:nvSpPr>
          <p:cNvPr id="6" name="Text 3"/>
          <p:cNvSpPr txBox="1"/>
          <p:nvPr/>
        </p:nvSpPr>
        <p:spPr>
          <a:xfrm>
            <a:off x="640080" y="2286000"/>
            <a:ext cx="10515600" cy="1463040"/>
          </a:xfrm>
          <a:prstGeom prst="rect">
            <a:avLst/>
          </a:prstGeom>
          <a:noFill/>
          <a:ln/>
        </p:spPr>
        <p:txBody>
          <a:bodyPr wrap="square" lIns="0" tIns="0" rIns="0" bIns="0" rtlCol="0" anchor="ctr"/>
          <a:lstStyle/>
          <a:p>
            <a:pPr indent="0" marL="0">
              <a:buNone/>
            </a:pPr>
            <a:r>
              <a:rPr lang="en-US" sz="5600" b="1" dirty="0">
                <a:solidFill>
                  <a:srgbClr val="F5F5F0"/>
                </a:solidFill>
                <a:latin typeface="Cambria" pitchFamily="34" charset="0"/>
                <a:ea typeface="Cambria" pitchFamily="34" charset="-122"/>
                <a:cs typeface="Cambria" pitchFamily="34" charset="-120"/>
              </a:rPr>
              <a:t>The Great Migration</a:t>
            </a:r>
            <a:endParaRPr lang="en-US" sz="5600" dirty="0"/>
          </a:p>
        </p:txBody>
      </p:sp>
      <p:sp>
        <p:nvSpPr>
          <p:cNvPr id="7" name="Text 4"/>
          <p:cNvSpPr txBox="1"/>
          <p:nvPr/>
        </p:nvSpPr>
        <p:spPr>
          <a:xfrm>
            <a:off x="640080" y="5349240"/>
            <a:ext cx="10058400" cy="822960"/>
          </a:xfrm>
          <a:prstGeom prst="rect">
            <a:avLst/>
          </a:prstGeom>
          <a:noFill/>
          <a:ln/>
        </p:spPr>
        <p:txBody>
          <a:bodyPr wrap="square" lIns="0" tIns="0" rIns="0" bIns="0" rtlCol="0" anchor="ctr"/>
          <a:lstStyle/>
          <a:p>
            <a:pPr indent="0" marL="0">
              <a:buNone/>
            </a:pPr>
            <a:r>
              <a:rPr lang="en-US" sz="2400" i="1" dirty="0">
                <a:solidFill>
                  <a:srgbClr val="8C6A3F"/>
                </a:solidFill>
                <a:latin typeface="Cambria" pitchFamily="34" charset="0"/>
                <a:ea typeface="Cambria" pitchFamily="34" charset="-122"/>
                <a:cs typeface="Cambria" pitchFamily="34" charset="-120"/>
              </a:rPr>
              <a:t>“Observe the DevOps Engineer in their natural habitat.”</a:t>
            </a:r>
            <a:endParaRPr lang="en-US" sz="2400" dirty="0"/>
          </a:p>
        </p:txBody>
      </p:sp>
      <p:sp>
        <p:nvSpPr>
          <p:cNvPr id="8" name="Text 5"/>
          <p:cNvSpPr txBox="1"/>
          <p:nvPr/>
        </p:nvSpPr>
        <p:spPr>
          <a:xfrm>
            <a:off x="640080" y="6172200"/>
            <a:ext cx="10058400" cy="365760"/>
          </a:xfrm>
          <a:prstGeom prst="rect">
            <a:avLst/>
          </a:prstGeom>
          <a:noFill/>
          <a:ln/>
        </p:spPr>
        <p:txBody>
          <a:bodyPr wrap="square" lIns="0" tIns="0" rIns="0" bIns="0" rtlCol="0" anchor="ctr"/>
          <a:lstStyle/>
          <a:p>
            <a:pPr indent="0" marL="0">
              <a:buNone/>
            </a:pPr>
            <a:r>
              <a:rPr lang="en-US" sz="1500" dirty="0">
                <a:solidFill>
                  <a:srgbClr val="F5F5F0"/>
                </a:solidFill>
                <a:latin typeface="Calibri" pitchFamily="34" charset="0"/>
                <a:ea typeface="Calibri" pitchFamily="34" charset="-122"/>
                <a:cs typeface="Calibri" pitchFamily="34" charset="-120"/>
              </a:rPr>
              <a:t>Kevin Neumann  •  Cloud &amp; AI Summit  •  30 September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02920"/>
            <a:ext cx="10515600" cy="68580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Thank You to Our Sponsors</a:t>
            </a:r>
            <a:endParaRPr lang="en-US" sz="3200" dirty="0"/>
          </a:p>
        </p:txBody>
      </p:sp>
      <p:sp>
        <p:nvSpPr>
          <p:cNvPr id="3" name="Shape 1"/>
          <p:cNvSpPr/>
          <p:nvPr/>
        </p:nvSpPr>
        <p:spPr>
          <a:xfrm>
            <a:off x="548640" y="1645920"/>
            <a:ext cx="11064240" cy="3931920"/>
          </a:xfrm>
          <a:prstGeom prst="roundRect">
            <a:avLst>
              <a:gd name="adj" fmla="val 2791"/>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914400" y="3200400"/>
            <a:ext cx="10332720" cy="640080"/>
          </a:xfrm>
          <a:prstGeom prst="rect">
            <a:avLst/>
          </a:prstGeom>
          <a:noFill/>
          <a:ln/>
        </p:spPr>
        <p:txBody>
          <a:bodyPr wrap="square" lIns="0" tIns="0" rIns="0" bIns="0" rtlCol="0" anchor="ctr"/>
          <a:lstStyle/>
          <a:p>
            <a:pPr algn="ctr" indent="0" marL="0">
              <a:buNone/>
            </a:pPr>
            <a:r>
              <a:rPr lang="en-US" sz="2000" i="1" dirty="0">
                <a:solidFill>
                  <a:srgbClr val="6B6B63"/>
                </a:solidFill>
                <a:latin typeface="Calibri" pitchFamily="34" charset="0"/>
                <a:ea typeface="Calibri" pitchFamily="34" charset="-122"/>
                <a:cs typeface="Calibri" pitchFamily="34" charset="-120"/>
              </a:rPr>
              <a:t>[PLACEHOLDER — drop in actual sponsor logos before the talk]</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Map-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AGENDA</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Six Legs of the Expedition</a:t>
            </a:r>
            <a:endParaRPr lang="en-US" sz="3200" dirty="0"/>
          </a:p>
        </p:txBody>
      </p:sp>
      <p:sp>
        <p:nvSpPr>
          <p:cNvPr id="6" name="Shape 3"/>
          <p:cNvSpPr/>
          <p:nvPr/>
        </p:nvSpPr>
        <p:spPr>
          <a:xfrm>
            <a:off x="548640" y="1554480"/>
            <a:ext cx="6675120" cy="4434840"/>
          </a:xfrm>
          <a:prstGeom prst="roundRect">
            <a:avLst>
              <a:gd name="adj" fmla="val 2474"/>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777240" y="1783080"/>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1</a:t>
            </a:r>
            <a:endParaRPr lang="en-US" sz="2400" dirty="0"/>
          </a:p>
        </p:txBody>
      </p:sp>
      <p:sp>
        <p:nvSpPr>
          <p:cNvPr id="8" name="Text 5"/>
          <p:cNvSpPr txBox="1"/>
          <p:nvPr/>
        </p:nvSpPr>
        <p:spPr>
          <a:xfrm>
            <a:off x="1371600" y="1783080"/>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Why Leave the Herd — the case for migrating</a:t>
            </a:r>
            <a:endParaRPr lang="en-US" sz="1700" dirty="0"/>
          </a:p>
        </p:txBody>
      </p:sp>
      <p:sp>
        <p:nvSpPr>
          <p:cNvPr id="9" name="Text 6"/>
          <p:cNvSpPr txBox="1"/>
          <p:nvPr/>
        </p:nvSpPr>
        <p:spPr>
          <a:xfrm>
            <a:off x="777240" y="2496312"/>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2</a:t>
            </a:r>
            <a:endParaRPr lang="en-US" sz="2400" dirty="0"/>
          </a:p>
        </p:txBody>
      </p:sp>
      <p:sp>
        <p:nvSpPr>
          <p:cNvPr id="10" name="Text 7"/>
          <p:cNvSpPr txBox="1"/>
          <p:nvPr/>
        </p:nvSpPr>
        <p:spPr>
          <a:xfrm>
            <a:off x="1371600" y="2496312"/>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A Field Guide to the Local Species — what travels clean</a:t>
            </a:r>
            <a:endParaRPr lang="en-US" sz="1700" dirty="0"/>
          </a:p>
        </p:txBody>
      </p:sp>
      <p:sp>
        <p:nvSpPr>
          <p:cNvPr id="11" name="Text 8"/>
          <p:cNvSpPr txBox="1"/>
          <p:nvPr/>
        </p:nvSpPr>
        <p:spPr>
          <a:xfrm>
            <a:off x="777240" y="3209544"/>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3</a:t>
            </a:r>
            <a:endParaRPr lang="en-US" sz="2400" dirty="0"/>
          </a:p>
        </p:txBody>
      </p:sp>
      <p:sp>
        <p:nvSpPr>
          <p:cNvPr id="12" name="Text 9"/>
          <p:cNvSpPr txBox="1"/>
          <p:nvPr/>
        </p:nvSpPr>
        <p:spPr>
          <a:xfrm>
            <a:off x="1371600" y="3209544"/>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Crossing the River — rebuilding pipelines three ways</a:t>
            </a:r>
            <a:endParaRPr lang="en-US" sz="1700" dirty="0"/>
          </a:p>
        </p:txBody>
      </p:sp>
      <p:sp>
        <p:nvSpPr>
          <p:cNvPr id="13" name="Text 10"/>
          <p:cNvSpPr txBox="1"/>
          <p:nvPr/>
        </p:nvSpPr>
        <p:spPr>
          <a:xfrm>
            <a:off x="777240" y="3922776"/>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4</a:t>
            </a:r>
            <a:endParaRPr lang="en-US" sz="2400" dirty="0"/>
          </a:p>
        </p:txBody>
      </p:sp>
      <p:sp>
        <p:nvSpPr>
          <p:cNvPr id="14" name="Text 11"/>
          <p:cNvSpPr txBox="1"/>
          <p:nvPr/>
        </p:nvSpPr>
        <p:spPr>
          <a:xfrm>
            <a:off x="1371600" y="3922776"/>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Sprint Planning in Its Natural Habitat — Boards vs. Projects</a:t>
            </a:r>
            <a:endParaRPr lang="en-US" sz="1700" dirty="0"/>
          </a:p>
        </p:txBody>
      </p:sp>
      <p:sp>
        <p:nvSpPr>
          <p:cNvPr id="15" name="Text 12"/>
          <p:cNvSpPr txBox="1"/>
          <p:nvPr/>
        </p:nvSpPr>
        <p:spPr>
          <a:xfrm>
            <a:off x="777240" y="4636008"/>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5</a:t>
            </a:r>
            <a:endParaRPr lang="en-US" sz="2400" dirty="0"/>
          </a:p>
        </p:txBody>
      </p:sp>
      <p:sp>
        <p:nvSpPr>
          <p:cNvPr id="16" name="Text 13"/>
          <p:cNvSpPr txBox="1"/>
          <p:nvPr/>
        </p:nvSpPr>
        <p:spPr>
          <a:xfrm>
            <a:off x="1371600" y="4636008"/>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Preventing the Uprising — change management</a:t>
            </a:r>
            <a:endParaRPr lang="en-US" sz="1700" dirty="0"/>
          </a:p>
        </p:txBody>
      </p:sp>
      <p:sp>
        <p:nvSpPr>
          <p:cNvPr id="17" name="Text 14"/>
          <p:cNvSpPr txBox="1"/>
          <p:nvPr/>
        </p:nvSpPr>
        <p:spPr>
          <a:xfrm>
            <a:off x="777240" y="5349240"/>
            <a:ext cx="502920" cy="566928"/>
          </a:xfrm>
          <a:prstGeom prst="rect">
            <a:avLst/>
          </a:prstGeom>
          <a:noFill/>
          <a:ln/>
        </p:spPr>
        <p:txBody>
          <a:bodyPr wrap="square" lIns="0" tIns="0" rIns="0" bIns="0" rtlCol="0" anchor="ctr"/>
          <a:lstStyle/>
          <a:p>
            <a:pPr indent="0" marL="0">
              <a:buNone/>
            </a:pPr>
            <a:r>
              <a:rPr lang="en-US" sz="2400" b="1" dirty="0">
                <a:solidFill>
                  <a:srgbClr val="C1440E"/>
                </a:solidFill>
                <a:latin typeface="Cambria" pitchFamily="34" charset="0"/>
                <a:ea typeface="Cambria" pitchFamily="34" charset="-122"/>
                <a:cs typeface="Cambria" pitchFamily="34" charset="-120"/>
              </a:rPr>
              <a:t>6</a:t>
            </a:r>
            <a:endParaRPr lang="en-US" sz="2400" dirty="0"/>
          </a:p>
        </p:txBody>
      </p:sp>
      <p:sp>
        <p:nvSpPr>
          <p:cNvPr id="18" name="Text 15"/>
          <p:cNvSpPr txBox="1"/>
          <p:nvPr/>
        </p:nvSpPr>
        <p:spPr>
          <a:xfrm>
            <a:off x="1371600" y="5349240"/>
            <a:ext cx="5669280" cy="59436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The Watering Hole Nobody Told to Move — the long tail</a:t>
            </a:r>
            <a:endParaRPr lang="en-US" sz="1700" dirty="0"/>
          </a:p>
        </p:txBody>
      </p:sp>
      <p:sp>
        <p:nvSpPr>
          <p:cNvPr id="19" name="Shape 16"/>
          <p:cNvSpPr/>
          <p:nvPr/>
        </p:nvSpPr>
        <p:spPr>
          <a:xfrm>
            <a:off x="7452360" y="1554480"/>
            <a:ext cx="4160520" cy="4434840"/>
          </a:xfrm>
          <a:prstGeom prst="roundRect">
            <a:avLst>
              <a:gd name="adj" fmla="val 2637"/>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0" name="Text 17"/>
          <p:cNvSpPr txBox="1"/>
          <p:nvPr/>
        </p:nvSpPr>
        <p:spPr>
          <a:xfrm>
            <a:off x="7726680" y="1737360"/>
            <a:ext cx="3657600" cy="50292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Trails We’re Not Hiking</a:t>
            </a:r>
            <a:endParaRPr lang="en-US" sz="1900" dirty="0"/>
          </a:p>
        </p:txBody>
      </p:sp>
      <p:sp>
        <p:nvSpPr>
          <p:cNvPr id="21" name="Text 18"/>
          <p:cNvSpPr txBox="1"/>
          <p:nvPr/>
        </p:nvSpPr>
        <p:spPr>
          <a:xfrm>
            <a:off x="7726680" y="2331720"/>
            <a:ext cx="3657600" cy="3520440"/>
          </a:xfrm>
          <a:prstGeom prst="rect">
            <a:avLst/>
          </a:prstGeom>
          <a:noFill/>
          <a:ln/>
        </p:spPr>
        <p:txBody>
          <a:bodyPr wrap="square" lIns="0" tIns="0" rIns="0" bIns="0" rtlCol="0" anchor="ctr"/>
          <a:lstStyle/>
          <a:p>
            <a:pPr marL="342900" indent="-342900">
              <a:lnSpc>
                <a:spcPct val="115000"/>
              </a:lnSpc>
              <a:buSzPct val="100000"/>
              <a:buChar char="•"/>
            </a:pPr>
            <a:r>
              <a:rPr lang="en-US" sz="1500" b="1" dirty="0">
                <a:solidFill>
                  <a:srgbClr val="F5F5F0"/>
                </a:solidFill>
                <a:latin typeface="Calibri" pitchFamily="34" charset="0"/>
                <a:ea typeface="Calibri" pitchFamily="34" charset="-122"/>
                <a:cs typeface="Calibri" pitchFamily="34" charset="-120"/>
              </a:rPr>
              <a:t>GitHub vs. other CI/CD platforms</a:t>
            </a:r>
            <a:endParaRPr lang="en-US" sz="1500" dirty="0"/>
          </a:p>
          <a:p>
            <a:pPr indent="0" marL="0">
              <a:lnSpc>
                <a:spcPct val="115000"/>
              </a:lnSpc>
              <a:spcAft>
                <a:spcPts val="1400"/>
              </a:spcAft>
              <a:buNone/>
            </a:pPr>
            <a:r>
              <a:rPr lang="en-US" sz="1500" dirty="0">
                <a:solidFill>
                  <a:srgbClr val="F5F5F0"/>
                </a:solidFill>
                <a:latin typeface="Calibri" pitchFamily="34" charset="0"/>
                <a:ea typeface="Calibri" pitchFamily="34" charset="-122"/>
                <a:cs typeface="Calibri" pitchFamily="34" charset="-120"/>
              </a:rPr>
              <a:t>The campsite’s already picked. We’re not relitigating the map.</a:t>
            </a:r>
            <a:endParaRPr lang="en-US" sz="1500" dirty="0"/>
          </a:p>
          <a:p>
            <a:pPr marL="342900" indent="-342900">
              <a:lnSpc>
                <a:spcPct val="115000"/>
              </a:lnSpc>
              <a:buSzPct val="100000"/>
              <a:buChar char="•"/>
            </a:pPr>
            <a:r>
              <a:rPr lang="en-US" sz="1500" b="1" dirty="0">
                <a:solidFill>
                  <a:srgbClr val="F5F5F0"/>
                </a:solidFill>
                <a:latin typeface="Calibri" pitchFamily="34" charset="0"/>
                <a:ea typeface="Calibri" pitchFamily="34" charset="-122"/>
                <a:cs typeface="Calibri" pitchFamily="34" charset="-120"/>
              </a:rPr>
              <a:t>Copilot vs. other AI tools</a:t>
            </a:r>
            <a:endParaRPr lang="en-US" sz="1500" dirty="0"/>
          </a:p>
          <a:p>
            <a:pPr indent="0" marL="0">
              <a:lnSpc>
                <a:spcPct val="115000"/>
              </a:lnSpc>
              <a:spcAft>
                <a:spcPts val="1400"/>
              </a:spcAft>
              <a:buNone/>
            </a:pPr>
            <a:r>
              <a:rPr lang="en-US" sz="1500" dirty="0">
                <a:solidFill>
                  <a:srgbClr val="F5F5F0"/>
                </a:solidFill>
                <a:latin typeface="Calibri" pitchFamily="34" charset="0"/>
                <a:ea typeface="Calibri" pitchFamily="34" charset="-122"/>
                <a:cs typeface="Calibri" pitchFamily="34" charset="-120"/>
              </a:rPr>
              <a:t>Same trailhead debate, different gear. Not today’s hike.</a:t>
            </a:r>
            <a:endParaRPr lang="en-US" sz="1500" dirty="0"/>
          </a:p>
          <a:p>
            <a:pPr indent="0" marL="0">
              <a:lnSpc>
                <a:spcPct val="115000"/>
              </a:lnSpc>
              <a:buNone/>
            </a:pPr>
            <a:r>
              <a:rPr lang="en-US" sz="1500" i="1" dirty="0">
                <a:solidFill>
                  <a:srgbClr val="F5F5F0"/>
                </a:solidFill>
                <a:latin typeface="Calibri" pitchFamily="34" charset="0"/>
                <a:ea typeface="Calibri" pitchFamily="34" charset="-122"/>
                <a:cs typeface="Calibri" pitchFamily="34" charset="-120"/>
              </a:rPr>
              <a:t>Good news for fellow travelers: most of this trail works no matter which CI/CD platform you’re hiking toward.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1</a:t>
            </a:r>
            <a:endParaRPr lang="en-US" sz="1700" dirty="0"/>
          </a:p>
        </p:txBody>
      </p:sp>
      <p:pic>
        <p:nvPicPr>
          <p:cNvPr id="4" name="Image 0" descr="/home/claude/pptx-build/assets/icons/FaFeatherAlt-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Migration Season Has Begun</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Every year, in enterprises across the world, a familiar pattern repeats: teams gather at the edge of a comfortable ecosystem, and one by one, they begin the long journey toward the source of AI.</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Robo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Honest Primary Driver</a:t>
            </a:r>
            <a:endParaRPr lang="en-US" sz="3200" dirty="0"/>
          </a:p>
        </p:txBody>
      </p:sp>
      <p:sp>
        <p:nvSpPr>
          <p:cNvPr id="6" name="Shape 3"/>
          <p:cNvSpPr/>
          <p:nvPr/>
        </p:nvSpPr>
        <p:spPr>
          <a:xfrm>
            <a:off x="548640" y="1645920"/>
            <a:ext cx="11064240" cy="2286000"/>
          </a:xfrm>
          <a:prstGeom prst="roundRect">
            <a:avLst>
              <a:gd name="adj" fmla="val 48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28800"/>
            <a:ext cx="10332720" cy="2011680"/>
          </a:xfrm>
          <a:prstGeom prst="rect">
            <a:avLst/>
          </a:prstGeom>
          <a:noFill/>
          <a:ln/>
        </p:spPr>
        <p:txBody>
          <a:bodyPr wrap="square" lIns="0" tIns="0" rIns="0" bIns="0" rtlCol="0" anchor="ctr"/>
          <a:lstStyle/>
          <a:p>
            <a:pPr indent="0" marL="0">
              <a:lnSpc>
                <a:spcPct val="125000"/>
              </a:lnSpc>
              <a:buNone/>
            </a:pPr>
            <a:r>
              <a:rPr lang="en-US" sz="2000" dirty="0">
                <a:solidFill>
                  <a:srgbClr val="2B2B2B"/>
                </a:solidFill>
                <a:latin typeface="Calibri" pitchFamily="34" charset="0"/>
                <a:ea typeface="Calibri" pitchFamily="34" charset="-122"/>
                <a:cs typeface="Calibri" pitchFamily="34" charset="-120"/>
              </a:rPr>
              <a:t>Every dollar of Copilot investment — Chat, Coding Agent, Autofix, Agentic Code Review, Agent HQ — </a:t>
            </a:r>
            <a:pPr indent="0" marL="0">
              <a:lnSpc>
                <a:spcPct val="125000"/>
              </a:lnSpc>
              <a:buNone/>
            </a:pPr>
            <a:r>
              <a:rPr lang="en-US" sz="2000" b="1" dirty="0">
                <a:solidFill>
                  <a:srgbClr val="2B2B2B"/>
                </a:solidFill>
                <a:latin typeface="Calibri" pitchFamily="34" charset="0"/>
                <a:ea typeface="Calibri" pitchFamily="34" charset="-122"/>
                <a:cs typeface="Calibri" pitchFamily="34" charset="-120"/>
              </a:rPr>
              <a:t>lands on GitHub first. </a:t>
            </a:r>
            <a:pPr indent="0" marL="0">
              <a:lnSpc>
                <a:spcPct val="125000"/>
              </a:lnSpc>
              <a:buNone/>
            </a:pPr>
            <a:r>
              <a:rPr lang="en-US" sz="2000" dirty="0">
                <a:solidFill>
                  <a:srgbClr val="2B2B2B"/>
                </a:solidFill>
                <a:latin typeface="Calibri" pitchFamily="34" charset="0"/>
                <a:ea typeface="Calibri" pitchFamily="34" charset="-122"/>
                <a:cs typeface="Calibri" pitchFamily="34" charset="-120"/>
              </a:rPr>
              <a:t>Microsoft is bringing AI into Azure DevOps too, but on a slower timeline and with a thinner feature set today — the frontier still lives on GitHub. If AI-assisted development matters to your org at scale, that’s where your repos need to be.</a:t>
            </a:r>
            <a:endParaRPr lang="en-US" sz="2000" dirty="0"/>
          </a:p>
        </p:txBody>
      </p:sp>
      <p:sp>
        <p:nvSpPr>
          <p:cNvPr id="8" name="Shape 5"/>
          <p:cNvSpPr/>
          <p:nvPr/>
        </p:nvSpPr>
        <p:spPr>
          <a:xfrm>
            <a:off x="548640" y="4114800"/>
            <a:ext cx="5349240" cy="1508760"/>
          </a:xfrm>
          <a:prstGeom prst="roundRect">
            <a:avLst>
              <a:gd name="adj" fmla="val 7273"/>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251960"/>
            <a:ext cx="4800600" cy="50292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GitHub</a:t>
            </a:r>
            <a:endParaRPr lang="en-US" sz="1900" dirty="0"/>
          </a:p>
        </p:txBody>
      </p:sp>
      <p:sp>
        <p:nvSpPr>
          <p:cNvPr id="10" name="Text 7"/>
          <p:cNvSpPr txBox="1"/>
          <p:nvPr/>
        </p:nvSpPr>
        <p:spPr>
          <a:xfrm>
            <a:off x="822960" y="4773168"/>
            <a:ext cx="4800600" cy="777240"/>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Full agentic Copilot suite, shipping now</a:t>
            </a:r>
            <a:endParaRPr lang="en-US" sz="1600" dirty="0"/>
          </a:p>
        </p:txBody>
      </p:sp>
      <p:sp>
        <p:nvSpPr>
          <p:cNvPr id="11" name="Shape 8"/>
          <p:cNvSpPr/>
          <p:nvPr/>
        </p:nvSpPr>
        <p:spPr>
          <a:xfrm>
            <a:off x="6172200" y="4114800"/>
            <a:ext cx="5349240" cy="1508760"/>
          </a:xfrm>
          <a:prstGeom prst="roundRect">
            <a:avLst>
              <a:gd name="adj" fmla="val 727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446520" y="4251960"/>
            <a:ext cx="4800600" cy="50292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Azure DevOps</a:t>
            </a:r>
            <a:endParaRPr lang="en-US" sz="1900" dirty="0"/>
          </a:p>
        </p:txBody>
      </p:sp>
      <p:sp>
        <p:nvSpPr>
          <p:cNvPr id="13" name="Text 10"/>
          <p:cNvSpPr txBox="1"/>
          <p:nvPr/>
        </p:nvSpPr>
        <p:spPr>
          <a:xfrm>
            <a:off x="6446520" y="4773168"/>
            <a:ext cx="4800600" cy="77724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AI features arriving, roadmap still catching up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stUl-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Copilot’s Head Start on GitHub</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3840480"/>
        </p:xfrm>
        <a:graphic>
          <a:graphicData uri="http://schemas.openxmlformats.org/drawingml/2006/table">
            <a:tbl>
              <a:tblPr/>
              <a:tblGrid>
                <a:gridCol w="2286000"/>
                <a:gridCol w="3749040"/>
                <a:gridCol w="5029200"/>
              </a:tblGrid>
              <a:tr h="640080">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Capability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On GitHub</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On Azure DevOps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r>
              <a:tr h="640080">
                <a:tc>
                  <a:txBody>
                    <a:bodyPr/>
                    <a:lstStyle/>
                    <a:p>
                      <a:pPr indent="0" marL="0">
                        <a:buNone/>
                      </a:pPr>
                      <a:r>
                        <a:rPr lang="en-US" sz="1550" b="1" dirty="0">
                          <a:solidFill>
                            <a:srgbClr val="1F3D2C"/>
                          </a:solidFill>
                          <a:latin typeface="Cambria" pitchFamily="34" charset="0"/>
                          <a:ea typeface="Cambria" pitchFamily="34" charset="-122"/>
                          <a:cs typeface="Cambria" pitchFamily="34" charset="-120"/>
                        </a:rPr>
                        <a:t>Copilot Chat</a:t>
                      </a:r>
                      <a:endParaRPr lang="en-US" sz="155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Native, in-editor and in-repo</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Via the Azure DevOps MCP Server (preview) — same assistant, ADO context</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640080">
                <a:tc>
                  <a:txBody>
                    <a:bodyPr/>
                    <a:lstStyle/>
                    <a:p>
                      <a:pPr indent="0" marL="0">
                        <a:buNone/>
                      </a:pPr>
                      <a:r>
                        <a:rPr lang="en-US" sz="1550" b="1" dirty="0">
                          <a:solidFill>
                            <a:srgbClr val="1F3D2C"/>
                          </a:solidFill>
                          <a:latin typeface="Cambria" pitchFamily="34" charset="0"/>
                          <a:ea typeface="Cambria" pitchFamily="34" charset="-122"/>
                          <a:cs typeface="Cambria" pitchFamily="34" charset="-120"/>
                        </a:rPr>
                        <a:t>Coding Agent</a:t>
                      </a:r>
                      <a:endParaRPr lang="en-US" sz="155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Opens PRs autonomously in GitHub repos</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Triggerable from an Azure Boards work item — but still writes to a GitHub repo</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640080">
                <a:tc>
                  <a:txBody>
                    <a:bodyPr/>
                    <a:lstStyle/>
                    <a:p>
                      <a:pPr indent="0" marL="0">
                        <a:buNone/>
                      </a:pPr>
                      <a:r>
                        <a:rPr lang="en-US" sz="1550" b="1" dirty="0">
                          <a:solidFill>
                            <a:srgbClr val="1F3D2C"/>
                          </a:solidFill>
                          <a:latin typeface="Cambria" pitchFamily="34" charset="0"/>
                          <a:ea typeface="Cambria" pitchFamily="34" charset="-122"/>
                          <a:cs typeface="Cambria" pitchFamily="34" charset="-120"/>
                        </a:rPr>
                        <a:t>Autofix</a:t>
                      </a:r>
                      <a:endParaRPr lang="en-US" sz="155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GA, mature</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Limited public preview via GHAS for Azure DevOps</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640080">
                <a:tc>
                  <a:txBody>
                    <a:bodyPr/>
                    <a:lstStyle/>
                    <a:p>
                      <a:pPr indent="0" marL="0">
                        <a:buNone/>
                      </a:pPr>
                      <a:r>
                        <a:rPr lang="en-US" sz="1550" b="1" dirty="0">
                          <a:solidFill>
                            <a:srgbClr val="1F3D2C"/>
                          </a:solidFill>
                          <a:latin typeface="Cambria" pitchFamily="34" charset="0"/>
                          <a:ea typeface="Cambria" pitchFamily="34" charset="-122"/>
                          <a:cs typeface="Cambria" pitchFamily="34" charset="-120"/>
                        </a:rPr>
                        <a:t>Agentic Code Review</a:t>
                      </a:r>
                      <a:endParaRPr lang="en-US" sz="155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GA</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Public preview for Azure Repos (Aug 2026)</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640080">
                <a:tc>
                  <a:txBody>
                    <a:bodyPr/>
                    <a:lstStyle/>
                    <a:p>
                      <a:pPr indent="0" marL="0">
                        <a:buNone/>
                      </a:pPr>
                      <a:r>
                        <a:rPr lang="en-US" sz="1550" b="1" dirty="0">
                          <a:solidFill>
                            <a:srgbClr val="1F3D2C"/>
                          </a:solidFill>
                          <a:latin typeface="Cambria" pitchFamily="34" charset="0"/>
                          <a:ea typeface="Cambria" pitchFamily="34" charset="-122"/>
                          <a:cs typeface="Cambria" pitchFamily="34" charset="-120"/>
                        </a:rPr>
                        <a:t>Agent HQ</a:t>
                      </a:r>
                      <a:endParaRPr lang="en-US" sz="155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Multi-agent orchestration hub</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450" dirty="0">
                          <a:solidFill>
                            <a:srgbClr val="2B2B2B"/>
                          </a:solidFill>
                          <a:latin typeface="Calibri" pitchFamily="34" charset="0"/>
                          <a:ea typeface="Calibri" pitchFamily="34" charset="-122"/>
                          <a:cs typeface="Calibri" pitchFamily="34" charset="-120"/>
                        </a:rPr>
                        <a:t>No equivalent yet</a:t>
                      </a:r>
                      <a:endParaRPr lang="en-US" sz="14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bl>
          </a:graphicData>
        </a:graphic>
      </p:graphicFrame>
      <p:sp>
        <p:nvSpPr>
          <p:cNvPr id="7" name="Shape 3"/>
          <p:cNvSpPr/>
          <p:nvPr/>
        </p:nvSpPr>
        <p:spPr>
          <a:xfrm>
            <a:off x="548640" y="5623560"/>
            <a:ext cx="11064240" cy="914400"/>
          </a:xfrm>
          <a:prstGeom prst="roundRect">
            <a:avLst>
              <a:gd name="adj" fmla="val 120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Text 4"/>
          <p:cNvSpPr txBox="1"/>
          <p:nvPr/>
        </p:nvSpPr>
        <p:spPr>
          <a:xfrm>
            <a:off x="822960" y="5760720"/>
            <a:ext cx="8595360" cy="640080"/>
          </a:xfrm>
          <a:prstGeom prst="rect">
            <a:avLst/>
          </a:prstGeom>
          <a:noFill/>
          <a:ln/>
        </p:spPr>
        <p:txBody>
          <a:bodyPr wrap="square" lIns="0" tIns="0" rIns="0" bIns="0" rtlCol="0" anchor="ctr"/>
          <a:lstStyle/>
          <a:p>
            <a:pPr indent="0" marL="0">
              <a:buNone/>
            </a:pPr>
            <a:r>
              <a:rPr lang="en-US" sz="1400" b="1" dirty="0">
                <a:solidFill>
                  <a:srgbClr val="F5F5F0"/>
                </a:solidFill>
                <a:latin typeface="Calibri" pitchFamily="34" charset="0"/>
                <a:ea typeface="Calibri" pitchFamily="34" charset="-122"/>
                <a:cs typeface="Calibri" pitchFamily="34" charset="-120"/>
              </a:rPr>
              <a:t>The gap is real, but closing.  </a:t>
            </a:r>
            <a:pPr indent="0" marL="0">
              <a:buNone/>
            </a:pPr>
            <a:r>
              <a:rPr lang="en-US" sz="1400" dirty="0">
                <a:solidFill>
                  <a:srgbClr val="F5F5F0"/>
                </a:solidFill>
                <a:latin typeface="Calibri" pitchFamily="34" charset="0"/>
                <a:ea typeface="Calibri" pitchFamily="34" charset="-122"/>
                <a:cs typeface="Calibri" pitchFamily="34" charset="-120"/>
              </a:rPr>
              <a:t>Chat, Autofix, and code review have all reached Azure DevOps in preview. Coding Agent and Agent HQ haven’t — they still only operate on GitHub repos.</a:t>
            </a:r>
            <a:endParaRPr lang="en-US" sz="1400" dirty="0"/>
          </a:p>
        </p:txBody>
      </p:sp>
      <p:sp>
        <p:nvSpPr>
          <p:cNvPr id="9" name="Shape 5"/>
          <p:cNvSpPr/>
          <p:nvPr/>
        </p:nvSpPr>
        <p:spPr>
          <a:xfrm>
            <a:off x="10122408" y="5669280"/>
            <a:ext cx="804672" cy="804672"/>
          </a:xfrm>
          <a:prstGeom prst="roundRect">
            <a:avLst>
              <a:gd name="adj" fmla="val 6818"/>
            </a:avLst>
          </a:prstGeom>
          <a:solidFill>
            <a:srgbClr val="FFFFFF"/>
          </a:solidFill>
          <a:ln w="15875">
            <a:solidFill>
              <a:srgbClr val="1F3D2C"/>
            </a:solidFill>
            <a:prstDash val="solid"/>
          </a:ln>
        </p:spPr>
      </p:sp>
      <p:pic>
        <p:nvPicPr>
          <p:cNvPr id="10" name="Image 1" descr="/home/claude/pptx-build/assets/qr-sec1-ado-mcp.png">    </p:cNvPr>
          <p:cNvPicPr>
            <a:picLocks noChangeAspect="1"/>
          </p:cNvPicPr>
          <p:nvPr/>
        </p:nvPicPr>
        <p:blipFill>
          <a:blip r:embed="rId2"/>
          <a:stretch>
            <a:fillRect/>
          </a:stretch>
        </p:blipFill>
        <p:spPr>
          <a:xfrm>
            <a:off x="10195560" y="5742432"/>
            <a:ext cx="658368" cy="65836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MapSigns-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Terrain Changed Since I Proposed This Talk</a:t>
            </a:r>
            <a:endParaRPr lang="en-US" sz="3200" dirty="0"/>
          </a:p>
        </p:txBody>
      </p:sp>
      <p:sp>
        <p:nvSpPr>
          <p:cNvPr id="6" name="Shape 3"/>
          <p:cNvSpPr/>
          <p:nvPr/>
        </p:nvSpPr>
        <p:spPr>
          <a:xfrm>
            <a:off x="914400" y="2039112"/>
            <a:ext cx="10058400" cy="0"/>
          </a:xfrm>
          <a:prstGeom prst="line">
            <a:avLst/>
          </a:prstGeom>
          <a:noFill/>
          <a:ln w="19050">
            <a:solidFill>
              <a:srgbClr val="DDD8CC"/>
            </a:solidFill>
            <a:prstDash val="solid"/>
          </a:ln>
        </p:spPr>
      </p:sp>
      <p:sp>
        <p:nvSpPr>
          <p:cNvPr id="7" name="Shape 4"/>
          <p:cNvSpPr/>
          <p:nvPr/>
        </p:nvSpPr>
        <p:spPr>
          <a:xfrm>
            <a:off x="960120" y="1901952"/>
            <a:ext cx="274320" cy="274320"/>
          </a:xfrm>
          <a:prstGeom prst="ellipse">
            <a:avLst/>
          </a:prstGeom>
          <a:solidFill>
            <a:srgbClr val="C1440E"/>
          </a:solidFill>
          <a:ln/>
        </p:spPr>
      </p:sp>
      <p:sp>
        <p:nvSpPr>
          <p:cNvPr id="8" name="Text 5"/>
          <p:cNvSpPr txBox="1"/>
          <p:nvPr/>
        </p:nvSpPr>
        <p:spPr>
          <a:xfrm>
            <a:off x="457200" y="1344168"/>
            <a:ext cx="2194560" cy="384048"/>
          </a:xfrm>
          <a:prstGeom prst="rect">
            <a:avLst/>
          </a:prstGeom>
          <a:noFill/>
          <a:ln/>
        </p:spPr>
        <p:txBody>
          <a:bodyPr wrap="square" lIns="0" tIns="0" rIns="0" bIns="0" rtlCol="0" anchor="ctr"/>
          <a:lstStyle/>
          <a:p>
            <a:pPr algn="ctr" indent="0" marL="0">
              <a:buNone/>
            </a:pPr>
            <a:r>
              <a:rPr lang="en-US" sz="1500" b="1" dirty="0">
                <a:solidFill>
                  <a:srgbClr val="1F3D2C"/>
                </a:solidFill>
                <a:latin typeface="Cambria" pitchFamily="34" charset="0"/>
                <a:ea typeface="Cambria" pitchFamily="34" charset="-122"/>
                <a:cs typeface="Cambria" pitchFamily="34" charset="-120"/>
              </a:rPr>
              <a:t>Nov 2024</a:t>
            </a:r>
            <a:endParaRPr lang="en-US" sz="1500" dirty="0"/>
          </a:p>
        </p:txBody>
      </p:sp>
      <p:sp>
        <p:nvSpPr>
          <p:cNvPr id="9" name="Text 6"/>
          <p:cNvSpPr txBox="1"/>
          <p:nvPr/>
        </p:nvSpPr>
        <p:spPr>
          <a:xfrm>
            <a:off x="457200" y="2286000"/>
            <a:ext cx="2194560" cy="960120"/>
          </a:xfrm>
          <a:prstGeom prst="rect">
            <a:avLst/>
          </a:prstGeom>
          <a:noFill/>
          <a:ln/>
        </p:spPr>
        <p:txBody>
          <a:bodyPr wrap="square" lIns="0" tIns="0" rIns="0" bIns="0" rtlCol="0" anchor="ctr"/>
          <a:lstStyle/>
          <a:p>
            <a:pPr algn="ctr" indent="0" marL="0">
              <a:buNone/>
            </a:pPr>
            <a:r>
              <a:rPr lang="en-US" sz="1250" dirty="0">
                <a:solidFill>
                  <a:srgbClr val="6B6B63"/>
                </a:solidFill>
                <a:latin typeface="Calibri" pitchFamily="34" charset="0"/>
                <a:ea typeface="Calibri" pitchFamily="34" charset="-122"/>
                <a:cs typeface="Calibri" pitchFamily="34" charset="-120"/>
              </a:rPr>
              <a:t>Anthropic introduces MCP</a:t>
            </a:r>
            <a:endParaRPr lang="en-US" sz="1250" dirty="0"/>
          </a:p>
        </p:txBody>
      </p:sp>
      <p:sp>
        <p:nvSpPr>
          <p:cNvPr id="10" name="Shape 7"/>
          <p:cNvSpPr/>
          <p:nvPr/>
        </p:nvSpPr>
        <p:spPr>
          <a:xfrm>
            <a:off x="3172968" y="1901952"/>
            <a:ext cx="274320" cy="274320"/>
          </a:xfrm>
          <a:prstGeom prst="ellipse">
            <a:avLst/>
          </a:prstGeom>
          <a:solidFill>
            <a:srgbClr val="C1440E"/>
          </a:solidFill>
          <a:ln/>
        </p:spPr>
      </p:sp>
      <p:sp>
        <p:nvSpPr>
          <p:cNvPr id="11" name="Text 8"/>
          <p:cNvSpPr txBox="1"/>
          <p:nvPr/>
        </p:nvSpPr>
        <p:spPr>
          <a:xfrm>
            <a:off x="2670048" y="1344168"/>
            <a:ext cx="2194560" cy="384048"/>
          </a:xfrm>
          <a:prstGeom prst="rect">
            <a:avLst/>
          </a:prstGeom>
          <a:noFill/>
          <a:ln/>
        </p:spPr>
        <p:txBody>
          <a:bodyPr wrap="square" lIns="0" tIns="0" rIns="0" bIns="0" rtlCol="0" anchor="ctr"/>
          <a:lstStyle/>
          <a:p>
            <a:pPr algn="ctr" indent="0" marL="0">
              <a:buNone/>
            </a:pPr>
            <a:r>
              <a:rPr lang="en-US" sz="1500" b="1" dirty="0">
                <a:solidFill>
                  <a:srgbClr val="1F3D2C"/>
                </a:solidFill>
                <a:latin typeface="Cambria" pitchFamily="34" charset="0"/>
                <a:ea typeface="Cambria" pitchFamily="34" charset="-122"/>
                <a:cs typeface="Cambria" pitchFamily="34" charset="-120"/>
              </a:rPr>
              <a:t>Mar–Apr 2025</a:t>
            </a:r>
            <a:endParaRPr lang="en-US" sz="1500" dirty="0"/>
          </a:p>
        </p:txBody>
      </p:sp>
      <p:sp>
        <p:nvSpPr>
          <p:cNvPr id="12" name="Text 9"/>
          <p:cNvSpPr txBox="1"/>
          <p:nvPr/>
        </p:nvSpPr>
        <p:spPr>
          <a:xfrm>
            <a:off x="2670048" y="2286000"/>
            <a:ext cx="2194560" cy="960120"/>
          </a:xfrm>
          <a:prstGeom prst="rect">
            <a:avLst/>
          </a:prstGeom>
          <a:noFill/>
          <a:ln/>
        </p:spPr>
        <p:txBody>
          <a:bodyPr wrap="square" lIns="0" tIns="0" rIns="0" bIns="0" rtlCol="0" anchor="ctr"/>
          <a:lstStyle/>
          <a:p>
            <a:pPr algn="ctr" indent="0" marL="0">
              <a:buNone/>
            </a:pPr>
            <a:r>
              <a:rPr lang="en-US" sz="1250" dirty="0">
                <a:solidFill>
                  <a:srgbClr val="6B6B63"/>
                </a:solidFill>
                <a:latin typeface="Calibri" pitchFamily="34" charset="0"/>
                <a:ea typeface="Calibri" pitchFamily="34" charset="-122"/>
                <a:cs typeface="Calibri" pitchFamily="34" charset="-120"/>
              </a:rPr>
              <a:t>OpenAI &amp; Google DeepMind adopt it; GitHub ships its own MCP server</a:t>
            </a:r>
            <a:endParaRPr lang="en-US" sz="1250" dirty="0"/>
          </a:p>
        </p:txBody>
      </p:sp>
      <p:sp>
        <p:nvSpPr>
          <p:cNvPr id="13" name="Shape 10"/>
          <p:cNvSpPr/>
          <p:nvPr/>
        </p:nvSpPr>
        <p:spPr>
          <a:xfrm>
            <a:off x="5385816" y="1901952"/>
            <a:ext cx="274320" cy="274320"/>
          </a:xfrm>
          <a:prstGeom prst="ellipse">
            <a:avLst/>
          </a:prstGeom>
          <a:solidFill>
            <a:srgbClr val="C1440E"/>
          </a:solidFill>
          <a:ln/>
        </p:spPr>
      </p:sp>
      <p:sp>
        <p:nvSpPr>
          <p:cNvPr id="14" name="Text 11"/>
          <p:cNvSpPr txBox="1"/>
          <p:nvPr/>
        </p:nvSpPr>
        <p:spPr>
          <a:xfrm>
            <a:off x="4882896" y="1344168"/>
            <a:ext cx="2194560" cy="384048"/>
          </a:xfrm>
          <a:prstGeom prst="rect">
            <a:avLst/>
          </a:prstGeom>
          <a:noFill/>
          <a:ln/>
        </p:spPr>
        <p:txBody>
          <a:bodyPr wrap="square" lIns="0" tIns="0" rIns="0" bIns="0" rtlCol="0" anchor="ctr"/>
          <a:lstStyle/>
          <a:p>
            <a:pPr algn="ctr" indent="0" marL="0">
              <a:buNone/>
            </a:pPr>
            <a:r>
              <a:rPr lang="en-US" sz="1500" b="1" dirty="0">
                <a:solidFill>
                  <a:srgbClr val="1F3D2C"/>
                </a:solidFill>
                <a:latin typeface="Cambria" pitchFamily="34" charset="0"/>
                <a:ea typeface="Cambria" pitchFamily="34" charset="-122"/>
                <a:cs typeface="Cambria" pitchFamily="34" charset="-120"/>
              </a:rPr>
              <a:t>Jun 2025</a:t>
            </a:r>
            <a:endParaRPr lang="en-US" sz="1500" dirty="0"/>
          </a:p>
        </p:txBody>
      </p:sp>
      <p:sp>
        <p:nvSpPr>
          <p:cNvPr id="15" name="Text 12"/>
          <p:cNvSpPr txBox="1"/>
          <p:nvPr/>
        </p:nvSpPr>
        <p:spPr>
          <a:xfrm>
            <a:off x="4882896" y="2286000"/>
            <a:ext cx="2194560" cy="960120"/>
          </a:xfrm>
          <a:prstGeom prst="rect">
            <a:avLst/>
          </a:prstGeom>
          <a:noFill/>
          <a:ln/>
        </p:spPr>
        <p:txBody>
          <a:bodyPr wrap="square" lIns="0" tIns="0" rIns="0" bIns="0" rtlCol="0" anchor="ctr"/>
          <a:lstStyle/>
          <a:p>
            <a:pPr algn="ctr" indent="0" marL="0">
              <a:buNone/>
            </a:pPr>
            <a:r>
              <a:rPr lang="en-US" sz="1250" dirty="0">
                <a:solidFill>
                  <a:srgbClr val="6B6B63"/>
                </a:solidFill>
                <a:latin typeface="Calibri" pitchFamily="34" charset="0"/>
                <a:ea typeface="Calibri" pitchFamily="34" charset="-122"/>
                <a:cs typeface="Calibri" pitchFamily="34" charset="-120"/>
              </a:rPr>
              <a:t>Azure DevOps MCP Server (public preview)</a:t>
            </a:r>
            <a:endParaRPr lang="en-US" sz="1250" dirty="0"/>
          </a:p>
        </p:txBody>
      </p:sp>
      <p:sp>
        <p:nvSpPr>
          <p:cNvPr id="16" name="Shape 13"/>
          <p:cNvSpPr/>
          <p:nvPr/>
        </p:nvSpPr>
        <p:spPr>
          <a:xfrm>
            <a:off x="7598664" y="1901952"/>
            <a:ext cx="274320" cy="274320"/>
          </a:xfrm>
          <a:prstGeom prst="ellipse">
            <a:avLst/>
          </a:prstGeom>
          <a:solidFill>
            <a:srgbClr val="C1440E"/>
          </a:solidFill>
          <a:ln/>
        </p:spPr>
      </p:sp>
      <p:sp>
        <p:nvSpPr>
          <p:cNvPr id="17" name="Text 14"/>
          <p:cNvSpPr txBox="1"/>
          <p:nvPr/>
        </p:nvSpPr>
        <p:spPr>
          <a:xfrm>
            <a:off x="7095744" y="1344168"/>
            <a:ext cx="2194560" cy="384048"/>
          </a:xfrm>
          <a:prstGeom prst="rect">
            <a:avLst/>
          </a:prstGeom>
          <a:noFill/>
          <a:ln/>
        </p:spPr>
        <p:txBody>
          <a:bodyPr wrap="square" lIns="0" tIns="0" rIns="0" bIns="0" rtlCol="0" anchor="ctr"/>
          <a:lstStyle/>
          <a:p>
            <a:pPr algn="ctr" indent="0" marL="0">
              <a:buNone/>
            </a:pPr>
            <a:r>
              <a:rPr lang="en-US" sz="1500" b="1" dirty="0">
                <a:solidFill>
                  <a:srgbClr val="1F3D2C"/>
                </a:solidFill>
                <a:latin typeface="Cambria" pitchFamily="34" charset="0"/>
                <a:ea typeface="Cambria" pitchFamily="34" charset="-122"/>
                <a:cs typeface="Cambria" pitchFamily="34" charset="-120"/>
              </a:rPr>
              <a:t>Sep 2025</a:t>
            </a:r>
            <a:endParaRPr lang="en-US" sz="1500" dirty="0"/>
          </a:p>
        </p:txBody>
      </p:sp>
      <p:sp>
        <p:nvSpPr>
          <p:cNvPr id="18" name="Text 15"/>
          <p:cNvSpPr txBox="1"/>
          <p:nvPr/>
        </p:nvSpPr>
        <p:spPr>
          <a:xfrm>
            <a:off x="7095744" y="2286000"/>
            <a:ext cx="2194560" cy="960120"/>
          </a:xfrm>
          <a:prstGeom prst="rect">
            <a:avLst/>
          </a:prstGeom>
          <a:noFill/>
          <a:ln/>
        </p:spPr>
        <p:txBody>
          <a:bodyPr wrap="square" lIns="0" tIns="0" rIns="0" bIns="0" rtlCol="0" anchor="ctr"/>
          <a:lstStyle/>
          <a:p>
            <a:pPr algn="ctr" indent="0" marL="0">
              <a:buNone/>
            </a:pPr>
            <a:r>
              <a:rPr lang="en-US" sz="1250" dirty="0">
                <a:solidFill>
                  <a:srgbClr val="6B6B63"/>
                </a:solidFill>
                <a:latin typeface="Calibri" pitchFamily="34" charset="0"/>
                <a:ea typeface="Calibri" pitchFamily="34" charset="-122"/>
                <a:cs typeface="Calibri" pitchFamily="34" charset="-120"/>
              </a:rPr>
              <a:t>Official MCP registry (preview)</a:t>
            </a:r>
            <a:endParaRPr lang="en-US" sz="1250" dirty="0"/>
          </a:p>
        </p:txBody>
      </p:sp>
      <p:sp>
        <p:nvSpPr>
          <p:cNvPr id="19" name="Shape 16"/>
          <p:cNvSpPr/>
          <p:nvPr/>
        </p:nvSpPr>
        <p:spPr>
          <a:xfrm>
            <a:off x="9811512" y="1901952"/>
            <a:ext cx="274320" cy="274320"/>
          </a:xfrm>
          <a:prstGeom prst="ellipse">
            <a:avLst/>
          </a:prstGeom>
          <a:solidFill>
            <a:srgbClr val="C1440E"/>
          </a:solidFill>
          <a:ln/>
        </p:spPr>
      </p:sp>
      <p:sp>
        <p:nvSpPr>
          <p:cNvPr id="20" name="Text 17"/>
          <p:cNvSpPr txBox="1"/>
          <p:nvPr/>
        </p:nvSpPr>
        <p:spPr>
          <a:xfrm>
            <a:off x="9308592" y="1344168"/>
            <a:ext cx="2194560" cy="384048"/>
          </a:xfrm>
          <a:prstGeom prst="rect">
            <a:avLst/>
          </a:prstGeom>
          <a:noFill/>
          <a:ln/>
        </p:spPr>
        <p:txBody>
          <a:bodyPr wrap="square" lIns="0" tIns="0" rIns="0" bIns="0" rtlCol="0" anchor="ctr"/>
          <a:lstStyle/>
          <a:p>
            <a:pPr algn="ctr" indent="0" marL="0">
              <a:buNone/>
            </a:pPr>
            <a:r>
              <a:rPr lang="en-US" sz="1500" b="1" dirty="0">
                <a:solidFill>
                  <a:srgbClr val="1F3D2C"/>
                </a:solidFill>
                <a:latin typeface="Cambria" pitchFamily="34" charset="0"/>
                <a:ea typeface="Cambria" pitchFamily="34" charset="-122"/>
                <a:cs typeface="Cambria" pitchFamily="34" charset="-120"/>
              </a:rPr>
              <a:t>Dec 2025</a:t>
            </a:r>
            <a:endParaRPr lang="en-US" sz="1500" dirty="0"/>
          </a:p>
        </p:txBody>
      </p:sp>
      <p:sp>
        <p:nvSpPr>
          <p:cNvPr id="21" name="Text 18"/>
          <p:cNvSpPr txBox="1"/>
          <p:nvPr/>
        </p:nvSpPr>
        <p:spPr>
          <a:xfrm>
            <a:off x="9308592" y="2286000"/>
            <a:ext cx="2194560" cy="960120"/>
          </a:xfrm>
          <a:prstGeom prst="rect">
            <a:avLst/>
          </a:prstGeom>
          <a:noFill/>
          <a:ln/>
        </p:spPr>
        <p:txBody>
          <a:bodyPr wrap="square" lIns="0" tIns="0" rIns="0" bIns="0" rtlCol="0" anchor="ctr"/>
          <a:lstStyle/>
          <a:p>
            <a:pPr algn="ctr" indent="0" marL="0">
              <a:buNone/>
            </a:pPr>
            <a:r>
              <a:rPr lang="en-US" sz="1250" dirty="0">
                <a:solidFill>
                  <a:srgbClr val="6B6B63"/>
                </a:solidFill>
                <a:latin typeface="Calibri" pitchFamily="34" charset="0"/>
                <a:ea typeface="Calibri" pitchFamily="34" charset="-122"/>
                <a:cs typeface="Calibri" pitchFamily="34" charset="-120"/>
              </a:rPr>
              <a:t>Donated to the Linux Foundation’s Agentic AI Foundation</a:t>
            </a:r>
            <a:endParaRPr lang="en-US" sz="1250" dirty="0"/>
          </a:p>
        </p:txBody>
      </p:sp>
      <p:sp>
        <p:nvSpPr>
          <p:cNvPr id="22" name="Text 19"/>
          <p:cNvSpPr txBox="1"/>
          <p:nvPr/>
        </p:nvSpPr>
        <p:spPr>
          <a:xfrm>
            <a:off x="548640" y="3429000"/>
            <a:ext cx="11064240" cy="548640"/>
          </a:xfrm>
          <a:prstGeom prst="rect">
            <a:avLst/>
          </a:prstGeom>
          <a:noFill/>
          <a:ln/>
        </p:spPr>
        <p:txBody>
          <a:bodyPr wrap="square" lIns="0" tIns="0" rIns="0" bIns="0" rtlCol="0" anchor="ctr"/>
          <a:lstStyle/>
          <a:p>
            <a:pPr algn="ctr" indent="0" marL="0">
              <a:buNone/>
            </a:pPr>
            <a:r>
              <a:rPr lang="en-US" sz="1900" b="1" i="1" dirty="0">
                <a:solidFill>
                  <a:srgbClr val="1F3D2C"/>
                </a:solidFill>
                <a:latin typeface="Cambria" pitchFamily="34" charset="0"/>
                <a:ea typeface="Cambria" pitchFamily="34" charset="-122"/>
                <a:cs typeface="Cambria" pitchFamily="34" charset="-120"/>
              </a:rPr>
              <a:t>One protocol, not N×M custom integrations — any MCP-speaking assistant can now reach any MCP-exposed tool.</a:t>
            </a:r>
            <a:endParaRPr lang="en-US" sz="1900" dirty="0"/>
          </a:p>
        </p:txBody>
      </p:sp>
      <p:sp>
        <p:nvSpPr>
          <p:cNvPr id="23" name="Shape 20"/>
          <p:cNvSpPr/>
          <p:nvPr/>
        </p:nvSpPr>
        <p:spPr>
          <a:xfrm>
            <a:off x="548640" y="4160520"/>
            <a:ext cx="6675120" cy="2377440"/>
          </a:xfrm>
          <a:prstGeom prst="roundRect">
            <a:avLst>
              <a:gd name="adj" fmla="val 4615"/>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4" name="Text 21"/>
          <p:cNvSpPr txBox="1"/>
          <p:nvPr/>
        </p:nvSpPr>
        <p:spPr>
          <a:xfrm>
            <a:off x="822960" y="4297680"/>
            <a:ext cx="6126480" cy="384048"/>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Beyond CI/CD migration</a:t>
            </a:r>
            <a:endParaRPr lang="en-US" sz="1600" dirty="0"/>
          </a:p>
        </p:txBody>
      </p:sp>
      <p:sp>
        <p:nvSpPr>
          <p:cNvPr id="25" name="Text 22"/>
          <p:cNvSpPr txBox="1"/>
          <p:nvPr/>
        </p:nvSpPr>
        <p:spPr>
          <a:xfrm>
            <a:off x="822960" y="4709160"/>
            <a:ext cx="6126480" cy="1737360"/>
          </a:xfrm>
          <a:prstGeom prst="rect">
            <a:avLst/>
          </a:prstGeom>
          <a:noFill/>
          <a:ln/>
        </p:spPr>
        <p:txBody>
          <a:bodyPr wrap="square" lIns="0" tIns="0" rIns="0" bIns="0" rtlCol="0" anchor="ctr"/>
          <a:lstStyle/>
          <a:p>
            <a:pPr marL="342900" indent="-3429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Cross-tool agentic workflows: read a board, check an incident, open a PR, post an update — no bespoke glue code per tool</a:t>
            </a:r>
            <a:endParaRPr lang="en-US" sz="1350" dirty="0"/>
          </a:p>
          <a:p>
            <a:pPr marL="342900" indent="-3429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The platform question gets smaller: less “which platform hosts my code,” more “which systems can my agent reach”</a:t>
            </a:r>
            <a:endParaRPr lang="en-US" sz="1350" dirty="0"/>
          </a:p>
          <a:p>
            <a:pPr marL="342900" indent="-342900">
              <a:lnSpc>
                <a:spcPct val="105000"/>
              </a:lnSpc>
              <a:buSzPct val="100000"/>
              <a:buChar char="•"/>
            </a:pPr>
            <a:r>
              <a:rPr lang="en-US" sz="1350" dirty="0">
                <a:solidFill>
                  <a:srgbClr val="2B2B2B"/>
                </a:solidFill>
                <a:latin typeface="Calibri" pitchFamily="34" charset="0"/>
                <a:ea typeface="Calibri" pitchFamily="34" charset="-122"/>
                <a:cs typeface="Calibri" pitchFamily="34" charset="-120"/>
              </a:rPr>
              <a:t>Databases, observability, browsers, ticketing, chat — most of this didn’t exist when this CFP went in</a:t>
            </a:r>
            <a:endParaRPr lang="en-US" sz="1350" dirty="0"/>
          </a:p>
        </p:txBody>
      </p:sp>
      <p:sp>
        <p:nvSpPr>
          <p:cNvPr id="26" name="Shape 23"/>
          <p:cNvSpPr/>
          <p:nvPr/>
        </p:nvSpPr>
        <p:spPr>
          <a:xfrm>
            <a:off x="7452360" y="4160520"/>
            <a:ext cx="4160520" cy="2377440"/>
          </a:xfrm>
          <a:prstGeom prst="roundRect">
            <a:avLst>
              <a:gd name="adj" fmla="val 4615"/>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7" name="Text 24"/>
          <p:cNvSpPr txBox="1"/>
          <p:nvPr/>
        </p:nvSpPr>
        <p:spPr>
          <a:xfrm>
            <a:off x="7726680" y="4297680"/>
            <a:ext cx="3657600" cy="384048"/>
          </a:xfrm>
          <a:prstGeom prst="rect">
            <a:avLst/>
          </a:prstGeom>
          <a:noFill/>
          <a:ln/>
        </p:spPr>
        <p:txBody>
          <a:bodyPr wrap="square" lIns="0" tIns="0" rIns="0" bIns="0" rtlCol="0" anchor="ctr"/>
          <a:lstStyle/>
          <a:p>
            <a:pPr indent="0" marL="0">
              <a:buNone/>
            </a:pPr>
            <a:r>
              <a:rPr lang="en-US" sz="1600" b="1" dirty="0">
                <a:solidFill>
                  <a:srgbClr val="F5F5F0"/>
                </a:solidFill>
                <a:latin typeface="Cambria" pitchFamily="34" charset="0"/>
                <a:ea typeface="Cambria" pitchFamily="34" charset="-122"/>
                <a:cs typeface="Cambria" pitchFamily="34" charset="-120"/>
              </a:rPr>
              <a:t>Worth saying out loud</a:t>
            </a:r>
            <a:endParaRPr lang="en-US" sz="1600" dirty="0"/>
          </a:p>
        </p:txBody>
      </p:sp>
      <p:sp>
        <p:nvSpPr>
          <p:cNvPr id="28" name="Text 25"/>
          <p:cNvSpPr txBox="1"/>
          <p:nvPr/>
        </p:nvSpPr>
        <p:spPr>
          <a:xfrm>
            <a:off x="7726680" y="4754880"/>
            <a:ext cx="3611880" cy="1691640"/>
          </a:xfrm>
          <a:prstGeom prst="rect">
            <a:avLst/>
          </a:prstGeom>
          <a:noFill/>
          <a:ln/>
        </p:spPr>
        <p:txBody>
          <a:bodyPr wrap="square" lIns="0" tIns="0" rIns="0" bIns="0" rtlCol="0" anchor="ctr"/>
          <a:lstStyle/>
          <a:p>
            <a:pPr indent="0" marL="0">
              <a:lnSpc>
                <a:spcPct val="105000"/>
              </a:lnSpc>
              <a:spcAft>
                <a:spcPts val="800"/>
              </a:spcAft>
              <a:buNone/>
            </a:pPr>
            <a:r>
              <a:rPr lang="en-US" sz="1300" i="1" dirty="0">
                <a:solidFill>
                  <a:srgbClr val="8C6A3F"/>
                </a:solidFill>
                <a:latin typeface="Calibri" pitchFamily="34" charset="0"/>
                <a:ea typeface="Calibri" pitchFamily="34" charset="-122"/>
                <a:cs typeface="Calibri" pitchFamily="34" charset="-120"/>
              </a:rPr>
              <a:t>This CFP went in before MCP’s 2025–2026 rise — the last slide’s correction is proof the ground is still moving. Don’t bet a migration plan on “GitHub-only” staying true.</a:t>
            </a:r>
            <a:endParaRPr lang="en-US" sz="1300" dirty="0"/>
          </a:p>
          <a:p>
            <a:pPr indent="0" marL="0">
              <a:lnSpc>
                <a:spcPct val="105000"/>
              </a:lnSpc>
              <a:buNone/>
            </a:pPr>
            <a:r>
              <a:rPr lang="en-US" sz="1300" b="1" i="1" dirty="0">
                <a:solidFill>
                  <a:srgbClr val="8C6A3F"/>
                </a:solidFill>
                <a:latin typeface="Calibri" pitchFamily="34" charset="0"/>
                <a:ea typeface="Calibri" pitchFamily="34" charset="-122"/>
                <a:cs typeface="Calibri" pitchFamily="34" charset="-120"/>
              </a:rPr>
              <a:t>modelcontextprotocol.io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odeBranch-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 Split in Purpose, Not a Replacement</a:t>
            </a:r>
            <a:endParaRPr lang="en-US" sz="3200" dirty="0"/>
          </a:p>
        </p:txBody>
      </p:sp>
      <p:sp>
        <p:nvSpPr>
          <p:cNvPr id="6" name="Shape 3"/>
          <p:cNvSpPr/>
          <p:nvPr/>
        </p:nvSpPr>
        <p:spPr>
          <a:xfrm>
            <a:off x="548640" y="1691640"/>
            <a:ext cx="5349240" cy="3977640"/>
          </a:xfrm>
          <a:prstGeom prst="roundRect">
            <a:avLst>
              <a:gd name="adj" fmla="val 2759"/>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74520"/>
            <a:ext cx="4754880" cy="502920"/>
          </a:xfrm>
          <a:prstGeom prst="rect">
            <a:avLst/>
          </a:prstGeom>
          <a:noFill/>
          <a:ln/>
        </p:spPr>
        <p:txBody>
          <a:bodyPr wrap="square" lIns="0" tIns="0" rIns="0" bIns="0" rtlCol="0" anchor="ctr"/>
          <a:lstStyle/>
          <a:p>
            <a:pPr indent="0" marL="0">
              <a:buNone/>
            </a:pPr>
            <a:r>
              <a:rPr lang="en-US" sz="2400" b="1" dirty="0">
                <a:solidFill>
                  <a:srgbClr val="1F3D2C"/>
                </a:solidFill>
                <a:latin typeface="Cambria" pitchFamily="34" charset="0"/>
                <a:ea typeface="Cambria" pitchFamily="34" charset="-122"/>
                <a:cs typeface="Cambria" pitchFamily="34" charset="-120"/>
              </a:rPr>
              <a:t>GitHub</a:t>
            </a:r>
            <a:endParaRPr lang="en-US" sz="2400" dirty="0"/>
          </a:p>
        </p:txBody>
      </p:sp>
      <p:sp>
        <p:nvSpPr>
          <p:cNvPr id="8" name="Text 5"/>
          <p:cNvSpPr txBox="1"/>
          <p:nvPr/>
        </p:nvSpPr>
        <p:spPr>
          <a:xfrm>
            <a:off x="822960" y="2395728"/>
            <a:ext cx="4754880" cy="411480"/>
          </a:xfrm>
          <a:prstGeom prst="rect">
            <a:avLst/>
          </a:prstGeom>
          <a:noFill/>
          <a:ln/>
        </p:spPr>
        <p:txBody>
          <a:bodyPr wrap="square" lIns="0" tIns="0" rIns="0" bIns="0" rtlCol="0" anchor="ctr"/>
          <a:lstStyle/>
          <a:p>
            <a:pPr indent="0" marL="0">
              <a:buNone/>
            </a:pPr>
            <a:r>
              <a:rPr lang="en-US" sz="1600" b="1" i="1" dirty="0">
                <a:solidFill>
                  <a:srgbClr val="C1440E"/>
                </a:solidFill>
                <a:latin typeface="Calibri" pitchFamily="34" charset="0"/>
                <a:ea typeface="Calibri" pitchFamily="34" charset="-122"/>
                <a:cs typeface="Calibri" pitchFamily="34" charset="-120"/>
              </a:rPr>
              <a:t>AI-native development</a:t>
            </a:r>
            <a:endParaRPr lang="en-US" sz="1600" dirty="0"/>
          </a:p>
        </p:txBody>
      </p:sp>
      <p:sp>
        <p:nvSpPr>
          <p:cNvPr id="9" name="Text 6"/>
          <p:cNvSpPr txBox="1"/>
          <p:nvPr/>
        </p:nvSpPr>
        <p:spPr>
          <a:xfrm>
            <a:off x="822960" y="2971800"/>
            <a:ext cx="4754880" cy="256032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2B2B2B"/>
                </a:solidFill>
                <a:latin typeface="Calibri" pitchFamily="34" charset="0"/>
                <a:ea typeface="Calibri" pitchFamily="34" charset="-122"/>
                <a:cs typeface="Calibri" pitchFamily="34" charset="-120"/>
              </a:rPr>
              <a:t>Copilot Chat, Coding Agent, Autofix, Agentic Code Review, Agent HQ</a:t>
            </a:r>
            <a:endParaRPr lang="en-US" sz="1700" dirty="0"/>
          </a:p>
          <a:p>
            <a:pPr marL="342900" indent="-342900">
              <a:spcAft>
                <a:spcPts val="1000"/>
              </a:spcAft>
              <a:buSzPct val="100000"/>
              <a:buChar char="•"/>
            </a:pPr>
            <a:r>
              <a:rPr lang="en-US" sz="1700" dirty="0">
                <a:solidFill>
                  <a:srgbClr val="2B2B2B"/>
                </a:solidFill>
                <a:latin typeface="Calibri" pitchFamily="34" charset="0"/>
                <a:ea typeface="Calibri" pitchFamily="34" charset="-122"/>
                <a:cs typeface="Calibri" pitchFamily="34" charset="-120"/>
              </a:rPr>
              <a:t>100M+ developers already there</a:t>
            </a:r>
            <a:endParaRPr lang="en-US" sz="1700" dirty="0"/>
          </a:p>
          <a:p>
            <a:pPr marL="342900" indent="-342900">
              <a:buSzPct val="100000"/>
              <a:buChar char="•"/>
            </a:pPr>
            <a:r>
              <a:rPr lang="en-US" sz="1700" dirty="0">
                <a:solidFill>
                  <a:srgbClr val="2B2B2B"/>
                </a:solidFill>
                <a:latin typeface="Calibri" pitchFamily="34" charset="0"/>
                <a:ea typeface="Calibri" pitchFamily="34" charset="-122"/>
                <a:cs typeface="Calibri" pitchFamily="34" charset="-120"/>
              </a:rPr>
              <a:t>20,000+ community Actions</a:t>
            </a:r>
            <a:endParaRPr lang="en-US" sz="1700" dirty="0"/>
          </a:p>
        </p:txBody>
      </p:sp>
      <p:sp>
        <p:nvSpPr>
          <p:cNvPr id="10" name="Shape 7"/>
          <p:cNvSpPr/>
          <p:nvPr/>
        </p:nvSpPr>
        <p:spPr>
          <a:xfrm>
            <a:off x="6263640" y="1691640"/>
            <a:ext cx="5349240" cy="3977640"/>
          </a:xfrm>
          <a:prstGeom prst="roundRect">
            <a:avLst>
              <a:gd name="adj" fmla="val 2759"/>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6537960" y="1874520"/>
            <a:ext cx="4754880" cy="502920"/>
          </a:xfrm>
          <a:prstGeom prst="rect">
            <a:avLst/>
          </a:prstGeom>
          <a:noFill/>
          <a:ln/>
        </p:spPr>
        <p:txBody>
          <a:bodyPr wrap="square" lIns="0" tIns="0" rIns="0" bIns="0" rtlCol="0" anchor="ctr"/>
          <a:lstStyle/>
          <a:p>
            <a:pPr indent="0" marL="0">
              <a:buNone/>
            </a:pPr>
            <a:r>
              <a:rPr lang="en-US" sz="2400" b="1" dirty="0">
                <a:solidFill>
                  <a:srgbClr val="1F3D2C"/>
                </a:solidFill>
                <a:latin typeface="Cambria" pitchFamily="34" charset="0"/>
                <a:ea typeface="Cambria" pitchFamily="34" charset="-122"/>
                <a:cs typeface="Cambria" pitchFamily="34" charset="-120"/>
              </a:rPr>
              <a:t>Azure DevOps</a:t>
            </a:r>
            <a:endParaRPr lang="en-US" sz="2400" dirty="0"/>
          </a:p>
        </p:txBody>
      </p:sp>
      <p:sp>
        <p:nvSpPr>
          <p:cNvPr id="12" name="Text 9"/>
          <p:cNvSpPr txBox="1"/>
          <p:nvPr/>
        </p:nvSpPr>
        <p:spPr>
          <a:xfrm>
            <a:off x="6537960" y="2395728"/>
            <a:ext cx="4754880" cy="411480"/>
          </a:xfrm>
          <a:prstGeom prst="rect">
            <a:avLst/>
          </a:prstGeom>
          <a:noFill/>
          <a:ln/>
        </p:spPr>
        <p:txBody>
          <a:bodyPr wrap="square" lIns="0" tIns="0" rIns="0" bIns="0" rtlCol="0" anchor="ctr"/>
          <a:lstStyle/>
          <a:p>
            <a:pPr indent="0" marL="0">
              <a:buNone/>
            </a:pPr>
            <a:r>
              <a:rPr lang="en-US" sz="1600" b="1" i="1" dirty="0">
                <a:solidFill>
                  <a:srgbClr val="C1440E"/>
                </a:solidFill>
                <a:latin typeface="Calibri" pitchFamily="34" charset="0"/>
                <a:ea typeface="Calibri" pitchFamily="34" charset="-122"/>
                <a:cs typeface="Calibri" pitchFamily="34" charset="-120"/>
              </a:rPr>
              <a:t>Enterprise orchestration</a:t>
            </a:r>
            <a:endParaRPr lang="en-US" sz="1600" dirty="0"/>
          </a:p>
        </p:txBody>
      </p:sp>
      <p:sp>
        <p:nvSpPr>
          <p:cNvPr id="13" name="Text 10"/>
          <p:cNvSpPr txBox="1"/>
          <p:nvPr/>
        </p:nvSpPr>
        <p:spPr>
          <a:xfrm>
            <a:off x="6537960" y="2971800"/>
            <a:ext cx="4754880" cy="2560320"/>
          </a:xfrm>
          <a:prstGeom prst="rect">
            <a:avLst/>
          </a:prstGeom>
          <a:noFill/>
          <a:ln/>
        </p:spPr>
        <p:txBody>
          <a:bodyPr wrap="square" lIns="0" tIns="0" rIns="0" bIns="0" rtlCol="0" anchor="ctr"/>
          <a:lstStyle/>
          <a:p>
            <a:pPr marL="342900" indent="-342900">
              <a:spcAft>
                <a:spcPts val="1000"/>
              </a:spcAft>
              <a:buSzPct val="100000"/>
              <a:buChar char="•"/>
            </a:pPr>
            <a:r>
              <a:rPr lang="en-US" sz="1700" dirty="0">
                <a:solidFill>
                  <a:srgbClr val="2B2B2B"/>
                </a:solidFill>
                <a:latin typeface="Calibri" pitchFamily="34" charset="0"/>
                <a:ea typeface="Calibri" pitchFamily="34" charset="-122"/>
                <a:cs typeface="Calibri" pitchFamily="34" charset="-120"/>
              </a:rPr>
              <a:t>Boards, Test Plans, release governance</a:t>
            </a:r>
            <a:endParaRPr lang="en-US" sz="1700" dirty="0"/>
          </a:p>
          <a:p>
            <a:pPr marL="342900" indent="-342900">
              <a:spcAft>
                <a:spcPts val="1000"/>
              </a:spcAft>
              <a:buSzPct val="100000"/>
              <a:buChar char="•"/>
            </a:pPr>
            <a:r>
              <a:rPr lang="en-US" sz="1700" dirty="0">
                <a:solidFill>
                  <a:srgbClr val="2B2B2B"/>
                </a:solidFill>
                <a:latin typeface="Calibri" pitchFamily="34" charset="0"/>
                <a:ea typeface="Calibri" pitchFamily="34" charset="-122"/>
                <a:cs typeface="Calibri" pitchFamily="34" charset="-120"/>
              </a:rPr>
              <a:t>Active Microsoft roadmap through 2026+</a:t>
            </a:r>
            <a:endParaRPr lang="en-US" sz="1700" dirty="0"/>
          </a:p>
          <a:p>
            <a:pPr marL="342900" indent="-342900">
              <a:buSzPct val="100000"/>
              <a:buChar char="•"/>
            </a:pPr>
            <a:r>
              <a:rPr lang="en-US" sz="1700" dirty="0">
                <a:solidFill>
                  <a:srgbClr val="2B2B2B"/>
                </a:solidFill>
                <a:latin typeface="Calibri" pitchFamily="34" charset="0"/>
                <a:ea typeface="Calibri" pitchFamily="34" charset="-122"/>
                <a:cs typeface="Calibri" pitchFamily="34" charset="-120"/>
              </a:rPr>
              <a:t>Deep fit for regulated, multi-team portfolios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n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Hybrid Pattern — Microsoft’s Own Recommendation</a:t>
            </a:r>
            <a:endParaRPr lang="en-US" sz="3200" dirty="0"/>
          </a:p>
        </p:txBody>
      </p:sp>
      <p:sp>
        <p:nvSpPr>
          <p:cNvPr id="6" name="Text 3"/>
          <p:cNvSpPr txBox="1"/>
          <p:nvPr/>
        </p:nvSpPr>
        <p:spPr>
          <a:xfrm>
            <a:off x="548640" y="1536192"/>
            <a:ext cx="11064240" cy="502920"/>
          </a:xfrm>
          <a:prstGeom prst="rect">
            <a:avLst/>
          </a:prstGeom>
          <a:noFill/>
          <a:ln/>
        </p:spPr>
        <p:txBody>
          <a:bodyPr wrap="square" lIns="0" tIns="0" rIns="0" bIns="0" rtlCol="0" anchor="ctr"/>
          <a:lstStyle/>
          <a:p>
            <a:pPr indent="0" marL="0">
              <a:buNone/>
            </a:pPr>
            <a:r>
              <a:rPr lang="en-US" sz="2200" b="1" dirty="0">
                <a:solidFill>
                  <a:srgbClr val="1F3D2C"/>
                </a:solidFill>
                <a:latin typeface="Cambria" pitchFamily="34" charset="0"/>
                <a:ea typeface="Cambria" pitchFamily="34" charset="-122"/>
                <a:cs typeface="Cambria" pitchFamily="34" charset="-120"/>
              </a:rPr>
              <a:t>Move source code to GitHub. Keep Azure Boards for planning.</a:t>
            </a:r>
            <a:endParaRPr lang="en-US" sz="2200" dirty="0"/>
          </a:p>
        </p:txBody>
      </p:sp>
      <p:sp>
        <p:nvSpPr>
          <p:cNvPr id="7" name="Shape 4"/>
          <p:cNvSpPr/>
          <p:nvPr/>
        </p:nvSpPr>
        <p:spPr>
          <a:xfrm>
            <a:off x="548640" y="2148840"/>
            <a:ext cx="3429000" cy="3246120"/>
          </a:xfrm>
          <a:prstGeom prst="roundRect">
            <a:avLst>
              <a:gd name="adj" fmla="val 338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Shape 5"/>
          <p:cNvSpPr/>
          <p:nvPr/>
        </p:nvSpPr>
        <p:spPr>
          <a:xfrm>
            <a:off x="822960" y="2377440"/>
            <a:ext cx="603504" cy="603504"/>
          </a:xfrm>
          <a:prstGeom prst="ellipse">
            <a:avLst/>
          </a:prstGeom>
          <a:solidFill>
            <a:srgbClr val="C1440E"/>
          </a:solidFill>
          <a:ln/>
        </p:spPr>
      </p:sp>
      <p:pic>
        <p:nvPicPr>
          <p:cNvPr id="9" name="Image 1" descr="/home/claude/pptx-build/assets/icons/FaLaptopCode-FFFFFF-200.png">    </p:cNvPr>
          <p:cNvPicPr>
            <a:picLocks noChangeAspect="1"/>
          </p:cNvPicPr>
          <p:nvPr/>
        </p:nvPicPr>
        <p:blipFill>
          <a:blip r:embed="rId2"/>
          <a:stretch>
            <a:fillRect/>
          </a:stretch>
        </p:blipFill>
        <p:spPr>
          <a:xfrm>
            <a:off x="969264" y="2523744"/>
            <a:ext cx="310896" cy="310896"/>
          </a:xfrm>
          <a:prstGeom prst="rect">
            <a:avLst/>
          </a:prstGeom>
        </p:spPr>
      </p:pic>
      <p:sp>
        <p:nvSpPr>
          <p:cNvPr id="10" name="Text 6"/>
          <p:cNvSpPr txBox="1"/>
          <p:nvPr/>
        </p:nvSpPr>
        <p:spPr>
          <a:xfrm>
            <a:off x="822960" y="3127248"/>
            <a:ext cx="288036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Developers</a:t>
            </a:r>
            <a:endParaRPr lang="en-US" sz="1900" dirty="0"/>
          </a:p>
        </p:txBody>
      </p:sp>
      <p:sp>
        <p:nvSpPr>
          <p:cNvPr id="11" name="Text 7"/>
          <p:cNvSpPr txBox="1"/>
          <p:nvPr/>
        </p:nvSpPr>
        <p:spPr>
          <a:xfrm>
            <a:off x="822960" y="3639312"/>
            <a:ext cx="2880360" cy="1691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Move to GitHub, get Copilot + Actions — working where the AI already lives.</a:t>
            </a:r>
            <a:endParaRPr lang="en-US" sz="1500" dirty="0"/>
          </a:p>
        </p:txBody>
      </p:sp>
      <p:sp>
        <p:nvSpPr>
          <p:cNvPr id="12" name="Shape 8"/>
          <p:cNvSpPr/>
          <p:nvPr/>
        </p:nvSpPr>
        <p:spPr>
          <a:xfrm>
            <a:off x="4251960" y="2148840"/>
            <a:ext cx="3429000" cy="3246120"/>
          </a:xfrm>
          <a:prstGeom prst="roundRect">
            <a:avLst>
              <a:gd name="adj" fmla="val 338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3" name="Shape 9"/>
          <p:cNvSpPr/>
          <p:nvPr/>
        </p:nvSpPr>
        <p:spPr>
          <a:xfrm>
            <a:off x="4526280" y="2377440"/>
            <a:ext cx="603504" cy="603504"/>
          </a:xfrm>
          <a:prstGeom prst="ellipse">
            <a:avLst/>
          </a:prstGeom>
          <a:solidFill>
            <a:srgbClr val="C1440E"/>
          </a:solidFill>
          <a:ln/>
        </p:spPr>
      </p:sp>
      <p:pic>
        <p:nvPicPr>
          <p:cNvPr id="14" name="Image 2" descr="/home/claude/pptx-build/assets/icons/FaChartLine-FFFFFF-200.png">    </p:cNvPr>
          <p:cNvPicPr>
            <a:picLocks noChangeAspect="1"/>
          </p:cNvPicPr>
          <p:nvPr/>
        </p:nvPicPr>
        <p:blipFill>
          <a:blip r:embed="rId3"/>
          <a:stretch>
            <a:fillRect/>
          </a:stretch>
        </p:blipFill>
        <p:spPr>
          <a:xfrm>
            <a:off x="4672584" y="2523744"/>
            <a:ext cx="310896" cy="310896"/>
          </a:xfrm>
          <a:prstGeom prst="rect">
            <a:avLst/>
          </a:prstGeom>
        </p:spPr>
      </p:pic>
      <p:sp>
        <p:nvSpPr>
          <p:cNvPr id="15" name="Text 10"/>
          <p:cNvSpPr txBox="1"/>
          <p:nvPr/>
        </p:nvSpPr>
        <p:spPr>
          <a:xfrm>
            <a:off x="4526280" y="3127248"/>
            <a:ext cx="288036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Managers</a:t>
            </a:r>
            <a:endParaRPr lang="en-US" sz="1900" dirty="0"/>
          </a:p>
        </p:txBody>
      </p:sp>
      <p:sp>
        <p:nvSpPr>
          <p:cNvPr id="16" name="Text 11"/>
          <p:cNvSpPr txBox="1"/>
          <p:nvPr/>
        </p:nvSpPr>
        <p:spPr>
          <a:xfrm>
            <a:off x="4526280" y="3639312"/>
            <a:ext cx="2880360" cy="1691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Keep Azure Boards — sprint hub, capacity charts, and Power BI reporting stay exactly where they are.</a:t>
            </a:r>
            <a:endParaRPr lang="en-US" sz="1500" dirty="0"/>
          </a:p>
        </p:txBody>
      </p:sp>
      <p:sp>
        <p:nvSpPr>
          <p:cNvPr id="17" name="Shape 12"/>
          <p:cNvSpPr/>
          <p:nvPr/>
        </p:nvSpPr>
        <p:spPr>
          <a:xfrm>
            <a:off x="7955280" y="2148840"/>
            <a:ext cx="3429000" cy="3246120"/>
          </a:xfrm>
          <a:prstGeom prst="roundRect">
            <a:avLst>
              <a:gd name="adj" fmla="val 338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8" name="Shape 13"/>
          <p:cNvSpPr/>
          <p:nvPr/>
        </p:nvSpPr>
        <p:spPr>
          <a:xfrm>
            <a:off x="8229600" y="2377440"/>
            <a:ext cx="603504" cy="603504"/>
          </a:xfrm>
          <a:prstGeom prst="ellipse">
            <a:avLst/>
          </a:prstGeom>
          <a:solidFill>
            <a:srgbClr val="C1440E"/>
          </a:solidFill>
          <a:ln/>
        </p:spPr>
      </p:sp>
      <p:pic>
        <p:nvPicPr>
          <p:cNvPr id="19" name="Image 3" descr="/home/claude/pptx-build/assets/icons/FaCoins-FFFFFF-200.png">    </p:cNvPr>
          <p:cNvPicPr>
            <a:picLocks noChangeAspect="1"/>
          </p:cNvPicPr>
          <p:nvPr/>
        </p:nvPicPr>
        <p:blipFill>
          <a:blip r:embed="rId4"/>
          <a:stretch>
            <a:fillRect/>
          </a:stretch>
        </p:blipFill>
        <p:spPr>
          <a:xfrm>
            <a:off x="8375904" y="2523744"/>
            <a:ext cx="310896" cy="310896"/>
          </a:xfrm>
          <a:prstGeom prst="rect">
            <a:avLst/>
          </a:prstGeom>
        </p:spPr>
      </p:pic>
      <p:sp>
        <p:nvSpPr>
          <p:cNvPr id="20" name="Text 14"/>
          <p:cNvSpPr txBox="1"/>
          <p:nvPr/>
        </p:nvSpPr>
        <p:spPr>
          <a:xfrm>
            <a:off x="8229600" y="3127248"/>
            <a:ext cx="288036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Budget</a:t>
            </a:r>
            <a:endParaRPr lang="en-US" sz="1900" dirty="0"/>
          </a:p>
        </p:txBody>
      </p:sp>
      <p:sp>
        <p:nvSpPr>
          <p:cNvPr id="21" name="Text 15"/>
          <p:cNvSpPr txBox="1"/>
          <p:nvPr/>
        </p:nvSpPr>
        <p:spPr>
          <a:xfrm>
            <a:off x="8229600" y="3639312"/>
            <a:ext cx="2880360" cy="16916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GHEC includes free Azure DevOps Basic access — the hybrid costs nothing extra to start.</a:t>
            </a:r>
            <a:endParaRPr lang="en-US" sz="1500" dirty="0"/>
          </a:p>
        </p:txBody>
      </p:sp>
      <p:sp>
        <p:nvSpPr>
          <p:cNvPr id="22" name="Text 16"/>
          <p:cNvSpPr txBox="1"/>
          <p:nvPr/>
        </p:nvSpPr>
        <p:spPr>
          <a:xfrm>
            <a:off x="548640" y="5577840"/>
            <a:ext cx="11064240" cy="594360"/>
          </a:xfrm>
          <a:prstGeom prst="rect">
            <a:avLst/>
          </a:prstGeom>
          <a:noFill/>
          <a:ln/>
        </p:spPr>
        <p:txBody>
          <a:bodyPr wrap="square" lIns="0" tIns="0" rIns="0" bIns="0" rtlCol="0" anchor="ctr"/>
          <a:lstStyle/>
          <a:p>
            <a:pPr indent="0" marL="0">
              <a:buNone/>
            </a:pPr>
            <a:r>
              <a:rPr lang="en-US" sz="1700" i="1" dirty="0">
                <a:solidFill>
                  <a:srgbClr val="C1440E"/>
                </a:solidFill>
                <a:latin typeface="Calibri" pitchFamily="34" charset="0"/>
                <a:ea typeface="Calibri" pitchFamily="34" charset="-122"/>
                <a:cs typeface="Calibri" pitchFamily="34" charset="-120"/>
              </a:rPr>
              <a:t>This is the shape the rest of the talk builds toward — not a compromise you settle for, the answer Microsoft itself designed for mixed estates.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Users-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WHY LEAVE THE HERD</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And the Non-AI Reasons, for Completeness</a:t>
            </a:r>
            <a:endParaRPr lang="en-US" sz="3200" dirty="0"/>
          </a:p>
        </p:txBody>
      </p:sp>
      <p:sp>
        <p:nvSpPr>
          <p:cNvPr id="6" name="Shape 3"/>
          <p:cNvSpPr/>
          <p:nvPr/>
        </p:nvSpPr>
        <p:spPr>
          <a:xfrm>
            <a:off x="548640" y="1600200"/>
            <a:ext cx="11064240" cy="859536"/>
          </a:xfrm>
          <a:prstGeom prst="roundRect">
            <a:avLst>
              <a:gd name="adj" fmla="val 1276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822960" y="1746504"/>
            <a:ext cx="566928" cy="566928"/>
          </a:xfrm>
          <a:prstGeom prst="ellipse">
            <a:avLst/>
          </a:prstGeom>
          <a:solidFill>
            <a:srgbClr val="C1440E"/>
          </a:solidFill>
          <a:ln/>
        </p:spPr>
      </p:sp>
      <p:pic>
        <p:nvPicPr>
          <p:cNvPr id="8" name="Image 1" descr="/home/claude/pptx-build/assets/icons/FaUsers-FFFFFF-200.png">    </p:cNvPr>
          <p:cNvPicPr>
            <a:picLocks noChangeAspect="1"/>
          </p:cNvPicPr>
          <p:nvPr/>
        </p:nvPicPr>
        <p:blipFill>
          <a:blip r:embed="rId2"/>
          <a:stretch>
            <a:fillRect/>
          </a:stretch>
        </p:blipFill>
        <p:spPr>
          <a:xfrm>
            <a:off x="960120" y="1883664"/>
            <a:ext cx="292608" cy="292608"/>
          </a:xfrm>
          <a:prstGeom prst="rect">
            <a:avLst/>
          </a:prstGeom>
        </p:spPr>
      </p:pic>
      <p:sp>
        <p:nvSpPr>
          <p:cNvPr id="9" name="Text 5"/>
          <p:cNvSpPr txBox="1"/>
          <p:nvPr/>
        </p:nvSpPr>
        <p:spPr>
          <a:xfrm>
            <a:off x="1600200" y="1673352"/>
            <a:ext cx="3246120" cy="713232"/>
          </a:xfrm>
          <a:prstGeom prst="rect">
            <a:avLst/>
          </a:prstGeom>
          <a:noFill/>
          <a:ln/>
        </p:spPr>
        <p:txBody>
          <a:bodyPr wrap="square" lIns="0" tIns="0" rIns="0" bIns="0" rtlCol="0" anchor="ctr"/>
          <a:lstStyle/>
          <a:p>
            <a:pPr indent="0" marL="0">
              <a:buNone/>
            </a:pPr>
            <a:r>
              <a:rPr lang="en-US" sz="1650" b="1" dirty="0">
                <a:solidFill>
                  <a:srgbClr val="1F3D2C"/>
                </a:solidFill>
                <a:latin typeface="Cambria" pitchFamily="34" charset="0"/>
                <a:ea typeface="Cambria" pitchFamily="34" charset="-122"/>
                <a:cs typeface="Cambria" pitchFamily="34" charset="-120"/>
              </a:rPr>
              <a:t>100M+ developers already on GitHub</a:t>
            </a:r>
            <a:endParaRPr lang="en-US" sz="1650" dirty="0"/>
          </a:p>
        </p:txBody>
      </p:sp>
      <p:sp>
        <p:nvSpPr>
          <p:cNvPr id="10" name="Text 6"/>
          <p:cNvSpPr txBox="1"/>
          <p:nvPr/>
        </p:nvSpPr>
        <p:spPr>
          <a:xfrm>
            <a:off x="5029200" y="1673352"/>
            <a:ext cx="6309360" cy="713232"/>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The ecosystem is already there.</a:t>
            </a:r>
            <a:endParaRPr lang="en-US" sz="1400" dirty="0"/>
          </a:p>
        </p:txBody>
      </p:sp>
      <p:sp>
        <p:nvSpPr>
          <p:cNvPr id="11" name="Shape 7"/>
          <p:cNvSpPr/>
          <p:nvPr/>
        </p:nvSpPr>
        <p:spPr>
          <a:xfrm>
            <a:off x="548640" y="2532888"/>
            <a:ext cx="11064240" cy="859536"/>
          </a:xfrm>
          <a:prstGeom prst="roundRect">
            <a:avLst>
              <a:gd name="adj" fmla="val 1276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822960" y="2679192"/>
            <a:ext cx="566928" cy="566928"/>
          </a:xfrm>
          <a:prstGeom prst="ellipse">
            <a:avLst/>
          </a:prstGeom>
          <a:solidFill>
            <a:srgbClr val="C1440E"/>
          </a:solidFill>
          <a:ln/>
        </p:spPr>
      </p:sp>
      <p:pic>
        <p:nvPicPr>
          <p:cNvPr id="13" name="Image 2" descr="/home/claude/pptx-build/assets/icons/FaCubes-FFFFFF-200.png">    </p:cNvPr>
          <p:cNvPicPr>
            <a:picLocks noChangeAspect="1"/>
          </p:cNvPicPr>
          <p:nvPr/>
        </p:nvPicPr>
        <p:blipFill>
          <a:blip r:embed="rId3"/>
          <a:stretch>
            <a:fillRect/>
          </a:stretch>
        </p:blipFill>
        <p:spPr>
          <a:xfrm>
            <a:off x="960120" y="2816352"/>
            <a:ext cx="292608" cy="292608"/>
          </a:xfrm>
          <a:prstGeom prst="rect">
            <a:avLst/>
          </a:prstGeom>
        </p:spPr>
      </p:pic>
      <p:sp>
        <p:nvSpPr>
          <p:cNvPr id="14" name="Text 9"/>
          <p:cNvSpPr txBox="1"/>
          <p:nvPr/>
        </p:nvSpPr>
        <p:spPr>
          <a:xfrm>
            <a:off x="1600200" y="2606040"/>
            <a:ext cx="3246120" cy="713232"/>
          </a:xfrm>
          <a:prstGeom prst="rect">
            <a:avLst/>
          </a:prstGeom>
          <a:noFill/>
          <a:ln/>
        </p:spPr>
        <p:txBody>
          <a:bodyPr wrap="square" lIns="0" tIns="0" rIns="0" bIns="0" rtlCol="0" anchor="ctr"/>
          <a:lstStyle/>
          <a:p>
            <a:pPr indent="0" marL="0">
              <a:buNone/>
            </a:pPr>
            <a:r>
              <a:rPr lang="en-US" sz="1650" b="1" dirty="0">
                <a:solidFill>
                  <a:srgbClr val="1F3D2C"/>
                </a:solidFill>
                <a:latin typeface="Cambria" pitchFamily="34" charset="0"/>
                <a:ea typeface="Cambria" pitchFamily="34" charset="-122"/>
                <a:cs typeface="Cambria" pitchFamily="34" charset="-120"/>
              </a:rPr>
              <a:t>20,000+ community Actions</a:t>
            </a:r>
            <a:endParaRPr lang="en-US" sz="1650" dirty="0"/>
          </a:p>
        </p:txBody>
      </p:sp>
      <p:sp>
        <p:nvSpPr>
          <p:cNvPr id="15" name="Text 10"/>
          <p:cNvSpPr txBox="1"/>
          <p:nvPr/>
        </p:nvSpPr>
        <p:spPr>
          <a:xfrm>
            <a:off x="5029200" y="2606040"/>
            <a:ext cx="6309360" cy="713232"/>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A far bigger marketplace than Azure Pipelines’ task catalogue.</a:t>
            </a:r>
            <a:endParaRPr lang="en-US" sz="1400" dirty="0"/>
          </a:p>
        </p:txBody>
      </p:sp>
      <p:sp>
        <p:nvSpPr>
          <p:cNvPr id="16" name="Shape 11"/>
          <p:cNvSpPr/>
          <p:nvPr/>
        </p:nvSpPr>
        <p:spPr>
          <a:xfrm>
            <a:off x="548640" y="3465576"/>
            <a:ext cx="11064240" cy="859536"/>
          </a:xfrm>
          <a:prstGeom prst="roundRect">
            <a:avLst>
              <a:gd name="adj" fmla="val 1276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2"/>
          <p:cNvSpPr/>
          <p:nvPr/>
        </p:nvSpPr>
        <p:spPr>
          <a:xfrm>
            <a:off x="822960" y="3611880"/>
            <a:ext cx="566928" cy="566928"/>
          </a:xfrm>
          <a:prstGeom prst="ellipse">
            <a:avLst/>
          </a:prstGeom>
          <a:solidFill>
            <a:srgbClr val="C1440E"/>
          </a:solidFill>
          <a:ln/>
        </p:spPr>
      </p:sp>
      <p:pic>
        <p:nvPicPr>
          <p:cNvPr id="18" name="Image 3" descr="/home/claude/pptx-build/assets/icons/FaHandshake-FFFFFF-200.png">    </p:cNvPr>
          <p:cNvPicPr>
            <a:picLocks noChangeAspect="1"/>
          </p:cNvPicPr>
          <p:nvPr/>
        </p:nvPicPr>
        <p:blipFill>
          <a:blip r:embed="rId4"/>
          <a:stretch>
            <a:fillRect/>
          </a:stretch>
        </p:blipFill>
        <p:spPr>
          <a:xfrm>
            <a:off x="960120" y="3749040"/>
            <a:ext cx="292608" cy="292608"/>
          </a:xfrm>
          <a:prstGeom prst="rect">
            <a:avLst/>
          </a:prstGeom>
        </p:spPr>
      </p:pic>
      <p:sp>
        <p:nvSpPr>
          <p:cNvPr id="19" name="Text 13"/>
          <p:cNvSpPr txBox="1"/>
          <p:nvPr/>
        </p:nvSpPr>
        <p:spPr>
          <a:xfrm>
            <a:off x="1600200" y="3538728"/>
            <a:ext cx="3246120" cy="713232"/>
          </a:xfrm>
          <a:prstGeom prst="rect">
            <a:avLst/>
          </a:prstGeom>
          <a:noFill/>
          <a:ln/>
        </p:spPr>
        <p:txBody>
          <a:bodyPr wrap="square" lIns="0" tIns="0" rIns="0" bIns="0" rtlCol="0" anchor="ctr"/>
          <a:lstStyle/>
          <a:p>
            <a:pPr indent="0" marL="0">
              <a:buNone/>
            </a:pPr>
            <a:r>
              <a:rPr lang="en-US" sz="1650" b="1" dirty="0">
                <a:solidFill>
                  <a:srgbClr val="1F3D2C"/>
                </a:solidFill>
                <a:latin typeface="Cambria" pitchFamily="34" charset="0"/>
                <a:ea typeface="Cambria" pitchFamily="34" charset="-122"/>
                <a:cs typeface="Cambria" pitchFamily="34" charset="-120"/>
              </a:rPr>
              <a:t>Open-source &amp; external contributors</a:t>
            </a:r>
            <a:endParaRPr lang="en-US" sz="1650" dirty="0"/>
          </a:p>
        </p:txBody>
      </p:sp>
      <p:sp>
        <p:nvSpPr>
          <p:cNvPr id="20" name="Text 14"/>
          <p:cNvSpPr txBox="1"/>
          <p:nvPr/>
        </p:nvSpPr>
        <p:spPr>
          <a:xfrm>
            <a:off x="5029200" y="3538728"/>
            <a:ext cx="6309360" cy="713232"/>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Already default to GitHub — no extra onboarding friction.</a:t>
            </a:r>
            <a:endParaRPr lang="en-US" sz="1400" dirty="0"/>
          </a:p>
        </p:txBody>
      </p:sp>
      <p:sp>
        <p:nvSpPr>
          <p:cNvPr id="21" name="Shape 15"/>
          <p:cNvSpPr/>
          <p:nvPr/>
        </p:nvSpPr>
        <p:spPr>
          <a:xfrm>
            <a:off x="548640" y="4398264"/>
            <a:ext cx="11064240" cy="859536"/>
          </a:xfrm>
          <a:prstGeom prst="roundRect">
            <a:avLst>
              <a:gd name="adj" fmla="val 1276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2" name="Shape 16"/>
          <p:cNvSpPr/>
          <p:nvPr/>
        </p:nvSpPr>
        <p:spPr>
          <a:xfrm>
            <a:off x="822960" y="4544568"/>
            <a:ext cx="566928" cy="566928"/>
          </a:xfrm>
          <a:prstGeom prst="ellipse">
            <a:avLst/>
          </a:prstGeom>
          <a:solidFill>
            <a:srgbClr val="C1440E"/>
          </a:solidFill>
          <a:ln/>
        </p:spPr>
      </p:sp>
      <p:pic>
        <p:nvPicPr>
          <p:cNvPr id="23" name="Image 4" descr="/home/claude/pptx-build/assets/icons/FaSlidersH-FFFFFF-200.png">    </p:cNvPr>
          <p:cNvPicPr>
            <a:picLocks noChangeAspect="1"/>
          </p:cNvPicPr>
          <p:nvPr/>
        </p:nvPicPr>
        <p:blipFill>
          <a:blip r:embed="rId5"/>
          <a:stretch>
            <a:fillRect/>
          </a:stretch>
        </p:blipFill>
        <p:spPr>
          <a:xfrm>
            <a:off x="960120" y="4681728"/>
            <a:ext cx="292608" cy="292608"/>
          </a:xfrm>
          <a:prstGeom prst="rect">
            <a:avLst/>
          </a:prstGeom>
        </p:spPr>
      </p:pic>
      <p:sp>
        <p:nvSpPr>
          <p:cNvPr id="24" name="Text 17"/>
          <p:cNvSpPr txBox="1"/>
          <p:nvPr/>
        </p:nvSpPr>
        <p:spPr>
          <a:xfrm>
            <a:off x="1600200" y="4471416"/>
            <a:ext cx="3246120" cy="713232"/>
          </a:xfrm>
          <a:prstGeom prst="rect">
            <a:avLst/>
          </a:prstGeom>
          <a:noFill/>
          <a:ln/>
        </p:spPr>
        <p:txBody>
          <a:bodyPr wrap="square" lIns="0" tIns="0" rIns="0" bIns="0" rtlCol="0" anchor="ctr"/>
          <a:lstStyle/>
          <a:p>
            <a:pPr indent="0" marL="0">
              <a:buNone/>
            </a:pPr>
            <a:r>
              <a:rPr lang="en-US" sz="1650" b="1" dirty="0">
                <a:solidFill>
                  <a:srgbClr val="1F3D2C"/>
                </a:solidFill>
                <a:latin typeface="Cambria" pitchFamily="34" charset="0"/>
                <a:ea typeface="Cambria" pitchFamily="34" charset="-122"/>
                <a:cs typeface="Cambria" pitchFamily="34" charset="-120"/>
              </a:rPr>
              <a:t>GitHub Actions’ flexibility</a:t>
            </a:r>
            <a:endParaRPr lang="en-US" sz="1650" dirty="0"/>
          </a:p>
        </p:txBody>
      </p:sp>
      <p:sp>
        <p:nvSpPr>
          <p:cNvPr id="25" name="Text 18"/>
          <p:cNvSpPr txBox="1"/>
          <p:nvPr/>
        </p:nvSpPr>
        <p:spPr>
          <a:xfrm>
            <a:off x="5029200" y="4471416"/>
            <a:ext cx="6309360" cy="713232"/>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Reusable workflows, matrix builds, a huge marketplace of pre-built steps, and self-hosted runners when you need them.</a:t>
            </a:r>
            <a:endParaRPr lang="en-US" sz="1400" dirty="0"/>
          </a:p>
        </p:txBody>
      </p:sp>
      <p:sp>
        <p:nvSpPr>
          <p:cNvPr id="26" name="Shape 19"/>
          <p:cNvSpPr/>
          <p:nvPr/>
        </p:nvSpPr>
        <p:spPr>
          <a:xfrm>
            <a:off x="548640" y="5330952"/>
            <a:ext cx="11064240" cy="859536"/>
          </a:xfrm>
          <a:prstGeom prst="roundRect">
            <a:avLst>
              <a:gd name="adj" fmla="val 1276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7" name="Shape 20"/>
          <p:cNvSpPr/>
          <p:nvPr/>
        </p:nvSpPr>
        <p:spPr>
          <a:xfrm>
            <a:off x="822960" y="5477256"/>
            <a:ext cx="566928" cy="566928"/>
          </a:xfrm>
          <a:prstGeom prst="ellipse">
            <a:avLst/>
          </a:prstGeom>
          <a:solidFill>
            <a:srgbClr val="C1440E"/>
          </a:solidFill>
          <a:ln/>
        </p:spPr>
      </p:sp>
      <p:pic>
        <p:nvPicPr>
          <p:cNvPr id="28" name="Image 5" descr="/home/claude/pptx-build/assets/icons/FaTerminal-FFFFFF-200.png">    </p:cNvPr>
          <p:cNvPicPr>
            <a:picLocks noChangeAspect="1"/>
          </p:cNvPicPr>
          <p:nvPr/>
        </p:nvPicPr>
        <p:blipFill>
          <a:blip r:embed="rId6"/>
          <a:stretch>
            <a:fillRect/>
          </a:stretch>
        </p:blipFill>
        <p:spPr>
          <a:xfrm>
            <a:off x="960120" y="5614416"/>
            <a:ext cx="292608" cy="292608"/>
          </a:xfrm>
          <a:prstGeom prst="rect">
            <a:avLst/>
          </a:prstGeom>
        </p:spPr>
      </p:pic>
      <p:sp>
        <p:nvSpPr>
          <p:cNvPr id="29" name="Text 21"/>
          <p:cNvSpPr txBox="1"/>
          <p:nvPr/>
        </p:nvSpPr>
        <p:spPr>
          <a:xfrm>
            <a:off x="1600200" y="5404104"/>
            <a:ext cx="3246120" cy="713232"/>
          </a:xfrm>
          <a:prstGeom prst="rect">
            <a:avLst/>
          </a:prstGeom>
          <a:noFill/>
          <a:ln/>
        </p:spPr>
        <p:txBody>
          <a:bodyPr wrap="square" lIns="0" tIns="0" rIns="0" bIns="0" rtlCol="0" anchor="ctr"/>
          <a:lstStyle/>
          <a:p>
            <a:pPr indent="0" marL="0">
              <a:buNone/>
            </a:pPr>
            <a:r>
              <a:rPr lang="en-US" sz="1650" b="1" dirty="0">
                <a:solidFill>
                  <a:srgbClr val="1F3D2C"/>
                </a:solidFill>
                <a:latin typeface="Cambria" pitchFamily="34" charset="0"/>
                <a:ea typeface="Cambria" pitchFamily="34" charset="-122"/>
                <a:cs typeface="Cambria" pitchFamily="34" charset="-120"/>
              </a:rPr>
              <a:t>Run a workflow locally to troubleshoot</a:t>
            </a:r>
            <a:endParaRPr lang="en-US" sz="1650" dirty="0"/>
          </a:p>
        </p:txBody>
      </p:sp>
      <p:sp>
        <p:nvSpPr>
          <p:cNvPr id="30" name="Text 22"/>
          <p:cNvSpPr txBox="1"/>
          <p:nvPr/>
        </p:nvSpPr>
        <p:spPr>
          <a:xfrm>
            <a:off x="5029200" y="5404104"/>
            <a:ext cx="6309360" cy="713232"/>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Tools like `act` execute a specific Actions definition right on your machine — debug without waiting on a hosted-runner queue.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D2C"/>
        </a:solidFill>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algn="ctr" indent="0" marL="0">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algn="ctr" indent="0" marL="0">
              <a:buNone/>
            </a:pPr>
            <a:r>
              <a:rPr lang="en-US" sz="1900" i="1" dirty="0">
                <a:solidFill>
                  <a:srgbClr val="8C6A3F"/>
                </a:solidFill>
                <a:latin typeface="Calibri" pitchFamily="34" charset="0"/>
                <a:ea typeface="Calibri" pitchFamily="34" charset="-122"/>
                <a:cs typeface="Calibri" pitchFamily="34" charset="-120"/>
              </a:rPr>
              <a:t>One quick question before we leave Section 1 — Why Leave the Herd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2</a:t>
            </a:r>
            <a:endParaRPr lang="en-US" sz="1700" dirty="0"/>
          </a:p>
        </p:txBody>
      </p:sp>
      <p:pic>
        <p:nvPicPr>
          <p:cNvPr id="4" name="Image 0" descr="/home/claude/pptx-build/assets/icons/FaBinoculars-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A Field Guide to the Local Species</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Before the crossing, a survey of the terrain: which subsystems travel clean, which need a second look, and which never leave the old ground at all.</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lipboardLis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Scorecard — Full Reveal</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4297680"/>
        </p:xfrm>
        <a:graphic>
          <a:graphicData uri="http://schemas.openxmlformats.org/drawingml/2006/table">
            <a:tbl>
              <a:tblPr/>
              <a:tblGrid>
                <a:gridCol w="2331720"/>
                <a:gridCol w="2514600"/>
                <a:gridCol w="6217920"/>
              </a:tblGrid>
              <a:tr h="537210">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Subsystem</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algn="ctr" indent="0" marL="0">
                        <a:buNone/>
                      </a:pPr>
                      <a:r>
                        <a:rPr lang="en-US" sz="1500" b="1" dirty="0">
                          <a:solidFill>
                            <a:srgbClr val="F5F5F0"/>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Repos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TRAVELS CLEAN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Git is git — history and PRs migrate; permissions and LFS need a second look*</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Wiki</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TRAVELS CLEAN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Same Git-backed model under the hood — clone-and-push</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Packages / Artifacts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NEEDS A DECISION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Keep Azure Artifacts, move to GitHub Packages, or both during transition</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Pipelines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NEEDS A DECISION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Same YAML shell, different concepts underneath — budget real rewrite time</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Dashboards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NEEDS A DECISION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DORA-adjacent metrics built in; doesn’t match Power BI’s depth</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Boards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NEEDS A DECISION</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8C6A3F"/>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The hybrid pattern: connect it, don’t migrate it</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53721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Test Plans</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algn="ctr" indent="0" marL="0">
                        <a:buNone/>
                      </a:pPr>
                      <a:r>
                        <a:rPr lang="en-US" sz="1150" b="1" dirty="0">
                          <a:solidFill>
                            <a:srgbClr val="F5F5F0"/>
                          </a:solidFill>
                          <a:latin typeface="Calibri" pitchFamily="34" charset="0"/>
                          <a:ea typeface="Calibri" pitchFamily="34" charset="-122"/>
                          <a:cs typeface="Calibri" pitchFamily="34" charset="-120"/>
                        </a:rPr>
                        <a:t>STAYS BEHIND</a:t>
                      </a:r>
                      <a:endParaRPr lang="en-US" sz="11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C1440E"/>
                    </a:solidFill>
                  </a:tcPr>
                </a:tc>
                <a:tc>
                  <a:txBody>
                    <a:bodyPr/>
                    <a:lstStyle/>
                    <a:p>
                      <a:pPr indent="0" marL="0">
                        <a:buNone/>
                      </a:pPr>
                      <a:r>
                        <a:rPr lang="en-US" sz="1350" dirty="0">
                          <a:solidFill>
                            <a:srgbClr val="2B2B2B"/>
                          </a:solidFill>
                          <a:latin typeface="Calibri" pitchFamily="34" charset="0"/>
                          <a:ea typeface="Calibri" pitchFamily="34" charset="-122"/>
                          <a:cs typeface="Calibri" pitchFamily="34" charset="-120"/>
                        </a:rPr>
                        <a:t>No GitHub equivalent — full stop</a:t>
                      </a:r>
                      <a:endParaRPr lang="en-US" sz="135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bl>
          </a:graphicData>
        </a:graphic>
      </p:graphicFrame>
      <p:sp>
        <p:nvSpPr>
          <p:cNvPr id="7" name="Text 3"/>
          <p:cNvSpPr txBox="1"/>
          <p:nvPr/>
        </p:nvSpPr>
        <p:spPr>
          <a:xfrm>
            <a:off x="548640" y="5989320"/>
            <a:ext cx="11064240" cy="365760"/>
          </a:xfrm>
          <a:prstGeom prst="rect">
            <a:avLst/>
          </a:prstGeom>
          <a:noFill/>
          <a:ln/>
        </p:spPr>
        <p:txBody>
          <a:bodyPr wrap="square" lIns="0" tIns="0" rIns="0" bIns="0" rtlCol="0" anchor="ctr"/>
          <a:lstStyle/>
          <a:p>
            <a:pPr indent="0" marL="0">
              <a:buNone/>
            </a:pPr>
            <a:r>
              <a:rPr lang="en-US" sz="1300" i="1" dirty="0">
                <a:solidFill>
                  <a:srgbClr val="6B6B63"/>
                </a:solidFill>
                <a:latin typeface="Calibri" pitchFamily="34" charset="0"/>
                <a:ea typeface="Calibri" pitchFamily="34" charset="-122"/>
                <a:cs typeface="Calibri" pitchFamily="34" charset="-120"/>
              </a:rPr>
              <a:t>* Repos gets its own asterisk, next.</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odeBranch-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Repos: Travels Clean* — The Asterisk</a:t>
            </a:r>
            <a:endParaRPr lang="en-US" sz="3200" dirty="0"/>
          </a:p>
        </p:txBody>
      </p:sp>
      <p:sp>
        <p:nvSpPr>
          <p:cNvPr id="6" name="Shape 3"/>
          <p:cNvSpPr/>
          <p:nvPr/>
        </p:nvSpPr>
        <p:spPr>
          <a:xfrm>
            <a:off x="548640" y="1645920"/>
            <a:ext cx="5349240" cy="4114800"/>
          </a:xfrm>
          <a:prstGeom prst="roundRect">
            <a:avLst>
              <a:gd name="adj" fmla="val 2667"/>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28800"/>
            <a:ext cx="4800600" cy="457200"/>
          </a:xfrm>
          <a:prstGeom prst="rect">
            <a:avLst/>
          </a:prstGeom>
          <a:noFill/>
          <a:ln/>
        </p:spPr>
        <p:txBody>
          <a:bodyPr wrap="square" lIns="0" tIns="0" rIns="0" bIns="0" rtlCol="0" anchor="ctr"/>
          <a:lstStyle/>
          <a:p>
            <a:pPr indent="0" marL="0">
              <a:buNone/>
            </a:pPr>
            <a:r>
              <a:rPr lang="en-US" sz="2100" b="1" dirty="0">
                <a:solidFill>
                  <a:srgbClr val="1F3D2C"/>
                </a:solidFill>
                <a:latin typeface="Cambria" pitchFamily="34" charset="0"/>
                <a:ea typeface="Cambria" pitchFamily="34" charset="-122"/>
                <a:cs typeface="Cambria" pitchFamily="34" charset="-120"/>
              </a:rPr>
              <a:t>What Travels Clean</a:t>
            </a:r>
            <a:endParaRPr lang="en-US" sz="2100" dirty="0"/>
          </a:p>
        </p:txBody>
      </p:sp>
      <p:sp>
        <p:nvSpPr>
          <p:cNvPr id="8" name="Text 5"/>
          <p:cNvSpPr txBox="1"/>
          <p:nvPr/>
        </p:nvSpPr>
        <p:spPr>
          <a:xfrm>
            <a:off x="822960" y="2423160"/>
            <a:ext cx="4800600" cy="3200400"/>
          </a:xfrm>
          <a:prstGeom prst="rect">
            <a:avLst/>
          </a:prstGeom>
          <a:noFill/>
          <a:ln/>
        </p:spPr>
        <p:txBody>
          <a:bodyPr wrap="square" lIns="0" tIns="0" rIns="0" bIns="0" rtlCol="0" anchor="ctr"/>
          <a:lstStyle/>
          <a:p>
            <a:pPr marL="342900" indent="-342900">
              <a:lnSpc>
                <a:spcPct val="115000"/>
              </a:lnSpc>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Full commit history, branches, and tags</a:t>
            </a:r>
            <a:endParaRPr lang="en-US" sz="1650" dirty="0"/>
          </a:p>
          <a:p>
            <a:pPr marL="342900" indent="-342900">
              <a:lnSpc>
                <a:spcPct val="115000"/>
              </a:lnSpc>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Pull requests, with their comments and review history</a:t>
            </a:r>
            <a:endParaRPr lang="en-US" sz="1650" dirty="0"/>
          </a:p>
          <a:p>
            <a:pPr marL="342900" indent="-342900">
              <a:lnSpc>
                <a:spcPct val="115000"/>
              </a:lnSpc>
              <a:buSzPct val="100000"/>
              <a:buChar char="•"/>
            </a:pPr>
            <a:r>
              <a:rPr lang="en-US" sz="1650" dirty="0">
                <a:solidFill>
                  <a:srgbClr val="2B2B2B"/>
                </a:solidFill>
                <a:latin typeface="Calibri" pitchFamily="34" charset="0"/>
                <a:ea typeface="Calibri" pitchFamily="34" charset="-122"/>
                <a:cs typeface="Calibri" pitchFamily="34" charset="-120"/>
              </a:rPr>
              <a:t>Most branch policies — the ones scoped to a single repo</a:t>
            </a:r>
            <a:endParaRPr lang="en-US" sz="1650" dirty="0"/>
          </a:p>
        </p:txBody>
      </p:sp>
      <p:sp>
        <p:nvSpPr>
          <p:cNvPr id="9" name="Shape 6"/>
          <p:cNvSpPr/>
          <p:nvPr/>
        </p:nvSpPr>
        <p:spPr>
          <a:xfrm>
            <a:off x="6263640" y="1645920"/>
            <a:ext cx="5349240" cy="4114800"/>
          </a:xfrm>
          <a:prstGeom prst="roundRect">
            <a:avLst>
              <a:gd name="adj" fmla="val 2667"/>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6537960" y="1828800"/>
            <a:ext cx="4800600" cy="457200"/>
          </a:xfrm>
          <a:prstGeom prst="rect">
            <a:avLst/>
          </a:prstGeom>
          <a:noFill/>
          <a:ln/>
        </p:spPr>
        <p:txBody>
          <a:bodyPr wrap="square" lIns="0" tIns="0" rIns="0" bIns="0" rtlCol="0" anchor="ctr"/>
          <a:lstStyle/>
          <a:p>
            <a:pPr indent="0" marL="0">
              <a:buNone/>
            </a:pPr>
            <a:r>
              <a:rPr lang="en-US" sz="2100" b="1" dirty="0">
                <a:solidFill>
                  <a:srgbClr val="F5F5F0"/>
                </a:solidFill>
                <a:latin typeface="Cambria" pitchFamily="34" charset="0"/>
                <a:ea typeface="Cambria" pitchFamily="34" charset="-122"/>
                <a:cs typeface="Cambria" pitchFamily="34" charset="-120"/>
              </a:rPr>
              <a:t>The Asterisk</a:t>
            </a:r>
            <a:endParaRPr lang="en-US" sz="2100" dirty="0"/>
          </a:p>
        </p:txBody>
      </p:sp>
      <p:sp>
        <p:nvSpPr>
          <p:cNvPr id="11" name="Text 8"/>
          <p:cNvSpPr txBox="1"/>
          <p:nvPr/>
        </p:nvSpPr>
        <p:spPr>
          <a:xfrm>
            <a:off x="6537960" y="2423160"/>
            <a:ext cx="4800600" cy="320040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00" dirty="0">
                <a:solidFill>
                  <a:srgbClr val="F5F5F0"/>
                </a:solidFill>
                <a:latin typeface="Calibri" pitchFamily="34" charset="0"/>
                <a:ea typeface="Calibri" pitchFamily="34" charset="-122"/>
                <a:cs typeface="Calibri" pitchFamily="34" charset="-120"/>
              </a:rPr>
              <a:t>Repo permissions rebuilt as two GitHub teams per team project</a:t>
            </a:r>
            <a:endParaRPr lang="en-US" sz="1400" dirty="0"/>
          </a:p>
          <a:p>
            <a:pPr marL="342900" indent="-342900">
              <a:lnSpc>
                <a:spcPct val="110000"/>
              </a:lnSpc>
              <a:spcAft>
                <a:spcPts val="1000"/>
              </a:spcAft>
              <a:buSzPct val="100000"/>
              <a:buChar char="•"/>
            </a:pPr>
            <a:r>
              <a:rPr lang="en-US" sz="1400" dirty="0">
                <a:solidFill>
                  <a:srgbClr val="F5F5F0"/>
                </a:solidFill>
                <a:latin typeface="Calibri" pitchFamily="34" charset="0"/>
                <a:ea typeface="Calibri" pitchFamily="34" charset="-122"/>
                <a:cs typeface="Calibri" pitchFamily="34" charset="-120"/>
              </a:rPr>
              <a:t>Git LFS objects don’t come along for free</a:t>
            </a:r>
            <a:endParaRPr lang="en-US" sz="1400" dirty="0"/>
          </a:p>
          <a:p>
            <a:pPr marL="342900" indent="-342900">
              <a:lnSpc>
                <a:spcPct val="110000"/>
              </a:lnSpc>
              <a:spcAft>
                <a:spcPts val="1000"/>
              </a:spcAft>
              <a:buSzPct val="100000"/>
              <a:buChar char="•"/>
            </a:pPr>
            <a:r>
              <a:rPr lang="en-US" sz="1400" dirty="0">
                <a:solidFill>
                  <a:srgbClr val="F5F5F0"/>
                </a:solidFill>
                <a:latin typeface="Calibri" pitchFamily="34" charset="0"/>
                <a:ea typeface="Calibri" pitchFamily="34" charset="-122"/>
                <a:cs typeface="Calibri" pitchFamily="34" charset="-120"/>
              </a:rPr>
              <a:t>User-scoped and cross-repo branch policies need to be rebuilt by hand</a:t>
            </a:r>
            <a:endParaRPr lang="en-US" sz="1400" dirty="0"/>
          </a:p>
          <a:p>
            <a:pPr marL="342900" indent="-342900">
              <a:lnSpc>
                <a:spcPct val="110000"/>
              </a:lnSpc>
              <a:spcAft>
                <a:spcPts val="1000"/>
              </a:spcAft>
              <a:buSzPct val="100000"/>
              <a:buChar char="•"/>
            </a:pPr>
            <a:r>
              <a:rPr lang="en-US" sz="1400" dirty="0">
                <a:solidFill>
                  <a:srgbClr val="F5F5F0"/>
                </a:solidFill>
                <a:latin typeface="Calibri" pitchFamily="34" charset="0"/>
                <a:ea typeface="Calibri" pitchFamily="34" charset="-122"/>
                <a:cs typeface="Calibri" pitchFamily="34" charset="-120"/>
              </a:rPr>
              <a:t>TFVC repos need converting to Git first — no direct path</a:t>
            </a:r>
            <a:endParaRPr lang="en-US" sz="1400" dirty="0"/>
          </a:p>
          <a:p>
            <a:pPr marL="342900" indent="-342900">
              <a:lnSpc>
                <a:spcPct val="110000"/>
              </a:lnSpc>
              <a:buSzPct val="100000"/>
              <a:buChar char="•"/>
            </a:pPr>
            <a:r>
              <a:rPr lang="en-US" sz="1400" dirty="0">
                <a:solidFill>
                  <a:srgbClr val="F5F5F0"/>
                </a:solidFill>
                <a:latin typeface="Calibri" pitchFamily="34" charset="0"/>
                <a:ea typeface="Calibri" pitchFamily="34" charset="-122"/>
                <a:cs typeface="Calibri" pitchFamily="34" charset="-120"/>
              </a:rPr>
              <a:t>Every repo arrives private on GitHub, regardless of source visibility</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Boo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Wiki: Travels Clean — Same Git Underneath</a:t>
            </a:r>
            <a:endParaRPr lang="en-US" sz="3200" dirty="0"/>
          </a:p>
        </p:txBody>
      </p:sp>
      <p:sp>
        <p:nvSpPr>
          <p:cNvPr id="6" name="Shape 3"/>
          <p:cNvSpPr/>
          <p:nvPr/>
        </p:nvSpPr>
        <p:spPr>
          <a:xfrm>
            <a:off x="548640" y="1737360"/>
            <a:ext cx="11064240" cy="2834640"/>
          </a:xfrm>
          <a:prstGeom prst="roundRect">
            <a:avLst>
              <a:gd name="adj" fmla="val 3871"/>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965960"/>
            <a:ext cx="10332720" cy="2377440"/>
          </a:xfrm>
          <a:prstGeom prst="rect">
            <a:avLst/>
          </a:prstGeom>
          <a:noFill/>
          <a:ln/>
        </p:spPr>
        <p:txBody>
          <a:bodyPr wrap="square" lIns="0" tIns="0" rIns="0" bIns="0" rtlCol="0" anchor="ctr"/>
          <a:lstStyle/>
          <a:p>
            <a:pPr indent="0" marL="0">
              <a:lnSpc>
                <a:spcPct val="130000"/>
              </a:lnSpc>
              <a:buNone/>
            </a:pPr>
            <a:r>
              <a:rPr lang="en-US" sz="2000" dirty="0">
                <a:solidFill>
                  <a:srgbClr val="2B2B2B"/>
                </a:solidFill>
                <a:latin typeface="Calibri" pitchFamily="34" charset="0"/>
                <a:ea typeface="Calibri" pitchFamily="34" charset="-122"/>
                <a:cs typeface="Calibri" pitchFamily="34" charset="-120"/>
              </a:rPr>
              <a:t>Both Azure DevOps wiki and GitHub wiki are Git repos under the hood — clone-and-push is the whole migration. </a:t>
            </a:r>
            <a:pPr indent="0" marL="0">
              <a:lnSpc>
                <a:spcPct val="130000"/>
              </a:lnSpc>
              <a:buNone/>
            </a:pPr>
            <a:r>
              <a:rPr lang="en-US" sz="2000" b="1" dirty="0">
                <a:solidFill>
                  <a:srgbClr val="2B2B2B"/>
                </a:solidFill>
                <a:latin typeface="Calibri" pitchFamily="34" charset="0"/>
                <a:ea typeface="Calibri" pitchFamily="34" charset="-122"/>
                <a:cs typeface="Calibri" pitchFamily="34" charset="-120"/>
              </a:rPr>
              <a:t>What doesn’t come along: </a:t>
            </a:r>
            <a:pPr indent="0" marL="0">
              <a:lnSpc>
                <a:spcPct val="130000"/>
              </a:lnSpc>
              <a:buNone/>
            </a:pPr>
            <a:r>
              <a:rPr lang="en-US" sz="2000" dirty="0">
                <a:solidFill>
                  <a:srgbClr val="2B2B2B"/>
                </a:solidFill>
                <a:latin typeface="Calibri" pitchFamily="34" charset="0"/>
                <a:ea typeface="Calibri" pitchFamily="34" charset="-122"/>
                <a:cs typeface="Calibri" pitchFamily="34" charset="-120"/>
              </a:rPr>
              <a:t>Azure DevOps’ richer per-page permissions, and its tight integration with Boards and pipelines.</a:t>
            </a:r>
            <a:endParaRPr lang="en-US" sz="2000" dirty="0"/>
          </a:p>
        </p:txBody>
      </p:sp>
      <p:sp>
        <p:nvSpPr>
          <p:cNvPr id="8" name="Text 5"/>
          <p:cNvSpPr txBox="1"/>
          <p:nvPr/>
        </p:nvSpPr>
        <p:spPr>
          <a:xfrm>
            <a:off x="548640" y="4892040"/>
            <a:ext cx="11064240" cy="640080"/>
          </a:xfrm>
          <a:prstGeom prst="rect">
            <a:avLst/>
          </a:prstGeom>
          <a:noFill/>
          <a:ln/>
        </p:spPr>
        <p:txBody>
          <a:bodyPr wrap="square" lIns="0" tIns="0" rIns="0" bIns="0" rtlCol="0" anchor="ctr"/>
          <a:lstStyle/>
          <a:p>
            <a:pPr algn="ctr" indent="0" marL="0">
              <a:buNone/>
            </a:pPr>
            <a:r>
              <a:rPr lang="en-US" sz="2000" b="1" i="1" dirty="0">
                <a:solidFill>
                  <a:srgbClr val="C1440E"/>
                </a:solidFill>
                <a:latin typeface="Cambria" pitchFamily="34" charset="0"/>
                <a:ea typeface="Cambria" pitchFamily="34" charset="-122"/>
                <a:cs typeface="Cambria" pitchFamily="34" charset="-120"/>
              </a:rPr>
              <a:t>Content migration is trivial. Permissions is the whole conversation.</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BoxOpen-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Packages &amp; Artifacts: A Decision, Not a Rewrite</a:t>
            </a:r>
            <a:endParaRPr lang="en-US" sz="3200" dirty="0"/>
          </a:p>
        </p:txBody>
      </p:sp>
      <p:sp>
        <p:nvSpPr>
          <p:cNvPr id="6" name="Shape 3"/>
          <p:cNvSpPr/>
          <p:nvPr/>
        </p:nvSpPr>
        <p:spPr>
          <a:xfrm>
            <a:off x="548640" y="1691640"/>
            <a:ext cx="3429000" cy="3383280"/>
          </a:xfrm>
          <a:prstGeom prst="roundRect">
            <a:avLst>
              <a:gd name="adj" fmla="val 324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822960" y="1920240"/>
            <a:ext cx="603504" cy="603504"/>
          </a:xfrm>
          <a:prstGeom prst="ellipse">
            <a:avLst/>
          </a:prstGeom>
          <a:solidFill>
            <a:srgbClr val="C1440E"/>
          </a:solidFill>
          <a:ln/>
        </p:spPr>
      </p:sp>
      <p:pic>
        <p:nvPicPr>
          <p:cNvPr id="8" name="Image 1" descr="/home/claude/pptx-build/assets/icons/FaBoxOpen-FFFFFF-200.png">    </p:cNvPr>
          <p:cNvPicPr>
            <a:picLocks noChangeAspect="1"/>
          </p:cNvPicPr>
          <p:nvPr/>
        </p:nvPicPr>
        <p:blipFill>
          <a:blip r:embed="rId2"/>
          <a:stretch>
            <a:fillRect/>
          </a:stretch>
        </p:blipFill>
        <p:spPr>
          <a:xfrm>
            <a:off x="969264" y="2066544"/>
            <a:ext cx="310896" cy="310896"/>
          </a:xfrm>
          <a:prstGeom prst="rect">
            <a:avLst/>
          </a:prstGeom>
        </p:spPr>
      </p:pic>
      <p:sp>
        <p:nvSpPr>
          <p:cNvPr id="9" name="Text 5"/>
          <p:cNvSpPr txBox="1"/>
          <p:nvPr/>
        </p:nvSpPr>
        <p:spPr>
          <a:xfrm>
            <a:off x="822960" y="2670048"/>
            <a:ext cx="2880360" cy="685800"/>
          </a:xfrm>
          <a:prstGeom prst="rect">
            <a:avLst/>
          </a:prstGeom>
          <a:noFill/>
          <a:ln/>
        </p:spPr>
        <p:txBody>
          <a:bodyPr wrap="square" lIns="0" tIns="0" rIns="0" bIns="0" rtlCol="0" anchor="ctr"/>
          <a:lstStyle/>
          <a:p>
            <a:pPr indent="0" marL="0">
              <a:buNone/>
            </a:pPr>
            <a:r>
              <a:rPr lang="en-US" sz="1700" b="1" dirty="0">
                <a:solidFill>
                  <a:srgbClr val="1F3D2C"/>
                </a:solidFill>
                <a:latin typeface="Cambria" pitchFamily="34" charset="0"/>
                <a:ea typeface="Cambria" pitchFamily="34" charset="-122"/>
                <a:cs typeface="Cambria" pitchFamily="34" charset="-120"/>
              </a:rPr>
              <a:t>Keep Azure Artifacts</a:t>
            </a:r>
            <a:endParaRPr lang="en-US" sz="1700" dirty="0"/>
          </a:p>
        </p:txBody>
      </p:sp>
      <p:sp>
        <p:nvSpPr>
          <p:cNvPr id="10" name="Text 6"/>
          <p:cNvSpPr txBox="1"/>
          <p:nvPr/>
        </p:nvSpPr>
        <p:spPr>
          <a:xfrm>
            <a:off x="822960" y="336499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Change nothing. GitHub Actions can publish to and consume from an existing Azure Artifacts feed.</a:t>
            </a:r>
            <a:endParaRPr lang="en-US" sz="1400" dirty="0"/>
          </a:p>
        </p:txBody>
      </p:sp>
      <p:sp>
        <p:nvSpPr>
          <p:cNvPr id="11" name="Shape 7"/>
          <p:cNvSpPr/>
          <p:nvPr/>
        </p:nvSpPr>
        <p:spPr>
          <a:xfrm>
            <a:off x="4251960" y="1691640"/>
            <a:ext cx="3429000" cy="3383280"/>
          </a:xfrm>
          <a:prstGeom prst="roundRect">
            <a:avLst>
              <a:gd name="adj" fmla="val 324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4526280" y="1920240"/>
            <a:ext cx="603504" cy="603504"/>
          </a:xfrm>
          <a:prstGeom prst="ellipse">
            <a:avLst/>
          </a:prstGeom>
          <a:solidFill>
            <a:srgbClr val="C1440E"/>
          </a:solidFill>
          <a:ln/>
        </p:spPr>
      </p:sp>
      <p:pic>
        <p:nvPicPr>
          <p:cNvPr id="13" name="Image 2" descr="/home/claude/pptx-build/assets/icons/FaGithub-FFFFFF-200.png">    </p:cNvPr>
          <p:cNvPicPr>
            <a:picLocks noChangeAspect="1"/>
          </p:cNvPicPr>
          <p:nvPr/>
        </p:nvPicPr>
        <p:blipFill>
          <a:blip r:embed="rId3"/>
          <a:stretch>
            <a:fillRect/>
          </a:stretch>
        </p:blipFill>
        <p:spPr>
          <a:xfrm>
            <a:off x="4672584" y="2066544"/>
            <a:ext cx="310896" cy="310896"/>
          </a:xfrm>
          <a:prstGeom prst="rect">
            <a:avLst/>
          </a:prstGeom>
        </p:spPr>
      </p:pic>
      <p:sp>
        <p:nvSpPr>
          <p:cNvPr id="14" name="Text 9"/>
          <p:cNvSpPr txBox="1"/>
          <p:nvPr/>
        </p:nvSpPr>
        <p:spPr>
          <a:xfrm>
            <a:off x="4526280" y="2670048"/>
            <a:ext cx="2880360" cy="685800"/>
          </a:xfrm>
          <a:prstGeom prst="rect">
            <a:avLst/>
          </a:prstGeom>
          <a:noFill/>
          <a:ln/>
        </p:spPr>
        <p:txBody>
          <a:bodyPr wrap="square" lIns="0" tIns="0" rIns="0" bIns="0" rtlCol="0" anchor="ctr"/>
          <a:lstStyle/>
          <a:p>
            <a:pPr indent="0" marL="0">
              <a:buNone/>
            </a:pPr>
            <a:r>
              <a:rPr lang="en-US" sz="1700" b="1" dirty="0">
                <a:solidFill>
                  <a:srgbClr val="1F3D2C"/>
                </a:solidFill>
                <a:latin typeface="Cambria" pitchFamily="34" charset="0"/>
                <a:ea typeface="Cambria" pitchFamily="34" charset="-122"/>
                <a:cs typeface="Cambria" pitchFamily="34" charset="-120"/>
              </a:rPr>
              <a:t>Move to GitHub Packages</a:t>
            </a:r>
            <a:endParaRPr lang="en-US" sz="1700" dirty="0"/>
          </a:p>
        </p:txBody>
      </p:sp>
      <p:sp>
        <p:nvSpPr>
          <p:cNvPr id="15" name="Text 10"/>
          <p:cNvSpPr txBox="1"/>
          <p:nvPr/>
        </p:nvSpPr>
        <p:spPr>
          <a:xfrm>
            <a:off x="4526280" y="336499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Consolidate onto one platform — the right call for teams starting fresh or already small.</a:t>
            </a:r>
            <a:endParaRPr lang="en-US" sz="1400" dirty="0"/>
          </a:p>
        </p:txBody>
      </p:sp>
      <p:sp>
        <p:nvSpPr>
          <p:cNvPr id="16" name="Shape 11"/>
          <p:cNvSpPr/>
          <p:nvPr/>
        </p:nvSpPr>
        <p:spPr>
          <a:xfrm>
            <a:off x="7955280" y="1691640"/>
            <a:ext cx="3429000" cy="3383280"/>
          </a:xfrm>
          <a:prstGeom prst="roundRect">
            <a:avLst>
              <a:gd name="adj" fmla="val 324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2"/>
          <p:cNvSpPr/>
          <p:nvPr/>
        </p:nvSpPr>
        <p:spPr>
          <a:xfrm>
            <a:off x="8229600" y="1920240"/>
            <a:ext cx="603504" cy="603504"/>
          </a:xfrm>
          <a:prstGeom prst="ellipse">
            <a:avLst/>
          </a:prstGeom>
          <a:solidFill>
            <a:srgbClr val="C1440E"/>
          </a:solidFill>
          <a:ln/>
        </p:spPr>
      </p:sp>
      <p:pic>
        <p:nvPicPr>
          <p:cNvPr id="18" name="Image 3" descr="/home/claude/pptx-build/assets/icons/FaExchangeAlt-FFFFFF-200.png">    </p:cNvPr>
          <p:cNvPicPr>
            <a:picLocks noChangeAspect="1"/>
          </p:cNvPicPr>
          <p:nvPr/>
        </p:nvPicPr>
        <p:blipFill>
          <a:blip r:embed="rId4"/>
          <a:stretch>
            <a:fillRect/>
          </a:stretch>
        </p:blipFill>
        <p:spPr>
          <a:xfrm>
            <a:off x="8375904" y="2066544"/>
            <a:ext cx="310896" cy="310896"/>
          </a:xfrm>
          <a:prstGeom prst="rect">
            <a:avLst/>
          </a:prstGeom>
        </p:spPr>
      </p:pic>
      <p:sp>
        <p:nvSpPr>
          <p:cNvPr id="19" name="Text 13"/>
          <p:cNvSpPr txBox="1"/>
          <p:nvPr/>
        </p:nvSpPr>
        <p:spPr>
          <a:xfrm>
            <a:off x="8229600" y="2670048"/>
            <a:ext cx="2880360" cy="685800"/>
          </a:xfrm>
          <a:prstGeom prst="rect">
            <a:avLst/>
          </a:prstGeom>
          <a:noFill/>
          <a:ln/>
        </p:spPr>
        <p:txBody>
          <a:bodyPr wrap="square" lIns="0" tIns="0" rIns="0" bIns="0" rtlCol="0" anchor="ctr"/>
          <a:lstStyle/>
          <a:p>
            <a:pPr indent="0" marL="0">
              <a:buNone/>
            </a:pPr>
            <a:r>
              <a:rPr lang="en-US" sz="1700" b="1" dirty="0">
                <a:solidFill>
                  <a:srgbClr val="1F3D2C"/>
                </a:solidFill>
                <a:latin typeface="Cambria" pitchFamily="34" charset="0"/>
                <a:ea typeface="Cambria" pitchFamily="34" charset="-122"/>
                <a:cs typeface="Cambria" pitchFamily="34" charset="-120"/>
              </a:rPr>
              <a:t>Both, during transition</a:t>
            </a:r>
            <a:endParaRPr lang="en-US" sz="1700" dirty="0"/>
          </a:p>
        </p:txBody>
      </p:sp>
      <p:sp>
        <p:nvSpPr>
          <p:cNvPr id="20" name="Text 14"/>
          <p:cNvSpPr txBox="1"/>
          <p:nvPr/>
        </p:nvSpPr>
        <p:spPr>
          <a:xfrm>
            <a:off x="8229600" y="336499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Dual-publish while consumers migrate at their own pace. Buys time, costs a little duplication.</a:t>
            </a:r>
            <a:endParaRPr lang="en-US" sz="1400" dirty="0"/>
          </a:p>
        </p:txBody>
      </p:sp>
      <p:sp>
        <p:nvSpPr>
          <p:cNvPr id="21" name="Shape 15"/>
          <p:cNvSpPr/>
          <p:nvPr/>
        </p:nvSpPr>
        <p:spPr>
          <a:xfrm>
            <a:off x="548640" y="5257800"/>
            <a:ext cx="11064240" cy="868680"/>
          </a:xfrm>
          <a:prstGeom prst="roundRect">
            <a:avLst>
              <a:gd name="adj" fmla="val 1263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2" name="Text 16"/>
          <p:cNvSpPr txBox="1"/>
          <p:nvPr/>
        </p:nvSpPr>
        <p:spPr>
          <a:xfrm>
            <a:off x="822960" y="5394960"/>
            <a:ext cx="10515600" cy="594360"/>
          </a:xfrm>
          <a:prstGeom prst="rect">
            <a:avLst/>
          </a:prstGeom>
          <a:noFill/>
          <a:ln/>
        </p:spPr>
        <p:txBody>
          <a:bodyPr wrap="square" lIns="0" tIns="0" rIns="0" bIns="0" rtlCol="0" anchor="ctr"/>
          <a:lstStyle/>
          <a:p>
            <a:pPr indent="0" marL="0">
              <a:buNone/>
            </a:pPr>
            <a:r>
              <a:rPr lang="en-US" sz="1450" b="1" dirty="0">
                <a:solidFill>
                  <a:srgbClr val="F5F5F0"/>
                </a:solidFill>
                <a:latin typeface="Calibri" pitchFamily="34" charset="0"/>
                <a:ea typeface="Calibri" pitchFamily="34" charset="-122"/>
                <a:cs typeface="Calibri" pitchFamily="34" charset="-120"/>
              </a:rPr>
              <a:t>The realistic PoC target: </a:t>
            </a:r>
            <a:pPr indent="0" marL="0">
              <a:buNone/>
            </a:pPr>
            <a:r>
              <a:rPr lang="en-US" sz="1450" dirty="0">
                <a:solidFill>
                  <a:srgbClr val="F5F5F0"/>
                </a:solidFill>
                <a:latin typeface="Calibri" pitchFamily="34" charset="0"/>
                <a:ea typeface="Calibri" pitchFamily="34" charset="-122"/>
                <a:cs typeface="Calibri" pitchFamily="34" charset="-120"/>
              </a:rPr>
              <a:t>GitHub Actions publishing to an existing Azure Artifacts feed — the answer for teams that can’t repoint every consumer at cutover.</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hartBar-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Dashboards: A Partial Equivalent</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920240"/>
            <a:ext cx="10332720" cy="2194560"/>
          </a:xfrm>
          <a:prstGeom prst="rect">
            <a:avLst/>
          </a:prstGeom>
          <a:noFill/>
          <a:ln/>
        </p:spPr>
        <p:txBody>
          <a:bodyPr wrap="square" lIns="0" tIns="0" rIns="0" bIns="0" rtlCol="0" anchor="ctr"/>
          <a:lstStyle/>
          <a:p>
            <a:pPr indent="0" marL="0">
              <a:lnSpc>
                <a:spcPct val="125000"/>
              </a:lnSpc>
              <a:buNone/>
            </a:pPr>
            <a:r>
              <a:rPr lang="en-US" sz="1900" dirty="0">
                <a:solidFill>
                  <a:srgbClr val="2B2B2B"/>
                </a:solidFill>
                <a:latin typeface="Calibri" pitchFamily="34" charset="0"/>
                <a:ea typeface="Calibri" pitchFamily="34" charset="-122"/>
                <a:cs typeface="Calibri" pitchFamily="34" charset="-120"/>
              </a:rPr>
              <a:t>GitHub’s built-in engineering metrics cover delivery performance, cycle time, and PR review load — </a:t>
            </a:r>
            <a:pPr indent="0" marL="0">
              <a:lnSpc>
                <a:spcPct val="125000"/>
              </a:lnSpc>
              <a:buNone/>
            </a:pPr>
            <a:r>
              <a:rPr lang="en-US" sz="1900" b="1" dirty="0">
                <a:solidFill>
                  <a:srgbClr val="2B2B2B"/>
                </a:solidFill>
                <a:latin typeface="Calibri" pitchFamily="34" charset="0"/>
                <a:ea typeface="Calibri" pitchFamily="34" charset="-122"/>
                <a:cs typeface="Calibri" pitchFamily="34" charset="-120"/>
              </a:rPr>
              <a:t>DORA-adjacent, not Power-BI-deep. </a:t>
            </a:r>
            <a:pPr indent="0" marL="0">
              <a:lnSpc>
                <a:spcPct val="125000"/>
              </a:lnSpc>
              <a:buNone/>
            </a:pPr>
            <a:r>
              <a:rPr lang="en-US" sz="1900" dirty="0">
                <a:solidFill>
                  <a:srgbClr val="2B2B2B"/>
                </a:solidFill>
                <a:latin typeface="Calibri" pitchFamily="34" charset="0"/>
                <a:ea typeface="Calibri" pitchFamily="34" charset="-122"/>
                <a:cs typeface="Calibri" pitchFamily="34" charset="-120"/>
              </a:rPr>
              <a:t>It won’t match the combined depth of Boards Analytics plus a dedicated Power BI report.</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736592"/>
            <a:ext cx="10515600" cy="1097280"/>
          </a:xfrm>
          <a:prstGeom prst="rect">
            <a:avLst/>
          </a:prstGeom>
          <a:noFill/>
          <a:ln/>
        </p:spPr>
        <p:txBody>
          <a:bodyPr wrap="square" lIns="0" tIns="0" rIns="0" bIns="0" rtlCol="0" anchor="ctr"/>
          <a:lstStyle/>
          <a:p>
            <a:pPr indent="0" marL="0">
              <a:lnSpc>
                <a:spcPct val="115000"/>
              </a:lnSpc>
              <a:buNone/>
            </a:pPr>
            <a:r>
              <a:rPr lang="en-US" sz="1500" b="1" dirty="0">
                <a:solidFill>
                  <a:srgbClr val="F5F5F0"/>
                </a:solidFill>
                <a:latin typeface="Calibri" pitchFamily="34" charset="0"/>
                <a:ea typeface="Calibri" pitchFamily="34" charset="-122"/>
                <a:cs typeface="Calibri" pitchFamily="34" charset="-120"/>
              </a:rPr>
              <a:t>The reframe: </a:t>
            </a:r>
            <a:pPr indent="0" marL="0">
              <a:lnSpc>
                <a:spcPct val="115000"/>
              </a:lnSpc>
              <a:buNone/>
            </a:pPr>
            <a:r>
              <a:rPr lang="en-US" sz="1500" dirty="0">
                <a:solidFill>
                  <a:srgbClr val="F5F5F0"/>
                </a:solidFill>
                <a:latin typeface="Calibri" pitchFamily="34" charset="0"/>
                <a:ea typeface="Calibri" pitchFamily="34" charset="-122"/>
                <a:cs typeface="Calibri" pitchFamily="34" charset="-120"/>
              </a:rPr>
              <a:t>stop comparing dashboard widgets one-for-one. Use the four DORA metrics — deployment frequency, lead time, change failure rate, time to restore — as the shared baseline language on both sides of the migration.</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ayerGroup-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A FIELD GUIDE TO THE LOCAL SPECIES</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Pattern</a:t>
            </a:r>
            <a:endParaRPr lang="en-US" sz="3200" dirty="0"/>
          </a:p>
        </p:txBody>
      </p:sp>
      <p:sp>
        <p:nvSpPr>
          <p:cNvPr id="6" name="Text 3"/>
          <p:cNvSpPr txBox="1"/>
          <p:nvPr/>
        </p:nvSpPr>
        <p:spPr>
          <a:xfrm>
            <a:off x="548640" y="1691640"/>
            <a:ext cx="11064240" cy="1005840"/>
          </a:xfrm>
          <a:prstGeom prst="rect">
            <a:avLst/>
          </a:prstGeom>
          <a:noFill/>
          <a:ln/>
        </p:spPr>
        <p:txBody>
          <a:bodyPr wrap="square" lIns="0" tIns="0" rIns="0" bIns="0" rtlCol="0" anchor="ctr"/>
          <a:lstStyle/>
          <a:p>
            <a:pPr algn="ctr" indent="0" marL="0">
              <a:buNone/>
            </a:pPr>
            <a:r>
              <a:rPr lang="en-US" sz="2600" b="1" i="1" dirty="0">
                <a:solidFill>
                  <a:srgbClr val="1F3D2C"/>
                </a:solidFill>
                <a:latin typeface="Cambria" pitchFamily="34" charset="0"/>
                <a:ea typeface="Cambria" pitchFamily="34" charset="-122"/>
                <a:cs typeface="Cambria" pitchFamily="34" charset="-120"/>
              </a:rPr>
              <a:t>File-based and version-controlled survives the crossing. Database-backed enterprise tooling doesn’t.</a:t>
            </a:r>
            <a:endParaRPr lang="en-US" sz="2600" dirty="0"/>
          </a:p>
        </p:txBody>
      </p:sp>
      <p:sp>
        <p:nvSpPr>
          <p:cNvPr id="7" name="Shape 4"/>
          <p:cNvSpPr/>
          <p:nvPr/>
        </p:nvSpPr>
        <p:spPr>
          <a:xfrm>
            <a:off x="548640" y="2971800"/>
            <a:ext cx="5349240" cy="2880360"/>
          </a:xfrm>
          <a:prstGeom prst="roundRect">
            <a:avLst>
              <a:gd name="adj" fmla="val 381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822960" y="3154680"/>
            <a:ext cx="480060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Travels Clean</a:t>
            </a:r>
            <a:endParaRPr lang="en-US" sz="1900" dirty="0"/>
          </a:p>
        </p:txBody>
      </p:sp>
      <p:sp>
        <p:nvSpPr>
          <p:cNvPr id="9" name="Text 6"/>
          <p:cNvSpPr txBox="1"/>
          <p:nvPr/>
        </p:nvSpPr>
        <p:spPr>
          <a:xfrm>
            <a:off x="822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2B2B2B"/>
                </a:solidFill>
                <a:latin typeface="Calibri" pitchFamily="34" charset="0"/>
                <a:ea typeface="Calibri" pitchFamily="34" charset="-122"/>
                <a:cs typeface="Calibri" pitchFamily="34" charset="-120"/>
              </a:rPr>
              <a:t>Repos — it’s Git on both sides</a:t>
            </a:r>
            <a:endParaRPr lang="en-US" sz="1650" dirty="0"/>
          </a:p>
          <a:p>
            <a:pPr marL="342900" indent="-342900">
              <a:buSzPct val="100000"/>
              <a:buChar char="•"/>
            </a:pPr>
            <a:r>
              <a:rPr lang="en-US" sz="1650" dirty="0">
                <a:solidFill>
                  <a:srgbClr val="2B2B2B"/>
                </a:solidFill>
                <a:latin typeface="Calibri" pitchFamily="34" charset="0"/>
                <a:ea typeface="Calibri" pitchFamily="34" charset="-122"/>
                <a:cs typeface="Calibri" pitchFamily="34" charset="-120"/>
              </a:rPr>
              <a:t>Wiki — also Git on both sides</a:t>
            </a:r>
            <a:endParaRPr lang="en-US" sz="1650" dirty="0"/>
          </a:p>
        </p:txBody>
      </p:sp>
      <p:sp>
        <p:nvSpPr>
          <p:cNvPr id="10" name="Shape 7"/>
          <p:cNvSpPr/>
          <p:nvPr/>
        </p:nvSpPr>
        <p:spPr>
          <a:xfrm>
            <a:off x="6263640" y="2971800"/>
            <a:ext cx="5349240" cy="2880360"/>
          </a:xfrm>
          <a:prstGeom prst="roundRect">
            <a:avLst>
              <a:gd name="adj" fmla="val 381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6537960" y="3154680"/>
            <a:ext cx="4800600" cy="45720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Database-Backed</a:t>
            </a:r>
            <a:endParaRPr lang="en-US" sz="1900" dirty="0"/>
          </a:p>
        </p:txBody>
      </p:sp>
      <p:sp>
        <p:nvSpPr>
          <p:cNvPr id="12" name="Text 9"/>
          <p:cNvSpPr txBox="1"/>
          <p:nvPr/>
        </p:nvSpPr>
        <p:spPr>
          <a:xfrm>
            <a:off x="6537960" y="3703320"/>
            <a:ext cx="4800600" cy="2011680"/>
          </a:xfrm>
          <a:prstGeom prst="rect">
            <a:avLst/>
          </a:prstGeom>
          <a:noFill/>
          <a:ln/>
        </p:spPr>
        <p:txBody>
          <a:bodyPr wrap="square" lIns="0" tIns="0" rIns="0" bIns="0" rtlCol="0" anchor="ctr"/>
          <a:lstStyle/>
          <a:p>
            <a:pPr marL="342900" indent="-342900">
              <a:spcAft>
                <a:spcPts val="1000"/>
              </a:spcAft>
              <a:buSzPct val="100000"/>
              <a:buChar char="•"/>
            </a:pPr>
            <a:r>
              <a:rPr lang="en-US" sz="1650" dirty="0">
                <a:solidFill>
                  <a:srgbClr val="F5F5F0"/>
                </a:solidFill>
                <a:latin typeface="Calibri" pitchFamily="34" charset="0"/>
                <a:ea typeface="Calibri" pitchFamily="34" charset="-122"/>
                <a:cs typeface="Calibri" pitchFamily="34" charset="-120"/>
              </a:rPr>
              <a:t>Dashboards — partial equivalent, this section</a:t>
            </a:r>
            <a:endParaRPr lang="en-US" sz="1650" dirty="0"/>
          </a:p>
          <a:p>
            <a:pPr marL="342900" indent="-342900">
              <a:buSzPct val="100000"/>
              <a:buChar char="•"/>
            </a:pPr>
            <a:r>
              <a:rPr lang="en-US" sz="1650" dirty="0">
                <a:solidFill>
                  <a:srgbClr val="F5F5F0"/>
                </a:solidFill>
                <a:latin typeface="Calibri" pitchFamily="34" charset="0"/>
                <a:ea typeface="Calibri" pitchFamily="34" charset="-122"/>
                <a:cs typeface="Calibri" pitchFamily="34" charset="-120"/>
              </a:rPr>
              <a:t>Boards &amp; Test Plans — the whole next section</a:t>
            </a:r>
            <a:endParaRPr lang="en-US" sz="16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F3D2C"/>
        </a:solidFill>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algn="ctr" indent="0" marL="0">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algn="ctr" indent="0" marL="0">
              <a:buNone/>
            </a:pPr>
            <a:r>
              <a:rPr lang="en-US" sz="1900" i="1" dirty="0">
                <a:solidFill>
                  <a:srgbClr val="8C6A3F"/>
                </a:solidFill>
                <a:latin typeface="Calibri" pitchFamily="34" charset="0"/>
                <a:ea typeface="Calibri" pitchFamily="34" charset="-122"/>
                <a:cs typeface="Calibri" pitchFamily="34" charset="-120"/>
              </a:rPr>
              <a:t>One quick question before we leave Section 2 — A Field Guide to the Local Species</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3</a:t>
            </a:r>
            <a:endParaRPr lang="en-US" sz="1700" dirty="0"/>
          </a:p>
        </p:txBody>
      </p:sp>
      <p:pic>
        <p:nvPicPr>
          <p:cNvPr id="4" name="Image 0" descr="/home/claude/pptx-build/assets/icons/FaShip-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Rare Footage of Successful Deployment</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The river has three known crossings. Some travelers wade in by hand, some bring a boat, and a few, lately, have started asking the water itself for directions.</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ExclamationTriangl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Pipelines: Needs a Rewrite — The Core Problem</a:t>
            </a:r>
            <a:endParaRPr lang="en-US" sz="3200" dirty="0"/>
          </a:p>
        </p:txBody>
      </p:sp>
      <p:sp>
        <p:nvSpPr>
          <p:cNvPr id="6" name="Shape 3"/>
          <p:cNvSpPr/>
          <p:nvPr/>
        </p:nvSpPr>
        <p:spPr>
          <a:xfrm>
            <a:off x="548640" y="1645920"/>
            <a:ext cx="11064240" cy="2103120"/>
          </a:xfrm>
          <a:prstGeom prst="roundRect">
            <a:avLst>
              <a:gd name="adj" fmla="val 5217"/>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28800"/>
            <a:ext cx="10332720" cy="1737360"/>
          </a:xfrm>
          <a:prstGeom prst="rect">
            <a:avLst/>
          </a:prstGeom>
          <a:noFill/>
          <a:ln/>
        </p:spPr>
        <p:txBody>
          <a:bodyPr wrap="square" lIns="0" tIns="0" rIns="0" bIns="0" rtlCol="0" anchor="ctr"/>
          <a:lstStyle/>
          <a:p>
            <a:pPr indent="0" marL="0">
              <a:lnSpc>
                <a:spcPct val="125000"/>
              </a:lnSpc>
              <a:buNone/>
            </a:pPr>
            <a:r>
              <a:rPr lang="en-US" sz="2000" b="1" dirty="0">
                <a:solidFill>
                  <a:srgbClr val="2B2B2B"/>
                </a:solidFill>
                <a:latin typeface="Calibri" pitchFamily="34" charset="0"/>
                <a:ea typeface="Calibri" pitchFamily="34" charset="-122"/>
                <a:cs typeface="Calibri" pitchFamily="34" charset="-120"/>
              </a:rPr>
              <a:t>Both sides use YAML. </a:t>
            </a:r>
            <a:pPr indent="0" marL="0">
              <a:lnSpc>
                <a:spcPct val="125000"/>
              </a:lnSpc>
              <a:buNone/>
            </a:pPr>
            <a:r>
              <a:rPr lang="en-US" sz="2000" dirty="0">
                <a:solidFill>
                  <a:srgbClr val="2B2B2B"/>
                </a:solidFill>
                <a:latin typeface="Calibri" pitchFamily="34" charset="0"/>
                <a:ea typeface="Calibri" pitchFamily="34" charset="-122"/>
                <a:cs typeface="Calibri" pitchFamily="34" charset="-120"/>
              </a:rPr>
              <a:t>That’s where the resemblance ends — the concepts underneath are genuinely different, not just renamed.</a:t>
            </a:r>
            <a:endParaRPr lang="en-US" sz="2000" dirty="0"/>
          </a:p>
        </p:txBody>
      </p:sp>
      <p:sp>
        <p:nvSpPr>
          <p:cNvPr id="8" name="Shape 5"/>
          <p:cNvSpPr/>
          <p:nvPr/>
        </p:nvSpPr>
        <p:spPr>
          <a:xfrm>
            <a:off x="548640" y="3977640"/>
            <a:ext cx="5349240" cy="1371600"/>
          </a:xfrm>
          <a:prstGeom prst="roundRect">
            <a:avLst>
              <a:gd name="adj" fmla="val 8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114800"/>
            <a:ext cx="480060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Azure Pipelines</a:t>
            </a:r>
            <a:endParaRPr lang="en-US" sz="1900" dirty="0"/>
          </a:p>
        </p:txBody>
      </p:sp>
      <p:sp>
        <p:nvSpPr>
          <p:cNvPr id="10" name="Text 7"/>
          <p:cNvSpPr txBox="1"/>
          <p:nvPr/>
        </p:nvSpPr>
        <p:spPr>
          <a:xfrm>
            <a:off x="822960" y="4590288"/>
            <a:ext cx="4800600" cy="640080"/>
          </a:xfrm>
          <a:prstGeom prst="rect">
            <a:avLst/>
          </a:prstGeom>
          <a:noFill/>
          <a:ln/>
        </p:spPr>
        <p:txBody>
          <a:bodyPr wrap="square" lIns="0" tIns="0" rIns="0" bIns="0" rtlCol="0" anchor="ctr"/>
          <a:lstStyle/>
          <a:p>
            <a:pPr indent="0" marL="0">
              <a:buNone/>
            </a:pPr>
            <a:r>
              <a:rPr lang="en-US" sz="1700" dirty="0">
                <a:solidFill>
                  <a:srgbClr val="2B2B2B"/>
                </a:solidFill>
                <a:latin typeface="Calibri" pitchFamily="34" charset="0"/>
                <a:ea typeface="Calibri" pitchFamily="34" charset="-122"/>
                <a:cs typeface="Calibri" pitchFamily="34" charset="-120"/>
              </a:rPr>
              <a:t>Stages → Jobs → Tasks</a:t>
            </a:r>
            <a:endParaRPr lang="en-US" sz="1700" dirty="0"/>
          </a:p>
        </p:txBody>
      </p:sp>
      <p:sp>
        <p:nvSpPr>
          <p:cNvPr id="11" name="Shape 8"/>
          <p:cNvSpPr/>
          <p:nvPr/>
        </p:nvSpPr>
        <p:spPr>
          <a:xfrm>
            <a:off x="6172200" y="3977640"/>
            <a:ext cx="5349240" cy="1371600"/>
          </a:xfrm>
          <a:prstGeom prst="roundRect">
            <a:avLst>
              <a:gd name="adj" fmla="val 80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446520" y="4114800"/>
            <a:ext cx="4800600" cy="45720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GitHub Actions</a:t>
            </a:r>
            <a:endParaRPr lang="en-US" sz="1900" dirty="0"/>
          </a:p>
        </p:txBody>
      </p:sp>
      <p:sp>
        <p:nvSpPr>
          <p:cNvPr id="13" name="Text 10"/>
          <p:cNvSpPr txBox="1"/>
          <p:nvPr/>
        </p:nvSpPr>
        <p:spPr>
          <a:xfrm>
            <a:off x="6446520" y="4590288"/>
            <a:ext cx="4800600" cy="640080"/>
          </a:xfrm>
          <a:prstGeom prst="rect">
            <a:avLst/>
          </a:prstGeom>
          <a:noFill/>
          <a:ln/>
        </p:spPr>
        <p:txBody>
          <a:bodyPr wrap="square" lIns="0" tIns="0" rIns="0" bIns="0" rtlCol="0" anchor="ctr"/>
          <a:lstStyle/>
          <a:p>
            <a:pPr indent="0" marL="0">
              <a:buNone/>
            </a:pPr>
            <a:r>
              <a:rPr lang="en-US" sz="1700" dirty="0">
                <a:solidFill>
                  <a:srgbClr val="F5F5F0"/>
                </a:solidFill>
                <a:latin typeface="Calibri" pitchFamily="34" charset="0"/>
                <a:ea typeface="Calibri" pitchFamily="34" charset="-122"/>
                <a:cs typeface="Calibri" pitchFamily="34" charset="-120"/>
              </a:rPr>
              <a:t>Workflows → Jobs → Steps</a:t>
            </a:r>
            <a:endParaRPr lang="en-US" sz="1700" dirty="0"/>
          </a:p>
        </p:txBody>
      </p:sp>
      <p:sp>
        <p:nvSpPr>
          <p:cNvPr id="14" name="Text 11"/>
          <p:cNvSpPr txBox="1"/>
          <p:nvPr/>
        </p:nvSpPr>
        <p:spPr>
          <a:xfrm>
            <a:off x="548640" y="5623560"/>
            <a:ext cx="11064240" cy="502920"/>
          </a:xfrm>
          <a:prstGeom prst="rect">
            <a:avLst/>
          </a:prstGeom>
          <a:noFill/>
          <a:ln/>
        </p:spPr>
        <p:txBody>
          <a:bodyPr wrap="square" lIns="0" tIns="0" rIns="0" bIns="0" rtlCol="0" anchor="ctr"/>
          <a:lstStyle/>
          <a:p>
            <a:pPr algn="ctr" indent="0" marL="0">
              <a:buNone/>
            </a:pPr>
            <a:r>
              <a:rPr lang="en-US" sz="1900" b="1" i="1" dirty="0">
                <a:solidFill>
                  <a:srgbClr val="C1440E"/>
                </a:solidFill>
                <a:latin typeface="Cambria" pitchFamily="34" charset="0"/>
                <a:ea typeface="Cambria" pitchFamily="34" charset="-122"/>
                <a:cs typeface="Cambria" pitchFamily="34" charset="-120"/>
              </a:rPr>
              <a:t>Budget 1–2 days per complex pipeline.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Rout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Three Ways to Cross the River</a:t>
            </a:r>
            <a:endParaRPr lang="en-US" sz="3200" dirty="0"/>
          </a:p>
        </p:txBody>
      </p:sp>
      <p:sp>
        <p:nvSpPr>
          <p:cNvPr id="6" name="Shape 3"/>
          <p:cNvSpPr/>
          <p:nvPr/>
        </p:nvSpPr>
        <p:spPr>
          <a:xfrm>
            <a:off x="548640" y="1828800"/>
            <a:ext cx="3429000" cy="3657600"/>
          </a:xfrm>
          <a:prstGeom prst="roundRect">
            <a:avLst>
              <a:gd name="adj" fmla="val 32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822960" y="2057400"/>
            <a:ext cx="603504" cy="603504"/>
          </a:xfrm>
          <a:prstGeom prst="ellipse">
            <a:avLst/>
          </a:prstGeom>
          <a:solidFill>
            <a:srgbClr val="C1440E"/>
          </a:solidFill>
          <a:ln/>
        </p:spPr>
      </p:sp>
      <p:pic>
        <p:nvPicPr>
          <p:cNvPr id="8" name="Image 1" descr="/home/claude/pptx-build/assets/icons/FaHandPaper-FFFFFF-200.png">    </p:cNvPr>
          <p:cNvPicPr>
            <a:picLocks noChangeAspect="1"/>
          </p:cNvPicPr>
          <p:nvPr/>
        </p:nvPicPr>
        <p:blipFill>
          <a:blip r:embed="rId2"/>
          <a:stretch>
            <a:fillRect/>
          </a:stretch>
        </p:blipFill>
        <p:spPr>
          <a:xfrm>
            <a:off x="969264" y="2203704"/>
            <a:ext cx="310896" cy="310896"/>
          </a:xfrm>
          <a:prstGeom prst="rect">
            <a:avLst/>
          </a:prstGeom>
        </p:spPr>
      </p:pic>
      <p:sp>
        <p:nvSpPr>
          <p:cNvPr id="9" name="Text 5"/>
          <p:cNvSpPr txBox="1"/>
          <p:nvPr/>
        </p:nvSpPr>
        <p:spPr>
          <a:xfrm>
            <a:off x="822960" y="2807208"/>
            <a:ext cx="2880360" cy="457200"/>
          </a:xfrm>
          <a:prstGeom prst="rect">
            <a:avLst/>
          </a:prstGeom>
          <a:noFill/>
          <a:ln/>
        </p:spPr>
        <p:txBody>
          <a:bodyPr wrap="square" lIns="0" tIns="0" rIns="0" bIns="0" rtlCol="0" anchor="ctr"/>
          <a:lstStyle/>
          <a:p>
            <a:pPr indent="0" marL="0">
              <a:buNone/>
            </a:pPr>
            <a:r>
              <a:rPr lang="en-US" sz="2000" b="1" dirty="0">
                <a:solidFill>
                  <a:srgbClr val="1F3D2C"/>
                </a:solidFill>
                <a:latin typeface="Cambria" pitchFamily="34" charset="0"/>
                <a:ea typeface="Cambria" pitchFamily="34" charset="-122"/>
                <a:cs typeface="Cambria" pitchFamily="34" charset="-120"/>
              </a:rPr>
              <a:t>Manual</a:t>
            </a:r>
            <a:endParaRPr lang="en-US" sz="2000" dirty="0"/>
          </a:p>
        </p:txBody>
      </p:sp>
      <p:sp>
        <p:nvSpPr>
          <p:cNvPr id="10" name="Text 6"/>
          <p:cNvSpPr txBox="1"/>
          <p:nvPr/>
        </p:nvSpPr>
        <p:spPr>
          <a:xfrm>
            <a:off x="822960" y="3310128"/>
            <a:ext cx="2880360" cy="20116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Read the docs, map the concepts, rewrite by hand. Slowest, most control.</a:t>
            </a:r>
            <a:endParaRPr lang="en-US" sz="1500" dirty="0"/>
          </a:p>
        </p:txBody>
      </p:sp>
      <p:sp>
        <p:nvSpPr>
          <p:cNvPr id="11" name="Shape 7"/>
          <p:cNvSpPr/>
          <p:nvPr/>
        </p:nvSpPr>
        <p:spPr>
          <a:xfrm>
            <a:off x="4251960" y="1828800"/>
            <a:ext cx="3429000" cy="3657600"/>
          </a:xfrm>
          <a:prstGeom prst="roundRect">
            <a:avLst>
              <a:gd name="adj" fmla="val 32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4526280" y="2057400"/>
            <a:ext cx="603504" cy="603504"/>
          </a:xfrm>
          <a:prstGeom prst="ellipse">
            <a:avLst/>
          </a:prstGeom>
          <a:solidFill>
            <a:srgbClr val="C1440E"/>
          </a:solidFill>
          <a:ln/>
        </p:spPr>
      </p:sp>
      <p:pic>
        <p:nvPicPr>
          <p:cNvPr id="13" name="Image 2" descr="/home/claude/pptx-build/assets/icons/FaTools-FFFFFF-200.png">    </p:cNvPr>
          <p:cNvPicPr>
            <a:picLocks noChangeAspect="1"/>
          </p:cNvPicPr>
          <p:nvPr/>
        </p:nvPicPr>
        <p:blipFill>
          <a:blip r:embed="rId3"/>
          <a:stretch>
            <a:fillRect/>
          </a:stretch>
        </p:blipFill>
        <p:spPr>
          <a:xfrm>
            <a:off x="4672584" y="2203704"/>
            <a:ext cx="310896" cy="310896"/>
          </a:xfrm>
          <a:prstGeom prst="rect">
            <a:avLst/>
          </a:prstGeom>
        </p:spPr>
      </p:pic>
      <p:sp>
        <p:nvSpPr>
          <p:cNvPr id="14" name="Text 9"/>
          <p:cNvSpPr txBox="1"/>
          <p:nvPr/>
        </p:nvSpPr>
        <p:spPr>
          <a:xfrm>
            <a:off x="4526280" y="2807208"/>
            <a:ext cx="2880360" cy="457200"/>
          </a:xfrm>
          <a:prstGeom prst="rect">
            <a:avLst/>
          </a:prstGeom>
          <a:noFill/>
          <a:ln/>
        </p:spPr>
        <p:txBody>
          <a:bodyPr wrap="square" lIns="0" tIns="0" rIns="0" bIns="0" rtlCol="0" anchor="ctr"/>
          <a:lstStyle/>
          <a:p>
            <a:pPr indent="0" marL="0">
              <a:buNone/>
            </a:pPr>
            <a:r>
              <a:rPr lang="en-US" sz="2000" b="1" dirty="0">
                <a:solidFill>
                  <a:srgbClr val="1F3D2C"/>
                </a:solidFill>
                <a:latin typeface="Cambria" pitchFamily="34" charset="0"/>
                <a:ea typeface="Cambria" pitchFamily="34" charset="-122"/>
                <a:cs typeface="Cambria" pitchFamily="34" charset="-120"/>
              </a:rPr>
              <a:t>Tooling</a:t>
            </a:r>
            <a:endParaRPr lang="en-US" sz="2000" dirty="0"/>
          </a:p>
        </p:txBody>
      </p:sp>
      <p:sp>
        <p:nvSpPr>
          <p:cNvPr id="15" name="Text 10"/>
          <p:cNvSpPr txBox="1"/>
          <p:nvPr/>
        </p:nvSpPr>
        <p:spPr>
          <a:xfrm>
            <a:off x="4526280" y="3310128"/>
            <a:ext cx="2880360" cy="20116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Purpose-built CLIs handle the repetitive parts and tell you what they can’t.</a:t>
            </a:r>
            <a:endParaRPr lang="en-US" sz="1500" dirty="0"/>
          </a:p>
        </p:txBody>
      </p:sp>
      <p:sp>
        <p:nvSpPr>
          <p:cNvPr id="16" name="Shape 11"/>
          <p:cNvSpPr/>
          <p:nvPr/>
        </p:nvSpPr>
        <p:spPr>
          <a:xfrm>
            <a:off x="7955280" y="1828800"/>
            <a:ext cx="3429000" cy="3657600"/>
          </a:xfrm>
          <a:prstGeom prst="roundRect">
            <a:avLst>
              <a:gd name="adj" fmla="val 32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2"/>
          <p:cNvSpPr/>
          <p:nvPr/>
        </p:nvSpPr>
        <p:spPr>
          <a:xfrm>
            <a:off x="8229600" y="2057400"/>
            <a:ext cx="603504" cy="603504"/>
          </a:xfrm>
          <a:prstGeom prst="ellipse">
            <a:avLst/>
          </a:prstGeom>
          <a:solidFill>
            <a:srgbClr val="C1440E"/>
          </a:solidFill>
          <a:ln/>
        </p:spPr>
      </p:sp>
      <p:pic>
        <p:nvPicPr>
          <p:cNvPr id="18" name="Image 3" descr="/home/claude/pptx-build/assets/icons/FaBrain-FFFFFF-200.png">    </p:cNvPr>
          <p:cNvPicPr>
            <a:picLocks noChangeAspect="1"/>
          </p:cNvPicPr>
          <p:nvPr/>
        </p:nvPicPr>
        <p:blipFill>
          <a:blip r:embed="rId4"/>
          <a:stretch>
            <a:fillRect/>
          </a:stretch>
        </p:blipFill>
        <p:spPr>
          <a:xfrm>
            <a:off x="8375904" y="2203704"/>
            <a:ext cx="310896" cy="310896"/>
          </a:xfrm>
          <a:prstGeom prst="rect">
            <a:avLst/>
          </a:prstGeom>
        </p:spPr>
      </p:pic>
      <p:sp>
        <p:nvSpPr>
          <p:cNvPr id="19" name="Text 13"/>
          <p:cNvSpPr txBox="1"/>
          <p:nvPr/>
        </p:nvSpPr>
        <p:spPr>
          <a:xfrm>
            <a:off x="8229600" y="2807208"/>
            <a:ext cx="2880360" cy="457200"/>
          </a:xfrm>
          <a:prstGeom prst="rect">
            <a:avLst/>
          </a:prstGeom>
          <a:noFill/>
          <a:ln/>
        </p:spPr>
        <p:txBody>
          <a:bodyPr wrap="square" lIns="0" tIns="0" rIns="0" bIns="0" rtlCol="0" anchor="ctr"/>
          <a:lstStyle/>
          <a:p>
            <a:pPr indent="0" marL="0">
              <a:buNone/>
            </a:pPr>
            <a:r>
              <a:rPr lang="en-US" sz="2000" b="1" dirty="0">
                <a:solidFill>
                  <a:srgbClr val="1F3D2C"/>
                </a:solidFill>
                <a:latin typeface="Cambria" pitchFamily="34" charset="0"/>
                <a:ea typeface="Cambria" pitchFamily="34" charset="-122"/>
                <a:cs typeface="Cambria" pitchFamily="34" charset="-120"/>
              </a:rPr>
              <a:t>AI</a:t>
            </a:r>
            <a:endParaRPr lang="en-US" sz="2000" dirty="0"/>
          </a:p>
        </p:txBody>
      </p:sp>
      <p:sp>
        <p:nvSpPr>
          <p:cNvPr id="20" name="Text 14"/>
          <p:cNvSpPr txBox="1"/>
          <p:nvPr/>
        </p:nvSpPr>
        <p:spPr>
          <a:xfrm>
            <a:off x="8229600" y="3310128"/>
            <a:ext cx="2880360" cy="20116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Prompt-driven mapping — analyze, convert, validate as three separate steps.</a:t>
            </a:r>
            <a:endParaRPr lang="en-US" sz="1500" dirty="0"/>
          </a:p>
        </p:txBody>
      </p:sp>
      <p:sp>
        <p:nvSpPr>
          <p:cNvPr id="21" name="Text 15"/>
          <p:cNvSpPr txBox="1"/>
          <p:nvPr/>
        </p:nvSpPr>
        <p:spPr>
          <a:xfrm>
            <a:off x="548640" y="5669280"/>
            <a:ext cx="11064240" cy="502920"/>
          </a:xfrm>
          <a:prstGeom prst="rect">
            <a:avLst/>
          </a:prstGeom>
          <a:noFill/>
          <a:ln/>
        </p:spPr>
        <p:txBody>
          <a:bodyPr wrap="square" lIns="0" tIns="0" rIns="0" bIns="0" rtlCol="0" anchor="ctr"/>
          <a:lstStyle/>
          <a:p>
            <a:pPr algn="ctr" indent="0" marL="0">
              <a:buNone/>
            </a:pPr>
            <a:r>
              <a:rPr lang="en-US" sz="1600" i="1" dirty="0">
                <a:solidFill>
                  <a:srgbClr val="6B6B63"/>
                </a:solidFill>
                <a:latin typeface="Calibri" pitchFamily="34" charset="0"/>
                <a:ea typeface="Calibri" pitchFamily="34" charset="-122"/>
                <a:cs typeface="Calibri" pitchFamily="34" charset="-120"/>
              </a:rPr>
              <a:t>A mental model for the next six slides, not a ranking — most teams end up using all three.</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HandPaper-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Approach 1 — Manual</a:t>
            </a:r>
            <a:endParaRPr lang="en-US" sz="3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931920"/>
        </p:xfrm>
        <a:graphic>
          <a:graphicData uri="http://schemas.openxmlformats.org/drawingml/2006/table">
            <a:tbl>
              <a:tblPr/>
              <a:tblGrid>
                <a:gridCol w="5532120"/>
                <a:gridCol w="5532120"/>
              </a:tblGrid>
              <a:tr h="491490">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Azure Pipelines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c>
                  <a:txBody>
                    <a:bodyPr/>
                    <a:lstStyle/>
                    <a:p>
                      <a:pPr indent="0" marL="0">
                        <a:buNone/>
                      </a:pPr>
                      <a:r>
                        <a:rPr lang="en-US" sz="1500" b="1" dirty="0">
                          <a:solidFill>
                            <a:srgbClr val="F5F5F0"/>
                          </a:solidFill>
                          <a:latin typeface="Calibri" pitchFamily="34" charset="0"/>
                          <a:ea typeface="Calibri" pitchFamily="34" charset="-122"/>
                          <a:cs typeface="Calibri" pitchFamily="34" charset="-120"/>
                        </a:rPr>
                        <a:t>GitHub Actions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1F3D2C"/>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Pipeline</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Workflow</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Agent Pool</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Runner</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Service Connection</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OIDC / secrets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Variable Group</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Secrets &amp; variables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Task</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Action</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condition</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if</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FFFFF"/>
                    </a:solidFill>
                  </a:tcPr>
                </a:tc>
              </a:tr>
              <a:tr h="491490">
                <a:tc>
                  <a:txBody>
                    <a:bodyPr/>
                    <a:lstStyle/>
                    <a:p>
                      <a:pPr indent="0" marL="0">
                        <a:buNone/>
                      </a:pPr>
                      <a:r>
                        <a:rPr lang="en-US" sz="1500" b="1" dirty="0">
                          <a:solidFill>
                            <a:srgbClr val="1F3D2C"/>
                          </a:solidFill>
                          <a:latin typeface="Cambria" pitchFamily="34" charset="0"/>
                          <a:ea typeface="Cambria" pitchFamily="34" charset="-122"/>
                          <a:cs typeface="Cambria" pitchFamily="34" charset="-120"/>
                        </a:rPr>
                        <a:t>dependsOn</a:t>
                      </a:r>
                      <a:endParaRPr lang="en-US" sz="1500" dirty="0">
                        <a:latin typeface="Cambria" charset="0"/>
                        <a:ea typeface="Cambria" charset="0"/>
                        <a:cs typeface="Cambria"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c>
                  <a:txBody>
                    <a:bodyPr/>
                    <a:lstStyle/>
                    <a:p>
                      <a:pPr indent="0" marL="0">
                        <a:buNone/>
                      </a:pPr>
                      <a:r>
                        <a:rPr lang="en-US" sz="1500" dirty="0">
                          <a:solidFill>
                            <a:srgbClr val="2B2B2B"/>
                          </a:solidFill>
                          <a:latin typeface="Calibri" pitchFamily="34" charset="0"/>
                          <a:ea typeface="Calibri" pitchFamily="34" charset="-122"/>
                          <a:cs typeface="Calibri" pitchFamily="34" charset="-120"/>
                        </a:rPr>
                        <a:t>needs</a:t>
                      </a:r>
                      <a:endParaRPr lang="en-US" sz="1500" dirty="0">
                        <a:latin typeface="Calibri" charset="0"/>
                        <a:ea typeface="Calibri" charset="0"/>
                        <a:cs typeface="Calibri" charset="0"/>
                      </a:endParaRPr>
                    </a:p>
                  </a:txBody>
                  <a:tcPr marL="127000" marR="127000" marT="76200" marB="76200" anchor="ctr">
                    <a:lnL w="6350" cap="flat" cmpd="sng" algn="ctr">
                      <a:solidFill>
                        <a:srgbClr val="DDD8CC"/>
                      </a:solidFill>
                      <a:prstDash val="solid"/>
                      <a:round/>
                      <a:headEnd type="none" w="med" len="med"/>
                      <a:tailEnd type="none" w="med" len="med"/>
                    </a:lnL>
                    <a:lnR w="6350" cap="flat" cmpd="sng" algn="ctr">
                      <a:solidFill>
                        <a:srgbClr val="DDD8CC"/>
                      </a:solidFill>
                      <a:prstDash val="solid"/>
                      <a:round/>
                      <a:headEnd type="none" w="med" len="med"/>
                      <a:tailEnd type="none" w="med" len="med"/>
                    </a:lnR>
                    <a:lnT w="6350" cap="flat" cmpd="sng" algn="ctr">
                      <a:solidFill>
                        <a:srgbClr val="DDD8CC"/>
                      </a:solidFill>
                      <a:prstDash val="solid"/>
                      <a:round/>
                      <a:headEnd type="none" w="med" len="med"/>
                      <a:tailEnd type="none" w="med" len="med"/>
                    </a:lnT>
                    <a:lnB w="6350" cap="flat" cmpd="sng" algn="ctr">
                      <a:solidFill>
                        <a:srgbClr val="DDD8CC"/>
                      </a:solidFill>
                      <a:prstDash val="solid"/>
                      <a:round/>
                      <a:headEnd type="none" w="med" len="med"/>
                      <a:tailEnd type="none" w="med" len="med"/>
                    </a:lnB>
                    <a:solidFill>
                      <a:srgbClr val="F7F6F2"/>
                    </a:solidFill>
                  </a:tcPr>
                </a:tc>
              </a:tr>
            </a:tbl>
          </a:graphicData>
        </a:graphic>
      </p:graphicFrame>
      <p:sp>
        <p:nvSpPr>
          <p:cNvPr id="7" name="Shape 3"/>
          <p:cNvSpPr/>
          <p:nvPr/>
        </p:nvSpPr>
        <p:spPr>
          <a:xfrm>
            <a:off x="548640" y="5577840"/>
            <a:ext cx="11064240" cy="960120"/>
          </a:xfrm>
          <a:prstGeom prst="roundRect">
            <a:avLst>
              <a:gd name="adj" fmla="val 11429"/>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Text 4"/>
          <p:cNvSpPr txBox="1"/>
          <p:nvPr/>
        </p:nvSpPr>
        <p:spPr>
          <a:xfrm>
            <a:off x="822960" y="5715000"/>
            <a:ext cx="8595360" cy="685800"/>
          </a:xfrm>
          <a:prstGeom prst="rect">
            <a:avLst/>
          </a:prstGeom>
          <a:noFill/>
          <a:ln/>
        </p:spPr>
        <p:txBody>
          <a:bodyPr wrap="square" lIns="0" tIns="0" rIns="0" bIns="0" rtlCol="0" anchor="ctr"/>
          <a:lstStyle/>
          <a:p>
            <a:pPr indent="0" marL="0">
              <a:buNone/>
            </a:pPr>
            <a:r>
              <a:rPr lang="en-US" sz="1350" b="1" dirty="0">
                <a:solidFill>
                  <a:srgbClr val="F5F5F0"/>
                </a:solidFill>
                <a:latin typeface="Calibri" pitchFamily="34" charset="0"/>
                <a:ea typeface="Calibri" pitchFamily="34" charset="-122"/>
                <a:cs typeface="Calibri" pitchFamily="34" charset="-120"/>
              </a:rPr>
              <a:t>Also different: </a:t>
            </a:r>
            <a:pPr indent="0" marL="0">
              <a:buNone/>
            </a:pPr>
            <a:r>
              <a:rPr lang="en-US" sz="1350" dirty="0">
                <a:solidFill>
                  <a:srgbClr val="F5F5F0"/>
                </a:solidFill>
                <a:latin typeface="Calibri" pitchFamily="34" charset="0"/>
                <a:ea typeface="Calibri" pitchFamily="34" charset="-122"/>
                <a:cs typeface="Calibri" pitchFamily="34" charset="-120"/>
              </a:rPr>
              <a:t>no classic-editor equivalent, job structure is always explicit, script steps consolidate to `run` + `shell`, and Actions fails fast by default where Pipelines doesn’t.</a:t>
            </a:r>
            <a:endParaRPr lang="en-US" sz="1350" dirty="0"/>
          </a:p>
        </p:txBody>
      </p:sp>
      <p:sp>
        <p:nvSpPr>
          <p:cNvPr id="9" name="Shape 5"/>
          <p:cNvSpPr/>
          <p:nvPr/>
        </p:nvSpPr>
        <p:spPr>
          <a:xfrm>
            <a:off x="10122408" y="5614416"/>
            <a:ext cx="832104" cy="832104"/>
          </a:xfrm>
          <a:prstGeom prst="roundRect">
            <a:avLst>
              <a:gd name="adj" fmla="val 6593"/>
            </a:avLst>
          </a:prstGeom>
          <a:solidFill>
            <a:srgbClr val="FFFFFF"/>
          </a:solidFill>
          <a:ln w="15875">
            <a:solidFill>
              <a:srgbClr val="1F3D2C"/>
            </a:solidFill>
            <a:prstDash val="solid"/>
          </a:ln>
        </p:spPr>
      </p:sp>
      <p:pic>
        <p:nvPicPr>
          <p:cNvPr id="10" name="Image 1" descr="/home/claude/pptx-build/assets/qr-sec3-manual-docs.png">    </p:cNvPr>
          <p:cNvPicPr>
            <a:picLocks noChangeAspect="1"/>
          </p:cNvPicPr>
          <p:nvPr/>
        </p:nvPicPr>
        <p:blipFill>
          <a:blip r:embed="rId2"/>
          <a:stretch>
            <a:fillRect/>
          </a:stretch>
        </p:blipFill>
        <p:spPr>
          <a:xfrm>
            <a:off x="10195560" y="5687568"/>
            <a:ext cx="685800" cy="6858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Databas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Approach 2 — gh-ado2gh (For Repos)</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28800"/>
            <a:ext cx="480060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inventory-report — surveys everything before you touch it</a:t>
            </a:r>
            <a:endParaRPr lang="en-US" sz="1450" dirty="0"/>
          </a:p>
          <a:p>
            <a:pPr marL="342900" indent="-342900">
              <a:lnSpc>
                <a:spcPct val="110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generate-script — produces the real migration script</a:t>
            </a:r>
            <a:endParaRPr lang="en-US" sz="1450" dirty="0"/>
          </a:p>
          <a:p>
            <a:pPr marL="342900" indent="-342900">
              <a:lnSpc>
                <a:spcPct val="110000"/>
              </a:lnSpc>
              <a:buSzPct val="100000"/>
              <a:buChar char="•"/>
            </a:pPr>
            <a:r>
              <a:rPr lang="en-US" sz="1450" dirty="0">
                <a:solidFill>
                  <a:srgbClr val="2B2B2B"/>
                </a:solidFill>
                <a:latin typeface="Calibri" pitchFamily="34" charset="0"/>
                <a:ea typeface="Calibri" pitchFamily="34" charset="-122"/>
                <a:cs typeface="Calibri" pitchFamily="34" charset="-120"/>
              </a:rPr>
              <a:t>The --all flag also rewires pipelines, creates teams, and connects Boards in one pass</a:t>
            </a:r>
            <a:endParaRPr lang="en-US" sz="1450" dirty="0"/>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6537960" y="1828800"/>
            <a:ext cx="4800600" cy="45720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What It Doesn’t Do</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50" dirty="0">
                <a:solidFill>
                  <a:srgbClr val="F5F5F0"/>
                </a:solidFill>
                <a:latin typeface="Calibri" pitchFamily="34" charset="0"/>
                <a:ea typeface="Calibri" pitchFamily="34" charset="-122"/>
                <a:cs typeface="Calibri" pitchFamily="34" charset="-120"/>
              </a:rPr>
              <a:t>Doesn’t touch pipeline logic — that’s gh-actions-importer’s job, next</a:t>
            </a:r>
            <a:endParaRPr lang="en-US" sz="1450" dirty="0"/>
          </a:p>
          <a:p>
            <a:pPr marL="342900" indent="-342900">
              <a:lnSpc>
                <a:spcPct val="110000"/>
              </a:lnSpc>
              <a:spcAft>
                <a:spcPts val="1000"/>
              </a:spcAft>
              <a:buSzPct val="100000"/>
              <a:buChar char="•"/>
            </a:pPr>
            <a:r>
              <a:rPr lang="en-US" sz="1450" dirty="0">
                <a:solidFill>
                  <a:srgbClr val="F5F5F0"/>
                </a:solidFill>
                <a:latin typeface="Calibri" pitchFamily="34" charset="0"/>
                <a:ea typeface="Calibri" pitchFamily="34" charset="-122"/>
                <a:cs typeface="Calibri" pitchFamily="34" charset="-120"/>
              </a:rPr>
              <a:t>Doesn’t bring Git LFS objects along on its own</a:t>
            </a:r>
            <a:endParaRPr lang="en-US" sz="1450" dirty="0"/>
          </a:p>
          <a:p>
            <a:pPr marL="342900" indent="-342900">
              <a:lnSpc>
                <a:spcPct val="110000"/>
              </a:lnSpc>
              <a:buSzPct val="100000"/>
              <a:buChar char="•"/>
            </a:pPr>
            <a:r>
              <a:rPr lang="en-US" sz="1450" dirty="0">
                <a:solidFill>
                  <a:srgbClr val="F5F5F0"/>
                </a:solidFill>
                <a:latin typeface="Calibri" pitchFamily="34" charset="0"/>
                <a:ea typeface="Calibri" pitchFamily="34" charset="-122"/>
                <a:cs typeface="Calibri" pitchFamily="34" charset="-120"/>
              </a:rPr>
              <a:t>Doesn’t decide your identity mapping for you</a:t>
            </a:r>
            <a:endParaRPr lang="en-US" sz="1450" dirty="0"/>
          </a:p>
        </p:txBody>
      </p:sp>
      <p:sp>
        <p:nvSpPr>
          <p:cNvPr id="12" name="Shape 9"/>
          <p:cNvSpPr/>
          <p:nvPr/>
        </p:nvSpPr>
        <p:spPr>
          <a:xfrm>
            <a:off x="548640" y="5257800"/>
            <a:ext cx="11064240" cy="1234440"/>
          </a:xfrm>
          <a:prstGeom prst="roundRect">
            <a:avLst>
              <a:gd name="adj" fmla="val 8889"/>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822960" y="5394960"/>
            <a:ext cx="8778240" cy="960120"/>
          </a:xfrm>
          <a:prstGeom prst="rect">
            <a:avLst/>
          </a:prstGeom>
          <a:noFill/>
          <a:ln/>
        </p:spPr>
        <p:txBody>
          <a:bodyPr wrap="square" lIns="0" tIns="0" rIns="0" bIns="0" rtlCol="0" anchor="ctr"/>
          <a:lstStyle/>
          <a:p>
            <a:pPr indent="0" marL="0">
              <a:lnSpc>
                <a:spcPct val="110000"/>
              </a:lnSpc>
              <a:buNone/>
            </a:pPr>
            <a:r>
              <a:rPr lang="en-US" sz="1450" b="1" dirty="0">
                <a:solidFill>
                  <a:srgbClr val="F5F5F0"/>
                </a:solidFill>
                <a:latin typeface="Calibri" pitchFamily="34" charset="0"/>
                <a:ea typeface="Calibri" pitchFamily="34" charset="-122"/>
                <a:cs typeface="Calibri" pitchFamily="34" charset="-120"/>
              </a:rPr>
              <a:t>Why choose it: </a:t>
            </a:r>
            <a:pPr indent="0" marL="0">
              <a:lnSpc>
                <a:spcPct val="110000"/>
              </a:lnSpc>
              <a:buNone/>
            </a:pPr>
            <a:r>
              <a:rPr lang="en-US" sz="1450" dirty="0">
                <a:solidFill>
                  <a:srgbClr val="F5F5F0"/>
                </a:solidFill>
                <a:latin typeface="Calibri" pitchFamily="34" charset="0"/>
                <a:ea typeface="Calibri" pitchFamily="34" charset="-122"/>
                <a:cs typeface="Calibri" pitchFamily="34" charset="-120"/>
              </a:rPr>
              <a:t>it’s the default answer for repo migration at any real scale. Free, official, and maintained by GitHub — doing this by hand past a couple of repos is wasting time you don’t need to spend.</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sp>
      <p:pic>
        <p:nvPicPr>
          <p:cNvPr id="15" name="Image 1" descr="/home/claude/pptx-build/assets/qr-sec3-ado2gh.png">    </p:cNvPr>
          <p:cNvPicPr>
            <a:picLocks noChangeAspect="1"/>
          </p:cNvPicPr>
          <p:nvPr/>
        </p:nvPicPr>
        <p:blipFill>
          <a:blip r:embed="rId2"/>
          <a:stretch>
            <a:fillRect/>
          </a:stretch>
        </p:blipFill>
        <p:spPr>
          <a:xfrm>
            <a:off x="10424160" y="5413248"/>
            <a:ext cx="777240" cy="77724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stOl-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gh-ado2gh — Caveats &amp; the One Sequencing Rule</a:t>
            </a:r>
            <a:endParaRPr lang="en-US" sz="3200" dirty="0"/>
          </a:p>
        </p:txBody>
      </p:sp>
      <p:sp>
        <p:nvSpPr>
          <p:cNvPr id="6" name="Shape 3"/>
          <p:cNvSpPr/>
          <p:nvPr/>
        </p:nvSpPr>
        <p:spPr>
          <a:xfrm>
            <a:off x="548640" y="1691640"/>
            <a:ext cx="11064240" cy="2651760"/>
          </a:xfrm>
          <a:prstGeom prst="roundRect">
            <a:avLst>
              <a:gd name="adj" fmla="val 4138"/>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920240"/>
            <a:ext cx="10332720" cy="2194560"/>
          </a:xfrm>
          <a:prstGeom prst="rect">
            <a:avLst/>
          </a:prstGeom>
          <a:noFill/>
          <a:ln/>
        </p:spPr>
        <p:txBody>
          <a:bodyPr wrap="square" lIns="0" tIns="0" rIns="0" bIns="0" rtlCol="0" anchor="ctr"/>
          <a:lstStyle/>
          <a:p>
            <a:pPr indent="0" marL="0">
              <a:lnSpc>
                <a:spcPct val="130000"/>
              </a:lnSpc>
              <a:buNone/>
            </a:pPr>
            <a:r>
              <a:rPr lang="en-US" sz="1900" b="1" dirty="0">
                <a:solidFill>
                  <a:srgbClr val="2B2B2B"/>
                </a:solidFill>
                <a:latin typeface="Calibri" pitchFamily="34" charset="0"/>
                <a:ea typeface="Calibri" pitchFamily="34" charset="-122"/>
                <a:cs typeface="Calibri" pitchFamily="34" charset="-120"/>
              </a:rPr>
              <a:t>Install the Pipelines GitHub App before migrating any repos. </a:t>
            </a:r>
            <a:pPr indent="0" marL="0">
              <a:lnSpc>
                <a:spcPct val="130000"/>
              </a:lnSpc>
              <a:buNone/>
            </a:pPr>
            <a:r>
              <a:rPr lang="en-US" sz="1900" dirty="0">
                <a:solidFill>
                  <a:srgbClr val="2B2B2B"/>
                </a:solidFill>
                <a:latin typeface="Calibri" pitchFamily="34" charset="0"/>
                <a:ea typeface="Calibri" pitchFamily="34" charset="-122"/>
                <a:cs typeface="Calibri" pitchFamily="34" charset="-120"/>
              </a:rPr>
              <a:t>Skip this order and the migration script can’t auto-reconfigure pipelines to point at GitHub — it becomes a manual, repo-by-repo fix while everyone in Slack asks why the build is red.</a:t>
            </a:r>
            <a:endParaRPr lang="en-US" sz="1900" dirty="0"/>
          </a:p>
        </p:txBody>
      </p:sp>
      <p:sp>
        <p:nvSpPr>
          <p:cNvPr id="8" name="Shape 5"/>
          <p:cNvSpPr/>
          <p:nvPr/>
        </p:nvSpPr>
        <p:spPr>
          <a:xfrm>
            <a:off x="548640" y="4572000"/>
            <a:ext cx="11064240" cy="1417320"/>
          </a:xfrm>
          <a:prstGeom prst="roundRect">
            <a:avLst>
              <a:gd name="adj" fmla="val 774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736592"/>
            <a:ext cx="10515600" cy="1097280"/>
          </a:xfrm>
          <a:prstGeom prst="rect">
            <a:avLst/>
          </a:prstGeom>
          <a:noFill/>
          <a:ln/>
        </p:spPr>
        <p:txBody>
          <a:bodyPr wrap="square" lIns="0" tIns="0" rIns="0" bIns="0" rtlCol="0" anchor="ctr"/>
          <a:lstStyle/>
          <a:p>
            <a:pPr indent="0" marL="0">
              <a:lnSpc>
                <a:spcPct val="115000"/>
              </a:lnSpc>
              <a:buNone/>
            </a:pPr>
            <a:r>
              <a:rPr lang="en-US" sz="1500" b="1" dirty="0">
                <a:solidFill>
                  <a:srgbClr val="F5F5F0"/>
                </a:solidFill>
                <a:latin typeface="Calibri" pitchFamily="34" charset="0"/>
                <a:ea typeface="Calibri" pitchFamily="34" charset="-122"/>
                <a:cs typeface="Calibri" pitchFamily="34" charset="-120"/>
              </a:rPr>
              <a:t>The same rule applies to identity mapping: </a:t>
            </a:r>
            <a:pPr indent="0" marL="0">
              <a:lnSpc>
                <a:spcPct val="115000"/>
              </a:lnSpc>
              <a:buNone/>
            </a:pPr>
            <a:r>
              <a:rPr lang="en-US" sz="1500" dirty="0">
                <a:solidFill>
                  <a:srgbClr val="F5F5F0"/>
                </a:solidFill>
                <a:latin typeface="Calibri" pitchFamily="34" charset="0"/>
                <a:ea typeface="Calibri" pitchFamily="34" charset="-122"/>
                <a:cs typeface="Calibri" pitchFamily="34" charset="-120"/>
              </a:rPr>
              <a:t>plan it before the first migration runs, not after. Mannequin accounts get created at migration time — section 6 comes back to exactly what that costs you if you wait.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lipboardChec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Approach 2 — gh-actions-importer (For Pipelines)</a:t>
            </a:r>
            <a:endParaRPr lang="en-US" sz="3200" dirty="0"/>
          </a:p>
        </p:txBody>
      </p:sp>
      <p:sp>
        <p:nvSpPr>
          <p:cNvPr id="6" name="Shape 3"/>
          <p:cNvSpPr/>
          <p:nvPr/>
        </p:nvSpPr>
        <p:spPr>
          <a:xfrm>
            <a:off x="548640" y="1645920"/>
            <a:ext cx="5349240" cy="3429000"/>
          </a:xfrm>
          <a:prstGeom prst="roundRect">
            <a:avLst>
              <a:gd name="adj" fmla="val 32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28800"/>
            <a:ext cx="4800600" cy="457200"/>
          </a:xfrm>
          <a:prstGeom prst="rect">
            <a:avLst/>
          </a:prstGeom>
          <a:noFill/>
          <a:ln/>
        </p:spPr>
        <p:txBody>
          <a:bodyPr wrap="square" lIns="0" tIns="0" rIns="0" bIns="0" rtlCol="0" anchor="ctr"/>
          <a:lstStyle/>
          <a:p>
            <a:pPr indent="0" marL="0">
              <a:buNone/>
            </a:pPr>
            <a:r>
              <a:rPr lang="en-US" sz="1900" b="1" dirty="0">
                <a:solidFill>
                  <a:srgbClr val="1F3D2C"/>
                </a:solidFill>
                <a:latin typeface="Cambria" pitchFamily="34" charset="0"/>
                <a:ea typeface="Cambria" pitchFamily="34" charset="-122"/>
                <a:cs typeface="Cambria" pitchFamily="34" charset="-120"/>
              </a:rPr>
              <a:t>What It Does</a:t>
            </a:r>
            <a:endParaRPr lang="en-US" sz="1900" dirty="0"/>
          </a:p>
        </p:txBody>
      </p:sp>
      <p:sp>
        <p:nvSpPr>
          <p:cNvPr id="8" name="Text 5"/>
          <p:cNvSpPr txBox="1"/>
          <p:nvPr/>
        </p:nvSpPr>
        <p:spPr>
          <a:xfrm>
            <a:off x="822960" y="2331720"/>
            <a:ext cx="4800600" cy="265176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audit classifies every pipeline: automatable, partial, or manual</a:t>
            </a:r>
            <a:endParaRPr lang="en-US" sz="1450" dirty="0"/>
          </a:p>
          <a:p>
            <a:pPr marL="342900" indent="-342900">
              <a:lnSpc>
                <a:spcPct val="110000"/>
              </a:lnSpc>
              <a:spcAft>
                <a:spcPts val="1000"/>
              </a:spcAft>
              <a:buSzPct val="100000"/>
              <a:buChar char="•"/>
            </a:pPr>
            <a:r>
              <a:rPr lang="en-US" sz="1450" dirty="0">
                <a:solidFill>
                  <a:srgbClr val="2B2B2B"/>
                </a:solidFill>
                <a:latin typeface="Calibri" pitchFamily="34" charset="0"/>
                <a:ea typeface="Calibri" pitchFamily="34" charset="-122"/>
                <a:cs typeface="Calibri" pitchFamily="34" charset="-120"/>
              </a:rPr>
              <a:t>dry-run shows the converted workflow before anything is committed</a:t>
            </a:r>
            <a:endParaRPr lang="en-US" sz="1450" dirty="0"/>
          </a:p>
          <a:p>
            <a:pPr marL="342900" indent="-342900">
              <a:lnSpc>
                <a:spcPct val="110000"/>
              </a:lnSpc>
              <a:buSzPct val="100000"/>
              <a:buChar char="•"/>
            </a:pPr>
            <a:r>
              <a:rPr lang="en-US" sz="1450" dirty="0">
                <a:solidFill>
                  <a:srgbClr val="2B2B2B"/>
                </a:solidFill>
                <a:latin typeface="Calibri" pitchFamily="34" charset="0"/>
                <a:ea typeface="Calibri" pitchFamily="34" charset="-122"/>
                <a:cs typeface="Calibri" pitchFamily="34" charset="-120"/>
              </a:rPr>
              <a:t>Converts the automatable parts for you, not just diagnoses them</a:t>
            </a:r>
            <a:endParaRPr lang="en-US" sz="1450" dirty="0"/>
          </a:p>
        </p:txBody>
      </p:sp>
      <p:sp>
        <p:nvSpPr>
          <p:cNvPr id="9" name="Shape 6"/>
          <p:cNvSpPr/>
          <p:nvPr/>
        </p:nvSpPr>
        <p:spPr>
          <a:xfrm>
            <a:off x="6263640" y="1645920"/>
            <a:ext cx="5349240" cy="3429000"/>
          </a:xfrm>
          <a:prstGeom prst="roundRect">
            <a:avLst>
              <a:gd name="adj" fmla="val 32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6537960" y="1828800"/>
            <a:ext cx="4800600" cy="457200"/>
          </a:xfrm>
          <a:prstGeom prst="rect">
            <a:avLst/>
          </a:prstGeom>
          <a:noFill/>
          <a:ln/>
        </p:spPr>
        <p:txBody>
          <a:bodyPr wrap="square" lIns="0" tIns="0" rIns="0" bIns="0" rtlCol="0" anchor="ctr"/>
          <a:lstStyle/>
          <a:p>
            <a:pPr indent="0" marL="0">
              <a:buNone/>
            </a:pPr>
            <a:r>
              <a:rPr lang="en-US" sz="1900" b="1" dirty="0">
                <a:solidFill>
                  <a:srgbClr val="F5F5F0"/>
                </a:solidFill>
                <a:latin typeface="Cambria" pitchFamily="34" charset="0"/>
                <a:ea typeface="Cambria" pitchFamily="34" charset="-122"/>
                <a:cs typeface="Cambria" pitchFamily="34" charset="-120"/>
              </a:rPr>
              <a:t>What It Doesn’t Do</a:t>
            </a:r>
            <a:endParaRPr lang="en-US" sz="1900" dirty="0"/>
          </a:p>
        </p:txBody>
      </p:sp>
      <p:sp>
        <p:nvSpPr>
          <p:cNvPr id="11" name="Text 8"/>
          <p:cNvSpPr txBox="1"/>
          <p:nvPr/>
        </p:nvSpPr>
        <p:spPr>
          <a:xfrm>
            <a:off x="6537960" y="2331720"/>
            <a:ext cx="4800600" cy="2651760"/>
          </a:xfrm>
          <a:prstGeom prst="rect">
            <a:avLst/>
          </a:prstGeom>
          <a:noFill/>
          <a:ln/>
        </p:spPr>
        <p:txBody>
          <a:bodyPr wrap="square" lIns="0" tIns="0" rIns="0" bIns="0" rtlCol="0" anchor="ctr"/>
          <a:lstStyle/>
          <a:p>
            <a:pPr marL="342900" indent="-342900">
              <a:lnSpc>
                <a:spcPct val="110000"/>
              </a:lnSpc>
              <a:spcAft>
                <a:spcPts val="1000"/>
              </a:spcAft>
              <a:buSzPct val="100000"/>
              <a:buChar char="•"/>
            </a:pPr>
            <a:r>
              <a:rPr lang="en-US" sz="1450" dirty="0">
                <a:solidFill>
                  <a:srgbClr val="F5F5F0"/>
                </a:solidFill>
                <a:latin typeface="Calibri" pitchFamily="34" charset="0"/>
                <a:ea typeface="Calibri" pitchFamily="34" charset="-122"/>
                <a:cs typeface="Calibri" pitchFamily="34" charset="-120"/>
              </a:rPr>
              <a:t>Doesn’t migrate repos — that’s gh-ado2gh’s job, previous slides</a:t>
            </a:r>
            <a:endParaRPr lang="en-US" sz="1450" dirty="0"/>
          </a:p>
          <a:p>
            <a:pPr marL="342900" indent="-342900">
              <a:lnSpc>
                <a:spcPct val="110000"/>
              </a:lnSpc>
              <a:spcAft>
                <a:spcPts val="1000"/>
              </a:spcAft>
              <a:buSzPct val="100000"/>
              <a:buChar char="•"/>
            </a:pPr>
            <a:r>
              <a:rPr lang="en-US" sz="1450" dirty="0">
                <a:solidFill>
                  <a:srgbClr val="F5F5F0"/>
                </a:solidFill>
                <a:latin typeface="Calibri" pitchFamily="34" charset="0"/>
                <a:ea typeface="Calibri" pitchFamily="34" charset="-122"/>
                <a:cs typeface="Calibri" pitchFamily="34" charset="-120"/>
              </a:rPr>
              <a:t>The “partial” bucket still needs a human to finish the job</a:t>
            </a:r>
            <a:endParaRPr lang="en-US" sz="1450" dirty="0"/>
          </a:p>
          <a:p>
            <a:pPr marL="342900" indent="-342900">
              <a:lnSpc>
                <a:spcPct val="110000"/>
              </a:lnSpc>
              <a:buSzPct val="100000"/>
              <a:buChar char="•"/>
            </a:pPr>
            <a:r>
              <a:rPr lang="en-US" sz="1450" dirty="0">
                <a:solidFill>
                  <a:srgbClr val="F5F5F0"/>
                </a:solidFill>
                <a:latin typeface="Calibri" pitchFamily="34" charset="0"/>
                <a:ea typeface="Calibri" pitchFamily="34" charset="-122"/>
                <a:cs typeface="Calibri" pitchFamily="34" charset="-120"/>
              </a:rPr>
              <a:t>Doesn’t fix a pipeline that was already broken — it translates what’s there, warts included</a:t>
            </a:r>
            <a:endParaRPr lang="en-US" sz="1450" dirty="0"/>
          </a:p>
        </p:txBody>
      </p:sp>
      <p:sp>
        <p:nvSpPr>
          <p:cNvPr id="12" name="Shape 9"/>
          <p:cNvSpPr/>
          <p:nvPr/>
        </p:nvSpPr>
        <p:spPr>
          <a:xfrm>
            <a:off x="548640" y="5257800"/>
            <a:ext cx="11064240" cy="1234440"/>
          </a:xfrm>
          <a:prstGeom prst="roundRect">
            <a:avLst>
              <a:gd name="adj" fmla="val 8889"/>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822960" y="5394960"/>
            <a:ext cx="8778240" cy="960120"/>
          </a:xfrm>
          <a:prstGeom prst="rect">
            <a:avLst/>
          </a:prstGeom>
          <a:noFill/>
          <a:ln/>
        </p:spPr>
        <p:txBody>
          <a:bodyPr wrap="square" lIns="0" tIns="0" rIns="0" bIns="0" rtlCol="0" anchor="ctr"/>
          <a:lstStyle/>
          <a:p>
            <a:pPr indent="0" marL="0">
              <a:lnSpc>
                <a:spcPct val="110000"/>
              </a:lnSpc>
              <a:buNone/>
            </a:pPr>
            <a:r>
              <a:rPr lang="en-US" sz="1450" b="1" i="1" dirty="0">
                <a:solidFill>
                  <a:srgbClr val="F5F5F0"/>
                </a:solidFill>
                <a:latin typeface="Calibri" pitchFamily="34" charset="0"/>
                <a:ea typeface="Calibri" pitchFamily="34" charset="-122"/>
                <a:cs typeface="Calibri" pitchFamily="34" charset="-120"/>
              </a:rPr>
              <a:t>Why choose it: </a:t>
            </a:r>
            <a:pPr indent="0" marL="0">
              <a:lnSpc>
                <a:spcPct val="110000"/>
              </a:lnSpc>
              <a:buNone/>
            </a:pPr>
            <a:r>
              <a:rPr lang="en-US" sz="1450" i="1" dirty="0">
                <a:solidFill>
                  <a:srgbClr val="F5F5F0"/>
                </a:solidFill>
                <a:latin typeface="Calibri" pitchFamily="34" charset="0"/>
                <a:ea typeface="Calibri" pitchFamily="34" charset="-122"/>
                <a:cs typeface="Calibri" pitchFamily="34" charset="-120"/>
              </a:rPr>
              <a:t>the audit breakdown is the single best slide-quantified evidence in the whole PoC — it turns “this will take a while” into an actual number you can put in a plan.</a:t>
            </a:r>
            <a:endParaRPr lang="en-US" sz="1450" dirty="0"/>
          </a:p>
        </p:txBody>
      </p:sp>
      <p:sp>
        <p:nvSpPr>
          <p:cNvPr id="14" name="Shape 11"/>
          <p:cNvSpPr/>
          <p:nvPr/>
        </p:nvSpPr>
        <p:spPr>
          <a:xfrm>
            <a:off x="10351008" y="5340096"/>
            <a:ext cx="923544" cy="923544"/>
          </a:xfrm>
          <a:prstGeom prst="roundRect">
            <a:avLst>
              <a:gd name="adj" fmla="val 5941"/>
            </a:avLst>
          </a:prstGeom>
          <a:solidFill>
            <a:srgbClr val="FFFFFF"/>
          </a:solidFill>
          <a:ln w="15875">
            <a:solidFill>
              <a:srgbClr val="1F3D2C"/>
            </a:solidFill>
            <a:prstDash val="solid"/>
          </a:ln>
        </p:spPr>
      </p:sp>
      <p:pic>
        <p:nvPicPr>
          <p:cNvPr id="15" name="Image 1" descr="/home/claude/pptx-build/assets/qr-sec3-actions-importer.png">    </p:cNvPr>
          <p:cNvPicPr>
            <a:picLocks noChangeAspect="1"/>
          </p:cNvPicPr>
          <p:nvPr/>
        </p:nvPicPr>
        <p:blipFill>
          <a:blip r:embed="rId2"/>
          <a:stretch>
            <a:fillRect/>
          </a:stretch>
        </p:blipFill>
        <p:spPr>
          <a:xfrm>
            <a:off x="10424160" y="5413248"/>
            <a:ext cx="777240" cy="7772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Flas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ELM — The Preview Service We Couldn’t PoC</a:t>
            </a:r>
            <a:endParaRPr lang="en-US" sz="3200" dirty="0"/>
          </a:p>
        </p:txBody>
      </p:sp>
      <p:sp>
        <p:nvSpPr>
          <p:cNvPr id="6" name="Shape 3"/>
          <p:cNvSpPr/>
          <p:nvPr/>
        </p:nvSpPr>
        <p:spPr>
          <a:xfrm>
            <a:off x="548640" y="1600200"/>
            <a:ext cx="11064240" cy="1371600"/>
          </a:xfrm>
          <a:prstGeom prst="roundRect">
            <a:avLst>
              <a:gd name="adj" fmla="val 8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737360"/>
            <a:ext cx="10515600" cy="1097280"/>
          </a:xfrm>
          <a:prstGeom prst="rect">
            <a:avLst/>
          </a:prstGeom>
          <a:noFill/>
          <a:ln/>
        </p:spPr>
        <p:txBody>
          <a:bodyPr wrap="square" lIns="0" tIns="0" rIns="0" bIns="0" rtlCol="0" anchor="ctr"/>
          <a:lstStyle/>
          <a:p>
            <a:pPr indent="0" marL="0">
              <a:lnSpc>
                <a:spcPct val="115000"/>
              </a:lnSpc>
              <a:buNone/>
            </a:pPr>
            <a:r>
              <a:rPr lang="en-US" sz="1700" b="1" dirty="0">
                <a:solidFill>
                  <a:srgbClr val="2B2B2B"/>
                </a:solidFill>
                <a:latin typeface="Calibri" pitchFamily="34" charset="0"/>
                <a:ea typeface="Calibri" pitchFamily="34" charset="-122"/>
                <a:cs typeface="Calibri" pitchFamily="34" charset="-120"/>
              </a:rPr>
              <a:t>Continuous sync plus a scheduled cutover, </a:t>
            </a:r>
            <a:pPr indent="0" marL="0">
              <a:lnSpc>
                <a:spcPct val="115000"/>
              </a:lnSpc>
              <a:buNone/>
            </a:pPr>
            <a:r>
              <a:rPr lang="en-US" sz="1700" dirty="0">
                <a:solidFill>
                  <a:srgbClr val="2B2B2B"/>
                </a:solidFill>
                <a:latin typeface="Calibri" pitchFamily="34" charset="0"/>
                <a:ea typeface="Calibri" pitchFamily="34" charset="-122"/>
                <a:cs typeface="Calibri" pitchFamily="34" charset="-120"/>
              </a:rPr>
              <a:t>with a read-only window at cutover measured in minutes, not hours — Microsoft cites sub-30-minute for most organizations.</a:t>
            </a:r>
            <a:endParaRPr lang="en-US" sz="1700" dirty="0"/>
          </a:p>
        </p:txBody>
      </p:sp>
      <p:sp>
        <p:nvSpPr>
          <p:cNvPr id="8" name="Shape 5"/>
          <p:cNvSpPr/>
          <p:nvPr/>
        </p:nvSpPr>
        <p:spPr>
          <a:xfrm>
            <a:off x="548640" y="3154680"/>
            <a:ext cx="5349240" cy="2286000"/>
          </a:xfrm>
          <a:prstGeom prst="roundRect">
            <a:avLst>
              <a:gd name="adj" fmla="val 48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3310128"/>
            <a:ext cx="4800600" cy="411480"/>
          </a:xfrm>
          <a:prstGeom prst="rect">
            <a:avLst/>
          </a:prstGeom>
          <a:noFill/>
          <a:ln/>
        </p:spPr>
        <p:txBody>
          <a:bodyPr wrap="square" lIns="0" tIns="0" rIns="0" bIns="0" rtlCol="0" anchor="ctr"/>
          <a:lstStyle/>
          <a:p>
            <a:pPr indent="0" marL="0">
              <a:buNone/>
            </a:pPr>
            <a:r>
              <a:rPr lang="en-US" sz="1700" b="1" dirty="0">
                <a:solidFill>
                  <a:srgbClr val="1F3D2C"/>
                </a:solidFill>
                <a:latin typeface="Cambria" pitchFamily="34" charset="0"/>
                <a:ea typeface="Cambria" pitchFamily="34" charset="-122"/>
                <a:cs typeface="Cambria" pitchFamily="34" charset="-120"/>
              </a:rPr>
              <a:t>What It Automates</a:t>
            </a:r>
            <a:endParaRPr lang="en-US" sz="1700" dirty="0"/>
          </a:p>
        </p:txBody>
      </p:sp>
      <p:sp>
        <p:nvSpPr>
          <p:cNvPr id="10" name="Text 7"/>
          <p:cNvSpPr txBox="1"/>
          <p:nvPr/>
        </p:nvSpPr>
        <p:spPr>
          <a:xfrm>
            <a:off x="822960" y="3794760"/>
            <a:ext cx="4800600" cy="1600200"/>
          </a:xfrm>
          <a:prstGeom prst="rect">
            <a:avLst/>
          </a:prstGeom>
          <a:noFill/>
          <a:ln/>
        </p:spPr>
        <p:txBody>
          <a:bodyPr wrap="square" lIns="0" tIns="0" rIns="0" bIns="0" rtlCol="0" anchor="ctr"/>
          <a:lstStyle/>
          <a:p>
            <a:pPr marL="342900" indent="-3429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Pre-migration checks</a:t>
            </a:r>
            <a:endParaRPr lang="en-US" sz="1350" dirty="0"/>
          </a:p>
          <a:p>
            <a:pPr marL="342900" indent="-3429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Org &amp; repo creation</a:t>
            </a:r>
            <a:endParaRPr lang="en-US" sz="1350" dirty="0"/>
          </a:p>
          <a:p>
            <a:pPr marL="342900" indent="-342900">
              <a:lnSpc>
                <a:spcPct val="105000"/>
              </a:lnSpc>
              <a:spcAft>
                <a:spcPts val="600"/>
              </a:spcAft>
              <a:buSzPct val="100000"/>
              <a:buChar char="•"/>
            </a:pPr>
            <a:r>
              <a:rPr lang="en-US" sz="1350" dirty="0">
                <a:solidFill>
                  <a:srgbClr val="2B2B2B"/>
                </a:solidFill>
                <a:latin typeface="Calibri" pitchFamily="34" charset="0"/>
                <a:ea typeface="Calibri" pitchFamily="34" charset="-122"/>
                <a:cs typeface="Calibri" pitchFamily="34" charset="-120"/>
              </a:rPr>
              <a:t>PR &amp; branch-policy sync</a:t>
            </a:r>
            <a:endParaRPr lang="en-US" sz="1350" dirty="0"/>
          </a:p>
          <a:p>
            <a:pPr marL="342900" indent="-342900">
              <a:lnSpc>
                <a:spcPct val="105000"/>
              </a:lnSpc>
              <a:buSzPct val="100000"/>
              <a:buChar char="•"/>
            </a:pPr>
            <a:r>
              <a:rPr lang="en-US" sz="1350" dirty="0">
                <a:solidFill>
                  <a:srgbClr val="2B2B2B"/>
                </a:solidFill>
                <a:latin typeface="Calibri" pitchFamily="34" charset="0"/>
                <a:ea typeface="Calibri" pitchFamily="34" charset="-122"/>
                <a:cs typeface="Calibri" pitchFamily="34" charset="-120"/>
              </a:rPr>
              <a:t>Boards connection &amp; pipeline rewiring</a:t>
            </a:r>
            <a:endParaRPr lang="en-US" sz="1350" dirty="0"/>
          </a:p>
        </p:txBody>
      </p:sp>
      <p:sp>
        <p:nvSpPr>
          <p:cNvPr id="11" name="Shape 8"/>
          <p:cNvSpPr/>
          <p:nvPr/>
        </p:nvSpPr>
        <p:spPr>
          <a:xfrm>
            <a:off x="6263640" y="3154680"/>
            <a:ext cx="5349240" cy="2286000"/>
          </a:xfrm>
          <a:prstGeom prst="roundRect">
            <a:avLst>
              <a:gd name="adj" fmla="val 48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537960" y="3310128"/>
            <a:ext cx="4800600" cy="411480"/>
          </a:xfrm>
          <a:prstGeom prst="rect">
            <a:avLst/>
          </a:prstGeom>
          <a:noFill/>
          <a:ln/>
        </p:spPr>
        <p:txBody>
          <a:bodyPr wrap="square" lIns="0" tIns="0" rIns="0" bIns="0" rtlCol="0" anchor="ctr"/>
          <a:lstStyle/>
          <a:p>
            <a:pPr indent="0" marL="0">
              <a:buNone/>
            </a:pPr>
            <a:r>
              <a:rPr lang="en-US" sz="1700" b="1" dirty="0">
                <a:solidFill>
                  <a:srgbClr val="F5F5F0"/>
                </a:solidFill>
                <a:latin typeface="Cambria" pitchFamily="34" charset="0"/>
                <a:ea typeface="Cambria" pitchFamily="34" charset="-122"/>
                <a:cs typeface="Cambria" pitchFamily="34" charset="-120"/>
              </a:rPr>
              <a:t>What It Still Needs You For</a:t>
            </a:r>
            <a:endParaRPr lang="en-US" sz="1700" dirty="0"/>
          </a:p>
        </p:txBody>
      </p:sp>
      <p:sp>
        <p:nvSpPr>
          <p:cNvPr id="13" name="Text 10"/>
          <p:cNvSpPr txBox="1"/>
          <p:nvPr/>
        </p:nvSpPr>
        <p:spPr>
          <a:xfrm>
            <a:off x="6537960" y="3794760"/>
            <a:ext cx="4800600" cy="1600200"/>
          </a:xfrm>
          <a:prstGeom prst="rect">
            <a:avLst/>
          </a:prstGeom>
          <a:noFill/>
          <a:ln/>
        </p:spPr>
        <p:txBody>
          <a:bodyPr wrap="square" lIns="0" tIns="0" rIns="0" bIns="0" rtlCol="0" anchor="ctr"/>
          <a:lstStyle/>
          <a:p>
            <a:pPr marL="342900" indent="-342900">
              <a:lnSpc>
                <a:spcPct val="105000"/>
              </a:lnSpc>
              <a:spcAft>
                <a:spcPts val="600"/>
              </a:spcAft>
              <a:buSzPct val="100000"/>
              <a:buChar char="•"/>
            </a:pPr>
            <a:r>
              <a:rPr lang="en-US" sz="1350" dirty="0">
                <a:solidFill>
                  <a:srgbClr val="F5F5F0"/>
                </a:solidFill>
                <a:latin typeface="Calibri" pitchFamily="34" charset="0"/>
                <a:ea typeface="Calibri" pitchFamily="34" charset="-122"/>
                <a:cs typeface="Calibri" pitchFamily="34" charset="-120"/>
              </a:rPr>
              <a:t>Cleanup after the sync</a:t>
            </a:r>
            <a:endParaRPr lang="en-US" sz="1350" dirty="0"/>
          </a:p>
          <a:p>
            <a:pPr marL="342900" indent="-342900">
              <a:lnSpc>
                <a:spcPct val="105000"/>
              </a:lnSpc>
              <a:spcAft>
                <a:spcPts val="600"/>
              </a:spcAft>
              <a:buSzPct val="100000"/>
              <a:buChar char="•"/>
            </a:pPr>
            <a:r>
              <a:rPr lang="en-US" sz="1350" dirty="0">
                <a:solidFill>
                  <a:srgbClr val="F5F5F0"/>
                </a:solidFill>
                <a:latin typeface="Calibri" pitchFamily="34" charset="0"/>
                <a:ea typeface="Calibri" pitchFamily="34" charset="-122"/>
                <a:cs typeface="Calibri" pitchFamily="34" charset="-120"/>
              </a:rPr>
              <a:t>Access &amp; permissions setup</a:t>
            </a:r>
            <a:endParaRPr lang="en-US" sz="1350" dirty="0"/>
          </a:p>
          <a:p>
            <a:pPr marL="342900" indent="-342900">
              <a:lnSpc>
                <a:spcPct val="105000"/>
              </a:lnSpc>
              <a:spcAft>
                <a:spcPts val="600"/>
              </a:spcAft>
              <a:buSzPct val="100000"/>
              <a:buChar char="•"/>
            </a:pPr>
            <a:r>
              <a:rPr lang="en-US" sz="1350" dirty="0">
                <a:solidFill>
                  <a:srgbClr val="F5F5F0"/>
                </a:solidFill>
                <a:latin typeface="Calibri" pitchFamily="34" charset="0"/>
                <a:ea typeface="Calibri" pitchFamily="34" charset="-122"/>
                <a:cs typeface="Calibri" pitchFamily="34" charset="-120"/>
              </a:rPr>
              <a:t>Verification</a:t>
            </a:r>
            <a:endParaRPr lang="en-US" sz="1350" dirty="0"/>
          </a:p>
          <a:p>
            <a:pPr marL="342900" indent="-342900">
              <a:lnSpc>
                <a:spcPct val="105000"/>
              </a:lnSpc>
              <a:buSzPct val="100000"/>
              <a:buChar char="•"/>
            </a:pPr>
            <a:r>
              <a:rPr lang="en-US" sz="1350" dirty="0">
                <a:solidFill>
                  <a:srgbClr val="F5F5F0"/>
                </a:solidFill>
                <a:latin typeface="Calibri" pitchFamily="34" charset="0"/>
                <a:ea typeface="Calibri" pitchFamily="34" charset="-122"/>
                <a:cs typeface="Calibri" pitchFamily="34" charset="-120"/>
              </a:rPr>
              <a:t>Work-item, wiki &amp; pipeline migration itself</a:t>
            </a:r>
            <a:endParaRPr lang="en-US" sz="1350" dirty="0"/>
          </a:p>
        </p:txBody>
      </p:sp>
      <p:sp>
        <p:nvSpPr>
          <p:cNvPr id="14" name="Text 11"/>
          <p:cNvSpPr txBox="1"/>
          <p:nvPr/>
        </p:nvSpPr>
        <p:spPr>
          <a:xfrm>
            <a:off x="548640" y="5623560"/>
            <a:ext cx="11064240" cy="1005840"/>
          </a:xfrm>
          <a:prstGeom prst="rect">
            <a:avLst/>
          </a:prstGeom>
          <a:noFill/>
          <a:ln/>
        </p:spPr>
        <p:txBody>
          <a:bodyPr wrap="square" lIns="0" tIns="0" rIns="0" bIns="0" rtlCol="0" anchor="t"/>
          <a:lstStyle/>
          <a:p>
            <a:pPr indent="0" marL="0">
              <a:lnSpc>
                <a:spcPct val="110000"/>
              </a:lnSpc>
              <a:buNone/>
            </a:pPr>
            <a:r>
              <a:rPr lang="en-US" sz="1350" i="1" dirty="0">
                <a:solidFill>
                  <a:srgbClr val="C1440E"/>
                </a:solidFill>
                <a:latin typeface="Calibri" pitchFamily="34" charset="0"/>
                <a:ea typeface="Calibri" pitchFamily="34" charset="-122"/>
                <a:cs typeface="Calibri" pitchFamily="34" charset="-120"/>
              </a:rPr>
              <a:t>Research only — Hunter doesn’t have the GHE data-residency tenant ELM requires, so none of this was tested firsthand. What it genuinely adds over the standard GEI CLI is the continuous-sync experience, not a longer feature list.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Brain-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Approach 3 — AI</a:t>
            </a:r>
            <a:endParaRPr lang="en-US" sz="3200" dirty="0"/>
          </a:p>
        </p:txBody>
      </p:sp>
      <p:sp>
        <p:nvSpPr>
          <p:cNvPr id="6" name="Shape 3"/>
          <p:cNvSpPr/>
          <p:nvPr/>
        </p:nvSpPr>
        <p:spPr>
          <a:xfrm>
            <a:off x="548640" y="1691640"/>
            <a:ext cx="3429000" cy="3200400"/>
          </a:xfrm>
          <a:prstGeom prst="roundRect">
            <a:avLst>
              <a:gd name="adj" fmla="val 3429"/>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822960" y="1920240"/>
            <a:ext cx="603504" cy="603504"/>
          </a:xfrm>
          <a:prstGeom prst="ellipse">
            <a:avLst/>
          </a:prstGeom>
          <a:solidFill>
            <a:srgbClr val="C1440E"/>
          </a:solidFill>
          <a:ln/>
        </p:spPr>
      </p:sp>
      <p:pic>
        <p:nvPicPr>
          <p:cNvPr id="8" name="Image 1" descr="/home/claude/pptx-build/assets/icons/FaSearch-FFFFFF-200.png">    </p:cNvPr>
          <p:cNvPicPr>
            <a:picLocks noChangeAspect="1"/>
          </p:cNvPicPr>
          <p:nvPr/>
        </p:nvPicPr>
        <p:blipFill>
          <a:blip r:embed="rId2"/>
          <a:stretch>
            <a:fillRect/>
          </a:stretch>
        </p:blipFill>
        <p:spPr>
          <a:xfrm>
            <a:off x="969264" y="2066544"/>
            <a:ext cx="310896" cy="310896"/>
          </a:xfrm>
          <a:prstGeom prst="rect">
            <a:avLst/>
          </a:prstGeom>
        </p:spPr>
      </p:pic>
      <p:sp>
        <p:nvSpPr>
          <p:cNvPr id="9" name="Text 5"/>
          <p:cNvSpPr txBox="1"/>
          <p:nvPr/>
        </p:nvSpPr>
        <p:spPr>
          <a:xfrm>
            <a:off x="822960" y="2670048"/>
            <a:ext cx="2880360" cy="457200"/>
          </a:xfrm>
          <a:prstGeom prst="rect">
            <a:avLst/>
          </a:prstGeom>
          <a:noFill/>
          <a:ln/>
        </p:spPr>
        <p:txBody>
          <a:bodyPr wrap="square" lIns="0" tIns="0" rIns="0" bIns="0" rtlCol="0" anchor="ctr"/>
          <a:lstStyle/>
          <a:p>
            <a:pPr indent="0" marL="0">
              <a:buNone/>
            </a:pPr>
            <a:r>
              <a:rPr lang="en-US" sz="1800" b="1" dirty="0">
                <a:solidFill>
                  <a:srgbClr val="1F3D2C"/>
                </a:solidFill>
                <a:latin typeface="Cambria" pitchFamily="34" charset="0"/>
                <a:ea typeface="Cambria" pitchFamily="34" charset="-122"/>
                <a:cs typeface="Cambria" pitchFamily="34" charset="-120"/>
              </a:rPr>
              <a:t>Analyze</a:t>
            </a:r>
            <a:endParaRPr lang="en-US" sz="1800" dirty="0"/>
          </a:p>
        </p:txBody>
      </p:sp>
      <p:sp>
        <p:nvSpPr>
          <p:cNvPr id="10" name="Text 6"/>
          <p:cNvSpPr txBox="1"/>
          <p:nvPr/>
        </p:nvSpPr>
        <p:spPr>
          <a:xfrm>
            <a:off x="822960" y="318211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Reads the source pipeline and identifies what it actually does, step by step.</a:t>
            </a:r>
            <a:endParaRPr lang="en-US" sz="1400" dirty="0"/>
          </a:p>
        </p:txBody>
      </p:sp>
      <p:sp>
        <p:nvSpPr>
          <p:cNvPr id="11" name="Shape 7"/>
          <p:cNvSpPr/>
          <p:nvPr/>
        </p:nvSpPr>
        <p:spPr>
          <a:xfrm>
            <a:off x="4251960" y="1691640"/>
            <a:ext cx="3429000" cy="3200400"/>
          </a:xfrm>
          <a:prstGeom prst="roundRect">
            <a:avLst>
              <a:gd name="adj" fmla="val 3429"/>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8"/>
          <p:cNvSpPr/>
          <p:nvPr/>
        </p:nvSpPr>
        <p:spPr>
          <a:xfrm>
            <a:off x="4526280" y="1920240"/>
            <a:ext cx="603504" cy="603504"/>
          </a:xfrm>
          <a:prstGeom prst="ellipse">
            <a:avLst/>
          </a:prstGeom>
          <a:solidFill>
            <a:srgbClr val="C1440E"/>
          </a:solidFill>
          <a:ln/>
        </p:spPr>
      </p:sp>
      <p:pic>
        <p:nvPicPr>
          <p:cNvPr id="13" name="Image 2" descr="/home/claude/pptx-build/assets/icons/FaExchangeAlt-FFFFFF-200.png">    </p:cNvPr>
          <p:cNvPicPr>
            <a:picLocks noChangeAspect="1"/>
          </p:cNvPicPr>
          <p:nvPr/>
        </p:nvPicPr>
        <p:blipFill>
          <a:blip r:embed="rId3"/>
          <a:stretch>
            <a:fillRect/>
          </a:stretch>
        </p:blipFill>
        <p:spPr>
          <a:xfrm>
            <a:off x="4672584" y="2066544"/>
            <a:ext cx="310896" cy="310896"/>
          </a:xfrm>
          <a:prstGeom prst="rect">
            <a:avLst/>
          </a:prstGeom>
        </p:spPr>
      </p:pic>
      <p:sp>
        <p:nvSpPr>
          <p:cNvPr id="14" name="Text 9"/>
          <p:cNvSpPr txBox="1"/>
          <p:nvPr/>
        </p:nvSpPr>
        <p:spPr>
          <a:xfrm>
            <a:off x="4526280" y="2670048"/>
            <a:ext cx="2880360" cy="457200"/>
          </a:xfrm>
          <a:prstGeom prst="rect">
            <a:avLst/>
          </a:prstGeom>
          <a:noFill/>
          <a:ln/>
        </p:spPr>
        <p:txBody>
          <a:bodyPr wrap="square" lIns="0" tIns="0" rIns="0" bIns="0" rtlCol="0" anchor="ctr"/>
          <a:lstStyle/>
          <a:p>
            <a:pPr indent="0" marL="0">
              <a:buNone/>
            </a:pPr>
            <a:r>
              <a:rPr lang="en-US" sz="1800" b="1" dirty="0">
                <a:solidFill>
                  <a:srgbClr val="1F3D2C"/>
                </a:solidFill>
                <a:latin typeface="Cambria" pitchFamily="34" charset="0"/>
                <a:ea typeface="Cambria" pitchFamily="34" charset="-122"/>
                <a:cs typeface="Cambria" pitchFamily="34" charset="-120"/>
              </a:rPr>
              <a:t>Convert</a:t>
            </a:r>
            <a:endParaRPr lang="en-US" sz="1800" dirty="0"/>
          </a:p>
        </p:txBody>
      </p:sp>
      <p:sp>
        <p:nvSpPr>
          <p:cNvPr id="15" name="Text 10"/>
          <p:cNvSpPr txBox="1"/>
          <p:nvPr/>
        </p:nvSpPr>
        <p:spPr>
          <a:xfrm>
            <a:off x="4526280" y="318211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Produces the equivalent GitHub Actions workflow from that analysis.</a:t>
            </a:r>
            <a:endParaRPr lang="en-US" sz="1400" dirty="0"/>
          </a:p>
        </p:txBody>
      </p:sp>
      <p:sp>
        <p:nvSpPr>
          <p:cNvPr id="16" name="Shape 11"/>
          <p:cNvSpPr/>
          <p:nvPr/>
        </p:nvSpPr>
        <p:spPr>
          <a:xfrm>
            <a:off x="7955280" y="1691640"/>
            <a:ext cx="3429000" cy="3200400"/>
          </a:xfrm>
          <a:prstGeom prst="roundRect">
            <a:avLst>
              <a:gd name="adj" fmla="val 3429"/>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2"/>
          <p:cNvSpPr/>
          <p:nvPr/>
        </p:nvSpPr>
        <p:spPr>
          <a:xfrm>
            <a:off x="8229600" y="1920240"/>
            <a:ext cx="603504" cy="603504"/>
          </a:xfrm>
          <a:prstGeom prst="ellipse">
            <a:avLst/>
          </a:prstGeom>
          <a:solidFill>
            <a:srgbClr val="C1440E"/>
          </a:solidFill>
          <a:ln/>
        </p:spPr>
      </p:sp>
      <p:pic>
        <p:nvPicPr>
          <p:cNvPr id="18" name="Image 3" descr="/home/claude/pptx-build/assets/icons/FaCheckCircle-FFFFFF-200.png">    </p:cNvPr>
          <p:cNvPicPr>
            <a:picLocks noChangeAspect="1"/>
          </p:cNvPicPr>
          <p:nvPr/>
        </p:nvPicPr>
        <p:blipFill>
          <a:blip r:embed="rId4"/>
          <a:stretch>
            <a:fillRect/>
          </a:stretch>
        </p:blipFill>
        <p:spPr>
          <a:xfrm>
            <a:off x="8375904" y="2066544"/>
            <a:ext cx="310896" cy="310896"/>
          </a:xfrm>
          <a:prstGeom prst="rect">
            <a:avLst/>
          </a:prstGeom>
        </p:spPr>
      </p:pic>
      <p:sp>
        <p:nvSpPr>
          <p:cNvPr id="19" name="Text 13"/>
          <p:cNvSpPr txBox="1"/>
          <p:nvPr/>
        </p:nvSpPr>
        <p:spPr>
          <a:xfrm>
            <a:off x="8229600" y="2670048"/>
            <a:ext cx="2880360" cy="457200"/>
          </a:xfrm>
          <a:prstGeom prst="rect">
            <a:avLst/>
          </a:prstGeom>
          <a:noFill/>
          <a:ln/>
        </p:spPr>
        <p:txBody>
          <a:bodyPr wrap="square" lIns="0" tIns="0" rIns="0" bIns="0" rtlCol="0" anchor="ctr"/>
          <a:lstStyle/>
          <a:p>
            <a:pPr indent="0" marL="0">
              <a:buNone/>
            </a:pPr>
            <a:r>
              <a:rPr lang="en-US" sz="1800" b="1" dirty="0">
                <a:solidFill>
                  <a:srgbClr val="1F3D2C"/>
                </a:solidFill>
                <a:latin typeface="Cambria" pitchFamily="34" charset="0"/>
                <a:ea typeface="Cambria" pitchFamily="34" charset="-122"/>
                <a:cs typeface="Cambria" pitchFamily="34" charset="-120"/>
              </a:rPr>
              <a:t>Validate</a:t>
            </a:r>
            <a:endParaRPr lang="en-US" sz="1800" dirty="0"/>
          </a:p>
        </p:txBody>
      </p:sp>
      <p:sp>
        <p:nvSpPr>
          <p:cNvPr id="20" name="Text 14"/>
          <p:cNvSpPr txBox="1"/>
          <p:nvPr/>
        </p:nvSpPr>
        <p:spPr>
          <a:xfrm>
            <a:off x="8229600" y="3182112"/>
            <a:ext cx="2880360" cy="1600200"/>
          </a:xfrm>
          <a:prstGeom prst="rect">
            <a:avLst/>
          </a:prstGeom>
          <a:noFill/>
          <a:ln/>
        </p:spPr>
        <p:txBody>
          <a:bodyPr wrap="square" lIns="0" tIns="0" rIns="0" bIns="0" rtlCol="0" anchor="ctr"/>
          <a:lstStyle/>
          <a:p>
            <a:pPr indent="0" marL="0">
              <a:buNone/>
            </a:pPr>
            <a:r>
              <a:rPr lang="en-US" sz="1400" dirty="0">
                <a:solidFill>
                  <a:srgbClr val="2B2B2B"/>
                </a:solidFill>
                <a:latin typeface="Calibri" pitchFamily="34" charset="0"/>
                <a:ea typeface="Calibri" pitchFamily="34" charset="-122"/>
                <a:cs typeface="Calibri" pitchFamily="34" charset="-120"/>
              </a:rPr>
              <a:t>A separate pass checks the conversion — not the same model marking its own homework.</a:t>
            </a:r>
            <a:endParaRPr lang="en-US" sz="1400" dirty="0"/>
          </a:p>
        </p:txBody>
      </p:sp>
      <p:sp>
        <p:nvSpPr>
          <p:cNvPr id="21" name="Shape 15"/>
          <p:cNvSpPr/>
          <p:nvPr/>
        </p:nvSpPr>
        <p:spPr>
          <a:xfrm>
            <a:off x="548640" y="5120640"/>
            <a:ext cx="11064240" cy="1417320"/>
          </a:xfrm>
          <a:prstGeom prst="roundRect">
            <a:avLst>
              <a:gd name="adj" fmla="val 774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2" name="Text 16"/>
          <p:cNvSpPr txBox="1"/>
          <p:nvPr/>
        </p:nvSpPr>
        <p:spPr>
          <a:xfrm>
            <a:off x="822960" y="5257800"/>
            <a:ext cx="8595360" cy="1143000"/>
          </a:xfrm>
          <a:prstGeom prst="rect">
            <a:avLst/>
          </a:prstGeom>
          <a:noFill/>
          <a:ln/>
        </p:spPr>
        <p:txBody>
          <a:bodyPr wrap="square" lIns="0" tIns="0" rIns="0" bIns="0" rtlCol="0" anchor="ctr"/>
          <a:lstStyle/>
          <a:p>
            <a:pPr indent="0" marL="0">
              <a:lnSpc>
                <a:spcPct val="110000"/>
              </a:lnSpc>
              <a:buNone/>
            </a:pPr>
            <a:r>
              <a:rPr lang="en-US" sz="1400" b="1" dirty="0">
                <a:solidFill>
                  <a:srgbClr val="F5F5F0"/>
                </a:solidFill>
                <a:latin typeface="Calibri" pitchFamily="34" charset="0"/>
                <a:ea typeface="Calibri" pitchFamily="34" charset="-122"/>
                <a:cs typeface="Calibri" pitchFamily="34" charset="-120"/>
              </a:rPr>
              <a:t>Why three separate prompts, not one: </a:t>
            </a:r>
            <a:pPr indent="0" marL="0">
              <a:lnSpc>
                <a:spcPct val="110000"/>
              </a:lnSpc>
              <a:buNone/>
            </a:pPr>
            <a:r>
              <a:rPr lang="en-US" sz="1400" dirty="0">
                <a:solidFill>
                  <a:srgbClr val="F5F5F0"/>
                </a:solidFill>
                <a:latin typeface="Calibri" pitchFamily="34" charset="0"/>
                <a:ea typeface="Calibri" pitchFamily="34" charset="-122"/>
                <a:cs typeface="Calibri" pitchFamily="34" charset="-120"/>
              </a:rPr>
              <a:t>the model that converts a pipeline shouldn’t be the only check on its own conversion. This is where section 1’s “AI is the real reason” thesis gets a demonstrable payoff.</a:t>
            </a:r>
            <a:endParaRPr lang="en-US" sz="1400" dirty="0"/>
          </a:p>
        </p:txBody>
      </p:sp>
      <p:sp>
        <p:nvSpPr>
          <p:cNvPr id="23" name="Shape 17"/>
          <p:cNvSpPr/>
          <p:nvPr/>
        </p:nvSpPr>
        <p:spPr>
          <a:xfrm>
            <a:off x="10122408" y="5184648"/>
            <a:ext cx="923544" cy="923544"/>
          </a:xfrm>
          <a:prstGeom prst="roundRect">
            <a:avLst>
              <a:gd name="adj" fmla="val 5941"/>
            </a:avLst>
          </a:prstGeom>
          <a:solidFill>
            <a:srgbClr val="FFFFFF"/>
          </a:solidFill>
          <a:ln w="15875">
            <a:solidFill>
              <a:srgbClr val="1F3D2C"/>
            </a:solidFill>
            <a:prstDash val="solid"/>
          </a:ln>
        </p:spPr>
      </p:sp>
      <p:pic>
        <p:nvPicPr>
          <p:cNvPr id="24" name="Image 4" descr="/home/claude/pptx-build/assets/qr-sec3-ai-prompts.png">    </p:cNvPr>
          <p:cNvPicPr>
            <a:picLocks noChangeAspect="1"/>
          </p:cNvPicPr>
          <p:nvPr/>
        </p:nvPicPr>
        <p:blipFill>
          <a:blip r:embed="rId5"/>
          <a:stretch>
            <a:fillRect/>
          </a:stretch>
        </p:blipFill>
        <p:spPr>
          <a:xfrm>
            <a:off x="10195560" y="5257800"/>
            <a:ext cx="777240" cy="777240"/>
          </a:xfrm>
          <a:prstGeom prst="rect">
            <a:avLst/>
          </a:prstGeom>
        </p:spPr>
      </p:pic>
      <p:sp>
        <p:nvSpPr>
          <p:cNvPr id="25" name="Text 18"/>
          <p:cNvSpPr txBox="1"/>
          <p:nvPr/>
        </p:nvSpPr>
        <p:spPr>
          <a:xfrm>
            <a:off x="548640" y="6537960"/>
            <a:ext cx="11064240" cy="274320"/>
          </a:xfrm>
          <a:prstGeom prst="rect">
            <a:avLst/>
          </a:prstGeom>
          <a:noFill/>
          <a:ln/>
        </p:spPr>
        <p:txBody>
          <a:bodyPr wrap="square" lIns="0" tIns="0" rIns="0" bIns="0" rtlCol="0" anchor="ctr"/>
          <a:lstStyle/>
          <a:p>
            <a:pPr indent="0" marL="0">
              <a:buNone/>
            </a:pPr>
            <a:r>
              <a:rPr lang="en-US" sz="1100" i="1" dirty="0">
                <a:solidFill>
                  <a:srgbClr val="6B6B63"/>
                </a:solidFill>
                <a:latin typeface="Calibri" pitchFamily="34" charset="0"/>
                <a:ea typeface="Calibri" pitchFamily="34" charset="-122"/>
                <a:cs typeface="Calibri" pitchFamily="34" charset="-120"/>
              </a:rPr>
              <a:t>Status: drafted and reviewed, not yet run against a production pipeline.</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MapMarkedAl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Crossing, Mapped</a:t>
            </a:r>
            <a:endParaRPr lang="en-US" sz="3200" dirty="0"/>
          </a:p>
        </p:txBody>
      </p:sp>
      <p:sp>
        <p:nvSpPr>
          <p:cNvPr id="6" name="Shape 3"/>
          <p:cNvSpPr/>
          <p:nvPr/>
        </p:nvSpPr>
        <p:spPr>
          <a:xfrm>
            <a:off x="914400" y="2221992"/>
            <a:ext cx="10058400" cy="0"/>
          </a:xfrm>
          <a:prstGeom prst="line">
            <a:avLst/>
          </a:prstGeom>
          <a:noFill/>
          <a:ln w="19050">
            <a:solidFill>
              <a:srgbClr val="DDD8CC"/>
            </a:solidFill>
            <a:prstDash val="solid"/>
          </a:ln>
        </p:spPr>
      </p:sp>
      <p:sp>
        <p:nvSpPr>
          <p:cNvPr id="7" name="Shape 4"/>
          <p:cNvSpPr/>
          <p:nvPr/>
        </p:nvSpPr>
        <p:spPr>
          <a:xfrm>
            <a:off x="1700784" y="2084832"/>
            <a:ext cx="274320" cy="274320"/>
          </a:xfrm>
          <a:prstGeom prst="ellipse">
            <a:avLst/>
          </a:prstGeom>
          <a:solidFill>
            <a:srgbClr val="C1440E"/>
          </a:solidFill>
          <a:ln/>
        </p:spPr>
      </p:sp>
      <p:sp>
        <p:nvSpPr>
          <p:cNvPr id="8" name="Text 5"/>
          <p:cNvSpPr txBox="1"/>
          <p:nvPr/>
        </p:nvSpPr>
        <p:spPr>
          <a:xfrm>
            <a:off x="457200" y="1280160"/>
            <a:ext cx="2743200" cy="292608"/>
          </a:xfrm>
          <a:prstGeom prst="rect">
            <a:avLst/>
          </a:prstGeom>
          <a:noFill/>
          <a:ln/>
        </p:spPr>
        <p:txBody>
          <a:bodyPr wrap="square" lIns="0" tIns="0" rIns="0" bIns="0" rtlCol="0" anchor="ctr"/>
          <a:lstStyle/>
          <a:p>
            <a:pPr algn="ctr" indent="0" marL="0">
              <a:buNone/>
            </a:pPr>
            <a:r>
              <a:rPr lang="en-US" sz="1200" b="1" spc="200" kern="0" dirty="0">
                <a:solidFill>
                  <a:srgbClr val="C1440E"/>
                </a:solidFill>
                <a:latin typeface="Calibri" pitchFamily="34" charset="0"/>
                <a:ea typeface="Calibri" pitchFamily="34" charset="-122"/>
                <a:cs typeface="Calibri" pitchFamily="34" charset="-120"/>
              </a:rPr>
              <a:t>STEP 1</a:t>
            </a:r>
            <a:endParaRPr lang="en-US" sz="1200" dirty="0"/>
          </a:p>
        </p:txBody>
      </p:sp>
      <p:sp>
        <p:nvSpPr>
          <p:cNvPr id="9" name="Text 6"/>
          <p:cNvSpPr txBox="1"/>
          <p:nvPr/>
        </p:nvSpPr>
        <p:spPr>
          <a:xfrm>
            <a:off x="457200" y="1554480"/>
            <a:ext cx="2743200" cy="411480"/>
          </a:xfrm>
          <a:prstGeom prst="rect">
            <a:avLst/>
          </a:prstGeom>
          <a:noFill/>
          <a:ln/>
        </p:spPr>
        <p:txBody>
          <a:bodyPr wrap="square" lIns="0" tIns="0" rIns="0" bIns="0" rtlCol="0" anchor="ctr"/>
          <a:lstStyle/>
          <a:p>
            <a:pPr algn="ctr" indent="0" marL="0">
              <a:buNone/>
            </a:pPr>
            <a:r>
              <a:rPr lang="en-US" sz="1700" b="1" dirty="0">
                <a:solidFill>
                  <a:srgbClr val="1F3D2C"/>
                </a:solidFill>
                <a:latin typeface="Cambria" pitchFamily="34" charset="0"/>
                <a:ea typeface="Cambria" pitchFamily="34" charset="-122"/>
                <a:cs typeface="Cambria" pitchFamily="34" charset="-120"/>
              </a:rPr>
              <a:t>Repo Migration</a:t>
            </a:r>
            <a:endParaRPr lang="en-US" sz="1700" dirty="0"/>
          </a:p>
        </p:txBody>
      </p:sp>
      <p:sp>
        <p:nvSpPr>
          <p:cNvPr id="10" name="Text 7"/>
          <p:cNvSpPr txBox="1"/>
          <p:nvPr/>
        </p:nvSpPr>
        <p:spPr>
          <a:xfrm>
            <a:off x="457200" y="2468880"/>
            <a:ext cx="2743200" cy="292608"/>
          </a:xfrm>
          <a:prstGeom prst="rect">
            <a:avLst/>
          </a:prstGeom>
          <a:noFill/>
          <a:ln/>
        </p:spPr>
        <p:txBody>
          <a:bodyPr wrap="square" lIns="0" tIns="0" rIns="0" bIns="0" rtlCol="0" anchor="ctr"/>
          <a:lstStyle/>
          <a:p>
            <a:pPr algn="ctr" indent="0" marL="0">
              <a:buNone/>
            </a:pPr>
            <a:r>
              <a:rPr lang="en-US" sz="1200" i="1" dirty="0">
                <a:solidFill>
                  <a:srgbClr val="6B6B63"/>
                </a:solidFill>
                <a:latin typeface="Calibri" pitchFamily="34" charset="0"/>
                <a:ea typeface="Calibri" pitchFamily="34" charset="-122"/>
                <a:cs typeface="Calibri" pitchFamily="34" charset="-120"/>
              </a:rPr>
              <a:t>(gh-ado2gh)</a:t>
            </a:r>
            <a:endParaRPr lang="en-US" sz="1200" dirty="0"/>
          </a:p>
        </p:txBody>
      </p:sp>
      <p:sp>
        <p:nvSpPr>
          <p:cNvPr id="11" name="Text 8"/>
          <p:cNvSpPr txBox="1"/>
          <p:nvPr/>
        </p:nvSpPr>
        <p:spPr>
          <a:xfrm>
            <a:off x="548640" y="2807208"/>
            <a:ext cx="2560320" cy="1371600"/>
          </a:xfrm>
          <a:prstGeom prst="rect">
            <a:avLst/>
          </a:prstGeom>
          <a:noFill/>
          <a:ln/>
        </p:spPr>
        <p:txBody>
          <a:bodyPr wrap="square" lIns="0" tIns="0" rIns="0" bIns="0" rtlCol="0" anchor="ctr"/>
          <a:lstStyle/>
          <a:p>
            <a:pPr algn="ctr" indent="0" marL="0">
              <a:lnSpc>
                <a:spcPct val="110000"/>
              </a:lnSpc>
              <a:buNone/>
            </a:pPr>
            <a:r>
              <a:rPr lang="en-US" sz="1300" dirty="0">
                <a:solidFill>
                  <a:srgbClr val="2B2B2B"/>
                </a:solidFill>
                <a:latin typeface="Calibri" pitchFamily="34" charset="0"/>
                <a:ea typeface="Calibri" pitchFamily="34" charset="-122"/>
                <a:cs typeface="Calibri" pitchFamily="34" charset="-120"/>
              </a:rPr>
              <a:t>History, PRs, and branch policies move into the new org.</a:t>
            </a:r>
            <a:endParaRPr lang="en-US" sz="1300" dirty="0"/>
          </a:p>
        </p:txBody>
      </p:sp>
      <p:sp>
        <p:nvSpPr>
          <p:cNvPr id="12" name="Shape 9"/>
          <p:cNvSpPr/>
          <p:nvPr/>
        </p:nvSpPr>
        <p:spPr>
          <a:xfrm>
            <a:off x="4462272" y="2084832"/>
            <a:ext cx="274320" cy="274320"/>
          </a:xfrm>
          <a:prstGeom prst="ellipse">
            <a:avLst/>
          </a:prstGeom>
          <a:solidFill>
            <a:srgbClr val="C1440E"/>
          </a:solidFill>
          <a:ln/>
        </p:spPr>
      </p:sp>
      <p:sp>
        <p:nvSpPr>
          <p:cNvPr id="13" name="Text 10"/>
          <p:cNvSpPr txBox="1"/>
          <p:nvPr/>
        </p:nvSpPr>
        <p:spPr>
          <a:xfrm>
            <a:off x="3218688" y="1280160"/>
            <a:ext cx="2743200" cy="292608"/>
          </a:xfrm>
          <a:prstGeom prst="rect">
            <a:avLst/>
          </a:prstGeom>
          <a:noFill/>
          <a:ln/>
        </p:spPr>
        <p:txBody>
          <a:bodyPr wrap="square" lIns="0" tIns="0" rIns="0" bIns="0" rtlCol="0" anchor="ctr"/>
          <a:lstStyle/>
          <a:p>
            <a:pPr algn="ctr" indent="0" marL="0">
              <a:buNone/>
            </a:pPr>
            <a:r>
              <a:rPr lang="en-US" sz="1200" b="1" spc="200" kern="0" dirty="0">
                <a:solidFill>
                  <a:srgbClr val="C1440E"/>
                </a:solidFill>
                <a:latin typeface="Calibri" pitchFamily="34" charset="0"/>
                <a:ea typeface="Calibri" pitchFamily="34" charset="-122"/>
                <a:cs typeface="Calibri" pitchFamily="34" charset="-120"/>
              </a:rPr>
              <a:t>STEP 2</a:t>
            </a:r>
            <a:endParaRPr lang="en-US" sz="1200" dirty="0"/>
          </a:p>
        </p:txBody>
      </p:sp>
      <p:sp>
        <p:nvSpPr>
          <p:cNvPr id="14" name="Text 11"/>
          <p:cNvSpPr txBox="1"/>
          <p:nvPr/>
        </p:nvSpPr>
        <p:spPr>
          <a:xfrm>
            <a:off x="3218688" y="1554480"/>
            <a:ext cx="2743200" cy="411480"/>
          </a:xfrm>
          <a:prstGeom prst="rect">
            <a:avLst/>
          </a:prstGeom>
          <a:noFill/>
          <a:ln/>
        </p:spPr>
        <p:txBody>
          <a:bodyPr wrap="square" lIns="0" tIns="0" rIns="0" bIns="0" rtlCol="0" anchor="ctr"/>
          <a:lstStyle/>
          <a:p>
            <a:pPr algn="ctr" indent="0" marL="0">
              <a:buNone/>
            </a:pPr>
            <a:r>
              <a:rPr lang="en-US" sz="1700" b="1" dirty="0">
                <a:solidFill>
                  <a:srgbClr val="1F3D2C"/>
                </a:solidFill>
                <a:latin typeface="Cambria" pitchFamily="34" charset="0"/>
                <a:ea typeface="Cambria" pitchFamily="34" charset="-122"/>
                <a:cs typeface="Cambria" pitchFamily="34" charset="-120"/>
              </a:rPr>
              <a:t>Pipeline Audit</a:t>
            </a:r>
            <a:endParaRPr lang="en-US" sz="1700" dirty="0"/>
          </a:p>
        </p:txBody>
      </p:sp>
      <p:sp>
        <p:nvSpPr>
          <p:cNvPr id="15" name="Text 12"/>
          <p:cNvSpPr txBox="1"/>
          <p:nvPr/>
        </p:nvSpPr>
        <p:spPr>
          <a:xfrm>
            <a:off x="3218688" y="2468880"/>
            <a:ext cx="2743200" cy="292608"/>
          </a:xfrm>
          <a:prstGeom prst="rect">
            <a:avLst/>
          </a:prstGeom>
          <a:noFill/>
          <a:ln/>
        </p:spPr>
        <p:txBody>
          <a:bodyPr wrap="square" lIns="0" tIns="0" rIns="0" bIns="0" rtlCol="0" anchor="ctr"/>
          <a:lstStyle/>
          <a:p>
            <a:pPr algn="ctr" indent="0" marL="0">
              <a:buNone/>
            </a:pPr>
            <a:r>
              <a:rPr lang="en-US" sz="1200" i="1" dirty="0">
                <a:solidFill>
                  <a:srgbClr val="6B6B63"/>
                </a:solidFill>
                <a:latin typeface="Calibri" pitchFamily="34" charset="0"/>
                <a:ea typeface="Calibri" pitchFamily="34" charset="-122"/>
                <a:cs typeface="Calibri" pitchFamily="34" charset="-120"/>
              </a:rPr>
              <a:t>(gh-actions-importer)</a:t>
            </a:r>
            <a:endParaRPr lang="en-US" sz="1200" dirty="0"/>
          </a:p>
        </p:txBody>
      </p:sp>
      <p:sp>
        <p:nvSpPr>
          <p:cNvPr id="16" name="Text 13"/>
          <p:cNvSpPr txBox="1"/>
          <p:nvPr/>
        </p:nvSpPr>
        <p:spPr>
          <a:xfrm>
            <a:off x="3310128" y="2807208"/>
            <a:ext cx="2560320" cy="1371600"/>
          </a:xfrm>
          <a:prstGeom prst="rect">
            <a:avLst/>
          </a:prstGeom>
          <a:noFill/>
          <a:ln/>
        </p:spPr>
        <p:txBody>
          <a:bodyPr wrap="square" lIns="0" tIns="0" rIns="0" bIns="0" rtlCol="0" anchor="ctr"/>
          <a:lstStyle/>
          <a:p>
            <a:pPr algn="ctr" indent="0" marL="0">
              <a:lnSpc>
                <a:spcPct val="110000"/>
              </a:lnSpc>
              <a:buNone/>
            </a:pPr>
            <a:r>
              <a:rPr lang="en-US" sz="1300" dirty="0">
                <a:solidFill>
                  <a:srgbClr val="2B2B2B"/>
                </a:solidFill>
                <a:latin typeface="Calibri" pitchFamily="34" charset="0"/>
                <a:ea typeface="Calibri" pitchFamily="34" charset="-122"/>
                <a:cs typeface="Calibri" pitchFamily="34" charset="-120"/>
              </a:rPr>
              <a:t>Every pipeline gets classified: automatable, partial, or manual.</a:t>
            </a:r>
            <a:endParaRPr lang="en-US" sz="1300" dirty="0"/>
          </a:p>
        </p:txBody>
      </p:sp>
      <p:sp>
        <p:nvSpPr>
          <p:cNvPr id="17" name="Shape 14"/>
          <p:cNvSpPr/>
          <p:nvPr/>
        </p:nvSpPr>
        <p:spPr>
          <a:xfrm>
            <a:off x="7223760" y="2084832"/>
            <a:ext cx="274320" cy="274320"/>
          </a:xfrm>
          <a:prstGeom prst="ellipse">
            <a:avLst/>
          </a:prstGeom>
          <a:solidFill>
            <a:srgbClr val="C1440E"/>
          </a:solidFill>
          <a:ln/>
        </p:spPr>
      </p:sp>
      <p:sp>
        <p:nvSpPr>
          <p:cNvPr id="18" name="Text 15"/>
          <p:cNvSpPr txBox="1"/>
          <p:nvPr/>
        </p:nvSpPr>
        <p:spPr>
          <a:xfrm>
            <a:off x="5980176" y="1280160"/>
            <a:ext cx="2743200" cy="292608"/>
          </a:xfrm>
          <a:prstGeom prst="rect">
            <a:avLst/>
          </a:prstGeom>
          <a:noFill/>
          <a:ln/>
        </p:spPr>
        <p:txBody>
          <a:bodyPr wrap="square" lIns="0" tIns="0" rIns="0" bIns="0" rtlCol="0" anchor="ctr"/>
          <a:lstStyle/>
          <a:p>
            <a:pPr algn="ctr" indent="0" marL="0">
              <a:buNone/>
            </a:pPr>
            <a:r>
              <a:rPr lang="en-US" sz="1200" b="1" spc="200" kern="0" dirty="0">
                <a:solidFill>
                  <a:srgbClr val="C1440E"/>
                </a:solidFill>
                <a:latin typeface="Calibri" pitchFamily="34" charset="0"/>
                <a:ea typeface="Calibri" pitchFamily="34" charset="-122"/>
                <a:cs typeface="Calibri" pitchFamily="34" charset="-120"/>
              </a:rPr>
              <a:t>STEP 3</a:t>
            </a:r>
            <a:endParaRPr lang="en-US" sz="1200" dirty="0"/>
          </a:p>
        </p:txBody>
      </p:sp>
      <p:sp>
        <p:nvSpPr>
          <p:cNvPr id="19" name="Text 16"/>
          <p:cNvSpPr txBox="1"/>
          <p:nvPr/>
        </p:nvSpPr>
        <p:spPr>
          <a:xfrm>
            <a:off x="5980176" y="1554480"/>
            <a:ext cx="2743200" cy="411480"/>
          </a:xfrm>
          <a:prstGeom prst="rect">
            <a:avLst/>
          </a:prstGeom>
          <a:noFill/>
          <a:ln/>
        </p:spPr>
        <p:txBody>
          <a:bodyPr wrap="square" lIns="0" tIns="0" rIns="0" bIns="0" rtlCol="0" anchor="ctr"/>
          <a:lstStyle/>
          <a:p>
            <a:pPr algn="ctr" indent="0" marL="0">
              <a:buNone/>
            </a:pPr>
            <a:r>
              <a:rPr lang="en-US" sz="1700" b="1" dirty="0">
                <a:solidFill>
                  <a:srgbClr val="1F3D2C"/>
                </a:solidFill>
                <a:latin typeface="Cambria" pitchFamily="34" charset="0"/>
                <a:ea typeface="Cambria" pitchFamily="34" charset="-122"/>
                <a:cs typeface="Cambria" pitchFamily="34" charset="-120"/>
              </a:rPr>
              <a:t>YAML Rewrite</a:t>
            </a:r>
            <a:endParaRPr lang="en-US" sz="1700" dirty="0"/>
          </a:p>
        </p:txBody>
      </p:sp>
      <p:sp>
        <p:nvSpPr>
          <p:cNvPr id="20" name="Text 17"/>
          <p:cNvSpPr txBox="1"/>
          <p:nvPr/>
        </p:nvSpPr>
        <p:spPr>
          <a:xfrm>
            <a:off x="5980176" y="2468880"/>
            <a:ext cx="2743200" cy="292608"/>
          </a:xfrm>
          <a:prstGeom prst="rect">
            <a:avLst/>
          </a:prstGeom>
          <a:noFill/>
          <a:ln/>
        </p:spPr>
        <p:txBody>
          <a:bodyPr wrap="square" lIns="0" tIns="0" rIns="0" bIns="0" rtlCol="0" anchor="ctr"/>
          <a:lstStyle/>
          <a:p>
            <a:pPr algn="ctr" indent="0" marL="0">
              <a:buNone/>
            </a:pPr>
            <a:endParaRPr lang="en-US" sz="1200" dirty="0"/>
          </a:p>
        </p:txBody>
      </p:sp>
      <p:sp>
        <p:nvSpPr>
          <p:cNvPr id="21" name="Text 18"/>
          <p:cNvSpPr txBox="1"/>
          <p:nvPr/>
        </p:nvSpPr>
        <p:spPr>
          <a:xfrm>
            <a:off x="6071616" y="2807208"/>
            <a:ext cx="2560320" cy="1371600"/>
          </a:xfrm>
          <a:prstGeom prst="rect">
            <a:avLst/>
          </a:prstGeom>
          <a:noFill/>
          <a:ln/>
        </p:spPr>
        <p:txBody>
          <a:bodyPr wrap="square" lIns="0" tIns="0" rIns="0" bIns="0" rtlCol="0" anchor="ctr"/>
          <a:lstStyle/>
          <a:p>
            <a:pPr algn="ctr" indent="0" marL="0">
              <a:lnSpc>
                <a:spcPct val="110000"/>
              </a:lnSpc>
              <a:buNone/>
            </a:pPr>
            <a:r>
              <a:rPr lang="en-US" sz="1300" dirty="0">
                <a:solidFill>
                  <a:srgbClr val="2B2B2B"/>
                </a:solidFill>
                <a:latin typeface="Calibri" pitchFamily="34" charset="0"/>
                <a:ea typeface="Calibri" pitchFamily="34" charset="-122"/>
                <a:cs typeface="Calibri" pitchFamily="34" charset="-120"/>
              </a:rPr>
              <a:t>Azure Pipelines concepts get rebuilt as workflows, using the mapping from Approach 1.</a:t>
            </a:r>
            <a:endParaRPr lang="en-US" sz="1300" dirty="0"/>
          </a:p>
        </p:txBody>
      </p:sp>
      <p:sp>
        <p:nvSpPr>
          <p:cNvPr id="22" name="Shape 19"/>
          <p:cNvSpPr/>
          <p:nvPr/>
        </p:nvSpPr>
        <p:spPr>
          <a:xfrm>
            <a:off x="9985248" y="2084832"/>
            <a:ext cx="274320" cy="274320"/>
          </a:xfrm>
          <a:prstGeom prst="ellipse">
            <a:avLst/>
          </a:prstGeom>
          <a:solidFill>
            <a:srgbClr val="C1440E"/>
          </a:solidFill>
          <a:ln/>
        </p:spPr>
      </p:sp>
      <p:sp>
        <p:nvSpPr>
          <p:cNvPr id="23" name="Text 20"/>
          <p:cNvSpPr txBox="1"/>
          <p:nvPr/>
        </p:nvSpPr>
        <p:spPr>
          <a:xfrm>
            <a:off x="8741664" y="1280160"/>
            <a:ext cx="2743200" cy="292608"/>
          </a:xfrm>
          <a:prstGeom prst="rect">
            <a:avLst/>
          </a:prstGeom>
          <a:noFill/>
          <a:ln/>
        </p:spPr>
        <p:txBody>
          <a:bodyPr wrap="square" lIns="0" tIns="0" rIns="0" bIns="0" rtlCol="0" anchor="ctr"/>
          <a:lstStyle/>
          <a:p>
            <a:pPr algn="ctr" indent="0" marL="0">
              <a:buNone/>
            </a:pPr>
            <a:r>
              <a:rPr lang="en-US" sz="1200" b="1" spc="200" kern="0" dirty="0">
                <a:solidFill>
                  <a:srgbClr val="C1440E"/>
                </a:solidFill>
                <a:latin typeface="Calibri" pitchFamily="34" charset="0"/>
                <a:ea typeface="Calibri" pitchFamily="34" charset="-122"/>
                <a:cs typeface="Calibri" pitchFamily="34" charset="-120"/>
              </a:rPr>
              <a:t>STEP 4</a:t>
            </a:r>
            <a:endParaRPr lang="en-US" sz="1200" dirty="0"/>
          </a:p>
        </p:txBody>
      </p:sp>
      <p:sp>
        <p:nvSpPr>
          <p:cNvPr id="24" name="Text 21"/>
          <p:cNvSpPr txBox="1"/>
          <p:nvPr/>
        </p:nvSpPr>
        <p:spPr>
          <a:xfrm>
            <a:off x="8741664" y="1554480"/>
            <a:ext cx="2743200" cy="411480"/>
          </a:xfrm>
          <a:prstGeom prst="rect">
            <a:avLst/>
          </a:prstGeom>
          <a:noFill/>
          <a:ln/>
        </p:spPr>
        <p:txBody>
          <a:bodyPr wrap="square" lIns="0" tIns="0" rIns="0" bIns="0" rtlCol="0" anchor="ctr"/>
          <a:lstStyle/>
          <a:p>
            <a:pPr algn="ctr" indent="0" marL="0">
              <a:buNone/>
            </a:pPr>
            <a:r>
              <a:rPr lang="en-US" sz="1700" b="1" dirty="0">
                <a:solidFill>
                  <a:srgbClr val="1F3D2C"/>
                </a:solidFill>
                <a:latin typeface="Cambria" pitchFamily="34" charset="0"/>
                <a:ea typeface="Cambria" pitchFamily="34" charset="-122"/>
                <a:cs typeface="Cambria" pitchFamily="34" charset="-120"/>
              </a:rPr>
              <a:t>First Green Build</a:t>
            </a:r>
            <a:endParaRPr lang="en-US" sz="1700" dirty="0"/>
          </a:p>
        </p:txBody>
      </p:sp>
      <p:sp>
        <p:nvSpPr>
          <p:cNvPr id="25" name="Text 22"/>
          <p:cNvSpPr txBox="1"/>
          <p:nvPr/>
        </p:nvSpPr>
        <p:spPr>
          <a:xfrm>
            <a:off x="8741664" y="2468880"/>
            <a:ext cx="2743200" cy="292608"/>
          </a:xfrm>
          <a:prstGeom prst="rect">
            <a:avLst/>
          </a:prstGeom>
          <a:noFill/>
          <a:ln/>
        </p:spPr>
        <p:txBody>
          <a:bodyPr wrap="square" lIns="0" tIns="0" rIns="0" bIns="0" rtlCol="0" anchor="ctr"/>
          <a:lstStyle/>
          <a:p>
            <a:pPr algn="ctr" indent="0" marL="0">
              <a:buNone/>
            </a:pPr>
            <a:endParaRPr lang="en-US" sz="1200" dirty="0"/>
          </a:p>
        </p:txBody>
      </p:sp>
      <p:sp>
        <p:nvSpPr>
          <p:cNvPr id="26" name="Text 23"/>
          <p:cNvSpPr txBox="1"/>
          <p:nvPr/>
        </p:nvSpPr>
        <p:spPr>
          <a:xfrm>
            <a:off x="8833104" y="2807208"/>
            <a:ext cx="2560320" cy="1371600"/>
          </a:xfrm>
          <a:prstGeom prst="rect">
            <a:avLst/>
          </a:prstGeom>
          <a:noFill/>
          <a:ln/>
        </p:spPr>
        <p:txBody>
          <a:bodyPr wrap="square" lIns="0" tIns="0" rIns="0" bIns="0" rtlCol="0" anchor="ctr"/>
          <a:lstStyle/>
          <a:p>
            <a:pPr algn="ctr" indent="0" marL="0">
              <a:lnSpc>
                <a:spcPct val="110000"/>
              </a:lnSpc>
              <a:buNone/>
            </a:pPr>
            <a:r>
              <a:rPr lang="en-US" sz="1300" dirty="0">
                <a:solidFill>
                  <a:srgbClr val="2B2B2B"/>
                </a:solidFill>
                <a:latin typeface="Calibri" pitchFamily="34" charset="0"/>
                <a:ea typeface="Calibri" pitchFamily="34" charset="-122"/>
                <a:cs typeface="Calibri" pitchFamily="34" charset="-120"/>
              </a:rPr>
              <a:t>The real finish line — not “migrated,” but “passing.”</a:t>
            </a:r>
            <a:endParaRPr lang="en-US" sz="1300" dirty="0"/>
          </a:p>
        </p:txBody>
      </p:sp>
      <p:sp>
        <p:nvSpPr>
          <p:cNvPr id="27" name="Text 24"/>
          <p:cNvSpPr txBox="1"/>
          <p:nvPr/>
        </p:nvSpPr>
        <p:spPr>
          <a:xfrm>
            <a:off x="548640" y="4663440"/>
            <a:ext cx="11064240" cy="640080"/>
          </a:xfrm>
          <a:prstGeom prst="rect">
            <a:avLst/>
          </a:prstGeom>
          <a:noFill/>
          <a:ln/>
        </p:spPr>
        <p:txBody>
          <a:bodyPr wrap="square" lIns="0" tIns="0" rIns="0" bIns="0" rtlCol="0" anchor="ctr"/>
          <a:lstStyle/>
          <a:p>
            <a:pPr algn="ctr" indent="0" marL="0">
              <a:buNone/>
            </a:pPr>
            <a:r>
              <a:rPr lang="en-US" sz="2000" b="1" i="1" dirty="0">
                <a:solidFill>
                  <a:srgbClr val="1F3D2C"/>
                </a:solidFill>
                <a:latin typeface="Cambria" pitchFamily="34" charset="0"/>
                <a:ea typeface="Cambria" pitchFamily="34" charset="-122"/>
                <a:cs typeface="Cambria" pitchFamily="34" charset="-120"/>
              </a:rPr>
              <a:t>Four steps, same order, every time — the specifics change with every pipeline, the sequence doesn’t.</a:t>
            </a:r>
            <a:endParaRPr lang="en-US" sz="2000" dirty="0"/>
          </a:p>
        </p:txBody>
      </p:sp>
      <p:sp>
        <p:nvSpPr>
          <p:cNvPr id="28" name="Shape 25"/>
          <p:cNvSpPr/>
          <p:nvPr/>
        </p:nvSpPr>
        <p:spPr>
          <a:xfrm>
            <a:off x="548640" y="5532120"/>
            <a:ext cx="11064240" cy="914400"/>
          </a:xfrm>
          <a:prstGeom prst="roundRect">
            <a:avLst>
              <a:gd name="adj" fmla="val 120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9" name="Text 26"/>
          <p:cNvSpPr txBox="1"/>
          <p:nvPr/>
        </p:nvSpPr>
        <p:spPr>
          <a:xfrm>
            <a:off x="822960" y="5669280"/>
            <a:ext cx="10515600" cy="640080"/>
          </a:xfrm>
          <a:prstGeom prst="rect">
            <a:avLst/>
          </a:prstGeom>
          <a:noFill/>
          <a:ln/>
        </p:spPr>
        <p:txBody>
          <a:bodyPr wrap="square" lIns="0" tIns="0" rIns="0" bIns="0" rtlCol="0" anchor="ctr"/>
          <a:lstStyle/>
          <a:p>
            <a:pPr indent="0" marL="0">
              <a:buNone/>
            </a:pPr>
            <a:r>
              <a:rPr lang="en-US" sz="1400" i="1" dirty="0">
                <a:solidFill>
                  <a:srgbClr val="F5F5F0"/>
                </a:solidFill>
                <a:latin typeface="Calibri" pitchFamily="34" charset="0"/>
                <a:ea typeface="Calibri" pitchFamily="34" charset="-122"/>
                <a:cs typeface="Calibri" pitchFamily="34" charset="-120"/>
              </a:rPr>
              <a:t>This is the sequence any team follows, regardless of which repo runs through it first. The next slide captures what actually happened once it runs against a real one.</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ghtbulb-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CROSSING THE RIVER</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Key Takeaways From the Crossing</a:t>
            </a:r>
            <a:endParaRPr lang="en-US" sz="3200" dirty="0"/>
          </a:p>
        </p:txBody>
      </p:sp>
      <p:sp>
        <p:nvSpPr>
          <p:cNvPr id="6" name="Shape 3"/>
          <p:cNvSpPr/>
          <p:nvPr/>
        </p:nvSpPr>
        <p:spPr>
          <a:xfrm>
            <a:off x="548640" y="1691640"/>
            <a:ext cx="11064240" cy="1005840"/>
          </a:xfrm>
          <a:prstGeom prst="roundRect">
            <a:avLst>
              <a:gd name="adj" fmla="val 10909"/>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28800"/>
            <a:ext cx="10515600" cy="731520"/>
          </a:xfrm>
          <a:prstGeom prst="rect">
            <a:avLst/>
          </a:prstGeom>
          <a:noFill/>
          <a:ln/>
        </p:spPr>
        <p:txBody>
          <a:bodyPr wrap="square" lIns="0" tIns="0" rIns="0" bIns="0" rtlCol="0" anchor="ctr"/>
          <a:lstStyle/>
          <a:p>
            <a:pPr indent="0" marL="0">
              <a:buNone/>
            </a:pPr>
            <a:r>
              <a:rPr lang="en-US" sz="1500" b="1" dirty="0">
                <a:solidFill>
                  <a:srgbClr val="F5F5F0"/>
                </a:solidFill>
                <a:latin typeface="Calibri" pitchFamily="34" charset="0"/>
                <a:ea typeface="Calibri" pitchFamily="34" charset="-122"/>
                <a:cs typeface="Calibri" pitchFamily="34" charset="-120"/>
              </a:rPr>
              <a:t>[OPEN] To be filled in once the previous slide’s sequence is actually run against a real repo — this slide should capture what really broke or surprised, not a generic list.</a:t>
            </a:r>
            <a:endParaRPr lang="en-US" sz="1500" dirty="0"/>
          </a:p>
        </p:txBody>
      </p:sp>
      <p:sp>
        <p:nvSpPr>
          <p:cNvPr id="8" name="Shape 5"/>
          <p:cNvSpPr/>
          <p:nvPr/>
        </p:nvSpPr>
        <p:spPr>
          <a:xfrm>
            <a:off x="548640" y="2880360"/>
            <a:ext cx="11064240" cy="3063240"/>
          </a:xfrm>
          <a:prstGeom prst="roundRect">
            <a:avLst>
              <a:gd name="adj" fmla="val 3582"/>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3063240"/>
            <a:ext cx="10332720" cy="411480"/>
          </a:xfrm>
          <a:prstGeom prst="rect">
            <a:avLst/>
          </a:prstGeom>
          <a:noFill/>
          <a:ln/>
        </p:spPr>
        <p:txBody>
          <a:bodyPr wrap="square" lIns="0" tIns="0" rIns="0" bIns="0" rtlCol="0" anchor="ctr"/>
          <a:lstStyle/>
          <a:p>
            <a:pPr indent="0" marL="0">
              <a:buNone/>
            </a:pPr>
            <a:r>
              <a:rPr lang="en-US" sz="1700" b="1" dirty="0">
                <a:solidFill>
                  <a:srgbClr val="1F3D2C"/>
                </a:solidFill>
                <a:latin typeface="Cambria" pitchFamily="34" charset="0"/>
                <a:ea typeface="Cambria" pitchFamily="34" charset="-122"/>
                <a:cs typeface="Cambria" pitchFamily="34" charset="-120"/>
              </a:rPr>
              <a:t>Fill-in prompts for after the run:</a:t>
            </a:r>
            <a:endParaRPr lang="en-US" sz="1700" dirty="0"/>
          </a:p>
        </p:txBody>
      </p:sp>
      <p:sp>
        <p:nvSpPr>
          <p:cNvPr id="10" name="Text 7"/>
          <p:cNvSpPr txBox="1"/>
          <p:nvPr/>
        </p:nvSpPr>
        <p:spPr>
          <a:xfrm>
            <a:off x="822960" y="3566160"/>
            <a:ext cx="10332720" cy="228600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Which task type caused the most manual rework — and did gh-actions-importer’s audit call it correctly?</a:t>
            </a:r>
            <a:endParaRPr lang="en-US" sz="1600" dirty="0"/>
          </a:p>
          <a:p>
            <a:pPr marL="342900" indent="-342900">
              <a:lnSpc>
                <a:spcPct val="120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Did anything in the “clean” repo turn out not to be clean?</a:t>
            </a:r>
            <a:endParaRPr lang="en-US" sz="1600" dirty="0"/>
          </a:p>
          <a:p>
            <a:pPr marL="342900" indent="-342900">
              <a:lnSpc>
                <a:spcPct val="120000"/>
              </a:lnSpc>
              <a:spcAft>
                <a:spcPts val="1200"/>
              </a:spcAft>
              <a:buSzPct val="100000"/>
              <a:buChar char="•"/>
            </a:pPr>
            <a:r>
              <a:rPr lang="en-US" sz="1600" dirty="0">
                <a:solidFill>
                  <a:srgbClr val="2B2B2B"/>
                </a:solidFill>
                <a:latin typeface="Calibri" pitchFamily="34" charset="0"/>
                <a:ea typeface="Calibri" pitchFamily="34" charset="-122"/>
                <a:cs typeface="Calibri" pitchFamily="34" charset="-120"/>
              </a:rPr>
              <a:t>How long did the “ugly” repo actually take, versus the 1–2 day estimate from earlier in this section?</a:t>
            </a:r>
            <a:endParaRPr lang="en-US" sz="1600" dirty="0"/>
          </a:p>
          <a:p>
            <a:pPr marL="342900" indent="-342900">
              <a:lnSpc>
                <a:spcPct val="120000"/>
              </a:lnSpc>
              <a:buSzPct val="100000"/>
              <a:buChar char="•"/>
            </a:pPr>
            <a:r>
              <a:rPr lang="en-US" sz="1600" dirty="0">
                <a:solidFill>
                  <a:srgbClr val="2B2B2B"/>
                </a:solidFill>
                <a:latin typeface="Calibri" pitchFamily="34" charset="0"/>
                <a:ea typeface="Calibri" pitchFamily="34" charset="-122"/>
                <a:cs typeface="Calibri" pitchFamily="34" charset="-120"/>
              </a:rPr>
              <a:t>Did the AI-prompt approach (previous section) get tried on either repo — and how did it compare?</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F3D2C"/>
        </a:solidFill>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algn="ctr" indent="0" marL="0">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algn="ctr" indent="0" marL="0">
              <a:buNone/>
            </a:pPr>
            <a:r>
              <a:rPr lang="en-US" sz="1900" i="1" dirty="0">
                <a:solidFill>
                  <a:srgbClr val="8C6A3F"/>
                </a:solidFill>
                <a:latin typeface="Calibri" pitchFamily="34" charset="0"/>
                <a:ea typeface="Calibri" pitchFamily="34" charset="-122"/>
                <a:cs typeface="Calibri" pitchFamily="34" charset="-120"/>
              </a:rPr>
              <a:t>One quick question before we leave Section 3 — Crossing the River</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4</a:t>
            </a:r>
            <a:endParaRPr lang="en-US" sz="1700" dirty="0"/>
          </a:p>
        </p:txBody>
      </p:sp>
      <p:pic>
        <p:nvPicPr>
          <p:cNvPr id="4" name="Image 0" descr="/home/claude/pptx-build/assets/icons/FaPaw-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Watch as the Scrum Master Approaches Carefully</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Sprint planning is a creature of habit, most comfortable in the enclosure it was raised in. Moving it means understanding exactly what it needs to survive the move.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ProjectDiagram-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Boards: Not an Easy Transplant — Where the Gap Is Widest</a:t>
            </a:r>
            <a:endParaRPr lang="en-US" sz="3200" dirty="0"/>
          </a:p>
        </p:txBody>
      </p:sp>
      <p:sp>
        <p:nvSpPr>
          <p:cNvPr id="6" name="Shape 3"/>
          <p:cNvSpPr/>
          <p:nvPr/>
        </p:nvSpPr>
        <p:spPr>
          <a:xfrm>
            <a:off x="548640" y="1645920"/>
            <a:ext cx="11064240" cy="2011680"/>
          </a:xfrm>
          <a:prstGeom prst="roundRect">
            <a:avLst>
              <a:gd name="adj" fmla="val 5455"/>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28800"/>
            <a:ext cx="10332720" cy="1645920"/>
          </a:xfrm>
          <a:prstGeom prst="rect">
            <a:avLst/>
          </a:prstGeom>
          <a:noFill/>
          <a:ln/>
        </p:spPr>
        <p:txBody>
          <a:bodyPr wrap="square" lIns="0" tIns="0" rIns="0" bIns="0" rtlCol="0" anchor="ctr"/>
          <a:lstStyle/>
          <a:p>
            <a:pPr indent="0" marL="0">
              <a:lnSpc>
                <a:spcPct val="125000"/>
              </a:lnSpc>
              <a:buNone/>
            </a:pPr>
            <a:r>
              <a:rPr lang="en-US" sz="1900" b="1" dirty="0">
                <a:solidFill>
                  <a:srgbClr val="2B2B2B"/>
                </a:solidFill>
                <a:latin typeface="Calibri" pitchFamily="34" charset="0"/>
                <a:ea typeface="Calibri" pitchFamily="34" charset="-122"/>
                <a:cs typeface="Calibri" pitchFamily="34" charset="-120"/>
              </a:rPr>
              <a:t>Azure Boards is a full enterprise work-tracking system. </a:t>
            </a:r>
            <a:pPr indent="0" marL="0">
              <a:lnSpc>
                <a:spcPct val="125000"/>
              </a:lnSpc>
              <a:buNone/>
            </a:pPr>
            <a:r>
              <a:rPr lang="en-US" sz="1900" dirty="0">
                <a:solidFill>
                  <a:srgbClr val="2B2B2B"/>
                </a:solidFill>
                <a:latin typeface="Calibri" pitchFamily="34" charset="0"/>
                <a:ea typeface="Calibri" pitchFamily="34" charset="-122"/>
                <a:cs typeface="Calibri" pitchFamily="34" charset="-120"/>
              </a:rPr>
              <a:t>GitHub Projects is a lightweight kanban board sitting on top of Issues. This isn’t a feature gap so much as a different tool entirely.</a:t>
            </a:r>
            <a:endParaRPr lang="en-US" sz="1900" dirty="0"/>
          </a:p>
        </p:txBody>
      </p:sp>
      <p:sp>
        <p:nvSpPr>
          <p:cNvPr id="8" name="Shape 5"/>
          <p:cNvSpPr/>
          <p:nvPr/>
        </p:nvSpPr>
        <p:spPr>
          <a:xfrm>
            <a:off x="548640" y="3977640"/>
            <a:ext cx="5349240" cy="1463040"/>
          </a:xfrm>
          <a:prstGeom prst="roundRect">
            <a:avLst>
              <a:gd name="adj" fmla="val 7500"/>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133088"/>
            <a:ext cx="4800600" cy="457200"/>
          </a:xfrm>
          <a:prstGeom prst="rect">
            <a:avLst/>
          </a:prstGeom>
          <a:noFill/>
          <a:ln/>
        </p:spPr>
        <p:txBody>
          <a:bodyPr wrap="square" lIns="0" tIns="0" rIns="0" bIns="0" rtlCol="0" anchor="ctr"/>
          <a:lstStyle/>
          <a:p>
            <a:pPr indent="0" marL="0">
              <a:buNone/>
            </a:pPr>
            <a:r>
              <a:rPr lang="en-US" sz="2000" b="1" dirty="0">
                <a:solidFill>
                  <a:srgbClr val="F5F5F0"/>
                </a:solidFill>
                <a:latin typeface="Cambria" pitchFamily="34" charset="0"/>
                <a:ea typeface="Cambria" pitchFamily="34" charset="-122"/>
                <a:cs typeface="Cambria" pitchFamily="34" charset="-120"/>
              </a:rPr>
              <a:t>Azure Boards</a:t>
            </a:r>
            <a:endParaRPr lang="en-US" sz="2000" dirty="0"/>
          </a:p>
        </p:txBody>
      </p:sp>
      <p:sp>
        <p:nvSpPr>
          <p:cNvPr id="10" name="Text 7"/>
          <p:cNvSpPr txBox="1"/>
          <p:nvPr/>
        </p:nvSpPr>
        <p:spPr>
          <a:xfrm>
            <a:off x="822960" y="4645152"/>
            <a:ext cx="4800600" cy="640080"/>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Enterprise work-tracking system</a:t>
            </a:r>
            <a:endParaRPr lang="en-US" sz="1600" dirty="0"/>
          </a:p>
        </p:txBody>
      </p:sp>
      <p:sp>
        <p:nvSpPr>
          <p:cNvPr id="11" name="Shape 8"/>
          <p:cNvSpPr/>
          <p:nvPr/>
        </p:nvSpPr>
        <p:spPr>
          <a:xfrm>
            <a:off x="6172200" y="3977640"/>
            <a:ext cx="5349240" cy="1463040"/>
          </a:xfrm>
          <a:prstGeom prst="roundRect">
            <a:avLst>
              <a:gd name="adj" fmla="val 75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Text 9"/>
          <p:cNvSpPr txBox="1"/>
          <p:nvPr/>
        </p:nvSpPr>
        <p:spPr>
          <a:xfrm>
            <a:off x="6446520" y="4133088"/>
            <a:ext cx="4800600" cy="457200"/>
          </a:xfrm>
          <a:prstGeom prst="rect">
            <a:avLst/>
          </a:prstGeom>
          <a:noFill/>
          <a:ln/>
        </p:spPr>
        <p:txBody>
          <a:bodyPr wrap="square" lIns="0" tIns="0" rIns="0" bIns="0" rtlCol="0" anchor="ctr"/>
          <a:lstStyle/>
          <a:p>
            <a:pPr indent="0" marL="0">
              <a:buNone/>
            </a:pPr>
            <a:r>
              <a:rPr lang="en-US" sz="2000" b="1" dirty="0">
                <a:solidFill>
                  <a:srgbClr val="1F3D2C"/>
                </a:solidFill>
                <a:latin typeface="Cambria" pitchFamily="34" charset="0"/>
                <a:ea typeface="Cambria" pitchFamily="34" charset="-122"/>
                <a:cs typeface="Cambria" pitchFamily="34" charset="-120"/>
              </a:rPr>
              <a:t>GitHub Projects</a:t>
            </a:r>
            <a:endParaRPr lang="en-US" sz="2000" dirty="0"/>
          </a:p>
        </p:txBody>
      </p:sp>
      <p:sp>
        <p:nvSpPr>
          <p:cNvPr id="13" name="Text 10"/>
          <p:cNvSpPr txBox="1"/>
          <p:nvPr/>
        </p:nvSpPr>
        <p:spPr>
          <a:xfrm>
            <a:off x="6446520" y="4645152"/>
            <a:ext cx="4800600" cy="6400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Lightweight kanban board on Issues</a:t>
            </a:r>
            <a:endParaRPr lang="en-US" sz="1600" dirty="0"/>
          </a:p>
        </p:txBody>
      </p:sp>
      <p:sp>
        <p:nvSpPr>
          <p:cNvPr id="14" name="Text 11"/>
          <p:cNvSpPr txBox="1"/>
          <p:nvPr/>
        </p:nvSpPr>
        <p:spPr>
          <a:xfrm>
            <a:off x="548640" y="5760720"/>
            <a:ext cx="11064240" cy="457200"/>
          </a:xfrm>
          <a:prstGeom prst="rect">
            <a:avLst/>
          </a:prstGeom>
          <a:noFill/>
          <a:ln/>
        </p:spPr>
        <p:txBody>
          <a:bodyPr wrap="square" lIns="0" tIns="0" rIns="0" bIns="0" rtlCol="0" anchor="ctr"/>
          <a:lstStyle/>
          <a:p>
            <a:pPr algn="ctr" indent="0" marL="0">
              <a:buNone/>
            </a:pPr>
            <a:r>
              <a:rPr lang="en-US" sz="1500" i="1" dirty="0">
                <a:solidFill>
                  <a:srgbClr val="6B6B63"/>
                </a:solidFill>
                <a:latin typeface="Calibri" pitchFamily="34" charset="0"/>
                <a:ea typeface="Calibri" pitchFamily="34" charset="-122"/>
                <a:cs typeface="Calibri" pitchFamily="34" charset="-120"/>
              </a:rPr>
              <a:t>The next two slides take each on its own terms before comparing what’s lost in a migration.</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Sitemap-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Azure Boards’ Strengths</a:t>
            </a:r>
            <a:endParaRPr lang="en-US" sz="3200" dirty="0"/>
          </a:p>
        </p:txBody>
      </p:sp>
      <p:sp>
        <p:nvSpPr>
          <p:cNvPr id="6" name="Shape 3"/>
          <p:cNvSpPr/>
          <p:nvPr/>
        </p:nvSpPr>
        <p:spPr>
          <a:xfrm>
            <a:off x="548640" y="1645920"/>
            <a:ext cx="11064240" cy="3566160"/>
          </a:xfrm>
          <a:prstGeom prst="roundRect">
            <a:avLst>
              <a:gd name="adj" fmla="val 3077"/>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74520"/>
            <a:ext cx="10332720" cy="3200400"/>
          </a:xfrm>
          <a:prstGeom prst="rect">
            <a:avLst/>
          </a:prstGeom>
          <a:noFill/>
          <a:ln/>
        </p:spPr>
        <p:txBody>
          <a:bodyPr wrap="square" lIns="0" tIns="0" rIns="0" bIns="0" rtlCol="0" anchor="ctr"/>
          <a:lstStyle/>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Hierarchical work items — Epics → Features → Stories → Tasks</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Sprint planning and capacity management, built in</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Delivery Plans for cross-team dependencies</a:t>
            </a:r>
            <a:endParaRPr lang="en-US" sz="1900" dirty="0"/>
          </a:p>
          <a:p>
            <a:pPr marL="342900" indent="-342900">
              <a:lnSpc>
                <a:spcPct val="115000"/>
              </a:lnSpc>
              <a:buSzPct val="100000"/>
              <a:buChar char="•"/>
            </a:pPr>
            <a:r>
              <a:rPr lang="en-US" sz="1900" dirty="0">
                <a:solidFill>
                  <a:srgbClr val="2B2B2B"/>
                </a:solidFill>
                <a:latin typeface="Calibri" pitchFamily="34" charset="0"/>
                <a:ea typeface="Calibri" pitchFamily="34" charset="-122"/>
                <a:cs typeface="Calibri" pitchFamily="34" charset="-120"/>
              </a:rPr>
              <a:t>Boards Analytics plus Power BI reporting</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5577840"/>
            <a:ext cx="10515600" cy="594360"/>
          </a:xfrm>
          <a:prstGeom prst="rect">
            <a:avLst/>
          </a:prstGeom>
          <a:noFill/>
          <a:ln/>
        </p:spPr>
        <p:txBody>
          <a:bodyPr wrap="square" lIns="0" tIns="0" rIns="0" bIns="0" rtlCol="0" anchor="ctr"/>
          <a:lstStyle/>
          <a:p>
            <a:pPr indent="0" marL="0">
              <a:buNone/>
            </a:pPr>
            <a:r>
              <a:rPr lang="en-US" sz="1600" b="1" dirty="0">
                <a:solidFill>
                  <a:srgbClr val="F5F5F0"/>
                </a:solidFill>
                <a:latin typeface="Calibri" pitchFamily="34" charset="0"/>
                <a:ea typeface="Calibri" pitchFamily="34" charset="-122"/>
                <a:cs typeface="Calibri" pitchFamily="34" charset="-120"/>
              </a:rPr>
              <a:t>Organizes by: </a:t>
            </a:r>
            <a:pPr indent="0" marL="0">
              <a:buNone/>
            </a:pPr>
            <a:r>
              <a:rPr lang="en-US" sz="1600" dirty="0">
                <a:solidFill>
                  <a:srgbClr val="F5F5F0"/>
                </a:solidFill>
                <a:latin typeface="Calibri" pitchFamily="34" charset="0"/>
                <a:ea typeface="Calibri" pitchFamily="34" charset="-122"/>
                <a:cs typeface="Calibri" pitchFamily="34" charset="-120"/>
              </a:rPr>
              <a:t>Project → Team → Area Path.</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Columns-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GitHub Projects’ Strengths</a:t>
            </a:r>
            <a:endParaRPr lang="en-US" sz="3200" dirty="0"/>
          </a:p>
        </p:txBody>
      </p:sp>
      <p:sp>
        <p:nvSpPr>
          <p:cNvPr id="6" name="Shape 3"/>
          <p:cNvSpPr/>
          <p:nvPr/>
        </p:nvSpPr>
        <p:spPr>
          <a:xfrm>
            <a:off x="548640" y="1645920"/>
            <a:ext cx="11064240" cy="3566160"/>
          </a:xfrm>
          <a:prstGeom prst="roundRect">
            <a:avLst>
              <a:gd name="adj" fmla="val 3077"/>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74520"/>
            <a:ext cx="10332720" cy="3200400"/>
          </a:xfrm>
          <a:prstGeom prst="rect">
            <a:avLst/>
          </a:prstGeom>
          <a:noFill/>
          <a:ln/>
        </p:spPr>
        <p:txBody>
          <a:bodyPr wrap="square" lIns="0" tIns="0" rIns="0" bIns="0" rtlCol="0" anchor="ctr"/>
          <a:lstStyle/>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Lightweight and flexible — custom fields for iteration, single-select, date, number</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Lives right next to the actual issues and PRs it tracks</a:t>
            </a:r>
            <a:endParaRPr lang="en-US" sz="1900" dirty="0"/>
          </a:p>
          <a:p>
            <a:pPr marL="342900" indent="-342900">
              <a:lnSpc>
                <a:spcPct val="115000"/>
              </a:lnSpc>
              <a:spcAft>
                <a:spcPts val="1400"/>
              </a:spcAft>
              <a:buSzPct val="100000"/>
              <a:buChar char="•"/>
            </a:pPr>
            <a:r>
              <a:rPr lang="en-US" sz="1900" dirty="0">
                <a:solidFill>
                  <a:srgbClr val="2B2B2B"/>
                </a:solidFill>
                <a:latin typeface="Calibri" pitchFamily="34" charset="0"/>
                <a:ea typeface="Calibri" pitchFamily="34" charset="-122"/>
                <a:cs typeface="Calibri" pitchFamily="34" charset="-120"/>
              </a:rPr>
              <a:t>Fast for small-team daily triage — no context switch to a separate system</a:t>
            </a:r>
            <a:endParaRPr lang="en-US" sz="1900" dirty="0"/>
          </a:p>
          <a:p>
            <a:pPr marL="342900" indent="-342900">
              <a:lnSpc>
                <a:spcPct val="115000"/>
              </a:lnSpc>
              <a:buSzPct val="100000"/>
              <a:buChar char="•"/>
            </a:pPr>
            <a:r>
              <a:rPr lang="en-US" sz="1900" dirty="0">
                <a:solidFill>
                  <a:srgbClr val="2B2B2B"/>
                </a:solidFill>
                <a:latin typeface="Calibri" pitchFamily="34" charset="0"/>
                <a:ea typeface="Calibri" pitchFamily="34" charset="-122"/>
                <a:cs typeface="Calibri" pitchFamily="34" charset="-120"/>
              </a:rPr>
              <a:t>Roadmap layout, plus built-in or Actions-driven automation</a:t>
            </a:r>
            <a:endParaRPr lang="en-US" sz="1900" dirty="0"/>
          </a:p>
        </p:txBody>
      </p:sp>
      <p:sp>
        <p:nvSpPr>
          <p:cNvPr id="8" name="Shape 5"/>
          <p:cNvSpPr/>
          <p:nvPr/>
        </p:nvSpPr>
        <p:spPr>
          <a:xfrm>
            <a:off x="548640" y="5440680"/>
            <a:ext cx="11064240" cy="868680"/>
          </a:xfrm>
          <a:prstGeom prst="roundRect">
            <a:avLst>
              <a:gd name="adj" fmla="val 12632"/>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5577840"/>
            <a:ext cx="10515600" cy="594360"/>
          </a:xfrm>
          <a:prstGeom prst="rect">
            <a:avLst/>
          </a:prstGeom>
          <a:noFill/>
          <a:ln/>
        </p:spPr>
        <p:txBody>
          <a:bodyPr wrap="square" lIns="0" tIns="0" rIns="0" bIns="0" rtlCol="0" anchor="ctr"/>
          <a:lstStyle/>
          <a:p>
            <a:pPr indent="0" marL="0">
              <a:buNone/>
            </a:pPr>
            <a:r>
              <a:rPr lang="en-US" sz="1600" b="1" dirty="0">
                <a:solidFill>
                  <a:srgbClr val="F5F5F0"/>
                </a:solidFill>
                <a:latin typeface="Calibri" pitchFamily="34" charset="0"/>
                <a:ea typeface="Calibri" pitchFamily="34" charset="-122"/>
                <a:cs typeface="Calibri" pitchFamily="34" charset="-120"/>
              </a:rPr>
              <a:t>Organizes by: </a:t>
            </a:r>
            <a:pPr indent="0" marL="0">
              <a:buNone/>
            </a:pPr>
            <a:r>
              <a:rPr lang="en-US" sz="1600" dirty="0">
                <a:solidFill>
                  <a:srgbClr val="F5F5F0"/>
                </a:solidFill>
                <a:latin typeface="Calibri" pitchFamily="34" charset="0"/>
                <a:ea typeface="Calibri" pitchFamily="34" charset="-122"/>
                <a:cs typeface="Calibri" pitchFamily="34" charset="-120"/>
              </a:rPr>
              <a:t>Repository → Label → Milestone.</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Unlin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What You Lose Migrating Work Items</a:t>
            </a:r>
            <a:endParaRPr lang="en-US" sz="3200" dirty="0"/>
          </a:p>
        </p:txBody>
      </p:sp>
      <p:sp>
        <p:nvSpPr>
          <p:cNvPr id="6" name="Shape 3"/>
          <p:cNvSpPr/>
          <p:nvPr/>
        </p:nvSpPr>
        <p:spPr>
          <a:xfrm>
            <a:off x="548640" y="1645920"/>
            <a:ext cx="11064240" cy="2926080"/>
          </a:xfrm>
          <a:prstGeom prst="roundRect">
            <a:avLst>
              <a:gd name="adj" fmla="val 375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914400" y="1874520"/>
            <a:ext cx="10332720" cy="2560320"/>
          </a:xfrm>
          <a:prstGeom prst="rect">
            <a:avLst/>
          </a:prstGeom>
          <a:noFill/>
          <a:ln/>
        </p:spPr>
        <p:txBody>
          <a:bodyPr wrap="square" lIns="0" tIns="0" rIns="0" bIns="0" rtlCol="0" anchor="ctr"/>
          <a:lstStyle/>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Sprint history</a:t>
            </a:r>
            <a:endParaRPr lang="en-US" sz="1900" dirty="0"/>
          </a:p>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Capacity data</a:t>
            </a:r>
            <a:endParaRPr lang="en-US" sz="1900" dirty="0"/>
          </a:p>
          <a:p>
            <a:pPr marL="342900" indent="-342900">
              <a:lnSpc>
                <a:spcPct val="120000"/>
              </a:lnSpc>
              <a:spcAft>
                <a:spcPts val="1200"/>
              </a:spcAft>
              <a:buSzPct val="100000"/>
              <a:buChar char="•"/>
            </a:pPr>
            <a:r>
              <a:rPr lang="en-US" sz="1900" dirty="0">
                <a:solidFill>
                  <a:srgbClr val="2B2B2B"/>
                </a:solidFill>
                <a:latin typeface="Calibri" pitchFamily="34" charset="0"/>
                <a:ea typeface="Calibri" pitchFamily="34" charset="-122"/>
                <a:cs typeface="Calibri" pitchFamily="34" charset="-120"/>
              </a:rPr>
              <a:t>Custom process fields</a:t>
            </a:r>
            <a:endParaRPr lang="en-US" sz="1900" dirty="0"/>
          </a:p>
          <a:p>
            <a:pPr marL="342900" indent="-342900">
              <a:lnSpc>
                <a:spcPct val="120000"/>
              </a:lnSpc>
              <a:buSzPct val="100000"/>
              <a:buChar char="•"/>
            </a:pPr>
            <a:r>
              <a:rPr lang="en-US" sz="1900" dirty="0">
                <a:solidFill>
                  <a:srgbClr val="2B2B2B"/>
                </a:solidFill>
                <a:latin typeface="Calibri" pitchFamily="34" charset="0"/>
                <a:ea typeface="Calibri" pitchFamily="34" charset="-122"/>
                <a:cs typeface="Calibri" pitchFamily="34" charset="-120"/>
              </a:rPr>
              <a:t>The whole Project → Team → Area Path hierarchy</a:t>
            </a:r>
            <a:endParaRPr lang="en-US" sz="1900" dirty="0"/>
          </a:p>
        </p:txBody>
      </p:sp>
      <p:sp>
        <p:nvSpPr>
          <p:cNvPr id="8" name="Shape 5"/>
          <p:cNvSpPr/>
          <p:nvPr/>
        </p:nvSpPr>
        <p:spPr>
          <a:xfrm>
            <a:off x="548640" y="4800600"/>
            <a:ext cx="11064240" cy="1508760"/>
          </a:xfrm>
          <a:prstGeom prst="roundRect">
            <a:avLst>
              <a:gd name="adj" fmla="val 7273"/>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937760"/>
            <a:ext cx="10515600" cy="1234440"/>
          </a:xfrm>
          <a:prstGeom prst="rect">
            <a:avLst/>
          </a:prstGeom>
          <a:noFill/>
          <a:ln/>
        </p:spPr>
        <p:txBody>
          <a:bodyPr wrap="square" lIns="0" tIns="0" rIns="0" bIns="0" rtlCol="0" anchor="ctr"/>
          <a:lstStyle/>
          <a:p>
            <a:pPr indent="0" marL="0">
              <a:lnSpc>
                <a:spcPct val="115000"/>
              </a:lnSpc>
              <a:buNone/>
            </a:pPr>
            <a:r>
              <a:rPr lang="en-US" sz="1500" b="1" dirty="0">
                <a:solidFill>
                  <a:srgbClr val="F5F5F0"/>
                </a:solidFill>
                <a:latin typeface="Calibri" pitchFamily="34" charset="0"/>
                <a:ea typeface="Calibri" pitchFamily="34" charset="-122"/>
                <a:cs typeface="Calibri" pitchFamily="34" charset="-120"/>
              </a:rPr>
              <a:t>Open-source help exists — </a:t>
            </a:r>
            <a:pPr indent="0" marL="0">
              <a:lnSpc>
                <a:spcPct val="115000"/>
              </a:lnSpc>
              <a:buNone/>
            </a:pPr>
            <a:r>
              <a:rPr lang="en-US" sz="1500" dirty="0">
                <a:solidFill>
                  <a:srgbClr val="F5F5F0"/>
                </a:solidFill>
                <a:latin typeface="Calibri" pitchFamily="34" charset="0"/>
                <a:ea typeface="Calibri" pitchFamily="34" charset="-122"/>
                <a:cs typeface="Calibri" pitchFamily="34" charset="-120"/>
              </a:rPr>
              <a:t>`azure-devops-migration-tools` can move work items over. But expect real manual-mapping time: the two data models don’t line up, so this is a project, not a script you run once and forget.</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Ban-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Test Plans: Stays Behind</a:t>
            </a:r>
            <a:endParaRPr lang="en-US" sz="3200" dirty="0"/>
          </a:p>
        </p:txBody>
      </p:sp>
      <p:sp>
        <p:nvSpPr>
          <p:cNvPr id="6" name="Shape 3"/>
          <p:cNvSpPr/>
          <p:nvPr/>
        </p:nvSpPr>
        <p:spPr>
          <a:xfrm>
            <a:off x="548640" y="1691640"/>
            <a:ext cx="11064240" cy="2011680"/>
          </a:xfrm>
          <a:prstGeom prst="roundRect">
            <a:avLst>
              <a:gd name="adj" fmla="val 5455"/>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965960"/>
            <a:ext cx="10515600" cy="822960"/>
          </a:xfrm>
          <a:prstGeom prst="rect">
            <a:avLst/>
          </a:prstGeom>
          <a:noFill/>
          <a:ln/>
        </p:spPr>
        <p:txBody>
          <a:bodyPr wrap="square" lIns="0" tIns="0" rIns="0" bIns="0" rtlCol="0" anchor="ctr"/>
          <a:lstStyle/>
          <a:p>
            <a:pPr algn="ctr" indent="0" marL="0">
              <a:buNone/>
            </a:pPr>
            <a:r>
              <a:rPr lang="en-US" sz="3000" b="1" dirty="0">
                <a:solidFill>
                  <a:srgbClr val="F5F5F0"/>
                </a:solidFill>
                <a:latin typeface="Cambria" pitchFamily="34" charset="0"/>
                <a:ea typeface="Cambria" pitchFamily="34" charset="-122"/>
                <a:cs typeface="Cambria" pitchFamily="34" charset="-120"/>
              </a:rPr>
              <a:t>No GitHub equivalent. Full stop.</a:t>
            </a:r>
            <a:endParaRPr lang="en-US" sz="3000" dirty="0"/>
          </a:p>
        </p:txBody>
      </p:sp>
      <p:sp>
        <p:nvSpPr>
          <p:cNvPr id="8" name="Text 5"/>
          <p:cNvSpPr txBox="1"/>
          <p:nvPr/>
        </p:nvSpPr>
        <p:spPr>
          <a:xfrm>
            <a:off x="822960" y="2788920"/>
            <a:ext cx="10515600" cy="731520"/>
          </a:xfrm>
          <a:prstGeom prst="rect">
            <a:avLst/>
          </a:prstGeom>
          <a:noFill/>
          <a:ln/>
        </p:spPr>
        <p:txBody>
          <a:bodyPr wrap="square" lIns="0" tIns="0" rIns="0" bIns="0" rtlCol="0" anchor="ctr"/>
          <a:lstStyle/>
          <a:p>
            <a:pPr algn="ctr" indent="0" marL="0">
              <a:buNone/>
            </a:pPr>
            <a:r>
              <a:rPr lang="en-US" sz="1600" dirty="0">
                <a:solidFill>
                  <a:srgbClr val="8C6A3F"/>
                </a:solidFill>
                <a:latin typeface="Calibri" pitchFamily="34" charset="0"/>
                <a:ea typeface="Calibri" pitchFamily="34" charset="-122"/>
                <a:cs typeface="Calibri" pitchFamily="34" charset="-120"/>
              </a:rPr>
              <a:t>No native GitHub Projects or Issues equivalent for structured manual and exploratory testing.</a:t>
            </a:r>
            <a:endParaRPr lang="en-US" sz="1600" dirty="0"/>
          </a:p>
        </p:txBody>
      </p:sp>
      <p:sp>
        <p:nvSpPr>
          <p:cNvPr id="9" name="Shape 6"/>
          <p:cNvSpPr/>
          <p:nvPr/>
        </p:nvSpPr>
        <p:spPr>
          <a:xfrm>
            <a:off x="548640" y="4069080"/>
            <a:ext cx="11064240" cy="1371600"/>
          </a:xfrm>
          <a:prstGeom prst="roundRect">
            <a:avLst>
              <a:gd name="adj" fmla="val 8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822960" y="4206240"/>
            <a:ext cx="10515600" cy="109728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In a regulated environment, this alone can be a reason to keep Azure DevOps in the picture.</a:t>
            </a:r>
            <a:endParaRPr lang="en-US" sz="1800" dirty="0"/>
          </a:p>
        </p:txBody>
      </p:sp>
      <p:sp>
        <p:nvSpPr>
          <p:cNvPr id="11" name="Text 8"/>
          <p:cNvSpPr txBox="1"/>
          <p:nvPr/>
        </p:nvSpPr>
        <p:spPr>
          <a:xfrm>
            <a:off x="548640" y="5715000"/>
            <a:ext cx="11064240" cy="548640"/>
          </a:xfrm>
          <a:prstGeom prst="rect">
            <a:avLst/>
          </a:prstGeom>
          <a:noFill/>
          <a:ln/>
        </p:spPr>
        <p:txBody>
          <a:bodyPr wrap="square" lIns="0" tIns="0" rIns="0" bIns="0" rtlCol="0" anchor="ctr"/>
          <a:lstStyle/>
          <a:p>
            <a:pPr algn="ctr" indent="0" marL="0">
              <a:buNone/>
            </a:pPr>
            <a:r>
              <a:rPr lang="en-US" sz="1900" b="1" i="1" dirty="0">
                <a:solidFill>
                  <a:srgbClr val="C1440E"/>
                </a:solidFill>
                <a:latin typeface="Cambria" pitchFamily="34" charset="0"/>
                <a:ea typeface="Cambria" pitchFamily="34" charset="-122"/>
                <a:cs typeface="Cambria" pitchFamily="34" charset="-120"/>
              </a:rPr>
              <a:t>Sometimes “it doesn’t move, and that’s fine” is the honest answer.</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n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Hybrid Pattern — the Resolution, Not the Compromise</a:t>
            </a:r>
            <a:endParaRPr lang="en-US" sz="3200" dirty="0"/>
          </a:p>
        </p:txBody>
      </p:sp>
      <p:sp>
        <p:nvSpPr>
          <p:cNvPr id="6" name="Text 3"/>
          <p:cNvSpPr txBox="1"/>
          <p:nvPr/>
        </p:nvSpPr>
        <p:spPr>
          <a:xfrm>
            <a:off x="548640" y="1600200"/>
            <a:ext cx="11064240" cy="594360"/>
          </a:xfrm>
          <a:prstGeom prst="rect">
            <a:avLst/>
          </a:prstGeom>
          <a:noFill/>
          <a:ln/>
        </p:spPr>
        <p:txBody>
          <a:bodyPr wrap="square" lIns="0" tIns="0" rIns="0" bIns="0" rtlCol="0" anchor="ctr"/>
          <a:lstStyle/>
          <a:p>
            <a:pPr indent="0" marL="0">
              <a:buNone/>
            </a:pPr>
            <a:r>
              <a:rPr lang="en-US" sz="2100" b="1" dirty="0">
                <a:solidFill>
                  <a:srgbClr val="1F3D2C"/>
                </a:solidFill>
                <a:latin typeface="Cambria" pitchFamily="34" charset="0"/>
                <a:ea typeface="Cambria" pitchFamily="34" charset="-122"/>
                <a:cs typeface="Cambria" pitchFamily="34" charset="-120"/>
              </a:rPr>
              <a:t>Connect Azure Boards to GitHub repos before touching anything else.</a:t>
            </a:r>
            <a:endParaRPr lang="en-US" sz="2100" dirty="0"/>
          </a:p>
        </p:txBody>
      </p:sp>
      <p:sp>
        <p:nvSpPr>
          <p:cNvPr id="7" name="Shape 4"/>
          <p:cNvSpPr/>
          <p:nvPr/>
        </p:nvSpPr>
        <p:spPr>
          <a:xfrm>
            <a:off x="548640" y="2377440"/>
            <a:ext cx="5349240" cy="2606040"/>
          </a:xfrm>
          <a:prstGeom prst="roundRect">
            <a:avLst>
              <a:gd name="adj" fmla="val 4211"/>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822960" y="2560320"/>
            <a:ext cx="4800600" cy="502920"/>
          </a:xfrm>
          <a:prstGeom prst="rect">
            <a:avLst/>
          </a:prstGeom>
          <a:noFill/>
          <a:ln/>
        </p:spPr>
        <p:txBody>
          <a:bodyPr wrap="square" lIns="0" tIns="0" rIns="0" bIns="0" rtlCol="0" anchor="ctr"/>
          <a:lstStyle/>
          <a:p>
            <a:pPr indent="0" marL="0">
              <a:buNone/>
            </a:pPr>
            <a:r>
              <a:rPr lang="en-US" sz="2100" b="1" dirty="0">
                <a:solidFill>
                  <a:srgbClr val="F5F5F0"/>
                </a:solidFill>
                <a:latin typeface="Cambria" pitchFamily="34" charset="0"/>
                <a:ea typeface="Cambria" pitchFamily="34" charset="-122"/>
                <a:cs typeface="Cambria" pitchFamily="34" charset="-120"/>
              </a:rPr>
              <a:t>Developers</a:t>
            </a:r>
            <a:endParaRPr lang="en-US" sz="2100" dirty="0"/>
          </a:p>
        </p:txBody>
      </p:sp>
      <p:sp>
        <p:nvSpPr>
          <p:cNvPr id="9" name="Text 6"/>
          <p:cNvSpPr txBox="1"/>
          <p:nvPr/>
        </p:nvSpPr>
        <p:spPr>
          <a:xfrm>
            <a:off x="822960" y="3127248"/>
            <a:ext cx="4800600" cy="1737360"/>
          </a:xfrm>
          <a:prstGeom prst="rect">
            <a:avLst/>
          </a:prstGeom>
          <a:noFill/>
          <a:ln/>
        </p:spPr>
        <p:txBody>
          <a:bodyPr wrap="square" lIns="0" tIns="0" rIns="0" bIns="0" rtlCol="0" anchor="ctr"/>
          <a:lstStyle/>
          <a:p>
            <a:pPr indent="0" marL="0">
              <a:lnSpc>
                <a:spcPct val="115000"/>
              </a:lnSpc>
              <a:buNone/>
            </a:pPr>
            <a:r>
              <a:rPr lang="en-US" sz="1700" dirty="0">
                <a:solidFill>
                  <a:srgbClr val="F5F5F0"/>
                </a:solidFill>
                <a:latin typeface="Calibri" pitchFamily="34" charset="0"/>
                <a:ea typeface="Calibri" pitchFamily="34" charset="-122"/>
                <a:cs typeface="Calibri" pitchFamily="34" charset="-120"/>
              </a:rPr>
              <a:t>Work in GitHub — code, PRs, and Copilot, right next to the issues that matter to them.</a:t>
            </a:r>
            <a:endParaRPr lang="en-US" sz="1700" dirty="0"/>
          </a:p>
        </p:txBody>
      </p:sp>
      <p:sp>
        <p:nvSpPr>
          <p:cNvPr id="10" name="Shape 7"/>
          <p:cNvSpPr/>
          <p:nvPr/>
        </p:nvSpPr>
        <p:spPr>
          <a:xfrm>
            <a:off x="6172200" y="2377440"/>
            <a:ext cx="5349240" cy="2606040"/>
          </a:xfrm>
          <a:prstGeom prst="roundRect">
            <a:avLst>
              <a:gd name="adj" fmla="val 4211"/>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6446520" y="2560320"/>
            <a:ext cx="4800600" cy="502920"/>
          </a:xfrm>
          <a:prstGeom prst="rect">
            <a:avLst/>
          </a:prstGeom>
          <a:noFill/>
          <a:ln/>
        </p:spPr>
        <p:txBody>
          <a:bodyPr wrap="square" lIns="0" tIns="0" rIns="0" bIns="0" rtlCol="0" anchor="ctr"/>
          <a:lstStyle/>
          <a:p>
            <a:pPr indent="0" marL="0">
              <a:buNone/>
            </a:pPr>
            <a:r>
              <a:rPr lang="en-US" sz="2100" b="1" dirty="0">
                <a:solidFill>
                  <a:srgbClr val="1F3D2C"/>
                </a:solidFill>
                <a:latin typeface="Cambria" pitchFamily="34" charset="0"/>
                <a:ea typeface="Cambria" pitchFamily="34" charset="-122"/>
                <a:cs typeface="Cambria" pitchFamily="34" charset="-120"/>
              </a:rPr>
              <a:t>Managers</a:t>
            </a:r>
            <a:endParaRPr lang="en-US" sz="2100" dirty="0"/>
          </a:p>
        </p:txBody>
      </p:sp>
      <p:sp>
        <p:nvSpPr>
          <p:cNvPr id="12" name="Text 9"/>
          <p:cNvSpPr txBox="1"/>
          <p:nvPr/>
        </p:nvSpPr>
        <p:spPr>
          <a:xfrm>
            <a:off x="6446520" y="3127248"/>
            <a:ext cx="4800600" cy="1737360"/>
          </a:xfrm>
          <a:prstGeom prst="rect">
            <a:avLst/>
          </a:prstGeom>
          <a:noFill/>
          <a:ln/>
        </p:spPr>
        <p:txBody>
          <a:bodyPr wrap="square" lIns="0" tIns="0" rIns="0" bIns="0" rtlCol="0" anchor="ctr"/>
          <a:lstStyle/>
          <a:p>
            <a:pPr indent="0" marL="0">
              <a:lnSpc>
                <a:spcPct val="115000"/>
              </a:lnSpc>
              <a:buNone/>
            </a:pPr>
            <a:r>
              <a:rPr lang="en-US" sz="1700" dirty="0">
                <a:solidFill>
                  <a:srgbClr val="2B2B2B"/>
                </a:solidFill>
                <a:latin typeface="Calibri" pitchFamily="34" charset="0"/>
                <a:ea typeface="Calibri" pitchFamily="34" charset="-122"/>
                <a:cs typeface="Calibri" pitchFamily="34" charset="-120"/>
              </a:rPr>
              <a:t>Keep the sprint hub, capacity charts, and Power BI reporting exactly where they already are.</a:t>
            </a:r>
            <a:endParaRPr lang="en-US" sz="1700" dirty="0"/>
          </a:p>
        </p:txBody>
      </p:sp>
      <p:sp>
        <p:nvSpPr>
          <p:cNvPr id="13" name="Text 10"/>
          <p:cNvSpPr txBox="1"/>
          <p:nvPr/>
        </p:nvSpPr>
        <p:spPr>
          <a:xfrm>
            <a:off x="548640" y="5257800"/>
            <a:ext cx="11064240" cy="594360"/>
          </a:xfrm>
          <a:prstGeom prst="rect">
            <a:avLst/>
          </a:prstGeom>
          <a:noFill/>
          <a:ln/>
        </p:spPr>
        <p:txBody>
          <a:bodyPr wrap="square" lIns="0" tIns="0" rIns="0" bIns="0" rtlCol="0" anchor="ctr"/>
          <a:lstStyle/>
          <a:p>
            <a:pPr algn="ctr" indent="0" marL="0">
              <a:buNone/>
            </a:pPr>
            <a:r>
              <a:rPr lang="en-US" sz="1800" i="1" dirty="0">
                <a:solidFill>
                  <a:srgbClr val="C1440E"/>
                </a:solidFill>
                <a:latin typeface="Calibri" pitchFamily="34" charset="0"/>
                <a:ea typeface="Calibri" pitchFamily="34" charset="-122"/>
                <a:cs typeface="Calibri" pitchFamily="34" charset="-120"/>
              </a:rPr>
              <a:t>Microsoft designed this as the intended shape. Call it the answer, not the fallback.</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ThumbsUp-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SPRINT PLANNING IN ITS NATURAL HABITAT</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Recommendation: Connect Boards, Don’t Migrate Work Items</a:t>
            </a:r>
            <a:endParaRPr lang="en-US" sz="3200" dirty="0"/>
          </a:p>
        </p:txBody>
      </p:sp>
      <p:sp>
        <p:nvSpPr>
          <p:cNvPr id="6" name="Shape 3"/>
          <p:cNvSpPr/>
          <p:nvPr/>
        </p:nvSpPr>
        <p:spPr>
          <a:xfrm>
            <a:off x="548640" y="1691640"/>
            <a:ext cx="11064240" cy="2286000"/>
          </a:xfrm>
          <a:prstGeom prst="roundRect">
            <a:avLst>
              <a:gd name="adj" fmla="val 48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920240"/>
            <a:ext cx="10332720" cy="1920240"/>
          </a:xfrm>
          <a:prstGeom prst="rect">
            <a:avLst/>
          </a:prstGeom>
          <a:noFill/>
          <a:ln/>
        </p:spPr>
        <p:txBody>
          <a:bodyPr wrap="square" lIns="0" tIns="0" rIns="0" bIns="0" rtlCol="0" anchor="ctr"/>
          <a:lstStyle/>
          <a:p>
            <a:pPr indent="0" marL="0">
              <a:lnSpc>
                <a:spcPct val="125000"/>
              </a:lnSpc>
              <a:buNone/>
            </a:pPr>
            <a:r>
              <a:rPr lang="en-US" sz="1900" b="1" dirty="0">
                <a:solidFill>
                  <a:srgbClr val="2B2B2B"/>
                </a:solidFill>
                <a:latin typeface="Calibri" pitchFamily="34" charset="0"/>
                <a:ea typeface="Calibri" pitchFamily="34" charset="-122"/>
                <a:cs typeface="Calibri" pitchFamily="34" charset="-120"/>
              </a:rPr>
              <a:t>Don’t migrate to GitHub Issues unless your PM needs are genuinely simple. </a:t>
            </a:r>
            <a:pPr indent="0" marL="0">
              <a:lnSpc>
                <a:spcPct val="125000"/>
              </a:lnSpc>
              <a:buNone/>
            </a:pPr>
            <a:r>
              <a:rPr lang="en-US" sz="1900" dirty="0">
                <a:solidFill>
                  <a:srgbClr val="2B2B2B"/>
                </a:solidFill>
                <a:latin typeface="Calibri" pitchFamily="34" charset="0"/>
                <a:ea typeface="Calibri" pitchFamily="34" charset="-122"/>
                <a:cs typeface="Calibri" pitchFamily="34" charset="-120"/>
              </a:rPr>
              <a:t>For most teams past a handful of people, the hierarchy, capacity planning, and reporting Azure Boards already gives you are worth keeping — connect it instead of replacing it.</a:t>
            </a:r>
            <a:endParaRPr lang="en-US" sz="1900" dirty="0"/>
          </a:p>
        </p:txBody>
      </p:sp>
      <p:sp>
        <p:nvSpPr>
          <p:cNvPr id="8" name="Shape 5"/>
          <p:cNvSpPr/>
          <p:nvPr/>
        </p:nvSpPr>
        <p:spPr>
          <a:xfrm>
            <a:off x="548640" y="4206240"/>
            <a:ext cx="11064240" cy="1691640"/>
          </a:xfrm>
          <a:prstGeom prst="roundRect">
            <a:avLst>
              <a:gd name="adj" fmla="val 6486"/>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370832"/>
            <a:ext cx="10515600" cy="1371600"/>
          </a:xfrm>
          <a:prstGeom prst="rect">
            <a:avLst/>
          </a:prstGeom>
          <a:noFill/>
          <a:ln/>
        </p:spPr>
        <p:txBody>
          <a:bodyPr wrap="square" lIns="0" tIns="0" rIns="0" bIns="0" rtlCol="0" anchor="ctr"/>
          <a:lstStyle/>
          <a:p>
            <a:pPr indent="0" marL="0">
              <a:lnSpc>
                <a:spcPct val="115000"/>
              </a:lnSpc>
              <a:buNone/>
            </a:pPr>
            <a:r>
              <a:rPr lang="en-US" sz="1500" b="1" dirty="0">
                <a:solidFill>
                  <a:srgbClr val="F5F5F0"/>
                </a:solidFill>
                <a:latin typeface="Calibri" pitchFamily="34" charset="0"/>
                <a:ea typeface="Calibri" pitchFamily="34" charset="-122"/>
                <a:cs typeface="Calibri" pitchFamily="34" charset="-120"/>
              </a:rPr>
              <a:t>And if Azure DevOps isn’t the right choice for planning either: </a:t>
            </a:r>
            <a:pPr indent="0" marL="0">
              <a:lnSpc>
                <a:spcPct val="115000"/>
              </a:lnSpc>
              <a:buNone/>
            </a:pPr>
            <a:r>
              <a:rPr lang="en-US" sz="1500" dirty="0">
                <a:solidFill>
                  <a:srgbClr val="F5F5F0"/>
                </a:solidFill>
                <a:latin typeface="Calibri" pitchFamily="34" charset="0"/>
                <a:ea typeface="Calibri" pitchFamily="34" charset="-122"/>
                <a:cs typeface="Calibri" pitchFamily="34" charset="-120"/>
              </a:rPr>
              <a:t>this recommendation isn’t “Azure Boards forever.” It’s “don’t default to GitHub Issues just because the code moved.” Leave the door open to whatever work-planning tool actually fits — that’s a separate decision from where the code lives.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F3D2C"/>
        </a:solidFill>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algn="ctr" indent="0" marL="0">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algn="ctr" indent="0" marL="0">
              <a:buNone/>
            </a:pPr>
            <a:r>
              <a:rPr lang="en-US" sz="1900" i="1" dirty="0">
                <a:solidFill>
                  <a:srgbClr val="8C6A3F"/>
                </a:solidFill>
                <a:latin typeface="Calibri" pitchFamily="34" charset="0"/>
                <a:ea typeface="Calibri" pitchFamily="34" charset="-122"/>
                <a:cs typeface="Calibri" pitchFamily="34" charset="-120"/>
              </a:rPr>
              <a:t>One quick question before we leave Section 4 — Sprint Planning in Its Natural Habitat</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5</a:t>
            </a:r>
            <a:endParaRPr lang="en-US" sz="1700" dirty="0"/>
          </a:p>
        </p:txBody>
      </p:sp>
      <p:pic>
        <p:nvPicPr>
          <p:cNvPr id="4" name="Image 0" descr="/home/claude/pptx-build/assets/icons/FaShieldAlt-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The Senior Engineer Defends an Ancient Pipeline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It has survived three reorgs, two failed migrations, and one engineer who swore they’d rewrite it “this quarter.” It is loved. It is also the reason nothing else can change.</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TheaterMasks-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This Is Change Management Wearing an Engineering Costume</a:t>
            </a:r>
            <a:endParaRPr lang="en-US" sz="3200" dirty="0"/>
          </a:p>
        </p:txBody>
      </p:sp>
      <p:sp>
        <p:nvSpPr>
          <p:cNvPr id="6" name="Shape 3"/>
          <p:cNvSpPr/>
          <p:nvPr/>
        </p:nvSpPr>
        <p:spPr>
          <a:xfrm>
            <a:off x="548640" y="1691640"/>
            <a:ext cx="11064240" cy="1920240"/>
          </a:xfrm>
          <a:prstGeom prst="roundRect">
            <a:avLst>
              <a:gd name="adj" fmla="val 5714"/>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74520"/>
            <a:ext cx="10515600" cy="1554480"/>
          </a:xfrm>
          <a:prstGeom prst="rect">
            <a:avLst/>
          </a:prstGeom>
          <a:noFill/>
          <a:ln/>
        </p:spPr>
        <p:txBody>
          <a:bodyPr wrap="square" lIns="0" tIns="0" rIns="0" bIns="0" rtlCol="0" anchor="ctr"/>
          <a:lstStyle/>
          <a:p>
            <a:pPr indent="0" marL="0">
              <a:lnSpc>
                <a:spcPct val="125000"/>
              </a:lnSpc>
              <a:buNone/>
            </a:pPr>
            <a:r>
              <a:rPr lang="en-US" sz="2000" b="1" dirty="0">
                <a:solidFill>
                  <a:srgbClr val="2B2B2B"/>
                </a:solidFill>
                <a:latin typeface="Calibri" pitchFamily="34" charset="0"/>
                <a:ea typeface="Calibri" pitchFamily="34" charset="-122"/>
                <a:cs typeface="Calibri" pitchFamily="34" charset="-120"/>
              </a:rPr>
              <a:t>Migrations that fail, fail on change management, not mechanics. </a:t>
            </a:r>
            <a:pPr indent="0" marL="0">
              <a:lnSpc>
                <a:spcPct val="125000"/>
              </a:lnSpc>
              <a:buNone/>
            </a:pPr>
            <a:r>
              <a:rPr lang="en-US" sz="2000" dirty="0">
                <a:solidFill>
                  <a:srgbClr val="2B2B2B"/>
                </a:solidFill>
                <a:latin typeface="Calibri" pitchFamily="34" charset="0"/>
                <a:ea typeface="Calibri" pitchFamily="34" charset="-122"/>
                <a:cs typeface="Calibri" pitchFamily="34" charset="-120"/>
              </a:rPr>
              <a:t>The tooling almost always works. What breaks is everything around it.</a:t>
            </a:r>
            <a:endParaRPr lang="en-US" sz="2000" dirty="0"/>
          </a:p>
        </p:txBody>
      </p:sp>
      <p:sp>
        <p:nvSpPr>
          <p:cNvPr id="8" name="Shape 5"/>
          <p:cNvSpPr/>
          <p:nvPr/>
        </p:nvSpPr>
        <p:spPr>
          <a:xfrm>
            <a:off x="548640" y="3886200"/>
            <a:ext cx="11064240" cy="777240"/>
          </a:xfrm>
          <a:prstGeom prst="roundRect">
            <a:avLst>
              <a:gd name="adj" fmla="val 14118"/>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005072"/>
            <a:ext cx="10515600" cy="548640"/>
          </a:xfrm>
          <a:prstGeom prst="rect">
            <a:avLst/>
          </a:prstGeom>
          <a:noFill/>
          <a:ln/>
        </p:spPr>
        <p:txBody>
          <a:bodyPr wrap="square" lIns="0" tIns="0" rIns="0" bIns="0" rtlCol="0" anchor="ctr"/>
          <a:lstStyle/>
          <a:p>
            <a:pPr indent="0" marL="0">
              <a:buNone/>
            </a:pPr>
            <a:r>
              <a:rPr lang="en-US" sz="1700" dirty="0">
                <a:solidFill>
                  <a:srgbClr val="F5F5F0"/>
                </a:solidFill>
                <a:latin typeface="Calibri" pitchFamily="34" charset="0"/>
                <a:ea typeface="Calibri" pitchFamily="34" charset="-122"/>
                <a:cs typeface="Calibri" pitchFamily="34" charset="-120"/>
              </a:rPr>
              <a:t>No real selection process — the tool got picked, not evaluated</a:t>
            </a:r>
            <a:endParaRPr lang="en-US" sz="1700" dirty="0"/>
          </a:p>
        </p:txBody>
      </p:sp>
      <p:sp>
        <p:nvSpPr>
          <p:cNvPr id="10" name="Shape 7"/>
          <p:cNvSpPr/>
          <p:nvPr/>
        </p:nvSpPr>
        <p:spPr>
          <a:xfrm>
            <a:off x="548640" y="4846320"/>
            <a:ext cx="11064240" cy="777240"/>
          </a:xfrm>
          <a:prstGeom prst="roundRect">
            <a:avLst>
              <a:gd name="adj" fmla="val 14118"/>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1" name="Text 8"/>
          <p:cNvSpPr txBox="1"/>
          <p:nvPr/>
        </p:nvSpPr>
        <p:spPr>
          <a:xfrm>
            <a:off x="822960" y="4965192"/>
            <a:ext cx="10515600" cy="548640"/>
          </a:xfrm>
          <a:prstGeom prst="rect">
            <a:avLst/>
          </a:prstGeom>
          <a:noFill/>
          <a:ln/>
        </p:spPr>
        <p:txBody>
          <a:bodyPr wrap="square" lIns="0" tIns="0" rIns="0" bIns="0" rtlCol="0" anchor="ctr"/>
          <a:lstStyle/>
          <a:p>
            <a:pPr indent="0" marL="0">
              <a:buNone/>
            </a:pPr>
            <a:r>
              <a:rPr lang="en-US" sz="1700" dirty="0">
                <a:solidFill>
                  <a:srgbClr val="F5F5F0"/>
                </a:solidFill>
                <a:latin typeface="Calibri" pitchFamily="34" charset="0"/>
                <a:ea typeface="Calibri" pitchFamily="34" charset="-122"/>
                <a:cs typeface="Calibri" pitchFamily="34" charset="-120"/>
              </a:rPr>
              <a:t>Customization started before anyone understood the new tool</a:t>
            </a:r>
            <a:endParaRPr lang="en-US" sz="1700" dirty="0"/>
          </a:p>
        </p:txBody>
      </p:sp>
      <p:sp>
        <p:nvSpPr>
          <p:cNvPr id="12" name="Shape 9"/>
          <p:cNvSpPr/>
          <p:nvPr/>
        </p:nvSpPr>
        <p:spPr>
          <a:xfrm>
            <a:off x="548640" y="5806440"/>
            <a:ext cx="11064240" cy="777240"/>
          </a:xfrm>
          <a:prstGeom prst="roundRect">
            <a:avLst>
              <a:gd name="adj" fmla="val 14118"/>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822960" y="5925312"/>
            <a:ext cx="10515600" cy="548640"/>
          </a:xfrm>
          <a:prstGeom prst="rect">
            <a:avLst/>
          </a:prstGeom>
          <a:noFill/>
          <a:ln/>
        </p:spPr>
        <p:txBody>
          <a:bodyPr wrap="square" lIns="0" tIns="0" rIns="0" bIns="0" rtlCol="0" anchor="ctr"/>
          <a:lstStyle/>
          <a:p>
            <a:pPr indent="0" marL="0">
              <a:buNone/>
            </a:pPr>
            <a:r>
              <a:rPr lang="en-US" sz="1700" dirty="0">
                <a:solidFill>
                  <a:srgbClr val="F5F5F0"/>
                </a:solidFill>
                <a:latin typeface="Calibri" pitchFamily="34" charset="0"/>
                <a:ea typeface="Calibri" pitchFamily="34" charset="-122"/>
                <a:cs typeface="Calibri" pitchFamily="34" charset="-120"/>
              </a:rPr>
              <a:t>The rollout felt done to people, not with them</a:t>
            </a:r>
            <a:endParaRPr lang="en-US" sz="1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Tasks-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Disciplined Selection Process</a:t>
            </a:r>
            <a:endParaRPr lang="en-US" sz="3200" dirty="0"/>
          </a:p>
        </p:txBody>
      </p:sp>
      <p:sp>
        <p:nvSpPr>
          <p:cNvPr id="6" name="Shape 3"/>
          <p:cNvSpPr/>
          <p:nvPr/>
        </p:nvSpPr>
        <p:spPr>
          <a:xfrm>
            <a:off x="548640" y="1645920"/>
            <a:ext cx="11064240" cy="786384"/>
          </a:xfrm>
          <a:prstGeom prst="roundRect">
            <a:avLst>
              <a:gd name="adj" fmla="val 1395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777240" y="1746504"/>
            <a:ext cx="585216" cy="585216"/>
          </a:xfrm>
          <a:prstGeom prst="ellipse">
            <a:avLst/>
          </a:prstGeom>
          <a:solidFill>
            <a:srgbClr val="C1440E"/>
          </a:solidFill>
          <a:ln/>
        </p:spPr>
      </p:sp>
      <p:sp>
        <p:nvSpPr>
          <p:cNvPr id="8" name="Text 5"/>
          <p:cNvSpPr txBox="1"/>
          <p:nvPr/>
        </p:nvSpPr>
        <p:spPr>
          <a:xfrm>
            <a:off x="777240" y="1746504"/>
            <a:ext cx="585216" cy="585216"/>
          </a:xfrm>
          <a:prstGeom prst="rect">
            <a:avLst/>
          </a:prstGeom>
          <a:noFill/>
          <a:ln/>
        </p:spPr>
        <p:txBody>
          <a:bodyPr wrap="square" lIns="0" tIns="0" rIns="0" bIns="0" rtlCol="0" anchor="ctr"/>
          <a:lstStyle/>
          <a:p>
            <a:pPr algn="ctr" indent="0" marL="0">
              <a:buNone/>
            </a:pPr>
            <a:r>
              <a:rPr lang="en-US" sz="2000" b="1" dirty="0">
                <a:solidFill>
                  <a:srgbClr val="F5F5F0"/>
                </a:solidFill>
                <a:latin typeface="Cambria" pitchFamily="34" charset="0"/>
                <a:ea typeface="Cambria" pitchFamily="34" charset="-122"/>
                <a:cs typeface="Cambria" pitchFamily="34" charset="-120"/>
              </a:rPr>
              <a:t>1</a:t>
            </a:r>
            <a:endParaRPr lang="en-US" sz="2000" dirty="0"/>
          </a:p>
        </p:txBody>
      </p:sp>
      <p:sp>
        <p:nvSpPr>
          <p:cNvPr id="9" name="Text 6"/>
          <p:cNvSpPr txBox="1"/>
          <p:nvPr/>
        </p:nvSpPr>
        <p:spPr>
          <a:xfrm>
            <a:off x="1554480" y="1719072"/>
            <a:ext cx="3200400" cy="64008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Define must-haves</a:t>
            </a:r>
            <a:endParaRPr lang="en-US" sz="1600" dirty="0"/>
          </a:p>
        </p:txBody>
      </p:sp>
      <p:sp>
        <p:nvSpPr>
          <p:cNvPr id="10" name="Text 7"/>
          <p:cNvSpPr txBox="1"/>
          <p:nvPr/>
        </p:nvSpPr>
        <p:spPr>
          <a:xfrm>
            <a:off x="4892040" y="1719072"/>
            <a:ext cx="6492240" cy="64008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What the tool has to do, not what would be nice.</a:t>
            </a:r>
            <a:endParaRPr lang="en-US" sz="1350" dirty="0"/>
          </a:p>
        </p:txBody>
      </p:sp>
      <p:sp>
        <p:nvSpPr>
          <p:cNvPr id="11" name="Shape 8"/>
          <p:cNvSpPr/>
          <p:nvPr/>
        </p:nvSpPr>
        <p:spPr>
          <a:xfrm>
            <a:off x="548640" y="2487168"/>
            <a:ext cx="11064240" cy="786384"/>
          </a:xfrm>
          <a:prstGeom prst="roundRect">
            <a:avLst>
              <a:gd name="adj" fmla="val 1395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777240" y="2587752"/>
            <a:ext cx="585216" cy="585216"/>
          </a:xfrm>
          <a:prstGeom prst="ellipse">
            <a:avLst/>
          </a:prstGeom>
          <a:solidFill>
            <a:srgbClr val="C1440E"/>
          </a:solidFill>
          <a:ln/>
        </p:spPr>
      </p:sp>
      <p:sp>
        <p:nvSpPr>
          <p:cNvPr id="13" name="Text 10"/>
          <p:cNvSpPr txBox="1"/>
          <p:nvPr/>
        </p:nvSpPr>
        <p:spPr>
          <a:xfrm>
            <a:off x="777240" y="2587752"/>
            <a:ext cx="585216" cy="585216"/>
          </a:xfrm>
          <a:prstGeom prst="rect">
            <a:avLst/>
          </a:prstGeom>
          <a:noFill/>
          <a:ln/>
        </p:spPr>
        <p:txBody>
          <a:bodyPr wrap="square" lIns="0" tIns="0" rIns="0" bIns="0" rtlCol="0" anchor="ctr"/>
          <a:lstStyle/>
          <a:p>
            <a:pPr algn="ctr" indent="0" marL="0">
              <a:buNone/>
            </a:pPr>
            <a:r>
              <a:rPr lang="en-US" sz="2000" b="1" dirty="0">
                <a:solidFill>
                  <a:srgbClr val="F5F5F0"/>
                </a:solidFill>
                <a:latin typeface="Cambria" pitchFamily="34" charset="0"/>
                <a:ea typeface="Cambria" pitchFamily="34" charset="-122"/>
                <a:cs typeface="Cambria" pitchFamily="34" charset="-120"/>
              </a:rPr>
              <a:t>2</a:t>
            </a:r>
            <a:endParaRPr lang="en-US" sz="2000" dirty="0"/>
          </a:p>
        </p:txBody>
      </p:sp>
      <p:sp>
        <p:nvSpPr>
          <p:cNvPr id="14" name="Text 11"/>
          <p:cNvSpPr txBox="1"/>
          <p:nvPr/>
        </p:nvSpPr>
        <p:spPr>
          <a:xfrm>
            <a:off x="1554480" y="2560320"/>
            <a:ext cx="3200400" cy="64008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Assess constraints</a:t>
            </a:r>
            <a:endParaRPr lang="en-US" sz="1600" dirty="0"/>
          </a:p>
        </p:txBody>
      </p:sp>
      <p:sp>
        <p:nvSpPr>
          <p:cNvPr id="15" name="Text 12"/>
          <p:cNvSpPr txBox="1"/>
          <p:nvPr/>
        </p:nvSpPr>
        <p:spPr>
          <a:xfrm>
            <a:off x="4892040" y="2560320"/>
            <a:ext cx="6492240" cy="64008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Current toolchain, data-residency needs, compliance requirements.</a:t>
            </a:r>
            <a:endParaRPr lang="en-US" sz="1350" dirty="0"/>
          </a:p>
        </p:txBody>
      </p:sp>
      <p:sp>
        <p:nvSpPr>
          <p:cNvPr id="16" name="Shape 13"/>
          <p:cNvSpPr/>
          <p:nvPr/>
        </p:nvSpPr>
        <p:spPr>
          <a:xfrm>
            <a:off x="548640" y="3328416"/>
            <a:ext cx="11064240" cy="786384"/>
          </a:xfrm>
          <a:prstGeom prst="roundRect">
            <a:avLst>
              <a:gd name="adj" fmla="val 1395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4"/>
          <p:cNvSpPr/>
          <p:nvPr/>
        </p:nvSpPr>
        <p:spPr>
          <a:xfrm>
            <a:off x="777240" y="3429000"/>
            <a:ext cx="585216" cy="585216"/>
          </a:xfrm>
          <a:prstGeom prst="ellipse">
            <a:avLst/>
          </a:prstGeom>
          <a:solidFill>
            <a:srgbClr val="C1440E"/>
          </a:solidFill>
          <a:ln/>
        </p:spPr>
      </p:sp>
      <p:sp>
        <p:nvSpPr>
          <p:cNvPr id="18" name="Text 15"/>
          <p:cNvSpPr txBox="1"/>
          <p:nvPr/>
        </p:nvSpPr>
        <p:spPr>
          <a:xfrm>
            <a:off x="777240" y="3429000"/>
            <a:ext cx="585216" cy="585216"/>
          </a:xfrm>
          <a:prstGeom prst="rect">
            <a:avLst/>
          </a:prstGeom>
          <a:noFill/>
          <a:ln/>
        </p:spPr>
        <p:txBody>
          <a:bodyPr wrap="square" lIns="0" tIns="0" rIns="0" bIns="0" rtlCol="0" anchor="ctr"/>
          <a:lstStyle/>
          <a:p>
            <a:pPr algn="ctr" indent="0" marL="0">
              <a:buNone/>
            </a:pPr>
            <a:r>
              <a:rPr lang="en-US" sz="2000" b="1" dirty="0">
                <a:solidFill>
                  <a:srgbClr val="F5F5F0"/>
                </a:solidFill>
                <a:latin typeface="Cambria" pitchFamily="34" charset="0"/>
                <a:ea typeface="Cambria" pitchFamily="34" charset="-122"/>
                <a:cs typeface="Cambria" pitchFamily="34" charset="-120"/>
              </a:rPr>
              <a:t>3</a:t>
            </a:r>
            <a:endParaRPr lang="en-US" sz="2000" dirty="0"/>
          </a:p>
        </p:txBody>
      </p:sp>
      <p:sp>
        <p:nvSpPr>
          <p:cNvPr id="19" name="Text 16"/>
          <p:cNvSpPr txBox="1"/>
          <p:nvPr/>
        </p:nvSpPr>
        <p:spPr>
          <a:xfrm>
            <a:off x="1554480" y="3401568"/>
            <a:ext cx="3200400" cy="64008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Model one real increment</a:t>
            </a:r>
            <a:endParaRPr lang="en-US" sz="1600" dirty="0"/>
          </a:p>
        </p:txBody>
      </p:sp>
      <p:sp>
        <p:nvSpPr>
          <p:cNvPr id="20" name="Text 17"/>
          <p:cNvSpPr txBox="1"/>
          <p:nvPr/>
        </p:nvSpPr>
        <p:spPr>
          <a:xfrm>
            <a:off x="4892040" y="3401568"/>
            <a:ext cx="6492240" cy="64008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In each candidate tool — a real slice of real work, not a vendor demo.</a:t>
            </a:r>
            <a:endParaRPr lang="en-US" sz="1350" dirty="0"/>
          </a:p>
        </p:txBody>
      </p:sp>
      <p:sp>
        <p:nvSpPr>
          <p:cNvPr id="21" name="Shape 18"/>
          <p:cNvSpPr/>
          <p:nvPr/>
        </p:nvSpPr>
        <p:spPr>
          <a:xfrm>
            <a:off x="548640" y="4169664"/>
            <a:ext cx="11064240" cy="786384"/>
          </a:xfrm>
          <a:prstGeom prst="roundRect">
            <a:avLst>
              <a:gd name="adj" fmla="val 1395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2" name="Shape 19"/>
          <p:cNvSpPr/>
          <p:nvPr/>
        </p:nvSpPr>
        <p:spPr>
          <a:xfrm>
            <a:off x="777240" y="4270248"/>
            <a:ext cx="585216" cy="585216"/>
          </a:xfrm>
          <a:prstGeom prst="ellipse">
            <a:avLst/>
          </a:prstGeom>
          <a:solidFill>
            <a:srgbClr val="C1440E"/>
          </a:solidFill>
          <a:ln/>
        </p:spPr>
      </p:sp>
      <p:sp>
        <p:nvSpPr>
          <p:cNvPr id="23" name="Text 20"/>
          <p:cNvSpPr txBox="1"/>
          <p:nvPr/>
        </p:nvSpPr>
        <p:spPr>
          <a:xfrm>
            <a:off x="777240" y="4270248"/>
            <a:ext cx="585216" cy="585216"/>
          </a:xfrm>
          <a:prstGeom prst="rect">
            <a:avLst/>
          </a:prstGeom>
          <a:noFill/>
          <a:ln/>
        </p:spPr>
        <p:txBody>
          <a:bodyPr wrap="square" lIns="0" tIns="0" rIns="0" bIns="0" rtlCol="0" anchor="ctr"/>
          <a:lstStyle/>
          <a:p>
            <a:pPr algn="ctr" indent="0" marL="0">
              <a:buNone/>
            </a:pPr>
            <a:r>
              <a:rPr lang="en-US" sz="2000" b="1" dirty="0">
                <a:solidFill>
                  <a:srgbClr val="F5F5F0"/>
                </a:solidFill>
                <a:latin typeface="Cambria" pitchFamily="34" charset="0"/>
                <a:ea typeface="Cambria" pitchFamily="34" charset="-122"/>
                <a:cs typeface="Cambria" pitchFamily="34" charset="-120"/>
              </a:rPr>
              <a:t>4</a:t>
            </a:r>
            <a:endParaRPr lang="en-US" sz="2000" dirty="0"/>
          </a:p>
        </p:txBody>
      </p:sp>
      <p:sp>
        <p:nvSpPr>
          <p:cNvPr id="24" name="Text 21"/>
          <p:cNvSpPr txBox="1"/>
          <p:nvPr/>
        </p:nvSpPr>
        <p:spPr>
          <a:xfrm>
            <a:off x="1554480" y="4242816"/>
            <a:ext cx="3200400" cy="64008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Score with a weighted rubric</a:t>
            </a:r>
            <a:endParaRPr lang="en-US" sz="1600" dirty="0"/>
          </a:p>
        </p:txBody>
      </p:sp>
      <p:sp>
        <p:nvSpPr>
          <p:cNvPr id="25" name="Text 22"/>
          <p:cNvSpPr txBox="1"/>
          <p:nvPr/>
        </p:nvSpPr>
        <p:spPr>
          <a:xfrm>
            <a:off x="4892040" y="4242816"/>
            <a:ext cx="6492240" cy="64008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Turns gut feel into something you can defend in a room.</a:t>
            </a:r>
            <a:endParaRPr lang="en-US" sz="1350" dirty="0"/>
          </a:p>
        </p:txBody>
      </p:sp>
      <p:sp>
        <p:nvSpPr>
          <p:cNvPr id="26" name="Shape 23"/>
          <p:cNvSpPr/>
          <p:nvPr/>
        </p:nvSpPr>
        <p:spPr>
          <a:xfrm>
            <a:off x="548640" y="5010912"/>
            <a:ext cx="11064240" cy="786384"/>
          </a:xfrm>
          <a:prstGeom prst="roundRect">
            <a:avLst>
              <a:gd name="adj" fmla="val 13953"/>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7" name="Shape 24"/>
          <p:cNvSpPr/>
          <p:nvPr/>
        </p:nvSpPr>
        <p:spPr>
          <a:xfrm>
            <a:off x="777240" y="5111496"/>
            <a:ext cx="585216" cy="585216"/>
          </a:xfrm>
          <a:prstGeom prst="ellipse">
            <a:avLst/>
          </a:prstGeom>
          <a:solidFill>
            <a:srgbClr val="C1440E"/>
          </a:solidFill>
          <a:ln/>
        </p:spPr>
      </p:sp>
      <p:sp>
        <p:nvSpPr>
          <p:cNvPr id="28" name="Text 25"/>
          <p:cNvSpPr txBox="1"/>
          <p:nvPr/>
        </p:nvSpPr>
        <p:spPr>
          <a:xfrm>
            <a:off x="777240" y="5111496"/>
            <a:ext cx="585216" cy="585216"/>
          </a:xfrm>
          <a:prstGeom prst="rect">
            <a:avLst/>
          </a:prstGeom>
          <a:noFill/>
          <a:ln/>
        </p:spPr>
        <p:txBody>
          <a:bodyPr wrap="square" lIns="0" tIns="0" rIns="0" bIns="0" rtlCol="0" anchor="ctr"/>
          <a:lstStyle/>
          <a:p>
            <a:pPr algn="ctr" indent="0" marL="0">
              <a:buNone/>
            </a:pPr>
            <a:r>
              <a:rPr lang="en-US" sz="2000" b="1" dirty="0">
                <a:solidFill>
                  <a:srgbClr val="F5F5F0"/>
                </a:solidFill>
                <a:latin typeface="Cambria" pitchFamily="34" charset="0"/>
                <a:ea typeface="Cambria" pitchFamily="34" charset="-122"/>
                <a:cs typeface="Cambria" pitchFamily="34" charset="-120"/>
              </a:rPr>
              <a:t>5</a:t>
            </a:r>
            <a:endParaRPr lang="en-US" sz="2000" dirty="0"/>
          </a:p>
        </p:txBody>
      </p:sp>
      <p:sp>
        <p:nvSpPr>
          <p:cNvPr id="29" name="Text 26"/>
          <p:cNvSpPr txBox="1"/>
          <p:nvPr/>
        </p:nvSpPr>
        <p:spPr>
          <a:xfrm>
            <a:off x="1554480" y="5084064"/>
            <a:ext cx="3200400" cy="64008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Run a 4–6 week pilot</a:t>
            </a:r>
            <a:endParaRPr lang="en-US" sz="1600" dirty="0"/>
          </a:p>
        </p:txBody>
      </p:sp>
      <p:sp>
        <p:nvSpPr>
          <p:cNvPr id="30" name="Text 27"/>
          <p:cNvSpPr txBox="1"/>
          <p:nvPr/>
        </p:nvSpPr>
        <p:spPr>
          <a:xfrm>
            <a:off x="4892040" y="5084064"/>
            <a:ext cx="6492240" cy="64008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With measurable outcomes decided in advance, not vibes after the fact.</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Flas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Run the Pilot First — Delay Customization Until After</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920240"/>
            <a:ext cx="10515600" cy="2377440"/>
          </a:xfrm>
          <a:prstGeom prst="rect">
            <a:avLst/>
          </a:prstGeom>
          <a:noFill/>
          <a:ln/>
        </p:spPr>
        <p:txBody>
          <a:bodyPr wrap="square" lIns="0" tIns="0" rIns="0" bIns="0" rtlCol="0" anchor="ctr"/>
          <a:lstStyle/>
          <a:p>
            <a:pPr indent="0" marL="0">
              <a:lnSpc>
                <a:spcPct val="130000"/>
              </a:lnSpc>
              <a:buNone/>
            </a:pPr>
            <a:r>
              <a:rPr lang="en-US" sz="2000" b="1" dirty="0">
                <a:solidFill>
                  <a:srgbClr val="2B2B2B"/>
                </a:solidFill>
                <a:latin typeface="Calibri" pitchFamily="34" charset="0"/>
                <a:ea typeface="Calibri" pitchFamily="34" charset="-122"/>
                <a:cs typeface="Calibri" pitchFamily="34" charset="-120"/>
              </a:rPr>
              <a:t>Customizing on day one locks in decisions </a:t>
            </a:r>
            <a:pPr indent="0" marL="0">
              <a:lnSpc>
                <a:spcPct val="130000"/>
              </a:lnSpc>
              <a:buNone/>
            </a:pPr>
            <a:r>
              <a:rPr lang="en-US" sz="2000" dirty="0">
                <a:solidFill>
                  <a:srgbClr val="2B2B2B"/>
                </a:solidFill>
                <a:latin typeface="Calibri" pitchFamily="34" charset="0"/>
                <a:ea typeface="Calibri" pitchFamily="34" charset="-122"/>
                <a:cs typeface="Calibri" pitchFamily="34" charset="-120"/>
              </a:rPr>
              <a:t>made by people who didn’t understand the tool yet. Every custom field, every automation rule, every process tweak added before the pilot is a bet placed with the least information you’ll ever have.</a:t>
            </a:r>
            <a:endParaRPr lang="en-US" sz="2000" dirty="0"/>
          </a:p>
        </p:txBody>
      </p:sp>
      <p:sp>
        <p:nvSpPr>
          <p:cNvPr id="8" name="Shape 5"/>
          <p:cNvSpPr/>
          <p:nvPr/>
        </p:nvSpPr>
        <p:spPr>
          <a:xfrm>
            <a:off x="548640" y="4709160"/>
            <a:ext cx="11064240" cy="1325880"/>
          </a:xfrm>
          <a:prstGeom prst="roundRect">
            <a:avLst>
              <a:gd name="adj" fmla="val 8276"/>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864608"/>
            <a:ext cx="10515600" cy="1005840"/>
          </a:xfrm>
          <a:prstGeom prst="rect">
            <a:avLst/>
          </a:prstGeom>
          <a:noFill/>
          <a:ln/>
        </p:spPr>
        <p:txBody>
          <a:bodyPr wrap="square" lIns="0" tIns="0" rIns="0" bIns="0" rtlCol="0" anchor="ctr"/>
          <a:lstStyle/>
          <a:p>
            <a:pPr indent="0" marL="0">
              <a:buNone/>
            </a:pPr>
            <a:r>
              <a:rPr lang="en-US" sz="1700" i="1" dirty="0">
                <a:solidFill>
                  <a:srgbClr val="F5F5F0"/>
                </a:solidFill>
                <a:latin typeface="Calibri" pitchFamily="34" charset="0"/>
                <a:ea typeface="Calibri" pitchFamily="34" charset="-122"/>
                <a:cs typeface="Calibri" pitchFamily="34" charset="-120"/>
              </a:rPr>
              <a:t>Run the pilot with defaults. Customize afterward, with real usage data instead of guesses.</a:t>
            </a:r>
            <a:endParaRPr lang="en-US" sz="1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Tag-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Don’t Judge on Sticker Price Alone</a:t>
            </a:r>
            <a:endParaRPr lang="en-US" sz="3200" dirty="0"/>
          </a:p>
        </p:txBody>
      </p:sp>
      <p:sp>
        <p:nvSpPr>
          <p:cNvPr id="6" name="Shape 3"/>
          <p:cNvSpPr/>
          <p:nvPr/>
        </p:nvSpPr>
        <p:spPr>
          <a:xfrm>
            <a:off x="548640" y="1645920"/>
            <a:ext cx="11064240" cy="2743200"/>
          </a:xfrm>
          <a:prstGeom prst="roundRect">
            <a:avLst>
              <a:gd name="adj" fmla="val 4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828800"/>
            <a:ext cx="10515600" cy="2377440"/>
          </a:xfrm>
          <a:prstGeom prst="rect">
            <a:avLst/>
          </a:prstGeom>
          <a:noFill/>
          <a:ln/>
        </p:spPr>
        <p:txBody>
          <a:bodyPr wrap="square" lIns="0" tIns="0" rIns="0" bIns="0" rtlCol="0" anchor="ctr"/>
          <a:lstStyle/>
          <a:p>
            <a:pPr indent="0" marL="0">
              <a:lnSpc>
                <a:spcPct val="125000"/>
              </a:lnSpc>
              <a:buNone/>
            </a:pPr>
            <a:r>
              <a:rPr lang="en-US" sz="1900" b="1" dirty="0">
                <a:solidFill>
                  <a:srgbClr val="2B2B2B"/>
                </a:solidFill>
                <a:latin typeface="Calibri" pitchFamily="34" charset="0"/>
                <a:ea typeface="Calibri" pitchFamily="34" charset="-122"/>
                <a:cs typeface="Calibri" pitchFamily="34" charset="-120"/>
              </a:rPr>
              <a:t>Compare the whole bill, not the license line: </a:t>
            </a:r>
            <a:pPr indent="0" marL="0">
              <a:lnSpc>
                <a:spcPct val="125000"/>
              </a:lnSpc>
              <a:buNone/>
            </a:pPr>
            <a:r>
              <a:rPr lang="en-US" sz="1900" dirty="0">
                <a:solidFill>
                  <a:srgbClr val="2B2B2B"/>
                </a:solidFill>
                <a:latin typeface="Calibri" pitchFamily="34" charset="0"/>
                <a:ea typeface="Calibri" pitchFamily="34" charset="-122"/>
                <a:cs typeface="Calibri" pitchFamily="34" charset="-120"/>
              </a:rPr>
              <a:t>licensing tiers, GitHub Advanced Security as an add-on, runner and compute minutes, and the admin and migration effort it actually takes to get there.</a:t>
            </a:r>
            <a:endParaRPr lang="en-US" sz="1900" dirty="0"/>
          </a:p>
        </p:txBody>
      </p:sp>
      <p:sp>
        <p:nvSpPr>
          <p:cNvPr id="8" name="Shape 5"/>
          <p:cNvSpPr/>
          <p:nvPr/>
        </p:nvSpPr>
        <p:spPr>
          <a:xfrm>
            <a:off x="548640" y="4526280"/>
            <a:ext cx="11064240" cy="1508760"/>
          </a:xfrm>
          <a:prstGeom prst="roundRect">
            <a:avLst>
              <a:gd name="adj" fmla="val 7273"/>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663440"/>
            <a:ext cx="10515600" cy="1234440"/>
          </a:xfrm>
          <a:prstGeom prst="rect">
            <a:avLst/>
          </a:prstGeom>
          <a:noFill/>
          <a:ln/>
        </p:spPr>
        <p:txBody>
          <a:bodyPr wrap="square" lIns="0" tIns="0" rIns="0" bIns="0" rtlCol="0" anchor="ctr"/>
          <a:lstStyle/>
          <a:p>
            <a:pPr indent="0" marL="0">
              <a:lnSpc>
                <a:spcPct val="115000"/>
              </a:lnSpc>
              <a:buNone/>
            </a:pPr>
            <a:r>
              <a:rPr lang="en-US" sz="1500" b="1" dirty="0">
                <a:solidFill>
                  <a:srgbClr val="F5F5F0"/>
                </a:solidFill>
                <a:latin typeface="Calibri" pitchFamily="34" charset="0"/>
                <a:ea typeface="Calibri" pitchFamily="34" charset="-122"/>
                <a:cs typeface="Calibri" pitchFamily="34" charset="-120"/>
              </a:rPr>
              <a:t>Past roughly 100 engineers, </a:t>
            </a:r>
            <a:pPr indent="0" marL="0">
              <a:lnSpc>
                <a:spcPct val="115000"/>
              </a:lnSpc>
              <a:buNone/>
            </a:pPr>
            <a:r>
              <a:rPr lang="en-US" sz="1500" dirty="0">
                <a:solidFill>
                  <a:srgbClr val="F5F5F0"/>
                </a:solidFill>
                <a:latin typeface="Calibri" pitchFamily="34" charset="0"/>
                <a:ea typeface="Calibri" pitchFamily="34" charset="-122"/>
                <a:cs typeface="Calibri" pitchFamily="34" charset="-120"/>
              </a:rPr>
              <a:t>the governance and reporting time saved usually outweighs a modest per-seat difference — but run the actual math for your org rather than trusting that rule of thumb.</a:t>
            </a:r>
            <a:endParaRPr lang="en-US" sz="15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Rout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Migration Sequence Is the Change-Management Plan</a:t>
            </a:r>
            <a:endParaRPr lang="en-US" sz="3200" dirty="0"/>
          </a:p>
        </p:txBody>
      </p:sp>
      <p:sp>
        <p:nvSpPr>
          <p:cNvPr id="6" name="Shape 3"/>
          <p:cNvSpPr/>
          <p:nvPr/>
        </p:nvSpPr>
        <p:spPr>
          <a:xfrm>
            <a:off x="548640" y="1691640"/>
            <a:ext cx="2560320" cy="3794760"/>
          </a:xfrm>
          <a:prstGeom prst="roundRect">
            <a:avLst>
              <a:gd name="adj" fmla="val 428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Shape 4"/>
          <p:cNvSpPr/>
          <p:nvPr/>
        </p:nvSpPr>
        <p:spPr>
          <a:xfrm>
            <a:off x="777240" y="1920240"/>
            <a:ext cx="457200" cy="457200"/>
          </a:xfrm>
          <a:prstGeom prst="ellipse">
            <a:avLst/>
          </a:prstGeom>
          <a:solidFill>
            <a:srgbClr val="C1440E"/>
          </a:solidFill>
          <a:ln/>
        </p:spPr>
      </p:sp>
      <p:sp>
        <p:nvSpPr>
          <p:cNvPr id="8" name="Text 5"/>
          <p:cNvSpPr txBox="1"/>
          <p:nvPr/>
        </p:nvSpPr>
        <p:spPr>
          <a:xfrm>
            <a:off x="777240" y="1920240"/>
            <a:ext cx="457200" cy="457200"/>
          </a:xfrm>
          <a:prstGeom prst="rect">
            <a:avLst/>
          </a:prstGeom>
          <a:noFill/>
          <a:ln/>
        </p:spPr>
        <p:txBody>
          <a:bodyPr wrap="square" lIns="0" tIns="0" rIns="0" bIns="0" rtlCol="0" anchor="ctr"/>
          <a:lstStyle/>
          <a:p>
            <a:pPr algn="ctr" indent="0" marL="0">
              <a:buNone/>
            </a:pPr>
            <a:r>
              <a:rPr lang="en-US" sz="1700" b="1" dirty="0">
                <a:solidFill>
                  <a:srgbClr val="F5F5F0"/>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31520" y="2514600"/>
            <a:ext cx="2194560" cy="822960"/>
          </a:xfrm>
          <a:prstGeom prst="rect">
            <a:avLst/>
          </a:prstGeom>
          <a:noFill/>
          <a:ln/>
        </p:spPr>
        <p:txBody>
          <a:bodyPr wrap="square" lIns="0" tIns="0" rIns="0" bIns="0" rtlCol="0" anchor="ctr"/>
          <a:lstStyle/>
          <a:p>
            <a:pPr indent="0" marL="0">
              <a:buNone/>
            </a:pPr>
            <a:r>
              <a:rPr lang="en-US" sz="1550" b="1" dirty="0">
                <a:solidFill>
                  <a:srgbClr val="1F3D2C"/>
                </a:solidFill>
                <a:latin typeface="Cambria" pitchFamily="34" charset="0"/>
                <a:ea typeface="Cambria" pitchFamily="34" charset="-122"/>
                <a:cs typeface="Cambria" pitchFamily="34" charset="-120"/>
              </a:rPr>
              <a:t>Start hybrid</a:t>
            </a:r>
            <a:endParaRPr lang="en-US" sz="1550" dirty="0"/>
          </a:p>
        </p:txBody>
      </p:sp>
      <p:sp>
        <p:nvSpPr>
          <p:cNvPr id="10" name="Text 7"/>
          <p:cNvSpPr txBox="1"/>
          <p:nvPr/>
        </p:nvSpPr>
        <p:spPr>
          <a:xfrm>
            <a:off x="731520" y="3337560"/>
            <a:ext cx="2194560" cy="2011680"/>
          </a:xfrm>
          <a:prstGeom prst="rect">
            <a:avLst/>
          </a:prstGeom>
          <a:noFill/>
          <a:ln/>
        </p:spPr>
        <p:txBody>
          <a:bodyPr wrap="square" lIns="0" tIns="0" rIns="0" bIns="0" rtlCol="0" anchor="ctr"/>
          <a:lstStyle/>
          <a:p>
            <a:pPr indent="0" marL="0">
              <a:lnSpc>
                <a:spcPct val="110000"/>
              </a:lnSpc>
              <a:buNone/>
            </a:pPr>
            <a:r>
              <a:rPr lang="en-US" sz="1250" dirty="0">
                <a:solidFill>
                  <a:srgbClr val="2B2B2B"/>
                </a:solidFill>
                <a:latin typeface="Calibri" pitchFamily="34" charset="0"/>
                <a:ea typeface="Calibri" pitchFamily="34" charset="-122"/>
                <a:cs typeface="Calibri" pitchFamily="34" charset="-120"/>
              </a:rPr>
              <a:t>Connect Azure Boards first — nothing else moves yet.</a:t>
            </a:r>
            <a:endParaRPr lang="en-US" sz="1250" dirty="0"/>
          </a:p>
        </p:txBody>
      </p:sp>
      <p:sp>
        <p:nvSpPr>
          <p:cNvPr id="11" name="Shape 8"/>
          <p:cNvSpPr/>
          <p:nvPr/>
        </p:nvSpPr>
        <p:spPr>
          <a:xfrm>
            <a:off x="3337560" y="1691640"/>
            <a:ext cx="2560320" cy="3794760"/>
          </a:xfrm>
          <a:prstGeom prst="roundRect">
            <a:avLst>
              <a:gd name="adj" fmla="val 428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3566160" y="1920240"/>
            <a:ext cx="457200" cy="457200"/>
          </a:xfrm>
          <a:prstGeom prst="ellipse">
            <a:avLst/>
          </a:prstGeom>
          <a:solidFill>
            <a:srgbClr val="C1440E"/>
          </a:solidFill>
          <a:ln/>
        </p:spPr>
      </p:sp>
      <p:sp>
        <p:nvSpPr>
          <p:cNvPr id="13" name="Text 10"/>
          <p:cNvSpPr txBox="1"/>
          <p:nvPr/>
        </p:nvSpPr>
        <p:spPr>
          <a:xfrm>
            <a:off x="3566160" y="1920240"/>
            <a:ext cx="457200" cy="457200"/>
          </a:xfrm>
          <a:prstGeom prst="rect">
            <a:avLst/>
          </a:prstGeom>
          <a:noFill/>
          <a:ln/>
        </p:spPr>
        <p:txBody>
          <a:bodyPr wrap="square" lIns="0" tIns="0" rIns="0" bIns="0" rtlCol="0" anchor="ctr"/>
          <a:lstStyle/>
          <a:p>
            <a:pPr algn="ctr" indent="0" marL="0">
              <a:buNone/>
            </a:pPr>
            <a:r>
              <a:rPr lang="en-US" sz="1700" b="1" dirty="0">
                <a:solidFill>
                  <a:srgbClr val="F5F5F0"/>
                </a:solidFill>
                <a:latin typeface="Cambria" pitchFamily="34" charset="0"/>
                <a:ea typeface="Cambria" pitchFamily="34" charset="-122"/>
                <a:cs typeface="Cambria" pitchFamily="34" charset="-120"/>
              </a:rPr>
              <a:t>2</a:t>
            </a:r>
            <a:endParaRPr lang="en-US" sz="1700" dirty="0"/>
          </a:p>
        </p:txBody>
      </p:sp>
      <p:sp>
        <p:nvSpPr>
          <p:cNvPr id="14" name="Text 11"/>
          <p:cNvSpPr txBox="1"/>
          <p:nvPr/>
        </p:nvSpPr>
        <p:spPr>
          <a:xfrm>
            <a:off x="3520440" y="2514600"/>
            <a:ext cx="2194560" cy="822960"/>
          </a:xfrm>
          <a:prstGeom prst="rect">
            <a:avLst/>
          </a:prstGeom>
          <a:noFill/>
          <a:ln/>
        </p:spPr>
        <p:txBody>
          <a:bodyPr wrap="square" lIns="0" tIns="0" rIns="0" bIns="0" rtlCol="0" anchor="ctr"/>
          <a:lstStyle/>
          <a:p>
            <a:pPr indent="0" marL="0">
              <a:buNone/>
            </a:pPr>
            <a:r>
              <a:rPr lang="en-US" sz="1550" b="1" dirty="0">
                <a:solidFill>
                  <a:srgbClr val="1F3D2C"/>
                </a:solidFill>
                <a:latin typeface="Cambria" pitchFamily="34" charset="0"/>
                <a:ea typeface="Cambria" pitchFamily="34" charset="-122"/>
                <a:cs typeface="Cambria" pitchFamily="34" charset="-120"/>
              </a:rPr>
              <a:t>Migrate repos in waves</a:t>
            </a:r>
            <a:endParaRPr lang="en-US" sz="1550" dirty="0"/>
          </a:p>
        </p:txBody>
      </p:sp>
      <p:sp>
        <p:nvSpPr>
          <p:cNvPr id="15" name="Text 12"/>
          <p:cNvSpPr txBox="1"/>
          <p:nvPr/>
        </p:nvSpPr>
        <p:spPr>
          <a:xfrm>
            <a:off x="3520440" y="3337560"/>
            <a:ext cx="2194560" cy="2011680"/>
          </a:xfrm>
          <a:prstGeom prst="rect">
            <a:avLst/>
          </a:prstGeom>
          <a:noFill/>
          <a:ln/>
        </p:spPr>
        <p:txBody>
          <a:bodyPr wrap="square" lIns="0" tIns="0" rIns="0" bIns="0" rtlCol="0" anchor="ctr"/>
          <a:lstStyle/>
          <a:p>
            <a:pPr indent="0" marL="0">
              <a:lnSpc>
                <a:spcPct val="110000"/>
              </a:lnSpc>
              <a:buNone/>
            </a:pPr>
            <a:r>
              <a:rPr lang="en-US" sz="1250" dirty="0">
                <a:solidFill>
                  <a:srgbClr val="2B2B2B"/>
                </a:solidFill>
                <a:latin typeface="Calibri" pitchFamily="34" charset="0"/>
                <a:ea typeface="Calibri" pitchFamily="34" charset="-122"/>
                <a:cs typeface="Calibri" pitchFamily="34" charset="-120"/>
              </a:rPr>
              <a:t>Low-stakes repos first, building confidence before the ones that matter.</a:t>
            </a:r>
            <a:endParaRPr lang="en-US" sz="1250" dirty="0"/>
          </a:p>
        </p:txBody>
      </p:sp>
      <p:sp>
        <p:nvSpPr>
          <p:cNvPr id="16" name="Shape 13"/>
          <p:cNvSpPr/>
          <p:nvPr/>
        </p:nvSpPr>
        <p:spPr>
          <a:xfrm>
            <a:off x="6126480" y="1691640"/>
            <a:ext cx="2560320" cy="3794760"/>
          </a:xfrm>
          <a:prstGeom prst="roundRect">
            <a:avLst>
              <a:gd name="adj" fmla="val 428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7" name="Shape 14"/>
          <p:cNvSpPr/>
          <p:nvPr/>
        </p:nvSpPr>
        <p:spPr>
          <a:xfrm>
            <a:off x="6355080" y="1920240"/>
            <a:ext cx="457200" cy="457200"/>
          </a:xfrm>
          <a:prstGeom prst="ellipse">
            <a:avLst/>
          </a:prstGeom>
          <a:solidFill>
            <a:srgbClr val="C1440E"/>
          </a:solidFill>
          <a:ln/>
        </p:spPr>
      </p:sp>
      <p:sp>
        <p:nvSpPr>
          <p:cNvPr id="18" name="Text 15"/>
          <p:cNvSpPr txBox="1"/>
          <p:nvPr/>
        </p:nvSpPr>
        <p:spPr>
          <a:xfrm>
            <a:off x="6355080" y="1920240"/>
            <a:ext cx="457200" cy="457200"/>
          </a:xfrm>
          <a:prstGeom prst="rect">
            <a:avLst/>
          </a:prstGeom>
          <a:noFill/>
          <a:ln/>
        </p:spPr>
        <p:txBody>
          <a:bodyPr wrap="square" lIns="0" tIns="0" rIns="0" bIns="0" rtlCol="0" anchor="ctr"/>
          <a:lstStyle/>
          <a:p>
            <a:pPr algn="ctr" indent="0" marL="0">
              <a:buNone/>
            </a:pPr>
            <a:r>
              <a:rPr lang="en-US" sz="1700" b="1" dirty="0">
                <a:solidFill>
                  <a:srgbClr val="F5F5F0"/>
                </a:solidFill>
                <a:latin typeface="Cambria" pitchFamily="34" charset="0"/>
                <a:ea typeface="Cambria" pitchFamily="34" charset="-122"/>
                <a:cs typeface="Cambria" pitchFamily="34" charset="-120"/>
              </a:rPr>
              <a:t>3</a:t>
            </a:r>
            <a:endParaRPr lang="en-US" sz="1700" dirty="0"/>
          </a:p>
        </p:txBody>
      </p:sp>
      <p:sp>
        <p:nvSpPr>
          <p:cNvPr id="19" name="Text 16"/>
          <p:cNvSpPr txBox="1"/>
          <p:nvPr/>
        </p:nvSpPr>
        <p:spPr>
          <a:xfrm>
            <a:off x="6309360" y="2514600"/>
            <a:ext cx="2194560" cy="822960"/>
          </a:xfrm>
          <a:prstGeom prst="rect">
            <a:avLst/>
          </a:prstGeom>
          <a:noFill/>
          <a:ln/>
        </p:spPr>
        <p:txBody>
          <a:bodyPr wrap="square" lIns="0" tIns="0" rIns="0" bIns="0" rtlCol="0" anchor="ctr"/>
          <a:lstStyle/>
          <a:p>
            <a:pPr indent="0" marL="0">
              <a:buNone/>
            </a:pPr>
            <a:r>
              <a:rPr lang="en-US" sz="1550" b="1" dirty="0">
                <a:solidFill>
                  <a:srgbClr val="1F3D2C"/>
                </a:solidFill>
                <a:latin typeface="Cambria" pitchFamily="34" charset="0"/>
                <a:ea typeface="Cambria" pitchFamily="34" charset="-122"/>
                <a:cs typeface="Cambria" pitchFamily="34" charset="-120"/>
              </a:rPr>
              <a:t>Rewrite pipelines incrementally</a:t>
            </a:r>
            <a:endParaRPr lang="en-US" sz="1550" dirty="0"/>
          </a:p>
        </p:txBody>
      </p:sp>
      <p:sp>
        <p:nvSpPr>
          <p:cNvPr id="20" name="Text 17"/>
          <p:cNvSpPr txBox="1"/>
          <p:nvPr/>
        </p:nvSpPr>
        <p:spPr>
          <a:xfrm>
            <a:off x="6309360" y="3337560"/>
            <a:ext cx="2194560" cy="2011680"/>
          </a:xfrm>
          <a:prstGeom prst="rect">
            <a:avLst/>
          </a:prstGeom>
          <a:noFill/>
          <a:ln/>
        </p:spPr>
        <p:txBody>
          <a:bodyPr wrap="square" lIns="0" tIns="0" rIns="0" bIns="0" rtlCol="0" anchor="ctr"/>
          <a:lstStyle/>
          <a:p>
            <a:pPr indent="0" marL="0">
              <a:lnSpc>
                <a:spcPct val="110000"/>
              </a:lnSpc>
              <a:buNone/>
            </a:pPr>
            <a:r>
              <a:rPr lang="en-US" sz="1250" dirty="0">
                <a:solidFill>
                  <a:srgbClr val="2B2B2B"/>
                </a:solidFill>
                <a:latin typeface="Calibri" pitchFamily="34" charset="0"/>
                <a:ea typeface="Calibri" pitchFamily="34" charset="-122"/>
                <a:cs typeface="Calibri" pitchFamily="34" charset="-120"/>
              </a:rPr>
              <a:t>Old and new running in parallel, never a single risky cutover.</a:t>
            </a:r>
            <a:endParaRPr lang="en-US" sz="1250" dirty="0"/>
          </a:p>
        </p:txBody>
      </p:sp>
      <p:sp>
        <p:nvSpPr>
          <p:cNvPr id="21" name="Shape 18"/>
          <p:cNvSpPr/>
          <p:nvPr/>
        </p:nvSpPr>
        <p:spPr>
          <a:xfrm>
            <a:off x="8915400" y="1691640"/>
            <a:ext cx="2560320" cy="3794760"/>
          </a:xfrm>
          <a:prstGeom prst="roundRect">
            <a:avLst>
              <a:gd name="adj" fmla="val 4286"/>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22" name="Shape 19"/>
          <p:cNvSpPr/>
          <p:nvPr/>
        </p:nvSpPr>
        <p:spPr>
          <a:xfrm>
            <a:off x="9144000" y="1920240"/>
            <a:ext cx="457200" cy="457200"/>
          </a:xfrm>
          <a:prstGeom prst="ellipse">
            <a:avLst/>
          </a:prstGeom>
          <a:solidFill>
            <a:srgbClr val="C1440E"/>
          </a:solidFill>
          <a:ln/>
        </p:spPr>
      </p:sp>
      <p:sp>
        <p:nvSpPr>
          <p:cNvPr id="23" name="Text 20"/>
          <p:cNvSpPr txBox="1"/>
          <p:nvPr/>
        </p:nvSpPr>
        <p:spPr>
          <a:xfrm>
            <a:off x="9144000" y="1920240"/>
            <a:ext cx="457200" cy="457200"/>
          </a:xfrm>
          <a:prstGeom prst="rect">
            <a:avLst/>
          </a:prstGeom>
          <a:noFill/>
          <a:ln/>
        </p:spPr>
        <p:txBody>
          <a:bodyPr wrap="square" lIns="0" tIns="0" rIns="0" bIns="0" rtlCol="0" anchor="ctr"/>
          <a:lstStyle/>
          <a:p>
            <a:pPr algn="ctr" indent="0" marL="0">
              <a:buNone/>
            </a:pPr>
            <a:r>
              <a:rPr lang="en-US" sz="1700" b="1" dirty="0">
                <a:solidFill>
                  <a:srgbClr val="F5F5F0"/>
                </a:solidFill>
                <a:latin typeface="Cambria" pitchFamily="34" charset="0"/>
                <a:ea typeface="Cambria" pitchFamily="34" charset="-122"/>
                <a:cs typeface="Cambria" pitchFamily="34" charset="-120"/>
              </a:rPr>
              <a:t>4</a:t>
            </a:r>
            <a:endParaRPr lang="en-US" sz="1700" dirty="0"/>
          </a:p>
        </p:txBody>
      </p:sp>
      <p:sp>
        <p:nvSpPr>
          <p:cNvPr id="24" name="Text 21"/>
          <p:cNvSpPr txBox="1"/>
          <p:nvPr/>
        </p:nvSpPr>
        <p:spPr>
          <a:xfrm>
            <a:off x="9098280" y="2514600"/>
            <a:ext cx="2194560" cy="822960"/>
          </a:xfrm>
          <a:prstGeom prst="rect">
            <a:avLst/>
          </a:prstGeom>
          <a:noFill/>
          <a:ln/>
        </p:spPr>
        <p:txBody>
          <a:bodyPr wrap="square" lIns="0" tIns="0" rIns="0" bIns="0" rtlCol="0" anchor="ctr"/>
          <a:lstStyle/>
          <a:p>
            <a:pPr indent="0" marL="0">
              <a:buNone/>
            </a:pPr>
            <a:r>
              <a:rPr lang="en-US" sz="1550" b="1" dirty="0">
                <a:solidFill>
                  <a:srgbClr val="1F3D2C"/>
                </a:solidFill>
                <a:latin typeface="Cambria" pitchFamily="34" charset="0"/>
                <a:ea typeface="Cambria" pitchFamily="34" charset="-122"/>
                <a:cs typeface="Cambria" pitchFamily="34" charset="-120"/>
              </a:rPr>
              <a:t>Leave work items alone</a:t>
            </a:r>
            <a:endParaRPr lang="en-US" sz="1550" dirty="0"/>
          </a:p>
        </p:txBody>
      </p:sp>
      <p:sp>
        <p:nvSpPr>
          <p:cNvPr id="25" name="Text 22"/>
          <p:cNvSpPr txBox="1"/>
          <p:nvPr/>
        </p:nvSpPr>
        <p:spPr>
          <a:xfrm>
            <a:off x="9098280" y="3337560"/>
            <a:ext cx="2194560" cy="2011680"/>
          </a:xfrm>
          <a:prstGeom prst="rect">
            <a:avLst/>
          </a:prstGeom>
          <a:noFill/>
          <a:ln/>
        </p:spPr>
        <p:txBody>
          <a:bodyPr wrap="square" lIns="0" tIns="0" rIns="0" bIns="0" rtlCol="0" anchor="ctr"/>
          <a:lstStyle/>
          <a:p>
            <a:pPr indent="0" marL="0">
              <a:lnSpc>
                <a:spcPct val="110000"/>
              </a:lnSpc>
              <a:buNone/>
            </a:pPr>
            <a:r>
              <a:rPr lang="en-US" sz="1250" dirty="0">
                <a:solidFill>
                  <a:srgbClr val="2B2B2B"/>
                </a:solidFill>
                <a:latin typeface="Calibri" pitchFamily="34" charset="0"/>
                <a:ea typeface="Calibri" pitchFamily="34" charset="-122"/>
                <a:cs typeface="Calibri" pitchFamily="34" charset="-120"/>
              </a:rPr>
              <a:t>Unless you’ve already deliberately decided otherwise, per section 4.</a:t>
            </a:r>
            <a:endParaRPr lang="en-US" sz="1250" dirty="0"/>
          </a:p>
        </p:txBody>
      </p:sp>
      <p:sp>
        <p:nvSpPr>
          <p:cNvPr id="26" name="Text 23"/>
          <p:cNvSpPr txBox="1"/>
          <p:nvPr/>
        </p:nvSpPr>
        <p:spPr>
          <a:xfrm>
            <a:off x="548640" y="5669280"/>
            <a:ext cx="11064240" cy="502920"/>
          </a:xfrm>
          <a:prstGeom prst="rect">
            <a:avLst/>
          </a:prstGeom>
          <a:noFill/>
          <a:ln/>
        </p:spPr>
        <p:txBody>
          <a:bodyPr wrap="square" lIns="0" tIns="0" rIns="0" bIns="0" rtlCol="0" anchor="ctr"/>
          <a:lstStyle/>
          <a:p>
            <a:pPr algn="ctr" indent="0" marL="0">
              <a:buNone/>
            </a:pPr>
            <a:r>
              <a:rPr lang="en-US" sz="1600" i="1" dirty="0">
                <a:solidFill>
                  <a:srgbClr val="C1440E"/>
                </a:solidFill>
                <a:latin typeface="Calibri" pitchFamily="34" charset="0"/>
                <a:ea typeface="Calibri" pitchFamily="34" charset="-122"/>
                <a:cs typeface="Calibri" pitchFamily="34" charset="-120"/>
              </a:rPr>
              <a:t>The order isn’t just an engineering sequence — it’s the entire change-management plan, stated as steps.</a:t>
            </a:r>
            <a:endParaRPr lang="en-US" sz="1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Robo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AI Payoff Needs Structured Work Items First</a:t>
            </a:r>
            <a:endParaRPr lang="en-US" sz="3200" dirty="0"/>
          </a:p>
        </p:txBody>
      </p:sp>
      <p:sp>
        <p:nvSpPr>
          <p:cNvPr id="6" name="Shape 3"/>
          <p:cNvSpPr/>
          <p:nvPr/>
        </p:nvSpPr>
        <p:spPr>
          <a:xfrm>
            <a:off x="548640" y="1737360"/>
            <a:ext cx="11064240" cy="2743200"/>
          </a:xfrm>
          <a:prstGeom prst="roundRect">
            <a:avLst>
              <a:gd name="adj" fmla="val 4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22960" y="1920240"/>
            <a:ext cx="10515600" cy="2377440"/>
          </a:xfrm>
          <a:prstGeom prst="rect">
            <a:avLst/>
          </a:prstGeom>
          <a:noFill/>
          <a:ln/>
        </p:spPr>
        <p:txBody>
          <a:bodyPr wrap="square" lIns="0" tIns="0" rIns="0" bIns="0" rtlCol="0" anchor="ctr"/>
          <a:lstStyle/>
          <a:p>
            <a:pPr indent="0" marL="0">
              <a:lnSpc>
                <a:spcPct val="130000"/>
              </a:lnSpc>
              <a:buNone/>
            </a:pPr>
            <a:r>
              <a:rPr lang="en-US" sz="2000" b="1" dirty="0">
                <a:solidFill>
                  <a:srgbClr val="2B2B2B"/>
                </a:solidFill>
                <a:latin typeface="Calibri" pitchFamily="34" charset="0"/>
                <a:ea typeface="Calibri" pitchFamily="34" charset="-122"/>
                <a:cs typeface="Calibri" pitchFamily="34" charset="-120"/>
              </a:rPr>
              <a:t>Copilot and agentic tooling only multiply value </a:t>
            </a:r>
            <a:pPr indent="0" marL="0">
              <a:lnSpc>
                <a:spcPct val="130000"/>
              </a:lnSpc>
              <a:buNone/>
            </a:pPr>
            <a:r>
              <a:rPr lang="en-US" sz="2000" dirty="0">
                <a:solidFill>
                  <a:srgbClr val="2B2B2B"/>
                </a:solidFill>
                <a:latin typeface="Calibri" pitchFamily="34" charset="0"/>
                <a:ea typeface="Calibri" pitchFamily="34" charset="-122"/>
                <a:cs typeface="Calibri" pitchFamily="34" charset="-120"/>
              </a:rPr>
              <a:t>when the tickets feeding them are well-structured. A vague ticket produces a vague PR — the AI can’t infer intent that was never written down.</a:t>
            </a:r>
            <a:endParaRPr lang="en-US" sz="2000" dirty="0"/>
          </a:p>
        </p:txBody>
      </p:sp>
      <p:sp>
        <p:nvSpPr>
          <p:cNvPr id="8" name="Shape 5"/>
          <p:cNvSpPr/>
          <p:nvPr/>
        </p:nvSpPr>
        <p:spPr>
          <a:xfrm>
            <a:off x="548640" y="4709160"/>
            <a:ext cx="11064240" cy="1325880"/>
          </a:xfrm>
          <a:prstGeom prst="roundRect">
            <a:avLst>
              <a:gd name="adj" fmla="val 8276"/>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9" name="Text 6"/>
          <p:cNvSpPr txBox="1"/>
          <p:nvPr/>
        </p:nvSpPr>
        <p:spPr>
          <a:xfrm>
            <a:off x="822960" y="4864608"/>
            <a:ext cx="10515600" cy="1005840"/>
          </a:xfrm>
          <a:prstGeom prst="rect">
            <a:avLst/>
          </a:prstGeom>
          <a:noFill/>
          <a:ln/>
        </p:spPr>
        <p:txBody>
          <a:bodyPr wrap="square" lIns="0" tIns="0" rIns="0" bIns="0" rtlCol="0" anchor="ctr"/>
          <a:lstStyle/>
          <a:p>
            <a:pPr indent="0" marL="0">
              <a:lnSpc>
                <a:spcPct val="115000"/>
              </a:lnSpc>
              <a:buNone/>
            </a:pPr>
            <a:r>
              <a:rPr lang="en-US" sz="1600" b="1" dirty="0">
                <a:solidFill>
                  <a:srgbClr val="F5F5F0"/>
                </a:solidFill>
                <a:latin typeface="Calibri" pitchFamily="34" charset="0"/>
                <a:ea typeface="Calibri" pitchFamily="34" charset="-122"/>
                <a:cs typeface="Calibri" pitchFamily="34" charset="-120"/>
              </a:rPr>
              <a:t>A precondition, not a nice-to-have: </a:t>
            </a:r>
            <a:pPr indent="0" marL="0">
              <a:lnSpc>
                <a:spcPct val="115000"/>
              </a:lnSpc>
              <a:buNone/>
            </a:pPr>
            <a:r>
              <a:rPr lang="en-US" sz="1600" dirty="0">
                <a:solidFill>
                  <a:srgbClr val="F5F5F0"/>
                </a:solidFill>
                <a:latin typeface="Calibri" pitchFamily="34" charset="0"/>
                <a:ea typeface="Calibri" pitchFamily="34" charset="-122"/>
                <a:cs typeface="Calibri" pitchFamily="34" charset="-120"/>
              </a:rPr>
              <a:t>invest in templates and acceptance criteria before expecting the AI payoff. This is section 1’s thesis, paid off with a caveat.</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BalanceScal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PREVENTING THE UPRISING</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Match the Tool to Context, Not the Trend</a:t>
            </a:r>
            <a:endParaRPr lang="en-US" sz="3200" dirty="0"/>
          </a:p>
        </p:txBody>
      </p:sp>
      <p:sp>
        <p:nvSpPr>
          <p:cNvPr id="6" name="Shape 3"/>
          <p:cNvSpPr/>
          <p:nvPr/>
        </p:nvSpPr>
        <p:spPr>
          <a:xfrm>
            <a:off x="548640" y="1691640"/>
            <a:ext cx="3429000" cy="2651760"/>
          </a:xfrm>
          <a:prstGeom prst="roundRect">
            <a:avLst>
              <a:gd name="adj" fmla="val 4138"/>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777240" y="1874520"/>
            <a:ext cx="2971800" cy="77724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Startups &amp; 1–3 squads</a:t>
            </a:r>
            <a:endParaRPr lang="en-US" sz="1600" dirty="0"/>
          </a:p>
        </p:txBody>
      </p:sp>
      <p:sp>
        <p:nvSpPr>
          <p:cNvPr id="8" name="Text 5"/>
          <p:cNvSpPr txBox="1"/>
          <p:nvPr/>
        </p:nvSpPr>
        <p:spPr>
          <a:xfrm>
            <a:off x="777240" y="2697480"/>
            <a:ext cx="2971800" cy="1508760"/>
          </a:xfrm>
          <a:prstGeom prst="rect">
            <a:avLst/>
          </a:prstGeom>
          <a:noFill/>
          <a:ln/>
        </p:spPr>
        <p:txBody>
          <a:bodyPr wrap="square" lIns="0" tIns="0" rIns="0" bIns="0" rtlCol="0" anchor="ctr"/>
          <a:lstStyle/>
          <a:p>
            <a:pPr indent="0" marL="0">
              <a:lnSpc>
                <a:spcPct val="110000"/>
              </a:lnSpc>
              <a:buNone/>
            </a:pPr>
            <a:r>
              <a:rPr lang="en-US" sz="1350" dirty="0">
                <a:solidFill>
                  <a:srgbClr val="2B2B2B"/>
                </a:solidFill>
                <a:latin typeface="Calibri" pitchFamily="34" charset="0"/>
                <a:ea typeface="Calibri" pitchFamily="34" charset="-122"/>
                <a:cs typeface="Calibri" pitchFamily="34" charset="-120"/>
              </a:rPr>
              <a:t>GitHub Projects’ lightweight fit wins — no reason to carry enterprise overhead.</a:t>
            </a:r>
            <a:endParaRPr lang="en-US" sz="1350" dirty="0"/>
          </a:p>
        </p:txBody>
      </p:sp>
      <p:sp>
        <p:nvSpPr>
          <p:cNvPr id="9" name="Shape 6"/>
          <p:cNvSpPr/>
          <p:nvPr/>
        </p:nvSpPr>
        <p:spPr>
          <a:xfrm>
            <a:off x="4251960" y="1691640"/>
            <a:ext cx="3429000" cy="2651760"/>
          </a:xfrm>
          <a:prstGeom prst="roundRect">
            <a:avLst>
              <a:gd name="adj" fmla="val 4138"/>
            </a:avLst>
          </a:prstGeom>
          <a:solidFill>
            <a:srgbClr val="1F3D2C"/>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0" name="Text 7"/>
          <p:cNvSpPr txBox="1"/>
          <p:nvPr/>
        </p:nvSpPr>
        <p:spPr>
          <a:xfrm>
            <a:off x="4480560" y="1874520"/>
            <a:ext cx="2971800" cy="777240"/>
          </a:xfrm>
          <a:prstGeom prst="rect">
            <a:avLst/>
          </a:prstGeom>
          <a:noFill/>
          <a:ln/>
        </p:spPr>
        <p:txBody>
          <a:bodyPr wrap="square" lIns="0" tIns="0" rIns="0" bIns="0" rtlCol="0" anchor="ctr"/>
          <a:lstStyle/>
          <a:p>
            <a:pPr indent="0" marL="0">
              <a:buNone/>
            </a:pPr>
            <a:r>
              <a:rPr lang="en-US" sz="1600" b="1" dirty="0">
                <a:solidFill>
                  <a:srgbClr val="F5F5F0"/>
                </a:solidFill>
                <a:latin typeface="Cambria" pitchFamily="34" charset="0"/>
                <a:ea typeface="Cambria" pitchFamily="34" charset="-122"/>
                <a:cs typeface="Cambria" pitchFamily="34" charset="-120"/>
              </a:rPr>
              <a:t>Scaled agile, regulated, multi-team</a:t>
            </a:r>
            <a:endParaRPr lang="en-US" sz="1600" dirty="0"/>
          </a:p>
        </p:txBody>
      </p:sp>
      <p:sp>
        <p:nvSpPr>
          <p:cNvPr id="11" name="Text 8"/>
          <p:cNvSpPr txBox="1"/>
          <p:nvPr/>
        </p:nvSpPr>
        <p:spPr>
          <a:xfrm>
            <a:off x="4480560" y="2697480"/>
            <a:ext cx="2971800" cy="1508760"/>
          </a:xfrm>
          <a:prstGeom prst="rect">
            <a:avLst/>
          </a:prstGeom>
          <a:noFill/>
          <a:ln/>
        </p:spPr>
        <p:txBody>
          <a:bodyPr wrap="square" lIns="0" tIns="0" rIns="0" bIns="0" rtlCol="0" anchor="ctr"/>
          <a:lstStyle/>
          <a:p>
            <a:pPr indent="0" marL="0">
              <a:lnSpc>
                <a:spcPct val="110000"/>
              </a:lnSpc>
              <a:buNone/>
            </a:pPr>
            <a:r>
              <a:rPr lang="en-US" sz="1350" dirty="0">
                <a:solidFill>
                  <a:srgbClr val="F5F5F0"/>
                </a:solidFill>
                <a:latin typeface="Calibri" pitchFamily="34" charset="0"/>
                <a:ea typeface="Calibri" pitchFamily="34" charset="-122"/>
                <a:cs typeface="Calibri" pitchFamily="34" charset="-120"/>
              </a:rPr>
              <a:t>Azure Boards’ hierarchy and reporting earn their keep here.</a:t>
            </a:r>
            <a:endParaRPr lang="en-US" sz="1350" dirty="0"/>
          </a:p>
        </p:txBody>
      </p:sp>
      <p:sp>
        <p:nvSpPr>
          <p:cNvPr id="12" name="Shape 9"/>
          <p:cNvSpPr/>
          <p:nvPr/>
        </p:nvSpPr>
        <p:spPr>
          <a:xfrm>
            <a:off x="7955280" y="1691640"/>
            <a:ext cx="3429000" cy="2651760"/>
          </a:xfrm>
          <a:prstGeom prst="roundRect">
            <a:avLst>
              <a:gd name="adj" fmla="val 4138"/>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3" name="Text 10"/>
          <p:cNvSpPr txBox="1"/>
          <p:nvPr/>
        </p:nvSpPr>
        <p:spPr>
          <a:xfrm>
            <a:off x="8183880" y="1874520"/>
            <a:ext cx="2971800" cy="777240"/>
          </a:xfrm>
          <a:prstGeom prst="rect">
            <a:avLst/>
          </a:prstGeom>
          <a:noFill/>
          <a:ln/>
        </p:spPr>
        <p:txBody>
          <a:bodyPr wrap="square" lIns="0" tIns="0" rIns="0" bIns="0" rtlCol="0" anchor="ctr"/>
          <a:lstStyle/>
          <a:p>
            <a:pPr indent="0" marL="0">
              <a:buNone/>
            </a:pPr>
            <a:r>
              <a:rPr lang="en-US" sz="1600" b="1" dirty="0">
                <a:solidFill>
                  <a:srgbClr val="1F3D2C"/>
                </a:solidFill>
                <a:latin typeface="Cambria" pitchFamily="34" charset="0"/>
                <a:ea typeface="Cambria" pitchFamily="34" charset="-122"/>
                <a:cs typeface="Cambria" pitchFamily="34" charset="-120"/>
              </a:rPr>
              <a:t>Mixed estates</a:t>
            </a:r>
            <a:endParaRPr lang="en-US" sz="1600" dirty="0"/>
          </a:p>
        </p:txBody>
      </p:sp>
      <p:sp>
        <p:nvSpPr>
          <p:cNvPr id="14" name="Text 11"/>
          <p:cNvSpPr txBox="1"/>
          <p:nvPr/>
        </p:nvSpPr>
        <p:spPr>
          <a:xfrm>
            <a:off x="8183880" y="2697480"/>
            <a:ext cx="2971800" cy="1508760"/>
          </a:xfrm>
          <a:prstGeom prst="rect">
            <a:avLst/>
          </a:prstGeom>
          <a:noFill/>
          <a:ln/>
        </p:spPr>
        <p:txBody>
          <a:bodyPr wrap="square" lIns="0" tIns="0" rIns="0" bIns="0" rtlCol="0" anchor="ctr"/>
          <a:lstStyle/>
          <a:p>
            <a:pPr indent="0" marL="0">
              <a:lnSpc>
                <a:spcPct val="110000"/>
              </a:lnSpc>
              <a:buNone/>
            </a:pPr>
            <a:r>
              <a:rPr lang="en-US" sz="1350" dirty="0">
                <a:solidFill>
                  <a:srgbClr val="2B2B2B"/>
                </a:solidFill>
                <a:latin typeface="Calibri" pitchFamily="34" charset="0"/>
                <a:ea typeface="Calibri" pitchFamily="34" charset="-122"/>
                <a:cs typeface="Calibri" pitchFamily="34" charset="-120"/>
              </a:rPr>
              <a:t>Hybrid, deliberately — a fit, not a compromise.</a:t>
            </a:r>
            <a:endParaRPr lang="en-US" sz="1350" dirty="0"/>
          </a:p>
        </p:txBody>
      </p:sp>
      <p:sp>
        <p:nvSpPr>
          <p:cNvPr id="15" name="Shape 12"/>
          <p:cNvSpPr/>
          <p:nvPr/>
        </p:nvSpPr>
        <p:spPr>
          <a:xfrm>
            <a:off x="548640" y="4617720"/>
            <a:ext cx="11064240" cy="1600200"/>
          </a:xfrm>
          <a:prstGeom prst="roundRect">
            <a:avLst>
              <a:gd name="adj" fmla="val 6857"/>
            </a:avLst>
          </a:prstGeom>
          <a:solidFill>
            <a:srgbClr val="8C6A3F"/>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16" name="Text 13"/>
          <p:cNvSpPr txBox="1"/>
          <p:nvPr/>
        </p:nvSpPr>
        <p:spPr>
          <a:xfrm>
            <a:off x="822960" y="4773168"/>
            <a:ext cx="10515600" cy="1280160"/>
          </a:xfrm>
          <a:prstGeom prst="rect">
            <a:avLst/>
          </a:prstGeom>
          <a:noFill/>
          <a:ln/>
        </p:spPr>
        <p:txBody>
          <a:bodyPr wrap="square" lIns="0" tIns="0" rIns="0" bIns="0" rtlCol="0" anchor="ctr"/>
          <a:lstStyle/>
          <a:p>
            <a:pPr indent="0" marL="0">
              <a:lnSpc>
                <a:spcPct val="115000"/>
              </a:lnSpc>
              <a:buNone/>
            </a:pPr>
            <a:r>
              <a:rPr lang="en-US" sz="1450" i="1" dirty="0">
                <a:solidFill>
                  <a:srgbClr val="F5F5F0"/>
                </a:solidFill>
                <a:latin typeface="Calibri" pitchFamily="34" charset="0"/>
                <a:ea typeface="Calibri" pitchFamily="34" charset="-122"/>
                <a:cs typeface="Calibri" pitchFamily="34" charset="-120"/>
              </a:rPr>
              <a:t>The Senior Engineer defending that ancient pipeline from the top of this section isn’t wrong to be cautious — they’re just defending it with the wrong argument (“it’s always worked”) instead of the right one (“here’s the rubric score”). Hear the objection out, then hand them the data.</a:t>
            </a:r>
            <a:endParaRPr lang="en-US" sz="14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F3D2C"/>
        </a:solidFill>
      </p:bgPr>
    </p:bg>
    <p:spTree>
      <p:nvGrpSpPr>
        <p:cNvPr id="1" name=""/>
        <p:cNvGrpSpPr/>
        <p:nvPr/>
      </p:nvGrpSpPr>
      <p:grpSpPr>
        <a:xfrm>
          <a:off x="0" y="0"/>
          <a:ext cx="0" cy="0"/>
          <a:chOff x="0" y="0"/>
          <a:chExt cx="0" cy="0"/>
        </a:xfrm>
      </p:grpSpPr>
      <p:sp>
        <p:nvSpPr>
          <p:cNvPr id="2" name="Text 0"/>
          <p:cNvSpPr txBox="1"/>
          <p:nvPr/>
        </p:nvSpPr>
        <p:spPr>
          <a:xfrm>
            <a:off x="548640" y="2651760"/>
            <a:ext cx="11064240" cy="1005840"/>
          </a:xfrm>
          <a:prstGeom prst="rect">
            <a:avLst/>
          </a:prstGeom>
          <a:noFill/>
          <a:ln/>
        </p:spPr>
        <p:txBody>
          <a:bodyPr wrap="square" lIns="0" tIns="0" rIns="0" bIns="0" rtlCol="0" anchor="ctr"/>
          <a:lstStyle/>
          <a:p>
            <a:pPr algn="ctr" indent="0" marL="0">
              <a:buNone/>
            </a:pPr>
            <a:r>
              <a:rPr lang="en-US" sz="4200" b="1" dirty="0">
                <a:solidFill>
                  <a:srgbClr val="F5F5F0"/>
                </a:solidFill>
                <a:latin typeface="Cambria" pitchFamily="34" charset="0"/>
                <a:ea typeface="Cambria" pitchFamily="34" charset="-122"/>
                <a:cs typeface="Cambria" pitchFamily="34" charset="-120"/>
              </a:rPr>
              <a:t>Q&amp;A POCKET</a:t>
            </a:r>
            <a:endParaRPr lang="en-US" sz="4200" dirty="0"/>
          </a:p>
        </p:txBody>
      </p:sp>
      <p:sp>
        <p:nvSpPr>
          <p:cNvPr id="3" name="Text 1"/>
          <p:cNvSpPr txBox="1"/>
          <p:nvPr/>
        </p:nvSpPr>
        <p:spPr>
          <a:xfrm>
            <a:off x="548640" y="3703320"/>
            <a:ext cx="11064240" cy="594360"/>
          </a:xfrm>
          <a:prstGeom prst="rect">
            <a:avLst/>
          </a:prstGeom>
          <a:noFill/>
          <a:ln/>
        </p:spPr>
        <p:txBody>
          <a:bodyPr wrap="square" lIns="0" tIns="0" rIns="0" bIns="0" rtlCol="0" anchor="ctr"/>
          <a:lstStyle/>
          <a:p>
            <a:pPr algn="ctr" indent="0" marL="0">
              <a:buNone/>
            </a:pPr>
            <a:r>
              <a:rPr lang="en-US" sz="1900" i="1" dirty="0">
                <a:solidFill>
                  <a:srgbClr val="8C6A3F"/>
                </a:solidFill>
                <a:latin typeface="Calibri" pitchFamily="34" charset="0"/>
                <a:ea typeface="Calibri" pitchFamily="34" charset="-122"/>
                <a:cs typeface="Calibri" pitchFamily="34" charset="-120"/>
              </a:rPr>
              <a:t>One quick question before we leave Section 5 — Preventing the Uprising</a:t>
            </a:r>
            <a:endParaRPr lang="en-US" sz="1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SECTION 6</a:t>
            </a:r>
            <a:endParaRPr lang="en-US" sz="1700" dirty="0"/>
          </a:p>
        </p:txBody>
      </p:sp>
      <p:pic>
        <p:nvPicPr>
          <p:cNvPr id="4" name="Image 0" descr="/home/claude/pptx-build/assets/icons/FaWater-8C6A3F-300.png">    </p:cNvPr>
          <p:cNvPicPr>
            <a:picLocks noChangeAspect="1"/>
          </p:cNvPicPr>
          <p:nvPr/>
        </p:nvPicPr>
        <p:blipFill>
          <a:blip r:embed="rId1">
            <a:alphaModFix amt="85000"/>
          </a:blip>
          <a:stretch>
            <a:fillRect/>
          </a:stretch>
        </p:blipFill>
        <p:spPr>
          <a:xfrm>
            <a:off x="9692640" y="2194560"/>
            <a:ext cx="1463040" cy="1463040"/>
          </a:xfrm>
          <a:prstGeom prst="rect">
            <a:avLst/>
          </a:prstGeom>
        </p:spPr>
      </p:pic>
      <p:sp>
        <p:nvSpPr>
          <p:cNvPr id="5" name="Text 2"/>
          <p:cNvSpPr txBox="1"/>
          <p:nvPr/>
        </p:nvSpPr>
        <p:spPr>
          <a:xfrm>
            <a:off x="548640" y="2331720"/>
            <a:ext cx="8778240" cy="1737360"/>
          </a:xfrm>
          <a:prstGeom prst="rect">
            <a:avLst/>
          </a:prstGeom>
          <a:noFill/>
          <a:ln/>
        </p:spPr>
        <p:txBody>
          <a:bodyPr wrap="square" lIns="0" tIns="0" rIns="0" bIns="0" rtlCol="0" anchor="t"/>
          <a:lstStyle/>
          <a:p>
            <a:pPr indent="0" marL="0">
              <a:buNone/>
            </a:pPr>
            <a:r>
              <a:rPr lang="en-US" sz="4400" b="1" dirty="0">
                <a:solidFill>
                  <a:srgbClr val="F5F5F0"/>
                </a:solidFill>
                <a:latin typeface="Cambria" pitchFamily="34" charset="0"/>
                <a:ea typeface="Cambria" pitchFamily="34" charset="-122"/>
                <a:cs typeface="Cambria" pitchFamily="34" charset="-120"/>
              </a:rPr>
              <a:t>The Watering Hole Nobody Told to Move</a:t>
            </a:r>
            <a:endParaRPr lang="en-US" sz="4400" dirty="0"/>
          </a:p>
        </p:txBody>
      </p:sp>
      <p:sp>
        <p:nvSpPr>
          <p:cNvPr id="6" name="Text 3"/>
          <p:cNvSpPr txBox="1"/>
          <p:nvPr/>
        </p:nvSpPr>
        <p:spPr>
          <a:xfrm>
            <a:off x="548640" y="4160520"/>
            <a:ext cx="8778240" cy="1234440"/>
          </a:xfrm>
          <a:prstGeom prst="rect">
            <a:avLst/>
          </a:prstGeom>
          <a:noFill/>
          <a:ln/>
        </p:spPr>
        <p:txBody>
          <a:bodyPr wrap="square" lIns="0" tIns="0" rIns="0" bIns="0" rtlCol="0" anchor="t"/>
          <a:lstStyle/>
          <a:p>
            <a:pPr indent="0" marL="0">
              <a:buNone/>
            </a:pPr>
            <a:r>
              <a:rPr lang="en-US" sz="2000" i="1" dirty="0">
                <a:solidFill>
                  <a:srgbClr val="8C6A3F"/>
                </a:solidFill>
                <a:latin typeface="Calibri" pitchFamily="34" charset="0"/>
                <a:ea typeface="Calibri" pitchFamily="34" charset="-122"/>
                <a:cs typeface="Calibri" pitchFamily="34" charset="-120"/>
              </a:rPr>
              <a:t>Every migration leaves a watering hole behind — the place everything used to gather. Some animals find the new one. Some keep showing up at the old one out of habit, confused it went dry.</a:t>
            </a:r>
            <a:endParaRPr lang="en-US" sz="2000" dirty="0"/>
          </a:p>
        </p:txBody>
      </p:sp>
      <p:sp>
        <p:nvSpPr>
          <p:cNvPr id="7" name="Shape 4"/>
          <p:cNvSpPr/>
          <p:nvPr/>
        </p:nvSpPr>
        <p:spPr>
          <a:xfrm>
            <a:off x="548640" y="6217920"/>
            <a:ext cx="11064240" cy="0"/>
          </a:xfrm>
          <a:prstGeom prst="line">
            <a:avLst/>
          </a:prstGeom>
          <a:noFill/>
          <a:ln w="9525">
            <a:solidFill>
              <a:srgbClr val="8C6A3F"/>
            </a:solidFill>
            <a:prstDash val="dash"/>
          </a:ln>
        </p:spPr>
      </p:sp>
      <p:sp>
        <p:nvSpPr>
          <p:cNvPr id="8" name="Text 5"/>
          <p:cNvSpPr txBox="1"/>
          <p:nvPr/>
        </p:nvSpPr>
        <p:spPr>
          <a:xfrm>
            <a:off x="548640" y="6355080"/>
            <a:ext cx="9144000" cy="365760"/>
          </a:xfrm>
          <a:prstGeom prst="rect">
            <a:avLst/>
          </a:prstGeom>
          <a:noFill/>
          <a:ln/>
        </p:spPr>
        <p:txBody>
          <a:bodyPr wrap="square" lIns="0" tIns="0" rIns="0" bIns="0" rtlCol="0" anchor="ctr"/>
          <a:lstStyle/>
          <a:p>
            <a:pPr indent="0" marL="0">
              <a:buNone/>
            </a:pPr>
            <a:r>
              <a:rPr lang="en-US" sz="1200" dirty="0">
                <a:solidFill>
                  <a:srgbClr val="6B6B63"/>
                </a:solidFill>
                <a:latin typeface="Calibri" pitchFamily="34" charset="0"/>
                <a:ea typeface="Calibri" pitchFamily="34" charset="-122"/>
                <a:cs typeface="Calibri" pitchFamily="34" charset="-120"/>
              </a:rPr>
              <a:t>DOCUMENTARY VOICE — SPOKEN LIVE, NOT READ</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nk-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Long Tail: Hardcoded Azure DevOps URLs</a:t>
            </a:r>
            <a:endParaRPr lang="en-US" sz="3200" dirty="0"/>
          </a:p>
        </p:txBody>
      </p:sp>
      <p:sp>
        <p:nvSpPr>
          <p:cNvPr id="6" name="Shape 3"/>
          <p:cNvSpPr/>
          <p:nvPr/>
        </p:nvSpPr>
        <p:spPr>
          <a:xfrm>
            <a:off x="548640" y="1417320"/>
            <a:ext cx="11064240" cy="1417320"/>
          </a:xfrm>
          <a:prstGeom prst="roundRect">
            <a:avLst>
              <a:gd name="adj" fmla="val 7742"/>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68680" y="1600200"/>
            <a:ext cx="10424160" cy="1051560"/>
          </a:xfrm>
          <a:prstGeom prst="rect">
            <a:avLst/>
          </a:prstGeom>
          <a:noFill/>
          <a:ln/>
        </p:spPr>
        <p:txBody>
          <a:bodyPr wrap="square" lIns="0" tIns="0" rIns="0" bIns="0" rtlCol="0" anchor="t"/>
          <a:lstStyle/>
          <a:p>
            <a:pPr indent="0" marL="0">
              <a:buNone/>
            </a:pPr>
            <a:r>
              <a:rPr lang="en-US" sz="1800" b="1" dirty="0">
                <a:solidFill>
                  <a:srgbClr val="2B2B2B"/>
                </a:solidFill>
                <a:latin typeface="Calibri" pitchFamily="34" charset="0"/>
                <a:ea typeface="Calibri" pitchFamily="34" charset="-122"/>
                <a:cs typeface="Calibri" pitchFamily="34" charset="-120"/>
              </a:rPr>
              <a:t>The single most reliable source of post-migration tickets. </a:t>
            </a:r>
            <a:pPr indent="0" marL="0">
              <a:buNone/>
            </a:pPr>
            <a:r>
              <a:rPr lang="en-US" sz="1800" dirty="0">
                <a:solidFill>
                  <a:srgbClr val="2B2B2B"/>
                </a:solidFill>
                <a:latin typeface="Calibri" pitchFamily="34" charset="0"/>
                <a:ea typeface="Calibri" pitchFamily="34" charset="-122"/>
                <a:cs typeface="Calibri" pitchFamily="34" charset="-120"/>
              </a:rPr>
              <a:t>Not the migration itself — the references to it, buried everywhere nobody thought to look.</a:t>
            </a:r>
            <a:endParaRPr lang="en-US" sz="1800" dirty="0"/>
          </a:p>
        </p:txBody>
      </p:sp>
      <p:sp>
        <p:nvSpPr>
          <p:cNvPr id="8" name="Shape 5"/>
          <p:cNvSpPr/>
          <p:nvPr/>
        </p:nvSpPr>
        <p:spPr>
          <a:xfrm>
            <a:off x="548640" y="3017520"/>
            <a:ext cx="11064240" cy="621792"/>
          </a:xfrm>
          <a:prstGeom prst="roundRect">
            <a:avLst>
              <a:gd name="adj" fmla="val 14706"/>
            </a:avLst>
          </a:prstGeom>
          <a:solidFill>
            <a:srgbClr val="1F3D2C"/>
          </a:solidFill>
          <a:ln/>
        </p:spPr>
      </p:sp>
      <p:sp>
        <p:nvSpPr>
          <p:cNvPr id="9" name="Text 6"/>
          <p:cNvSpPr txBox="1"/>
          <p:nvPr/>
        </p:nvSpPr>
        <p:spPr>
          <a:xfrm>
            <a:off x="868680" y="3017520"/>
            <a:ext cx="10424160" cy="621792"/>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Build &amp; release pipeline YAML — service connections, task inputs, artifact feed URLs</a:t>
            </a:r>
            <a:endParaRPr lang="en-US" sz="1600" dirty="0"/>
          </a:p>
        </p:txBody>
      </p:sp>
      <p:sp>
        <p:nvSpPr>
          <p:cNvPr id="10" name="Shape 7"/>
          <p:cNvSpPr/>
          <p:nvPr/>
        </p:nvSpPr>
        <p:spPr>
          <a:xfrm>
            <a:off x="548640" y="3749040"/>
            <a:ext cx="11064240" cy="621792"/>
          </a:xfrm>
          <a:prstGeom prst="roundRect">
            <a:avLst>
              <a:gd name="adj" fmla="val 14706"/>
            </a:avLst>
          </a:prstGeom>
          <a:solidFill>
            <a:srgbClr val="1F3D2C"/>
          </a:solidFill>
          <a:ln/>
        </p:spPr>
      </p:sp>
      <p:sp>
        <p:nvSpPr>
          <p:cNvPr id="11" name="Text 8"/>
          <p:cNvSpPr txBox="1"/>
          <p:nvPr/>
        </p:nvSpPr>
        <p:spPr>
          <a:xfrm>
            <a:off x="868680" y="3749040"/>
            <a:ext cx="10424160" cy="621792"/>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Infrastructure-as-code — Terraform/Bicep referencing an Azure DevOps repo or feed</a:t>
            </a:r>
            <a:endParaRPr lang="en-US" sz="1600" dirty="0"/>
          </a:p>
        </p:txBody>
      </p:sp>
      <p:sp>
        <p:nvSpPr>
          <p:cNvPr id="12" name="Shape 9"/>
          <p:cNvSpPr/>
          <p:nvPr/>
        </p:nvSpPr>
        <p:spPr>
          <a:xfrm>
            <a:off x="548640" y="4480560"/>
            <a:ext cx="11064240" cy="621792"/>
          </a:xfrm>
          <a:prstGeom prst="roundRect">
            <a:avLst>
              <a:gd name="adj" fmla="val 14706"/>
            </a:avLst>
          </a:prstGeom>
          <a:solidFill>
            <a:srgbClr val="1F3D2C"/>
          </a:solidFill>
          <a:ln/>
        </p:spPr>
      </p:sp>
      <p:sp>
        <p:nvSpPr>
          <p:cNvPr id="13" name="Text 10"/>
          <p:cNvSpPr txBox="1"/>
          <p:nvPr/>
        </p:nvSpPr>
        <p:spPr>
          <a:xfrm>
            <a:off x="868680" y="4480560"/>
            <a:ext cx="10424160" cy="621792"/>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READMEs, wikis, onboarding docs — "clone from dev.azure.com/..."</a:t>
            </a:r>
            <a:endParaRPr lang="en-US" sz="1600" dirty="0"/>
          </a:p>
        </p:txBody>
      </p:sp>
      <p:sp>
        <p:nvSpPr>
          <p:cNvPr id="14" name="Shape 11"/>
          <p:cNvSpPr/>
          <p:nvPr/>
        </p:nvSpPr>
        <p:spPr>
          <a:xfrm>
            <a:off x="548640" y="5212080"/>
            <a:ext cx="11064240" cy="621792"/>
          </a:xfrm>
          <a:prstGeom prst="roundRect">
            <a:avLst>
              <a:gd name="adj" fmla="val 14706"/>
            </a:avLst>
          </a:prstGeom>
          <a:solidFill>
            <a:srgbClr val="1F3D2C"/>
          </a:solidFill>
          <a:ln/>
        </p:spPr>
      </p:sp>
      <p:sp>
        <p:nvSpPr>
          <p:cNvPr id="15" name="Text 12"/>
          <p:cNvSpPr txBox="1"/>
          <p:nvPr/>
        </p:nvSpPr>
        <p:spPr>
          <a:xfrm>
            <a:off x="868680" y="5212080"/>
            <a:ext cx="10424160" cy="621792"/>
          </a:xfrm>
          <a:prstGeom prst="rect">
            <a:avLst/>
          </a:prstGeom>
          <a:noFill/>
          <a:ln/>
        </p:spPr>
        <p:txBody>
          <a:bodyPr wrap="square" lIns="0" tIns="0" rIns="0" bIns="0" rtlCol="0" anchor="ctr"/>
          <a:lstStyle/>
          <a:p>
            <a:pPr indent="0" marL="0">
              <a:buNone/>
            </a:pPr>
            <a:r>
              <a:rPr lang="en-US" sz="1600" dirty="0">
                <a:solidFill>
                  <a:srgbClr val="F5F5F0"/>
                </a:solidFill>
                <a:latin typeface="Calibri" pitchFamily="34" charset="0"/>
                <a:ea typeface="Calibri" pitchFamily="34" charset="-122"/>
                <a:cs typeface="Calibri" pitchFamily="34" charset="-120"/>
              </a:rPr>
              <a:t>Forgotten internal tools — the one script three people know exists</a:t>
            </a:r>
            <a:endParaRPr lang="en-US" sz="1600" dirty="0"/>
          </a:p>
        </p:txBody>
      </p:sp>
      <p:sp>
        <p:nvSpPr>
          <p:cNvPr id="16" name="Text 13"/>
          <p:cNvSpPr txBox="1"/>
          <p:nvPr/>
        </p:nvSpPr>
        <p:spPr>
          <a:xfrm>
            <a:off x="548640" y="6172200"/>
            <a:ext cx="11064240" cy="502920"/>
          </a:xfrm>
          <a:prstGeom prst="rect">
            <a:avLst/>
          </a:prstGeom>
          <a:noFill/>
          <a:ln/>
        </p:spPr>
        <p:txBody>
          <a:bodyPr wrap="square" lIns="0" tIns="0" rIns="0" bIns="0" rtlCol="0" anchor="ctr"/>
          <a:lstStyle/>
          <a:p>
            <a:pPr indent="0" marL="0">
              <a:buNone/>
            </a:pPr>
            <a:r>
              <a:rPr lang="en-US" sz="1500" i="1" dirty="0">
                <a:solidFill>
                  <a:srgbClr val="C1440E"/>
                </a:solidFill>
                <a:latin typeface="Calibri" pitchFamily="34" charset="0"/>
                <a:ea typeface="Calibri" pitchFamily="34" charset="-122"/>
                <a:cs typeface="Calibri" pitchFamily="34" charset="-120"/>
              </a:rPr>
              <a:t>Budget a real sweep before cutover — then a second one a month later, once the things that only run monthly have had a chance to fail.</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UserSecre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The Mannequins Nobody Claimed</a:t>
            </a:r>
            <a:endParaRPr lang="en-US" sz="3200" dirty="0"/>
          </a:p>
        </p:txBody>
      </p:sp>
      <p:sp>
        <p:nvSpPr>
          <p:cNvPr id="6" name="Shape 3"/>
          <p:cNvSpPr/>
          <p:nvPr/>
        </p:nvSpPr>
        <p:spPr>
          <a:xfrm>
            <a:off x="548640" y="1417320"/>
            <a:ext cx="11064240" cy="1600200"/>
          </a:xfrm>
          <a:prstGeom prst="roundRect">
            <a:avLst>
              <a:gd name="adj" fmla="val 6857"/>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7" name="Text 4"/>
          <p:cNvSpPr txBox="1"/>
          <p:nvPr/>
        </p:nvSpPr>
        <p:spPr>
          <a:xfrm>
            <a:off x="868680" y="1600200"/>
            <a:ext cx="10424160" cy="1234440"/>
          </a:xfrm>
          <a:prstGeom prst="rect">
            <a:avLst/>
          </a:prstGeom>
          <a:noFill/>
          <a:ln/>
        </p:spPr>
        <p:txBody>
          <a:bodyPr wrap="square" lIns="0" tIns="0" rIns="0" bIns="0" rtlCol="0" anchor="t"/>
          <a:lstStyle/>
          <a:p>
            <a:pPr indent="0" marL="0">
              <a:buNone/>
            </a:pPr>
            <a:r>
              <a:rPr lang="en-US" sz="1800" b="1" dirty="0">
                <a:solidFill>
                  <a:srgbClr val="2B2B2B"/>
                </a:solidFill>
                <a:latin typeface="Calibri" pitchFamily="34" charset="0"/>
                <a:ea typeface="Calibri" pitchFamily="34" charset="-122"/>
                <a:cs typeface="Calibri" pitchFamily="34" charset="-120"/>
              </a:rPr>
              <a:t>Every Azure DevOps user becomes a mannequin at migration time — </a:t>
            </a:r>
            <a:pPr indent="0" marL="0">
              <a:buNone/>
            </a:pPr>
            <a:r>
              <a:rPr lang="en-US" sz="1800" dirty="0">
                <a:solidFill>
                  <a:srgbClr val="2B2B2B"/>
                </a:solidFill>
                <a:latin typeface="Calibri" pitchFamily="34" charset="0"/>
                <a:ea typeface="Calibri" pitchFamily="34" charset="-122"/>
                <a:cs typeface="Calibri" pitchFamily="34" charset="-120"/>
              </a:rPr>
              <a:t>a placeholder account standing in for a real person until someone claims it.</a:t>
            </a:r>
            <a:endParaRPr lang="en-US" sz="1800" dirty="0"/>
          </a:p>
        </p:txBody>
      </p:sp>
      <p:sp>
        <p:nvSpPr>
          <p:cNvPr id="8" name="Shape 5"/>
          <p:cNvSpPr/>
          <p:nvPr/>
        </p:nvSpPr>
        <p:spPr>
          <a:xfrm>
            <a:off x="548640" y="3246120"/>
            <a:ext cx="11064240" cy="1691640"/>
          </a:xfrm>
          <a:prstGeom prst="roundRect">
            <a:avLst>
              <a:gd name="adj" fmla="val 6486"/>
            </a:avLst>
          </a:prstGeom>
          <a:solidFill>
            <a:srgbClr val="8C6A3F"/>
          </a:solidFill>
          <a:ln/>
        </p:spPr>
      </p:sp>
      <p:sp>
        <p:nvSpPr>
          <p:cNvPr id="9" name="Text 6"/>
          <p:cNvSpPr txBox="1"/>
          <p:nvPr/>
        </p:nvSpPr>
        <p:spPr>
          <a:xfrm>
            <a:off x="868680" y="3429000"/>
            <a:ext cx="10424160" cy="13716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Everything except Git commits — </a:t>
            </a:r>
            <a:pPr indent="0" marL="0">
              <a:buNone/>
            </a:pPr>
            <a:r>
              <a:rPr lang="en-US" sz="1700" dirty="0">
                <a:solidFill>
                  <a:srgbClr val="FFFFFF"/>
                </a:solidFill>
                <a:latin typeface="Calibri" pitchFamily="34" charset="0"/>
                <a:ea typeface="Calibri" pitchFamily="34" charset="-122"/>
                <a:cs typeface="Calibri" pitchFamily="34" charset="-120"/>
              </a:rPr>
              <a:t>issue comments, PR reviews, work-item history — gets attributed to the mannequin until someone reclaims it, and only a GitHub organization owner can do the reclaiming. Content stuck on an unreclaimed mannequin may not reliably show up in search either.</a:t>
            </a:r>
            <a:endParaRPr lang="en-US" sz="1700" dirty="0"/>
          </a:p>
        </p:txBody>
      </p:sp>
      <p:sp>
        <p:nvSpPr>
          <p:cNvPr id="10" name="Text 7"/>
          <p:cNvSpPr txBox="1"/>
          <p:nvPr/>
        </p:nvSpPr>
        <p:spPr>
          <a:xfrm>
            <a:off x="548640" y="5212080"/>
            <a:ext cx="11064240" cy="548640"/>
          </a:xfrm>
          <a:prstGeom prst="rect">
            <a:avLst/>
          </a:prstGeom>
          <a:noFill/>
          <a:ln/>
        </p:spPr>
        <p:txBody>
          <a:bodyPr wrap="square" lIns="0" tIns="0" rIns="0" bIns="0" rtlCol="0" anchor="ctr"/>
          <a:lstStyle/>
          <a:p>
            <a:pPr indent="0" marL="0">
              <a:buNone/>
            </a:pPr>
            <a:r>
              <a:rPr lang="en-US" sz="1600" b="1" dirty="0">
                <a:solidFill>
                  <a:srgbClr val="1F3D2C"/>
                </a:solidFill>
                <a:latin typeface="Calibri" pitchFamily="34" charset="0"/>
                <a:ea typeface="Calibri" pitchFamily="34" charset="-122"/>
                <a:cs typeface="Calibri" pitchFamily="34" charset="-120"/>
              </a:rPr>
              <a:t>The fix isn’t clever: plan the identity mapping before migration, not after. Remapping later is the harder path.</a:t>
            </a:r>
            <a:endParaRPr lang="en-US" sz="1600" dirty="0"/>
          </a:p>
        </p:txBody>
      </p:sp>
      <p:sp>
        <p:nvSpPr>
          <p:cNvPr id="11" name="Shape 8"/>
          <p:cNvSpPr/>
          <p:nvPr/>
        </p:nvSpPr>
        <p:spPr>
          <a:xfrm>
            <a:off x="548640" y="5989320"/>
            <a:ext cx="11064240" cy="0"/>
          </a:xfrm>
          <a:prstGeom prst="line">
            <a:avLst/>
          </a:prstGeom>
          <a:noFill/>
          <a:ln w="9525">
            <a:solidFill>
              <a:srgbClr val="DDD8CC"/>
            </a:solidFill>
            <a:prstDash val="dash"/>
          </a:ln>
        </p:spPr>
      </p:sp>
      <p:sp>
        <p:nvSpPr>
          <p:cNvPr id="12" name="Text 9"/>
          <p:cNvSpPr txBox="1"/>
          <p:nvPr/>
        </p:nvSpPr>
        <p:spPr>
          <a:xfrm>
            <a:off x="548640" y="6108192"/>
            <a:ext cx="11064240" cy="640080"/>
          </a:xfrm>
          <a:prstGeom prst="rect">
            <a:avLst/>
          </a:prstGeom>
          <a:noFill/>
          <a:ln/>
        </p:spPr>
        <p:txBody>
          <a:bodyPr wrap="square" lIns="0" tIns="0" rIns="0" bIns="0" rtlCol="0" anchor="ctr"/>
          <a:lstStyle/>
          <a:p>
            <a:pPr indent="0" marL="0">
              <a:buNone/>
            </a:pPr>
            <a:r>
              <a:rPr lang="en-US" sz="1300" i="1" dirty="0">
                <a:solidFill>
                  <a:srgbClr val="6B6B63"/>
                </a:solidFill>
                <a:latin typeface="Calibri" pitchFamily="34" charset="0"/>
                <a:ea typeface="Calibri" pitchFamily="34" charset="-122"/>
                <a:cs typeface="Calibri" pitchFamily="34" charset="-120"/>
              </a:rPr>
              <a:t>DOCUMENTARY ASIDE — a herd of placeholder accounts, grazing quietly in the repo’s activity feed at this section’s watering hole, waiting for someone to notice they’re there.</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F3D2C"/>
        </a:solidFill>
      </p:bgPr>
    </p:bg>
    <p:spTree>
      <p:nvGrpSpPr>
        <p:cNvPr id="1" name=""/>
        <p:cNvGrpSpPr/>
        <p:nvPr/>
      </p:nvGrpSpPr>
      <p:grpSpPr>
        <a:xfrm>
          <a:off x="0" y="0"/>
          <a:ext cx="0" cy="0"/>
          <a:chOff x="0" y="0"/>
          <a:chExt cx="0" cy="0"/>
        </a:xfrm>
      </p:grpSpPr>
      <p:sp>
        <p:nvSpPr>
          <p:cNvPr id="2" name="Shape 0"/>
          <p:cNvSpPr/>
          <p:nvPr/>
        </p:nvSpPr>
        <p:spPr>
          <a:xfrm>
            <a:off x="0" y="0"/>
            <a:ext cx="12191695" cy="1234440"/>
          </a:xfrm>
          <a:prstGeom prst="rect">
            <a:avLst/>
          </a:prstGeom>
          <a:solidFill>
            <a:srgbClr val="142A1D"/>
          </a:solidFill>
          <a:ln/>
        </p:spPr>
      </p:sp>
      <p:sp>
        <p:nvSpPr>
          <p:cNvPr id="3" name="Text 1"/>
          <p:cNvSpPr txBox="1"/>
          <p:nvPr/>
        </p:nvSpPr>
        <p:spPr>
          <a:xfrm>
            <a:off x="548640" y="365760"/>
            <a:ext cx="9144000" cy="502920"/>
          </a:xfrm>
          <a:prstGeom prst="rect">
            <a:avLst/>
          </a:prstGeom>
          <a:noFill/>
          <a:ln/>
        </p:spPr>
        <p:txBody>
          <a:bodyPr wrap="square" lIns="0" tIns="0" rIns="0" bIns="0" rtlCol="0" anchor="ctr"/>
          <a:lstStyle/>
          <a:p>
            <a:pPr indent="0" marL="0">
              <a:buNone/>
            </a:pPr>
            <a:r>
              <a:rPr lang="en-US" sz="1700" b="1" spc="300" kern="0" dirty="0">
                <a:solidFill>
                  <a:srgbClr val="8C6A3F"/>
                </a:solidFill>
                <a:latin typeface="Calibri" pitchFamily="34" charset="0"/>
                <a:ea typeface="Calibri" pitchFamily="34" charset="-122"/>
                <a:cs typeface="Calibri" pitchFamily="34" charset="-120"/>
              </a:rPr>
              <a:t>THE WATERING HOLE NOBODY TOLD TO MOVE</a:t>
            </a:r>
            <a:endParaRPr lang="en-US" sz="1700" dirty="0"/>
          </a:p>
        </p:txBody>
      </p:sp>
      <p:pic>
        <p:nvPicPr>
          <p:cNvPr id="4" name="Image 0" descr="/home/claude/pptx-build/assets/icons/FaFlagCheckered-8C6A3F-300.png">    </p:cNvPr>
          <p:cNvPicPr>
            <a:picLocks noChangeAspect="1"/>
          </p:cNvPicPr>
          <p:nvPr/>
        </p:nvPicPr>
        <p:blipFill>
          <a:blip r:embed="rId1">
            <a:alphaModFix amt="85000"/>
          </a:blip>
          <a:stretch>
            <a:fillRect/>
          </a:stretch>
        </p:blipFill>
        <p:spPr>
          <a:xfrm>
            <a:off x="9784080" y="2834640"/>
            <a:ext cx="1371600" cy="1371600"/>
          </a:xfrm>
          <a:prstGeom prst="rect">
            <a:avLst/>
          </a:prstGeom>
        </p:spPr>
      </p:pic>
      <p:sp>
        <p:nvSpPr>
          <p:cNvPr id="5" name="Text 2"/>
          <p:cNvSpPr txBox="1"/>
          <p:nvPr/>
        </p:nvSpPr>
        <p:spPr>
          <a:xfrm>
            <a:off x="548640" y="2286000"/>
            <a:ext cx="8778240" cy="914400"/>
          </a:xfrm>
          <a:prstGeom prst="rect">
            <a:avLst/>
          </a:prstGeom>
          <a:noFill/>
          <a:ln/>
        </p:spPr>
        <p:txBody>
          <a:bodyPr wrap="square" lIns="0" tIns="0" rIns="0" bIns="0" rtlCol="0" anchor="t"/>
          <a:lstStyle/>
          <a:p>
            <a:pPr indent="0" marL="0">
              <a:buNone/>
            </a:pPr>
            <a:r>
              <a:rPr lang="en-US" sz="3800" b="1" dirty="0">
                <a:solidFill>
                  <a:srgbClr val="F5F5F0"/>
                </a:solidFill>
                <a:latin typeface="Cambria" pitchFamily="34" charset="0"/>
                <a:ea typeface="Cambria" pitchFamily="34" charset="-122"/>
                <a:cs typeface="Cambria" pitchFamily="34" charset="-120"/>
              </a:rPr>
              <a:t>The Unglamorous Truth</a:t>
            </a:r>
            <a:endParaRPr lang="en-US" sz="3800" dirty="0"/>
          </a:p>
        </p:txBody>
      </p:sp>
      <p:sp>
        <p:nvSpPr>
          <p:cNvPr id="6" name="Text 3"/>
          <p:cNvSpPr txBox="1"/>
          <p:nvPr/>
        </p:nvSpPr>
        <p:spPr>
          <a:xfrm>
            <a:off x="548640" y="3429000"/>
            <a:ext cx="8778240" cy="1463040"/>
          </a:xfrm>
          <a:prstGeom prst="rect">
            <a:avLst/>
          </a:prstGeom>
          <a:noFill/>
          <a:ln/>
        </p:spPr>
        <p:txBody>
          <a:bodyPr wrap="square" lIns="0" tIns="0" rIns="0" bIns="0" rtlCol="0" anchor="t"/>
          <a:lstStyle/>
          <a:p>
            <a:pPr indent="0" marL="0">
              <a:buNone/>
            </a:pPr>
            <a:r>
              <a:rPr lang="en-US" sz="2100" i="1" dirty="0">
                <a:solidFill>
                  <a:srgbClr val="8C6A3F"/>
                </a:solidFill>
                <a:latin typeface="Calibri" pitchFamily="34" charset="0"/>
                <a:ea typeface="Calibri" pitchFamily="34" charset="-122"/>
                <a:cs typeface="Calibri" pitchFamily="34" charset="-120"/>
              </a:rPr>
              <a:t>Most migrations aren’t a disaster movie. They’re a checklist, run carefully, with a few things that broke in ways nobody predicted — and got fixed by people in the room.</a:t>
            </a:r>
            <a:endParaRPr lang="en-US" sz="2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ListAlt-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Takeaways Recap</a:t>
            </a:r>
            <a:endParaRPr lang="en-US" sz="3200" dirty="0"/>
          </a:p>
        </p:txBody>
      </p:sp>
      <p:sp>
        <p:nvSpPr>
          <p:cNvPr id="6" name="Shape 3"/>
          <p:cNvSpPr/>
          <p:nvPr/>
        </p:nvSpPr>
        <p:spPr>
          <a:xfrm>
            <a:off x="548640" y="1417320"/>
            <a:ext cx="11064240" cy="685800"/>
          </a:xfrm>
          <a:prstGeom prst="roundRect">
            <a:avLst>
              <a:gd name="adj" fmla="val 10667"/>
            </a:avLst>
          </a:prstGeom>
          <a:solidFill>
            <a:srgbClr val="F7F6F2"/>
          </a:solidFill>
          <a:ln w="9525">
            <a:solidFill>
              <a:srgbClr val="DDD8CC"/>
            </a:solidFill>
            <a:prstDash val="solid"/>
          </a:ln>
        </p:spPr>
      </p:sp>
      <p:sp>
        <p:nvSpPr>
          <p:cNvPr id="7" name="Shape 4"/>
          <p:cNvSpPr/>
          <p:nvPr/>
        </p:nvSpPr>
        <p:spPr>
          <a:xfrm>
            <a:off x="777240" y="1559052"/>
            <a:ext cx="402336" cy="402336"/>
          </a:xfrm>
          <a:prstGeom prst="ellipse">
            <a:avLst/>
          </a:prstGeom>
          <a:solidFill>
            <a:srgbClr val="C1440E"/>
          </a:solidFill>
          <a:ln/>
        </p:spPr>
      </p:sp>
      <p:sp>
        <p:nvSpPr>
          <p:cNvPr id="8" name="Text 5"/>
          <p:cNvSpPr txBox="1"/>
          <p:nvPr/>
        </p:nvSpPr>
        <p:spPr>
          <a:xfrm>
            <a:off x="777240" y="15590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9" name="Text 6"/>
          <p:cNvSpPr txBox="1"/>
          <p:nvPr/>
        </p:nvSpPr>
        <p:spPr>
          <a:xfrm>
            <a:off x="1417320" y="141732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Why teams migrate</a:t>
            </a:r>
            <a:endParaRPr lang="en-US" sz="1450" dirty="0"/>
          </a:p>
        </p:txBody>
      </p:sp>
      <p:sp>
        <p:nvSpPr>
          <p:cNvPr id="10" name="Text 7"/>
          <p:cNvSpPr txBox="1"/>
          <p:nvPr/>
        </p:nvSpPr>
        <p:spPr>
          <a:xfrm>
            <a:off x="4800600" y="141732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AI is one of the real reasons — but it needs structured work items to pay off.</a:t>
            </a:r>
            <a:endParaRPr lang="en-US" sz="1350" dirty="0"/>
          </a:p>
        </p:txBody>
      </p:sp>
      <p:sp>
        <p:nvSpPr>
          <p:cNvPr id="11" name="Shape 8"/>
          <p:cNvSpPr/>
          <p:nvPr/>
        </p:nvSpPr>
        <p:spPr>
          <a:xfrm>
            <a:off x="548640" y="2194560"/>
            <a:ext cx="11064240" cy="685800"/>
          </a:xfrm>
          <a:prstGeom prst="roundRect">
            <a:avLst>
              <a:gd name="adj" fmla="val 10667"/>
            </a:avLst>
          </a:prstGeom>
          <a:solidFill>
            <a:srgbClr val="FFFFFF"/>
          </a:solidFill>
          <a:ln w="9525">
            <a:solidFill>
              <a:srgbClr val="DDD8CC"/>
            </a:solidFill>
            <a:prstDash val="solid"/>
          </a:ln>
        </p:spPr>
      </p:sp>
      <p:sp>
        <p:nvSpPr>
          <p:cNvPr id="12" name="Shape 9"/>
          <p:cNvSpPr/>
          <p:nvPr/>
        </p:nvSpPr>
        <p:spPr>
          <a:xfrm>
            <a:off x="777240" y="2336292"/>
            <a:ext cx="402336" cy="402336"/>
          </a:xfrm>
          <a:prstGeom prst="ellipse">
            <a:avLst/>
          </a:prstGeom>
          <a:solidFill>
            <a:srgbClr val="C1440E"/>
          </a:solidFill>
          <a:ln/>
        </p:spPr>
      </p:sp>
      <p:sp>
        <p:nvSpPr>
          <p:cNvPr id="13" name="Text 10"/>
          <p:cNvSpPr txBox="1"/>
          <p:nvPr/>
        </p:nvSpPr>
        <p:spPr>
          <a:xfrm>
            <a:off x="777240" y="233629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4" name="Text 11"/>
          <p:cNvSpPr txBox="1"/>
          <p:nvPr/>
        </p:nvSpPr>
        <p:spPr>
          <a:xfrm>
            <a:off x="1417320" y="219456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What travels clean vs. clings to the doorframe</a:t>
            </a:r>
            <a:endParaRPr lang="en-US" sz="1450" dirty="0"/>
          </a:p>
        </p:txBody>
      </p:sp>
      <p:sp>
        <p:nvSpPr>
          <p:cNvPr id="15" name="Text 12"/>
          <p:cNvSpPr txBox="1"/>
          <p:nvPr/>
        </p:nvSpPr>
        <p:spPr>
          <a:xfrm>
            <a:off x="4800600" y="219456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Repos and Actions travel clean. Test Plans stays behind, full stop.</a:t>
            </a:r>
            <a:endParaRPr lang="en-US" sz="1350" dirty="0"/>
          </a:p>
        </p:txBody>
      </p:sp>
      <p:sp>
        <p:nvSpPr>
          <p:cNvPr id="16" name="Shape 13"/>
          <p:cNvSpPr/>
          <p:nvPr/>
        </p:nvSpPr>
        <p:spPr>
          <a:xfrm>
            <a:off x="548640" y="2971800"/>
            <a:ext cx="11064240" cy="685800"/>
          </a:xfrm>
          <a:prstGeom prst="roundRect">
            <a:avLst>
              <a:gd name="adj" fmla="val 10667"/>
            </a:avLst>
          </a:prstGeom>
          <a:solidFill>
            <a:srgbClr val="F7F6F2"/>
          </a:solidFill>
          <a:ln w="9525">
            <a:solidFill>
              <a:srgbClr val="DDD8CC"/>
            </a:solidFill>
            <a:prstDash val="solid"/>
          </a:ln>
        </p:spPr>
      </p:sp>
      <p:sp>
        <p:nvSpPr>
          <p:cNvPr id="17" name="Shape 14"/>
          <p:cNvSpPr/>
          <p:nvPr/>
        </p:nvSpPr>
        <p:spPr>
          <a:xfrm>
            <a:off x="777240" y="3113532"/>
            <a:ext cx="402336" cy="402336"/>
          </a:xfrm>
          <a:prstGeom prst="ellipse">
            <a:avLst/>
          </a:prstGeom>
          <a:solidFill>
            <a:srgbClr val="C1440E"/>
          </a:solidFill>
          <a:ln/>
        </p:spPr>
      </p:sp>
      <p:sp>
        <p:nvSpPr>
          <p:cNvPr id="18" name="Text 15"/>
          <p:cNvSpPr txBox="1"/>
          <p:nvPr/>
        </p:nvSpPr>
        <p:spPr>
          <a:xfrm>
            <a:off x="777240" y="311353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6"/>
          <p:cNvSpPr txBox="1"/>
          <p:nvPr/>
        </p:nvSpPr>
        <p:spPr>
          <a:xfrm>
            <a:off x="1417320" y="297180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Three ways to rebuild pipelines</a:t>
            </a:r>
            <a:endParaRPr lang="en-US" sz="1450" dirty="0"/>
          </a:p>
        </p:txBody>
      </p:sp>
      <p:sp>
        <p:nvSpPr>
          <p:cNvPr id="20" name="Text 17"/>
          <p:cNvSpPr txBox="1"/>
          <p:nvPr/>
        </p:nvSpPr>
        <p:spPr>
          <a:xfrm>
            <a:off x="4800600" y="297180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Manual, tooling (gh-ado2gh / gh-actions-importer), or AI-assisted — pick by context, not hype.</a:t>
            </a:r>
            <a:endParaRPr lang="en-US" sz="1350" dirty="0"/>
          </a:p>
        </p:txBody>
      </p:sp>
      <p:sp>
        <p:nvSpPr>
          <p:cNvPr id="21" name="Shape 18"/>
          <p:cNvSpPr/>
          <p:nvPr/>
        </p:nvSpPr>
        <p:spPr>
          <a:xfrm>
            <a:off x="548640" y="3749040"/>
            <a:ext cx="11064240" cy="685800"/>
          </a:xfrm>
          <a:prstGeom prst="roundRect">
            <a:avLst>
              <a:gd name="adj" fmla="val 10667"/>
            </a:avLst>
          </a:prstGeom>
          <a:solidFill>
            <a:srgbClr val="FFFFFF"/>
          </a:solidFill>
          <a:ln w="9525">
            <a:solidFill>
              <a:srgbClr val="DDD8CC"/>
            </a:solidFill>
            <a:prstDash val="solid"/>
          </a:ln>
        </p:spPr>
      </p:sp>
      <p:sp>
        <p:nvSpPr>
          <p:cNvPr id="22" name="Shape 19"/>
          <p:cNvSpPr/>
          <p:nvPr/>
        </p:nvSpPr>
        <p:spPr>
          <a:xfrm>
            <a:off x="777240" y="3890772"/>
            <a:ext cx="402336" cy="402336"/>
          </a:xfrm>
          <a:prstGeom prst="ellipse">
            <a:avLst/>
          </a:prstGeom>
          <a:solidFill>
            <a:srgbClr val="C1440E"/>
          </a:solidFill>
          <a:ln/>
        </p:spPr>
      </p:sp>
      <p:sp>
        <p:nvSpPr>
          <p:cNvPr id="23" name="Text 20"/>
          <p:cNvSpPr txBox="1"/>
          <p:nvPr/>
        </p:nvSpPr>
        <p:spPr>
          <a:xfrm>
            <a:off x="777240" y="389077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4" name="Text 21"/>
          <p:cNvSpPr txBox="1"/>
          <p:nvPr/>
        </p:nvSpPr>
        <p:spPr>
          <a:xfrm>
            <a:off x="1417320" y="374904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Why Boards stays hybrid</a:t>
            </a:r>
            <a:endParaRPr lang="en-US" sz="1450" dirty="0"/>
          </a:p>
        </p:txBody>
      </p:sp>
      <p:sp>
        <p:nvSpPr>
          <p:cNvPr id="25" name="Text 22"/>
          <p:cNvSpPr txBox="1"/>
          <p:nvPr/>
        </p:nvSpPr>
        <p:spPr>
          <a:xfrm>
            <a:off x="4800600" y="374904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Connect Azure Boards, don’t migrate work items — the door stays open, it doesn’t force a choice.</a:t>
            </a:r>
            <a:endParaRPr lang="en-US" sz="1350" dirty="0"/>
          </a:p>
        </p:txBody>
      </p:sp>
      <p:sp>
        <p:nvSpPr>
          <p:cNvPr id="26" name="Shape 23"/>
          <p:cNvSpPr/>
          <p:nvPr/>
        </p:nvSpPr>
        <p:spPr>
          <a:xfrm>
            <a:off x="548640" y="4526280"/>
            <a:ext cx="11064240" cy="685800"/>
          </a:xfrm>
          <a:prstGeom prst="roundRect">
            <a:avLst>
              <a:gd name="adj" fmla="val 10667"/>
            </a:avLst>
          </a:prstGeom>
          <a:solidFill>
            <a:srgbClr val="F7F6F2"/>
          </a:solidFill>
          <a:ln w="9525">
            <a:solidFill>
              <a:srgbClr val="DDD8CC"/>
            </a:solidFill>
            <a:prstDash val="solid"/>
          </a:ln>
        </p:spPr>
      </p:sp>
      <p:sp>
        <p:nvSpPr>
          <p:cNvPr id="27" name="Shape 24"/>
          <p:cNvSpPr/>
          <p:nvPr/>
        </p:nvSpPr>
        <p:spPr>
          <a:xfrm>
            <a:off x="777240" y="4668012"/>
            <a:ext cx="402336" cy="402336"/>
          </a:xfrm>
          <a:prstGeom prst="ellipse">
            <a:avLst/>
          </a:prstGeom>
          <a:solidFill>
            <a:srgbClr val="C1440E"/>
          </a:solidFill>
          <a:ln/>
        </p:spPr>
      </p:sp>
      <p:sp>
        <p:nvSpPr>
          <p:cNvPr id="28" name="Text 25"/>
          <p:cNvSpPr txBox="1"/>
          <p:nvPr/>
        </p:nvSpPr>
        <p:spPr>
          <a:xfrm>
            <a:off x="777240" y="466801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29" name="Text 26"/>
          <p:cNvSpPr txBox="1"/>
          <p:nvPr/>
        </p:nvSpPr>
        <p:spPr>
          <a:xfrm>
            <a:off x="1417320" y="452628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Migration as change management</a:t>
            </a:r>
            <a:endParaRPr lang="en-US" sz="1450" dirty="0"/>
          </a:p>
        </p:txBody>
      </p:sp>
      <p:sp>
        <p:nvSpPr>
          <p:cNvPr id="30" name="Text 27"/>
          <p:cNvSpPr txBox="1"/>
          <p:nvPr/>
        </p:nvSpPr>
        <p:spPr>
          <a:xfrm>
            <a:off x="4800600" y="452628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The migration sequence is the change-management plan — sequencing and pacing carry more weight than the tool pick.</a:t>
            </a:r>
            <a:endParaRPr lang="en-US" sz="1350" dirty="0"/>
          </a:p>
        </p:txBody>
      </p:sp>
      <p:sp>
        <p:nvSpPr>
          <p:cNvPr id="31" name="Shape 28"/>
          <p:cNvSpPr/>
          <p:nvPr/>
        </p:nvSpPr>
        <p:spPr>
          <a:xfrm>
            <a:off x="548640" y="5303520"/>
            <a:ext cx="11064240" cy="685800"/>
          </a:xfrm>
          <a:prstGeom prst="roundRect">
            <a:avLst>
              <a:gd name="adj" fmla="val 10667"/>
            </a:avLst>
          </a:prstGeom>
          <a:solidFill>
            <a:srgbClr val="FFFFFF"/>
          </a:solidFill>
          <a:ln w="9525">
            <a:solidFill>
              <a:srgbClr val="DDD8CC"/>
            </a:solidFill>
            <a:prstDash val="solid"/>
          </a:ln>
        </p:spPr>
      </p:sp>
      <p:sp>
        <p:nvSpPr>
          <p:cNvPr id="32" name="Shape 29"/>
          <p:cNvSpPr/>
          <p:nvPr/>
        </p:nvSpPr>
        <p:spPr>
          <a:xfrm>
            <a:off x="777240" y="5445252"/>
            <a:ext cx="402336" cy="402336"/>
          </a:xfrm>
          <a:prstGeom prst="ellipse">
            <a:avLst/>
          </a:prstGeom>
          <a:solidFill>
            <a:srgbClr val="C1440E"/>
          </a:solidFill>
          <a:ln/>
        </p:spPr>
      </p:sp>
      <p:sp>
        <p:nvSpPr>
          <p:cNvPr id="33" name="Text 30"/>
          <p:cNvSpPr txBox="1"/>
          <p:nvPr/>
        </p:nvSpPr>
        <p:spPr>
          <a:xfrm>
            <a:off x="777240" y="54452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6</a:t>
            </a:r>
            <a:endParaRPr lang="en-US" sz="1600" dirty="0"/>
          </a:p>
        </p:txBody>
      </p:sp>
      <p:sp>
        <p:nvSpPr>
          <p:cNvPr id="34" name="Text 31"/>
          <p:cNvSpPr txBox="1"/>
          <p:nvPr/>
        </p:nvSpPr>
        <p:spPr>
          <a:xfrm>
            <a:off x="1417320" y="5303520"/>
            <a:ext cx="3246120" cy="685800"/>
          </a:xfrm>
          <a:prstGeom prst="rect">
            <a:avLst/>
          </a:prstGeom>
          <a:noFill/>
          <a:ln/>
        </p:spPr>
        <p:txBody>
          <a:bodyPr wrap="square" lIns="0" tIns="0" rIns="0" bIns="0" rtlCol="0" anchor="ctr"/>
          <a:lstStyle/>
          <a:p>
            <a:pPr indent="0" marL="0">
              <a:buNone/>
            </a:pPr>
            <a:r>
              <a:rPr lang="en-US" sz="1450" b="1" dirty="0">
                <a:solidFill>
                  <a:srgbClr val="1F3D2C"/>
                </a:solidFill>
                <a:latin typeface="Cambria" pitchFamily="34" charset="0"/>
                <a:ea typeface="Cambria" pitchFamily="34" charset="-122"/>
                <a:cs typeface="Cambria" pitchFamily="34" charset="-120"/>
              </a:rPr>
              <a:t>The long tail that outlasts the cutover</a:t>
            </a:r>
            <a:endParaRPr lang="en-US" sz="1450" dirty="0"/>
          </a:p>
        </p:txBody>
      </p:sp>
      <p:sp>
        <p:nvSpPr>
          <p:cNvPr id="35" name="Text 32"/>
          <p:cNvSpPr txBox="1"/>
          <p:nvPr/>
        </p:nvSpPr>
        <p:spPr>
          <a:xfrm>
            <a:off x="4800600" y="5303520"/>
            <a:ext cx="6675120" cy="685800"/>
          </a:xfrm>
          <a:prstGeom prst="rect">
            <a:avLst/>
          </a:prstGeom>
          <a:noFill/>
          <a:ln/>
        </p:spPr>
        <p:txBody>
          <a:bodyPr wrap="square" lIns="0" tIns="0" rIns="0" bIns="0" rtlCol="0" anchor="ctr"/>
          <a:lstStyle/>
          <a:p>
            <a:pPr indent="0" marL="0">
              <a:buNone/>
            </a:pPr>
            <a:r>
              <a:rPr lang="en-US" sz="1350" dirty="0">
                <a:solidFill>
                  <a:srgbClr val="2B2B2B"/>
                </a:solidFill>
                <a:latin typeface="Calibri" pitchFamily="34" charset="0"/>
                <a:ea typeface="Calibri" pitchFamily="34" charset="-122"/>
                <a:cs typeface="Calibri" pitchFamily="34" charset="-120"/>
              </a:rPr>
              <a:t>Hardcoded URLs and unreclaimed identities keep surfacing for months. Plan the sweep and the identity mapping up front.</a:t>
            </a:r>
            <a:endParaRPr lang="en-US" sz="13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1440E"/>
          </a:solidFill>
          <a:ln/>
        </p:spPr>
      </p:sp>
      <p:pic>
        <p:nvPicPr>
          <p:cNvPr id="3" name="Image 0" descr="/home/claude/pptx-build/assets/icons/FaQrcode-FFFFFF-200.png">    </p:cNvPr>
          <p:cNvPicPr>
            <a:picLocks noChangeAspect="1"/>
          </p:cNvPicPr>
          <p:nvPr/>
        </p:nvPicPr>
        <p:blipFill>
          <a:blip r:embed="rId1"/>
          <a:stretch>
            <a:fillRect/>
          </a:stretch>
        </p:blipFill>
        <p:spPr>
          <a:xfrm>
            <a:off x="685800" y="594360"/>
            <a:ext cx="292608" cy="292608"/>
          </a:xfrm>
          <a:prstGeom prst="rect">
            <a:avLst/>
          </a:prstGeom>
        </p:spPr>
      </p:pic>
      <p:sp>
        <p:nvSpPr>
          <p:cNvPr id="4" name="Text 1"/>
          <p:cNvSpPr txBox="1"/>
          <p:nvPr/>
        </p:nvSpPr>
        <p:spPr>
          <a:xfrm>
            <a:off x="1234440" y="420624"/>
            <a:ext cx="9875520" cy="320040"/>
          </a:xfrm>
          <a:prstGeom prst="rect">
            <a:avLst/>
          </a:prstGeom>
          <a:noFill/>
          <a:ln/>
        </p:spPr>
        <p:txBody>
          <a:bodyPr wrap="square" lIns="0" tIns="0" rIns="0" bIns="0" rtlCol="0" anchor="ctr"/>
          <a:lstStyle/>
          <a:p>
            <a:pPr indent="0" marL="0">
              <a:buNone/>
            </a:pPr>
            <a:r>
              <a:rPr lang="en-US" sz="1500" b="1" spc="200" kern="0" dirty="0">
                <a:solidFill>
                  <a:srgbClr val="C1440E"/>
                </a:solidFill>
                <a:latin typeface="Calibri" pitchFamily="34" charset="0"/>
                <a:ea typeface="Calibri" pitchFamily="34" charset="-122"/>
                <a:cs typeface="Calibri" pitchFamily="34" charset="-120"/>
              </a:rPr>
              <a:t>THE WATERING HOLE NOBODY TOLD TO MOVE</a:t>
            </a:r>
            <a:endParaRPr lang="en-US" sz="1500" dirty="0"/>
          </a:p>
        </p:txBody>
      </p:sp>
      <p:sp>
        <p:nvSpPr>
          <p:cNvPr id="5" name="Text 2"/>
          <p:cNvSpPr txBox="1"/>
          <p:nvPr/>
        </p:nvSpPr>
        <p:spPr>
          <a:xfrm>
            <a:off x="1234440" y="749808"/>
            <a:ext cx="10515600" cy="594360"/>
          </a:xfrm>
          <a:prstGeom prst="rect">
            <a:avLst/>
          </a:prstGeom>
          <a:noFill/>
          <a:ln/>
        </p:spPr>
        <p:txBody>
          <a:bodyPr wrap="square" lIns="0" tIns="0" rIns="0" bIns="0" rtlCol="0" anchor="ctr"/>
          <a:lstStyle/>
          <a:p>
            <a:pPr indent="0" marL="0">
              <a:buNone/>
            </a:pPr>
            <a:r>
              <a:rPr lang="en-US" sz="3200" b="1" dirty="0">
                <a:solidFill>
                  <a:srgbClr val="1F3D2C"/>
                </a:solidFill>
                <a:latin typeface="Cambria" pitchFamily="34" charset="0"/>
                <a:ea typeface="Cambria" pitchFamily="34" charset="-122"/>
                <a:cs typeface="Cambria" pitchFamily="34" charset="-120"/>
              </a:rPr>
              <a:t>Links &amp; QR Codes</a:t>
            </a:r>
            <a:endParaRPr lang="en-US" sz="3200" dirty="0"/>
          </a:p>
        </p:txBody>
      </p:sp>
      <p:sp>
        <p:nvSpPr>
          <p:cNvPr id="6" name="Text 3"/>
          <p:cNvSpPr txBox="1"/>
          <p:nvPr/>
        </p:nvSpPr>
        <p:spPr>
          <a:xfrm>
            <a:off x="548640" y="1371600"/>
            <a:ext cx="7863840" cy="548640"/>
          </a:xfrm>
          <a:prstGeom prst="rect">
            <a:avLst/>
          </a:prstGeom>
          <a:noFill/>
          <a:ln/>
        </p:spPr>
        <p:txBody>
          <a:bodyPr wrap="square" lIns="0" tIns="0" rIns="0" bIns="0" rtlCol="0" anchor="ctr"/>
          <a:lstStyle/>
          <a:p>
            <a:pPr indent="0" marL="0">
              <a:buNone/>
            </a:pPr>
            <a:r>
              <a:rPr lang="en-US" sz="1700" i="1" dirty="0">
                <a:solidFill>
                  <a:srgbClr val="6B6B63"/>
                </a:solidFill>
                <a:latin typeface="Calibri" pitchFamily="34" charset="0"/>
                <a:ea typeface="Calibri" pitchFamily="34" charset="-122"/>
                <a:cs typeface="Calibri" pitchFamily="34" charset="-120"/>
              </a:rPr>
              <a:t>Didn’t catch a QR code earlier? This is the consolidated fallback — one scan, everything below.</a:t>
            </a:r>
            <a:endParaRPr lang="en-US" sz="1700" dirty="0"/>
          </a:p>
        </p:txBody>
      </p:sp>
      <p:sp>
        <p:nvSpPr>
          <p:cNvPr id="7" name="Shape 4"/>
          <p:cNvSpPr/>
          <p:nvPr/>
        </p:nvSpPr>
        <p:spPr>
          <a:xfrm>
            <a:off x="548640" y="2057400"/>
            <a:ext cx="7863840" cy="3931920"/>
          </a:xfrm>
          <a:prstGeom prst="roundRect">
            <a:avLst>
              <a:gd name="adj" fmla="val 2791"/>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8" name="Text 5"/>
          <p:cNvSpPr txBox="1"/>
          <p:nvPr/>
        </p:nvSpPr>
        <p:spPr>
          <a:xfrm>
            <a:off x="868680" y="2331720"/>
            <a:ext cx="7223760" cy="3383280"/>
          </a:xfrm>
          <a:prstGeom prst="rect">
            <a:avLst/>
          </a:prstGeom>
          <a:noFill/>
          <a:ln/>
        </p:spPr>
        <p:txBody>
          <a:bodyPr wrap="square" lIns="0" tIns="0" rIns="0" bIns="0" rtlCol="0" anchor="t"/>
          <a:lstStyle/>
          <a:p>
            <a:pPr marL="254000" indent="-254000">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Manual-migration docs (GitHub’s official Azure Pipelines → Actions guide)</a:t>
            </a:r>
            <a:endParaRPr lang="en-US" sz="1650" dirty="0"/>
          </a:p>
          <a:p>
            <a:pPr marL="254000" indent="-254000">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gh-ado2gh — CLI extension for repo, pipeline &amp; work-item migration</a:t>
            </a:r>
            <a:endParaRPr lang="en-US" sz="1650" dirty="0"/>
          </a:p>
          <a:p>
            <a:pPr marL="254000" indent="-254000">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gh-actions-importer — automated Azure Pipelines → Actions conversion</a:t>
            </a:r>
            <a:endParaRPr lang="en-US" sz="1650" dirty="0"/>
          </a:p>
          <a:p>
            <a:pPr marL="254000" indent="-254000">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AI prompts repo folder — analyze / convert / validate prompts</a:t>
            </a:r>
            <a:endParaRPr lang="en-US" sz="1650" dirty="0"/>
          </a:p>
          <a:p>
            <a:pPr marL="254000" indent="-254000">
              <a:spcAft>
                <a:spcPts val="1200"/>
              </a:spcAft>
              <a:buSzPct val="100000"/>
              <a:buChar char="▪"/>
            </a:pPr>
            <a:r>
              <a:rPr lang="en-US" sz="1650" dirty="0">
                <a:solidFill>
                  <a:srgbClr val="2B2B2B"/>
                </a:solidFill>
                <a:latin typeface="Calibri" pitchFamily="34" charset="0"/>
                <a:ea typeface="Calibri" pitchFamily="34" charset="-122"/>
                <a:cs typeface="Calibri" pitchFamily="34" charset="-120"/>
              </a:rPr>
              <a:t>This notes repo itself — every doc behind this talk, public</a:t>
            </a:r>
            <a:endParaRPr lang="en-US" sz="1650" dirty="0"/>
          </a:p>
        </p:txBody>
      </p:sp>
      <p:sp>
        <p:nvSpPr>
          <p:cNvPr id="9" name="Shape 6"/>
          <p:cNvSpPr/>
          <p:nvPr/>
        </p:nvSpPr>
        <p:spPr>
          <a:xfrm>
            <a:off x="9208008" y="2304288"/>
            <a:ext cx="2157984" cy="2157984"/>
          </a:xfrm>
          <a:prstGeom prst="roundRect">
            <a:avLst>
              <a:gd name="adj" fmla="val 2542"/>
            </a:avLst>
          </a:prstGeom>
          <a:solidFill>
            <a:srgbClr val="FFFFFF"/>
          </a:solidFill>
          <a:ln w="15875">
            <a:solidFill>
              <a:srgbClr val="1F3D2C"/>
            </a:solidFill>
            <a:prstDash val="solid"/>
          </a:ln>
        </p:spPr>
      </p:sp>
      <p:pic>
        <p:nvPicPr>
          <p:cNvPr id="10" name="Image 1" descr="/home/claude/pptx-build/assets/qr-section6-master.png">    </p:cNvPr>
          <p:cNvPicPr>
            <a:picLocks noChangeAspect="1"/>
          </p:cNvPicPr>
          <p:nvPr/>
        </p:nvPicPr>
        <p:blipFill>
          <a:blip r:embed="rId2"/>
          <a:stretch>
            <a:fillRect/>
          </a:stretch>
        </p:blipFill>
        <p:spPr>
          <a:xfrm>
            <a:off x="9281160" y="2377440"/>
            <a:ext cx="2011680" cy="2011680"/>
          </a:xfrm>
          <a:prstGeom prst="rect">
            <a:avLst/>
          </a:prstGeom>
        </p:spPr>
      </p:pic>
      <p:sp>
        <p:nvSpPr>
          <p:cNvPr id="11" name="Text 7"/>
          <p:cNvSpPr txBox="1"/>
          <p:nvPr/>
        </p:nvSpPr>
        <p:spPr>
          <a:xfrm>
            <a:off x="8915400" y="4517136"/>
            <a:ext cx="2743200" cy="502920"/>
          </a:xfrm>
          <a:prstGeom prst="rect">
            <a:avLst/>
          </a:prstGeom>
          <a:noFill/>
          <a:ln/>
        </p:spPr>
        <p:txBody>
          <a:bodyPr wrap="square" lIns="0" tIns="0" rIns="0" bIns="0" rtlCol="0" anchor="ctr"/>
          <a:lstStyle/>
          <a:p>
            <a:pPr algn="ctr" indent="0" marL="0">
              <a:buNone/>
            </a:pPr>
            <a:r>
              <a:rPr lang="en-US" sz="1200" dirty="0">
                <a:solidFill>
                  <a:srgbClr val="6B6B63"/>
                </a:solidFill>
                <a:latin typeface="Calibri" pitchFamily="34" charset="0"/>
                <a:ea typeface="Calibri" pitchFamily="34" charset="-122"/>
                <a:cs typeface="Calibri" pitchFamily="34" charset="-120"/>
              </a:rPr>
              <a:t>neumann1990/Azure_DevOps_To_GitHub</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2A1D"/>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F3D2C"/>
          </a:solidFill>
          <a:ln/>
        </p:spPr>
      </p:sp>
      <p:sp>
        <p:nvSpPr>
          <p:cNvPr id="3" name="Shape 1"/>
          <p:cNvSpPr/>
          <p:nvPr/>
        </p:nvSpPr>
        <p:spPr>
          <a:xfrm>
            <a:off x="0" y="0"/>
            <a:ext cx="12191695" cy="128016"/>
          </a:xfrm>
          <a:prstGeom prst="rect">
            <a:avLst/>
          </a:prstGeom>
          <a:solidFill>
            <a:srgbClr val="C1440E"/>
          </a:solidFill>
          <a:ln/>
        </p:spPr>
      </p:sp>
      <p:sp>
        <p:nvSpPr>
          <p:cNvPr id="4" name="Text 2"/>
          <p:cNvSpPr txBox="1"/>
          <p:nvPr/>
        </p:nvSpPr>
        <p:spPr>
          <a:xfrm>
            <a:off x="1188720" y="2331720"/>
            <a:ext cx="9784080" cy="2377440"/>
          </a:xfrm>
          <a:prstGeom prst="rect">
            <a:avLst/>
          </a:prstGeom>
          <a:noFill/>
          <a:ln/>
        </p:spPr>
        <p:txBody>
          <a:bodyPr wrap="square" lIns="0" tIns="0" rIns="0" bIns="0" rtlCol="0" anchor="ctr"/>
          <a:lstStyle/>
          <a:p>
            <a:pPr algn="ctr" indent="0" marL="0">
              <a:buNone/>
            </a:pPr>
            <a:r>
              <a:rPr lang="en-US" sz="3000" b="1" i="1" dirty="0">
                <a:solidFill>
                  <a:srgbClr val="F5F5F0"/>
                </a:solidFill>
                <a:latin typeface="Cambria" pitchFamily="34" charset="0"/>
                <a:ea typeface="Cambria" pitchFamily="34" charset="-122"/>
                <a:cs typeface="Cambria" pitchFamily="34" charset="-120"/>
              </a:rPr>
              <a:t>“For some, the city is a place of opportunity. For others, it’s a place of danger. But for all of it — it is a world of our making.”</a:t>
            </a:r>
            <a:endParaRPr lang="en-US" sz="3000" dirty="0"/>
          </a:p>
        </p:txBody>
      </p:sp>
      <p:sp>
        <p:nvSpPr>
          <p:cNvPr id="5" name="Text 3"/>
          <p:cNvSpPr txBox="1"/>
          <p:nvPr/>
        </p:nvSpPr>
        <p:spPr>
          <a:xfrm>
            <a:off x="548640" y="5989320"/>
            <a:ext cx="11064240" cy="411480"/>
          </a:xfrm>
          <a:prstGeom prst="rect">
            <a:avLst/>
          </a:prstGeom>
          <a:noFill/>
          <a:ln/>
        </p:spPr>
        <p:txBody>
          <a:bodyPr wrap="square" lIns="0" tIns="0" rIns="0" bIns="0" rtlCol="0" anchor="ctr"/>
          <a:lstStyle/>
          <a:p>
            <a:pPr algn="ctr" indent="0" marL="0">
              <a:buNone/>
            </a:pPr>
            <a:r>
              <a:rPr lang="en-US" sz="1300" spc="200" kern="0" dirty="0">
                <a:solidFill>
                  <a:srgbClr val="8C6A3F"/>
                </a:solidFill>
                <a:latin typeface="Calibri" pitchFamily="34" charset="0"/>
                <a:ea typeface="Calibri" pitchFamily="34" charset="-122"/>
                <a:cs typeface="Calibri" pitchFamily="34" charset="-120"/>
              </a:rPr>
              <a:t>— DOCUMENTARY CLOSER, OVER SOMEBODY’S INHERITED 2016 PIPELINE</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280160"/>
          </a:xfrm>
          <a:prstGeom prst="rect">
            <a:avLst/>
          </a:prstGeom>
          <a:solidFill>
            <a:srgbClr val="1F3D2C"/>
          </a:solidFill>
          <a:ln/>
        </p:spPr>
      </p:sp>
      <p:sp>
        <p:nvSpPr>
          <p:cNvPr id="3" name="Text 1"/>
          <p:cNvSpPr txBox="1"/>
          <p:nvPr/>
        </p:nvSpPr>
        <p:spPr>
          <a:xfrm>
            <a:off x="548640" y="1920240"/>
            <a:ext cx="11064240" cy="1188720"/>
          </a:xfrm>
          <a:prstGeom prst="rect">
            <a:avLst/>
          </a:prstGeom>
          <a:noFill/>
          <a:ln/>
        </p:spPr>
        <p:txBody>
          <a:bodyPr wrap="square" lIns="0" tIns="0" rIns="0" bIns="0" rtlCol="0" anchor="ctr"/>
          <a:lstStyle/>
          <a:p>
            <a:pPr algn="ctr" indent="0" marL="0">
              <a:buNone/>
            </a:pPr>
            <a:r>
              <a:rPr lang="en-US" sz="5400" b="1" dirty="0">
                <a:solidFill>
                  <a:srgbClr val="1F3D2C"/>
                </a:solidFill>
                <a:latin typeface="Cambria" pitchFamily="34" charset="0"/>
                <a:ea typeface="Cambria" pitchFamily="34" charset="-122"/>
                <a:cs typeface="Cambria" pitchFamily="34" charset="-120"/>
              </a:rPr>
              <a:t>Thank You</a:t>
            </a:r>
            <a:endParaRPr lang="en-US" sz="5400" dirty="0"/>
          </a:p>
        </p:txBody>
      </p:sp>
      <p:sp>
        <p:nvSpPr>
          <p:cNvPr id="4" name="Text 2"/>
          <p:cNvSpPr txBox="1"/>
          <p:nvPr/>
        </p:nvSpPr>
        <p:spPr>
          <a:xfrm>
            <a:off x="548640" y="3063240"/>
            <a:ext cx="11064240" cy="502920"/>
          </a:xfrm>
          <a:prstGeom prst="rect">
            <a:avLst/>
          </a:prstGeom>
          <a:noFill/>
          <a:ln/>
        </p:spPr>
        <p:txBody>
          <a:bodyPr wrap="square" lIns="0" tIns="0" rIns="0" bIns="0" rtlCol="0" anchor="ctr"/>
          <a:lstStyle/>
          <a:p>
            <a:pPr algn="ctr" indent="0" marL="0">
              <a:buNone/>
            </a:pPr>
            <a:r>
              <a:rPr lang="en-US" sz="1800" dirty="0">
                <a:solidFill>
                  <a:srgbClr val="6B6B63"/>
                </a:solidFill>
                <a:latin typeface="Calibri" pitchFamily="34" charset="0"/>
                <a:ea typeface="Calibri" pitchFamily="34" charset="-122"/>
                <a:cs typeface="Calibri" pitchFamily="34" charset="-120"/>
              </a:rPr>
              <a:t>Azure DevOps to GitHub Enterprise: The Great Migration</a:t>
            </a:r>
            <a:endParaRPr lang="en-US" sz="1800" dirty="0"/>
          </a:p>
        </p:txBody>
      </p:sp>
      <p:sp>
        <p:nvSpPr>
          <p:cNvPr id="5" name="Shape 3"/>
          <p:cNvSpPr/>
          <p:nvPr/>
        </p:nvSpPr>
        <p:spPr>
          <a:xfrm>
            <a:off x="2898648" y="3886200"/>
            <a:ext cx="6400800" cy="1828800"/>
          </a:xfrm>
          <a:prstGeom prst="roundRect">
            <a:avLst>
              <a:gd name="adj" fmla="val 6000"/>
            </a:avLst>
          </a:prstGeom>
          <a:solidFill>
            <a:srgbClr val="F7F6F2"/>
          </a:solidFill>
          <a:ln w="12700">
            <a:solidFill>
              <a:srgbClr val="DDD8CC"/>
            </a:solidFill>
            <a:prstDash val="solid"/>
          </a:ln>
          <a:effectLst>
            <a:outerShdw sx="100000" sy="100000" kx="0" ky="0" algn="bl" rotWithShape="0" blurRad="76200" dist="25400" dir="5400000">
              <a:srgbClr val="000000">
                <a:alpha val="12000"/>
              </a:srgbClr>
            </a:outerShdw>
          </a:effectLst>
        </p:spPr>
      </p:sp>
      <p:sp>
        <p:nvSpPr>
          <p:cNvPr id="6" name="Text 4"/>
          <p:cNvSpPr txBox="1"/>
          <p:nvPr/>
        </p:nvSpPr>
        <p:spPr>
          <a:xfrm>
            <a:off x="2898648" y="4069080"/>
            <a:ext cx="6400800" cy="457200"/>
          </a:xfrm>
          <a:prstGeom prst="rect">
            <a:avLst/>
          </a:prstGeom>
          <a:noFill/>
          <a:ln/>
        </p:spPr>
        <p:txBody>
          <a:bodyPr wrap="square" lIns="0" tIns="0" rIns="0" bIns="0" rtlCol="0" anchor="ctr"/>
          <a:lstStyle/>
          <a:p>
            <a:pPr algn="ctr" indent="0" marL="0">
              <a:buNone/>
            </a:pPr>
            <a:r>
              <a:rPr lang="en-US" sz="2000" b="1" dirty="0">
                <a:solidFill>
                  <a:srgbClr val="1F3D2C"/>
                </a:solidFill>
                <a:latin typeface="Cambria" pitchFamily="34" charset="0"/>
                <a:ea typeface="Cambria" pitchFamily="34" charset="-122"/>
                <a:cs typeface="Cambria" pitchFamily="34" charset="-120"/>
              </a:rPr>
              <a:t>Kevin Neumann</a:t>
            </a:r>
            <a:endParaRPr lang="en-US" sz="2000" dirty="0"/>
          </a:p>
        </p:txBody>
      </p:sp>
      <p:sp>
        <p:nvSpPr>
          <p:cNvPr id="7" name="Text 5"/>
          <p:cNvSpPr txBox="1"/>
          <p:nvPr/>
        </p:nvSpPr>
        <p:spPr>
          <a:xfrm>
            <a:off x="2898648" y="4526280"/>
            <a:ext cx="6400800" cy="365760"/>
          </a:xfrm>
          <a:prstGeom prst="rect">
            <a:avLst/>
          </a:prstGeom>
          <a:noFill/>
          <a:ln/>
        </p:spPr>
        <p:txBody>
          <a:bodyPr wrap="square" lIns="0" tIns="0" rIns="0" bIns="0" rtlCol="0" anchor="ctr"/>
          <a:lstStyle/>
          <a:p>
            <a:pPr algn="ctr" indent="0" marL="0">
              <a:buNone/>
            </a:pPr>
            <a:r>
              <a:rPr lang="en-US" sz="1500" dirty="0">
                <a:solidFill>
                  <a:srgbClr val="2B2B2B"/>
                </a:solidFill>
                <a:latin typeface="Calibri" pitchFamily="34" charset="0"/>
                <a:ea typeface="Calibri" pitchFamily="34" charset="-122"/>
                <a:cs typeface="Calibri" pitchFamily="34" charset="-120"/>
              </a:rPr>
              <a:t>kneumann@hunter.com</a:t>
            </a:r>
            <a:endParaRPr lang="en-US" sz="1500" dirty="0"/>
          </a:p>
        </p:txBody>
      </p:sp>
      <p:sp>
        <p:nvSpPr>
          <p:cNvPr id="8" name="Shape 6"/>
          <p:cNvSpPr/>
          <p:nvPr/>
        </p:nvSpPr>
        <p:spPr>
          <a:xfrm>
            <a:off x="5568696" y="4910328"/>
            <a:ext cx="740664" cy="740664"/>
          </a:xfrm>
          <a:prstGeom prst="roundRect">
            <a:avLst>
              <a:gd name="adj" fmla="val 7407"/>
            </a:avLst>
          </a:prstGeom>
          <a:solidFill>
            <a:srgbClr val="FFFFFF"/>
          </a:solidFill>
          <a:ln w="15875">
            <a:solidFill>
              <a:srgbClr val="1F3D2C"/>
            </a:solidFill>
            <a:prstDash val="solid"/>
          </a:ln>
        </p:spPr>
      </p:sp>
      <p:pic>
        <p:nvPicPr>
          <p:cNvPr id="9" name="Image 0" descr="/home/claude/pptx-build/assets/qr-section6-thankyou.png">    </p:cNvPr>
          <p:cNvPicPr>
            <a:picLocks noChangeAspect="1"/>
          </p:cNvPicPr>
          <p:nvPr/>
        </p:nvPicPr>
        <p:blipFill>
          <a:blip r:embed="rId1"/>
          <a:stretch>
            <a:fillRect/>
          </a:stretch>
        </p:blipFill>
        <p:spPr>
          <a:xfrm>
            <a:off x="5641848" y="4983480"/>
            <a:ext cx="594360" cy="594360"/>
          </a:xfrm>
          <a:prstGeom prst="rect">
            <a:avLst/>
          </a:prstGeom>
        </p:spPr>
      </p:pic>
      <p:sp>
        <p:nvSpPr>
          <p:cNvPr id="10" name="Text 7"/>
          <p:cNvSpPr txBox="1"/>
          <p:nvPr/>
        </p:nvSpPr>
        <p:spPr>
          <a:xfrm>
            <a:off x="548640" y="6172200"/>
            <a:ext cx="11064240" cy="457200"/>
          </a:xfrm>
          <a:prstGeom prst="rect">
            <a:avLst/>
          </a:prstGeom>
          <a:noFill/>
          <a:ln/>
        </p:spPr>
        <p:txBody>
          <a:bodyPr wrap="square" lIns="0" tIns="0" rIns="0" bIns="0" rtlCol="0" anchor="ctr"/>
          <a:lstStyle/>
          <a:p>
            <a:pPr algn="ctr" indent="0" marL="0">
              <a:buNone/>
            </a:pPr>
            <a:r>
              <a:rPr lang="en-US" sz="1700" i="1" dirty="0">
                <a:solidFill>
                  <a:srgbClr val="C1440E"/>
                </a:solidFill>
                <a:latin typeface="Calibri" pitchFamily="34" charset="0"/>
                <a:ea typeface="Calibri" pitchFamily="34" charset="-122"/>
                <a:cs typeface="Calibri" pitchFamily="34" charset="-120"/>
              </a:rPr>
              <a:t>Open floor — questions welcome.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to GitHub Enterprise: The Great Migration</dc:title>
  <dc:subject>PptxGenJS Presentation</dc:subject>
  <dc:creator>Kevin Neumann</dc:creator>
  <cp:lastModifiedBy>Kevin Neumann</cp:lastModifiedBy>
  <cp:revision>1</cp:revision>
  <dcterms:created xsi:type="dcterms:W3CDTF">2026-09-21T19:07:56Z</dcterms:created>
  <dcterms:modified xsi:type="dcterms:W3CDTF">2026-09-21T19:07:56Z</dcterms:modified>
</cp:coreProperties>
</file>