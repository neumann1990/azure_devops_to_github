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same conceit as section 1's opener. Pause after the line, then go straight back to normal delivery for the scorecard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spoiler slide — the full seven-subsystem scorecard for the whole talk, not just section 2. Two travel clean (Repos, Wiki), four need a decision (Packages/Artifacts, Pipelines, Dashboards, Boards), one stays behind entirely (Test Plans). Don't over-explain each row yet — Pipelines gets all of section 3, Boards and Test Plans get all of section 4. This slide's job is just to set the map before the detailed stops. Repos, Wiki, Packages/Artifacts, and Dashboards get their own slides in the rest of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Git is git — commit history, PRs, most branch policies migrate without drama. The asterisk is what doesn't: repo permissions get rebuilt as two GitHub teams per team project, Git LFS objects need their own handling, user-scoped or cross-repo branch policies need manual rebuilding, TFVC has to convert to Git first (no direct path), and — easy to miss — everything arrives private on GitHub no matter how visible it was in Azure DevOps. Worth a quick mention of the four hard size limits too if there's time (2 GiB/commit, 2 GiB/push, 100 MiB/file, 40 GiB/repo) but don't let the slide's bullets run long reciting them — they're in the written notes if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quick — this is the shortest stop in the section because there's genuinely not much to it. Both wikis are Git repos, so it's clone-and-push, full stop. The only real conversation is permissions: Azure DevOps' per-page permission model is richer than GitHub wiki's, and you lose the tight integration with Boards and pipelines that Azure DevOps wiki has. Land the pull-quote line — content migration is trivial, permissions is the whole conversation — it's the one-sentence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Unlike Repos or Wiki, this one isn't a clean migration path — it's a genuine three-way decision: keep Azure Artifacts as-is, move fully to GitHub Packages, or dual-publish during a transition window. The realistic PoC target for most enterprises is the first option done well: GitHub Actions publishing to and consuming from an existing Azure Artifacts feed, because repointing every downstream consumer at cutover usually isn't realistic. This is a decision, not a rewrite — say that line plainly, it's the slide's title for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GitHub's built-in engineering metrics are real and cover delivery performance, cycle time, and PR review load — genuinely DORA-adjacent — but they won't match the combined depth of Azure Boards Analytics plus a dedicated Power BI report most enterprises have built up over years. VERIFY BEFORE THE TALK: confirm the exact GitHub feature name and its availability on Hunter's actual GHEC plan/tier — flagged as unverified in the source research notes, don't commit to a specific product name on stage without checking first. The reframe that saves this slide: stop comparing dashboard widgets one-for-one, use the four DORA metrics as the shared baseline language both platforms can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deliberately slow — this line is the whole talk in one sentence, worth letting it land before moving on. Everything that's file-based and version-controlled — repos, wiki — travels cleanly because Git is Git on both sides. Everything backed by a proprietary database with its own data model — dashboards here, and Boards plus Test Plans in the next section — needs either a rewrite, a decision, or in Test Plans' case, doesn't come at all. This sets up sections 3 and 4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into section 3. The real Q&amp;A time is banked for the 10-minute block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C"/>
        </a:solidFill>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sp>
      <p:sp>
        <p:nvSpPr>
          <p:cNvPr id="3" name="Text 1"/>
          <p:cNvSpPr txBox="1"/>
          <p:nvPr/>
        </p:nvSpPr>
        <p:spPr>
          <a:xfrm>
            <a:off x="548640" y="365760"/>
            <a:ext cx="9144000" cy="502920"/>
          </a:xfrm>
          <a:prstGeom prst="rect">
            <a:avLst/>
          </a:prstGeom>
          <a:noFill/>
          <a:ln/>
        </p:spPr>
        <p:txBody>
          <a:bodyPr wrap="square" lIns="0" tIns="0" rIns="0" bIns="0" rtlCol="0" anchor="ctr"/>
          <a:lstStyle/>
          <a:p>
            <a:pPr indent="0" marL="0">
              <a:buNone/>
            </a:pPr>
            <a:r>
              <a:rPr lang="en-US" sz="1700" b="1" spc="300" kern="0" dirty="0">
                <a:solidFill>
                  <a:srgbClr val="8C6A3F"/>
                </a:solidFill>
                <a:latin typeface="Calibri" pitchFamily="34" charset="0"/>
                <a:ea typeface="Calibri" pitchFamily="34" charset="-122"/>
                <a:cs typeface="Calibri" pitchFamily="34" charset="-120"/>
              </a:rPr>
              <a:t>SECTION 2</a:t>
            </a:r>
            <a:endParaRPr lang="en-US" sz="1700" dirty="0"/>
          </a:p>
        </p:txBody>
      </p:sp>
      <p:pic>
        <p:nvPicPr>
          <p:cNvPr id="4" name="Image 0" descr="/home/claude/pptx-build/assets/icons/FaBinoculars-8C6A3F-300.png">    </p:cNvPr>
          <p:cNvPicPr>
            <a:picLocks noChangeAspect="1"/>
          </p:cNvPicPr>
          <p:nvPr/>
        </p:nvPicPr>
        <p:blipFill>
          <a:blip r:embed="rId1">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indent="0" marL="0">
              <a:buNone/>
            </a:pPr>
            <a:r>
              <a:rPr lang="en-US" sz="4400" b="1" dirty="0">
                <a:solidFill>
                  <a:srgbClr val="F5F5F0"/>
                </a:solidFill>
                <a:latin typeface="Cambria" pitchFamily="34" charset="0"/>
                <a:ea typeface="Cambria" pitchFamily="34" charset="-122"/>
                <a:cs typeface="Cambria" pitchFamily="34" charset="-120"/>
              </a:rPr>
              <a:t>A Field Guide to the Local Species</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indent="0" marL="0">
              <a:buNone/>
            </a:pPr>
            <a:r>
              <a:rPr lang="en-US" sz="2000" i="1" dirty="0">
                <a:solidFill>
                  <a:srgbClr val="8C6A3F"/>
                </a:solidFill>
                <a:latin typeface="Calibri" pitchFamily="34" charset="0"/>
                <a:ea typeface="Calibri" pitchFamily="34" charset="-122"/>
                <a:cs typeface="Calibri" pitchFamily="34" charset="-120"/>
              </a:rPr>
              <a:t>Before the crossing, a survey of the terrain: which subsystems travel clean, which need a second look, and which never leave the old ground at all.</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sp>
      <p:sp>
        <p:nvSpPr>
          <p:cNvPr id="8" name="Text 5"/>
          <p:cNvSpPr txBox="1"/>
          <p:nvPr/>
        </p:nvSpPr>
        <p:spPr>
          <a:xfrm>
            <a:off x="548640" y="6355080"/>
            <a:ext cx="9144000" cy="365760"/>
          </a:xfrm>
          <a:prstGeom prst="rect">
            <a:avLst/>
          </a:prstGeom>
          <a:noFill/>
          <a:ln/>
        </p:spPr>
        <p:txBody>
          <a:bodyPr wrap="square" lIns="0" tIns="0" rIns="0" bIns="0" rtlCol="0" anchor="ctr"/>
          <a:lstStyle/>
          <a:p>
            <a:pPr indent="0" marL="0">
              <a:buNone/>
            </a:pPr>
            <a:r>
              <a:rPr lang="en-US" sz="1200" dirty="0">
                <a:solidFill>
                  <a:srgbClr val="6B6B63"/>
                </a:solidFill>
                <a:latin typeface="Calibri" pitchFamily="34" charset="0"/>
                <a:ea typeface="Calibri" pitchFamily="34" charset="-122"/>
                <a:cs typeface="Calibri" pitchFamily="34" charset="-120"/>
              </a:rPr>
              <a:t>DOCUMENTARY VOICE — SPOKEN LIVE, NOT READ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ClipboardList-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The Scorecard — Full Reveal</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297680"/>
        </p:xfrm>
        <a:graphic>
          <a:graphicData uri="http://schemas.openxmlformats.org/drawingml/2006/table">
            <a:tbl>
              <a:tblPr/>
              <a:tblGrid>
                <a:gridCol w="2331720"/>
                <a:gridCol w="2514600"/>
                <a:gridCol w="6217920"/>
              </a:tblGrid>
              <a:tr h="537210">
                <a:tc>
                  <a:txBody>
                    <a:bodyPr/>
                    <a:lstStyle/>
                    <a:p>
                      <a:pPr indent="0" marL="0">
                        <a:buNone/>
                      </a:pPr>
                      <a:r>
                        <a:rPr lang="en-US" sz="1500" b="1" dirty="0">
                          <a:solidFill>
                            <a:srgbClr val="F5F5F0"/>
                          </a:solidFill>
                          <a:latin typeface="Calibri" pitchFamily="34" charset="0"/>
                          <a:ea typeface="Calibri" pitchFamily="34" charset="-122"/>
                          <a:cs typeface="Calibri" pitchFamily="34" charset="-120"/>
                        </a:rPr>
                        <a:t>Subsystem</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algn="ctr" indent="0" marL="0">
                        <a:buNone/>
                      </a:pPr>
                      <a:r>
                        <a:rPr lang="en-US" sz="1500" b="1" dirty="0">
                          <a:solidFill>
                            <a:srgbClr val="F5F5F0"/>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indent="0" marL="0">
                        <a:buNone/>
                      </a:pPr>
                      <a:r>
                        <a:rPr lang="en-US" sz="1500" b="1" dirty="0">
                          <a:solidFill>
                            <a:srgbClr val="F5F5F0"/>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r>
              <a:tr h="537210">
                <a:tc>
                  <a:txBody>
                    <a:bodyPr/>
                    <a:lstStyle/>
                    <a:p>
                      <a:pPr indent="0" marL="0">
                        <a:buNone/>
                      </a:pPr>
                      <a:r>
                        <a:rPr lang="en-US" sz="1500" b="1" dirty="0">
                          <a:solidFill>
                            <a:srgbClr val="1F3D2C"/>
                          </a:solidFill>
                          <a:latin typeface="Cambria" pitchFamily="34" charset="0"/>
                          <a:ea typeface="Cambria" pitchFamily="34" charset="-122"/>
                          <a:cs typeface="Cambria" pitchFamily="34" charset="-120"/>
                        </a:rPr>
                        <a:t>Repos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algn="ctr" indent="0" marL="0">
                        <a:buNone/>
                      </a:pPr>
                      <a:r>
                        <a:rPr lang="en-US" sz="1150" b="1" dirty="0">
                          <a:solidFill>
                            <a:srgbClr val="F5F5F0"/>
                          </a:solidFill>
                          <a:latin typeface="Calibri" pitchFamily="34" charset="0"/>
                          <a:ea typeface="Calibri" pitchFamily="34" charset="-122"/>
                          <a:cs typeface="Calibri" pitchFamily="34" charset="-120"/>
                        </a:rPr>
                        <a:t>TRAVELS CLEAN</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Git is git — history and PRs migrate; permissions and LFS need a second look*</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r>
              <a:tr h="537210">
                <a:tc>
                  <a:txBody>
                    <a:bodyPr/>
                    <a:lstStyle/>
                    <a:p>
                      <a:pPr indent="0" marL="0">
                        <a:buNone/>
                      </a:pPr>
                      <a:r>
                        <a:rPr lang="en-US" sz="1500" b="1" dirty="0">
                          <a:solidFill>
                            <a:srgbClr val="1F3D2C"/>
                          </a:solidFill>
                          <a:latin typeface="Cambria" pitchFamily="34" charset="0"/>
                          <a:ea typeface="Cambria" pitchFamily="34" charset="-122"/>
                          <a:cs typeface="Cambria" pitchFamily="34" charset="-120"/>
                        </a:rPr>
                        <a:t>Wiki</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F5F0"/>
                          </a:solidFill>
                          <a:latin typeface="Calibri" pitchFamily="34" charset="0"/>
                          <a:ea typeface="Calibri" pitchFamily="34" charset="-122"/>
                          <a:cs typeface="Calibri" pitchFamily="34" charset="-120"/>
                        </a:rPr>
                        <a:t>TRAVELS CLEAN</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Same Git-backed model under the hood — clone-and-push</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r>
              <a:tr h="537210">
                <a:tc>
                  <a:txBody>
                    <a:bodyPr/>
                    <a:lstStyle/>
                    <a:p>
                      <a:pPr indent="0" marL="0">
                        <a:buNone/>
                      </a:pPr>
                      <a:r>
                        <a:rPr lang="en-US" sz="1500" b="1" dirty="0">
                          <a:solidFill>
                            <a:srgbClr val="1F3D2C"/>
                          </a:solidFill>
                          <a:latin typeface="Cambria" pitchFamily="34" charset="0"/>
                          <a:ea typeface="Cambria" pitchFamily="34" charset="-122"/>
                          <a:cs typeface="Cambria" pitchFamily="34" charset="-120"/>
                        </a:rPr>
                        <a:t>Packages / Artifacts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algn="ctr" indent="0" marL="0">
                        <a:buNone/>
                      </a:pPr>
                      <a:r>
                        <a:rPr lang="en-US" sz="1150" b="1" dirty="0">
                          <a:solidFill>
                            <a:srgbClr val="F5F5F0"/>
                          </a:solidFill>
                          <a:latin typeface="Calibri" pitchFamily="34" charset="0"/>
                          <a:ea typeface="Calibri" pitchFamily="34" charset="-122"/>
                          <a:cs typeface="Calibri" pitchFamily="34" charset="-120"/>
                        </a:rPr>
                        <a:t>NEEDS A DECISION</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Keep Azure Artifacts, move to GitHub Packages, or both during transition</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r>
              <a:tr h="537210">
                <a:tc>
                  <a:txBody>
                    <a:bodyPr/>
                    <a:lstStyle/>
                    <a:p>
                      <a:pPr indent="0" marL="0">
                        <a:buNone/>
                      </a:pPr>
                      <a:r>
                        <a:rPr lang="en-US" sz="1500" b="1" dirty="0">
                          <a:solidFill>
                            <a:srgbClr val="1F3D2C"/>
                          </a:solidFill>
                          <a:latin typeface="Cambria" pitchFamily="34" charset="0"/>
                          <a:ea typeface="Cambria" pitchFamily="34" charset="-122"/>
                          <a:cs typeface="Cambria" pitchFamily="34" charset="-120"/>
                        </a:rPr>
                        <a:t>Pipelines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F5F0"/>
                          </a:solidFill>
                          <a:latin typeface="Calibri" pitchFamily="34" charset="0"/>
                          <a:ea typeface="Calibri" pitchFamily="34" charset="-122"/>
                          <a:cs typeface="Calibri" pitchFamily="34" charset="-120"/>
                        </a:rPr>
                        <a:t>NEEDS A DECISION</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Same YAML shell, different concepts underneath — budget real rewrite time</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r>
              <a:tr h="537210">
                <a:tc>
                  <a:txBody>
                    <a:bodyPr/>
                    <a:lstStyle/>
                    <a:p>
                      <a:pPr indent="0" marL="0">
                        <a:buNone/>
                      </a:pPr>
                      <a:r>
                        <a:rPr lang="en-US" sz="1500" b="1" dirty="0">
                          <a:solidFill>
                            <a:srgbClr val="1F3D2C"/>
                          </a:solidFill>
                          <a:latin typeface="Cambria" pitchFamily="34" charset="0"/>
                          <a:ea typeface="Cambria" pitchFamily="34" charset="-122"/>
                          <a:cs typeface="Cambria" pitchFamily="34" charset="-120"/>
                        </a:rPr>
                        <a:t>Dashboards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algn="ctr" indent="0" marL="0">
                        <a:buNone/>
                      </a:pPr>
                      <a:r>
                        <a:rPr lang="en-US" sz="1150" b="1" dirty="0">
                          <a:solidFill>
                            <a:srgbClr val="F5F5F0"/>
                          </a:solidFill>
                          <a:latin typeface="Calibri" pitchFamily="34" charset="0"/>
                          <a:ea typeface="Calibri" pitchFamily="34" charset="-122"/>
                          <a:cs typeface="Calibri" pitchFamily="34" charset="-120"/>
                        </a:rPr>
                        <a:t>NEEDS A DECISION</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DORA-adjacent metrics built in; doesn’t match Power BI’s depth</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r>
              <a:tr h="537210">
                <a:tc>
                  <a:txBody>
                    <a:bodyPr/>
                    <a:lstStyle/>
                    <a:p>
                      <a:pPr indent="0" marL="0">
                        <a:buNone/>
                      </a:pPr>
                      <a:r>
                        <a:rPr lang="en-US" sz="1500" b="1" dirty="0">
                          <a:solidFill>
                            <a:srgbClr val="1F3D2C"/>
                          </a:solidFill>
                          <a:latin typeface="Cambria" pitchFamily="34" charset="0"/>
                          <a:ea typeface="Cambria" pitchFamily="34" charset="-122"/>
                          <a:cs typeface="Cambria" pitchFamily="34" charset="-120"/>
                        </a:rPr>
                        <a:t>Boards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F5F0"/>
                          </a:solidFill>
                          <a:latin typeface="Calibri" pitchFamily="34" charset="0"/>
                          <a:ea typeface="Calibri" pitchFamily="34" charset="-122"/>
                          <a:cs typeface="Calibri" pitchFamily="34" charset="-120"/>
                        </a:rPr>
                        <a:t>NEEDS A DECISION</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The hybrid pattern: connect it, don’t migrate it</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r>
              <a:tr h="537210">
                <a:tc>
                  <a:txBody>
                    <a:bodyPr/>
                    <a:lstStyle/>
                    <a:p>
                      <a:pPr indent="0" marL="0">
                        <a:buNone/>
                      </a:pPr>
                      <a:r>
                        <a:rPr lang="en-US" sz="1500" b="1" dirty="0">
                          <a:solidFill>
                            <a:srgbClr val="1F3D2C"/>
                          </a:solidFill>
                          <a:latin typeface="Cambria" pitchFamily="34" charset="0"/>
                          <a:ea typeface="Cambria" pitchFamily="34" charset="-122"/>
                          <a:cs typeface="Cambria" pitchFamily="34" charset="-120"/>
                        </a:rPr>
                        <a:t>Test Plans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algn="ctr" indent="0" marL="0">
                        <a:buNone/>
                      </a:pPr>
                      <a:r>
                        <a:rPr lang="en-US" sz="1150" b="1" dirty="0">
                          <a:solidFill>
                            <a:srgbClr val="F5F5F0"/>
                          </a:solidFill>
                          <a:latin typeface="Calibri" pitchFamily="34" charset="0"/>
                          <a:ea typeface="Calibri" pitchFamily="34" charset="-122"/>
                          <a:cs typeface="Calibri" pitchFamily="34" charset="-120"/>
                        </a:rPr>
                        <a:t>STAYS BEHIND</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C1440E"/>
                    </a:solidFill>
                  </a:tcPr>
                </a:tc>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No GitHub equivalent — full stop</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r>
            </a:tbl>
          </a:graphicData>
        </a:graphic>
      </p:graphicFrame>
      <p:sp>
        <p:nvSpPr>
          <p:cNvPr id="7" name="Text 3"/>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300" i="1" dirty="0">
                <a:solidFill>
                  <a:srgbClr val="6B6B63"/>
                </a:solidFill>
                <a:latin typeface="Calibri" pitchFamily="34" charset="0"/>
                <a:ea typeface="Calibri" pitchFamily="34" charset="-122"/>
                <a:cs typeface="Calibri" pitchFamily="34" charset="-120"/>
              </a:rPr>
              <a:t>* Repos gets its own asterisk, next.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CodeBranch-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Repos: Travels Clean* — The Asterisk</a:t>
            </a:r>
            <a:endParaRPr lang="en-US" sz="3200" dirty="0"/>
          </a:p>
        </p:txBody>
      </p:sp>
      <p:sp>
        <p:nvSpPr>
          <p:cNvPr id="6" name="Shape 3"/>
          <p:cNvSpPr/>
          <p:nvPr/>
        </p:nvSpPr>
        <p:spPr>
          <a:xfrm>
            <a:off x="548640" y="1645920"/>
            <a:ext cx="5349240" cy="4114800"/>
          </a:xfrm>
          <a:prstGeom prst="roundRect">
            <a:avLst>
              <a:gd name="adj" fmla="val 2667"/>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22960" y="1828800"/>
            <a:ext cx="4800600" cy="457200"/>
          </a:xfrm>
          <a:prstGeom prst="rect">
            <a:avLst/>
          </a:prstGeom>
          <a:noFill/>
          <a:ln/>
        </p:spPr>
        <p:txBody>
          <a:bodyPr wrap="square" lIns="0" tIns="0" rIns="0" bIns="0" rtlCol="0" anchor="ctr"/>
          <a:lstStyle/>
          <a:p>
            <a:pPr indent="0" marL="0">
              <a:buNone/>
            </a:pPr>
            <a:r>
              <a:rPr lang="en-US" sz="2100" b="1" dirty="0">
                <a:solidFill>
                  <a:srgbClr val="1F3D2C"/>
                </a:solidFill>
                <a:latin typeface="Cambria" pitchFamily="34" charset="0"/>
                <a:ea typeface="Cambria" pitchFamily="34" charset="-122"/>
                <a:cs typeface="Cambria" pitchFamily="34" charset="-120"/>
              </a:rPr>
              <a:t>What Travels Clean</a:t>
            </a:r>
            <a:endParaRPr lang="en-US" sz="2100" dirty="0"/>
          </a:p>
        </p:txBody>
      </p:sp>
      <p:sp>
        <p:nvSpPr>
          <p:cNvPr id="8" name="Text 5"/>
          <p:cNvSpPr txBox="1"/>
          <p:nvPr/>
        </p:nvSpPr>
        <p:spPr>
          <a:xfrm>
            <a:off x="822960" y="2423160"/>
            <a:ext cx="4800600" cy="32004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650" dirty="0">
                <a:solidFill>
                  <a:srgbClr val="2B2B2B"/>
                </a:solidFill>
                <a:latin typeface="Calibri" pitchFamily="34" charset="0"/>
                <a:ea typeface="Calibri" pitchFamily="34" charset="-122"/>
                <a:cs typeface="Calibri" pitchFamily="34" charset="-120"/>
              </a:rPr>
              <a:t>Full commit history, branches, and tags</a:t>
            </a:r>
            <a:endParaRPr lang="en-US" sz="1650" dirty="0"/>
          </a:p>
          <a:p>
            <a:pPr marL="342900" indent="-342900">
              <a:lnSpc>
                <a:spcPct val="115000"/>
              </a:lnSpc>
              <a:spcAft>
                <a:spcPts val="1200"/>
              </a:spcAft>
              <a:buSzPct val="100000"/>
              <a:buChar char="•"/>
            </a:pPr>
            <a:r>
              <a:rPr lang="en-US" sz="1650" dirty="0">
                <a:solidFill>
                  <a:srgbClr val="2B2B2B"/>
                </a:solidFill>
                <a:latin typeface="Calibri" pitchFamily="34" charset="0"/>
                <a:ea typeface="Calibri" pitchFamily="34" charset="-122"/>
                <a:cs typeface="Calibri" pitchFamily="34" charset="-120"/>
              </a:rPr>
              <a:t>Pull requests, with their comments and review history</a:t>
            </a:r>
            <a:endParaRPr lang="en-US" sz="1650" dirty="0"/>
          </a:p>
          <a:p>
            <a:pPr marL="342900" indent="-342900">
              <a:lnSpc>
                <a:spcPct val="115000"/>
              </a:lnSpc>
              <a:buSzPct val="100000"/>
              <a:buChar char="•"/>
            </a:pPr>
            <a:r>
              <a:rPr lang="en-US" sz="1650" dirty="0">
                <a:solidFill>
                  <a:srgbClr val="2B2B2B"/>
                </a:solidFill>
                <a:latin typeface="Calibri" pitchFamily="34" charset="0"/>
                <a:ea typeface="Calibri" pitchFamily="34" charset="-122"/>
                <a:cs typeface="Calibri" pitchFamily="34" charset="-120"/>
              </a:rPr>
              <a:t>Most branch policies — the ones scoped to a single repo</a:t>
            </a:r>
            <a:endParaRPr lang="en-US" sz="1650" dirty="0"/>
          </a:p>
        </p:txBody>
      </p:sp>
      <p:sp>
        <p:nvSpPr>
          <p:cNvPr id="9" name="Shape 6"/>
          <p:cNvSpPr/>
          <p:nvPr/>
        </p:nvSpPr>
        <p:spPr>
          <a:xfrm>
            <a:off x="6263640" y="1645920"/>
            <a:ext cx="5349240" cy="4114800"/>
          </a:xfrm>
          <a:prstGeom prst="roundRect">
            <a:avLst>
              <a:gd name="adj" fmla="val 2667"/>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6537960" y="1828800"/>
            <a:ext cx="4800600" cy="457200"/>
          </a:xfrm>
          <a:prstGeom prst="rect">
            <a:avLst/>
          </a:prstGeom>
          <a:noFill/>
          <a:ln/>
        </p:spPr>
        <p:txBody>
          <a:bodyPr wrap="square" lIns="0" tIns="0" rIns="0" bIns="0" rtlCol="0" anchor="ctr"/>
          <a:lstStyle/>
          <a:p>
            <a:pPr indent="0" marL="0">
              <a:buNone/>
            </a:pPr>
            <a:r>
              <a:rPr lang="en-US" sz="2100" b="1" dirty="0">
                <a:solidFill>
                  <a:srgbClr val="F5F5F0"/>
                </a:solidFill>
                <a:latin typeface="Cambria" pitchFamily="34" charset="0"/>
                <a:ea typeface="Cambria" pitchFamily="34" charset="-122"/>
                <a:cs typeface="Cambria" pitchFamily="34" charset="-120"/>
              </a:rPr>
              <a:t>The Asterisk</a:t>
            </a:r>
            <a:endParaRPr lang="en-US" sz="2100" dirty="0"/>
          </a:p>
        </p:txBody>
      </p:sp>
      <p:sp>
        <p:nvSpPr>
          <p:cNvPr id="11" name="Text 8"/>
          <p:cNvSpPr txBox="1"/>
          <p:nvPr/>
        </p:nvSpPr>
        <p:spPr>
          <a:xfrm>
            <a:off x="6537960" y="2423160"/>
            <a:ext cx="4800600" cy="320040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400" dirty="0">
                <a:solidFill>
                  <a:srgbClr val="F5F5F0"/>
                </a:solidFill>
                <a:latin typeface="Calibri" pitchFamily="34" charset="0"/>
                <a:ea typeface="Calibri" pitchFamily="34" charset="-122"/>
                <a:cs typeface="Calibri" pitchFamily="34" charset="-120"/>
              </a:rPr>
              <a:t>Repo permissions rebuilt as two GitHub teams per team project</a:t>
            </a:r>
            <a:endParaRPr lang="en-US" sz="1400" dirty="0"/>
          </a:p>
          <a:p>
            <a:pPr marL="342900" indent="-342900">
              <a:lnSpc>
                <a:spcPct val="110000"/>
              </a:lnSpc>
              <a:spcAft>
                <a:spcPts val="1000"/>
              </a:spcAft>
              <a:buSzPct val="100000"/>
              <a:buChar char="•"/>
            </a:pPr>
            <a:r>
              <a:rPr lang="en-US" sz="1400" dirty="0">
                <a:solidFill>
                  <a:srgbClr val="F5F5F0"/>
                </a:solidFill>
                <a:latin typeface="Calibri" pitchFamily="34" charset="0"/>
                <a:ea typeface="Calibri" pitchFamily="34" charset="-122"/>
                <a:cs typeface="Calibri" pitchFamily="34" charset="-120"/>
              </a:rPr>
              <a:t>Git LFS objects don’t come along for free</a:t>
            </a:r>
            <a:endParaRPr lang="en-US" sz="1400" dirty="0"/>
          </a:p>
          <a:p>
            <a:pPr marL="342900" indent="-342900">
              <a:lnSpc>
                <a:spcPct val="110000"/>
              </a:lnSpc>
              <a:spcAft>
                <a:spcPts val="1000"/>
              </a:spcAft>
              <a:buSzPct val="100000"/>
              <a:buChar char="•"/>
            </a:pPr>
            <a:r>
              <a:rPr lang="en-US" sz="1400" dirty="0">
                <a:solidFill>
                  <a:srgbClr val="F5F5F0"/>
                </a:solidFill>
                <a:latin typeface="Calibri" pitchFamily="34" charset="0"/>
                <a:ea typeface="Calibri" pitchFamily="34" charset="-122"/>
                <a:cs typeface="Calibri" pitchFamily="34" charset="-120"/>
              </a:rPr>
              <a:t>User-scoped and cross-repo branch policies need to be rebuilt by hand</a:t>
            </a:r>
            <a:endParaRPr lang="en-US" sz="1400" dirty="0"/>
          </a:p>
          <a:p>
            <a:pPr marL="342900" indent="-342900">
              <a:lnSpc>
                <a:spcPct val="110000"/>
              </a:lnSpc>
              <a:spcAft>
                <a:spcPts val="1000"/>
              </a:spcAft>
              <a:buSzPct val="100000"/>
              <a:buChar char="•"/>
            </a:pPr>
            <a:r>
              <a:rPr lang="en-US" sz="1400" dirty="0">
                <a:solidFill>
                  <a:srgbClr val="F5F5F0"/>
                </a:solidFill>
                <a:latin typeface="Calibri" pitchFamily="34" charset="0"/>
                <a:ea typeface="Calibri" pitchFamily="34" charset="-122"/>
                <a:cs typeface="Calibri" pitchFamily="34" charset="-120"/>
              </a:rPr>
              <a:t>TFVC repos need converting to Git first — no direct path</a:t>
            </a:r>
            <a:endParaRPr lang="en-US" sz="1400" dirty="0"/>
          </a:p>
          <a:p>
            <a:pPr marL="342900" indent="-342900">
              <a:lnSpc>
                <a:spcPct val="110000"/>
              </a:lnSpc>
              <a:buSzPct val="100000"/>
              <a:buChar char="•"/>
            </a:pPr>
            <a:r>
              <a:rPr lang="en-US" sz="1400" dirty="0">
                <a:solidFill>
                  <a:srgbClr val="F5F5F0"/>
                </a:solidFill>
                <a:latin typeface="Calibri" pitchFamily="34" charset="0"/>
                <a:ea typeface="Calibri" pitchFamily="34" charset="-122"/>
                <a:cs typeface="Calibri" pitchFamily="34" charset="-120"/>
              </a:rPr>
              <a:t>Every repo arrives private on GitHub, regardless of source visibility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Book-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Wiki: Travels Clean — Same Git Underneath</a:t>
            </a:r>
            <a:endParaRPr lang="en-US" sz="3200" dirty="0"/>
          </a:p>
        </p:txBody>
      </p:sp>
      <p:sp>
        <p:nvSpPr>
          <p:cNvPr id="6" name="Shape 3"/>
          <p:cNvSpPr/>
          <p:nvPr/>
        </p:nvSpPr>
        <p:spPr>
          <a:xfrm>
            <a:off x="548640" y="1737360"/>
            <a:ext cx="11064240" cy="2834640"/>
          </a:xfrm>
          <a:prstGeom prst="roundRect">
            <a:avLst>
              <a:gd name="adj" fmla="val 3871"/>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914400" y="1965960"/>
            <a:ext cx="10332720" cy="2377440"/>
          </a:xfrm>
          <a:prstGeom prst="rect">
            <a:avLst/>
          </a:prstGeom>
          <a:noFill/>
          <a:ln/>
        </p:spPr>
        <p:txBody>
          <a:bodyPr wrap="square" lIns="0" tIns="0" rIns="0" bIns="0" rtlCol="0" anchor="ctr"/>
          <a:lstStyle/>
          <a:p>
            <a:pPr indent="0" marL="0">
              <a:lnSpc>
                <a:spcPct val="130000"/>
              </a:lnSpc>
              <a:buNone/>
            </a:pPr>
            <a:r>
              <a:rPr lang="en-US" sz="2000" dirty="0">
                <a:solidFill>
                  <a:srgbClr val="2B2B2B"/>
                </a:solidFill>
                <a:latin typeface="Calibri" pitchFamily="34" charset="0"/>
                <a:ea typeface="Calibri" pitchFamily="34" charset="-122"/>
                <a:cs typeface="Calibri" pitchFamily="34" charset="-120"/>
              </a:rPr>
              <a:t>Both Azure DevOps wiki and GitHub wiki are Git repos under the hood — clone-and-push is the whole migration. </a:t>
            </a:r>
            <a:pPr indent="0" marL="0">
              <a:lnSpc>
                <a:spcPct val="130000"/>
              </a:lnSpc>
              <a:buNone/>
            </a:pPr>
            <a:r>
              <a:rPr lang="en-US" sz="2000" b="1" dirty="0">
                <a:solidFill>
                  <a:srgbClr val="2B2B2B"/>
                </a:solidFill>
                <a:latin typeface="Calibri" pitchFamily="34" charset="0"/>
                <a:ea typeface="Calibri" pitchFamily="34" charset="-122"/>
                <a:cs typeface="Calibri" pitchFamily="34" charset="-120"/>
              </a:rPr>
              <a:t>What doesn’t come along: </a:t>
            </a:r>
            <a:pPr indent="0" marL="0">
              <a:lnSpc>
                <a:spcPct val="130000"/>
              </a:lnSpc>
              <a:buNone/>
            </a:pPr>
            <a:r>
              <a:rPr lang="en-US" sz="2000" dirty="0">
                <a:solidFill>
                  <a:srgbClr val="2B2B2B"/>
                </a:solidFill>
                <a:latin typeface="Calibri" pitchFamily="34" charset="0"/>
                <a:ea typeface="Calibri" pitchFamily="34" charset="-122"/>
                <a:cs typeface="Calibri" pitchFamily="34" charset="-120"/>
              </a:rPr>
              <a:t>Azure DevOps’ richer per-page permissions, and its tight integration with Boards and pipelines.</a:t>
            </a:r>
            <a:endParaRPr lang="en-US" sz="2000" dirty="0"/>
          </a:p>
        </p:txBody>
      </p:sp>
      <p:sp>
        <p:nvSpPr>
          <p:cNvPr id="8" name="Text 5"/>
          <p:cNvSpPr txBox="1"/>
          <p:nvPr/>
        </p:nvSpPr>
        <p:spPr>
          <a:xfrm>
            <a:off x="548640" y="4892040"/>
            <a:ext cx="11064240" cy="640080"/>
          </a:xfrm>
          <a:prstGeom prst="rect">
            <a:avLst/>
          </a:prstGeom>
          <a:noFill/>
          <a:ln/>
        </p:spPr>
        <p:txBody>
          <a:bodyPr wrap="square" lIns="0" tIns="0" rIns="0" bIns="0" rtlCol="0" anchor="ctr"/>
          <a:lstStyle/>
          <a:p>
            <a:pPr algn="ctr" indent="0" marL="0">
              <a:buNone/>
            </a:pPr>
            <a:r>
              <a:rPr lang="en-US" sz="2000" b="1" i="1" dirty="0">
                <a:solidFill>
                  <a:srgbClr val="C1440E"/>
                </a:solidFill>
                <a:latin typeface="Cambria" pitchFamily="34" charset="0"/>
                <a:ea typeface="Cambria" pitchFamily="34" charset="-122"/>
                <a:cs typeface="Cambria" pitchFamily="34" charset="-120"/>
              </a:rPr>
              <a:t>Content migration is trivial. Permissions is the whole conversation.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BoxOpen-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Packages &amp; Artifacts: A Decision, Not a Rewrite</a:t>
            </a:r>
            <a:endParaRPr lang="en-US" sz="3200" dirty="0"/>
          </a:p>
        </p:txBody>
      </p:sp>
      <p:sp>
        <p:nvSpPr>
          <p:cNvPr id="6" name="Shape 3"/>
          <p:cNvSpPr/>
          <p:nvPr/>
        </p:nvSpPr>
        <p:spPr>
          <a:xfrm>
            <a:off x="548640" y="1691640"/>
            <a:ext cx="3429000" cy="3383280"/>
          </a:xfrm>
          <a:prstGeom prst="roundRect">
            <a:avLst>
              <a:gd name="adj" fmla="val 3243"/>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822960" y="1920240"/>
            <a:ext cx="603504" cy="603504"/>
          </a:xfrm>
          <a:prstGeom prst="ellipse">
            <a:avLst/>
          </a:prstGeom>
          <a:solidFill>
            <a:srgbClr val="C1440E"/>
          </a:solidFill>
          <a:ln/>
        </p:spPr>
      </p:sp>
      <p:pic>
        <p:nvPicPr>
          <p:cNvPr id="8" name="Image 1" descr="/home/claude/pptx-build/assets/icons/FaBoxOpen-FFFFFF-200.png">    </p:cNvPr>
          <p:cNvPicPr>
            <a:picLocks noChangeAspect="1"/>
          </p:cNvPicPr>
          <p:nvPr/>
        </p:nvPicPr>
        <p:blipFill>
          <a:blip r:embed="rId2"/>
          <a:stretch>
            <a:fillRect/>
          </a:stretch>
        </p:blipFill>
        <p:spPr>
          <a:xfrm>
            <a:off x="969264" y="2066544"/>
            <a:ext cx="310896" cy="310896"/>
          </a:xfrm>
          <a:prstGeom prst="rect">
            <a:avLst/>
          </a:prstGeom>
        </p:spPr>
      </p:pic>
      <p:sp>
        <p:nvSpPr>
          <p:cNvPr id="9" name="Text 5"/>
          <p:cNvSpPr txBox="1"/>
          <p:nvPr/>
        </p:nvSpPr>
        <p:spPr>
          <a:xfrm>
            <a:off x="822960" y="2670048"/>
            <a:ext cx="2880360" cy="685800"/>
          </a:xfrm>
          <a:prstGeom prst="rect">
            <a:avLst/>
          </a:prstGeom>
          <a:noFill/>
          <a:ln/>
        </p:spPr>
        <p:txBody>
          <a:bodyPr wrap="square" lIns="0" tIns="0" rIns="0" bIns="0" rtlCol="0" anchor="ctr"/>
          <a:lstStyle/>
          <a:p>
            <a:pPr indent="0" marL="0">
              <a:buNone/>
            </a:pPr>
            <a:r>
              <a:rPr lang="en-US" sz="1700" b="1" dirty="0">
                <a:solidFill>
                  <a:srgbClr val="1F3D2C"/>
                </a:solidFill>
                <a:latin typeface="Cambria" pitchFamily="34" charset="0"/>
                <a:ea typeface="Cambria" pitchFamily="34" charset="-122"/>
                <a:cs typeface="Cambria" pitchFamily="34" charset="-120"/>
              </a:rPr>
              <a:t>Keep Azure Artifacts</a:t>
            </a:r>
            <a:endParaRPr lang="en-US" sz="1700" dirty="0"/>
          </a:p>
        </p:txBody>
      </p:sp>
      <p:sp>
        <p:nvSpPr>
          <p:cNvPr id="10" name="Text 6"/>
          <p:cNvSpPr txBox="1"/>
          <p:nvPr/>
        </p:nvSpPr>
        <p:spPr>
          <a:xfrm>
            <a:off x="822960" y="3364992"/>
            <a:ext cx="2880360" cy="16002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Change nothing. GitHub Actions can publish to and consume from an existing Azure Artifacts feed.</a:t>
            </a:r>
            <a:endParaRPr lang="en-US" sz="1400" dirty="0"/>
          </a:p>
        </p:txBody>
      </p:sp>
      <p:sp>
        <p:nvSpPr>
          <p:cNvPr id="11" name="Shape 7"/>
          <p:cNvSpPr/>
          <p:nvPr/>
        </p:nvSpPr>
        <p:spPr>
          <a:xfrm>
            <a:off x="4251960" y="1691640"/>
            <a:ext cx="3429000" cy="3383280"/>
          </a:xfrm>
          <a:prstGeom prst="roundRect">
            <a:avLst>
              <a:gd name="adj" fmla="val 3243"/>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2" name="Shape 8"/>
          <p:cNvSpPr/>
          <p:nvPr/>
        </p:nvSpPr>
        <p:spPr>
          <a:xfrm>
            <a:off x="4526280" y="1920240"/>
            <a:ext cx="603504" cy="603504"/>
          </a:xfrm>
          <a:prstGeom prst="ellipse">
            <a:avLst/>
          </a:prstGeom>
          <a:solidFill>
            <a:srgbClr val="C1440E"/>
          </a:solidFill>
          <a:ln/>
        </p:spPr>
      </p:sp>
      <p:pic>
        <p:nvPicPr>
          <p:cNvPr id="13" name="Image 2" descr="/home/claude/pptx-build/assets/icons/FaGithub-FFFFFF-200.png">    </p:cNvPr>
          <p:cNvPicPr>
            <a:picLocks noChangeAspect="1"/>
          </p:cNvPicPr>
          <p:nvPr/>
        </p:nvPicPr>
        <p:blipFill>
          <a:blip r:embed="rId3"/>
          <a:stretch>
            <a:fillRect/>
          </a:stretch>
        </p:blipFill>
        <p:spPr>
          <a:xfrm>
            <a:off x="4672584" y="2066544"/>
            <a:ext cx="310896" cy="310896"/>
          </a:xfrm>
          <a:prstGeom prst="rect">
            <a:avLst/>
          </a:prstGeom>
        </p:spPr>
      </p:pic>
      <p:sp>
        <p:nvSpPr>
          <p:cNvPr id="14" name="Text 9"/>
          <p:cNvSpPr txBox="1"/>
          <p:nvPr/>
        </p:nvSpPr>
        <p:spPr>
          <a:xfrm>
            <a:off x="4526280" y="2670048"/>
            <a:ext cx="2880360" cy="685800"/>
          </a:xfrm>
          <a:prstGeom prst="rect">
            <a:avLst/>
          </a:prstGeom>
          <a:noFill/>
          <a:ln/>
        </p:spPr>
        <p:txBody>
          <a:bodyPr wrap="square" lIns="0" tIns="0" rIns="0" bIns="0" rtlCol="0" anchor="ctr"/>
          <a:lstStyle/>
          <a:p>
            <a:pPr indent="0" marL="0">
              <a:buNone/>
            </a:pPr>
            <a:r>
              <a:rPr lang="en-US" sz="1700" b="1" dirty="0">
                <a:solidFill>
                  <a:srgbClr val="1F3D2C"/>
                </a:solidFill>
                <a:latin typeface="Cambria" pitchFamily="34" charset="0"/>
                <a:ea typeface="Cambria" pitchFamily="34" charset="-122"/>
                <a:cs typeface="Cambria" pitchFamily="34" charset="-120"/>
              </a:rPr>
              <a:t>Move to GitHub Packages</a:t>
            </a:r>
            <a:endParaRPr lang="en-US" sz="1700" dirty="0"/>
          </a:p>
        </p:txBody>
      </p:sp>
      <p:sp>
        <p:nvSpPr>
          <p:cNvPr id="15" name="Text 10"/>
          <p:cNvSpPr txBox="1"/>
          <p:nvPr/>
        </p:nvSpPr>
        <p:spPr>
          <a:xfrm>
            <a:off x="4526280" y="3364992"/>
            <a:ext cx="2880360" cy="16002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Consolidate onto one platform — the right call for teams starting fresh or already small.</a:t>
            </a:r>
            <a:endParaRPr lang="en-US" sz="1400" dirty="0"/>
          </a:p>
        </p:txBody>
      </p:sp>
      <p:sp>
        <p:nvSpPr>
          <p:cNvPr id="16" name="Shape 11"/>
          <p:cNvSpPr/>
          <p:nvPr/>
        </p:nvSpPr>
        <p:spPr>
          <a:xfrm>
            <a:off x="7955280" y="1691640"/>
            <a:ext cx="3429000" cy="3383280"/>
          </a:xfrm>
          <a:prstGeom prst="roundRect">
            <a:avLst>
              <a:gd name="adj" fmla="val 3243"/>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7" name="Shape 12"/>
          <p:cNvSpPr/>
          <p:nvPr/>
        </p:nvSpPr>
        <p:spPr>
          <a:xfrm>
            <a:off x="8229600" y="1920240"/>
            <a:ext cx="603504" cy="603504"/>
          </a:xfrm>
          <a:prstGeom prst="ellipse">
            <a:avLst/>
          </a:prstGeom>
          <a:solidFill>
            <a:srgbClr val="C1440E"/>
          </a:solidFill>
          <a:ln/>
        </p:spPr>
      </p:sp>
      <p:pic>
        <p:nvPicPr>
          <p:cNvPr id="18" name="Image 3" descr="/home/claude/pptx-build/assets/icons/FaExchangeAlt-FFFFFF-200.png">    </p:cNvPr>
          <p:cNvPicPr>
            <a:picLocks noChangeAspect="1"/>
          </p:cNvPicPr>
          <p:nvPr/>
        </p:nvPicPr>
        <p:blipFill>
          <a:blip r:embed="rId4"/>
          <a:stretch>
            <a:fillRect/>
          </a:stretch>
        </p:blipFill>
        <p:spPr>
          <a:xfrm>
            <a:off x="8375904" y="2066544"/>
            <a:ext cx="310896" cy="310896"/>
          </a:xfrm>
          <a:prstGeom prst="rect">
            <a:avLst/>
          </a:prstGeom>
        </p:spPr>
      </p:pic>
      <p:sp>
        <p:nvSpPr>
          <p:cNvPr id="19" name="Text 13"/>
          <p:cNvSpPr txBox="1"/>
          <p:nvPr/>
        </p:nvSpPr>
        <p:spPr>
          <a:xfrm>
            <a:off x="8229600" y="2670048"/>
            <a:ext cx="2880360" cy="685800"/>
          </a:xfrm>
          <a:prstGeom prst="rect">
            <a:avLst/>
          </a:prstGeom>
          <a:noFill/>
          <a:ln/>
        </p:spPr>
        <p:txBody>
          <a:bodyPr wrap="square" lIns="0" tIns="0" rIns="0" bIns="0" rtlCol="0" anchor="ctr"/>
          <a:lstStyle/>
          <a:p>
            <a:pPr indent="0" marL="0">
              <a:buNone/>
            </a:pPr>
            <a:r>
              <a:rPr lang="en-US" sz="1700" b="1" dirty="0">
                <a:solidFill>
                  <a:srgbClr val="1F3D2C"/>
                </a:solidFill>
                <a:latin typeface="Cambria" pitchFamily="34" charset="0"/>
                <a:ea typeface="Cambria" pitchFamily="34" charset="-122"/>
                <a:cs typeface="Cambria" pitchFamily="34" charset="-120"/>
              </a:rPr>
              <a:t>Both, during transition</a:t>
            </a:r>
            <a:endParaRPr lang="en-US" sz="1700" dirty="0"/>
          </a:p>
        </p:txBody>
      </p:sp>
      <p:sp>
        <p:nvSpPr>
          <p:cNvPr id="20" name="Text 14"/>
          <p:cNvSpPr txBox="1"/>
          <p:nvPr/>
        </p:nvSpPr>
        <p:spPr>
          <a:xfrm>
            <a:off x="8229600" y="3364992"/>
            <a:ext cx="2880360" cy="16002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Dual-publish while consumers migrate at their own pace. Buys time, costs a little duplication.</a:t>
            </a:r>
            <a:endParaRPr lang="en-US" sz="1400" dirty="0"/>
          </a:p>
        </p:txBody>
      </p:sp>
      <p:sp>
        <p:nvSpPr>
          <p:cNvPr id="21" name="Shape 15"/>
          <p:cNvSpPr/>
          <p:nvPr/>
        </p:nvSpPr>
        <p:spPr>
          <a:xfrm>
            <a:off x="548640" y="5257800"/>
            <a:ext cx="11064240" cy="868680"/>
          </a:xfrm>
          <a:prstGeom prst="roundRect">
            <a:avLst>
              <a:gd name="adj" fmla="val 12632"/>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22" name="Text 16"/>
          <p:cNvSpPr txBox="1"/>
          <p:nvPr/>
        </p:nvSpPr>
        <p:spPr>
          <a:xfrm>
            <a:off x="822960" y="5394960"/>
            <a:ext cx="10515600" cy="594360"/>
          </a:xfrm>
          <a:prstGeom prst="rect">
            <a:avLst/>
          </a:prstGeom>
          <a:noFill/>
          <a:ln/>
        </p:spPr>
        <p:txBody>
          <a:bodyPr wrap="square" lIns="0" tIns="0" rIns="0" bIns="0" rtlCol="0" anchor="ctr"/>
          <a:lstStyle/>
          <a:p>
            <a:pPr indent="0" marL="0">
              <a:buNone/>
            </a:pPr>
            <a:r>
              <a:rPr lang="en-US" sz="1450" b="1" dirty="0">
                <a:solidFill>
                  <a:srgbClr val="F5F5F0"/>
                </a:solidFill>
                <a:latin typeface="Calibri" pitchFamily="34" charset="0"/>
                <a:ea typeface="Calibri" pitchFamily="34" charset="-122"/>
                <a:cs typeface="Calibri" pitchFamily="34" charset="-120"/>
              </a:rPr>
              <a:t>The realistic PoC target: </a:t>
            </a:r>
            <a:pPr indent="0" marL="0">
              <a:buNone/>
            </a:pPr>
            <a:r>
              <a:rPr lang="en-US" sz="1450" dirty="0">
                <a:solidFill>
                  <a:srgbClr val="F5F5F0"/>
                </a:solidFill>
                <a:latin typeface="Calibri" pitchFamily="34" charset="0"/>
                <a:ea typeface="Calibri" pitchFamily="34" charset="-122"/>
                <a:cs typeface="Calibri" pitchFamily="34" charset="-120"/>
              </a:rPr>
              <a:t>GitHub Actions publishing to an existing Azure Artifacts feed — the answer for teams that can’t repoint every consumer at cutover.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ChartBar-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Dashboards: A Partial Equivalent</a:t>
            </a:r>
            <a:endParaRPr lang="en-US" sz="3200" dirty="0"/>
          </a:p>
        </p:txBody>
      </p:sp>
      <p:sp>
        <p:nvSpPr>
          <p:cNvPr id="6" name="Shape 3"/>
          <p:cNvSpPr/>
          <p:nvPr/>
        </p:nvSpPr>
        <p:spPr>
          <a:xfrm>
            <a:off x="548640" y="1691640"/>
            <a:ext cx="11064240" cy="2651760"/>
          </a:xfrm>
          <a:prstGeom prst="roundRect">
            <a:avLst>
              <a:gd name="adj" fmla="val 4138"/>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914400" y="1920240"/>
            <a:ext cx="10332720" cy="2194560"/>
          </a:xfrm>
          <a:prstGeom prst="rect">
            <a:avLst/>
          </a:prstGeom>
          <a:noFill/>
          <a:ln/>
        </p:spPr>
        <p:txBody>
          <a:bodyPr wrap="square" lIns="0" tIns="0" rIns="0" bIns="0" rtlCol="0" anchor="ctr"/>
          <a:lstStyle/>
          <a:p>
            <a:pPr indent="0" marL="0">
              <a:lnSpc>
                <a:spcPct val="125000"/>
              </a:lnSpc>
              <a:buNone/>
            </a:pPr>
            <a:r>
              <a:rPr lang="en-US" sz="1900" dirty="0">
                <a:solidFill>
                  <a:srgbClr val="2B2B2B"/>
                </a:solidFill>
                <a:latin typeface="Calibri" pitchFamily="34" charset="0"/>
                <a:ea typeface="Calibri" pitchFamily="34" charset="-122"/>
                <a:cs typeface="Calibri" pitchFamily="34" charset="-120"/>
              </a:rPr>
              <a:t>GitHub’s built-in engineering metrics cover delivery performance, cycle time, and PR review load — </a:t>
            </a:r>
            <a:pPr indent="0" marL="0">
              <a:lnSpc>
                <a:spcPct val="125000"/>
              </a:lnSpc>
              <a:buNone/>
            </a:pPr>
            <a:r>
              <a:rPr lang="en-US" sz="1900" b="1" dirty="0">
                <a:solidFill>
                  <a:srgbClr val="2B2B2B"/>
                </a:solidFill>
                <a:latin typeface="Calibri" pitchFamily="34" charset="0"/>
                <a:ea typeface="Calibri" pitchFamily="34" charset="-122"/>
                <a:cs typeface="Calibri" pitchFamily="34" charset="-120"/>
              </a:rPr>
              <a:t>DORA-adjacent, not Power-BI-deep. </a:t>
            </a:r>
            <a:pPr indent="0" marL="0">
              <a:lnSpc>
                <a:spcPct val="125000"/>
              </a:lnSpc>
              <a:buNone/>
            </a:pPr>
            <a:r>
              <a:rPr lang="en-US" sz="1900" dirty="0">
                <a:solidFill>
                  <a:srgbClr val="2B2B2B"/>
                </a:solidFill>
                <a:latin typeface="Calibri" pitchFamily="34" charset="0"/>
                <a:ea typeface="Calibri" pitchFamily="34" charset="-122"/>
                <a:cs typeface="Calibri" pitchFamily="34" charset="-120"/>
              </a:rPr>
              <a:t>It won’t match the combined depth of Boards Analytics plus a dedicated Power BI report.</a:t>
            </a:r>
            <a:endParaRPr lang="en-US" sz="1900" dirty="0"/>
          </a:p>
        </p:txBody>
      </p:sp>
      <p:sp>
        <p:nvSpPr>
          <p:cNvPr id="8" name="Shape 5"/>
          <p:cNvSpPr/>
          <p:nvPr/>
        </p:nvSpPr>
        <p:spPr>
          <a:xfrm>
            <a:off x="548640" y="4572000"/>
            <a:ext cx="11064240" cy="1417320"/>
          </a:xfrm>
          <a:prstGeom prst="roundRect">
            <a:avLst>
              <a:gd name="adj" fmla="val 7742"/>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822960" y="4736592"/>
            <a:ext cx="10515600" cy="1097280"/>
          </a:xfrm>
          <a:prstGeom prst="rect">
            <a:avLst/>
          </a:prstGeom>
          <a:noFill/>
          <a:ln/>
        </p:spPr>
        <p:txBody>
          <a:bodyPr wrap="square" lIns="0" tIns="0" rIns="0" bIns="0" rtlCol="0" anchor="ctr"/>
          <a:lstStyle/>
          <a:p>
            <a:pPr indent="0" marL="0">
              <a:lnSpc>
                <a:spcPct val="115000"/>
              </a:lnSpc>
              <a:buNone/>
            </a:pPr>
            <a:r>
              <a:rPr lang="en-US" sz="1500" b="1" dirty="0">
                <a:solidFill>
                  <a:srgbClr val="F5F5F0"/>
                </a:solidFill>
                <a:latin typeface="Calibri" pitchFamily="34" charset="0"/>
                <a:ea typeface="Calibri" pitchFamily="34" charset="-122"/>
                <a:cs typeface="Calibri" pitchFamily="34" charset="-120"/>
              </a:rPr>
              <a:t>The reframe: </a:t>
            </a:r>
            <a:pPr indent="0" marL="0">
              <a:lnSpc>
                <a:spcPct val="115000"/>
              </a:lnSpc>
              <a:buNone/>
            </a:pPr>
            <a:r>
              <a:rPr lang="en-US" sz="1500" dirty="0">
                <a:solidFill>
                  <a:srgbClr val="F5F5F0"/>
                </a:solidFill>
                <a:latin typeface="Calibri" pitchFamily="34" charset="0"/>
                <a:ea typeface="Calibri" pitchFamily="34" charset="-122"/>
                <a:cs typeface="Calibri" pitchFamily="34" charset="-120"/>
              </a:rPr>
              <a:t>stop comparing dashboard widgets one-for-one. Use the four DORA metrics — deployment frequency, lead time, change failure rate, time to restore — as the shared baseline language on both sides of the migration.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LayerGroup-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The Pattern</a:t>
            </a:r>
            <a:endParaRPr lang="en-US" sz="3200" dirty="0"/>
          </a:p>
        </p:txBody>
      </p:sp>
      <p:sp>
        <p:nvSpPr>
          <p:cNvPr id="6" name="Text 3"/>
          <p:cNvSpPr txBox="1"/>
          <p:nvPr/>
        </p:nvSpPr>
        <p:spPr>
          <a:xfrm>
            <a:off x="548640" y="1691640"/>
            <a:ext cx="11064240" cy="1005840"/>
          </a:xfrm>
          <a:prstGeom prst="rect">
            <a:avLst/>
          </a:prstGeom>
          <a:noFill/>
          <a:ln/>
        </p:spPr>
        <p:txBody>
          <a:bodyPr wrap="square" lIns="0" tIns="0" rIns="0" bIns="0" rtlCol="0" anchor="ctr"/>
          <a:lstStyle/>
          <a:p>
            <a:pPr algn="ctr" indent="0" marL="0">
              <a:buNone/>
            </a:pPr>
            <a:r>
              <a:rPr lang="en-US" sz="2600" b="1" i="1" dirty="0">
                <a:solidFill>
                  <a:srgbClr val="1F3D2C"/>
                </a:solidFill>
                <a:latin typeface="Cambria" pitchFamily="34" charset="0"/>
                <a:ea typeface="Cambria" pitchFamily="34" charset="-122"/>
                <a:cs typeface="Cambria" pitchFamily="34" charset="-120"/>
              </a:rPr>
              <a:t>File-based and version-controlled survives the crossing. Database-backed enterprise tooling doesn’t.</a:t>
            </a:r>
            <a:endParaRPr lang="en-US" sz="2600" dirty="0"/>
          </a:p>
        </p:txBody>
      </p:sp>
      <p:sp>
        <p:nvSpPr>
          <p:cNvPr id="7" name="Shape 4"/>
          <p:cNvSpPr/>
          <p:nvPr/>
        </p:nvSpPr>
        <p:spPr>
          <a:xfrm>
            <a:off x="548640" y="2971800"/>
            <a:ext cx="5349240" cy="2880360"/>
          </a:xfrm>
          <a:prstGeom prst="roundRect">
            <a:avLst>
              <a:gd name="adj" fmla="val 3810"/>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22960" y="3154680"/>
            <a:ext cx="4800600" cy="457200"/>
          </a:xfrm>
          <a:prstGeom prst="rect">
            <a:avLst/>
          </a:prstGeom>
          <a:noFill/>
          <a:ln/>
        </p:spPr>
        <p:txBody>
          <a:bodyPr wrap="square" lIns="0" tIns="0" rIns="0" bIns="0" rtlCol="0" anchor="ctr"/>
          <a:lstStyle/>
          <a:p>
            <a:pPr indent="0" marL="0">
              <a:buNone/>
            </a:pPr>
            <a:r>
              <a:rPr lang="en-US" sz="1900" b="1" dirty="0">
                <a:solidFill>
                  <a:srgbClr val="1F3D2C"/>
                </a:solidFill>
                <a:latin typeface="Cambria" pitchFamily="34" charset="0"/>
                <a:ea typeface="Cambria" pitchFamily="34" charset="-122"/>
                <a:cs typeface="Cambria" pitchFamily="34" charset="-120"/>
              </a:rPr>
              <a:t>Travels Clean</a:t>
            </a:r>
            <a:endParaRPr lang="en-US" sz="1900" dirty="0"/>
          </a:p>
        </p:txBody>
      </p:sp>
      <p:sp>
        <p:nvSpPr>
          <p:cNvPr id="9" name="Text 6"/>
          <p:cNvSpPr txBox="1"/>
          <p:nvPr/>
        </p:nvSpPr>
        <p:spPr>
          <a:xfrm>
            <a:off x="822960" y="3703320"/>
            <a:ext cx="4800600" cy="2011680"/>
          </a:xfrm>
          <a:prstGeom prst="rect">
            <a:avLst/>
          </a:prstGeom>
          <a:noFill/>
          <a:ln/>
        </p:spPr>
        <p:txBody>
          <a:bodyPr wrap="square" lIns="0" tIns="0" rIns="0" bIns="0" rtlCol="0" anchor="ctr"/>
          <a:lstStyle/>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Repos — it’s Git on both sides</a:t>
            </a:r>
            <a:endParaRPr lang="en-US" sz="1650" dirty="0"/>
          </a:p>
          <a:p>
            <a:pPr marL="342900" indent="-342900">
              <a:buSzPct val="100000"/>
              <a:buChar char="•"/>
            </a:pPr>
            <a:r>
              <a:rPr lang="en-US" sz="1650" dirty="0">
                <a:solidFill>
                  <a:srgbClr val="2B2B2B"/>
                </a:solidFill>
                <a:latin typeface="Calibri" pitchFamily="34" charset="0"/>
                <a:ea typeface="Calibri" pitchFamily="34" charset="-122"/>
                <a:cs typeface="Calibri" pitchFamily="34" charset="-120"/>
              </a:rPr>
              <a:t>Wiki — also Git on both sides</a:t>
            </a:r>
            <a:endParaRPr lang="en-US" sz="1650" dirty="0"/>
          </a:p>
        </p:txBody>
      </p:sp>
      <p:sp>
        <p:nvSpPr>
          <p:cNvPr id="10" name="Shape 7"/>
          <p:cNvSpPr/>
          <p:nvPr/>
        </p:nvSpPr>
        <p:spPr>
          <a:xfrm>
            <a:off x="6263640" y="2971800"/>
            <a:ext cx="5349240" cy="2880360"/>
          </a:xfrm>
          <a:prstGeom prst="roundRect">
            <a:avLst>
              <a:gd name="adj" fmla="val 3810"/>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6537960" y="3154680"/>
            <a:ext cx="4800600" cy="457200"/>
          </a:xfrm>
          <a:prstGeom prst="rect">
            <a:avLst/>
          </a:prstGeom>
          <a:noFill/>
          <a:ln/>
        </p:spPr>
        <p:txBody>
          <a:bodyPr wrap="square" lIns="0" tIns="0" rIns="0" bIns="0" rtlCol="0" anchor="ctr"/>
          <a:lstStyle/>
          <a:p>
            <a:pPr indent="0" marL="0">
              <a:buNone/>
            </a:pPr>
            <a:r>
              <a:rPr lang="en-US" sz="1900" b="1" dirty="0">
                <a:solidFill>
                  <a:srgbClr val="F5F5F0"/>
                </a:solidFill>
                <a:latin typeface="Cambria" pitchFamily="34" charset="0"/>
                <a:ea typeface="Cambria" pitchFamily="34" charset="-122"/>
                <a:cs typeface="Cambria" pitchFamily="34" charset="-120"/>
              </a:rPr>
              <a:t>Database-Backed</a:t>
            </a:r>
            <a:endParaRPr lang="en-US" sz="1900" dirty="0"/>
          </a:p>
        </p:txBody>
      </p:sp>
      <p:sp>
        <p:nvSpPr>
          <p:cNvPr id="12" name="Text 9"/>
          <p:cNvSpPr txBox="1"/>
          <p:nvPr/>
        </p:nvSpPr>
        <p:spPr>
          <a:xfrm>
            <a:off x="6537960" y="3703320"/>
            <a:ext cx="4800600" cy="2011680"/>
          </a:xfrm>
          <a:prstGeom prst="rect">
            <a:avLst/>
          </a:prstGeom>
          <a:noFill/>
          <a:ln/>
        </p:spPr>
        <p:txBody>
          <a:bodyPr wrap="square" lIns="0" tIns="0" rIns="0" bIns="0" rtlCol="0" anchor="ctr"/>
          <a:lstStyle/>
          <a:p>
            <a:pPr marL="342900" indent="-342900">
              <a:spcAft>
                <a:spcPts val="1000"/>
              </a:spcAft>
              <a:buSzPct val="100000"/>
              <a:buChar char="•"/>
            </a:pPr>
            <a:r>
              <a:rPr lang="en-US" sz="1650" dirty="0">
                <a:solidFill>
                  <a:srgbClr val="F5F5F0"/>
                </a:solidFill>
                <a:latin typeface="Calibri" pitchFamily="34" charset="0"/>
                <a:ea typeface="Calibri" pitchFamily="34" charset="-122"/>
                <a:cs typeface="Calibri" pitchFamily="34" charset="-120"/>
              </a:rPr>
              <a:t>Dashboards — partial equivalent, this section</a:t>
            </a:r>
            <a:endParaRPr lang="en-US" sz="1650" dirty="0"/>
          </a:p>
          <a:p>
            <a:pPr marL="342900" indent="-342900">
              <a:buSzPct val="100000"/>
              <a:buChar char="•"/>
            </a:pPr>
            <a:r>
              <a:rPr lang="en-US" sz="1650" dirty="0">
                <a:solidFill>
                  <a:srgbClr val="F5F5F0"/>
                </a:solidFill>
                <a:latin typeface="Calibri" pitchFamily="34" charset="0"/>
                <a:ea typeface="Calibri" pitchFamily="34" charset="-122"/>
                <a:cs typeface="Calibri" pitchFamily="34" charset="-120"/>
              </a:rPr>
              <a:t>Boards &amp; Test Plans — the whole next section</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D2C"/>
        </a:solidFill>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algn="ctr" indent="0" marL="0">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algn="ctr" indent="0" marL="0">
              <a:buNone/>
            </a:pPr>
            <a:r>
              <a:rPr lang="en-US" sz="1900" i="1" dirty="0">
                <a:solidFill>
                  <a:srgbClr val="8C6A3F"/>
                </a:solidFill>
                <a:latin typeface="Calibri" pitchFamily="34" charset="0"/>
                <a:ea typeface="Calibri" pitchFamily="34" charset="-122"/>
                <a:cs typeface="Calibri" pitchFamily="34" charset="-120"/>
              </a:rPr>
              <a:t>One quick question before we leave Section 2 — A Field Guide to the Local Species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to GitHub Enterprise: The Great Migration</dc:title>
  <dc:subject>PptxGenJS Presentation</dc:subject>
  <dc:creator>Kevin Neumann</dc:creator>
  <cp:lastModifiedBy>Kevin Neumann</cp:lastModifiedBy>
  <cp:revision>1</cp:revision>
  <dcterms:created xsi:type="dcterms:W3CDTF">2026-09-21T18:24:49Z</dcterms:created>
  <dcterms:modified xsi:type="dcterms:W3CDTF">2026-09-21T18:24:49Z</dcterms:modified>
</cp:coreProperties>
</file>