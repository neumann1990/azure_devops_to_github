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DOCUMENTARY VOICE — the only register for this slide. Deliver slowly, deadpan, faintly awed, same conceit as the earlier section openers. Pause after the line, then go straight back to normal delivery for the Boards-vs-Projects framing slide. This is the shortest section in the deck — keep every slide brisk, the payoff is the Test Plans slide and the recommendation, not length.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Frame this before comparing feature-by-feature — Azure Boards and GitHub Projects aren't two competitors in the same category, they're different categories. Azure Boards is a full enterprise work-tracking system (hierarchy, capacity, cross-team reporting); GitHub Projects is a lightweight kanban layer on top of Issues. Naming that up front stops the next two slides from reading as a scored competition — each tool is genuinely good at what it's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This is the enterprise case, stated plainly and without hedging: hierarchical work items from Epics down to Tasks, built-in sprint planning and capacity management, Delivery Plans for dependencies that cross team boundaries, and Boards Analytics feeding Power BI for reporting that goes well beyond a single team's board. It organizes around Project, Team, and Area Path — a structure built for portfolios, not just one team's kanban.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This is the developer-proximity case: GitHub Projects is lightweight and flexible (custom fields cover iteration, single-select, date, number), it lives right next to the issues and PRs it's tracking rather than in a separate system, it's fast for small-team daily triage, and it has a roadmap layout plus automation, either built-in or via Actions. It organizes around Repository, Label, and Milestone — a structure built for a team living inside its code, not a multi-team portfolio.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Be concrete about the loss rather than vague: sprint history, capacity data, custom process fields, and the entire Project/Team/Area Path hierarchy don't have a clean landing spot in GitHub Projects. There is open-source help — azure-devops-migration-tools can move work items over — but set expectations honestly: this is real manual-mapping work because the two data models don't line up, not a one-command migration. This sets up the Test Plans slide and the hybrid-pattern resolution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and let this one land plainly — it's probably the best-received slide in the whole deck precisely because it doesn't try to spin anything. There is no native GitHub Projects or Issues equivalent for structured manual and exploratory testing, full stop. In a regulated environment, that alone can be sufficient reason to keep Azure DevOps around. This is the shortest slide in the section on purpose — sometimes the honest answer is just 'it doesn't move, and that's fine,' and saying it plainly builds more credibility than manufacturing a workaround.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This is section 1's hybrid pattern coming back around, applied specifically to Boards vs. Projects: connect Azure Boards to GitHub repos before touching anything else. Developers get to work in GitHub, right next to Copilot and the issues that matter to them day to day; managers keep the sprint hub, capacity charts, and Power BI reporting exactly where they already are. The framing matters — Microsoft designed this as the intended shape for mixed estates, not a stopgap. Internally, call it the answer, not the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this is the explicit takeaway slide for the section — say it plainly. Don't migrate to GitHub Issues unless your PM needs are genuinely simple; for most teams past a handful of people, keep Azure Boards connected rather than replaced. Important nuance worth saying out loud: this isn't an argument for Azure Boards forever, it's an argument against defaulting to GitHub Issues just because the code moved. Where you plan work is a separate decision from where your code lives — leave that door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check-in, not a discussion window — about a minute. Take one quick question if a hand is up, otherwise move straight into section 5. The real Q&amp;A time is banked for the 10-minute block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D2C"/>
        </a:solidFill>
      </p:bgPr>
    </p:bg>
    <p:spTree>
      <p:nvGrpSpPr>
        <p:cNvPr id="1" name=""/>
        <p:cNvGrpSpPr/>
        <p:nvPr/>
      </p:nvGrpSpPr>
      <p:grpSpPr>
        <a:xfrm>
          <a:off x="0" y="0"/>
          <a:ext cx="0" cy="0"/>
          <a:chOff x="0" y="0"/>
          <a:chExt cx="0" cy="0"/>
        </a:xfrm>
      </p:grpSpPr>
      <p:sp>
        <p:nvSpPr>
          <p:cNvPr id="2" name="Shape 0"/>
          <p:cNvSpPr/>
          <p:nvPr/>
        </p:nvSpPr>
        <p:spPr>
          <a:xfrm>
            <a:off x="0" y="0"/>
            <a:ext cx="12191695" cy="1234440"/>
          </a:xfrm>
          <a:prstGeom prst="rect">
            <a:avLst/>
          </a:prstGeom>
          <a:solidFill>
            <a:srgbClr val="142A1D"/>
          </a:solidFill>
          <a:ln/>
        </p:spPr>
      </p:sp>
      <p:sp>
        <p:nvSpPr>
          <p:cNvPr id="3" name="Text 1"/>
          <p:cNvSpPr txBox="1"/>
          <p:nvPr/>
        </p:nvSpPr>
        <p:spPr>
          <a:xfrm>
            <a:off x="548640" y="365760"/>
            <a:ext cx="9144000" cy="502920"/>
          </a:xfrm>
          <a:prstGeom prst="rect">
            <a:avLst/>
          </a:prstGeom>
          <a:noFill/>
          <a:ln/>
        </p:spPr>
        <p:txBody>
          <a:bodyPr wrap="square" lIns="0" tIns="0" rIns="0" bIns="0" rtlCol="0" anchor="ctr"/>
          <a:lstStyle/>
          <a:p>
            <a:pPr indent="0" marL="0">
              <a:buNone/>
            </a:pPr>
            <a:r>
              <a:rPr lang="en-US" sz="1700" b="1" spc="300" kern="0" dirty="0">
                <a:solidFill>
                  <a:srgbClr val="8C6A3F"/>
                </a:solidFill>
                <a:latin typeface="Calibri" pitchFamily="34" charset="0"/>
                <a:ea typeface="Calibri" pitchFamily="34" charset="-122"/>
                <a:cs typeface="Calibri" pitchFamily="34" charset="-120"/>
              </a:rPr>
              <a:t>SECTION 4</a:t>
            </a:r>
            <a:endParaRPr lang="en-US" sz="1700" dirty="0"/>
          </a:p>
        </p:txBody>
      </p:sp>
      <p:pic>
        <p:nvPicPr>
          <p:cNvPr id="4" name="Image 0" descr="/home/claude/pptx-build/assets/icons/FaPaw-8C6A3F-300.png">    </p:cNvPr>
          <p:cNvPicPr>
            <a:picLocks noChangeAspect="1"/>
          </p:cNvPicPr>
          <p:nvPr/>
        </p:nvPicPr>
        <p:blipFill>
          <a:blip r:embed="rId1">
            <a:alphaModFix amt="85000"/>
          </a:blip>
          <a:stretch>
            <a:fillRect/>
          </a:stretch>
        </p:blipFill>
        <p:spPr>
          <a:xfrm>
            <a:off x="9692640" y="2194560"/>
            <a:ext cx="1463040" cy="1463040"/>
          </a:xfrm>
          <a:prstGeom prst="rect">
            <a:avLst/>
          </a:prstGeom>
        </p:spPr>
      </p:pic>
      <p:sp>
        <p:nvSpPr>
          <p:cNvPr id="5" name="Text 2"/>
          <p:cNvSpPr txBox="1"/>
          <p:nvPr/>
        </p:nvSpPr>
        <p:spPr>
          <a:xfrm>
            <a:off x="548640" y="2331720"/>
            <a:ext cx="8778240" cy="1737360"/>
          </a:xfrm>
          <a:prstGeom prst="rect">
            <a:avLst/>
          </a:prstGeom>
          <a:noFill/>
          <a:ln/>
        </p:spPr>
        <p:txBody>
          <a:bodyPr wrap="square" lIns="0" tIns="0" rIns="0" bIns="0" rtlCol="0" anchor="t"/>
          <a:lstStyle/>
          <a:p>
            <a:pPr indent="0" marL="0">
              <a:buNone/>
            </a:pPr>
            <a:r>
              <a:rPr lang="en-US" sz="4400" b="1" dirty="0">
                <a:solidFill>
                  <a:srgbClr val="F5F5F0"/>
                </a:solidFill>
                <a:latin typeface="Cambria" pitchFamily="34" charset="0"/>
                <a:ea typeface="Cambria" pitchFamily="34" charset="-122"/>
                <a:cs typeface="Cambria" pitchFamily="34" charset="-120"/>
              </a:rPr>
              <a:t>Watch as the Scrum Master Approaches Carefully</a:t>
            </a:r>
            <a:endParaRPr lang="en-US" sz="4400" dirty="0"/>
          </a:p>
        </p:txBody>
      </p:sp>
      <p:sp>
        <p:nvSpPr>
          <p:cNvPr id="6" name="Text 3"/>
          <p:cNvSpPr txBox="1"/>
          <p:nvPr/>
        </p:nvSpPr>
        <p:spPr>
          <a:xfrm>
            <a:off x="548640" y="4160520"/>
            <a:ext cx="8778240" cy="1234440"/>
          </a:xfrm>
          <a:prstGeom prst="rect">
            <a:avLst/>
          </a:prstGeom>
          <a:noFill/>
          <a:ln/>
        </p:spPr>
        <p:txBody>
          <a:bodyPr wrap="square" lIns="0" tIns="0" rIns="0" bIns="0" rtlCol="0" anchor="t"/>
          <a:lstStyle/>
          <a:p>
            <a:pPr indent="0" marL="0">
              <a:buNone/>
            </a:pPr>
            <a:r>
              <a:rPr lang="en-US" sz="2000" i="1" dirty="0">
                <a:solidFill>
                  <a:srgbClr val="8C6A3F"/>
                </a:solidFill>
                <a:latin typeface="Calibri" pitchFamily="34" charset="0"/>
                <a:ea typeface="Calibri" pitchFamily="34" charset="-122"/>
                <a:cs typeface="Calibri" pitchFamily="34" charset="-120"/>
              </a:rPr>
              <a:t>Sprint planning is a creature of habit, most comfortable in the enclosure it was raised in. Moving it means understanding exactly what it needs to survive the move.</a:t>
            </a:r>
            <a:endParaRPr lang="en-US" sz="2000" dirty="0"/>
          </a:p>
        </p:txBody>
      </p:sp>
      <p:sp>
        <p:nvSpPr>
          <p:cNvPr id="7" name="Shape 4"/>
          <p:cNvSpPr/>
          <p:nvPr/>
        </p:nvSpPr>
        <p:spPr>
          <a:xfrm>
            <a:off x="548640" y="6217920"/>
            <a:ext cx="11064240" cy="0"/>
          </a:xfrm>
          <a:prstGeom prst="line">
            <a:avLst/>
          </a:prstGeom>
          <a:noFill/>
          <a:ln w="9525">
            <a:solidFill>
              <a:srgbClr val="8C6A3F"/>
            </a:solidFill>
            <a:prstDash val="dash"/>
          </a:ln>
        </p:spPr>
      </p:sp>
      <p:sp>
        <p:nvSpPr>
          <p:cNvPr id="8" name="Text 5"/>
          <p:cNvSpPr txBox="1"/>
          <p:nvPr/>
        </p:nvSpPr>
        <p:spPr>
          <a:xfrm>
            <a:off x="548640" y="6355080"/>
            <a:ext cx="9144000" cy="365760"/>
          </a:xfrm>
          <a:prstGeom prst="rect">
            <a:avLst/>
          </a:prstGeom>
          <a:noFill/>
          <a:ln/>
        </p:spPr>
        <p:txBody>
          <a:bodyPr wrap="square" lIns="0" tIns="0" rIns="0" bIns="0" rtlCol="0" anchor="ctr"/>
          <a:lstStyle/>
          <a:p>
            <a:pPr indent="0" marL="0">
              <a:buNone/>
            </a:pPr>
            <a:r>
              <a:rPr lang="en-US" sz="1200" dirty="0">
                <a:solidFill>
                  <a:srgbClr val="6B6B63"/>
                </a:solidFill>
                <a:latin typeface="Calibri" pitchFamily="34" charset="0"/>
                <a:ea typeface="Calibri" pitchFamily="34" charset="-122"/>
                <a:cs typeface="Calibri" pitchFamily="34" charset="-120"/>
              </a:rPr>
              <a:t>DOCUMENTARY VOICE — SPOKEN LIVE, NOT READ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sp>
      <p:pic>
        <p:nvPicPr>
          <p:cNvPr id="3" name="Image 0" descr="/home/claude/pptx-build/assets/icons/FaProjectDiagram-FFFFFF-200.png">    </p:cNvPr>
          <p:cNvPicPr>
            <a:picLocks noChangeAspect="1"/>
          </p:cNvPicPr>
          <p:nvPr/>
        </p:nvPicPr>
        <p:blipFill>
          <a:blip r:embed="rId1"/>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indent="0" marL="0">
              <a:buNone/>
            </a:pPr>
            <a:r>
              <a:rPr lang="en-US" sz="1500" b="1" spc="200" kern="0" dirty="0">
                <a:solidFill>
                  <a:srgbClr val="C1440E"/>
                </a:solidFill>
                <a:latin typeface="Calibri" pitchFamily="34" charset="0"/>
                <a:ea typeface="Calibri" pitchFamily="34" charset="-122"/>
                <a:cs typeface="Calibri" pitchFamily="34" charset="-120"/>
              </a:rPr>
              <a:t>SPRINT PLANNING IN ITS NATURAL HABITAT</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indent="0" marL="0">
              <a:buNone/>
            </a:pPr>
            <a:r>
              <a:rPr lang="en-US" sz="3200" b="1" dirty="0">
                <a:solidFill>
                  <a:srgbClr val="1F3D2C"/>
                </a:solidFill>
                <a:latin typeface="Cambria" pitchFamily="34" charset="0"/>
                <a:ea typeface="Cambria" pitchFamily="34" charset="-122"/>
                <a:cs typeface="Cambria" pitchFamily="34" charset="-120"/>
              </a:rPr>
              <a:t>Boards: Not an Easy Transplant — Where the Gap Is Widest</a:t>
            </a:r>
            <a:endParaRPr lang="en-US" sz="3200" dirty="0"/>
          </a:p>
        </p:txBody>
      </p:sp>
      <p:sp>
        <p:nvSpPr>
          <p:cNvPr id="6" name="Shape 3"/>
          <p:cNvSpPr/>
          <p:nvPr/>
        </p:nvSpPr>
        <p:spPr>
          <a:xfrm>
            <a:off x="548640" y="1645920"/>
            <a:ext cx="11064240" cy="2011680"/>
          </a:xfrm>
          <a:prstGeom prst="roundRect">
            <a:avLst>
              <a:gd name="adj" fmla="val 5455"/>
            </a:avLst>
          </a:prstGeom>
          <a:solidFill>
            <a:srgbClr val="F7F6F2"/>
          </a:solidFill>
          <a:ln w="12700">
            <a:solidFill>
              <a:srgbClr val="DDD8CC"/>
            </a:solidFill>
            <a:prstDash val="solid"/>
          </a:ln>
          <a:effectLst>
            <a:outerShdw sx="100000" sy="100000" kx="0" ky="0" algn="bl" rotWithShape="0" blurRad="76200" dist="25400" dir="5400000">
              <a:srgbClr val="000000">
                <a:alpha val="12000"/>
              </a:srgbClr>
            </a:outerShdw>
          </a:effectLst>
        </p:spPr>
      </p:sp>
      <p:sp>
        <p:nvSpPr>
          <p:cNvPr id="7" name="Text 4"/>
          <p:cNvSpPr txBox="1"/>
          <p:nvPr/>
        </p:nvSpPr>
        <p:spPr>
          <a:xfrm>
            <a:off x="914400" y="1828800"/>
            <a:ext cx="10332720" cy="1645920"/>
          </a:xfrm>
          <a:prstGeom prst="rect">
            <a:avLst/>
          </a:prstGeom>
          <a:noFill/>
          <a:ln/>
        </p:spPr>
        <p:txBody>
          <a:bodyPr wrap="square" lIns="0" tIns="0" rIns="0" bIns="0" rtlCol="0" anchor="ctr"/>
          <a:lstStyle/>
          <a:p>
            <a:pPr indent="0" marL="0">
              <a:lnSpc>
                <a:spcPct val="125000"/>
              </a:lnSpc>
              <a:buNone/>
            </a:pPr>
            <a:r>
              <a:rPr lang="en-US" sz="1900" b="1" dirty="0">
                <a:solidFill>
                  <a:srgbClr val="2B2B2B"/>
                </a:solidFill>
                <a:latin typeface="Calibri" pitchFamily="34" charset="0"/>
                <a:ea typeface="Calibri" pitchFamily="34" charset="-122"/>
                <a:cs typeface="Calibri" pitchFamily="34" charset="-120"/>
              </a:rPr>
              <a:t>Azure Boards is a full enterprise work-tracking system. </a:t>
            </a:r>
            <a:pPr indent="0" marL="0">
              <a:lnSpc>
                <a:spcPct val="125000"/>
              </a:lnSpc>
              <a:buNone/>
            </a:pPr>
            <a:r>
              <a:rPr lang="en-US" sz="1900" dirty="0">
                <a:solidFill>
                  <a:srgbClr val="2B2B2B"/>
                </a:solidFill>
                <a:latin typeface="Calibri" pitchFamily="34" charset="0"/>
                <a:ea typeface="Calibri" pitchFamily="34" charset="-122"/>
                <a:cs typeface="Calibri" pitchFamily="34" charset="-120"/>
              </a:rPr>
              <a:t>GitHub Projects is a lightweight kanban board sitting on top of Issues. This isn’t a feature gap so much as a different tool entirely.</a:t>
            </a:r>
            <a:endParaRPr lang="en-US" sz="1900" dirty="0"/>
          </a:p>
        </p:txBody>
      </p:sp>
      <p:sp>
        <p:nvSpPr>
          <p:cNvPr id="8" name="Shape 5"/>
          <p:cNvSpPr/>
          <p:nvPr/>
        </p:nvSpPr>
        <p:spPr>
          <a:xfrm>
            <a:off x="548640" y="3977640"/>
            <a:ext cx="5349240" cy="1463040"/>
          </a:xfrm>
          <a:prstGeom prst="roundRect">
            <a:avLst>
              <a:gd name="adj" fmla="val 7500"/>
            </a:avLst>
          </a:prstGeom>
          <a:solidFill>
            <a:srgbClr val="1F3D2C"/>
          </a:solidFill>
          <a:ln w="12700">
            <a:solidFill>
              <a:srgbClr val="DDD8CC"/>
            </a:solidFill>
            <a:prstDash val="solid"/>
          </a:ln>
          <a:effectLst>
            <a:outerShdw sx="100000" sy="100000" kx="0" ky="0" algn="bl" rotWithShape="0" blurRad="76200" dist="25400" dir="5400000">
              <a:srgbClr val="000000">
                <a:alpha val="12000"/>
              </a:srgbClr>
            </a:outerShdw>
          </a:effectLst>
        </p:spPr>
      </p:sp>
      <p:sp>
        <p:nvSpPr>
          <p:cNvPr id="9" name="Text 6"/>
          <p:cNvSpPr txBox="1"/>
          <p:nvPr/>
        </p:nvSpPr>
        <p:spPr>
          <a:xfrm>
            <a:off x="822960" y="4133088"/>
            <a:ext cx="4800600" cy="457200"/>
          </a:xfrm>
          <a:prstGeom prst="rect">
            <a:avLst/>
          </a:prstGeom>
          <a:noFill/>
          <a:ln/>
        </p:spPr>
        <p:txBody>
          <a:bodyPr wrap="square" lIns="0" tIns="0" rIns="0" bIns="0" rtlCol="0" anchor="ctr"/>
          <a:lstStyle/>
          <a:p>
            <a:pPr indent="0" marL="0">
              <a:buNone/>
            </a:pPr>
            <a:r>
              <a:rPr lang="en-US" sz="2000" b="1" dirty="0">
                <a:solidFill>
                  <a:srgbClr val="F5F5F0"/>
                </a:solidFill>
                <a:latin typeface="Cambria" pitchFamily="34" charset="0"/>
                <a:ea typeface="Cambria" pitchFamily="34" charset="-122"/>
                <a:cs typeface="Cambria" pitchFamily="34" charset="-120"/>
              </a:rPr>
              <a:t>Azure Boards</a:t>
            </a:r>
            <a:endParaRPr lang="en-US" sz="2000" dirty="0"/>
          </a:p>
        </p:txBody>
      </p:sp>
      <p:sp>
        <p:nvSpPr>
          <p:cNvPr id="10" name="Text 7"/>
          <p:cNvSpPr txBox="1"/>
          <p:nvPr/>
        </p:nvSpPr>
        <p:spPr>
          <a:xfrm>
            <a:off x="822960" y="4645152"/>
            <a:ext cx="4800600" cy="640080"/>
          </a:xfrm>
          <a:prstGeom prst="rect">
            <a:avLst/>
          </a:prstGeom>
          <a:noFill/>
          <a:ln/>
        </p:spPr>
        <p:txBody>
          <a:bodyPr wrap="square" lIns="0" tIns="0" rIns="0" bIns="0" rtlCol="0" anchor="ctr"/>
          <a:lstStyle/>
          <a:p>
            <a:pPr indent="0" marL="0">
              <a:buNone/>
            </a:pPr>
            <a:r>
              <a:rPr lang="en-US" sz="1600" dirty="0">
                <a:solidFill>
                  <a:srgbClr val="F5F5F0"/>
                </a:solidFill>
                <a:latin typeface="Calibri" pitchFamily="34" charset="0"/>
                <a:ea typeface="Calibri" pitchFamily="34" charset="-122"/>
                <a:cs typeface="Calibri" pitchFamily="34" charset="-120"/>
              </a:rPr>
              <a:t>Enterprise work-tracking system</a:t>
            </a:r>
            <a:endParaRPr lang="en-US" sz="1600" dirty="0"/>
          </a:p>
        </p:txBody>
      </p:sp>
      <p:sp>
        <p:nvSpPr>
          <p:cNvPr id="11" name="Shape 8"/>
          <p:cNvSpPr/>
          <p:nvPr/>
        </p:nvSpPr>
        <p:spPr>
          <a:xfrm>
            <a:off x="6172200" y="3977640"/>
            <a:ext cx="5349240" cy="1463040"/>
          </a:xfrm>
          <a:prstGeom prst="roundRect">
            <a:avLst>
              <a:gd name="adj" fmla="val 7500"/>
            </a:avLst>
          </a:prstGeom>
          <a:solidFill>
            <a:srgbClr val="F7F6F2"/>
          </a:solidFill>
          <a:ln w="12700">
            <a:solidFill>
              <a:srgbClr val="DDD8CC"/>
            </a:solidFill>
            <a:prstDash val="solid"/>
          </a:ln>
          <a:effectLst>
            <a:outerShdw sx="100000" sy="100000" kx="0" ky="0" algn="bl" rotWithShape="0" blurRad="76200" dist="25400" dir="5400000">
              <a:srgbClr val="000000">
                <a:alpha val="12000"/>
              </a:srgbClr>
            </a:outerShdw>
          </a:effectLst>
        </p:spPr>
      </p:sp>
      <p:sp>
        <p:nvSpPr>
          <p:cNvPr id="12" name="Text 9"/>
          <p:cNvSpPr txBox="1"/>
          <p:nvPr/>
        </p:nvSpPr>
        <p:spPr>
          <a:xfrm>
            <a:off x="6446520" y="4133088"/>
            <a:ext cx="4800600" cy="457200"/>
          </a:xfrm>
          <a:prstGeom prst="rect">
            <a:avLst/>
          </a:prstGeom>
          <a:noFill/>
          <a:ln/>
        </p:spPr>
        <p:txBody>
          <a:bodyPr wrap="square" lIns="0" tIns="0" rIns="0" bIns="0" rtlCol="0" anchor="ctr"/>
          <a:lstStyle/>
          <a:p>
            <a:pPr indent="0" marL="0">
              <a:buNone/>
            </a:pPr>
            <a:r>
              <a:rPr lang="en-US" sz="2000" b="1" dirty="0">
                <a:solidFill>
                  <a:srgbClr val="1F3D2C"/>
                </a:solidFill>
                <a:latin typeface="Cambria" pitchFamily="34" charset="0"/>
                <a:ea typeface="Cambria" pitchFamily="34" charset="-122"/>
                <a:cs typeface="Cambria" pitchFamily="34" charset="-120"/>
              </a:rPr>
              <a:t>GitHub Projects</a:t>
            </a:r>
            <a:endParaRPr lang="en-US" sz="2000" dirty="0"/>
          </a:p>
        </p:txBody>
      </p:sp>
      <p:sp>
        <p:nvSpPr>
          <p:cNvPr id="13" name="Text 10"/>
          <p:cNvSpPr txBox="1"/>
          <p:nvPr/>
        </p:nvSpPr>
        <p:spPr>
          <a:xfrm>
            <a:off x="6446520" y="4645152"/>
            <a:ext cx="4800600" cy="640080"/>
          </a:xfrm>
          <a:prstGeom prst="rect">
            <a:avLst/>
          </a:prstGeom>
          <a:noFill/>
          <a:ln/>
        </p:spPr>
        <p:txBody>
          <a:bodyPr wrap="square" lIns="0" tIns="0" rIns="0" bIns="0" rtlCol="0" anchor="ctr"/>
          <a:lstStyle/>
          <a:p>
            <a:pPr indent="0" marL="0">
              <a:buNone/>
            </a:pPr>
            <a:r>
              <a:rPr lang="en-US" sz="1600" dirty="0">
                <a:solidFill>
                  <a:srgbClr val="2B2B2B"/>
                </a:solidFill>
                <a:latin typeface="Calibri" pitchFamily="34" charset="0"/>
                <a:ea typeface="Calibri" pitchFamily="34" charset="-122"/>
                <a:cs typeface="Calibri" pitchFamily="34" charset="-120"/>
              </a:rPr>
              <a:t>Lightweight kanban board on Issues</a:t>
            </a:r>
            <a:endParaRPr lang="en-US" sz="1600" dirty="0"/>
          </a:p>
        </p:txBody>
      </p:sp>
      <p:sp>
        <p:nvSpPr>
          <p:cNvPr id="14" name="Text 11"/>
          <p:cNvSpPr txBox="1"/>
          <p:nvPr/>
        </p:nvSpPr>
        <p:spPr>
          <a:xfrm>
            <a:off x="548640" y="5760720"/>
            <a:ext cx="11064240" cy="457200"/>
          </a:xfrm>
          <a:prstGeom prst="rect">
            <a:avLst/>
          </a:prstGeom>
          <a:noFill/>
          <a:ln/>
        </p:spPr>
        <p:txBody>
          <a:bodyPr wrap="square" lIns="0" tIns="0" rIns="0" bIns="0" rtlCol="0" anchor="ctr"/>
          <a:lstStyle/>
          <a:p>
            <a:pPr algn="ctr" indent="0" marL="0">
              <a:buNone/>
            </a:pPr>
            <a:r>
              <a:rPr lang="en-US" sz="1500" i="1" dirty="0">
                <a:solidFill>
                  <a:srgbClr val="6B6B63"/>
                </a:solidFill>
                <a:latin typeface="Calibri" pitchFamily="34" charset="0"/>
                <a:ea typeface="Calibri" pitchFamily="34" charset="-122"/>
                <a:cs typeface="Calibri" pitchFamily="34" charset="-120"/>
              </a:rPr>
              <a:t>The next two slides take each on its own terms before comparing what’s lost in a migration.</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sp>
      <p:pic>
        <p:nvPicPr>
          <p:cNvPr id="3" name="Image 0" descr="/home/claude/pptx-build/assets/icons/FaSitemap-FFFFFF-200.png">    </p:cNvPr>
          <p:cNvPicPr>
            <a:picLocks noChangeAspect="1"/>
          </p:cNvPicPr>
          <p:nvPr/>
        </p:nvPicPr>
        <p:blipFill>
          <a:blip r:embed="rId1"/>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indent="0" marL="0">
              <a:buNone/>
            </a:pPr>
            <a:r>
              <a:rPr lang="en-US" sz="1500" b="1" spc="200" kern="0" dirty="0">
                <a:solidFill>
                  <a:srgbClr val="C1440E"/>
                </a:solidFill>
                <a:latin typeface="Calibri" pitchFamily="34" charset="0"/>
                <a:ea typeface="Calibri" pitchFamily="34" charset="-122"/>
                <a:cs typeface="Calibri" pitchFamily="34" charset="-120"/>
              </a:rPr>
              <a:t>SPRINT PLANNING IN ITS NATURAL HABITAT</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indent="0" marL="0">
              <a:buNone/>
            </a:pPr>
            <a:r>
              <a:rPr lang="en-US" sz="3200" b="1" dirty="0">
                <a:solidFill>
                  <a:srgbClr val="1F3D2C"/>
                </a:solidFill>
                <a:latin typeface="Cambria" pitchFamily="34" charset="0"/>
                <a:ea typeface="Cambria" pitchFamily="34" charset="-122"/>
                <a:cs typeface="Cambria" pitchFamily="34" charset="-120"/>
              </a:rPr>
              <a:t>Azure Boards’ Strengths</a:t>
            </a:r>
            <a:endParaRPr lang="en-US" sz="3200" dirty="0"/>
          </a:p>
        </p:txBody>
      </p:sp>
      <p:sp>
        <p:nvSpPr>
          <p:cNvPr id="6" name="Shape 3"/>
          <p:cNvSpPr/>
          <p:nvPr/>
        </p:nvSpPr>
        <p:spPr>
          <a:xfrm>
            <a:off x="548640" y="1645920"/>
            <a:ext cx="11064240" cy="3566160"/>
          </a:xfrm>
          <a:prstGeom prst="roundRect">
            <a:avLst>
              <a:gd name="adj" fmla="val 3077"/>
            </a:avLst>
          </a:prstGeom>
          <a:solidFill>
            <a:srgbClr val="F7F6F2"/>
          </a:solidFill>
          <a:ln w="12700">
            <a:solidFill>
              <a:srgbClr val="DDD8CC"/>
            </a:solidFill>
            <a:prstDash val="solid"/>
          </a:ln>
          <a:effectLst>
            <a:outerShdw sx="100000" sy="100000" kx="0" ky="0" algn="bl" rotWithShape="0" blurRad="76200" dist="25400" dir="5400000">
              <a:srgbClr val="000000">
                <a:alpha val="12000"/>
              </a:srgbClr>
            </a:outerShdw>
          </a:effectLst>
        </p:spPr>
      </p:sp>
      <p:sp>
        <p:nvSpPr>
          <p:cNvPr id="7" name="Text 4"/>
          <p:cNvSpPr txBox="1"/>
          <p:nvPr/>
        </p:nvSpPr>
        <p:spPr>
          <a:xfrm>
            <a:off x="914400" y="1874520"/>
            <a:ext cx="10332720" cy="3200400"/>
          </a:xfrm>
          <a:prstGeom prst="rect">
            <a:avLst/>
          </a:prstGeom>
          <a:noFill/>
          <a:ln/>
        </p:spPr>
        <p:txBody>
          <a:bodyPr wrap="square" lIns="0" tIns="0" rIns="0" bIns="0" rtlCol="0" anchor="ctr"/>
          <a:lstStyle/>
          <a:p>
            <a:pPr marL="342900" indent="-342900">
              <a:lnSpc>
                <a:spcPct val="115000"/>
              </a:lnSpc>
              <a:spcAft>
                <a:spcPts val="1400"/>
              </a:spcAft>
              <a:buSzPct val="100000"/>
              <a:buChar char="•"/>
            </a:pPr>
            <a:r>
              <a:rPr lang="en-US" sz="1900" dirty="0">
                <a:solidFill>
                  <a:srgbClr val="2B2B2B"/>
                </a:solidFill>
                <a:latin typeface="Calibri" pitchFamily="34" charset="0"/>
                <a:ea typeface="Calibri" pitchFamily="34" charset="-122"/>
                <a:cs typeface="Calibri" pitchFamily="34" charset="-120"/>
              </a:rPr>
              <a:t>Hierarchical work items — Epics → Features → Stories → Tasks</a:t>
            </a:r>
            <a:endParaRPr lang="en-US" sz="1900" dirty="0"/>
          </a:p>
          <a:p>
            <a:pPr marL="342900" indent="-342900">
              <a:lnSpc>
                <a:spcPct val="115000"/>
              </a:lnSpc>
              <a:spcAft>
                <a:spcPts val="1400"/>
              </a:spcAft>
              <a:buSzPct val="100000"/>
              <a:buChar char="•"/>
            </a:pPr>
            <a:r>
              <a:rPr lang="en-US" sz="1900" dirty="0">
                <a:solidFill>
                  <a:srgbClr val="2B2B2B"/>
                </a:solidFill>
                <a:latin typeface="Calibri" pitchFamily="34" charset="0"/>
                <a:ea typeface="Calibri" pitchFamily="34" charset="-122"/>
                <a:cs typeface="Calibri" pitchFamily="34" charset="-120"/>
              </a:rPr>
              <a:t>Sprint planning and capacity management, built in</a:t>
            </a:r>
            <a:endParaRPr lang="en-US" sz="1900" dirty="0"/>
          </a:p>
          <a:p>
            <a:pPr marL="342900" indent="-342900">
              <a:lnSpc>
                <a:spcPct val="115000"/>
              </a:lnSpc>
              <a:spcAft>
                <a:spcPts val="1400"/>
              </a:spcAft>
              <a:buSzPct val="100000"/>
              <a:buChar char="•"/>
            </a:pPr>
            <a:r>
              <a:rPr lang="en-US" sz="1900" dirty="0">
                <a:solidFill>
                  <a:srgbClr val="2B2B2B"/>
                </a:solidFill>
                <a:latin typeface="Calibri" pitchFamily="34" charset="0"/>
                <a:ea typeface="Calibri" pitchFamily="34" charset="-122"/>
                <a:cs typeface="Calibri" pitchFamily="34" charset="-120"/>
              </a:rPr>
              <a:t>Delivery Plans for cross-team dependencies</a:t>
            </a:r>
            <a:endParaRPr lang="en-US" sz="1900" dirty="0"/>
          </a:p>
          <a:p>
            <a:pPr marL="342900" indent="-342900">
              <a:lnSpc>
                <a:spcPct val="115000"/>
              </a:lnSpc>
              <a:buSzPct val="100000"/>
              <a:buChar char="•"/>
            </a:pPr>
            <a:r>
              <a:rPr lang="en-US" sz="1900" dirty="0">
                <a:solidFill>
                  <a:srgbClr val="2B2B2B"/>
                </a:solidFill>
                <a:latin typeface="Calibri" pitchFamily="34" charset="0"/>
                <a:ea typeface="Calibri" pitchFamily="34" charset="-122"/>
                <a:cs typeface="Calibri" pitchFamily="34" charset="-120"/>
              </a:rPr>
              <a:t>Boards Analytics plus Power BI reporting</a:t>
            </a:r>
            <a:endParaRPr lang="en-US" sz="1900" dirty="0"/>
          </a:p>
        </p:txBody>
      </p:sp>
      <p:sp>
        <p:nvSpPr>
          <p:cNvPr id="8" name="Shape 5"/>
          <p:cNvSpPr/>
          <p:nvPr/>
        </p:nvSpPr>
        <p:spPr>
          <a:xfrm>
            <a:off x="548640" y="5440680"/>
            <a:ext cx="11064240" cy="868680"/>
          </a:xfrm>
          <a:prstGeom prst="roundRect">
            <a:avLst>
              <a:gd name="adj" fmla="val 12632"/>
            </a:avLst>
          </a:prstGeom>
          <a:solidFill>
            <a:srgbClr val="1F3D2C"/>
          </a:solidFill>
          <a:ln w="12700">
            <a:solidFill>
              <a:srgbClr val="DDD8CC"/>
            </a:solidFill>
            <a:prstDash val="solid"/>
          </a:ln>
          <a:effectLst>
            <a:outerShdw sx="100000" sy="100000" kx="0" ky="0" algn="bl" rotWithShape="0" blurRad="76200" dist="25400" dir="5400000">
              <a:srgbClr val="000000">
                <a:alpha val="12000"/>
              </a:srgbClr>
            </a:outerShdw>
          </a:effectLst>
        </p:spPr>
      </p:sp>
      <p:sp>
        <p:nvSpPr>
          <p:cNvPr id="9" name="Text 6"/>
          <p:cNvSpPr txBox="1"/>
          <p:nvPr/>
        </p:nvSpPr>
        <p:spPr>
          <a:xfrm>
            <a:off x="822960" y="5577840"/>
            <a:ext cx="10515600" cy="594360"/>
          </a:xfrm>
          <a:prstGeom prst="rect">
            <a:avLst/>
          </a:prstGeom>
          <a:noFill/>
          <a:ln/>
        </p:spPr>
        <p:txBody>
          <a:bodyPr wrap="square" lIns="0" tIns="0" rIns="0" bIns="0" rtlCol="0" anchor="ctr"/>
          <a:lstStyle/>
          <a:p>
            <a:pPr indent="0" marL="0">
              <a:buNone/>
            </a:pPr>
            <a:r>
              <a:rPr lang="en-US" sz="1600" b="1" dirty="0">
                <a:solidFill>
                  <a:srgbClr val="F5F5F0"/>
                </a:solidFill>
                <a:latin typeface="Calibri" pitchFamily="34" charset="0"/>
                <a:ea typeface="Calibri" pitchFamily="34" charset="-122"/>
                <a:cs typeface="Calibri" pitchFamily="34" charset="-120"/>
              </a:rPr>
              <a:t>Organizes by: </a:t>
            </a:r>
            <a:pPr indent="0" marL="0">
              <a:buNone/>
            </a:pPr>
            <a:r>
              <a:rPr lang="en-US" sz="1600" dirty="0">
                <a:solidFill>
                  <a:srgbClr val="F5F5F0"/>
                </a:solidFill>
                <a:latin typeface="Calibri" pitchFamily="34" charset="0"/>
                <a:ea typeface="Calibri" pitchFamily="34" charset="-122"/>
                <a:cs typeface="Calibri" pitchFamily="34" charset="-120"/>
              </a:rPr>
              <a:t>Project → Team → Area Path.</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sp>
      <p:pic>
        <p:nvPicPr>
          <p:cNvPr id="3" name="Image 0" descr="/home/claude/pptx-build/assets/icons/FaColumns-FFFFFF-200.png">    </p:cNvPr>
          <p:cNvPicPr>
            <a:picLocks noChangeAspect="1"/>
          </p:cNvPicPr>
          <p:nvPr/>
        </p:nvPicPr>
        <p:blipFill>
          <a:blip r:embed="rId1"/>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indent="0" marL="0">
              <a:buNone/>
            </a:pPr>
            <a:r>
              <a:rPr lang="en-US" sz="1500" b="1" spc="200" kern="0" dirty="0">
                <a:solidFill>
                  <a:srgbClr val="C1440E"/>
                </a:solidFill>
                <a:latin typeface="Calibri" pitchFamily="34" charset="0"/>
                <a:ea typeface="Calibri" pitchFamily="34" charset="-122"/>
                <a:cs typeface="Calibri" pitchFamily="34" charset="-120"/>
              </a:rPr>
              <a:t>SPRINT PLANNING IN ITS NATURAL HABITAT</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indent="0" marL="0">
              <a:buNone/>
            </a:pPr>
            <a:r>
              <a:rPr lang="en-US" sz="3200" b="1" dirty="0">
                <a:solidFill>
                  <a:srgbClr val="1F3D2C"/>
                </a:solidFill>
                <a:latin typeface="Cambria" pitchFamily="34" charset="0"/>
                <a:ea typeface="Cambria" pitchFamily="34" charset="-122"/>
                <a:cs typeface="Cambria" pitchFamily="34" charset="-120"/>
              </a:rPr>
              <a:t>GitHub Projects’ Strengths</a:t>
            </a:r>
            <a:endParaRPr lang="en-US" sz="3200" dirty="0"/>
          </a:p>
        </p:txBody>
      </p:sp>
      <p:sp>
        <p:nvSpPr>
          <p:cNvPr id="6" name="Shape 3"/>
          <p:cNvSpPr/>
          <p:nvPr/>
        </p:nvSpPr>
        <p:spPr>
          <a:xfrm>
            <a:off x="548640" y="1645920"/>
            <a:ext cx="11064240" cy="3566160"/>
          </a:xfrm>
          <a:prstGeom prst="roundRect">
            <a:avLst>
              <a:gd name="adj" fmla="val 3077"/>
            </a:avLst>
          </a:prstGeom>
          <a:solidFill>
            <a:srgbClr val="F7F6F2"/>
          </a:solidFill>
          <a:ln w="12700">
            <a:solidFill>
              <a:srgbClr val="DDD8CC"/>
            </a:solidFill>
            <a:prstDash val="solid"/>
          </a:ln>
          <a:effectLst>
            <a:outerShdw sx="100000" sy="100000" kx="0" ky="0" algn="bl" rotWithShape="0" blurRad="76200" dist="25400" dir="5400000">
              <a:srgbClr val="000000">
                <a:alpha val="12000"/>
              </a:srgbClr>
            </a:outerShdw>
          </a:effectLst>
        </p:spPr>
      </p:sp>
      <p:sp>
        <p:nvSpPr>
          <p:cNvPr id="7" name="Text 4"/>
          <p:cNvSpPr txBox="1"/>
          <p:nvPr/>
        </p:nvSpPr>
        <p:spPr>
          <a:xfrm>
            <a:off x="914400" y="1874520"/>
            <a:ext cx="10332720" cy="3200400"/>
          </a:xfrm>
          <a:prstGeom prst="rect">
            <a:avLst/>
          </a:prstGeom>
          <a:noFill/>
          <a:ln/>
        </p:spPr>
        <p:txBody>
          <a:bodyPr wrap="square" lIns="0" tIns="0" rIns="0" bIns="0" rtlCol="0" anchor="ctr"/>
          <a:lstStyle/>
          <a:p>
            <a:pPr marL="342900" indent="-342900">
              <a:lnSpc>
                <a:spcPct val="115000"/>
              </a:lnSpc>
              <a:spcAft>
                <a:spcPts val="1400"/>
              </a:spcAft>
              <a:buSzPct val="100000"/>
              <a:buChar char="•"/>
            </a:pPr>
            <a:r>
              <a:rPr lang="en-US" sz="1900" dirty="0">
                <a:solidFill>
                  <a:srgbClr val="2B2B2B"/>
                </a:solidFill>
                <a:latin typeface="Calibri" pitchFamily="34" charset="0"/>
                <a:ea typeface="Calibri" pitchFamily="34" charset="-122"/>
                <a:cs typeface="Calibri" pitchFamily="34" charset="-120"/>
              </a:rPr>
              <a:t>Lightweight and flexible — custom fields for iteration, single-select, date, number</a:t>
            </a:r>
            <a:endParaRPr lang="en-US" sz="1900" dirty="0"/>
          </a:p>
          <a:p>
            <a:pPr marL="342900" indent="-342900">
              <a:lnSpc>
                <a:spcPct val="115000"/>
              </a:lnSpc>
              <a:spcAft>
                <a:spcPts val="1400"/>
              </a:spcAft>
              <a:buSzPct val="100000"/>
              <a:buChar char="•"/>
            </a:pPr>
            <a:r>
              <a:rPr lang="en-US" sz="1900" dirty="0">
                <a:solidFill>
                  <a:srgbClr val="2B2B2B"/>
                </a:solidFill>
                <a:latin typeface="Calibri" pitchFamily="34" charset="0"/>
                <a:ea typeface="Calibri" pitchFamily="34" charset="-122"/>
                <a:cs typeface="Calibri" pitchFamily="34" charset="-120"/>
              </a:rPr>
              <a:t>Lives right next to the actual issues and PRs it tracks</a:t>
            </a:r>
            <a:endParaRPr lang="en-US" sz="1900" dirty="0"/>
          </a:p>
          <a:p>
            <a:pPr marL="342900" indent="-342900">
              <a:lnSpc>
                <a:spcPct val="115000"/>
              </a:lnSpc>
              <a:spcAft>
                <a:spcPts val="1400"/>
              </a:spcAft>
              <a:buSzPct val="100000"/>
              <a:buChar char="•"/>
            </a:pPr>
            <a:r>
              <a:rPr lang="en-US" sz="1900" dirty="0">
                <a:solidFill>
                  <a:srgbClr val="2B2B2B"/>
                </a:solidFill>
                <a:latin typeface="Calibri" pitchFamily="34" charset="0"/>
                <a:ea typeface="Calibri" pitchFamily="34" charset="-122"/>
                <a:cs typeface="Calibri" pitchFamily="34" charset="-120"/>
              </a:rPr>
              <a:t>Fast for small-team daily triage — no context switch to a separate system</a:t>
            </a:r>
            <a:endParaRPr lang="en-US" sz="1900" dirty="0"/>
          </a:p>
          <a:p>
            <a:pPr marL="342900" indent="-342900">
              <a:lnSpc>
                <a:spcPct val="115000"/>
              </a:lnSpc>
              <a:buSzPct val="100000"/>
              <a:buChar char="•"/>
            </a:pPr>
            <a:r>
              <a:rPr lang="en-US" sz="1900" dirty="0">
                <a:solidFill>
                  <a:srgbClr val="2B2B2B"/>
                </a:solidFill>
                <a:latin typeface="Calibri" pitchFamily="34" charset="0"/>
                <a:ea typeface="Calibri" pitchFamily="34" charset="-122"/>
                <a:cs typeface="Calibri" pitchFamily="34" charset="-120"/>
              </a:rPr>
              <a:t>Roadmap layout, plus built-in or Actions-driven automation</a:t>
            </a:r>
            <a:endParaRPr lang="en-US" sz="1900" dirty="0"/>
          </a:p>
        </p:txBody>
      </p:sp>
      <p:sp>
        <p:nvSpPr>
          <p:cNvPr id="8" name="Shape 5"/>
          <p:cNvSpPr/>
          <p:nvPr/>
        </p:nvSpPr>
        <p:spPr>
          <a:xfrm>
            <a:off x="548640" y="5440680"/>
            <a:ext cx="11064240" cy="868680"/>
          </a:xfrm>
          <a:prstGeom prst="roundRect">
            <a:avLst>
              <a:gd name="adj" fmla="val 12632"/>
            </a:avLst>
          </a:prstGeom>
          <a:solidFill>
            <a:srgbClr val="1F3D2C"/>
          </a:solidFill>
          <a:ln w="12700">
            <a:solidFill>
              <a:srgbClr val="DDD8CC"/>
            </a:solidFill>
            <a:prstDash val="solid"/>
          </a:ln>
          <a:effectLst>
            <a:outerShdw sx="100000" sy="100000" kx="0" ky="0" algn="bl" rotWithShape="0" blurRad="76200" dist="25400" dir="5400000">
              <a:srgbClr val="000000">
                <a:alpha val="12000"/>
              </a:srgbClr>
            </a:outerShdw>
          </a:effectLst>
        </p:spPr>
      </p:sp>
      <p:sp>
        <p:nvSpPr>
          <p:cNvPr id="9" name="Text 6"/>
          <p:cNvSpPr txBox="1"/>
          <p:nvPr/>
        </p:nvSpPr>
        <p:spPr>
          <a:xfrm>
            <a:off x="822960" y="5577840"/>
            <a:ext cx="10515600" cy="594360"/>
          </a:xfrm>
          <a:prstGeom prst="rect">
            <a:avLst/>
          </a:prstGeom>
          <a:noFill/>
          <a:ln/>
        </p:spPr>
        <p:txBody>
          <a:bodyPr wrap="square" lIns="0" tIns="0" rIns="0" bIns="0" rtlCol="0" anchor="ctr"/>
          <a:lstStyle/>
          <a:p>
            <a:pPr indent="0" marL="0">
              <a:buNone/>
            </a:pPr>
            <a:r>
              <a:rPr lang="en-US" sz="1600" b="1" dirty="0">
                <a:solidFill>
                  <a:srgbClr val="F5F5F0"/>
                </a:solidFill>
                <a:latin typeface="Calibri" pitchFamily="34" charset="0"/>
                <a:ea typeface="Calibri" pitchFamily="34" charset="-122"/>
                <a:cs typeface="Calibri" pitchFamily="34" charset="-120"/>
              </a:rPr>
              <a:t>Organizes by: </a:t>
            </a:r>
            <a:pPr indent="0" marL="0">
              <a:buNone/>
            </a:pPr>
            <a:r>
              <a:rPr lang="en-US" sz="1600" dirty="0">
                <a:solidFill>
                  <a:srgbClr val="F5F5F0"/>
                </a:solidFill>
                <a:latin typeface="Calibri" pitchFamily="34" charset="0"/>
                <a:ea typeface="Calibri" pitchFamily="34" charset="-122"/>
                <a:cs typeface="Calibri" pitchFamily="34" charset="-120"/>
              </a:rPr>
              <a:t>Repository → Label → Milestone.</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sp>
      <p:pic>
        <p:nvPicPr>
          <p:cNvPr id="3" name="Image 0" descr="/home/claude/pptx-build/assets/icons/FaUnlink-FFFFFF-200.png">    </p:cNvPr>
          <p:cNvPicPr>
            <a:picLocks noChangeAspect="1"/>
          </p:cNvPicPr>
          <p:nvPr/>
        </p:nvPicPr>
        <p:blipFill>
          <a:blip r:embed="rId1"/>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indent="0" marL="0">
              <a:buNone/>
            </a:pPr>
            <a:r>
              <a:rPr lang="en-US" sz="1500" b="1" spc="200" kern="0" dirty="0">
                <a:solidFill>
                  <a:srgbClr val="C1440E"/>
                </a:solidFill>
                <a:latin typeface="Calibri" pitchFamily="34" charset="0"/>
                <a:ea typeface="Calibri" pitchFamily="34" charset="-122"/>
                <a:cs typeface="Calibri" pitchFamily="34" charset="-120"/>
              </a:rPr>
              <a:t>SPRINT PLANNING IN ITS NATURAL HABITAT</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indent="0" marL="0">
              <a:buNone/>
            </a:pPr>
            <a:r>
              <a:rPr lang="en-US" sz="3200" b="1" dirty="0">
                <a:solidFill>
                  <a:srgbClr val="1F3D2C"/>
                </a:solidFill>
                <a:latin typeface="Cambria" pitchFamily="34" charset="0"/>
                <a:ea typeface="Cambria" pitchFamily="34" charset="-122"/>
                <a:cs typeface="Cambria" pitchFamily="34" charset="-120"/>
              </a:rPr>
              <a:t>What You Lose Migrating Work Items</a:t>
            </a:r>
            <a:endParaRPr lang="en-US" sz="3200" dirty="0"/>
          </a:p>
        </p:txBody>
      </p:sp>
      <p:sp>
        <p:nvSpPr>
          <p:cNvPr id="6" name="Shape 3"/>
          <p:cNvSpPr/>
          <p:nvPr/>
        </p:nvSpPr>
        <p:spPr>
          <a:xfrm>
            <a:off x="548640" y="1645920"/>
            <a:ext cx="11064240" cy="2926080"/>
          </a:xfrm>
          <a:prstGeom prst="roundRect">
            <a:avLst>
              <a:gd name="adj" fmla="val 3750"/>
            </a:avLst>
          </a:prstGeom>
          <a:solidFill>
            <a:srgbClr val="F7F6F2"/>
          </a:solidFill>
          <a:ln w="12700">
            <a:solidFill>
              <a:srgbClr val="DDD8CC"/>
            </a:solidFill>
            <a:prstDash val="solid"/>
          </a:ln>
          <a:effectLst>
            <a:outerShdw sx="100000" sy="100000" kx="0" ky="0" algn="bl" rotWithShape="0" blurRad="76200" dist="25400" dir="5400000">
              <a:srgbClr val="000000">
                <a:alpha val="12000"/>
              </a:srgbClr>
            </a:outerShdw>
          </a:effectLst>
        </p:spPr>
      </p:sp>
      <p:sp>
        <p:nvSpPr>
          <p:cNvPr id="7" name="Text 4"/>
          <p:cNvSpPr txBox="1"/>
          <p:nvPr/>
        </p:nvSpPr>
        <p:spPr>
          <a:xfrm>
            <a:off x="914400" y="1874520"/>
            <a:ext cx="10332720" cy="2560320"/>
          </a:xfrm>
          <a:prstGeom prst="rect">
            <a:avLst/>
          </a:prstGeom>
          <a:noFill/>
          <a:ln/>
        </p:spPr>
        <p:txBody>
          <a:bodyPr wrap="square" lIns="0" tIns="0" rIns="0" bIns="0" rtlCol="0" anchor="ctr"/>
          <a:lstStyle/>
          <a:p>
            <a:pPr marL="342900" indent="-342900">
              <a:lnSpc>
                <a:spcPct val="120000"/>
              </a:lnSpc>
              <a:spcAft>
                <a:spcPts val="1200"/>
              </a:spcAft>
              <a:buSzPct val="100000"/>
              <a:buChar char="•"/>
            </a:pPr>
            <a:r>
              <a:rPr lang="en-US" sz="1900" dirty="0">
                <a:solidFill>
                  <a:srgbClr val="2B2B2B"/>
                </a:solidFill>
                <a:latin typeface="Calibri" pitchFamily="34" charset="0"/>
                <a:ea typeface="Calibri" pitchFamily="34" charset="-122"/>
                <a:cs typeface="Calibri" pitchFamily="34" charset="-120"/>
              </a:rPr>
              <a:t>Sprint history</a:t>
            </a:r>
            <a:endParaRPr lang="en-US" sz="1900" dirty="0"/>
          </a:p>
          <a:p>
            <a:pPr marL="342900" indent="-342900">
              <a:lnSpc>
                <a:spcPct val="120000"/>
              </a:lnSpc>
              <a:spcAft>
                <a:spcPts val="1200"/>
              </a:spcAft>
              <a:buSzPct val="100000"/>
              <a:buChar char="•"/>
            </a:pPr>
            <a:r>
              <a:rPr lang="en-US" sz="1900" dirty="0">
                <a:solidFill>
                  <a:srgbClr val="2B2B2B"/>
                </a:solidFill>
                <a:latin typeface="Calibri" pitchFamily="34" charset="0"/>
                <a:ea typeface="Calibri" pitchFamily="34" charset="-122"/>
                <a:cs typeface="Calibri" pitchFamily="34" charset="-120"/>
              </a:rPr>
              <a:t>Capacity data</a:t>
            </a:r>
            <a:endParaRPr lang="en-US" sz="1900" dirty="0"/>
          </a:p>
          <a:p>
            <a:pPr marL="342900" indent="-342900">
              <a:lnSpc>
                <a:spcPct val="120000"/>
              </a:lnSpc>
              <a:spcAft>
                <a:spcPts val="1200"/>
              </a:spcAft>
              <a:buSzPct val="100000"/>
              <a:buChar char="•"/>
            </a:pPr>
            <a:r>
              <a:rPr lang="en-US" sz="1900" dirty="0">
                <a:solidFill>
                  <a:srgbClr val="2B2B2B"/>
                </a:solidFill>
                <a:latin typeface="Calibri" pitchFamily="34" charset="0"/>
                <a:ea typeface="Calibri" pitchFamily="34" charset="-122"/>
                <a:cs typeface="Calibri" pitchFamily="34" charset="-120"/>
              </a:rPr>
              <a:t>Custom process fields</a:t>
            </a:r>
            <a:endParaRPr lang="en-US" sz="1900" dirty="0"/>
          </a:p>
          <a:p>
            <a:pPr marL="342900" indent="-342900">
              <a:lnSpc>
                <a:spcPct val="120000"/>
              </a:lnSpc>
              <a:buSzPct val="100000"/>
              <a:buChar char="•"/>
            </a:pPr>
            <a:r>
              <a:rPr lang="en-US" sz="1900" dirty="0">
                <a:solidFill>
                  <a:srgbClr val="2B2B2B"/>
                </a:solidFill>
                <a:latin typeface="Calibri" pitchFamily="34" charset="0"/>
                <a:ea typeface="Calibri" pitchFamily="34" charset="-122"/>
                <a:cs typeface="Calibri" pitchFamily="34" charset="-120"/>
              </a:rPr>
              <a:t>The whole Project → Team → Area Path hierarchy</a:t>
            </a:r>
            <a:endParaRPr lang="en-US" sz="1900" dirty="0"/>
          </a:p>
        </p:txBody>
      </p:sp>
      <p:sp>
        <p:nvSpPr>
          <p:cNvPr id="8" name="Shape 5"/>
          <p:cNvSpPr/>
          <p:nvPr/>
        </p:nvSpPr>
        <p:spPr>
          <a:xfrm>
            <a:off x="548640" y="4800600"/>
            <a:ext cx="11064240" cy="1508760"/>
          </a:xfrm>
          <a:prstGeom prst="roundRect">
            <a:avLst>
              <a:gd name="adj" fmla="val 7273"/>
            </a:avLst>
          </a:prstGeom>
          <a:solidFill>
            <a:srgbClr val="8C6A3F"/>
          </a:solidFill>
          <a:ln w="12700">
            <a:solidFill>
              <a:srgbClr val="DDD8CC"/>
            </a:solidFill>
            <a:prstDash val="solid"/>
          </a:ln>
          <a:effectLst>
            <a:outerShdw sx="100000" sy="100000" kx="0" ky="0" algn="bl" rotWithShape="0" blurRad="76200" dist="25400" dir="5400000">
              <a:srgbClr val="000000">
                <a:alpha val="12000"/>
              </a:srgbClr>
            </a:outerShdw>
          </a:effectLst>
        </p:spPr>
      </p:sp>
      <p:sp>
        <p:nvSpPr>
          <p:cNvPr id="9" name="Text 6"/>
          <p:cNvSpPr txBox="1"/>
          <p:nvPr/>
        </p:nvSpPr>
        <p:spPr>
          <a:xfrm>
            <a:off x="822960" y="4937760"/>
            <a:ext cx="10515600" cy="1234440"/>
          </a:xfrm>
          <a:prstGeom prst="rect">
            <a:avLst/>
          </a:prstGeom>
          <a:noFill/>
          <a:ln/>
        </p:spPr>
        <p:txBody>
          <a:bodyPr wrap="square" lIns="0" tIns="0" rIns="0" bIns="0" rtlCol="0" anchor="ctr"/>
          <a:lstStyle/>
          <a:p>
            <a:pPr indent="0" marL="0">
              <a:lnSpc>
                <a:spcPct val="115000"/>
              </a:lnSpc>
              <a:buNone/>
            </a:pPr>
            <a:r>
              <a:rPr lang="en-US" sz="1500" b="1" dirty="0">
                <a:solidFill>
                  <a:srgbClr val="F5F5F0"/>
                </a:solidFill>
                <a:latin typeface="Calibri" pitchFamily="34" charset="0"/>
                <a:ea typeface="Calibri" pitchFamily="34" charset="-122"/>
                <a:cs typeface="Calibri" pitchFamily="34" charset="-120"/>
              </a:rPr>
              <a:t>Open-source help exists — </a:t>
            </a:r>
            <a:pPr indent="0" marL="0">
              <a:lnSpc>
                <a:spcPct val="115000"/>
              </a:lnSpc>
              <a:buNone/>
            </a:pPr>
            <a:r>
              <a:rPr lang="en-US" sz="1500" dirty="0">
                <a:solidFill>
                  <a:srgbClr val="F5F5F0"/>
                </a:solidFill>
                <a:latin typeface="Calibri" pitchFamily="34" charset="0"/>
                <a:ea typeface="Calibri" pitchFamily="34" charset="-122"/>
                <a:cs typeface="Calibri" pitchFamily="34" charset="-120"/>
              </a:rPr>
              <a:t>`azure-devops-migration-tools` can move work items over. But expect real manual-mapping time: the two data models don’t line up, so this is a project, not a script you run once and forget.</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sp>
      <p:pic>
        <p:nvPicPr>
          <p:cNvPr id="3" name="Image 0" descr="/home/claude/pptx-build/assets/icons/FaBan-FFFFFF-200.png">    </p:cNvPr>
          <p:cNvPicPr>
            <a:picLocks noChangeAspect="1"/>
          </p:cNvPicPr>
          <p:nvPr/>
        </p:nvPicPr>
        <p:blipFill>
          <a:blip r:embed="rId1"/>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indent="0" marL="0">
              <a:buNone/>
            </a:pPr>
            <a:r>
              <a:rPr lang="en-US" sz="1500" b="1" spc="200" kern="0" dirty="0">
                <a:solidFill>
                  <a:srgbClr val="C1440E"/>
                </a:solidFill>
                <a:latin typeface="Calibri" pitchFamily="34" charset="0"/>
                <a:ea typeface="Calibri" pitchFamily="34" charset="-122"/>
                <a:cs typeface="Calibri" pitchFamily="34" charset="-120"/>
              </a:rPr>
              <a:t>SPRINT PLANNING IN ITS NATURAL HABITAT</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indent="0" marL="0">
              <a:buNone/>
            </a:pPr>
            <a:r>
              <a:rPr lang="en-US" sz="3200" b="1" dirty="0">
                <a:solidFill>
                  <a:srgbClr val="1F3D2C"/>
                </a:solidFill>
                <a:latin typeface="Cambria" pitchFamily="34" charset="0"/>
                <a:ea typeface="Cambria" pitchFamily="34" charset="-122"/>
                <a:cs typeface="Cambria" pitchFamily="34" charset="-120"/>
              </a:rPr>
              <a:t>Test Plans: Stays Behind</a:t>
            </a:r>
            <a:endParaRPr lang="en-US" sz="3200" dirty="0"/>
          </a:p>
        </p:txBody>
      </p:sp>
      <p:sp>
        <p:nvSpPr>
          <p:cNvPr id="6" name="Shape 3"/>
          <p:cNvSpPr/>
          <p:nvPr/>
        </p:nvSpPr>
        <p:spPr>
          <a:xfrm>
            <a:off x="548640" y="1691640"/>
            <a:ext cx="11064240" cy="2011680"/>
          </a:xfrm>
          <a:prstGeom prst="roundRect">
            <a:avLst>
              <a:gd name="adj" fmla="val 5455"/>
            </a:avLst>
          </a:prstGeom>
          <a:solidFill>
            <a:srgbClr val="1F3D2C"/>
          </a:solidFill>
          <a:ln w="12700">
            <a:solidFill>
              <a:srgbClr val="DDD8CC"/>
            </a:solidFill>
            <a:prstDash val="solid"/>
          </a:ln>
          <a:effectLst>
            <a:outerShdw sx="100000" sy="100000" kx="0" ky="0" algn="bl" rotWithShape="0" blurRad="76200" dist="25400" dir="5400000">
              <a:srgbClr val="000000">
                <a:alpha val="12000"/>
              </a:srgbClr>
            </a:outerShdw>
          </a:effectLst>
        </p:spPr>
      </p:sp>
      <p:sp>
        <p:nvSpPr>
          <p:cNvPr id="7" name="Text 4"/>
          <p:cNvSpPr txBox="1"/>
          <p:nvPr/>
        </p:nvSpPr>
        <p:spPr>
          <a:xfrm>
            <a:off x="822960" y="1965960"/>
            <a:ext cx="10515600" cy="822960"/>
          </a:xfrm>
          <a:prstGeom prst="rect">
            <a:avLst/>
          </a:prstGeom>
          <a:noFill/>
          <a:ln/>
        </p:spPr>
        <p:txBody>
          <a:bodyPr wrap="square" lIns="0" tIns="0" rIns="0" bIns="0" rtlCol="0" anchor="ctr"/>
          <a:lstStyle/>
          <a:p>
            <a:pPr algn="ctr" indent="0" marL="0">
              <a:buNone/>
            </a:pPr>
            <a:r>
              <a:rPr lang="en-US" sz="3000" b="1" dirty="0">
                <a:solidFill>
                  <a:srgbClr val="F5F5F0"/>
                </a:solidFill>
                <a:latin typeface="Cambria" pitchFamily="34" charset="0"/>
                <a:ea typeface="Cambria" pitchFamily="34" charset="-122"/>
                <a:cs typeface="Cambria" pitchFamily="34" charset="-120"/>
              </a:rPr>
              <a:t>No GitHub equivalent. Full stop.</a:t>
            </a:r>
            <a:endParaRPr lang="en-US" sz="3000" dirty="0"/>
          </a:p>
        </p:txBody>
      </p:sp>
      <p:sp>
        <p:nvSpPr>
          <p:cNvPr id="8" name="Text 5"/>
          <p:cNvSpPr txBox="1"/>
          <p:nvPr/>
        </p:nvSpPr>
        <p:spPr>
          <a:xfrm>
            <a:off x="822960" y="2788920"/>
            <a:ext cx="10515600" cy="731520"/>
          </a:xfrm>
          <a:prstGeom prst="rect">
            <a:avLst/>
          </a:prstGeom>
          <a:noFill/>
          <a:ln/>
        </p:spPr>
        <p:txBody>
          <a:bodyPr wrap="square" lIns="0" tIns="0" rIns="0" bIns="0" rtlCol="0" anchor="ctr"/>
          <a:lstStyle/>
          <a:p>
            <a:pPr algn="ctr" indent="0" marL="0">
              <a:buNone/>
            </a:pPr>
            <a:r>
              <a:rPr lang="en-US" sz="1600" dirty="0">
                <a:solidFill>
                  <a:srgbClr val="8C6A3F"/>
                </a:solidFill>
                <a:latin typeface="Calibri" pitchFamily="34" charset="0"/>
                <a:ea typeface="Calibri" pitchFamily="34" charset="-122"/>
                <a:cs typeface="Calibri" pitchFamily="34" charset="-120"/>
              </a:rPr>
              <a:t>No native GitHub Projects or Issues equivalent for structured manual and exploratory testing.</a:t>
            </a:r>
            <a:endParaRPr lang="en-US" sz="1600" dirty="0"/>
          </a:p>
        </p:txBody>
      </p:sp>
      <p:sp>
        <p:nvSpPr>
          <p:cNvPr id="9" name="Shape 6"/>
          <p:cNvSpPr/>
          <p:nvPr/>
        </p:nvSpPr>
        <p:spPr>
          <a:xfrm>
            <a:off x="548640" y="4069080"/>
            <a:ext cx="11064240" cy="1371600"/>
          </a:xfrm>
          <a:prstGeom prst="roundRect">
            <a:avLst>
              <a:gd name="adj" fmla="val 8000"/>
            </a:avLst>
          </a:prstGeom>
          <a:solidFill>
            <a:srgbClr val="F7F6F2"/>
          </a:solidFill>
          <a:ln w="12700">
            <a:solidFill>
              <a:srgbClr val="DDD8CC"/>
            </a:solidFill>
            <a:prstDash val="solid"/>
          </a:ln>
          <a:effectLst>
            <a:outerShdw sx="100000" sy="100000" kx="0" ky="0" algn="bl" rotWithShape="0" blurRad="76200" dist="25400" dir="5400000">
              <a:srgbClr val="000000">
                <a:alpha val="12000"/>
              </a:srgbClr>
            </a:outerShdw>
          </a:effectLst>
        </p:spPr>
      </p:sp>
      <p:sp>
        <p:nvSpPr>
          <p:cNvPr id="10" name="Text 7"/>
          <p:cNvSpPr txBox="1"/>
          <p:nvPr/>
        </p:nvSpPr>
        <p:spPr>
          <a:xfrm>
            <a:off x="822960" y="4206240"/>
            <a:ext cx="10515600" cy="1097280"/>
          </a:xfrm>
          <a:prstGeom prst="rect">
            <a:avLst/>
          </a:prstGeom>
          <a:noFill/>
          <a:ln/>
        </p:spPr>
        <p:txBody>
          <a:bodyPr wrap="square" lIns="0" tIns="0" rIns="0" bIns="0" rtlCol="0" anchor="ctr"/>
          <a:lstStyle/>
          <a:p>
            <a:pPr indent="0" marL="0">
              <a:buNone/>
            </a:pPr>
            <a:r>
              <a:rPr lang="en-US" sz="1800" dirty="0">
                <a:solidFill>
                  <a:srgbClr val="2B2B2B"/>
                </a:solidFill>
                <a:latin typeface="Calibri" pitchFamily="34" charset="0"/>
                <a:ea typeface="Calibri" pitchFamily="34" charset="-122"/>
                <a:cs typeface="Calibri" pitchFamily="34" charset="-120"/>
              </a:rPr>
              <a:t>In a regulated environment, this alone can be a reason to keep Azure DevOps in the picture.</a:t>
            </a:r>
            <a:endParaRPr lang="en-US" sz="1800" dirty="0"/>
          </a:p>
        </p:txBody>
      </p:sp>
      <p:sp>
        <p:nvSpPr>
          <p:cNvPr id="11" name="Text 8"/>
          <p:cNvSpPr txBox="1"/>
          <p:nvPr/>
        </p:nvSpPr>
        <p:spPr>
          <a:xfrm>
            <a:off x="548640" y="5715000"/>
            <a:ext cx="11064240" cy="548640"/>
          </a:xfrm>
          <a:prstGeom prst="rect">
            <a:avLst/>
          </a:prstGeom>
          <a:noFill/>
          <a:ln/>
        </p:spPr>
        <p:txBody>
          <a:bodyPr wrap="square" lIns="0" tIns="0" rIns="0" bIns="0" rtlCol="0" anchor="ctr"/>
          <a:lstStyle/>
          <a:p>
            <a:pPr algn="ctr" indent="0" marL="0">
              <a:buNone/>
            </a:pPr>
            <a:r>
              <a:rPr lang="en-US" sz="1900" b="1" i="1" dirty="0">
                <a:solidFill>
                  <a:srgbClr val="C1440E"/>
                </a:solidFill>
                <a:latin typeface="Cambria" pitchFamily="34" charset="0"/>
                <a:ea typeface="Cambria" pitchFamily="34" charset="-122"/>
                <a:cs typeface="Cambria" pitchFamily="34" charset="-120"/>
              </a:rPr>
              <a:t>Sometimes “it doesn’t move, and that’s fine” is the honest answer.</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sp>
      <p:pic>
        <p:nvPicPr>
          <p:cNvPr id="3" name="Image 0" descr="/home/claude/pptx-build/assets/icons/FaLink-FFFFFF-200.png">    </p:cNvPr>
          <p:cNvPicPr>
            <a:picLocks noChangeAspect="1"/>
          </p:cNvPicPr>
          <p:nvPr/>
        </p:nvPicPr>
        <p:blipFill>
          <a:blip r:embed="rId1"/>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indent="0" marL="0">
              <a:buNone/>
            </a:pPr>
            <a:r>
              <a:rPr lang="en-US" sz="1500" b="1" spc="200" kern="0" dirty="0">
                <a:solidFill>
                  <a:srgbClr val="C1440E"/>
                </a:solidFill>
                <a:latin typeface="Calibri" pitchFamily="34" charset="0"/>
                <a:ea typeface="Calibri" pitchFamily="34" charset="-122"/>
                <a:cs typeface="Calibri" pitchFamily="34" charset="-120"/>
              </a:rPr>
              <a:t>SPRINT PLANNING IN ITS NATURAL HABITAT</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indent="0" marL="0">
              <a:buNone/>
            </a:pPr>
            <a:r>
              <a:rPr lang="en-US" sz="3200" b="1" dirty="0">
                <a:solidFill>
                  <a:srgbClr val="1F3D2C"/>
                </a:solidFill>
                <a:latin typeface="Cambria" pitchFamily="34" charset="0"/>
                <a:ea typeface="Cambria" pitchFamily="34" charset="-122"/>
                <a:cs typeface="Cambria" pitchFamily="34" charset="-120"/>
              </a:rPr>
              <a:t>The Hybrid Pattern — the Resolution, Not the Compromise</a:t>
            </a:r>
            <a:endParaRPr lang="en-US" sz="3200" dirty="0"/>
          </a:p>
        </p:txBody>
      </p:sp>
      <p:sp>
        <p:nvSpPr>
          <p:cNvPr id="6" name="Text 3"/>
          <p:cNvSpPr txBox="1"/>
          <p:nvPr/>
        </p:nvSpPr>
        <p:spPr>
          <a:xfrm>
            <a:off x="548640" y="1600200"/>
            <a:ext cx="11064240" cy="594360"/>
          </a:xfrm>
          <a:prstGeom prst="rect">
            <a:avLst/>
          </a:prstGeom>
          <a:noFill/>
          <a:ln/>
        </p:spPr>
        <p:txBody>
          <a:bodyPr wrap="square" lIns="0" tIns="0" rIns="0" bIns="0" rtlCol="0" anchor="ctr"/>
          <a:lstStyle/>
          <a:p>
            <a:pPr indent="0" marL="0">
              <a:buNone/>
            </a:pPr>
            <a:r>
              <a:rPr lang="en-US" sz="2100" b="1" dirty="0">
                <a:solidFill>
                  <a:srgbClr val="1F3D2C"/>
                </a:solidFill>
                <a:latin typeface="Cambria" pitchFamily="34" charset="0"/>
                <a:ea typeface="Cambria" pitchFamily="34" charset="-122"/>
                <a:cs typeface="Cambria" pitchFamily="34" charset="-120"/>
              </a:rPr>
              <a:t>Connect Azure Boards to GitHub repos before touching anything else.</a:t>
            </a:r>
            <a:endParaRPr lang="en-US" sz="2100" dirty="0"/>
          </a:p>
        </p:txBody>
      </p:sp>
      <p:sp>
        <p:nvSpPr>
          <p:cNvPr id="7" name="Shape 4"/>
          <p:cNvSpPr/>
          <p:nvPr/>
        </p:nvSpPr>
        <p:spPr>
          <a:xfrm>
            <a:off x="548640" y="2377440"/>
            <a:ext cx="5349240" cy="2606040"/>
          </a:xfrm>
          <a:prstGeom prst="roundRect">
            <a:avLst>
              <a:gd name="adj" fmla="val 4211"/>
            </a:avLst>
          </a:prstGeom>
          <a:solidFill>
            <a:srgbClr val="1F3D2C"/>
          </a:solidFill>
          <a:ln w="12700">
            <a:solidFill>
              <a:srgbClr val="DDD8CC"/>
            </a:solidFill>
            <a:prstDash val="solid"/>
          </a:ln>
          <a:effectLst>
            <a:outerShdw sx="100000" sy="100000" kx="0" ky="0" algn="bl" rotWithShape="0" blurRad="76200" dist="25400" dir="5400000">
              <a:srgbClr val="000000">
                <a:alpha val="12000"/>
              </a:srgbClr>
            </a:outerShdw>
          </a:effectLst>
        </p:spPr>
      </p:sp>
      <p:sp>
        <p:nvSpPr>
          <p:cNvPr id="8" name="Text 5"/>
          <p:cNvSpPr txBox="1"/>
          <p:nvPr/>
        </p:nvSpPr>
        <p:spPr>
          <a:xfrm>
            <a:off x="822960" y="2560320"/>
            <a:ext cx="4800600" cy="502920"/>
          </a:xfrm>
          <a:prstGeom prst="rect">
            <a:avLst/>
          </a:prstGeom>
          <a:noFill/>
          <a:ln/>
        </p:spPr>
        <p:txBody>
          <a:bodyPr wrap="square" lIns="0" tIns="0" rIns="0" bIns="0" rtlCol="0" anchor="ctr"/>
          <a:lstStyle/>
          <a:p>
            <a:pPr indent="0" marL="0">
              <a:buNone/>
            </a:pPr>
            <a:r>
              <a:rPr lang="en-US" sz="2100" b="1" dirty="0">
                <a:solidFill>
                  <a:srgbClr val="F5F5F0"/>
                </a:solidFill>
                <a:latin typeface="Cambria" pitchFamily="34" charset="0"/>
                <a:ea typeface="Cambria" pitchFamily="34" charset="-122"/>
                <a:cs typeface="Cambria" pitchFamily="34" charset="-120"/>
              </a:rPr>
              <a:t>Developers</a:t>
            </a:r>
            <a:endParaRPr lang="en-US" sz="2100" dirty="0"/>
          </a:p>
        </p:txBody>
      </p:sp>
      <p:sp>
        <p:nvSpPr>
          <p:cNvPr id="9" name="Text 6"/>
          <p:cNvSpPr txBox="1"/>
          <p:nvPr/>
        </p:nvSpPr>
        <p:spPr>
          <a:xfrm>
            <a:off x="822960" y="3127248"/>
            <a:ext cx="4800600" cy="1737360"/>
          </a:xfrm>
          <a:prstGeom prst="rect">
            <a:avLst/>
          </a:prstGeom>
          <a:noFill/>
          <a:ln/>
        </p:spPr>
        <p:txBody>
          <a:bodyPr wrap="square" lIns="0" tIns="0" rIns="0" bIns="0" rtlCol="0" anchor="ctr"/>
          <a:lstStyle/>
          <a:p>
            <a:pPr indent="0" marL="0">
              <a:lnSpc>
                <a:spcPct val="115000"/>
              </a:lnSpc>
              <a:buNone/>
            </a:pPr>
            <a:r>
              <a:rPr lang="en-US" sz="1700" dirty="0">
                <a:solidFill>
                  <a:srgbClr val="F5F5F0"/>
                </a:solidFill>
                <a:latin typeface="Calibri" pitchFamily="34" charset="0"/>
                <a:ea typeface="Calibri" pitchFamily="34" charset="-122"/>
                <a:cs typeface="Calibri" pitchFamily="34" charset="-120"/>
              </a:rPr>
              <a:t>Work in GitHub — code, PRs, and Copilot, right next to the issues that matter to them.</a:t>
            </a:r>
            <a:endParaRPr lang="en-US" sz="1700" dirty="0"/>
          </a:p>
        </p:txBody>
      </p:sp>
      <p:sp>
        <p:nvSpPr>
          <p:cNvPr id="10" name="Shape 7"/>
          <p:cNvSpPr/>
          <p:nvPr/>
        </p:nvSpPr>
        <p:spPr>
          <a:xfrm>
            <a:off x="6172200" y="2377440"/>
            <a:ext cx="5349240" cy="2606040"/>
          </a:xfrm>
          <a:prstGeom prst="roundRect">
            <a:avLst>
              <a:gd name="adj" fmla="val 4211"/>
            </a:avLst>
          </a:prstGeom>
          <a:solidFill>
            <a:srgbClr val="F7F6F2"/>
          </a:solidFill>
          <a:ln w="12700">
            <a:solidFill>
              <a:srgbClr val="DDD8CC"/>
            </a:solidFill>
            <a:prstDash val="solid"/>
          </a:ln>
          <a:effectLst>
            <a:outerShdw sx="100000" sy="100000" kx="0" ky="0" algn="bl" rotWithShape="0" blurRad="76200" dist="25400" dir="5400000">
              <a:srgbClr val="000000">
                <a:alpha val="12000"/>
              </a:srgbClr>
            </a:outerShdw>
          </a:effectLst>
        </p:spPr>
      </p:sp>
      <p:sp>
        <p:nvSpPr>
          <p:cNvPr id="11" name="Text 8"/>
          <p:cNvSpPr txBox="1"/>
          <p:nvPr/>
        </p:nvSpPr>
        <p:spPr>
          <a:xfrm>
            <a:off x="6446520" y="2560320"/>
            <a:ext cx="4800600" cy="502920"/>
          </a:xfrm>
          <a:prstGeom prst="rect">
            <a:avLst/>
          </a:prstGeom>
          <a:noFill/>
          <a:ln/>
        </p:spPr>
        <p:txBody>
          <a:bodyPr wrap="square" lIns="0" tIns="0" rIns="0" bIns="0" rtlCol="0" anchor="ctr"/>
          <a:lstStyle/>
          <a:p>
            <a:pPr indent="0" marL="0">
              <a:buNone/>
            </a:pPr>
            <a:r>
              <a:rPr lang="en-US" sz="2100" b="1" dirty="0">
                <a:solidFill>
                  <a:srgbClr val="1F3D2C"/>
                </a:solidFill>
                <a:latin typeface="Cambria" pitchFamily="34" charset="0"/>
                <a:ea typeface="Cambria" pitchFamily="34" charset="-122"/>
                <a:cs typeface="Cambria" pitchFamily="34" charset="-120"/>
              </a:rPr>
              <a:t>Managers</a:t>
            </a:r>
            <a:endParaRPr lang="en-US" sz="2100" dirty="0"/>
          </a:p>
        </p:txBody>
      </p:sp>
      <p:sp>
        <p:nvSpPr>
          <p:cNvPr id="12" name="Text 9"/>
          <p:cNvSpPr txBox="1"/>
          <p:nvPr/>
        </p:nvSpPr>
        <p:spPr>
          <a:xfrm>
            <a:off x="6446520" y="3127248"/>
            <a:ext cx="4800600" cy="1737360"/>
          </a:xfrm>
          <a:prstGeom prst="rect">
            <a:avLst/>
          </a:prstGeom>
          <a:noFill/>
          <a:ln/>
        </p:spPr>
        <p:txBody>
          <a:bodyPr wrap="square" lIns="0" tIns="0" rIns="0" bIns="0" rtlCol="0" anchor="ctr"/>
          <a:lstStyle/>
          <a:p>
            <a:pPr indent="0" marL="0">
              <a:lnSpc>
                <a:spcPct val="115000"/>
              </a:lnSpc>
              <a:buNone/>
            </a:pPr>
            <a:r>
              <a:rPr lang="en-US" sz="1700" dirty="0">
                <a:solidFill>
                  <a:srgbClr val="2B2B2B"/>
                </a:solidFill>
                <a:latin typeface="Calibri" pitchFamily="34" charset="0"/>
                <a:ea typeface="Calibri" pitchFamily="34" charset="-122"/>
                <a:cs typeface="Calibri" pitchFamily="34" charset="-120"/>
              </a:rPr>
              <a:t>Keep the sprint hub, capacity charts, and Power BI reporting exactly where they already are.</a:t>
            </a:r>
            <a:endParaRPr lang="en-US" sz="1700" dirty="0"/>
          </a:p>
        </p:txBody>
      </p:sp>
      <p:sp>
        <p:nvSpPr>
          <p:cNvPr id="13" name="Text 10"/>
          <p:cNvSpPr txBox="1"/>
          <p:nvPr/>
        </p:nvSpPr>
        <p:spPr>
          <a:xfrm>
            <a:off x="548640" y="5257800"/>
            <a:ext cx="11064240" cy="594360"/>
          </a:xfrm>
          <a:prstGeom prst="rect">
            <a:avLst/>
          </a:prstGeom>
          <a:noFill/>
          <a:ln/>
        </p:spPr>
        <p:txBody>
          <a:bodyPr wrap="square" lIns="0" tIns="0" rIns="0" bIns="0" rtlCol="0" anchor="ctr"/>
          <a:lstStyle/>
          <a:p>
            <a:pPr algn="ctr" indent="0" marL="0">
              <a:buNone/>
            </a:pPr>
            <a:r>
              <a:rPr lang="en-US" sz="1800" i="1" dirty="0">
                <a:solidFill>
                  <a:srgbClr val="C1440E"/>
                </a:solidFill>
                <a:latin typeface="Calibri" pitchFamily="34" charset="0"/>
                <a:ea typeface="Calibri" pitchFamily="34" charset="-122"/>
                <a:cs typeface="Calibri" pitchFamily="34" charset="-120"/>
              </a:rPr>
              <a:t>Microsoft designed this as the intended shape. Call it the answer, not the fallback.</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sp>
      <p:pic>
        <p:nvPicPr>
          <p:cNvPr id="3" name="Image 0" descr="/home/claude/pptx-build/assets/icons/FaThumbsUp-FFFFFF-200.png">    </p:cNvPr>
          <p:cNvPicPr>
            <a:picLocks noChangeAspect="1"/>
          </p:cNvPicPr>
          <p:nvPr/>
        </p:nvPicPr>
        <p:blipFill>
          <a:blip r:embed="rId1"/>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indent="0" marL="0">
              <a:buNone/>
            </a:pPr>
            <a:r>
              <a:rPr lang="en-US" sz="1500" b="1" spc="200" kern="0" dirty="0">
                <a:solidFill>
                  <a:srgbClr val="C1440E"/>
                </a:solidFill>
                <a:latin typeface="Calibri" pitchFamily="34" charset="0"/>
                <a:ea typeface="Calibri" pitchFamily="34" charset="-122"/>
                <a:cs typeface="Calibri" pitchFamily="34" charset="-120"/>
              </a:rPr>
              <a:t>SPRINT PLANNING IN ITS NATURAL HABITAT</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indent="0" marL="0">
              <a:buNone/>
            </a:pPr>
            <a:r>
              <a:rPr lang="en-US" sz="3200" b="1" dirty="0">
                <a:solidFill>
                  <a:srgbClr val="1F3D2C"/>
                </a:solidFill>
                <a:latin typeface="Cambria" pitchFamily="34" charset="0"/>
                <a:ea typeface="Cambria" pitchFamily="34" charset="-122"/>
                <a:cs typeface="Cambria" pitchFamily="34" charset="-120"/>
              </a:rPr>
              <a:t>Recommendation: Connect Boards, Don’t Migrate Work Items</a:t>
            </a:r>
            <a:endParaRPr lang="en-US" sz="3200" dirty="0"/>
          </a:p>
        </p:txBody>
      </p:sp>
      <p:sp>
        <p:nvSpPr>
          <p:cNvPr id="6" name="Shape 3"/>
          <p:cNvSpPr/>
          <p:nvPr/>
        </p:nvSpPr>
        <p:spPr>
          <a:xfrm>
            <a:off x="548640" y="1691640"/>
            <a:ext cx="11064240" cy="2286000"/>
          </a:xfrm>
          <a:prstGeom prst="roundRect">
            <a:avLst>
              <a:gd name="adj" fmla="val 4800"/>
            </a:avLst>
          </a:prstGeom>
          <a:solidFill>
            <a:srgbClr val="F7F6F2"/>
          </a:solidFill>
          <a:ln w="12700">
            <a:solidFill>
              <a:srgbClr val="DDD8CC"/>
            </a:solidFill>
            <a:prstDash val="solid"/>
          </a:ln>
          <a:effectLst>
            <a:outerShdw sx="100000" sy="100000" kx="0" ky="0" algn="bl" rotWithShape="0" blurRad="76200" dist="25400" dir="5400000">
              <a:srgbClr val="000000">
                <a:alpha val="12000"/>
              </a:srgbClr>
            </a:outerShdw>
          </a:effectLst>
        </p:spPr>
      </p:sp>
      <p:sp>
        <p:nvSpPr>
          <p:cNvPr id="7" name="Text 4"/>
          <p:cNvSpPr txBox="1"/>
          <p:nvPr/>
        </p:nvSpPr>
        <p:spPr>
          <a:xfrm>
            <a:off x="822960" y="1920240"/>
            <a:ext cx="10332720" cy="1920240"/>
          </a:xfrm>
          <a:prstGeom prst="rect">
            <a:avLst/>
          </a:prstGeom>
          <a:noFill/>
          <a:ln/>
        </p:spPr>
        <p:txBody>
          <a:bodyPr wrap="square" lIns="0" tIns="0" rIns="0" bIns="0" rtlCol="0" anchor="ctr"/>
          <a:lstStyle/>
          <a:p>
            <a:pPr indent="0" marL="0">
              <a:lnSpc>
                <a:spcPct val="125000"/>
              </a:lnSpc>
              <a:buNone/>
            </a:pPr>
            <a:r>
              <a:rPr lang="en-US" sz="1900" b="1" dirty="0">
                <a:solidFill>
                  <a:srgbClr val="2B2B2B"/>
                </a:solidFill>
                <a:latin typeface="Calibri" pitchFamily="34" charset="0"/>
                <a:ea typeface="Calibri" pitchFamily="34" charset="-122"/>
                <a:cs typeface="Calibri" pitchFamily="34" charset="-120"/>
              </a:rPr>
              <a:t>Don’t migrate to GitHub Issues unless your PM needs are genuinely simple. </a:t>
            </a:r>
            <a:pPr indent="0" marL="0">
              <a:lnSpc>
                <a:spcPct val="125000"/>
              </a:lnSpc>
              <a:buNone/>
            </a:pPr>
            <a:r>
              <a:rPr lang="en-US" sz="1900" dirty="0">
                <a:solidFill>
                  <a:srgbClr val="2B2B2B"/>
                </a:solidFill>
                <a:latin typeface="Calibri" pitchFamily="34" charset="0"/>
                <a:ea typeface="Calibri" pitchFamily="34" charset="-122"/>
                <a:cs typeface="Calibri" pitchFamily="34" charset="-120"/>
              </a:rPr>
              <a:t>For most teams past a handful of people, the hierarchy, capacity planning, and reporting Azure Boards already gives you are worth keeping — connect it instead of replacing it.</a:t>
            </a:r>
            <a:endParaRPr lang="en-US" sz="1900" dirty="0"/>
          </a:p>
        </p:txBody>
      </p:sp>
      <p:sp>
        <p:nvSpPr>
          <p:cNvPr id="8" name="Shape 5"/>
          <p:cNvSpPr/>
          <p:nvPr/>
        </p:nvSpPr>
        <p:spPr>
          <a:xfrm>
            <a:off x="548640" y="4206240"/>
            <a:ext cx="11064240" cy="1691640"/>
          </a:xfrm>
          <a:prstGeom prst="roundRect">
            <a:avLst>
              <a:gd name="adj" fmla="val 6486"/>
            </a:avLst>
          </a:prstGeom>
          <a:solidFill>
            <a:srgbClr val="1F3D2C"/>
          </a:solidFill>
          <a:ln w="12700">
            <a:solidFill>
              <a:srgbClr val="DDD8CC"/>
            </a:solidFill>
            <a:prstDash val="solid"/>
          </a:ln>
          <a:effectLst>
            <a:outerShdw sx="100000" sy="100000" kx="0" ky="0" algn="bl" rotWithShape="0" blurRad="76200" dist="25400" dir="5400000">
              <a:srgbClr val="000000">
                <a:alpha val="12000"/>
              </a:srgbClr>
            </a:outerShdw>
          </a:effectLst>
        </p:spPr>
      </p:sp>
      <p:sp>
        <p:nvSpPr>
          <p:cNvPr id="9" name="Text 6"/>
          <p:cNvSpPr txBox="1"/>
          <p:nvPr/>
        </p:nvSpPr>
        <p:spPr>
          <a:xfrm>
            <a:off x="822960" y="4370832"/>
            <a:ext cx="10515600" cy="1371600"/>
          </a:xfrm>
          <a:prstGeom prst="rect">
            <a:avLst/>
          </a:prstGeom>
          <a:noFill/>
          <a:ln/>
        </p:spPr>
        <p:txBody>
          <a:bodyPr wrap="square" lIns="0" tIns="0" rIns="0" bIns="0" rtlCol="0" anchor="ctr"/>
          <a:lstStyle/>
          <a:p>
            <a:pPr indent="0" marL="0">
              <a:lnSpc>
                <a:spcPct val="115000"/>
              </a:lnSpc>
              <a:buNone/>
            </a:pPr>
            <a:r>
              <a:rPr lang="en-US" sz="1500" b="1" dirty="0">
                <a:solidFill>
                  <a:srgbClr val="F5F5F0"/>
                </a:solidFill>
                <a:latin typeface="Calibri" pitchFamily="34" charset="0"/>
                <a:ea typeface="Calibri" pitchFamily="34" charset="-122"/>
                <a:cs typeface="Calibri" pitchFamily="34" charset="-120"/>
              </a:rPr>
              <a:t>And if Azure DevOps isn’t the right choice for planning either: </a:t>
            </a:r>
            <a:pPr indent="0" marL="0">
              <a:lnSpc>
                <a:spcPct val="115000"/>
              </a:lnSpc>
              <a:buNone/>
            </a:pPr>
            <a:r>
              <a:rPr lang="en-US" sz="1500" dirty="0">
                <a:solidFill>
                  <a:srgbClr val="F5F5F0"/>
                </a:solidFill>
                <a:latin typeface="Calibri" pitchFamily="34" charset="0"/>
                <a:ea typeface="Calibri" pitchFamily="34" charset="-122"/>
                <a:cs typeface="Calibri" pitchFamily="34" charset="-120"/>
              </a:rPr>
              <a:t>this recommendation isn’t “Azure Boards forever.” It’s “don’t default to GitHub Issues just because the code moved.” Leave the door open to whatever work-planning tool actually fits — that’s a separate decision from where the code lives.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3D2C"/>
        </a:solidFill>
      </p:bgPr>
    </p:bg>
    <p:spTree>
      <p:nvGrpSpPr>
        <p:cNvPr id="1" name=""/>
        <p:cNvGrpSpPr/>
        <p:nvPr/>
      </p:nvGrpSpPr>
      <p:grpSpPr>
        <a:xfrm>
          <a:off x="0" y="0"/>
          <a:ext cx="0" cy="0"/>
          <a:chOff x="0" y="0"/>
          <a:chExt cx="0" cy="0"/>
        </a:xfrm>
      </p:grpSpPr>
      <p:sp>
        <p:nvSpPr>
          <p:cNvPr id="2" name="Text 0"/>
          <p:cNvSpPr txBox="1"/>
          <p:nvPr/>
        </p:nvSpPr>
        <p:spPr>
          <a:xfrm>
            <a:off x="548640" y="2651760"/>
            <a:ext cx="11064240" cy="1005840"/>
          </a:xfrm>
          <a:prstGeom prst="rect">
            <a:avLst/>
          </a:prstGeom>
          <a:noFill/>
          <a:ln/>
        </p:spPr>
        <p:txBody>
          <a:bodyPr wrap="square" lIns="0" tIns="0" rIns="0" bIns="0" rtlCol="0" anchor="ctr"/>
          <a:lstStyle/>
          <a:p>
            <a:pPr algn="ctr" indent="0" marL="0">
              <a:buNone/>
            </a:pPr>
            <a:r>
              <a:rPr lang="en-US" sz="4200" b="1" dirty="0">
                <a:solidFill>
                  <a:srgbClr val="F5F5F0"/>
                </a:solidFill>
                <a:latin typeface="Cambria" pitchFamily="34" charset="0"/>
                <a:ea typeface="Cambria" pitchFamily="34" charset="-122"/>
                <a:cs typeface="Cambria" pitchFamily="34" charset="-120"/>
              </a:rPr>
              <a:t>Q&amp;A POCKET</a:t>
            </a:r>
            <a:endParaRPr lang="en-US" sz="4200" dirty="0"/>
          </a:p>
        </p:txBody>
      </p:sp>
      <p:sp>
        <p:nvSpPr>
          <p:cNvPr id="3" name="Text 1"/>
          <p:cNvSpPr txBox="1"/>
          <p:nvPr/>
        </p:nvSpPr>
        <p:spPr>
          <a:xfrm>
            <a:off x="548640" y="3703320"/>
            <a:ext cx="11064240" cy="594360"/>
          </a:xfrm>
          <a:prstGeom prst="rect">
            <a:avLst/>
          </a:prstGeom>
          <a:noFill/>
          <a:ln/>
        </p:spPr>
        <p:txBody>
          <a:bodyPr wrap="square" lIns="0" tIns="0" rIns="0" bIns="0" rtlCol="0" anchor="ctr"/>
          <a:lstStyle/>
          <a:p>
            <a:pPr algn="ctr" indent="0" marL="0">
              <a:buNone/>
            </a:pPr>
            <a:r>
              <a:rPr lang="en-US" sz="1900" i="1" dirty="0">
                <a:solidFill>
                  <a:srgbClr val="8C6A3F"/>
                </a:solidFill>
                <a:latin typeface="Calibri" pitchFamily="34" charset="0"/>
                <a:ea typeface="Calibri" pitchFamily="34" charset="-122"/>
                <a:cs typeface="Calibri" pitchFamily="34" charset="-120"/>
              </a:rPr>
              <a:t>One quick question before we leave Section 4 — Sprint Planning in Its Natural Habitat</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Azure DevOps to GitHub Enterprise: The Great Migration</dc:title>
  <dc:subject>PptxGenJS Presentation</dc:subject>
  <dc:creator>Kevin Neumann</dc:creator>
  <cp:lastModifiedBy>Kevin Neumann</cp:lastModifiedBy>
  <cp:revision>1</cp:revision>
  <dcterms:created xsi:type="dcterms:W3CDTF">2026-09-21T18:55:39Z</dcterms:created>
  <dcterms:modified xsi:type="dcterms:W3CDTF">2026-09-21T18:55:39Z</dcterms:modified>
</cp:coreProperties>
</file>