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 no 'hi, I'm Kevin' throat-clearing. Let the title sit for a beat, then deliver the tagline in the documentary voice (calm, declarative, faintly awed — never winking). That's the only line spoken in that register on this slide; the rest of the intro is normal conference delivery. This sets up the conceit for the whole talk: six section-opener cards plus a closer, all in this voice, everything else played straight.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sponsor-thanks slide — event organizer will tell you if this is required and what logos go here. Placeholder only; swap in real sponsor logos once the summit sends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Walk the six-leg structure quickly — roughly 13–16 min each, ~80 min of content plus small Q&amp;A pockets between sections and one 10-minute Q&amp;A block at the end. Then name the two trails we're not hiking today: GitHub vs. other CI/CD platforms, and Copilot vs. other AI tools — the campsite's already picked, this talk is about the hike, not the map debate. Worth a quick aside that most of this trail generalizes to migrating to other CI/CD platforms too, not just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Do not wink at the joke. This is the first of six opener cards plus a closer — it establishes the conceit. Pause after delivering the line before moving to slide 4, where we go straight back to normal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Name the real reason teams migrate before the polite reasons: AI investment is concentrated on GitHub — Chat, Coding Agent, Autofix, Agentic Code Review, Agent HQ all shipped there first. Be fair to Microsoft here: Azure DevOps is getting AI features too, just on a slower cadence and a thinner feature set today — don't overstate the gap as 'Azure DevOps has none.' The point isn't that Azure DevOps has nothing, it's that the frontier is on GitHub right now. Sets up the Copilot capability list next and the AI-approach payoff in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Correction from an earlier draft, worth saying out loud if anyone in the room already knows the space: this is NOT a clean 'GitHub-exclusive' list — do the comparison honestly. Copilot Chat is reachable against Azure DevOps context today via the Azure DevOps MCP Server (public preview) — it sits between Copilot and your ADO org and injects work items, PRs, test plans, wiki, builds/releases into the prompt. Autofix and Agentic Code Review have BOTH reached Azure Repos via GitHub Advanced Security for Azure DevOps, in preview, same CodeQL language coverage as GitHub. What genuinely hasn't crossed over: Coding Agent still only opens PRs in GitHub repos — even when triggered from an Azure Boards work item, the code lands on GitHub, not Azure Repos — and Agent HQ's multi-agent orchestration hub has no Azure DevOps equivalent. QR points to the Azure DevOps MCP Server repo, since that's the piece most people in an Azure DevOps shop haven't heard of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but let the self-aware beat land — this is the 'plot twist' slide. When this talk was proposed, MCP barely existed outside Anthropic's initial Nov 2024 announcement. In the time since: OpenAI and Google DeepMind adopted it (Mar/Apr 2025), GitHub shipped its own MCP server, Azure DevOps got one too (Jun 2025, the one from the previous slide), an official registry went into preview (Sep 2025), and Anthropic donated the whole protocol to a Linux Foundation fund in Dec 2025. The point: MCP is a universal connector standard, so the interesting question stops being 'which platform hosts my code' and becomes 'which systems can my agent already reach' — cross-tool agentic workflows, not just GitHub-vs-Azure-DevOps. Be honest that this reshapes some of tonight's framing, including the correction on the previous slide — that's not a flaw in the talk, it's the most current example of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not 'Azure DevOps is dying' — it has an active Microsoft roadmap through 2026 and beyond. It's a split in purpose: Microsoft's own framing is GitHub for AI-native development, Azure DevOps for enterprise orchestration (Boards, Test Plans, release governance). Land this evenly — sets up the hybrid-pattern slide next, which is the resolution, not a concession.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land this one deliberately — it's the thesis the whole talk hangs on. Three audiences, one pattern: developers move to GitHub and get Copilot + Actions; managers keep Azure Boards, capacity charts, and Power BI exactly as-is; and the budget conversation is easy because GHEC includes free Azure DevOps Basic access. Explicitly reframe: this is the shape the rest of the talk builds toward, not a fallback — section 4 comes back to this exact point on Boards vs.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quick — these are the reasons that would justify the migration even if AI weren't in the picture at all. Ecosystem scale (100M+ developers), a much larger community Actions marketplace versus Azure Pipelines' task catalogue, and open-source/external contributors already defaulting to GitHub. Then two more concrete ones: GitHub Actions' own flexibility — reusable workflows, matrix builds, self-hosted runners, a huge marketplace of pre-built steps — and the ability to run a specific workflow definition locally (tools like `act`) to troubleshoot a failing job without waiting in a hosted-runner queue. Keep this brief — it's supporting evidence, not the main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on. The real Q&amp;A time is banked for the 10-minute block at the very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D2C"/>
          </a:solidFill>
          <a:ln/>
        </p:spPr>
      </p:sp>
      <p:sp>
        <p:nvSpPr>
          <p:cNvPr id="3" name="Shape 1"/>
          <p:cNvSpPr/>
          <p:nvPr/>
        </p:nvSpPr>
        <p:spPr>
          <a:xfrm>
            <a:off x="0" y="5120640"/>
            <a:ext cx="12191695" cy="1737360"/>
          </a:xfrm>
          <a:prstGeom prst="rect">
            <a:avLst/>
          </a:prstGeom>
          <a:solidFill>
            <a:srgbClr val="142A1D"/>
          </a:solidFill>
          <a:ln/>
        </p:spPr>
      </p:sp>
      <p:pic>
        <p:nvPicPr>
          <p:cNvPr id="4" name="Image 0" descr="/home/claude/pptx-build/assets/icons/FaCompass-8C6A3F-400.png">    </p:cNvPr>
          <p:cNvPicPr>
            <a:picLocks noChangeAspect="1"/>
          </p:cNvPicPr>
          <p:nvPr/>
        </p:nvPicPr>
        <p:blipFill>
          <a:blip r:embed="rId1">
            <a:alphaModFix amt="80000"/>
          </a:blip>
          <a:stretch>
            <a:fillRect/>
          </a:stretch>
        </p:blipFill>
        <p:spPr>
          <a:xfrm>
            <a:off x="9601200" y="640080"/>
            <a:ext cx="1920240" cy="1920240"/>
          </a:xfrm>
          <a:prstGeom prst="rect">
            <a:avLst/>
          </a:prstGeom>
        </p:spPr>
      </p:pic>
      <p:sp>
        <p:nvSpPr>
          <p:cNvPr id="5" name="Text 2"/>
          <p:cNvSpPr txBox="1"/>
          <p:nvPr/>
        </p:nvSpPr>
        <p:spPr>
          <a:xfrm>
            <a:off x="640080" y="1828800"/>
            <a:ext cx="10058400" cy="457200"/>
          </a:xfrm>
          <a:prstGeom prst="rect">
            <a:avLst/>
          </a:prstGeom>
          <a:noFill/>
          <a:ln/>
        </p:spPr>
        <p:txBody>
          <a:bodyPr wrap="square" lIns="0" tIns="0" rIns="0" bIns="0" rtlCol="0" anchor="ctr"/>
          <a:lstStyle/>
          <a:p>
            <a:pPr indent="0" marL="0">
              <a:buNone/>
            </a:pPr>
            <a:r>
              <a:rPr lang="en-US" sz="1800" b="1" spc="300" kern="0" dirty="0">
                <a:solidFill>
                  <a:srgbClr val="8C6A3F"/>
                </a:solidFill>
                <a:latin typeface="Calibri" pitchFamily="34" charset="0"/>
                <a:ea typeface="Calibri" pitchFamily="34" charset="-122"/>
                <a:cs typeface="Calibri" pitchFamily="34" charset="-120"/>
              </a:rPr>
              <a:t>AZURE DEVOPS → GITHUB ENTERPRISE</a:t>
            </a:r>
            <a:endParaRPr lang="en-US" sz="1800" dirty="0"/>
          </a:p>
        </p:txBody>
      </p:sp>
      <p:sp>
        <p:nvSpPr>
          <p:cNvPr id="6" name="Text 3"/>
          <p:cNvSpPr txBox="1"/>
          <p:nvPr/>
        </p:nvSpPr>
        <p:spPr>
          <a:xfrm>
            <a:off x="640080" y="2286000"/>
            <a:ext cx="10515600" cy="1463040"/>
          </a:xfrm>
          <a:prstGeom prst="rect">
            <a:avLst/>
          </a:prstGeom>
          <a:noFill/>
          <a:ln/>
        </p:spPr>
        <p:txBody>
          <a:bodyPr wrap="square" lIns="0" tIns="0" rIns="0" bIns="0" rtlCol="0" anchor="ctr"/>
          <a:lstStyle/>
          <a:p>
            <a:pPr indent="0" marL="0">
              <a:buNone/>
            </a:pPr>
            <a:r>
              <a:rPr lang="en-US" sz="5600" b="1" dirty="0">
                <a:solidFill>
                  <a:srgbClr val="F5F5F0"/>
                </a:solidFill>
                <a:latin typeface="Cambria" pitchFamily="34" charset="0"/>
                <a:ea typeface="Cambria" pitchFamily="34" charset="-122"/>
                <a:cs typeface="Cambria" pitchFamily="34" charset="-120"/>
              </a:rPr>
              <a:t>The Great Migration</a:t>
            </a:r>
            <a:endParaRPr lang="en-US" sz="5600" dirty="0"/>
          </a:p>
        </p:txBody>
      </p:sp>
      <p:sp>
        <p:nvSpPr>
          <p:cNvPr id="7" name="Text 4"/>
          <p:cNvSpPr txBox="1"/>
          <p:nvPr/>
        </p:nvSpPr>
        <p:spPr>
          <a:xfrm>
            <a:off x="640080" y="5349240"/>
            <a:ext cx="10058400" cy="822960"/>
          </a:xfrm>
          <a:prstGeom prst="rect">
            <a:avLst/>
          </a:prstGeom>
          <a:noFill/>
          <a:ln/>
        </p:spPr>
        <p:txBody>
          <a:bodyPr wrap="square" lIns="0" tIns="0" rIns="0" bIns="0" rtlCol="0" anchor="ctr"/>
          <a:lstStyle/>
          <a:p>
            <a:pPr indent="0" marL="0">
              <a:buNone/>
            </a:pPr>
            <a:r>
              <a:rPr lang="en-US" sz="2400" i="1" dirty="0">
                <a:solidFill>
                  <a:srgbClr val="8C6A3F"/>
                </a:solidFill>
                <a:latin typeface="Cambria" pitchFamily="34" charset="0"/>
                <a:ea typeface="Cambria" pitchFamily="34" charset="-122"/>
                <a:cs typeface="Cambria" pitchFamily="34" charset="-120"/>
              </a:rPr>
              <a:t>“Observe the DevOps Engineer in their natural habitat.”</a:t>
            </a:r>
            <a:endParaRPr lang="en-US" sz="2400" dirty="0"/>
          </a:p>
        </p:txBody>
      </p:sp>
      <p:sp>
        <p:nvSpPr>
          <p:cNvPr id="8" name="Text 5"/>
          <p:cNvSpPr txBox="1"/>
          <p:nvPr/>
        </p:nvSpPr>
        <p:spPr>
          <a:xfrm>
            <a:off x="640080" y="6172200"/>
            <a:ext cx="10058400" cy="365760"/>
          </a:xfrm>
          <a:prstGeom prst="rect">
            <a:avLst/>
          </a:prstGeom>
          <a:noFill/>
          <a:ln/>
        </p:spPr>
        <p:txBody>
          <a:bodyPr wrap="square" lIns="0" tIns="0" rIns="0" bIns="0" rtlCol="0" anchor="ctr"/>
          <a:lstStyle/>
          <a:p>
            <a:pPr indent="0" marL="0">
              <a:buNone/>
            </a:pPr>
            <a:r>
              <a:rPr lang="en-US" sz="1500" dirty="0">
                <a:solidFill>
                  <a:srgbClr val="F5F5F0"/>
                </a:solidFill>
                <a:latin typeface="Calibri" pitchFamily="34" charset="0"/>
                <a:ea typeface="Calibri" pitchFamily="34" charset="-122"/>
                <a:cs typeface="Calibri" pitchFamily="34" charset="-120"/>
              </a:rPr>
              <a:t>Kevin Neumann  •  Cloud &amp; AI Summit  •  30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515600" cy="68580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Thank You to Our Sponsors</a:t>
            </a:r>
            <a:endParaRPr lang="en-US" sz="3200" dirty="0"/>
          </a:p>
        </p:txBody>
      </p:sp>
      <p:sp>
        <p:nvSpPr>
          <p:cNvPr id="3" name="Shape 1"/>
          <p:cNvSpPr/>
          <p:nvPr/>
        </p:nvSpPr>
        <p:spPr>
          <a:xfrm>
            <a:off x="548640" y="1645920"/>
            <a:ext cx="11064240" cy="3931920"/>
          </a:xfrm>
          <a:prstGeom prst="roundRect">
            <a:avLst>
              <a:gd name="adj" fmla="val 2791"/>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914400" y="3200400"/>
            <a:ext cx="10332720" cy="640080"/>
          </a:xfrm>
          <a:prstGeom prst="rect">
            <a:avLst/>
          </a:prstGeom>
          <a:noFill/>
          <a:ln/>
        </p:spPr>
        <p:txBody>
          <a:bodyPr wrap="square" lIns="0" tIns="0" rIns="0" bIns="0" rtlCol="0" anchor="ctr"/>
          <a:lstStyle/>
          <a:p>
            <a:pPr algn="ctr" indent="0" marL="0">
              <a:buNone/>
            </a:pPr>
            <a:r>
              <a:rPr lang="en-US" sz="2000" i="1" dirty="0">
                <a:solidFill>
                  <a:srgbClr val="6B6B63"/>
                </a:solidFill>
                <a:latin typeface="Calibri" pitchFamily="34" charset="0"/>
                <a:ea typeface="Calibri" pitchFamily="34" charset="-122"/>
                <a:cs typeface="Calibri" pitchFamily="34" charset="-120"/>
              </a:rPr>
              <a:t>[PLACEHOLDER — drop in actual sponsor logos before the talk]</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Map-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AGENDA</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Six Legs of the Expedition</a:t>
            </a:r>
            <a:endParaRPr lang="en-US" sz="3200" dirty="0"/>
          </a:p>
        </p:txBody>
      </p:sp>
      <p:sp>
        <p:nvSpPr>
          <p:cNvPr id="6" name="Shape 3"/>
          <p:cNvSpPr/>
          <p:nvPr/>
        </p:nvSpPr>
        <p:spPr>
          <a:xfrm>
            <a:off x="548640" y="1554480"/>
            <a:ext cx="6675120" cy="4434840"/>
          </a:xfrm>
          <a:prstGeom prst="roundRect">
            <a:avLst>
              <a:gd name="adj" fmla="val 2474"/>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777240" y="1783080"/>
            <a:ext cx="502920" cy="566928"/>
          </a:xfrm>
          <a:prstGeom prst="rect">
            <a:avLst/>
          </a:prstGeom>
          <a:noFill/>
          <a:ln/>
        </p:spPr>
        <p:txBody>
          <a:bodyPr wrap="square" lIns="0" tIns="0" rIns="0" bIns="0" rtlCol="0" anchor="ctr"/>
          <a:lstStyle/>
          <a:p>
            <a:pPr indent="0" marL="0">
              <a:buNone/>
            </a:pPr>
            <a:r>
              <a:rPr lang="en-US" sz="2400" b="1" dirty="0">
                <a:solidFill>
                  <a:srgbClr val="C1440E"/>
                </a:solidFill>
                <a:latin typeface="Cambria" pitchFamily="34" charset="0"/>
                <a:ea typeface="Cambria" pitchFamily="34" charset="-122"/>
                <a:cs typeface="Cambria" pitchFamily="34" charset="-120"/>
              </a:rPr>
              <a:t>1</a:t>
            </a:r>
            <a:endParaRPr lang="en-US" sz="2400" dirty="0"/>
          </a:p>
        </p:txBody>
      </p:sp>
      <p:sp>
        <p:nvSpPr>
          <p:cNvPr id="8" name="Text 5"/>
          <p:cNvSpPr txBox="1"/>
          <p:nvPr/>
        </p:nvSpPr>
        <p:spPr>
          <a:xfrm>
            <a:off x="1371600" y="1783080"/>
            <a:ext cx="5669280" cy="594360"/>
          </a:xfrm>
          <a:prstGeom prst="rect">
            <a:avLst/>
          </a:prstGeom>
          <a:noFill/>
          <a:ln/>
        </p:spPr>
        <p:txBody>
          <a:bodyPr wrap="square" lIns="0" tIns="0" rIns="0" bIns="0" rtlCol="0" anchor="ctr"/>
          <a:lstStyle/>
          <a:p>
            <a:pPr indent="0" marL="0">
              <a:buNone/>
            </a:pPr>
            <a:r>
              <a:rPr lang="en-US" sz="1700" dirty="0">
                <a:solidFill>
                  <a:srgbClr val="2B2B2B"/>
                </a:solidFill>
                <a:latin typeface="Calibri" pitchFamily="34" charset="0"/>
                <a:ea typeface="Calibri" pitchFamily="34" charset="-122"/>
                <a:cs typeface="Calibri" pitchFamily="34" charset="-120"/>
              </a:rPr>
              <a:t>Why Leave the Herd — the case for migrating</a:t>
            </a:r>
            <a:endParaRPr lang="en-US" sz="1700" dirty="0"/>
          </a:p>
        </p:txBody>
      </p:sp>
      <p:sp>
        <p:nvSpPr>
          <p:cNvPr id="9" name="Text 6"/>
          <p:cNvSpPr txBox="1"/>
          <p:nvPr/>
        </p:nvSpPr>
        <p:spPr>
          <a:xfrm>
            <a:off x="777240" y="2496312"/>
            <a:ext cx="502920" cy="566928"/>
          </a:xfrm>
          <a:prstGeom prst="rect">
            <a:avLst/>
          </a:prstGeom>
          <a:noFill/>
          <a:ln/>
        </p:spPr>
        <p:txBody>
          <a:bodyPr wrap="square" lIns="0" tIns="0" rIns="0" bIns="0" rtlCol="0" anchor="ctr"/>
          <a:lstStyle/>
          <a:p>
            <a:pPr indent="0" marL="0">
              <a:buNone/>
            </a:pPr>
            <a:r>
              <a:rPr lang="en-US" sz="2400" b="1" dirty="0">
                <a:solidFill>
                  <a:srgbClr val="C1440E"/>
                </a:solidFill>
                <a:latin typeface="Cambria" pitchFamily="34" charset="0"/>
                <a:ea typeface="Cambria" pitchFamily="34" charset="-122"/>
                <a:cs typeface="Cambria" pitchFamily="34" charset="-120"/>
              </a:rPr>
              <a:t>2</a:t>
            </a:r>
            <a:endParaRPr lang="en-US" sz="2400" dirty="0"/>
          </a:p>
        </p:txBody>
      </p:sp>
      <p:sp>
        <p:nvSpPr>
          <p:cNvPr id="10" name="Text 7"/>
          <p:cNvSpPr txBox="1"/>
          <p:nvPr/>
        </p:nvSpPr>
        <p:spPr>
          <a:xfrm>
            <a:off x="1371600" y="2496312"/>
            <a:ext cx="5669280" cy="594360"/>
          </a:xfrm>
          <a:prstGeom prst="rect">
            <a:avLst/>
          </a:prstGeom>
          <a:noFill/>
          <a:ln/>
        </p:spPr>
        <p:txBody>
          <a:bodyPr wrap="square" lIns="0" tIns="0" rIns="0" bIns="0" rtlCol="0" anchor="ctr"/>
          <a:lstStyle/>
          <a:p>
            <a:pPr indent="0" marL="0">
              <a:buNone/>
            </a:pPr>
            <a:r>
              <a:rPr lang="en-US" sz="1700" dirty="0">
                <a:solidFill>
                  <a:srgbClr val="2B2B2B"/>
                </a:solidFill>
                <a:latin typeface="Calibri" pitchFamily="34" charset="0"/>
                <a:ea typeface="Calibri" pitchFamily="34" charset="-122"/>
                <a:cs typeface="Calibri" pitchFamily="34" charset="-120"/>
              </a:rPr>
              <a:t>A Field Guide to the Local Species — what travels clean</a:t>
            </a:r>
            <a:endParaRPr lang="en-US" sz="1700" dirty="0"/>
          </a:p>
        </p:txBody>
      </p:sp>
      <p:sp>
        <p:nvSpPr>
          <p:cNvPr id="11" name="Text 8"/>
          <p:cNvSpPr txBox="1"/>
          <p:nvPr/>
        </p:nvSpPr>
        <p:spPr>
          <a:xfrm>
            <a:off x="777240" y="3209544"/>
            <a:ext cx="502920" cy="566928"/>
          </a:xfrm>
          <a:prstGeom prst="rect">
            <a:avLst/>
          </a:prstGeom>
          <a:noFill/>
          <a:ln/>
        </p:spPr>
        <p:txBody>
          <a:bodyPr wrap="square" lIns="0" tIns="0" rIns="0" bIns="0" rtlCol="0" anchor="ctr"/>
          <a:lstStyle/>
          <a:p>
            <a:pPr indent="0" marL="0">
              <a:buNone/>
            </a:pPr>
            <a:r>
              <a:rPr lang="en-US" sz="2400" b="1" dirty="0">
                <a:solidFill>
                  <a:srgbClr val="C1440E"/>
                </a:solidFill>
                <a:latin typeface="Cambria" pitchFamily="34" charset="0"/>
                <a:ea typeface="Cambria" pitchFamily="34" charset="-122"/>
                <a:cs typeface="Cambria" pitchFamily="34" charset="-120"/>
              </a:rPr>
              <a:t>3</a:t>
            </a:r>
            <a:endParaRPr lang="en-US" sz="2400" dirty="0"/>
          </a:p>
        </p:txBody>
      </p:sp>
      <p:sp>
        <p:nvSpPr>
          <p:cNvPr id="12" name="Text 9"/>
          <p:cNvSpPr txBox="1"/>
          <p:nvPr/>
        </p:nvSpPr>
        <p:spPr>
          <a:xfrm>
            <a:off x="1371600" y="3209544"/>
            <a:ext cx="5669280" cy="594360"/>
          </a:xfrm>
          <a:prstGeom prst="rect">
            <a:avLst/>
          </a:prstGeom>
          <a:noFill/>
          <a:ln/>
        </p:spPr>
        <p:txBody>
          <a:bodyPr wrap="square" lIns="0" tIns="0" rIns="0" bIns="0" rtlCol="0" anchor="ctr"/>
          <a:lstStyle/>
          <a:p>
            <a:pPr indent="0" marL="0">
              <a:buNone/>
            </a:pPr>
            <a:r>
              <a:rPr lang="en-US" sz="1700" dirty="0">
                <a:solidFill>
                  <a:srgbClr val="2B2B2B"/>
                </a:solidFill>
                <a:latin typeface="Calibri" pitchFamily="34" charset="0"/>
                <a:ea typeface="Calibri" pitchFamily="34" charset="-122"/>
                <a:cs typeface="Calibri" pitchFamily="34" charset="-120"/>
              </a:rPr>
              <a:t>Crossing the River — rebuilding pipelines three ways</a:t>
            </a:r>
            <a:endParaRPr lang="en-US" sz="1700" dirty="0"/>
          </a:p>
        </p:txBody>
      </p:sp>
      <p:sp>
        <p:nvSpPr>
          <p:cNvPr id="13" name="Text 10"/>
          <p:cNvSpPr txBox="1"/>
          <p:nvPr/>
        </p:nvSpPr>
        <p:spPr>
          <a:xfrm>
            <a:off x="777240" y="3922776"/>
            <a:ext cx="502920" cy="566928"/>
          </a:xfrm>
          <a:prstGeom prst="rect">
            <a:avLst/>
          </a:prstGeom>
          <a:noFill/>
          <a:ln/>
        </p:spPr>
        <p:txBody>
          <a:bodyPr wrap="square" lIns="0" tIns="0" rIns="0" bIns="0" rtlCol="0" anchor="ctr"/>
          <a:lstStyle/>
          <a:p>
            <a:pPr indent="0" marL="0">
              <a:buNone/>
            </a:pPr>
            <a:r>
              <a:rPr lang="en-US" sz="2400" b="1" dirty="0">
                <a:solidFill>
                  <a:srgbClr val="C1440E"/>
                </a:solidFill>
                <a:latin typeface="Cambria" pitchFamily="34" charset="0"/>
                <a:ea typeface="Cambria" pitchFamily="34" charset="-122"/>
                <a:cs typeface="Cambria" pitchFamily="34" charset="-120"/>
              </a:rPr>
              <a:t>4</a:t>
            </a:r>
            <a:endParaRPr lang="en-US" sz="2400" dirty="0"/>
          </a:p>
        </p:txBody>
      </p:sp>
      <p:sp>
        <p:nvSpPr>
          <p:cNvPr id="14" name="Text 11"/>
          <p:cNvSpPr txBox="1"/>
          <p:nvPr/>
        </p:nvSpPr>
        <p:spPr>
          <a:xfrm>
            <a:off x="1371600" y="3922776"/>
            <a:ext cx="5669280" cy="594360"/>
          </a:xfrm>
          <a:prstGeom prst="rect">
            <a:avLst/>
          </a:prstGeom>
          <a:noFill/>
          <a:ln/>
        </p:spPr>
        <p:txBody>
          <a:bodyPr wrap="square" lIns="0" tIns="0" rIns="0" bIns="0" rtlCol="0" anchor="ctr"/>
          <a:lstStyle/>
          <a:p>
            <a:pPr indent="0" marL="0">
              <a:buNone/>
            </a:pPr>
            <a:r>
              <a:rPr lang="en-US" sz="1700" dirty="0">
                <a:solidFill>
                  <a:srgbClr val="2B2B2B"/>
                </a:solidFill>
                <a:latin typeface="Calibri" pitchFamily="34" charset="0"/>
                <a:ea typeface="Calibri" pitchFamily="34" charset="-122"/>
                <a:cs typeface="Calibri" pitchFamily="34" charset="-120"/>
              </a:rPr>
              <a:t>Sprint Planning in Its Natural Habitat — Boards vs. Projects</a:t>
            </a:r>
            <a:endParaRPr lang="en-US" sz="1700" dirty="0"/>
          </a:p>
        </p:txBody>
      </p:sp>
      <p:sp>
        <p:nvSpPr>
          <p:cNvPr id="15" name="Text 12"/>
          <p:cNvSpPr txBox="1"/>
          <p:nvPr/>
        </p:nvSpPr>
        <p:spPr>
          <a:xfrm>
            <a:off x="777240" y="4636008"/>
            <a:ext cx="502920" cy="566928"/>
          </a:xfrm>
          <a:prstGeom prst="rect">
            <a:avLst/>
          </a:prstGeom>
          <a:noFill/>
          <a:ln/>
        </p:spPr>
        <p:txBody>
          <a:bodyPr wrap="square" lIns="0" tIns="0" rIns="0" bIns="0" rtlCol="0" anchor="ctr"/>
          <a:lstStyle/>
          <a:p>
            <a:pPr indent="0" marL="0">
              <a:buNone/>
            </a:pPr>
            <a:r>
              <a:rPr lang="en-US" sz="2400" b="1" dirty="0">
                <a:solidFill>
                  <a:srgbClr val="C1440E"/>
                </a:solidFill>
                <a:latin typeface="Cambria" pitchFamily="34" charset="0"/>
                <a:ea typeface="Cambria" pitchFamily="34" charset="-122"/>
                <a:cs typeface="Cambria" pitchFamily="34" charset="-120"/>
              </a:rPr>
              <a:t>5</a:t>
            </a:r>
            <a:endParaRPr lang="en-US" sz="2400" dirty="0"/>
          </a:p>
        </p:txBody>
      </p:sp>
      <p:sp>
        <p:nvSpPr>
          <p:cNvPr id="16" name="Text 13"/>
          <p:cNvSpPr txBox="1"/>
          <p:nvPr/>
        </p:nvSpPr>
        <p:spPr>
          <a:xfrm>
            <a:off x="1371600" y="4636008"/>
            <a:ext cx="5669280" cy="594360"/>
          </a:xfrm>
          <a:prstGeom prst="rect">
            <a:avLst/>
          </a:prstGeom>
          <a:noFill/>
          <a:ln/>
        </p:spPr>
        <p:txBody>
          <a:bodyPr wrap="square" lIns="0" tIns="0" rIns="0" bIns="0" rtlCol="0" anchor="ctr"/>
          <a:lstStyle/>
          <a:p>
            <a:pPr indent="0" marL="0">
              <a:buNone/>
            </a:pPr>
            <a:r>
              <a:rPr lang="en-US" sz="1700" dirty="0">
                <a:solidFill>
                  <a:srgbClr val="2B2B2B"/>
                </a:solidFill>
                <a:latin typeface="Calibri" pitchFamily="34" charset="0"/>
                <a:ea typeface="Calibri" pitchFamily="34" charset="-122"/>
                <a:cs typeface="Calibri" pitchFamily="34" charset="-120"/>
              </a:rPr>
              <a:t>Preventing the Uprising — change management</a:t>
            </a:r>
            <a:endParaRPr lang="en-US" sz="1700" dirty="0"/>
          </a:p>
        </p:txBody>
      </p:sp>
      <p:sp>
        <p:nvSpPr>
          <p:cNvPr id="17" name="Text 14"/>
          <p:cNvSpPr txBox="1"/>
          <p:nvPr/>
        </p:nvSpPr>
        <p:spPr>
          <a:xfrm>
            <a:off x="777240" y="5349240"/>
            <a:ext cx="502920" cy="566928"/>
          </a:xfrm>
          <a:prstGeom prst="rect">
            <a:avLst/>
          </a:prstGeom>
          <a:noFill/>
          <a:ln/>
        </p:spPr>
        <p:txBody>
          <a:bodyPr wrap="square" lIns="0" tIns="0" rIns="0" bIns="0" rtlCol="0" anchor="ctr"/>
          <a:lstStyle/>
          <a:p>
            <a:pPr indent="0" marL="0">
              <a:buNone/>
            </a:pPr>
            <a:r>
              <a:rPr lang="en-US" sz="2400" b="1" dirty="0">
                <a:solidFill>
                  <a:srgbClr val="C1440E"/>
                </a:solidFill>
                <a:latin typeface="Cambria" pitchFamily="34" charset="0"/>
                <a:ea typeface="Cambria" pitchFamily="34" charset="-122"/>
                <a:cs typeface="Cambria" pitchFamily="34" charset="-120"/>
              </a:rPr>
              <a:t>6</a:t>
            </a:r>
            <a:endParaRPr lang="en-US" sz="2400" dirty="0"/>
          </a:p>
        </p:txBody>
      </p:sp>
      <p:sp>
        <p:nvSpPr>
          <p:cNvPr id="18" name="Text 15"/>
          <p:cNvSpPr txBox="1"/>
          <p:nvPr/>
        </p:nvSpPr>
        <p:spPr>
          <a:xfrm>
            <a:off x="1371600" y="5349240"/>
            <a:ext cx="5669280" cy="594360"/>
          </a:xfrm>
          <a:prstGeom prst="rect">
            <a:avLst/>
          </a:prstGeom>
          <a:noFill/>
          <a:ln/>
        </p:spPr>
        <p:txBody>
          <a:bodyPr wrap="square" lIns="0" tIns="0" rIns="0" bIns="0" rtlCol="0" anchor="ctr"/>
          <a:lstStyle/>
          <a:p>
            <a:pPr indent="0" marL="0">
              <a:buNone/>
            </a:pPr>
            <a:r>
              <a:rPr lang="en-US" sz="1700" dirty="0">
                <a:solidFill>
                  <a:srgbClr val="2B2B2B"/>
                </a:solidFill>
                <a:latin typeface="Calibri" pitchFamily="34" charset="0"/>
                <a:ea typeface="Calibri" pitchFamily="34" charset="-122"/>
                <a:cs typeface="Calibri" pitchFamily="34" charset="-120"/>
              </a:rPr>
              <a:t>The Watering Hole Nobody Told to Move — the long tail</a:t>
            </a:r>
            <a:endParaRPr lang="en-US" sz="1700" dirty="0"/>
          </a:p>
        </p:txBody>
      </p:sp>
      <p:sp>
        <p:nvSpPr>
          <p:cNvPr id="19" name="Shape 16"/>
          <p:cNvSpPr/>
          <p:nvPr/>
        </p:nvSpPr>
        <p:spPr>
          <a:xfrm>
            <a:off x="7452360" y="1554480"/>
            <a:ext cx="4160520" cy="4434840"/>
          </a:xfrm>
          <a:prstGeom prst="roundRect">
            <a:avLst>
              <a:gd name="adj" fmla="val 2637"/>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20" name="Text 17"/>
          <p:cNvSpPr txBox="1"/>
          <p:nvPr/>
        </p:nvSpPr>
        <p:spPr>
          <a:xfrm>
            <a:off x="7726680" y="1737360"/>
            <a:ext cx="3657600" cy="502920"/>
          </a:xfrm>
          <a:prstGeom prst="rect">
            <a:avLst/>
          </a:prstGeom>
          <a:noFill/>
          <a:ln/>
        </p:spPr>
        <p:txBody>
          <a:bodyPr wrap="square" lIns="0" tIns="0" rIns="0" bIns="0" rtlCol="0" anchor="ctr"/>
          <a:lstStyle/>
          <a:p>
            <a:pPr indent="0" marL="0">
              <a:buNone/>
            </a:pPr>
            <a:r>
              <a:rPr lang="en-US" sz="1900" b="1" dirty="0">
                <a:solidFill>
                  <a:srgbClr val="F5F5F0"/>
                </a:solidFill>
                <a:latin typeface="Cambria" pitchFamily="34" charset="0"/>
                <a:ea typeface="Cambria" pitchFamily="34" charset="-122"/>
                <a:cs typeface="Cambria" pitchFamily="34" charset="-120"/>
              </a:rPr>
              <a:t>Trails We’re Not Hiking</a:t>
            </a:r>
            <a:endParaRPr lang="en-US" sz="1900" dirty="0"/>
          </a:p>
        </p:txBody>
      </p:sp>
      <p:sp>
        <p:nvSpPr>
          <p:cNvPr id="21" name="Text 18"/>
          <p:cNvSpPr txBox="1"/>
          <p:nvPr/>
        </p:nvSpPr>
        <p:spPr>
          <a:xfrm>
            <a:off x="7726680" y="2331720"/>
            <a:ext cx="3657600" cy="3520440"/>
          </a:xfrm>
          <a:prstGeom prst="rect">
            <a:avLst/>
          </a:prstGeom>
          <a:noFill/>
          <a:ln/>
        </p:spPr>
        <p:txBody>
          <a:bodyPr wrap="square" lIns="0" tIns="0" rIns="0" bIns="0" rtlCol="0" anchor="ctr"/>
          <a:lstStyle/>
          <a:p>
            <a:pPr marL="342900" indent="-342900">
              <a:lnSpc>
                <a:spcPct val="115000"/>
              </a:lnSpc>
              <a:buSzPct val="100000"/>
              <a:buChar char="•"/>
            </a:pPr>
            <a:r>
              <a:rPr lang="en-US" sz="1500" b="1" dirty="0">
                <a:solidFill>
                  <a:srgbClr val="F5F5F0"/>
                </a:solidFill>
                <a:latin typeface="Calibri" pitchFamily="34" charset="0"/>
                <a:ea typeface="Calibri" pitchFamily="34" charset="-122"/>
                <a:cs typeface="Calibri" pitchFamily="34" charset="-120"/>
              </a:rPr>
              <a:t>GitHub vs. other CI/CD platforms</a:t>
            </a:r>
            <a:endParaRPr lang="en-US" sz="1500" dirty="0"/>
          </a:p>
          <a:p>
            <a:pPr indent="0" marL="0">
              <a:lnSpc>
                <a:spcPct val="115000"/>
              </a:lnSpc>
              <a:spcAft>
                <a:spcPts val="1400"/>
              </a:spcAft>
              <a:buNone/>
            </a:pPr>
            <a:r>
              <a:rPr lang="en-US" sz="1500" dirty="0">
                <a:solidFill>
                  <a:srgbClr val="F5F5F0"/>
                </a:solidFill>
                <a:latin typeface="Calibri" pitchFamily="34" charset="0"/>
                <a:ea typeface="Calibri" pitchFamily="34" charset="-122"/>
                <a:cs typeface="Calibri" pitchFamily="34" charset="-120"/>
              </a:rPr>
              <a:t>The campsite’s already picked. We’re not relitigating the map.</a:t>
            </a:r>
            <a:endParaRPr lang="en-US" sz="1500" dirty="0"/>
          </a:p>
          <a:p>
            <a:pPr marL="342900" indent="-342900">
              <a:lnSpc>
                <a:spcPct val="115000"/>
              </a:lnSpc>
              <a:buSzPct val="100000"/>
              <a:buChar char="•"/>
            </a:pPr>
            <a:r>
              <a:rPr lang="en-US" sz="1500" b="1" dirty="0">
                <a:solidFill>
                  <a:srgbClr val="F5F5F0"/>
                </a:solidFill>
                <a:latin typeface="Calibri" pitchFamily="34" charset="0"/>
                <a:ea typeface="Calibri" pitchFamily="34" charset="-122"/>
                <a:cs typeface="Calibri" pitchFamily="34" charset="-120"/>
              </a:rPr>
              <a:t>Copilot vs. other AI tools</a:t>
            </a:r>
            <a:endParaRPr lang="en-US" sz="1500" dirty="0"/>
          </a:p>
          <a:p>
            <a:pPr indent="0" marL="0">
              <a:lnSpc>
                <a:spcPct val="115000"/>
              </a:lnSpc>
              <a:spcAft>
                <a:spcPts val="1400"/>
              </a:spcAft>
              <a:buNone/>
            </a:pPr>
            <a:r>
              <a:rPr lang="en-US" sz="1500" dirty="0">
                <a:solidFill>
                  <a:srgbClr val="F5F5F0"/>
                </a:solidFill>
                <a:latin typeface="Calibri" pitchFamily="34" charset="0"/>
                <a:ea typeface="Calibri" pitchFamily="34" charset="-122"/>
                <a:cs typeface="Calibri" pitchFamily="34" charset="-120"/>
              </a:rPr>
              <a:t>Same trailhead debate, different gear. Not today’s hike.</a:t>
            </a:r>
            <a:endParaRPr lang="en-US" sz="1500" dirty="0"/>
          </a:p>
          <a:p>
            <a:pPr indent="0" marL="0">
              <a:lnSpc>
                <a:spcPct val="115000"/>
              </a:lnSpc>
              <a:buNone/>
            </a:pPr>
            <a:r>
              <a:rPr lang="en-US" sz="1500" i="1" dirty="0">
                <a:solidFill>
                  <a:srgbClr val="F5F5F0"/>
                </a:solidFill>
                <a:latin typeface="Calibri" pitchFamily="34" charset="0"/>
                <a:ea typeface="Calibri" pitchFamily="34" charset="-122"/>
                <a:cs typeface="Calibri" pitchFamily="34" charset="-120"/>
              </a:rPr>
              <a:t>Good news for fellow travelers: most of this trail works no matter which CI/CD platform you’re hiking toward.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D2C"/>
        </a:solidFill>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sp>
      <p:sp>
        <p:nvSpPr>
          <p:cNvPr id="3" name="Text 1"/>
          <p:cNvSpPr txBox="1"/>
          <p:nvPr/>
        </p:nvSpPr>
        <p:spPr>
          <a:xfrm>
            <a:off x="548640" y="365760"/>
            <a:ext cx="9144000" cy="502920"/>
          </a:xfrm>
          <a:prstGeom prst="rect">
            <a:avLst/>
          </a:prstGeom>
          <a:noFill/>
          <a:ln/>
        </p:spPr>
        <p:txBody>
          <a:bodyPr wrap="square" lIns="0" tIns="0" rIns="0" bIns="0" rtlCol="0" anchor="ctr"/>
          <a:lstStyle/>
          <a:p>
            <a:pPr indent="0" marL="0">
              <a:buNone/>
            </a:pPr>
            <a:r>
              <a:rPr lang="en-US" sz="1700" b="1" spc="300" kern="0" dirty="0">
                <a:solidFill>
                  <a:srgbClr val="8C6A3F"/>
                </a:solidFill>
                <a:latin typeface="Calibri" pitchFamily="34" charset="0"/>
                <a:ea typeface="Calibri" pitchFamily="34" charset="-122"/>
                <a:cs typeface="Calibri" pitchFamily="34" charset="-120"/>
              </a:rPr>
              <a:t>SECTION 1</a:t>
            </a:r>
            <a:endParaRPr lang="en-US" sz="1700" dirty="0"/>
          </a:p>
        </p:txBody>
      </p:sp>
      <p:pic>
        <p:nvPicPr>
          <p:cNvPr id="4" name="Image 0" descr="/home/claude/pptx-build/assets/icons/FaFeatherAlt-8C6A3F-300.png">    </p:cNvPr>
          <p:cNvPicPr>
            <a:picLocks noChangeAspect="1"/>
          </p:cNvPicPr>
          <p:nvPr/>
        </p:nvPicPr>
        <p:blipFill>
          <a:blip r:embed="rId1">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indent="0" marL="0">
              <a:buNone/>
            </a:pPr>
            <a:r>
              <a:rPr lang="en-US" sz="4400" b="1" dirty="0">
                <a:solidFill>
                  <a:srgbClr val="F5F5F0"/>
                </a:solidFill>
                <a:latin typeface="Cambria" pitchFamily="34" charset="0"/>
                <a:ea typeface="Cambria" pitchFamily="34" charset="-122"/>
                <a:cs typeface="Cambria" pitchFamily="34" charset="-120"/>
              </a:rPr>
              <a:t>Migration Season Has Begun</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indent="0" marL="0">
              <a:buNone/>
            </a:pPr>
            <a:r>
              <a:rPr lang="en-US" sz="2000" i="1" dirty="0">
                <a:solidFill>
                  <a:srgbClr val="8C6A3F"/>
                </a:solidFill>
                <a:latin typeface="Calibri" pitchFamily="34" charset="0"/>
                <a:ea typeface="Calibri" pitchFamily="34" charset="-122"/>
                <a:cs typeface="Calibri" pitchFamily="34" charset="-120"/>
              </a:rPr>
              <a:t>Every year, in enterprises across the world, a familiar pattern repeats: teams gather at the edge of a comfortable ecosystem, and one by one, they begin the long journey toward the source of AI.</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sp>
      <p:sp>
        <p:nvSpPr>
          <p:cNvPr id="8" name="Text 5"/>
          <p:cNvSpPr txBox="1"/>
          <p:nvPr/>
        </p:nvSpPr>
        <p:spPr>
          <a:xfrm>
            <a:off x="548640" y="6355080"/>
            <a:ext cx="9144000" cy="365760"/>
          </a:xfrm>
          <a:prstGeom prst="rect">
            <a:avLst/>
          </a:prstGeom>
          <a:noFill/>
          <a:ln/>
        </p:spPr>
        <p:txBody>
          <a:bodyPr wrap="square" lIns="0" tIns="0" rIns="0" bIns="0" rtlCol="0" anchor="ctr"/>
          <a:lstStyle/>
          <a:p>
            <a:pPr indent="0" marL="0">
              <a:buNone/>
            </a:pPr>
            <a:r>
              <a:rPr lang="en-US" sz="1200" dirty="0">
                <a:solidFill>
                  <a:srgbClr val="6B6B63"/>
                </a:solidFill>
                <a:latin typeface="Calibri" pitchFamily="34" charset="0"/>
                <a:ea typeface="Calibri" pitchFamily="34" charset="-122"/>
                <a:cs typeface="Calibri" pitchFamily="34" charset="-120"/>
              </a:rPr>
              <a:t>DOCUMENTARY VOICE — SPOKEN LIVE, NOT READ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Robot-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The Honest Primary Driver</a:t>
            </a:r>
            <a:endParaRPr lang="en-US" sz="3200" dirty="0"/>
          </a:p>
        </p:txBody>
      </p:sp>
      <p:sp>
        <p:nvSpPr>
          <p:cNvPr id="6" name="Shape 3"/>
          <p:cNvSpPr/>
          <p:nvPr/>
        </p:nvSpPr>
        <p:spPr>
          <a:xfrm>
            <a:off x="548640" y="1645920"/>
            <a:ext cx="11064240" cy="2286000"/>
          </a:xfrm>
          <a:prstGeom prst="roundRect">
            <a:avLst>
              <a:gd name="adj" fmla="val 4800"/>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914400" y="1828800"/>
            <a:ext cx="10332720" cy="2011680"/>
          </a:xfrm>
          <a:prstGeom prst="rect">
            <a:avLst/>
          </a:prstGeom>
          <a:noFill/>
          <a:ln/>
        </p:spPr>
        <p:txBody>
          <a:bodyPr wrap="square" lIns="0" tIns="0" rIns="0" bIns="0" rtlCol="0" anchor="ctr"/>
          <a:lstStyle/>
          <a:p>
            <a:pPr indent="0" marL="0">
              <a:lnSpc>
                <a:spcPct val="125000"/>
              </a:lnSpc>
              <a:buNone/>
            </a:pPr>
            <a:r>
              <a:rPr lang="en-US" sz="2000" dirty="0">
                <a:solidFill>
                  <a:srgbClr val="2B2B2B"/>
                </a:solidFill>
                <a:latin typeface="Calibri" pitchFamily="34" charset="0"/>
                <a:ea typeface="Calibri" pitchFamily="34" charset="-122"/>
                <a:cs typeface="Calibri" pitchFamily="34" charset="-120"/>
              </a:rPr>
              <a:t>Every dollar of Copilot investment — Chat, Coding Agent, Autofix, Agentic Code Review, Agent HQ — </a:t>
            </a:r>
            <a:pPr indent="0" marL="0">
              <a:lnSpc>
                <a:spcPct val="125000"/>
              </a:lnSpc>
              <a:buNone/>
            </a:pPr>
            <a:r>
              <a:rPr lang="en-US" sz="2000" b="1" dirty="0">
                <a:solidFill>
                  <a:srgbClr val="2B2B2B"/>
                </a:solidFill>
                <a:latin typeface="Calibri" pitchFamily="34" charset="0"/>
                <a:ea typeface="Calibri" pitchFamily="34" charset="-122"/>
                <a:cs typeface="Calibri" pitchFamily="34" charset="-120"/>
              </a:rPr>
              <a:t>lands on GitHub first. </a:t>
            </a:r>
            <a:pPr indent="0" marL="0">
              <a:lnSpc>
                <a:spcPct val="125000"/>
              </a:lnSpc>
              <a:buNone/>
            </a:pPr>
            <a:r>
              <a:rPr lang="en-US" sz="2000" dirty="0">
                <a:solidFill>
                  <a:srgbClr val="2B2B2B"/>
                </a:solidFill>
                <a:latin typeface="Calibri" pitchFamily="34" charset="0"/>
                <a:ea typeface="Calibri" pitchFamily="34" charset="-122"/>
                <a:cs typeface="Calibri" pitchFamily="34" charset="-120"/>
              </a:rPr>
              <a:t>Microsoft is bringing AI into Azure DevOps too, but on a slower timeline and with a thinner feature set today — the frontier still lives on GitHub. If AI-assisted development matters to your org at scale, that’s where your repos need to be.</a:t>
            </a:r>
            <a:endParaRPr lang="en-US" sz="2000" dirty="0"/>
          </a:p>
        </p:txBody>
      </p:sp>
      <p:sp>
        <p:nvSpPr>
          <p:cNvPr id="8" name="Shape 5"/>
          <p:cNvSpPr/>
          <p:nvPr/>
        </p:nvSpPr>
        <p:spPr>
          <a:xfrm>
            <a:off x="548640" y="4114800"/>
            <a:ext cx="5349240" cy="1508760"/>
          </a:xfrm>
          <a:prstGeom prst="roundRect">
            <a:avLst>
              <a:gd name="adj" fmla="val 7273"/>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822960" y="4251960"/>
            <a:ext cx="4800600" cy="502920"/>
          </a:xfrm>
          <a:prstGeom prst="rect">
            <a:avLst/>
          </a:prstGeom>
          <a:noFill/>
          <a:ln/>
        </p:spPr>
        <p:txBody>
          <a:bodyPr wrap="square" lIns="0" tIns="0" rIns="0" bIns="0" rtlCol="0" anchor="ctr"/>
          <a:lstStyle/>
          <a:p>
            <a:pPr indent="0" marL="0">
              <a:buNone/>
            </a:pPr>
            <a:r>
              <a:rPr lang="en-US" sz="1900" b="1" dirty="0">
                <a:solidFill>
                  <a:srgbClr val="F5F5F0"/>
                </a:solidFill>
                <a:latin typeface="Cambria" pitchFamily="34" charset="0"/>
                <a:ea typeface="Cambria" pitchFamily="34" charset="-122"/>
                <a:cs typeface="Cambria" pitchFamily="34" charset="-120"/>
              </a:rPr>
              <a:t>GitHub</a:t>
            </a:r>
            <a:endParaRPr lang="en-US" sz="1900" dirty="0"/>
          </a:p>
        </p:txBody>
      </p:sp>
      <p:sp>
        <p:nvSpPr>
          <p:cNvPr id="10" name="Text 7"/>
          <p:cNvSpPr txBox="1"/>
          <p:nvPr/>
        </p:nvSpPr>
        <p:spPr>
          <a:xfrm>
            <a:off x="822960" y="4773168"/>
            <a:ext cx="4800600" cy="777240"/>
          </a:xfrm>
          <a:prstGeom prst="rect">
            <a:avLst/>
          </a:prstGeom>
          <a:noFill/>
          <a:ln/>
        </p:spPr>
        <p:txBody>
          <a:bodyPr wrap="square" lIns="0" tIns="0" rIns="0" bIns="0" rtlCol="0" anchor="ctr"/>
          <a:lstStyle/>
          <a:p>
            <a:pPr indent="0" marL="0">
              <a:buNone/>
            </a:pPr>
            <a:r>
              <a:rPr lang="en-US" sz="1600" dirty="0">
                <a:solidFill>
                  <a:srgbClr val="F5F5F0"/>
                </a:solidFill>
                <a:latin typeface="Calibri" pitchFamily="34" charset="0"/>
                <a:ea typeface="Calibri" pitchFamily="34" charset="-122"/>
                <a:cs typeface="Calibri" pitchFamily="34" charset="-120"/>
              </a:rPr>
              <a:t>Full agentic Copilot suite, shipping now</a:t>
            </a:r>
            <a:endParaRPr lang="en-US" sz="1600" dirty="0"/>
          </a:p>
        </p:txBody>
      </p:sp>
      <p:sp>
        <p:nvSpPr>
          <p:cNvPr id="11" name="Shape 8"/>
          <p:cNvSpPr/>
          <p:nvPr/>
        </p:nvSpPr>
        <p:spPr>
          <a:xfrm>
            <a:off x="6172200" y="4114800"/>
            <a:ext cx="5349240" cy="1508760"/>
          </a:xfrm>
          <a:prstGeom prst="roundRect">
            <a:avLst>
              <a:gd name="adj" fmla="val 7273"/>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6446520" y="4251960"/>
            <a:ext cx="4800600" cy="502920"/>
          </a:xfrm>
          <a:prstGeom prst="rect">
            <a:avLst/>
          </a:prstGeom>
          <a:noFill/>
          <a:ln/>
        </p:spPr>
        <p:txBody>
          <a:bodyPr wrap="square" lIns="0" tIns="0" rIns="0" bIns="0" rtlCol="0" anchor="ctr"/>
          <a:lstStyle/>
          <a:p>
            <a:pPr indent="0" marL="0">
              <a:buNone/>
            </a:pPr>
            <a:r>
              <a:rPr lang="en-US" sz="1900" b="1" dirty="0">
                <a:solidFill>
                  <a:srgbClr val="1F3D2C"/>
                </a:solidFill>
                <a:latin typeface="Cambria" pitchFamily="34" charset="0"/>
                <a:ea typeface="Cambria" pitchFamily="34" charset="-122"/>
                <a:cs typeface="Cambria" pitchFamily="34" charset="-120"/>
              </a:rPr>
              <a:t>Azure DevOps</a:t>
            </a:r>
            <a:endParaRPr lang="en-US" sz="1900" dirty="0"/>
          </a:p>
        </p:txBody>
      </p:sp>
      <p:sp>
        <p:nvSpPr>
          <p:cNvPr id="13" name="Text 10"/>
          <p:cNvSpPr txBox="1"/>
          <p:nvPr/>
        </p:nvSpPr>
        <p:spPr>
          <a:xfrm>
            <a:off x="6446520" y="4773168"/>
            <a:ext cx="4800600" cy="77724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AI features arriving, roadmap still catching up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ListUl-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Copilot’s Head Start on GitHub</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3840480"/>
        </p:xfrm>
        <a:graphic>
          <a:graphicData uri="http://schemas.openxmlformats.org/drawingml/2006/table">
            <a:tbl>
              <a:tblPr/>
              <a:tblGrid>
                <a:gridCol w="2286000"/>
                <a:gridCol w="3749040"/>
                <a:gridCol w="5029200"/>
              </a:tblGrid>
              <a:tr h="640080">
                <a:tc>
                  <a:txBody>
                    <a:bodyPr/>
                    <a:lstStyle/>
                    <a:p>
                      <a:pPr indent="0" marL="0">
                        <a:buNone/>
                      </a:pPr>
                      <a:r>
                        <a:rPr lang="en-US" sz="1500" b="1" dirty="0">
                          <a:solidFill>
                            <a:srgbClr val="F5F5F0"/>
                          </a:solidFill>
                          <a:latin typeface="Calibri" pitchFamily="34" charset="0"/>
                          <a:ea typeface="Calibri" pitchFamily="34" charset="-122"/>
                          <a:cs typeface="Calibri" pitchFamily="34" charset="-120"/>
                        </a:rPr>
                        <a:t>Capability</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indent="0" marL="0">
                        <a:buNone/>
                      </a:pPr>
                      <a:r>
                        <a:rPr lang="en-US" sz="1500" b="1" dirty="0">
                          <a:solidFill>
                            <a:srgbClr val="F5F5F0"/>
                          </a:solidFill>
                          <a:latin typeface="Calibri" pitchFamily="34" charset="0"/>
                          <a:ea typeface="Calibri" pitchFamily="34" charset="-122"/>
                          <a:cs typeface="Calibri" pitchFamily="34" charset="-120"/>
                        </a:rPr>
                        <a:t>On GitHub</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indent="0" marL="0">
                        <a:buNone/>
                      </a:pPr>
                      <a:r>
                        <a:rPr lang="en-US" sz="1500" b="1" dirty="0">
                          <a:solidFill>
                            <a:srgbClr val="F5F5F0"/>
                          </a:solidFill>
                          <a:latin typeface="Calibri" pitchFamily="34" charset="0"/>
                          <a:ea typeface="Calibri" pitchFamily="34" charset="-122"/>
                          <a:cs typeface="Calibri" pitchFamily="34" charset="-120"/>
                        </a:rPr>
                        <a:t>On Azure DevOps</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r>
              <a:tr h="640080">
                <a:tc>
                  <a:txBody>
                    <a:bodyPr/>
                    <a:lstStyle/>
                    <a:p>
                      <a:pPr indent="0" marL="0">
                        <a:buNone/>
                      </a:pPr>
                      <a:r>
                        <a:rPr lang="en-US" sz="1550" b="1" dirty="0">
                          <a:solidFill>
                            <a:srgbClr val="1F3D2C"/>
                          </a:solidFill>
                          <a:latin typeface="Cambria" pitchFamily="34" charset="0"/>
                          <a:ea typeface="Cambria" pitchFamily="34" charset="-122"/>
                          <a:cs typeface="Cambria" pitchFamily="34" charset="-120"/>
                        </a:rPr>
                        <a:t>Copilot Chat</a:t>
                      </a:r>
                      <a:endParaRPr lang="en-US" sz="155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Native, in-editor and in-repo</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Via the Azure DevOps MCP Server (preview) — same assistant, ADO context</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r>
              <a:tr h="640080">
                <a:tc>
                  <a:txBody>
                    <a:bodyPr/>
                    <a:lstStyle/>
                    <a:p>
                      <a:pPr indent="0" marL="0">
                        <a:buNone/>
                      </a:pPr>
                      <a:r>
                        <a:rPr lang="en-US" sz="1550" b="1" dirty="0">
                          <a:solidFill>
                            <a:srgbClr val="1F3D2C"/>
                          </a:solidFill>
                          <a:latin typeface="Cambria" pitchFamily="34" charset="0"/>
                          <a:ea typeface="Cambria" pitchFamily="34" charset="-122"/>
                          <a:cs typeface="Cambria" pitchFamily="34" charset="-120"/>
                        </a:rPr>
                        <a:t>Coding Agent</a:t>
                      </a:r>
                      <a:endParaRPr lang="en-US" sz="155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Opens PRs autonomously in GitHub repos</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Triggerable from an Azure Boards work item — but still writes to a GitHub repo</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r>
              <a:tr h="640080">
                <a:tc>
                  <a:txBody>
                    <a:bodyPr/>
                    <a:lstStyle/>
                    <a:p>
                      <a:pPr indent="0" marL="0">
                        <a:buNone/>
                      </a:pPr>
                      <a:r>
                        <a:rPr lang="en-US" sz="1550" b="1" dirty="0">
                          <a:solidFill>
                            <a:srgbClr val="1F3D2C"/>
                          </a:solidFill>
                          <a:latin typeface="Cambria" pitchFamily="34" charset="0"/>
                          <a:ea typeface="Cambria" pitchFamily="34" charset="-122"/>
                          <a:cs typeface="Cambria" pitchFamily="34" charset="-120"/>
                        </a:rPr>
                        <a:t>Autofix</a:t>
                      </a:r>
                      <a:endParaRPr lang="en-US" sz="155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GA, mature</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Limited public preview via GHAS for Azure DevOps</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r>
              <a:tr h="640080">
                <a:tc>
                  <a:txBody>
                    <a:bodyPr/>
                    <a:lstStyle/>
                    <a:p>
                      <a:pPr indent="0" marL="0">
                        <a:buNone/>
                      </a:pPr>
                      <a:r>
                        <a:rPr lang="en-US" sz="1550" b="1" dirty="0">
                          <a:solidFill>
                            <a:srgbClr val="1F3D2C"/>
                          </a:solidFill>
                          <a:latin typeface="Cambria" pitchFamily="34" charset="0"/>
                          <a:ea typeface="Cambria" pitchFamily="34" charset="-122"/>
                          <a:cs typeface="Cambria" pitchFamily="34" charset="-120"/>
                        </a:rPr>
                        <a:t>Agentic Code Review</a:t>
                      </a:r>
                      <a:endParaRPr lang="en-US" sz="155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GA</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Public preview for Azure Repos (Aug 2026)</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r>
              <a:tr h="640080">
                <a:tc>
                  <a:txBody>
                    <a:bodyPr/>
                    <a:lstStyle/>
                    <a:p>
                      <a:pPr indent="0" marL="0">
                        <a:buNone/>
                      </a:pPr>
                      <a:r>
                        <a:rPr lang="en-US" sz="1550" b="1" dirty="0">
                          <a:solidFill>
                            <a:srgbClr val="1F3D2C"/>
                          </a:solidFill>
                          <a:latin typeface="Cambria" pitchFamily="34" charset="0"/>
                          <a:ea typeface="Cambria" pitchFamily="34" charset="-122"/>
                          <a:cs typeface="Cambria" pitchFamily="34" charset="-120"/>
                        </a:rPr>
                        <a:t>Agent HQ</a:t>
                      </a:r>
                      <a:endParaRPr lang="en-US" sz="155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Multi-agent orchestration hub</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indent="0" marL="0">
                        <a:buNone/>
                      </a:pPr>
                      <a:r>
                        <a:rPr lang="en-US" sz="1450" dirty="0">
                          <a:solidFill>
                            <a:srgbClr val="2B2B2B"/>
                          </a:solidFill>
                          <a:latin typeface="Calibri" pitchFamily="34" charset="0"/>
                          <a:ea typeface="Calibri" pitchFamily="34" charset="-122"/>
                          <a:cs typeface="Calibri" pitchFamily="34" charset="-120"/>
                        </a:rPr>
                        <a:t>No equivalent yet</a:t>
                      </a:r>
                      <a:endParaRPr lang="en-US" sz="14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r>
            </a:tbl>
          </a:graphicData>
        </a:graphic>
      </p:graphicFrame>
      <p:sp>
        <p:nvSpPr>
          <p:cNvPr id="7" name="Shape 3"/>
          <p:cNvSpPr/>
          <p:nvPr/>
        </p:nvSpPr>
        <p:spPr>
          <a:xfrm>
            <a:off x="548640" y="5623560"/>
            <a:ext cx="11064240" cy="914400"/>
          </a:xfrm>
          <a:prstGeom prst="roundRect">
            <a:avLst>
              <a:gd name="adj" fmla="val 12000"/>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8" name="Text 4"/>
          <p:cNvSpPr txBox="1"/>
          <p:nvPr/>
        </p:nvSpPr>
        <p:spPr>
          <a:xfrm>
            <a:off x="822960" y="5760720"/>
            <a:ext cx="8595360" cy="640080"/>
          </a:xfrm>
          <a:prstGeom prst="rect">
            <a:avLst/>
          </a:prstGeom>
          <a:noFill/>
          <a:ln/>
        </p:spPr>
        <p:txBody>
          <a:bodyPr wrap="square" lIns="0" tIns="0" rIns="0" bIns="0" rtlCol="0" anchor="ctr"/>
          <a:lstStyle/>
          <a:p>
            <a:pPr indent="0" marL="0">
              <a:buNone/>
            </a:pPr>
            <a:r>
              <a:rPr lang="en-US" sz="1400" b="1" dirty="0">
                <a:solidFill>
                  <a:srgbClr val="F5F5F0"/>
                </a:solidFill>
                <a:latin typeface="Calibri" pitchFamily="34" charset="0"/>
                <a:ea typeface="Calibri" pitchFamily="34" charset="-122"/>
                <a:cs typeface="Calibri" pitchFamily="34" charset="-120"/>
              </a:rPr>
              <a:t>The gap is real, but closing.  </a:t>
            </a:r>
            <a:pPr indent="0" marL="0">
              <a:buNone/>
            </a:pPr>
            <a:r>
              <a:rPr lang="en-US" sz="1400" dirty="0">
                <a:solidFill>
                  <a:srgbClr val="F5F5F0"/>
                </a:solidFill>
                <a:latin typeface="Calibri" pitchFamily="34" charset="0"/>
                <a:ea typeface="Calibri" pitchFamily="34" charset="-122"/>
                <a:cs typeface="Calibri" pitchFamily="34" charset="-120"/>
              </a:rPr>
              <a:t>Chat, Autofix, and code review have all reached Azure DevOps in preview. Coding Agent and Agent HQ haven’t — they still only operate on GitHub repos.</a:t>
            </a:r>
            <a:endParaRPr lang="en-US" sz="1400" dirty="0"/>
          </a:p>
        </p:txBody>
      </p:sp>
      <p:sp>
        <p:nvSpPr>
          <p:cNvPr id="9" name="Shape 5"/>
          <p:cNvSpPr/>
          <p:nvPr/>
        </p:nvSpPr>
        <p:spPr>
          <a:xfrm>
            <a:off x="10122408" y="5669280"/>
            <a:ext cx="804672" cy="804672"/>
          </a:xfrm>
          <a:prstGeom prst="roundRect">
            <a:avLst>
              <a:gd name="adj" fmla="val 6818"/>
            </a:avLst>
          </a:prstGeom>
          <a:solidFill>
            <a:srgbClr val="FFFFFF"/>
          </a:solidFill>
          <a:ln w="15875">
            <a:solidFill>
              <a:srgbClr val="1F3D2C"/>
            </a:solidFill>
            <a:prstDash val="solid"/>
          </a:ln>
        </p:spPr>
      </p:sp>
      <p:pic>
        <p:nvPicPr>
          <p:cNvPr id="10" name="Image 1" descr="/home/claude/pptx-build/assets/qr-sec1-ado-mcp.png">    </p:cNvPr>
          <p:cNvPicPr>
            <a:picLocks noChangeAspect="1"/>
          </p:cNvPicPr>
          <p:nvPr/>
        </p:nvPicPr>
        <p:blipFill>
          <a:blip r:embed="rId2"/>
          <a:stretch>
            <a:fillRect/>
          </a:stretch>
        </p:blipFill>
        <p:spPr>
          <a:xfrm>
            <a:off x="10195560" y="5742432"/>
            <a:ext cx="658368" cy="6583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MapSigns-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The Terrain Changed Since I Proposed This Talk</a:t>
            </a:r>
            <a:endParaRPr lang="en-US" sz="3200" dirty="0"/>
          </a:p>
        </p:txBody>
      </p:sp>
      <p:sp>
        <p:nvSpPr>
          <p:cNvPr id="6" name="Shape 3"/>
          <p:cNvSpPr/>
          <p:nvPr/>
        </p:nvSpPr>
        <p:spPr>
          <a:xfrm>
            <a:off x="914400" y="2039112"/>
            <a:ext cx="10058400" cy="0"/>
          </a:xfrm>
          <a:prstGeom prst="line">
            <a:avLst/>
          </a:prstGeom>
          <a:noFill/>
          <a:ln w="19050">
            <a:solidFill>
              <a:srgbClr val="DDD8CC"/>
            </a:solidFill>
            <a:prstDash val="solid"/>
          </a:ln>
        </p:spPr>
      </p:sp>
      <p:sp>
        <p:nvSpPr>
          <p:cNvPr id="7" name="Shape 4"/>
          <p:cNvSpPr/>
          <p:nvPr/>
        </p:nvSpPr>
        <p:spPr>
          <a:xfrm>
            <a:off x="960120" y="1901952"/>
            <a:ext cx="274320" cy="274320"/>
          </a:xfrm>
          <a:prstGeom prst="ellipse">
            <a:avLst/>
          </a:prstGeom>
          <a:solidFill>
            <a:srgbClr val="C1440E"/>
          </a:solidFill>
          <a:ln/>
        </p:spPr>
      </p:sp>
      <p:sp>
        <p:nvSpPr>
          <p:cNvPr id="8" name="Text 5"/>
          <p:cNvSpPr txBox="1"/>
          <p:nvPr/>
        </p:nvSpPr>
        <p:spPr>
          <a:xfrm>
            <a:off x="457200" y="1344168"/>
            <a:ext cx="2194560" cy="384048"/>
          </a:xfrm>
          <a:prstGeom prst="rect">
            <a:avLst/>
          </a:prstGeom>
          <a:noFill/>
          <a:ln/>
        </p:spPr>
        <p:txBody>
          <a:bodyPr wrap="square" lIns="0" tIns="0" rIns="0" bIns="0" rtlCol="0" anchor="ctr"/>
          <a:lstStyle/>
          <a:p>
            <a:pPr algn="ctr" indent="0" marL="0">
              <a:buNone/>
            </a:pPr>
            <a:r>
              <a:rPr lang="en-US" sz="1500" b="1" dirty="0">
                <a:solidFill>
                  <a:srgbClr val="1F3D2C"/>
                </a:solidFill>
                <a:latin typeface="Cambria" pitchFamily="34" charset="0"/>
                <a:ea typeface="Cambria" pitchFamily="34" charset="-122"/>
                <a:cs typeface="Cambria" pitchFamily="34" charset="-120"/>
              </a:rPr>
              <a:t>Nov 2024</a:t>
            </a:r>
            <a:endParaRPr lang="en-US" sz="1500" dirty="0"/>
          </a:p>
        </p:txBody>
      </p:sp>
      <p:sp>
        <p:nvSpPr>
          <p:cNvPr id="9" name="Text 6"/>
          <p:cNvSpPr txBox="1"/>
          <p:nvPr/>
        </p:nvSpPr>
        <p:spPr>
          <a:xfrm>
            <a:off x="457200" y="2286000"/>
            <a:ext cx="2194560" cy="960120"/>
          </a:xfrm>
          <a:prstGeom prst="rect">
            <a:avLst/>
          </a:prstGeom>
          <a:noFill/>
          <a:ln/>
        </p:spPr>
        <p:txBody>
          <a:bodyPr wrap="square" lIns="0" tIns="0" rIns="0" bIns="0" rtlCol="0" anchor="ctr"/>
          <a:lstStyle/>
          <a:p>
            <a:pPr algn="ctr" indent="0" marL="0">
              <a:buNone/>
            </a:pPr>
            <a:r>
              <a:rPr lang="en-US" sz="1250" dirty="0">
                <a:solidFill>
                  <a:srgbClr val="6B6B63"/>
                </a:solidFill>
                <a:latin typeface="Calibri" pitchFamily="34" charset="0"/>
                <a:ea typeface="Calibri" pitchFamily="34" charset="-122"/>
                <a:cs typeface="Calibri" pitchFamily="34" charset="-120"/>
              </a:rPr>
              <a:t>Anthropic introduces MCP</a:t>
            </a:r>
            <a:endParaRPr lang="en-US" sz="1250" dirty="0"/>
          </a:p>
        </p:txBody>
      </p:sp>
      <p:sp>
        <p:nvSpPr>
          <p:cNvPr id="10" name="Shape 7"/>
          <p:cNvSpPr/>
          <p:nvPr/>
        </p:nvSpPr>
        <p:spPr>
          <a:xfrm>
            <a:off x="3172968" y="1901952"/>
            <a:ext cx="274320" cy="274320"/>
          </a:xfrm>
          <a:prstGeom prst="ellipse">
            <a:avLst/>
          </a:prstGeom>
          <a:solidFill>
            <a:srgbClr val="C1440E"/>
          </a:solidFill>
          <a:ln/>
        </p:spPr>
      </p:sp>
      <p:sp>
        <p:nvSpPr>
          <p:cNvPr id="11" name="Text 8"/>
          <p:cNvSpPr txBox="1"/>
          <p:nvPr/>
        </p:nvSpPr>
        <p:spPr>
          <a:xfrm>
            <a:off x="2670048" y="1344168"/>
            <a:ext cx="2194560" cy="384048"/>
          </a:xfrm>
          <a:prstGeom prst="rect">
            <a:avLst/>
          </a:prstGeom>
          <a:noFill/>
          <a:ln/>
        </p:spPr>
        <p:txBody>
          <a:bodyPr wrap="square" lIns="0" tIns="0" rIns="0" bIns="0" rtlCol="0" anchor="ctr"/>
          <a:lstStyle/>
          <a:p>
            <a:pPr algn="ctr" indent="0" marL="0">
              <a:buNone/>
            </a:pPr>
            <a:r>
              <a:rPr lang="en-US" sz="1500" b="1" dirty="0">
                <a:solidFill>
                  <a:srgbClr val="1F3D2C"/>
                </a:solidFill>
                <a:latin typeface="Cambria" pitchFamily="34" charset="0"/>
                <a:ea typeface="Cambria" pitchFamily="34" charset="-122"/>
                <a:cs typeface="Cambria" pitchFamily="34" charset="-120"/>
              </a:rPr>
              <a:t>Mar–Apr 2025</a:t>
            </a:r>
            <a:endParaRPr lang="en-US" sz="1500" dirty="0"/>
          </a:p>
        </p:txBody>
      </p:sp>
      <p:sp>
        <p:nvSpPr>
          <p:cNvPr id="12" name="Text 9"/>
          <p:cNvSpPr txBox="1"/>
          <p:nvPr/>
        </p:nvSpPr>
        <p:spPr>
          <a:xfrm>
            <a:off x="2670048" y="2286000"/>
            <a:ext cx="2194560" cy="960120"/>
          </a:xfrm>
          <a:prstGeom prst="rect">
            <a:avLst/>
          </a:prstGeom>
          <a:noFill/>
          <a:ln/>
        </p:spPr>
        <p:txBody>
          <a:bodyPr wrap="square" lIns="0" tIns="0" rIns="0" bIns="0" rtlCol="0" anchor="ctr"/>
          <a:lstStyle/>
          <a:p>
            <a:pPr algn="ctr" indent="0" marL="0">
              <a:buNone/>
            </a:pPr>
            <a:r>
              <a:rPr lang="en-US" sz="1250" dirty="0">
                <a:solidFill>
                  <a:srgbClr val="6B6B63"/>
                </a:solidFill>
                <a:latin typeface="Calibri" pitchFamily="34" charset="0"/>
                <a:ea typeface="Calibri" pitchFamily="34" charset="-122"/>
                <a:cs typeface="Calibri" pitchFamily="34" charset="-120"/>
              </a:rPr>
              <a:t>OpenAI &amp; Google DeepMind adopt it; GitHub ships its own MCP server</a:t>
            </a:r>
            <a:endParaRPr lang="en-US" sz="1250" dirty="0"/>
          </a:p>
        </p:txBody>
      </p:sp>
      <p:sp>
        <p:nvSpPr>
          <p:cNvPr id="13" name="Shape 10"/>
          <p:cNvSpPr/>
          <p:nvPr/>
        </p:nvSpPr>
        <p:spPr>
          <a:xfrm>
            <a:off x="5385816" y="1901952"/>
            <a:ext cx="274320" cy="274320"/>
          </a:xfrm>
          <a:prstGeom prst="ellipse">
            <a:avLst/>
          </a:prstGeom>
          <a:solidFill>
            <a:srgbClr val="C1440E"/>
          </a:solidFill>
          <a:ln/>
        </p:spPr>
      </p:sp>
      <p:sp>
        <p:nvSpPr>
          <p:cNvPr id="14" name="Text 11"/>
          <p:cNvSpPr txBox="1"/>
          <p:nvPr/>
        </p:nvSpPr>
        <p:spPr>
          <a:xfrm>
            <a:off x="4882896" y="1344168"/>
            <a:ext cx="2194560" cy="384048"/>
          </a:xfrm>
          <a:prstGeom prst="rect">
            <a:avLst/>
          </a:prstGeom>
          <a:noFill/>
          <a:ln/>
        </p:spPr>
        <p:txBody>
          <a:bodyPr wrap="square" lIns="0" tIns="0" rIns="0" bIns="0" rtlCol="0" anchor="ctr"/>
          <a:lstStyle/>
          <a:p>
            <a:pPr algn="ctr" indent="0" marL="0">
              <a:buNone/>
            </a:pPr>
            <a:r>
              <a:rPr lang="en-US" sz="1500" b="1" dirty="0">
                <a:solidFill>
                  <a:srgbClr val="1F3D2C"/>
                </a:solidFill>
                <a:latin typeface="Cambria" pitchFamily="34" charset="0"/>
                <a:ea typeface="Cambria" pitchFamily="34" charset="-122"/>
                <a:cs typeface="Cambria" pitchFamily="34" charset="-120"/>
              </a:rPr>
              <a:t>Jun 2025</a:t>
            </a:r>
            <a:endParaRPr lang="en-US" sz="1500" dirty="0"/>
          </a:p>
        </p:txBody>
      </p:sp>
      <p:sp>
        <p:nvSpPr>
          <p:cNvPr id="15" name="Text 12"/>
          <p:cNvSpPr txBox="1"/>
          <p:nvPr/>
        </p:nvSpPr>
        <p:spPr>
          <a:xfrm>
            <a:off x="4882896" y="2286000"/>
            <a:ext cx="2194560" cy="960120"/>
          </a:xfrm>
          <a:prstGeom prst="rect">
            <a:avLst/>
          </a:prstGeom>
          <a:noFill/>
          <a:ln/>
        </p:spPr>
        <p:txBody>
          <a:bodyPr wrap="square" lIns="0" tIns="0" rIns="0" bIns="0" rtlCol="0" anchor="ctr"/>
          <a:lstStyle/>
          <a:p>
            <a:pPr algn="ctr" indent="0" marL="0">
              <a:buNone/>
            </a:pPr>
            <a:r>
              <a:rPr lang="en-US" sz="1250" dirty="0">
                <a:solidFill>
                  <a:srgbClr val="6B6B63"/>
                </a:solidFill>
                <a:latin typeface="Calibri" pitchFamily="34" charset="0"/>
                <a:ea typeface="Calibri" pitchFamily="34" charset="-122"/>
                <a:cs typeface="Calibri" pitchFamily="34" charset="-120"/>
              </a:rPr>
              <a:t>Azure DevOps MCP Server (public preview)</a:t>
            </a:r>
            <a:endParaRPr lang="en-US" sz="1250" dirty="0"/>
          </a:p>
        </p:txBody>
      </p:sp>
      <p:sp>
        <p:nvSpPr>
          <p:cNvPr id="16" name="Shape 13"/>
          <p:cNvSpPr/>
          <p:nvPr/>
        </p:nvSpPr>
        <p:spPr>
          <a:xfrm>
            <a:off x="7598664" y="1901952"/>
            <a:ext cx="274320" cy="274320"/>
          </a:xfrm>
          <a:prstGeom prst="ellipse">
            <a:avLst/>
          </a:prstGeom>
          <a:solidFill>
            <a:srgbClr val="C1440E"/>
          </a:solidFill>
          <a:ln/>
        </p:spPr>
      </p:sp>
      <p:sp>
        <p:nvSpPr>
          <p:cNvPr id="17" name="Text 14"/>
          <p:cNvSpPr txBox="1"/>
          <p:nvPr/>
        </p:nvSpPr>
        <p:spPr>
          <a:xfrm>
            <a:off x="7095744" y="1344168"/>
            <a:ext cx="2194560" cy="384048"/>
          </a:xfrm>
          <a:prstGeom prst="rect">
            <a:avLst/>
          </a:prstGeom>
          <a:noFill/>
          <a:ln/>
        </p:spPr>
        <p:txBody>
          <a:bodyPr wrap="square" lIns="0" tIns="0" rIns="0" bIns="0" rtlCol="0" anchor="ctr"/>
          <a:lstStyle/>
          <a:p>
            <a:pPr algn="ctr" indent="0" marL="0">
              <a:buNone/>
            </a:pPr>
            <a:r>
              <a:rPr lang="en-US" sz="1500" b="1" dirty="0">
                <a:solidFill>
                  <a:srgbClr val="1F3D2C"/>
                </a:solidFill>
                <a:latin typeface="Cambria" pitchFamily="34" charset="0"/>
                <a:ea typeface="Cambria" pitchFamily="34" charset="-122"/>
                <a:cs typeface="Cambria" pitchFamily="34" charset="-120"/>
              </a:rPr>
              <a:t>Sep 2025</a:t>
            </a:r>
            <a:endParaRPr lang="en-US" sz="1500" dirty="0"/>
          </a:p>
        </p:txBody>
      </p:sp>
      <p:sp>
        <p:nvSpPr>
          <p:cNvPr id="18" name="Text 15"/>
          <p:cNvSpPr txBox="1"/>
          <p:nvPr/>
        </p:nvSpPr>
        <p:spPr>
          <a:xfrm>
            <a:off x="7095744" y="2286000"/>
            <a:ext cx="2194560" cy="960120"/>
          </a:xfrm>
          <a:prstGeom prst="rect">
            <a:avLst/>
          </a:prstGeom>
          <a:noFill/>
          <a:ln/>
        </p:spPr>
        <p:txBody>
          <a:bodyPr wrap="square" lIns="0" tIns="0" rIns="0" bIns="0" rtlCol="0" anchor="ctr"/>
          <a:lstStyle/>
          <a:p>
            <a:pPr algn="ctr" indent="0" marL="0">
              <a:buNone/>
            </a:pPr>
            <a:r>
              <a:rPr lang="en-US" sz="1250" dirty="0">
                <a:solidFill>
                  <a:srgbClr val="6B6B63"/>
                </a:solidFill>
                <a:latin typeface="Calibri" pitchFamily="34" charset="0"/>
                <a:ea typeface="Calibri" pitchFamily="34" charset="-122"/>
                <a:cs typeface="Calibri" pitchFamily="34" charset="-120"/>
              </a:rPr>
              <a:t>Official MCP registry (preview)</a:t>
            </a:r>
            <a:endParaRPr lang="en-US" sz="1250" dirty="0"/>
          </a:p>
        </p:txBody>
      </p:sp>
      <p:sp>
        <p:nvSpPr>
          <p:cNvPr id="19" name="Shape 16"/>
          <p:cNvSpPr/>
          <p:nvPr/>
        </p:nvSpPr>
        <p:spPr>
          <a:xfrm>
            <a:off x="9811512" y="1901952"/>
            <a:ext cx="274320" cy="274320"/>
          </a:xfrm>
          <a:prstGeom prst="ellipse">
            <a:avLst/>
          </a:prstGeom>
          <a:solidFill>
            <a:srgbClr val="C1440E"/>
          </a:solidFill>
          <a:ln/>
        </p:spPr>
      </p:sp>
      <p:sp>
        <p:nvSpPr>
          <p:cNvPr id="20" name="Text 17"/>
          <p:cNvSpPr txBox="1"/>
          <p:nvPr/>
        </p:nvSpPr>
        <p:spPr>
          <a:xfrm>
            <a:off x="9308592" y="1344168"/>
            <a:ext cx="2194560" cy="384048"/>
          </a:xfrm>
          <a:prstGeom prst="rect">
            <a:avLst/>
          </a:prstGeom>
          <a:noFill/>
          <a:ln/>
        </p:spPr>
        <p:txBody>
          <a:bodyPr wrap="square" lIns="0" tIns="0" rIns="0" bIns="0" rtlCol="0" anchor="ctr"/>
          <a:lstStyle/>
          <a:p>
            <a:pPr algn="ctr" indent="0" marL="0">
              <a:buNone/>
            </a:pPr>
            <a:r>
              <a:rPr lang="en-US" sz="1500" b="1" dirty="0">
                <a:solidFill>
                  <a:srgbClr val="1F3D2C"/>
                </a:solidFill>
                <a:latin typeface="Cambria" pitchFamily="34" charset="0"/>
                <a:ea typeface="Cambria" pitchFamily="34" charset="-122"/>
                <a:cs typeface="Cambria" pitchFamily="34" charset="-120"/>
              </a:rPr>
              <a:t>Dec 2025</a:t>
            </a:r>
            <a:endParaRPr lang="en-US" sz="1500" dirty="0"/>
          </a:p>
        </p:txBody>
      </p:sp>
      <p:sp>
        <p:nvSpPr>
          <p:cNvPr id="21" name="Text 18"/>
          <p:cNvSpPr txBox="1"/>
          <p:nvPr/>
        </p:nvSpPr>
        <p:spPr>
          <a:xfrm>
            <a:off x="9308592" y="2286000"/>
            <a:ext cx="2194560" cy="960120"/>
          </a:xfrm>
          <a:prstGeom prst="rect">
            <a:avLst/>
          </a:prstGeom>
          <a:noFill/>
          <a:ln/>
        </p:spPr>
        <p:txBody>
          <a:bodyPr wrap="square" lIns="0" tIns="0" rIns="0" bIns="0" rtlCol="0" anchor="ctr"/>
          <a:lstStyle/>
          <a:p>
            <a:pPr algn="ctr" indent="0" marL="0">
              <a:buNone/>
            </a:pPr>
            <a:r>
              <a:rPr lang="en-US" sz="1250" dirty="0">
                <a:solidFill>
                  <a:srgbClr val="6B6B63"/>
                </a:solidFill>
                <a:latin typeface="Calibri" pitchFamily="34" charset="0"/>
                <a:ea typeface="Calibri" pitchFamily="34" charset="-122"/>
                <a:cs typeface="Calibri" pitchFamily="34" charset="-120"/>
              </a:rPr>
              <a:t>Donated to the Linux Foundation’s Agentic AI Foundation</a:t>
            </a:r>
            <a:endParaRPr lang="en-US" sz="1250" dirty="0"/>
          </a:p>
        </p:txBody>
      </p:sp>
      <p:sp>
        <p:nvSpPr>
          <p:cNvPr id="22" name="Text 19"/>
          <p:cNvSpPr txBox="1"/>
          <p:nvPr/>
        </p:nvSpPr>
        <p:spPr>
          <a:xfrm>
            <a:off x="548640" y="3429000"/>
            <a:ext cx="11064240" cy="548640"/>
          </a:xfrm>
          <a:prstGeom prst="rect">
            <a:avLst/>
          </a:prstGeom>
          <a:noFill/>
          <a:ln/>
        </p:spPr>
        <p:txBody>
          <a:bodyPr wrap="square" lIns="0" tIns="0" rIns="0" bIns="0" rtlCol="0" anchor="ctr"/>
          <a:lstStyle/>
          <a:p>
            <a:pPr algn="ctr" indent="0" marL="0">
              <a:buNone/>
            </a:pPr>
            <a:r>
              <a:rPr lang="en-US" sz="1900" b="1" i="1" dirty="0">
                <a:solidFill>
                  <a:srgbClr val="1F3D2C"/>
                </a:solidFill>
                <a:latin typeface="Cambria" pitchFamily="34" charset="0"/>
                <a:ea typeface="Cambria" pitchFamily="34" charset="-122"/>
                <a:cs typeface="Cambria" pitchFamily="34" charset="-120"/>
              </a:rPr>
              <a:t>One protocol, not N×M custom integrations — any MCP-speaking assistant can now reach any MCP-exposed tool.</a:t>
            </a:r>
            <a:endParaRPr lang="en-US" sz="1900" dirty="0"/>
          </a:p>
        </p:txBody>
      </p:sp>
      <p:sp>
        <p:nvSpPr>
          <p:cNvPr id="23" name="Shape 20"/>
          <p:cNvSpPr/>
          <p:nvPr/>
        </p:nvSpPr>
        <p:spPr>
          <a:xfrm>
            <a:off x="548640" y="4160520"/>
            <a:ext cx="6675120" cy="2377440"/>
          </a:xfrm>
          <a:prstGeom prst="roundRect">
            <a:avLst>
              <a:gd name="adj" fmla="val 4615"/>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24" name="Text 21"/>
          <p:cNvSpPr txBox="1"/>
          <p:nvPr/>
        </p:nvSpPr>
        <p:spPr>
          <a:xfrm>
            <a:off x="822960" y="4297680"/>
            <a:ext cx="6126480" cy="384048"/>
          </a:xfrm>
          <a:prstGeom prst="rect">
            <a:avLst/>
          </a:prstGeom>
          <a:noFill/>
          <a:ln/>
        </p:spPr>
        <p:txBody>
          <a:bodyPr wrap="square" lIns="0" tIns="0" rIns="0" bIns="0" rtlCol="0" anchor="ctr"/>
          <a:lstStyle/>
          <a:p>
            <a:pPr indent="0" marL="0">
              <a:buNone/>
            </a:pPr>
            <a:r>
              <a:rPr lang="en-US" sz="1600" b="1" dirty="0">
                <a:solidFill>
                  <a:srgbClr val="1F3D2C"/>
                </a:solidFill>
                <a:latin typeface="Cambria" pitchFamily="34" charset="0"/>
                <a:ea typeface="Cambria" pitchFamily="34" charset="-122"/>
                <a:cs typeface="Cambria" pitchFamily="34" charset="-120"/>
              </a:rPr>
              <a:t>Beyond CI/CD migration</a:t>
            </a:r>
            <a:endParaRPr lang="en-US" sz="1600" dirty="0"/>
          </a:p>
        </p:txBody>
      </p:sp>
      <p:sp>
        <p:nvSpPr>
          <p:cNvPr id="25" name="Text 22"/>
          <p:cNvSpPr txBox="1"/>
          <p:nvPr/>
        </p:nvSpPr>
        <p:spPr>
          <a:xfrm>
            <a:off x="822960" y="4709160"/>
            <a:ext cx="6126480" cy="173736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350" dirty="0">
                <a:solidFill>
                  <a:srgbClr val="2B2B2B"/>
                </a:solidFill>
                <a:latin typeface="Calibri" pitchFamily="34" charset="0"/>
                <a:ea typeface="Calibri" pitchFamily="34" charset="-122"/>
                <a:cs typeface="Calibri" pitchFamily="34" charset="-120"/>
              </a:rPr>
              <a:t>Cross-tool agentic workflows: read a board, check an incident, open a PR, post an update — no bespoke glue code per tool</a:t>
            </a:r>
            <a:endParaRPr lang="en-US" sz="1350" dirty="0"/>
          </a:p>
          <a:p>
            <a:pPr marL="342900" indent="-342900">
              <a:lnSpc>
                <a:spcPct val="105000"/>
              </a:lnSpc>
              <a:spcAft>
                <a:spcPts val="600"/>
              </a:spcAft>
              <a:buSzPct val="100000"/>
              <a:buChar char="•"/>
            </a:pPr>
            <a:r>
              <a:rPr lang="en-US" sz="1350" dirty="0">
                <a:solidFill>
                  <a:srgbClr val="2B2B2B"/>
                </a:solidFill>
                <a:latin typeface="Calibri" pitchFamily="34" charset="0"/>
                <a:ea typeface="Calibri" pitchFamily="34" charset="-122"/>
                <a:cs typeface="Calibri" pitchFamily="34" charset="-120"/>
              </a:rPr>
              <a:t>The platform question gets smaller: less “which platform hosts my code,” more “which systems can my agent reach”</a:t>
            </a:r>
            <a:endParaRPr lang="en-US" sz="1350" dirty="0"/>
          </a:p>
          <a:p>
            <a:pPr marL="342900" indent="-342900">
              <a:lnSpc>
                <a:spcPct val="105000"/>
              </a:lnSpc>
              <a:buSzPct val="100000"/>
              <a:buChar char="•"/>
            </a:pPr>
            <a:r>
              <a:rPr lang="en-US" sz="1350" dirty="0">
                <a:solidFill>
                  <a:srgbClr val="2B2B2B"/>
                </a:solidFill>
                <a:latin typeface="Calibri" pitchFamily="34" charset="0"/>
                <a:ea typeface="Calibri" pitchFamily="34" charset="-122"/>
                <a:cs typeface="Calibri" pitchFamily="34" charset="-120"/>
              </a:rPr>
              <a:t>Databases, observability, browsers, ticketing, chat — most of this didn’t exist when this CFP went in</a:t>
            </a:r>
            <a:endParaRPr lang="en-US" sz="1350" dirty="0"/>
          </a:p>
        </p:txBody>
      </p:sp>
      <p:sp>
        <p:nvSpPr>
          <p:cNvPr id="26" name="Shape 23"/>
          <p:cNvSpPr/>
          <p:nvPr/>
        </p:nvSpPr>
        <p:spPr>
          <a:xfrm>
            <a:off x="7452360" y="4160520"/>
            <a:ext cx="4160520" cy="2377440"/>
          </a:xfrm>
          <a:prstGeom prst="roundRect">
            <a:avLst>
              <a:gd name="adj" fmla="val 4615"/>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7726680" y="4297680"/>
            <a:ext cx="3657600" cy="384048"/>
          </a:xfrm>
          <a:prstGeom prst="rect">
            <a:avLst/>
          </a:prstGeom>
          <a:noFill/>
          <a:ln/>
        </p:spPr>
        <p:txBody>
          <a:bodyPr wrap="square" lIns="0" tIns="0" rIns="0" bIns="0" rtlCol="0" anchor="ctr"/>
          <a:lstStyle/>
          <a:p>
            <a:pPr indent="0" marL="0">
              <a:buNone/>
            </a:pPr>
            <a:r>
              <a:rPr lang="en-US" sz="1600" b="1" dirty="0">
                <a:solidFill>
                  <a:srgbClr val="F5F5F0"/>
                </a:solidFill>
                <a:latin typeface="Cambria" pitchFamily="34" charset="0"/>
                <a:ea typeface="Cambria" pitchFamily="34" charset="-122"/>
                <a:cs typeface="Cambria" pitchFamily="34" charset="-120"/>
              </a:rPr>
              <a:t>Worth saying out loud</a:t>
            </a:r>
            <a:endParaRPr lang="en-US" sz="1600" dirty="0"/>
          </a:p>
        </p:txBody>
      </p:sp>
      <p:sp>
        <p:nvSpPr>
          <p:cNvPr id="28" name="Text 25"/>
          <p:cNvSpPr txBox="1"/>
          <p:nvPr/>
        </p:nvSpPr>
        <p:spPr>
          <a:xfrm>
            <a:off x="7726680" y="4754880"/>
            <a:ext cx="3611880" cy="1691640"/>
          </a:xfrm>
          <a:prstGeom prst="rect">
            <a:avLst/>
          </a:prstGeom>
          <a:noFill/>
          <a:ln/>
        </p:spPr>
        <p:txBody>
          <a:bodyPr wrap="square" lIns="0" tIns="0" rIns="0" bIns="0" rtlCol="0" anchor="ctr"/>
          <a:lstStyle/>
          <a:p>
            <a:pPr indent="0" marL="0">
              <a:lnSpc>
                <a:spcPct val="105000"/>
              </a:lnSpc>
              <a:spcAft>
                <a:spcPts val="800"/>
              </a:spcAft>
              <a:buNone/>
            </a:pPr>
            <a:r>
              <a:rPr lang="en-US" sz="1300" i="1" dirty="0">
                <a:solidFill>
                  <a:srgbClr val="8C6A3F"/>
                </a:solidFill>
                <a:latin typeface="Calibri" pitchFamily="34" charset="0"/>
                <a:ea typeface="Calibri" pitchFamily="34" charset="-122"/>
                <a:cs typeface="Calibri" pitchFamily="34" charset="-120"/>
              </a:rPr>
              <a:t>This CFP went in before MCP’s 2025–2026 rise — the last slide’s correction is proof the ground is still moving. Don’t bet a migration plan on “GitHub-only” staying true.</a:t>
            </a:r>
            <a:endParaRPr lang="en-US" sz="1300" dirty="0"/>
          </a:p>
          <a:p>
            <a:pPr indent="0" marL="0">
              <a:lnSpc>
                <a:spcPct val="105000"/>
              </a:lnSpc>
              <a:buNone/>
            </a:pPr>
            <a:r>
              <a:rPr lang="en-US" sz="1300" b="1" i="1" dirty="0">
                <a:solidFill>
                  <a:srgbClr val="8C6A3F"/>
                </a:solidFill>
                <a:latin typeface="Calibri" pitchFamily="34" charset="0"/>
                <a:ea typeface="Calibri" pitchFamily="34" charset="-122"/>
                <a:cs typeface="Calibri" pitchFamily="34" charset="-120"/>
              </a:rPr>
              <a:t>modelcontextprotocol.io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CodeBranch-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A Split in Purpose, Not a Replacement</a:t>
            </a:r>
            <a:endParaRPr lang="en-US" sz="3200" dirty="0"/>
          </a:p>
        </p:txBody>
      </p:sp>
      <p:sp>
        <p:nvSpPr>
          <p:cNvPr id="6" name="Shape 3"/>
          <p:cNvSpPr/>
          <p:nvPr/>
        </p:nvSpPr>
        <p:spPr>
          <a:xfrm>
            <a:off x="548640" y="1691640"/>
            <a:ext cx="5349240" cy="3977640"/>
          </a:xfrm>
          <a:prstGeom prst="roundRect">
            <a:avLst>
              <a:gd name="adj" fmla="val 2759"/>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22960" y="1874520"/>
            <a:ext cx="4754880" cy="502920"/>
          </a:xfrm>
          <a:prstGeom prst="rect">
            <a:avLst/>
          </a:prstGeom>
          <a:noFill/>
          <a:ln/>
        </p:spPr>
        <p:txBody>
          <a:bodyPr wrap="square" lIns="0" tIns="0" rIns="0" bIns="0" rtlCol="0" anchor="ctr"/>
          <a:lstStyle/>
          <a:p>
            <a:pPr indent="0" marL="0">
              <a:buNone/>
            </a:pPr>
            <a:r>
              <a:rPr lang="en-US" sz="2400" b="1" dirty="0">
                <a:solidFill>
                  <a:srgbClr val="1F3D2C"/>
                </a:solidFill>
                <a:latin typeface="Cambria" pitchFamily="34" charset="0"/>
                <a:ea typeface="Cambria" pitchFamily="34" charset="-122"/>
                <a:cs typeface="Cambria" pitchFamily="34" charset="-120"/>
              </a:rPr>
              <a:t>GitHub</a:t>
            </a:r>
            <a:endParaRPr lang="en-US" sz="2400" dirty="0"/>
          </a:p>
        </p:txBody>
      </p:sp>
      <p:sp>
        <p:nvSpPr>
          <p:cNvPr id="8" name="Text 5"/>
          <p:cNvSpPr txBox="1"/>
          <p:nvPr/>
        </p:nvSpPr>
        <p:spPr>
          <a:xfrm>
            <a:off x="822960" y="2395728"/>
            <a:ext cx="4754880" cy="411480"/>
          </a:xfrm>
          <a:prstGeom prst="rect">
            <a:avLst/>
          </a:prstGeom>
          <a:noFill/>
          <a:ln/>
        </p:spPr>
        <p:txBody>
          <a:bodyPr wrap="square" lIns="0" tIns="0" rIns="0" bIns="0" rtlCol="0" anchor="ctr"/>
          <a:lstStyle/>
          <a:p>
            <a:pPr indent="0" marL="0">
              <a:buNone/>
            </a:pPr>
            <a:r>
              <a:rPr lang="en-US" sz="1600" b="1" i="1" dirty="0">
                <a:solidFill>
                  <a:srgbClr val="C1440E"/>
                </a:solidFill>
                <a:latin typeface="Calibri" pitchFamily="34" charset="0"/>
                <a:ea typeface="Calibri" pitchFamily="34" charset="-122"/>
                <a:cs typeface="Calibri" pitchFamily="34" charset="-120"/>
              </a:rPr>
              <a:t>AI-native development</a:t>
            </a:r>
            <a:endParaRPr lang="en-US" sz="1600" dirty="0"/>
          </a:p>
        </p:txBody>
      </p:sp>
      <p:sp>
        <p:nvSpPr>
          <p:cNvPr id="9" name="Text 6"/>
          <p:cNvSpPr txBox="1"/>
          <p:nvPr/>
        </p:nvSpPr>
        <p:spPr>
          <a:xfrm>
            <a:off x="822960" y="2971800"/>
            <a:ext cx="4754880" cy="256032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Copilot Chat, Coding Agent, Autofix, Agentic Code Review, Agent HQ</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100M+ developers already there</a:t>
            </a:r>
            <a:endParaRPr lang="en-US" sz="1700" dirty="0"/>
          </a:p>
          <a:p>
            <a:pPr marL="342900" indent="-342900">
              <a:buSzPct val="100000"/>
              <a:buChar char="•"/>
            </a:pPr>
            <a:r>
              <a:rPr lang="en-US" sz="1700" dirty="0">
                <a:solidFill>
                  <a:srgbClr val="2B2B2B"/>
                </a:solidFill>
                <a:latin typeface="Calibri" pitchFamily="34" charset="0"/>
                <a:ea typeface="Calibri" pitchFamily="34" charset="-122"/>
                <a:cs typeface="Calibri" pitchFamily="34" charset="-120"/>
              </a:rPr>
              <a:t>20,000+ community Actions</a:t>
            </a:r>
            <a:endParaRPr lang="en-US" sz="1700" dirty="0"/>
          </a:p>
        </p:txBody>
      </p:sp>
      <p:sp>
        <p:nvSpPr>
          <p:cNvPr id="10" name="Shape 7"/>
          <p:cNvSpPr/>
          <p:nvPr/>
        </p:nvSpPr>
        <p:spPr>
          <a:xfrm>
            <a:off x="6263640" y="1691640"/>
            <a:ext cx="5349240" cy="3977640"/>
          </a:xfrm>
          <a:prstGeom prst="roundRect">
            <a:avLst>
              <a:gd name="adj" fmla="val 2759"/>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6537960" y="1874520"/>
            <a:ext cx="4754880" cy="502920"/>
          </a:xfrm>
          <a:prstGeom prst="rect">
            <a:avLst/>
          </a:prstGeom>
          <a:noFill/>
          <a:ln/>
        </p:spPr>
        <p:txBody>
          <a:bodyPr wrap="square" lIns="0" tIns="0" rIns="0" bIns="0" rtlCol="0" anchor="ctr"/>
          <a:lstStyle/>
          <a:p>
            <a:pPr indent="0" marL="0">
              <a:buNone/>
            </a:pPr>
            <a:r>
              <a:rPr lang="en-US" sz="2400" b="1" dirty="0">
                <a:solidFill>
                  <a:srgbClr val="1F3D2C"/>
                </a:solidFill>
                <a:latin typeface="Cambria" pitchFamily="34" charset="0"/>
                <a:ea typeface="Cambria" pitchFamily="34" charset="-122"/>
                <a:cs typeface="Cambria" pitchFamily="34" charset="-120"/>
              </a:rPr>
              <a:t>Azure DevOps</a:t>
            </a:r>
            <a:endParaRPr lang="en-US" sz="2400" dirty="0"/>
          </a:p>
        </p:txBody>
      </p:sp>
      <p:sp>
        <p:nvSpPr>
          <p:cNvPr id="12" name="Text 9"/>
          <p:cNvSpPr txBox="1"/>
          <p:nvPr/>
        </p:nvSpPr>
        <p:spPr>
          <a:xfrm>
            <a:off x="6537960" y="2395728"/>
            <a:ext cx="4754880" cy="411480"/>
          </a:xfrm>
          <a:prstGeom prst="rect">
            <a:avLst/>
          </a:prstGeom>
          <a:noFill/>
          <a:ln/>
        </p:spPr>
        <p:txBody>
          <a:bodyPr wrap="square" lIns="0" tIns="0" rIns="0" bIns="0" rtlCol="0" anchor="ctr"/>
          <a:lstStyle/>
          <a:p>
            <a:pPr indent="0" marL="0">
              <a:buNone/>
            </a:pPr>
            <a:r>
              <a:rPr lang="en-US" sz="1600" b="1" i="1" dirty="0">
                <a:solidFill>
                  <a:srgbClr val="C1440E"/>
                </a:solidFill>
                <a:latin typeface="Calibri" pitchFamily="34" charset="0"/>
                <a:ea typeface="Calibri" pitchFamily="34" charset="-122"/>
                <a:cs typeface="Calibri" pitchFamily="34" charset="-120"/>
              </a:rPr>
              <a:t>Enterprise orchestration</a:t>
            </a:r>
            <a:endParaRPr lang="en-US" sz="1600" dirty="0"/>
          </a:p>
        </p:txBody>
      </p:sp>
      <p:sp>
        <p:nvSpPr>
          <p:cNvPr id="13" name="Text 10"/>
          <p:cNvSpPr txBox="1"/>
          <p:nvPr/>
        </p:nvSpPr>
        <p:spPr>
          <a:xfrm>
            <a:off x="6537960" y="2971800"/>
            <a:ext cx="4754880" cy="256032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Boards, Test Plans, release governance</a:t>
            </a:r>
            <a:endParaRPr lang="en-US" sz="1700" dirty="0"/>
          </a:p>
          <a:p>
            <a:pPr marL="342900" indent="-342900">
              <a:spcAft>
                <a:spcPts val="1000"/>
              </a:spcAft>
              <a:buSzPct val="100000"/>
              <a:buChar char="•"/>
            </a:pPr>
            <a:r>
              <a:rPr lang="en-US" sz="1700" dirty="0">
                <a:solidFill>
                  <a:srgbClr val="2B2B2B"/>
                </a:solidFill>
                <a:latin typeface="Calibri" pitchFamily="34" charset="0"/>
                <a:ea typeface="Calibri" pitchFamily="34" charset="-122"/>
                <a:cs typeface="Calibri" pitchFamily="34" charset="-120"/>
              </a:rPr>
              <a:t>Active Microsoft roadmap through 2026+</a:t>
            </a:r>
            <a:endParaRPr lang="en-US" sz="1700" dirty="0"/>
          </a:p>
          <a:p>
            <a:pPr marL="342900" indent="-342900">
              <a:buSzPct val="100000"/>
              <a:buChar char="•"/>
            </a:pPr>
            <a:r>
              <a:rPr lang="en-US" sz="1700" dirty="0">
                <a:solidFill>
                  <a:srgbClr val="2B2B2B"/>
                </a:solidFill>
                <a:latin typeface="Calibri" pitchFamily="34" charset="0"/>
                <a:ea typeface="Calibri" pitchFamily="34" charset="-122"/>
                <a:cs typeface="Calibri" pitchFamily="34" charset="-120"/>
              </a:rPr>
              <a:t>Deep fit for regulated, multi-team portfolios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Link-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The Hybrid Pattern — Microsoft’s Own Recommendation</a:t>
            </a:r>
            <a:endParaRPr lang="en-US" sz="3200" dirty="0"/>
          </a:p>
        </p:txBody>
      </p:sp>
      <p:sp>
        <p:nvSpPr>
          <p:cNvPr id="6" name="Text 3"/>
          <p:cNvSpPr txBox="1"/>
          <p:nvPr/>
        </p:nvSpPr>
        <p:spPr>
          <a:xfrm>
            <a:off x="548640" y="1536192"/>
            <a:ext cx="11064240" cy="502920"/>
          </a:xfrm>
          <a:prstGeom prst="rect">
            <a:avLst/>
          </a:prstGeom>
          <a:noFill/>
          <a:ln/>
        </p:spPr>
        <p:txBody>
          <a:bodyPr wrap="square" lIns="0" tIns="0" rIns="0" bIns="0" rtlCol="0" anchor="ctr"/>
          <a:lstStyle/>
          <a:p>
            <a:pPr indent="0" marL="0">
              <a:buNone/>
            </a:pPr>
            <a:r>
              <a:rPr lang="en-US" sz="2200" b="1" dirty="0">
                <a:solidFill>
                  <a:srgbClr val="1F3D2C"/>
                </a:solidFill>
                <a:latin typeface="Cambria" pitchFamily="34" charset="0"/>
                <a:ea typeface="Cambria" pitchFamily="34" charset="-122"/>
                <a:cs typeface="Cambria" pitchFamily="34" charset="-120"/>
              </a:rPr>
              <a:t>Move source code to GitHub. Keep Azure Boards for planning.</a:t>
            </a:r>
            <a:endParaRPr lang="en-US" sz="2200" dirty="0"/>
          </a:p>
        </p:txBody>
      </p:sp>
      <p:sp>
        <p:nvSpPr>
          <p:cNvPr id="7" name="Shape 4"/>
          <p:cNvSpPr/>
          <p:nvPr/>
        </p:nvSpPr>
        <p:spPr>
          <a:xfrm>
            <a:off x="548640" y="2148840"/>
            <a:ext cx="3429000" cy="3246120"/>
          </a:xfrm>
          <a:prstGeom prst="roundRect">
            <a:avLst>
              <a:gd name="adj" fmla="val 3380"/>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822960" y="2377440"/>
            <a:ext cx="603504" cy="603504"/>
          </a:xfrm>
          <a:prstGeom prst="ellipse">
            <a:avLst/>
          </a:prstGeom>
          <a:solidFill>
            <a:srgbClr val="C1440E"/>
          </a:solidFill>
          <a:ln/>
        </p:spPr>
      </p:sp>
      <p:pic>
        <p:nvPicPr>
          <p:cNvPr id="9" name="Image 1" descr="/home/claude/pptx-build/assets/icons/FaLaptopCode-FFFFFF-200.png">    </p:cNvPr>
          <p:cNvPicPr>
            <a:picLocks noChangeAspect="1"/>
          </p:cNvPicPr>
          <p:nvPr/>
        </p:nvPicPr>
        <p:blipFill>
          <a:blip r:embed="rId2"/>
          <a:stretch>
            <a:fillRect/>
          </a:stretch>
        </p:blipFill>
        <p:spPr>
          <a:xfrm>
            <a:off x="969264" y="2523744"/>
            <a:ext cx="310896" cy="310896"/>
          </a:xfrm>
          <a:prstGeom prst="rect">
            <a:avLst/>
          </a:prstGeom>
        </p:spPr>
      </p:pic>
      <p:sp>
        <p:nvSpPr>
          <p:cNvPr id="10" name="Text 6"/>
          <p:cNvSpPr txBox="1"/>
          <p:nvPr/>
        </p:nvSpPr>
        <p:spPr>
          <a:xfrm>
            <a:off x="822960" y="3127248"/>
            <a:ext cx="2880360" cy="457200"/>
          </a:xfrm>
          <a:prstGeom prst="rect">
            <a:avLst/>
          </a:prstGeom>
          <a:noFill/>
          <a:ln/>
        </p:spPr>
        <p:txBody>
          <a:bodyPr wrap="square" lIns="0" tIns="0" rIns="0" bIns="0" rtlCol="0" anchor="ctr"/>
          <a:lstStyle/>
          <a:p>
            <a:pPr indent="0" marL="0">
              <a:buNone/>
            </a:pPr>
            <a:r>
              <a:rPr lang="en-US" sz="1900" b="1" dirty="0">
                <a:solidFill>
                  <a:srgbClr val="1F3D2C"/>
                </a:solidFill>
                <a:latin typeface="Cambria" pitchFamily="34" charset="0"/>
                <a:ea typeface="Cambria" pitchFamily="34" charset="-122"/>
                <a:cs typeface="Cambria" pitchFamily="34" charset="-120"/>
              </a:rPr>
              <a:t>Developers</a:t>
            </a:r>
            <a:endParaRPr lang="en-US" sz="1900" dirty="0"/>
          </a:p>
        </p:txBody>
      </p:sp>
      <p:sp>
        <p:nvSpPr>
          <p:cNvPr id="11" name="Text 7"/>
          <p:cNvSpPr txBox="1"/>
          <p:nvPr/>
        </p:nvSpPr>
        <p:spPr>
          <a:xfrm>
            <a:off x="822960" y="3639312"/>
            <a:ext cx="2880360" cy="16916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Move to GitHub, get Copilot + Actions — working where the AI already lives.</a:t>
            </a:r>
            <a:endParaRPr lang="en-US" sz="1500" dirty="0"/>
          </a:p>
        </p:txBody>
      </p:sp>
      <p:sp>
        <p:nvSpPr>
          <p:cNvPr id="12" name="Shape 8"/>
          <p:cNvSpPr/>
          <p:nvPr/>
        </p:nvSpPr>
        <p:spPr>
          <a:xfrm>
            <a:off x="4251960" y="2148840"/>
            <a:ext cx="3429000" cy="3246120"/>
          </a:xfrm>
          <a:prstGeom prst="roundRect">
            <a:avLst>
              <a:gd name="adj" fmla="val 3380"/>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3" name="Shape 9"/>
          <p:cNvSpPr/>
          <p:nvPr/>
        </p:nvSpPr>
        <p:spPr>
          <a:xfrm>
            <a:off x="4526280" y="2377440"/>
            <a:ext cx="603504" cy="603504"/>
          </a:xfrm>
          <a:prstGeom prst="ellipse">
            <a:avLst/>
          </a:prstGeom>
          <a:solidFill>
            <a:srgbClr val="C1440E"/>
          </a:solidFill>
          <a:ln/>
        </p:spPr>
      </p:sp>
      <p:pic>
        <p:nvPicPr>
          <p:cNvPr id="14" name="Image 2" descr="/home/claude/pptx-build/assets/icons/FaChartLine-FFFFFF-200.png">    </p:cNvPr>
          <p:cNvPicPr>
            <a:picLocks noChangeAspect="1"/>
          </p:cNvPicPr>
          <p:nvPr/>
        </p:nvPicPr>
        <p:blipFill>
          <a:blip r:embed="rId3"/>
          <a:stretch>
            <a:fillRect/>
          </a:stretch>
        </p:blipFill>
        <p:spPr>
          <a:xfrm>
            <a:off x="4672584" y="2523744"/>
            <a:ext cx="310896" cy="310896"/>
          </a:xfrm>
          <a:prstGeom prst="rect">
            <a:avLst/>
          </a:prstGeom>
        </p:spPr>
      </p:pic>
      <p:sp>
        <p:nvSpPr>
          <p:cNvPr id="15" name="Text 10"/>
          <p:cNvSpPr txBox="1"/>
          <p:nvPr/>
        </p:nvSpPr>
        <p:spPr>
          <a:xfrm>
            <a:off x="4526280" y="3127248"/>
            <a:ext cx="2880360" cy="457200"/>
          </a:xfrm>
          <a:prstGeom prst="rect">
            <a:avLst/>
          </a:prstGeom>
          <a:noFill/>
          <a:ln/>
        </p:spPr>
        <p:txBody>
          <a:bodyPr wrap="square" lIns="0" tIns="0" rIns="0" bIns="0" rtlCol="0" anchor="ctr"/>
          <a:lstStyle/>
          <a:p>
            <a:pPr indent="0" marL="0">
              <a:buNone/>
            </a:pPr>
            <a:r>
              <a:rPr lang="en-US" sz="1900" b="1" dirty="0">
                <a:solidFill>
                  <a:srgbClr val="1F3D2C"/>
                </a:solidFill>
                <a:latin typeface="Cambria" pitchFamily="34" charset="0"/>
                <a:ea typeface="Cambria" pitchFamily="34" charset="-122"/>
                <a:cs typeface="Cambria" pitchFamily="34" charset="-120"/>
              </a:rPr>
              <a:t>Managers</a:t>
            </a:r>
            <a:endParaRPr lang="en-US" sz="1900" dirty="0"/>
          </a:p>
        </p:txBody>
      </p:sp>
      <p:sp>
        <p:nvSpPr>
          <p:cNvPr id="16" name="Text 11"/>
          <p:cNvSpPr txBox="1"/>
          <p:nvPr/>
        </p:nvSpPr>
        <p:spPr>
          <a:xfrm>
            <a:off x="4526280" y="3639312"/>
            <a:ext cx="2880360" cy="16916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Keep Azure Boards — sprint hub, capacity charts, and Power BI reporting stay exactly where they are.</a:t>
            </a:r>
            <a:endParaRPr lang="en-US" sz="1500" dirty="0"/>
          </a:p>
        </p:txBody>
      </p:sp>
      <p:sp>
        <p:nvSpPr>
          <p:cNvPr id="17" name="Shape 12"/>
          <p:cNvSpPr/>
          <p:nvPr/>
        </p:nvSpPr>
        <p:spPr>
          <a:xfrm>
            <a:off x="7955280" y="2148840"/>
            <a:ext cx="3429000" cy="3246120"/>
          </a:xfrm>
          <a:prstGeom prst="roundRect">
            <a:avLst>
              <a:gd name="adj" fmla="val 3380"/>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8" name="Shape 13"/>
          <p:cNvSpPr/>
          <p:nvPr/>
        </p:nvSpPr>
        <p:spPr>
          <a:xfrm>
            <a:off x="8229600" y="2377440"/>
            <a:ext cx="603504" cy="603504"/>
          </a:xfrm>
          <a:prstGeom prst="ellipse">
            <a:avLst/>
          </a:prstGeom>
          <a:solidFill>
            <a:srgbClr val="C1440E"/>
          </a:solidFill>
          <a:ln/>
        </p:spPr>
      </p:sp>
      <p:pic>
        <p:nvPicPr>
          <p:cNvPr id="19" name="Image 3" descr="/home/claude/pptx-build/assets/icons/FaCoins-FFFFFF-200.png">    </p:cNvPr>
          <p:cNvPicPr>
            <a:picLocks noChangeAspect="1"/>
          </p:cNvPicPr>
          <p:nvPr/>
        </p:nvPicPr>
        <p:blipFill>
          <a:blip r:embed="rId4"/>
          <a:stretch>
            <a:fillRect/>
          </a:stretch>
        </p:blipFill>
        <p:spPr>
          <a:xfrm>
            <a:off x="8375904" y="2523744"/>
            <a:ext cx="310896" cy="310896"/>
          </a:xfrm>
          <a:prstGeom prst="rect">
            <a:avLst/>
          </a:prstGeom>
        </p:spPr>
      </p:pic>
      <p:sp>
        <p:nvSpPr>
          <p:cNvPr id="20" name="Text 14"/>
          <p:cNvSpPr txBox="1"/>
          <p:nvPr/>
        </p:nvSpPr>
        <p:spPr>
          <a:xfrm>
            <a:off x="8229600" y="3127248"/>
            <a:ext cx="2880360" cy="457200"/>
          </a:xfrm>
          <a:prstGeom prst="rect">
            <a:avLst/>
          </a:prstGeom>
          <a:noFill/>
          <a:ln/>
        </p:spPr>
        <p:txBody>
          <a:bodyPr wrap="square" lIns="0" tIns="0" rIns="0" bIns="0" rtlCol="0" anchor="ctr"/>
          <a:lstStyle/>
          <a:p>
            <a:pPr indent="0" marL="0">
              <a:buNone/>
            </a:pPr>
            <a:r>
              <a:rPr lang="en-US" sz="1900" b="1" dirty="0">
                <a:solidFill>
                  <a:srgbClr val="1F3D2C"/>
                </a:solidFill>
                <a:latin typeface="Cambria" pitchFamily="34" charset="0"/>
                <a:ea typeface="Cambria" pitchFamily="34" charset="-122"/>
                <a:cs typeface="Cambria" pitchFamily="34" charset="-120"/>
              </a:rPr>
              <a:t>Budget</a:t>
            </a:r>
            <a:endParaRPr lang="en-US" sz="1900" dirty="0"/>
          </a:p>
        </p:txBody>
      </p:sp>
      <p:sp>
        <p:nvSpPr>
          <p:cNvPr id="21" name="Text 15"/>
          <p:cNvSpPr txBox="1"/>
          <p:nvPr/>
        </p:nvSpPr>
        <p:spPr>
          <a:xfrm>
            <a:off x="8229600" y="3639312"/>
            <a:ext cx="2880360" cy="16916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GHEC includes free Azure DevOps Basic access — the hybrid costs nothing extra to start.</a:t>
            </a:r>
            <a:endParaRPr lang="en-US" sz="1500" dirty="0"/>
          </a:p>
        </p:txBody>
      </p:sp>
      <p:sp>
        <p:nvSpPr>
          <p:cNvPr id="22" name="Text 16"/>
          <p:cNvSpPr txBox="1"/>
          <p:nvPr/>
        </p:nvSpPr>
        <p:spPr>
          <a:xfrm>
            <a:off x="548640" y="5577840"/>
            <a:ext cx="11064240" cy="594360"/>
          </a:xfrm>
          <a:prstGeom prst="rect">
            <a:avLst/>
          </a:prstGeom>
          <a:noFill/>
          <a:ln/>
        </p:spPr>
        <p:txBody>
          <a:bodyPr wrap="square" lIns="0" tIns="0" rIns="0" bIns="0" rtlCol="0" anchor="ctr"/>
          <a:lstStyle/>
          <a:p>
            <a:pPr indent="0" marL="0">
              <a:buNone/>
            </a:pPr>
            <a:r>
              <a:rPr lang="en-US" sz="1700" i="1" dirty="0">
                <a:solidFill>
                  <a:srgbClr val="C1440E"/>
                </a:solidFill>
                <a:latin typeface="Calibri" pitchFamily="34" charset="0"/>
                <a:ea typeface="Calibri" pitchFamily="34" charset="-122"/>
                <a:cs typeface="Calibri" pitchFamily="34" charset="-120"/>
              </a:rPr>
              <a:t>This is the shape the rest of the talk builds toward — not a compromise you settle for, the answer Microsoft itself designed for mixed estates.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Users-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And the Non-AI Reasons, for Completeness</a:t>
            </a:r>
            <a:endParaRPr lang="en-US" sz="3200" dirty="0"/>
          </a:p>
        </p:txBody>
      </p:sp>
      <p:sp>
        <p:nvSpPr>
          <p:cNvPr id="6" name="Shape 3"/>
          <p:cNvSpPr/>
          <p:nvPr/>
        </p:nvSpPr>
        <p:spPr>
          <a:xfrm>
            <a:off x="548640" y="1600200"/>
            <a:ext cx="11064240" cy="859536"/>
          </a:xfrm>
          <a:prstGeom prst="roundRect">
            <a:avLst>
              <a:gd name="adj" fmla="val 12766"/>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822960" y="1746504"/>
            <a:ext cx="566928" cy="566928"/>
          </a:xfrm>
          <a:prstGeom prst="ellipse">
            <a:avLst/>
          </a:prstGeom>
          <a:solidFill>
            <a:srgbClr val="C1440E"/>
          </a:solidFill>
          <a:ln/>
        </p:spPr>
      </p:sp>
      <p:pic>
        <p:nvPicPr>
          <p:cNvPr id="8" name="Image 1" descr="/home/claude/pptx-build/assets/icons/FaUsers-FFFFFF-200.png">    </p:cNvPr>
          <p:cNvPicPr>
            <a:picLocks noChangeAspect="1"/>
          </p:cNvPicPr>
          <p:nvPr/>
        </p:nvPicPr>
        <p:blipFill>
          <a:blip r:embed="rId2"/>
          <a:stretch>
            <a:fillRect/>
          </a:stretch>
        </p:blipFill>
        <p:spPr>
          <a:xfrm>
            <a:off x="960120" y="1883664"/>
            <a:ext cx="292608" cy="292608"/>
          </a:xfrm>
          <a:prstGeom prst="rect">
            <a:avLst/>
          </a:prstGeom>
        </p:spPr>
      </p:pic>
      <p:sp>
        <p:nvSpPr>
          <p:cNvPr id="9" name="Text 5"/>
          <p:cNvSpPr txBox="1"/>
          <p:nvPr/>
        </p:nvSpPr>
        <p:spPr>
          <a:xfrm>
            <a:off x="1600200" y="1673352"/>
            <a:ext cx="3246120" cy="713232"/>
          </a:xfrm>
          <a:prstGeom prst="rect">
            <a:avLst/>
          </a:prstGeom>
          <a:noFill/>
          <a:ln/>
        </p:spPr>
        <p:txBody>
          <a:bodyPr wrap="square" lIns="0" tIns="0" rIns="0" bIns="0" rtlCol="0" anchor="ctr"/>
          <a:lstStyle/>
          <a:p>
            <a:pPr indent="0" marL="0">
              <a:buNone/>
            </a:pPr>
            <a:r>
              <a:rPr lang="en-US" sz="1650" b="1" dirty="0">
                <a:solidFill>
                  <a:srgbClr val="1F3D2C"/>
                </a:solidFill>
                <a:latin typeface="Cambria" pitchFamily="34" charset="0"/>
                <a:ea typeface="Cambria" pitchFamily="34" charset="-122"/>
                <a:cs typeface="Cambria" pitchFamily="34" charset="-120"/>
              </a:rPr>
              <a:t>100M+ developers already on GitHub</a:t>
            </a:r>
            <a:endParaRPr lang="en-US" sz="1650" dirty="0"/>
          </a:p>
        </p:txBody>
      </p:sp>
      <p:sp>
        <p:nvSpPr>
          <p:cNvPr id="10" name="Text 6"/>
          <p:cNvSpPr txBox="1"/>
          <p:nvPr/>
        </p:nvSpPr>
        <p:spPr>
          <a:xfrm>
            <a:off x="5029200" y="1673352"/>
            <a:ext cx="6309360" cy="713232"/>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The ecosystem is already there.</a:t>
            </a:r>
            <a:endParaRPr lang="en-US" sz="1400" dirty="0"/>
          </a:p>
        </p:txBody>
      </p:sp>
      <p:sp>
        <p:nvSpPr>
          <p:cNvPr id="11" name="Shape 7"/>
          <p:cNvSpPr/>
          <p:nvPr/>
        </p:nvSpPr>
        <p:spPr>
          <a:xfrm>
            <a:off x="548640" y="2532888"/>
            <a:ext cx="11064240" cy="859536"/>
          </a:xfrm>
          <a:prstGeom prst="roundRect">
            <a:avLst>
              <a:gd name="adj" fmla="val 12766"/>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2" name="Shape 8"/>
          <p:cNvSpPr/>
          <p:nvPr/>
        </p:nvSpPr>
        <p:spPr>
          <a:xfrm>
            <a:off x="822960" y="2679192"/>
            <a:ext cx="566928" cy="566928"/>
          </a:xfrm>
          <a:prstGeom prst="ellipse">
            <a:avLst/>
          </a:prstGeom>
          <a:solidFill>
            <a:srgbClr val="C1440E"/>
          </a:solidFill>
          <a:ln/>
        </p:spPr>
      </p:sp>
      <p:pic>
        <p:nvPicPr>
          <p:cNvPr id="13" name="Image 2" descr="/home/claude/pptx-build/assets/icons/FaCubes-FFFFFF-200.png">    </p:cNvPr>
          <p:cNvPicPr>
            <a:picLocks noChangeAspect="1"/>
          </p:cNvPicPr>
          <p:nvPr/>
        </p:nvPicPr>
        <p:blipFill>
          <a:blip r:embed="rId3"/>
          <a:stretch>
            <a:fillRect/>
          </a:stretch>
        </p:blipFill>
        <p:spPr>
          <a:xfrm>
            <a:off x="960120" y="2816352"/>
            <a:ext cx="292608" cy="292608"/>
          </a:xfrm>
          <a:prstGeom prst="rect">
            <a:avLst/>
          </a:prstGeom>
        </p:spPr>
      </p:pic>
      <p:sp>
        <p:nvSpPr>
          <p:cNvPr id="14" name="Text 9"/>
          <p:cNvSpPr txBox="1"/>
          <p:nvPr/>
        </p:nvSpPr>
        <p:spPr>
          <a:xfrm>
            <a:off x="1600200" y="2606040"/>
            <a:ext cx="3246120" cy="713232"/>
          </a:xfrm>
          <a:prstGeom prst="rect">
            <a:avLst/>
          </a:prstGeom>
          <a:noFill/>
          <a:ln/>
        </p:spPr>
        <p:txBody>
          <a:bodyPr wrap="square" lIns="0" tIns="0" rIns="0" bIns="0" rtlCol="0" anchor="ctr"/>
          <a:lstStyle/>
          <a:p>
            <a:pPr indent="0" marL="0">
              <a:buNone/>
            </a:pPr>
            <a:r>
              <a:rPr lang="en-US" sz="1650" b="1" dirty="0">
                <a:solidFill>
                  <a:srgbClr val="1F3D2C"/>
                </a:solidFill>
                <a:latin typeface="Cambria" pitchFamily="34" charset="0"/>
                <a:ea typeface="Cambria" pitchFamily="34" charset="-122"/>
                <a:cs typeface="Cambria" pitchFamily="34" charset="-120"/>
              </a:rPr>
              <a:t>20,000+ community Actions</a:t>
            </a:r>
            <a:endParaRPr lang="en-US" sz="1650" dirty="0"/>
          </a:p>
        </p:txBody>
      </p:sp>
      <p:sp>
        <p:nvSpPr>
          <p:cNvPr id="15" name="Text 10"/>
          <p:cNvSpPr txBox="1"/>
          <p:nvPr/>
        </p:nvSpPr>
        <p:spPr>
          <a:xfrm>
            <a:off x="5029200" y="2606040"/>
            <a:ext cx="6309360" cy="713232"/>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A far bigger marketplace than Azure Pipelines’ task catalogue.</a:t>
            </a:r>
            <a:endParaRPr lang="en-US" sz="1400" dirty="0"/>
          </a:p>
        </p:txBody>
      </p:sp>
      <p:sp>
        <p:nvSpPr>
          <p:cNvPr id="16" name="Shape 11"/>
          <p:cNvSpPr/>
          <p:nvPr/>
        </p:nvSpPr>
        <p:spPr>
          <a:xfrm>
            <a:off x="548640" y="3465576"/>
            <a:ext cx="11064240" cy="859536"/>
          </a:xfrm>
          <a:prstGeom prst="roundRect">
            <a:avLst>
              <a:gd name="adj" fmla="val 12766"/>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7" name="Shape 12"/>
          <p:cNvSpPr/>
          <p:nvPr/>
        </p:nvSpPr>
        <p:spPr>
          <a:xfrm>
            <a:off x="822960" y="3611880"/>
            <a:ext cx="566928" cy="566928"/>
          </a:xfrm>
          <a:prstGeom prst="ellipse">
            <a:avLst/>
          </a:prstGeom>
          <a:solidFill>
            <a:srgbClr val="C1440E"/>
          </a:solidFill>
          <a:ln/>
        </p:spPr>
      </p:sp>
      <p:pic>
        <p:nvPicPr>
          <p:cNvPr id="18" name="Image 3" descr="/home/claude/pptx-build/assets/icons/FaHandshake-FFFFFF-200.png">    </p:cNvPr>
          <p:cNvPicPr>
            <a:picLocks noChangeAspect="1"/>
          </p:cNvPicPr>
          <p:nvPr/>
        </p:nvPicPr>
        <p:blipFill>
          <a:blip r:embed="rId4"/>
          <a:stretch>
            <a:fillRect/>
          </a:stretch>
        </p:blipFill>
        <p:spPr>
          <a:xfrm>
            <a:off x="960120" y="3749040"/>
            <a:ext cx="292608" cy="292608"/>
          </a:xfrm>
          <a:prstGeom prst="rect">
            <a:avLst/>
          </a:prstGeom>
        </p:spPr>
      </p:pic>
      <p:sp>
        <p:nvSpPr>
          <p:cNvPr id="19" name="Text 13"/>
          <p:cNvSpPr txBox="1"/>
          <p:nvPr/>
        </p:nvSpPr>
        <p:spPr>
          <a:xfrm>
            <a:off x="1600200" y="3538728"/>
            <a:ext cx="3246120" cy="713232"/>
          </a:xfrm>
          <a:prstGeom prst="rect">
            <a:avLst/>
          </a:prstGeom>
          <a:noFill/>
          <a:ln/>
        </p:spPr>
        <p:txBody>
          <a:bodyPr wrap="square" lIns="0" tIns="0" rIns="0" bIns="0" rtlCol="0" anchor="ctr"/>
          <a:lstStyle/>
          <a:p>
            <a:pPr indent="0" marL="0">
              <a:buNone/>
            </a:pPr>
            <a:r>
              <a:rPr lang="en-US" sz="1650" b="1" dirty="0">
                <a:solidFill>
                  <a:srgbClr val="1F3D2C"/>
                </a:solidFill>
                <a:latin typeface="Cambria" pitchFamily="34" charset="0"/>
                <a:ea typeface="Cambria" pitchFamily="34" charset="-122"/>
                <a:cs typeface="Cambria" pitchFamily="34" charset="-120"/>
              </a:rPr>
              <a:t>Open-source &amp; external contributors</a:t>
            </a:r>
            <a:endParaRPr lang="en-US" sz="1650" dirty="0"/>
          </a:p>
        </p:txBody>
      </p:sp>
      <p:sp>
        <p:nvSpPr>
          <p:cNvPr id="20" name="Text 14"/>
          <p:cNvSpPr txBox="1"/>
          <p:nvPr/>
        </p:nvSpPr>
        <p:spPr>
          <a:xfrm>
            <a:off x="5029200" y="3538728"/>
            <a:ext cx="6309360" cy="713232"/>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Already default to GitHub — no extra onboarding friction.</a:t>
            </a:r>
            <a:endParaRPr lang="en-US" sz="1400" dirty="0"/>
          </a:p>
        </p:txBody>
      </p:sp>
      <p:sp>
        <p:nvSpPr>
          <p:cNvPr id="21" name="Shape 15"/>
          <p:cNvSpPr/>
          <p:nvPr/>
        </p:nvSpPr>
        <p:spPr>
          <a:xfrm>
            <a:off x="548640" y="4398264"/>
            <a:ext cx="11064240" cy="859536"/>
          </a:xfrm>
          <a:prstGeom prst="roundRect">
            <a:avLst>
              <a:gd name="adj" fmla="val 12766"/>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22" name="Shape 16"/>
          <p:cNvSpPr/>
          <p:nvPr/>
        </p:nvSpPr>
        <p:spPr>
          <a:xfrm>
            <a:off x="822960" y="4544568"/>
            <a:ext cx="566928" cy="566928"/>
          </a:xfrm>
          <a:prstGeom prst="ellipse">
            <a:avLst/>
          </a:prstGeom>
          <a:solidFill>
            <a:srgbClr val="C1440E"/>
          </a:solidFill>
          <a:ln/>
        </p:spPr>
      </p:sp>
      <p:pic>
        <p:nvPicPr>
          <p:cNvPr id="23" name="Image 4" descr="/home/claude/pptx-build/assets/icons/FaSlidersH-FFFFFF-200.png">    </p:cNvPr>
          <p:cNvPicPr>
            <a:picLocks noChangeAspect="1"/>
          </p:cNvPicPr>
          <p:nvPr/>
        </p:nvPicPr>
        <p:blipFill>
          <a:blip r:embed="rId5"/>
          <a:stretch>
            <a:fillRect/>
          </a:stretch>
        </p:blipFill>
        <p:spPr>
          <a:xfrm>
            <a:off x="960120" y="4681728"/>
            <a:ext cx="292608" cy="292608"/>
          </a:xfrm>
          <a:prstGeom prst="rect">
            <a:avLst/>
          </a:prstGeom>
        </p:spPr>
      </p:pic>
      <p:sp>
        <p:nvSpPr>
          <p:cNvPr id="24" name="Text 17"/>
          <p:cNvSpPr txBox="1"/>
          <p:nvPr/>
        </p:nvSpPr>
        <p:spPr>
          <a:xfrm>
            <a:off x="1600200" y="4471416"/>
            <a:ext cx="3246120" cy="713232"/>
          </a:xfrm>
          <a:prstGeom prst="rect">
            <a:avLst/>
          </a:prstGeom>
          <a:noFill/>
          <a:ln/>
        </p:spPr>
        <p:txBody>
          <a:bodyPr wrap="square" lIns="0" tIns="0" rIns="0" bIns="0" rtlCol="0" anchor="ctr"/>
          <a:lstStyle/>
          <a:p>
            <a:pPr indent="0" marL="0">
              <a:buNone/>
            </a:pPr>
            <a:r>
              <a:rPr lang="en-US" sz="1650" b="1" dirty="0">
                <a:solidFill>
                  <a:srgbClr val="1F3D2C"/>
                </a:solidFill>
                <a:latin typeface="Cambria" pitchFamily="34" charset="0"/>
                <a:ea typeface="Cambria" pitchFamily="34" charset="-122"/>
                <a:cs typeface="Cambria" pitchFamily="34" charset="-120"/>
              </a:rPr>
              <a:t>GitHub Actions’ flexibility</a:t>
            </a:r>
            <a:endParaRPr lang="en-US" sz="1650" dirty="0"/>
          </a:p>
        </p:txBody>
      </p:sp>
      <p:sp>
        <p:nvSpPr>
          <p:cNvPr id="25" name="Text 18"/>
          <p:cNvSpPr txBox="1"/>
          <p:nvPr/>
        </p:nvSpPr>
        <p:spPr>
          <a:xfrm>
            <a:off x="5029200" y="4471416"/>
            <a:ext cx="6309360" cy="713232"/>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Reusable workflows, matrix builds, a huge marketplace of pre-built steps, and self-hosted runners when you need them.</a:t>
            </a:r>
            <a:endParaRPr lang="en-US" sz="1400" dirty="0"/>
          </a:p>
        </p:txBody>
      </p:sp>
      <p:sp>
        <p:nvSpPr>
          <p:cNvPr id="26" name="Shape 19"/>
          <p:cNvSpPr/>
          <p:nvPr/>
        </p:nvSpPr>
        <p:spPr>
          <a:xfrm>
            <a:off x="548640" y="5330952"/>
            <a:ext cx="11064240" cy="859536"/>
          </a:xfrm>
          <a:prstGeom prst="roundRect">
            <a:avLst>
              <a:gd name="adj" fmla="val 12766"/>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27" name="Shape 20"/>
          <p:cNvSpPr/>
          <p:nvPr/>
        </p:nvSpPr>
        <p:spPr>
          <a:xfrm>
            <a:off x="822960" y="5477256"/>
            <a:ext cx="566928" cy="566928"/>
          </a:xfrm>
          <a:prstGeom prst="ellipse">
            <a:avLst/>
          </a:prstGeom>
          <a:solidFill>
            <a:srgbClr val="C1440E"/>
          </a:solidFill>
          <a:ln/>
        </p:spPr>
      </p:sp>
      <p:pic>
        <p:nvPicPr>
          <p:cNvPr id="28" name="Image 5" descr="/home/claude/pptx-build/assets/icons/FaTerminal-FFFFFF-200.png">    </p:cNvPr>
          <p:cNvPicPr>
            <a:picLocks noChangeAspect="1"/>
          </p:cNvPicPr>
          <p:nvPr/>
        </p:nvPicPr>
        <p:blipFill>
          <a:blip r:embed="rId6"/>
          <a:stretch>
            <a:fillRect/>
          </a:stretch>
        </p:blipFill>
        <p:spPr>
          <a:xfrm>
            <a:off x="960120" y="5614416"/>
            <a:ext cx="292608" cy="292608"/>
          </a:xfrm>
          <a:prstGeom prst="rect">
            <a:avLst/>
          </a:prstGeom>
        </p:spPr>
      </p:pic>
      <p:sp>
        <p:nvSpPr>
          <p:cNvPr id="29" name="Text 21"/>
          <p:cNvSpPr txBox="1"/>
          <p:nvPr/>
        </p:nvSpPr>
        <p:spPr>
          <a:xfrm>
            <a:off x="1600200" y="5404104"/>
            <a:ext cx="3246120" cy="713232"/>
          </a:xfrm>
          <a:prstGeom prst="rect">
            <a:avLst/>
          </a:prstGeom>
          <a:noFill/>
          <a:ln/>
        </p:spPr>
        <p:txBody>
          <a:bodyPr wrap="square" lIns="0" tIns="0" rIns="0" bIns="0" rtlCol="0" anchor="ctr"/>
          <a:lstStyle/>
          <a:p>
            <a:pPr indent="0" marL="0">
              <a:buNone/>
            </a:pPr>
            <a:r>
              <a:rPr lang="en-US" sz="1650" b="1" dirty="0">
                <a:solidFill>
                  <a:srgbClr val="1F3D2C"/>
                </a:solidFill>
                <a:latin typeface="Cambria" pitchFamily="34" charset="0"/>
                <a:ea typeface="Cambria" pitchFamily="34" charset="-122"/>
                <a:cs typeface="Cambria" pitchFamily="34" charset="-120"/>
              </a:rPr>
              <a:t>Run a workflow locally to troubleshoot</a:t>
            </a:r>
            <a:endParaRPr lang="en-US" sz="1650" dirty="0"/>
          </a:p>
        </p:txBody>
      </p:sp>
      <p:sp>
        <p:nvSpPr>
          <p:cNvPr id="30" name="Text 22"/>
          <p:cNvSpPr txBox="1"/>
          <p:nvPr/>
        </p:nvSpPr>
        <p:spPr>
          <a:xfrm>
            <a:off x="5029200" y="5404104"/>
            <a:ext cx="6309360" cy="713232"/>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Tools like `act` execute a specific Actions definition right on your machine — debug without waiting on a hosted-runner queue.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D2C"/>
        </a:solidFill>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algn="ctr" indent="0" marL="0">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algn="ctr" indent="0" marL="0">
              <a:buNone/>
            </a:pPr>
            <a:r>
              <a:rPr lang="en-US" sz="1900" i="1" dirty="0">
                <a:solidFill>
                  <a:srgbClr val="8C6A3F"/>
                </a:solidFill>
                <a:latin typeface="Calibri" pitchFamily="34" charset="0"/>
                <a:ea typeface="Calibri" pitchFamily="34" charset="-122"/>
                <a:cs typeface="Calibri" pitchFamily="34" charset="-120"/>
              </a:rPr>
              <a:t>One quick question before we leave Section 1 — Why Leave the Herd</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to GitHub Enterprise: The Great Migration</dc:title>
  <dc:subject>PptxGenJS Presentation</dc:subject>
  <dc:creator>Kevin Neumann</dc:creator>
  <cp:lastModifiedBy>Kevin Neumann</cp:lastModifiedBy>
  <cp:revision>1</cp:revision>
  <dcterms:created xsi:type="dcterms:W3CDTF">2026-09-21T18:12:21Z</dcterms:created>
  <dcterms:modified xsi:type="dcterms:W3CDTF">2026-09-21T18:12:21Z</dcterms:modified>
</cp:coreProperties>
</file>